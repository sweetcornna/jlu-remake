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tore_p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tore_p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8d8db3314d73925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c6a4c73a2d18f31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1faf4ccba86e129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345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6607" y="1718310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分布式存储 · 第1部分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1689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从大数据、大模型和数据中心讲起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大数据问题与单机瓶颈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大模型对存储的新需求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高性能计算与数据中心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典型应用与课程地图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50144" cy="205359"/>
            <a:chOff x="680466" y="6192202"/>
            <a:chExt cx="435014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50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自学复习版｜据吉林大学《分布式存储》第1部分课件整理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课程地图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217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这门课学什么、48 学时怎么分、六部分讲义的先后顺序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数据规模翻倍、类型增殖、科学研究的第四范式、单机方案的两个瓶颈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大模型的新挑战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参数、训练数据和算力的量级，分布式存储在大模型生命周期里的位置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54697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数据中心、高性能计算的定义与形态、Top500 榜单、吉林大学超算中心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应用举例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工业设计、天气预报、数据管理、生物医学、遥感与地质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说出大数据问题的两个表现，以及传统单机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存储与处理方法的两个问题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用翻倍时间公式估算数据增长，用磁盘带宽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估算读完一批数据要多久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说出大模型生命周期四个阶段各对存储提出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什么需求，并估算检查点大小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 HPC 的定义与四种形态，区分 Rmax 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Rpeak，会算能效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把一个应用归到数值模拟、数据处理或深度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学习，并说出它对存储的要求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课程地图：先打基础，再学五类分布式存储系统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ree-1"/>
          <p:cNvGrpSpPr/>
          <p:nvPr/>
        </p:nvGrpSpPr>
        <p:grpSpPr>
          <a:xfrm>
            <a:off x="533400" y="1485900"/>
            <a:ext cx="5193982" cy="2503170"/>
            <a:chOff x="533400" y="1485900"/>
            <a:chExt cx="5193982" cy="2503170"/>
          </a:xfrm>
        </p:grpSpPr>
        <p:sp>
          <p:nvSpPr>
            <p:cNvPr id="7" name="Freeform 7"/>
            <p:cNvSpPr/>
            <p:nvPr/>
          </p:nvSpPr>
          <p:spPr>
            <a:xfrm>
              <a:off x="3272790" y="1928812"/>
              <a:ext cx="419100" cy="134302"/>
            </a:xfrm>
            <a:custGeom>
              <a:avLst/>
              <a:gdLst/>
              <a:ahLst/>
              <a:cxnLst/>
              <a:rect l="l" t="t" r="r" b="b"/>
              <a:pathLst>
                <a:path w="419100" h="134302">
                  <a:moveTo>
                    <a:pt x="0" y="134302"/>
                  </a:moveTo>
                  <a:lnTo>
                    <a:pt x="209550" y="13430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272790" y="2063115"/>
              <a:ext cx="419100" cy="135255"/>
            </a:xfrm>
            <a:custGeom>
              <a:avLst/>
              <a:gdLst/>
              <a:ahLst/>
              <a:cxnLst/>
              <a:rect l="l" t="t" r="r" b="b"/>
              <a:pathLst>
                <a:path w="419100" h="135255">
                  <a:moveTo>
                    <a:pt x="0" y="0"/>
                  </a:moveTo>
                  <a:lnTo>
                    <a:pt x="209550" y="0"/>
                  </a:lnTo>
                  <a:lnTo>
                    <a:pt x="209550" y="135255"/>
                  </a:lnTo>
                  <a:lnTo>
                    <a:pt x="419100" y="1352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272790" y="2737485"/>
              <a:ext cx="419100" cy="539115"/>
            </a:xfrm>
            <a:custGeom>
              <a:avLst/>
              <a:gdLst/>
              <a:ahLst/>
              <a:cxnLst/>
              <a:rect l="l" t="t" r="r" b="b"/>
              <a:pathLst>
                <a:path w="419100" h="539115">
                  <a:moveTo>
                    <a:pt x="0" y="539115"/>
                  </a:moveTo>
                  <a:lnTo>
                    <a:pt x="209550" y="5391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72790" y="3007042"/>
              <a:ext cx="419100" cy="269558"/>
            </a:xfrm>
            <a:custGeom>
              <a:avLst/>
              <a:gdLst/>
              <a:ahLst/>
              <a:cxnLst/>
              <a:rect l="l" t="t" r="r" b="b"/>
              <a:pathLst>
                <a:path w="419100" h="269558">
                  <a:moveTo>
                    <a:pt x="0" y="269558"/>
                  </a:moveTo>
                  <a:lnTo>
                    <a:pt x="209550" y="2695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72790" y="32766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72790" y="3276600"/>
              <a:ext cx="419100" cy="269558"/>
            </a:xfrm>
            <a:custGeom>
              <a:avLst/>
              <a:gdLst/>
              <a:ahLst/>
              <a:cxnLst/>
              <a:rect l="l" t="t" r="r" b="b"/>
              <a:pathLst>
                <a:path w="419100" h="269558">
                  <a:moveTo>
                    <a:pt x="0" y="0"/>
                  </a:moveTo>
                  <a:lnTo>
                    <a:pt x="209550" y="0"/>
                  </a:lnTo>
                  <a:lnTo>
                    <a:pt x="209550" y="269558"/>
                  </a:lnTo>
                  <a:lnTo>
                    <a:pt x="419100" y="26955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272790" y="3276600"/>
              <a:ext cx="419100" cy="539115"/>
            </a:xfrm>
            <a:custGeom>
              <a:avLst/>
              <a:gdLst/>
              <a:ahLst/>
              <a:cxnLst/>
              <a:rect l="l" t="t" r="r" b="b"/>
              <a:pathLst>
                <a:path w="419100" h="539115">
                  <a:moveTo>
                    <a:pt x="0" y="0"/>
                  </a:moveTo>
                  <a:lnTo>
                    <a:pt x="209550" y="0"/>
                  </a:lnTo>
                  <a:lnTo>
                    <a:pt x="209550" y="539115"/>
                  </a:lnTo>
                  <a:lnTo>
                    <a:pt x="419100" y="5391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51622" y="1659255"/>
              <a:ext cx="419100" cy="808673"/>
            </a:xfrm>
            <a:custGeom>
              <a:avLst/>
              <a:gdLst/>
              <a:ahLst/>
              <a:cxnLst/>
              <a:rect l="l" t="t" r="r" b="b"/>
              <a:pathLst>
                <a:path w="419100" h="808673">
                  <a:moveTo>
                    <a:pt x="0" y="808673"/>
                  </a:moveTo>
                  <a:lnTo>
                    <a:pt x="209550" y="80867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551622" y="2063115"/>
              <a:ext cx="419100" cy="404813"/>
            </a:xfrm>
            <a:custGeom>
              <a:avLst/>
              <a:gdLst/>
              <a:ahLst/>
              <a:cxnLst/>
              <a:rect l="l" t="t" r="r" b="b"/>
              <a:pathLst>
                <a:path w="419100" h="404813">
                  <a:moveTo>
                    <a:pt x="0" y="404813"/>
                  </a:moveTo>
                  <a:lnTo>
                    <a:pt x="209550" y="40481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51622" y="246792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551622" y="2467928"/>
              <a:ext cx="419100" cy="808672"/>
            </a:xfrm>
            <a:custGeom>
              <a:avLst/>
              <a:gdLst/>
              <a:ahLst/>
              <a:cxnLst/>
              <a:rect l="l" t="t" r="r" b="b"/>
              <a:pathLst>
                <a:path w="419100" h="808672">
                  <a:moveTo>
                    <a:pt x="0" y="0"/>
                  </a:moveTo>
                  <a:lnTo>
                    <a:pt x="209550" y="0"/>
                  </a:lnTo>
                  <a:lnTo>
                    <a:pt x="209550" y="808672"/>
                  </a:lnTo>
                  <a:lnTo>
                    <a:pt x="419100" y="80867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70722" y="1485900"/>
              <a:ext cx="130206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691890" y="1755458"/>
              <a:ext cx="203549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91890" y="2025015"/>
              <a:ext cx="203549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970722" y="1889760"/>
              <a:ext cx="1302068" cy="346710"/>
            </a:xfrm>
            <a:prstGeom prst="roundRect">
              <a:avLst>
                <a:gd name="adj" fmla="val 2747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70722" y="2294572"/>
              <a:ext cx="130206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91890" y="2564130"/>
              <a:ext cx="203549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91890" y="2833688"/>
              <a:ext cx="203549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91890" y="3103245"/>
              <a:ext cx="203549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691890" y="3372802"/>
              <a:ext cx="203549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91890" y="3642360"/>
              <a:ext cx="203549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970722" y="3103245"/>
              <a:ext cx="1302068" cy="346710"/>
            </a:xfrm>
            <a:prstGeom prst="roundRect">
              <a:avLst>
                <a:gd name="adj" fmla="val 2747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2294572"/>
              <a:ext cx="1018222" cy="346710"/>
            </a:xfrm>
            <a:prstGeom prst="roundRect">
              <a:avLst>
                <a:gd name="adj" fmla="val 2747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60258" y="15806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81425" y="18502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分布式系统发展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81425" y="211978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高性能计算与数据中心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60258" y="19845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分布式系统基础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60258" y="238934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分布式存储技术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81425" y="2658904"/>
              <a:ext cx="12267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网络文件系统 NFS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81425" y="2928461"/>
              <a:ext cx="1878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 HDFS、GFS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81425" y="3198019"/>
              <a:ext cx="1343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键值对存储 Dynamo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81425" y="3467576"/>
              <a:ext cx="1252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表格系统 Bigtable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81425" y="3737134"/>
              <a:ext cx="837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对象存储 S3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60258" y="31980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分布式存储系统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935" y="238934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分布式存储</a:t>
              </a:r>
            </a:p>
          </p:txBody>
        </p:sp>
      </p:grpSp>
      <p:grpSp>
        <p:nvGrpSpPr>
          <p:cNvPr id="51" name="c1-card-2"/>
          <p:cNvGrpSpPr/>
          <p:nvPr/>
        </p:nvGrpSpPr>
        <p:grpSpPr>
          <a:xfrm>
            <a:off x="533400" y="4126230"/>
            <a:ext cx="5193982" cy="2118360"/>
            <a:chOff x="533400" y="4126230"/>
            <a:chExt cx="5193982" cy="2118360"/>
          </a:xfrm>
        </p:grpSpPr>
        <p:sp>
          <p:nvSpPr>
            <p:cNvPr id="43" name="Rectangle 43"/>
            <p:cNvSpPr/>
            <p:nvPr/>
          </p:nvSpPr>
          <p:spPr>
            <a:xfrm>
              <a:off x="533400" y="4126230"/>
              <a:ext cx="5193982" cy="2118360"/>
            </a:xfrm>
            <a:prstGeom prst="roundRect">
              <a:avLst>
                <a:gd name="adj" fmla="val 6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2925" y="4259580"/>
              <a:ext cx="47625" cy="18516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3905" y="431863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1344" y="435292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参考书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72478" y="47310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8497" y="467487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陈康、武永卫、余宏亮、张广艳：《大数据存储技术》，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人民邮电出版社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72478" y="52911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8497" y="523494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杨传辉：《大规模分布式存储系统：原理解析与架构实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战》，机械工业出版社</a:t>
              </a:r>
            </a:p>
          </p:txBody>
        </p:sp>
      </p:grpSp>
      <p:grpSp>
        <p:nvGrpSpPr>
          <p:cNvPr id="85" name="c2-table-1"/>
          <p:cNvGrpSpPr/>
          <p:nvPr/>
        </p:nvGrpSpPr>
        <p:grpSpPr>
          <a:xfrm>
            <a:off x="6026848" y="1524000"/>
            <a:ext cx="5631752" cy="3120009"/>
            <a:chOff x="6026848" y="1524000"/>
            <a:chExt cx="5631752" cy="3120009"/>
          </a:xfrm>
        </p:grpSpPr>
        <p:sp>
          <p:nvSpPr>
            <p:cNvPr id="52" name="Rectangle 52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1960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2656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9538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32195" y="2054066"/>
              <a:ext cx="550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第1部分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20025" y="205406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导论：从大数据、云计算讲起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0469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32182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032182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32195" y="2459831"/>
              <a:ext cx="550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第2部分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20025" y="24598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分布式系统基础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10469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032182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132195" y="2865596"/>
              <a:ext cx="550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第3部分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729538" y="2750820"/>
              <a:ext cx="290703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820025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分布式存储技术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0469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032182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32182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132195" y="3271361"/>
              <a:ext cx="550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第4部分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20025" y="3271361"/>
              <a:ext cx="2546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分布式文件系统（NFS、GFS、HDFS）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965226" y="3271361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27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032182" y="3548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132195" y="3677126"/>
              <a:ext cx="550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第5部分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820025" y="3677126"/>
              <a:ext cx="2051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分布式键值对系统（Dynamo）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032182" y="39538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032182" y="395859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132195" y="4082891"/>
              <a:ext cx="550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第6部分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820025" y="4082891"/>
              <a:ext cx="1960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分布式表格系统（Bigtable）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032182" y="1524000"/>
              <a:ext cx="5626418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71525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64133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026848" y="4438650"/>
              <a:ext cx="4293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合计 48 学时（第 2–13 周）。大纲里的对象存储 S3 没有单独的课件</a:t>
              </a:r>
            </a:p>
          </p:txBody>
        </p:sp>
      </p:grpSp>
      <p:grpSp>
        <p:nvGrpSpPr>
          <p:cNvPr id="91" name="c2-card-2"/>
          <p:cNvGrpSpPr/>
          <p:nvPr/>
        </p:nvGrpSpPr>
        <p:grpSpPr>
          <a:xfrm>
            <a:off x="6032182" y="4777740"/>
            <a:ext cx="5626418" cy="1466850"/>
            <a:chOff x="6032182" y="4777740"/>
            <a:chExt cx="5626418" cy="1466850"/>
          </a:xfrm>
        </p:grpSpPr>
        <p:sp>
          <p:nvSpPr>
            <p:cNvPr id="86" name="Rectangle 86"/>
            <p:cNvSpPr/>
            <p:nvPr/>
          </p:nvSpPr>
          <p:spPr>
            <a:xfrm>
              <a:off x="6032182" y="4777740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041708" y="491109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262688" y="497014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350127" y="50044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怎么学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255830" y="5327333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前三部分讲共性：为什么要分布式、集群怎样组织、数据怎样分区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和复制。后三部分讲真实系统，占 27/48 ≈ 56% 的学时，读的时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候对照第3部分的技术，看每个系统在哪几处做了取舍。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6792" cy="3351847"/>
            <a:chOff x="667512" y="1835468"/>
            <a:chExt cx="63367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大数据问题与人工智能新浪潮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数据和模型都涨得比单机快，单机的存储和处理跟不上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内容提要一：大数据时代、大数据问题、人工智能新浪潮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数据规模、数据类型与第四范式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从单机走向分布式存储与并行计算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大模型的参数、数据、算力与存储需求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77409" cy="909257"/>
            <a:chOff x="520446" y="342900"/>
            <a:chExt cx="88774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大数据问题与人工智能新浪潮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774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大数据问题：规模每 18 个月翻一倍，类型以非结构化为主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670685"/>
            <a:chOff x="533400" y="1524000"/>
            <a:chExt cx="5410200" cy="16706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两个表现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31455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大数据问题（Big Data Problem）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全球数据规模增长迅猛：每 18 个月翻一倍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数据类型大量增殖：约 80% 是非结构化数据，难以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高效组织和处理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385185"/>
            <a:ext cx="5410200" cy="1602105"/>
            <a:chOff x="533400" y="3385185"/>
            <a:chExt cx="5410200" cy="1602105"/>
          </a:xfrm>
        </p:grpSpPr>
        <p:sp>
          <p:nvSpPr>
            <p:cNvPr id="19" name="Rectangle 19"/>
            <p:cNvSpPr/>
            <p:nvPr/>
          </p:nvSpPr>
          <p:spPr>
            <a:xfrm>
              <a:off x="533400" y="338518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51853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35947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1258" y="36304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3971925"/>
              <a:ext cx="4523899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Nature 2008 年专刊 </a:t>
              </a: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 Data: Science in the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Petabyte Era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。数据来自五个方面：实验、模拟、档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案、文献、消费者。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5177790"/>
            <a:ext cx="5410200" cy="1151572"/>
            <a:chOff x="533400" y="5177790"/>
            <a:chExt cx="5410200" cy="1151572"/>
          </a:xfrm>
        </p:grpSpPr>
        <p:sp>
          <p:nvSpPr>
            <p:cNvPr id="25" name="Rectangle 25"/>
            <p:cNvSpPr/>
            <p:nvPr/>
          </p:nvSpPr>
          <p:spPr>
            <a:xfrm>
              <a:off x="533400" y="5177790"/>
              <a:ext cx="5410200" cy="1151572"/>
            </a:xfrm>
            <a:prstGeom prst="roundRect">
              <a:avLst>
                <a:gd name="adj" fmla="val 992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653090"/>
              <a:ext cx="200023" cy="200023"/>
              <a:chOff x="738188" y="5653090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6530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57197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51021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挑战在于怎样使用数据、怎样从数据里发现知识，而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且要在近实时的方式下完成挖掘、搜索和分析。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242685" y="1524000"/>
            <a:ext cx="5415915" cy="2771299"/>
            <a:chOff x="6242685" y="1524000"/>
            <a:chExt cx="5415915" cy="2771299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6492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956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063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622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46848" y="210835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有固定模式，能直接放进关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18560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成绩表、订单、账户流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622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半结构化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46848" y="278368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数据自带标签，字段可多可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18560" y="2783681"/>
              <a:ext cx="1516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JSON、XML、服务器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319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3333750"/>
              <a:ext cx="117157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6223" y="3572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非结构化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46848" y="35723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没有预先定义的模式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18560" y="3459004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图片、视频、网页、文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档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434262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705975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42685" y="4075271"/>
              <a:ext cx="4421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三类数据的划分是补充内容，便于理解“80% 非结构化”指的是什么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248400" y="4441508"/>
            <a:ext cx="5410200" cy="1887855"/>
            <a:chOff x="6248400" y="4441508"/>
            <a:chExt cx="5410200" cy="1887855"/>
          </a:xfrm>
        </p:grpSpPr>
        <p:sp>
          <p:nvSpPr>
            <p:cNvPr id="53" name="Rectangle 53"/>
            <p:cNvSpPr/>
            <p:nvPr/>
          </p:nvSpPr>
          <p:spPr>
            <a:xfrm>
              <a:off x="6248400" y="4441508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4574858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96050" y="4651058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52756" y="468677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为什么非结构化难处理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88430" y="5028248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关系数据库靠固定的表结构建索引和做查询。一段视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频、一张扫描件没有现成的列可以查，要先抽取特征或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建全文索引，存储系统也要能放下大量大小不一的文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大数据问题与人工智能新浪潮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数据量单位与几家公司的数据规模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4766310" cy="2739866"/>
            <a:chOff x="527685" y="1524000"/>
            <a:chExt cx="4766310" cy="273986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75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7298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7803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约合字节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4712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47088" y="2108359"/>
              <a:ext cx="12328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TB = 1024 GB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3116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10¹²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24712" y="2556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47088" y="2556986"/>
              <a:ext cx="12328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PB = 1024 TB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3116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10¹⁵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4712" y="300561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47088" y="3005614"/>
              <a:ext cx="12328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EB = 1024 PB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33116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10¹⁸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4712" y="345424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47088" y="3454241"/>
              <a:ext cx="12328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ZB = 1024 EB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33116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10²¹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476059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73450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5856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3843814"/>
              <a:ext cx="446354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课件按 1024 进制；厂商和 IDC 报告多按 1000 进制，到 ZB 级两者差约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18%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4410075"/>
            <a:ext cx="4760595" cy="1937385"/>
            <a:chOff x="533400" y="4410075"/>
            <a:chExt cx="4760595" cy="1937385"/>
          </a:xfrm>
        </p:grpSpPr>
        <p:sp>
          <p:nvSpPr>
            <p:cNvPr id="33" name="Rectangle 33"/>
            <p:cNvSpPr/>
            <p:nvPr/>
          </p:nvSpPr>
          <p:spPr>
            <a:xfrm>
              <a:off x="533400" y="4410075"/>
              <a:ext cx="476059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54342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050" y="46196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3359" y="46553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换算小例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3430" y="499681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Amazon：1 EB 分到 140 万台服务器，每台约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 × 1024 TB ÷ 1.4 × 10⁶ ≈ 0.75 TB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3430" y="5617845"/>
              <a:ext cx="3891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2020 年每天 35 亿次请求，折合 3.5 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10⁹ ÷ 86400 ≈ 4.05 万次/秒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5598795" y="1524000"/>
            <a:ext cx="6059805" cy="2919412"/>
            <a:chOff x="5598795" y="1524000"/>
            <a:chExt cx="6059805" cy="2919412"/>
          </a:xfrm>
        </p:grpSpPr>
        <p:sp>
          <p:nvSpPr>
            <p:cNvPr id="40" name="Rectangle 40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867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4434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数据规模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06618" y="2108359"/>
              <a:ext cx="81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Facebook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40118" y="2108359"/>
              <a:ext cx="2755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每天新产生 4 PB；数据总量 300 PB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598795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706618" y="2556986"/>
              <a:ext cx="65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40118" y="2556986"/>
              <a:ext cx="28780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EB 数据，分布在 140 万台服务器上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98795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06618" y="3118961"/>
              <a:ext cx="569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40118" y="3005614"/>
              <a:ext cx="4239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2008 年每天处理 20 PB；2020 年每天 35 亿次请求；10 EB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数据、约 100 万台服务器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98795" y="35413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598795" y="354615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06618" y="3680936"/>
              <a:ext cx="6825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IDC 报告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40118" y="3680936"/>
              <a:ext cx="3748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全球数据 2020 年 44 ZB，预测 2030 年 2500 ZB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39900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06618" y="4130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中国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40118" y="4130516"/>
              <a:ext cx="1326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2020 年 8000 EB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598795" y="1524000"/>
              <a:ext cx="6059805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27532" y="1524000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rd-2"/>
          <p:cNvGrpSpPr/>
          <p:nvPr/>
        </p:nvGrpSpPr>
        <p:grpSpPr>
          <a:xfrm>
            <a:off x="5598795" y="4633912"/>
            <a:ext cx="6059805" cy="1713548"/>
            <a:chOff x="5598795" y="4633912"/>
            <a:chExt cx="6059805" cy="1713548"/>
          </a:xfrm>
        </p:grpSpPr>
        <p:sp>
          <p:nvSpPr>
            <p:cNvPr id="62" name="Rectangle 62"/>
            <p:cNvSpPr/>
            <p:nvPr/>
          </p:nvSpPr>
          <p:spPr>
            <a:xfrm>
              <a:off x="5598795" y="4633912"/>
              <a:ext cx="6059805" cy="1713548"/>
            </a:xfrm>
            <a:prstGeom prst="roundRect">
              <a:avLst>
                <a:gd name="adj" fmla="val 77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608320" y="4767262"/>
              <a:ext cx="47625" cy="14468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46445" y="484346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37606" y="48791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838825" y="5220652"/>
              <a:ext cx="5311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原课件写中国数据量占全球 21%。按同页数字，8000 EB ÷ 44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ZB ≈ 18%（按 1 ZB = 1024 EB 为 17.8%），21% 应出自另一份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报告的口径。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76236" cy="909257"/>
            <a:chOff x="520446" y="342900"/>
            <a:chExt cx="60762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大数据问题与人工智能新浪潮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762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例题：“18 个月翻一倍”十年后是多少倍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3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5" name="c1-steps-2"/>
          <p:cNvGrpSpPr/>
          <p:nvPr/>
        </p:nvGrpSpPr>
        <p:grpSpPr>
          <a:xfrm>
            <a:off x="533400" y="2219325"/>
            <a:ext cx="5058537" cy="2998756"/>
            <a:chOff x="533400" y="2219325"/>
            <a:chExt cx="5058537" cy="2998756"/>
          </a:xfrm>
        </p:grpSpPr>
        <p:sp>
          <p:nvSpPr>
            <p:cNvPr id="8" name="Rectangle 8"/>
            <p:cNvSpPr/>
            <p:nvPr/>
          </p:nvSpPr>
          <p:spPr>
            <a:xfrm>
              <a:off x="666750" y="23622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33400" y="22193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7024" y="22931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8698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2943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7557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829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406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480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22536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547461"/>
              <a:ext cx="401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 是现在的数据量，T 是翻倍时间，t 是经过的时间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880" y="29041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每年增长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198019"/>
              <a:ext cx="46459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1.5 年，每年倍数是 2 的 1/1.5 次方 ≈ 1.59，即每年约增长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37899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十年倍数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4082891"/>
              <a:ext cx="35109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10 年，2 的 10/1.5 ≈ 6.67 次方 ≈ 102 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4440555"/>
              <a:ext cx="1663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反求 IDC 预测的 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4734401"/>
              <a:ext cx="42964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 ÷ 44 ≈ 56.8；T = 10 × ln2 ÷ ln56.8 ≈ 1.72 年 ≈ 20.6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个月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4"/>
              <p:cNvSpPr txBox="1">
                <a:spLocks noGrp="1"/>
              </p:cNvSpPr>
              <p:nvPr/>
            </p:nvSpPr>
            <p:spPr>
              <a:xfrm>
                <a:off x="533400" y="5396865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sSub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9" name="c2-table-1"/>
          <p:cNvGrpSpPr/>
          <p:nvPr/>
        </p:nvGrpSpPr>
        <p:grpSpPr>
          <a:xfrm>
            <a:off x="6242685" y="1524000"/>
            <a:ext cx="5415915" cy="1642587"/>
            <a:chOff x="6242685" y="1524000"/>
            <a:chExt cx="5415915" cy="1642587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7348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18311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2007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51736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2008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85161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2009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18586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52963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2011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86388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6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读图总量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75174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08599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8941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28063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62441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28.5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95866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42.5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6223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比上年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6994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61213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94638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28063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62441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95866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1.49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1524000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252335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985760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719185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452610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18698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920412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42685" y="2946559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原课件第10页柱状图（纵轴未标单位，读数取近似值）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248400" y="3312795"/>
            <a:ext cx="5410200" cy="2649855"/>
            <a:chOff x="6248400" y="3312795"/>
            <a:chExt cx="5410200" cy="2649855"/>
          </a:xfrm>
        </p:grpSpPr>
        <p:sp>
          <p:nvSpPr>
            <p:cNvPr id="60" name="Rectangle 60"/>
            <p:cNvSpPr/>
            <p:nvPr/>
          </p:nvSpPr>
          <p:spPr>
            <a:xfrm>
              <a:off x="6248400" y="3312795"/>
              <a:ext cx="5410200" cy="2649855"/>
            </a:xfrm>
            <a:prstGeom prst="roundRect">
              <a:avLst>
                <a:gd name="adj" fmla="val 503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57950" y="35223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48158" y="35580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50330" y="3899535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读图：5 年约 42.5 ÷ 5.5 ≈ 7.7 倍，年均 ×1.51，翻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倍时间约 1.7 年。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50330" y="4520565"/>
              <a:ext cx="4711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IDC 预测同样约 1.7 年翻一倍，比 18 个月略慢，量级一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致。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51473" y="5137309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图中三种颜色是结构化、复制、非结构化数据，非结构化那一段每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年都最高。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大数据问题与人工智能新浪潮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科学研究的第四范式：用数据把实验、理论和模拟统一起来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727710" y="1696402"/>
            <a:ext cx="10735628" cy="578168"/>
            <a:chOff x="727710" y="1696402"/>
            <a:chExt cx="10735628" cy="578168"/>
          </a:xfrm>
        </p:grpSpPr>
        <p:sp>
          <p:nvSpPr>
            <p:cNvPr id="7" name="Freeform 7"/>
            <p:cNvSpPr/>
            <p:nvPr/>
          </p:nvSpPr>
          <p:spPr>
            <a:xfrm>
              <a:off x="3120390" y="1985010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04235" y="19326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901690" y="1985010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185535" y="19326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682990" y="1985010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966835" y="19326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7710" y="1696402"/>
              <a:ext cx="2391728" cy="578168"/>
            </a:xfrm>
            <a:prstGeom prst="roundRect">
              <a:avLst>
                <a:gd name="adj" fmla="val 16474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509010" y="1696402"/>
              <a:ext cx="239172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90310" y="1696402"/>
              <a:ext cx="239172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071610" y="1696402"/>
              <a:ext cx="239172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4975" y="1810226"/>
              <a:ext cx="43815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千年前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15155" y="1810226"/>
              <a:ext cx="5803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近几百年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96455" y="1810226"/>
              <a:ext cx="5803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近几十年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06635" y="1810226"/>
              <a:ext cx="7226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数据密集型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现在和未来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33400" y="2615565"/>
            <a:ext cx="11125200" cy="2000250"/>
            <a:chOff x="533400" y="2615565"/>
            <a:chExt cx="11125200" cy="2000250"/>
          </a:xfrm>
        </p:grpSpPr>
        <p:sp>
          <p:nvSpPr>
            <p:cNvPr id="22" name="Rectangle 22"/>
            <p:cNvSpPr/>
            <p:nvPr/>
          </p:nvSpPr>
          <p:spPr>
            <a:xfrm>
              <a:off x="533400" y="2615565"/>
              <a:ext cx="11125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66546" y="27370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63046" y="27370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10446" y="27370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0555" y="31370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10778" y="313705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对自然现象的描述和解释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73378" y="313705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望远镜观测天体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109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415665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35371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10778" y="353710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用模型和定律概括规律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73378" y="353710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牛顿定律、相对论、宇宙学方程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8109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39371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10778" y="393715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对复杂现象做模拟和计算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73378" y="393715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湍流、星系演化的数值模拟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211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215765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225290"/>
              <a:ext cx="176117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0555" y="43372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第四范式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10778" y="4337209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通过多源数据把实验、理论和模拟统一起来，用数据搜索和挖掘做探索和发现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73378" y="433720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从望远镜、传感器、模拟结果汇集的数据里找规律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2615565"/>
              <a:ext cx="11125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308860" y="261556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871460" y="261556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ard-3"/>
          <p:cNvGrpSpPr/>
          <p:nvPr/>
        </p:nvGrpSpPr>
        <p:grpSpPr>
          <a:xfrm>
            <a:off x="533400" y="4786312"/>
            <a:ext cx="11125200" cy="1576388"/>
            <a:chOff x="533400" y="4786312"/>
            <a:chExt cx="11125200" cy="1576388"/>
          </a:xfrm>
        </p:grpSpPr>
        <p:sp>
          <p:nvSpPr>
            <p:cNvPr id="48" name="Rectangle 48"/>
            <p:cNvSpPr/>
            <p:nvPr/>
          </p:nvSpPr>
          <p:spPr>
            <a:xfrm>
              <a:off x="533400" y="4786312"/>
              <a:ext cx="11125200" cy="1576388"/>
            </a:xfrm>
            <a:prstGeom prst="roundRect">
              <a:avLst>
                <a:gd name="adj" fmla="val 84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925" y="4919662"/>
              <a:ext cx="47625" cy="13096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8190" y="49730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0862" y="50058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1332" y="5316855"/>
              <a:ext cx="99578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原课件把“理论”标作“近百年”。牛顿《自然哲学的数学原理》出版于 1687 年，这一框图出自 Jim Gray（2007），原文是 last few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hundred years，应为近几百年。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1332" y="5874068"/>
              <a:ext cx="7612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原图的宇宙学方程写作 (ȧ/a)² = 4πGρ/3 − Kc²/a²，弗里德曼方程第一项的系数应为 8πG/3。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大数据问题与人工智能新浪潮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单机方式为什么撑不住：存储扩不了，处理只到千核级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ompare-1"/>
          <p:cNvGrpSpPr/>
          <p:nvPr/>
        </p:nvGrpSpPr>
        <p:grpSpPr>
          <a:xfrm>
            <a:off x="533400" y="1524000"/>
            <a:ext cx="5626418" cy="2268855"/>
            <a:chOff x="533400" y="1524000"/>
            <a:chExt cx="5626418" cy="2268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574608" cy="2268855"/>
            </a:xfrm>
            <a:prstGeom prst="roundRect">
              <a:avLst>
                <a:gd name="adj" fmla="val 58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8947" y="173831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传统方式（单机）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34378" y="21145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0397" y="2058352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存储：文件系统、键值对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存储、数据库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34378" y="267462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0397" y="2618422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数据仓库：内存、磁盘、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磁带分层存储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4378" y="32337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0397" y="3177540"/>
              <a:ext cx="14031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处理：MPI、PVM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585210" y="1524000"/>
              <a:ext cx="2574608" cy="2268855"/>
            </a:xfrm>
            <a:prstGeom prst="roundRect">
              <a:avLst>
                <a:gd name="adj" fmla="val 58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594735" y="1657350"/>
              <a:ext cx="47625" cy="20021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08857" y="173831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新方案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3824288" y="21145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80307" y="2058352"/>
              <a:ext cx="18996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分布式存储：分布式文件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系统、分布式键值对系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统、分布式数据库系统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3824288" y="29317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80307" y="2875598"/>
              <a:ext cx="18996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并行计算：分布式环境下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的大规模并行，如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MapReduce、Storm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155632" y="2466975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10204" y="25979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转向</a:t>
              </a:r>
            </a:p>
          </p:txBody>
        </p:sp>
      </p:grpSp>
      <p:grpSp>
        <p:nvGrpSpPr>
          <p:cNvPr id="30" name="c1-kv-2"/>
          <p:cNvGrpSpPr/>
          <p:nvPr/>
        </p:nvGrpSpPr>
        <p:grpSpPr>
          <a:xfrm>
            <a:off x="526542" y="3990022"/>
            <a:ext cx="5633276" cy="916496"/>
            <a:chOff x="526542" y="3990022"/>
            <a:chExt cx="5633276" cy="916496"/>
          </a:xfrm>
        </p:grpSpPr>
        <p:sp>
          <p:nvSpPr>
            <p:cNvPr id="25" name="TextBox 25"/>
            <p:cNvSpPr txBox="1"/>
            <p:nvPr/>
          </p:nvSpPr>
          <p:spPr>
            <a:xfrm>
              <a:off x="526542" y="3990022"/>
              <a:ext cx="1008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40027" y="3990022"/>
              <a:ext cx="418852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批处理模型：把大作业拆成 Map 和 Reduce 两步，在多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台机器上并行跑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5329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6542" y="4642485"/>
              <a:ext cx="583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Storm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40027" y="464248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流处理框架：数据一条条到达，一条条处理，延迟低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464618" y="1524000"/>
            <a:ext cx="5193982" cy="1786890"/>
            <a:chOff x="6464618" y="1524000"/>
            <a:chExt cx="5193982" cy="1786890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165735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5122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8562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存在问题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45514" y="17564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原课件归纳的两点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95122" y="207835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0801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5920" y="209073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传统的数据存储系统缺乏可扩展能力，设计时就没有考虑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高效处理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95122" y="263747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0801" y="26768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75920" y="2649855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传统的数据处理方法可扩展性差，只能扩展到 K（千）量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级的核</a:t>
              </a:r>
            </a:p>
          </p:txBody>
        </p:sp>
      </p:grpSp>
      <p:grpSp>
        <p:nvGrpSpPr>
          <p:cNvPr id="58" name="c2-graph-2"/>
          <p:cNvGrpSpPr/>
          <p:nvPr/>
        </p:nvGrpSpPr>
        <p:grpSpPr>
          <a:xfrm>
            <a:off x="6645592" y="3631882"/>
            <a:ext cx="4641534" cy="1354456"/>
            <a:chOff x="6645592" y="3631882"/>
            <a:chExt cx="4641534" cy="1354456"/>
          </a:xfrm>
        </p:grpSpPr>
        <p:sp>
          <p:nvSpPr>
            <p:cNvPr id="43" name="Freeform 43"/>
            <p:cNvSpPr/>
            <p:nvPr/>
          </p:nvSpPr>
          <p:spPr>
            <a:xfrm>
              <a:off x="7945755" y="3883342"/>
              <a:ext cx="2120265" cy="325755"/>
            </a:xfrm>
            <a:custGeom>
              <a:avLst/>
              <a:gdLst/>
              <a:ahLst/>
              <a:cxnLst/>
              <a:rect l="l" t="t" r="r" b="b"/>
              <a:pathLst>
                <a:path w="2120265" h="325755">
                  <a:moveTo>
                    <a:pt x="0" y="325755"/>
                  </a:moveTo>
                  <a:lnTo>
                    <a:pt x="21202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10059352" y="3835718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33338"/>
                  </a:moveTo>
                  <a:lnTo>
                    <a:pt x="14288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945755" y="4409122"/>
              <a:ext cx="2120265" cy="325755"/>
            </a:xfrm>
            <a:custGeom>
              <a:avLst/>
              <a:gdLst/>
              <a:ahLst/>
              <a:cxnLst/>
              <a:rect l="l" t="t" r="r" b="b"/>
              <a:pathLst>
                <a:path w="2120265" h="325755">
                  <a:moveTo>
                    <a:pt x="0" y="0"/>
                  </a:moveTo>
                  <a:lnTo>
                    <a:pt x="2120265" y="325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059352" y="4688205"/>
              <a:ext cx="100965" cy="93345"/>
            </a:xfrm>
            <a:custGeom>
              <a:avLst/>
              <a:gdLst/>
              <a:ahLst/>
              <a:cxnLst/>
              <a:rect l="l" t="t" r="r" b="b"/>
              <a:pathLst>
                <a:path w="100965" h="93345">
                  <a:moveTo>
                    <a:pt x="100965" y="60960"/>
                  </a:moveTo>
                  <a:lnTo>
                    <a:pt x="0" y="93345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45592" y="4070032"/>
              <a:ext cx="1300162" cy="478155"/>
            </a:xfrm>
            <a:prstGeom prst="roundRect">
              <a:avLst>
                <a:gd name="adj" fmla="val 1992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160318" y="3631882"/>
              <a:ext cx="112680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60318" y="4686300"/>
              <a:ext cx="1126808" cy="300038"/>
            </a:xfrm>
            <a:prstGeom prst="roundRect">
              <a:avLst>
                <a:gd name="adj" fmla="val 3174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64273" y="41495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78933" y="4328636"/>
              <a:ext cx="1034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18 个月翻倍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15981" y="37123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单机存储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40594" y="47658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分布式存储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615362" y="3952875"/>
              <a:ext cx="8763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624697" y="398526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放不下、读不完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615362" y="4493895"/>
              <a:ext cx="8763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24697" y="4525328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加机器横向扩展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9" name="Rectangle 59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5779770"/>
              <a:ext cx="99921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MPI、PVM 是并行编程接口，需要程序员自己分数据、处理节点故障；MapReduce 这类模型把分发和容错交给框架，数据也放在分布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式存储里就近读取。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46034" cy="909257"/>
            <a:chOff x="520446" y="342900"/>
            <a:chExt cx="96460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大数据问题与人工智能新浪潮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460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例题：一块磁盘读完 1 PB 要 58 天，1000 块并行只要 83 分钟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508828" cy="3179730"/>
            <a:chOff x="533400" y="1533525"/>
            <a:chExt cx="5508828" cy="317973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367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1594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PB 按 10¹⁵ 字节计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512219"/>
              <a:ext cx="20506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单块硬盘顺序读 200 MB/s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162776"/>
              <a:ext cx="3157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10¹⁵ ÷ (2 × 10⁸) = 5 × 10⁶ 秒 ≈ 57.9 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520440"/>
              <a:ext cx="9491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块盘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813334"/>
              <a:ext cx="3278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每块存 1/1000 同时读：5000 秒 ≈ 83 分钟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1709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463891"/>
              <a:ext cx="5096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设单盘年故障率 2%，1000 块盘平均每年坏 20 块，约 18 天坏一块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892040"/>
            <a:ext cx="5410200" cy="1335405"/>
            <a:chOff x="533400" y="4892040"/>
            <a:chExt cx="5410200" cy="1335405"/>
          </a:xfrm>
        </p:grpSpPr>
        <p:sp>
          <p:nvSpPr>
            <p:cNvPr id="29" name="Rectangle 29"/>
            <p:cNvSpPr/>
            <p:nvPr/>
          </p:nvSpPr>
          <p:spPr>
            <a:xfrm>
              <a:off x="533400" y="4892040"/>
              <a:ext cx="5410200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459730"/>
              <a:ext cx="200026" cy="200025"/>
              <a:chOff x="738188" y="5459730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4597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55041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56153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040630"/>
              <a:ext cx="45015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横向扩展之后就要回答三个问题：数据怎样分到各台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机器（分区），机器坏了数据怎样不丢（复制与容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错），多个副本怎样保持一致（一致性）。这些是第3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部分的内容。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248400" y="1524000"/>
            <a:ext cx="5410200" cy="2697480"/>
            <a:chOff x="6248400" y="1524000"/>
            <a:chExt cx="5410200" cy="2697480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63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7846" y="1659731"/>
              <a:ext cx="1507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纵向扩展 scale-up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46463" y="1659731"/>
              <a:ext cx="16068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横向扩展 scale-out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5622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9678" y="2108359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换更强的单机：更多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CPU、内存、磁盘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48050" y="210835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加更多普通机器，数据和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计算分到各台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26479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6223" y="27836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29678" y="27836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受单机硬件上限约束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449752" y="2657475"/>
              <a:ext cx="219932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48050" y="27836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理论上随机器数增长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56223" y="32323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29678" y="323230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高端硬件价格上涨很快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48050" y="323230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普通服务器，按需添加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3541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3546158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56223" y="37942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29678" y="379428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单点故障，停机就全停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48050" y="368093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坏机器是常态，靠复制和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1524000"/>
              <a:ext cx="541020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21709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435465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2"/>
          <p:cNvGrpSpPr/>
          <p:nvPr/>
        </p:nvGrpSpPr>
        <p:grpSpPr>
          <a:xfrm>
            <a:off x="6248400" y="4411980"/>
            <a:ext cx="5410200" cy="1815465"/>
            <a:chOff x="6248400" y="4411980"/>
            <a:chExt cx="5410200" cy="1815465"/>
          </a:xfrm>
        </p:grpSpPr>
        <p:sp>
          <p:nvSpPr>
            <p:cNvPr id="62" name="Rectangle 62"/>
            <p:cNvSpPr/>
            <p:nvPr/>
          </p:nvSpPr>
          <p:spPr>
            <a:xfrm>
              <a:off x="6248400" y="4411980"/>
              <a:ext cx="5410200" cy="1815465"/>
            </a:xfrm>
            <a:prstGeom prst="roundRect">
              <a:avLst>
                <a:gd name="adj" fmla="val 73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57950" y="462153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31407" y="465724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两条路的分界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50330" y="4998720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单机再强也有上限，而数据每 18 个月翻一倍。纵向扩展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能撑一阵，数据到 PB 级以后只能横向扩展，这就是分布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式存储出现的原因。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大数据问题与人工智能新浪潮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大语言模型的新挑战：参数量已到千亿级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27685" y="1524000"/>
            <a:ext cx="6281737" cy="3306604"/>
            <a:chOff x="527685" y="1524000"/>
            <a:chExt cx="6281737" cy="33066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772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29626" y="1655445"/>
              <a:ext cx="10747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最新/主流版本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20908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发布时间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0758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Grok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42682" y="2085022"/>
              <a:ext cx="511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Grok 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99750" y="2085022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2025-02-18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37631" y="2085022"/>
              <a:ext cx="666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 亿*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793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84108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515552"/>
              <a:ext cx="686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ChatGPT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42682" y="2515552"/>
              <a:ext cx="567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GPT-4o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99750" y="2515552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2024-05-13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64936" y="2515552"/>
              <a:ext cx="73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 万亿*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098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2946082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Llama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42682" y="2946082"/>
              <a:ext cx="1189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Llama 3.1 405B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99750" y="2946082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2024-07-23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26480" y="2946082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4050 亿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394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4421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375660"/>
              <a:ext cx="525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Gemini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42682" y="3375660"/>
              <a:ext cx="1140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Gemini 1.5 Pro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99750" y="337566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2024-05-14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37631" y="3375660"/>
              <a:ext cx="666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4000 亿*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699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8746" y="3806190"/>
              <a:ext cx="7690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DeepSeek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42682" y="3806190"/>
              <a:ext cx="10079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DeepSeek-V3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99750" y="380619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2024-12-26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12092" y="3684270"/>
              <a:ext cx="148685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26480" y="3806190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6710 亿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1005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10527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8746" y="4235768"/>
              <a:ext cx="459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Qwen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42682" y="4235768"/>
              <a:ext cx="1836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Qwen2.5-72B-Instruct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99750" y="4235768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2024-09-19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15329" y="4235768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 亿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6276022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53257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79190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297805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685" y="4610576"/>
              <a:ext cx="4662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* 官方未公开，为行业估计值。数据来源：官方发布、论文、行业报道</a:t>
              </a:r>
            </a:p>
          </p:txBody>
        </p:sp>
      </p:grpSp>
      <p:grpSp>
        <p:nvGrpSpPr>
          <p:cNvPr id="56" name="c1-card-2"/>
          <p:cNvGrpSpPr/>
          <p:nvPr/>
        </p:nvGrpSpPr>
        <p:grpSpPr>
          <a:xfrm>
            <a:off x="533400" y="4972050"/>
            <a:ext cx="6276022" cy="1274445"/>
            <a:chOff x="533400" y="4972050"/>
            <a:chExt cx="6276022" cy="1274445"/>
          </a:xfrm>
        </p:grpSpPr>
        <p:sp>
          <p:nvSpPr>
            <p:cNvPr id="51" name="Rectangle 51"/>
            <p:cNvSpPr/>
            <p:nvPr/>
          </p:nvSpPr>
          <p:spPr>
            <a:xfrm>
              <a:off x="533400" y="4972050"/>
              <a:ext cx="627602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510540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75335" y="51758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5543" y="52116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8096" y="5548789"/>
              <a:ext cx="53074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Gemini 1.5 Pro 的参数量 Google 也没有公开，4000 亿同样是估计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值，原课件漏标了 *。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7114222" y="1524000"/>
            <a:ext cx="4544378" cy="2156460"/>
            <a:chOff x="7114222" y="1524000"/>
            <a:chExt cx="4544378" cy="2156460"/>
          </a:xfrm>
        </p:grpSpPr>
        <p:sp>
          <p:nvSpPr>
            <p:cNvPr id="57" name="Rectangle 57"/>
            <p:cNvSpPr/>
            <p:nvPr/>
          </p:nvSpPr>
          <p:spPr>
            <a:xfrm>
              <a:off x="7114222" y="1524000"/>
              <a:ext cx="4544378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23748" y="165735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56158" y="1727835"/>
              <a:ext cx="48577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41364" y="1763554"/>
              <a:ext cx="3153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MoE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48994" y="1767364"/>
              <a:ext cx="30514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混合专家（Mixture of Experts）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48918" y="2119789"/>
              <a:ext cx="38827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每层有多个“专家”子网络，每个 token 只路由到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其中少数几个。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48918" y="2711291"/>
              <a:ext cx="389178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DeepSeek-V3 总参数 6710 亿，每个 token 只激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 370 亿，计算量接近一个 370 亿的稠密模型，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但存储要放下全部 6710 亿。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7114222" y="3865245"/>
            <a:ext cx="4544378" cy="2381250"/>
            <a:chOff x="7114222" y="3865245"/>
            <a:chExt cx="4544378" cy="2381250"/>
          </a:xfrm>
        </p:grpSpPr>
        <p:sp>
          <p:nvSpPr>
            <p:cNvPr id="65" name="Rectangle 65"/>
            <p:cNvSpPr/>
            <p:nvPr/>
          </p:nvSpPr>
          <p:spPr>
            <a:xfrm>
              <a:off x="7114222" y="3865245"/>
              <a:ext cx="4544378" cy="2381250"/>
            </a:xfrm>
            <a:prstGeom prst="roundRect">
              <a:avLst>
                <a:gd name="adj" fmla="val 56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23748" y="3998595"/>
              <a:ext cx="47625" cy="21145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356158" y="406908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42416" y="410479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48918" y="4442936"/>
              <a:ext cx="381965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6710 亿参数 × 2 字节（BF16）≈ 1.34 TB，单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 80 GB 显卡放不下，权重本身就要分到多卡、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多机。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0900" cy="909257"/>
            <a:chOff x="520446" y="342900"/>
            <a:chExt cx="72909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大数据问题与人工智能新浪潮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09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训练数据、存储与算力：GPU 小时以百万、亿计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table-1"/>
          <p:cNvGrpSpPr/>
          <p:nvPr/>
        </p:nvGrpSpPr>
        <p:grpSpPr>
          <a:xfrm>
            <a:off x="528447" y="1524000"/>
            <a:ext cx="11130153" cy="2933414"/>
            <a:chOff x="528447" y="1524000"/>
            <a:chExt cx="11130153" cy="29334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586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1522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训练数据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920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02018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算力平台规模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55755" y="1641157"/>
              <a:ext cx="1447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算力消耗（GPU 小时）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023110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Grok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98717" y="2023110"/>
              <a:ext cx="922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万亿 token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01755" y="2023110"/>
              <a:ext cx="4661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TB*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57304" y="2023110"/>
              <a:ext cx="8646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万张 H100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91754" y="2023110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404110"/>
              <a:ext cx="6005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ChatGPT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98717" y="2404110"/>
              <a:ext cx="922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万亿 token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19611" y="2404110"/>
              <a:ext cx="548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TB*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57304" y="2404110"/>
              <a:ext cx="1571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万服务器 / 20 万 GPU*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14011" y="2404110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亿*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2785110"/>
              <a:ext cx="4159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Llama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98717" y="2785110"/>
              <a:ext cx="922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万亿 token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3898" y="2785110"/>
              <a:ext cx="3840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TB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57304" y="2785110"/>
              <a:ext cx="1024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 万张 H100*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58525" y="2785110"/>
              <a:ext cx="505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3080 万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3167062"/>
              <a:ext cx="460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Gemini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20974" y="316706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万亿 token*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325302" y="3059430"/>
              <a:ext cx="142684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3898" y="3167062"/>
              <a:ext cx="3840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PB*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57304" y="3167062"/>
              <a:ext cx="16491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 万服务器 / 3 万 TPU*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80782" y="3167062"/>
              <a:ext cx="583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8000 万*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78" y="3548062"/>
              <a:ext cx="6729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DeepSeek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43231" y="3548062"/>
              <a:ext cx="1077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14.8 万亿 token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19611" y="3548062"/>
              <a:ext cx="548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29.6 TB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57304" y="3548062"/>
              <a:ext cx="8787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2048 张 H800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109710" y="3440430"/>
              <a:ext cx="253936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80782" y="3548062"/>
              <a:ext cx="583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278.8 万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3807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3811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8078" y="3930015"/>
              <a:ext cx="4020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Qwen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298717" y="3930015"/>
              <a:ext cx="922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万亿 token*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01755" y="3930015"/>
              <a:ext cx="4661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TB*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57304" y="3930015"/>
              <a:ext cx="8787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 张 GPU*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58525" y="3930015"/>
              <a:ext cx="505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 万*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1524000"/>
              <a:ext cx="11125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208597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31101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75786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09542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8447" y="4266724"/>
              <a:ext cx="8159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* 为预估值。Grok 3 基于 xAI 的 Colossus 超算；DeepSeek-V3 的 278.8 万小时 = 预训练 266.4 万 + 上下文扩展 11.9 万 + 后训练 0.5 万</a:t>
              </a:r>
            </a:p>
          </p:txBody>
        </p:sp>
      </p:grpSp>
      <p:grpSp>
        <p:nvGrpSpPr>
          <p:cNvPr id="68" name="c1-card-2"/>
          <p:cNvGrpSpPr/>
          <p:nvPr/>
        </p:nvGrpSpPr>
        <p:grpSpPr>
          <a:xfrm>
            <a:off x="533400" y="4584382"/>
            <a:ext cx="11125200" cy="1778318"/>
            <a:chOff x="533400" y="4584382"/>
            <a:chExt cx="11125200" cy="1778318"/>
          </a:xfrm>
        </p:grpSpPr>
        <p:sp>
          <p:nvSpPr>
            <p:cNvPr id="60" name="Rectangle 60"/>
            <p:cNvSpPr/>
            <p:nvPr/>
          </p:nvSpPr>
          <p:spPr>
            <a:xfrm>
              <a:off x="533400" y="4584382"/>
              <a:ext cx="11125200" cy="1778318"/>
            </a:xfrm>
            <a:prstGeom prst="roundRect">
              <a:avLst>
                <a:gd name="adj" fmla="val 74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2925" y="4717732"/>
              <a:ext cx="47625" cy="15116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52475" y="47653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5147" y="47982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62000" y="515778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17448" y="5104924"/>
              <a:ext cx="10051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Qwen2.5 的训练数据量已公开：官方技术报告写明预训练数据扩到 18 万亿 token，原课件说“未公开”并估 5 万亿。按每 token 2 字节，约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 TB。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62000" y="568547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17448" y="5632609"/>
              <a:ext cx="9929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存储一列其他各行都是“token 数 × 2 字节”（10 万亿 → 20 TB，14.8 万亿 → 29.6 TB），Gemini 的 1 PB 不合这个口径，按同一口径 15 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亿 token 约 30 TB。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32030" cy="909257"/>
            <a:chOff x="520446" y="342900"/>
            <a:chExt cx="6032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大数据问题与人工智能新浪潮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32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例题：从 GPU 小时反推训练天数和成本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725289" cy="2763489"/>
            <a:chOff x="533400" y="1533525"/>
            <a:chExt cx="4725289" cy="276348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3259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DeepSeek-V3 共 278.8 万 H800 GPU 小时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分到每张卡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2261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278.8 万 ÷ 2048 ≈ 1361 小时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换成天数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1361 ÷ 24 ≈ 57 天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43126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按租价每 GPU 小时 2 美元，约 557.6 万美元，与 DeepSeek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论文给出的数字一致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475798"/>
            <a:ext cx="4977765" cy="1336358"/>
            <a:chOff x="533400" y="4475798"/>
            <a:chExt cx="4977765" cy="1336358"/>
          </a:xfrm>
        </p:grpSpPr>
        <p:sp>
          <p:nvSpPr>
            <p:cNvPr id="25" name="Rectangle 25"/>
            <p:cNvSpPr/>
            <p:nvPr/>
          </p:nvSpPr>
          <p:spPr>
            <a:xfrm>
              <a:off x="533400" y="4475798"/>
              <a:ext cx="4977765" cy="1336358"/>
            </a:xfrm>
            <a:prstGeom prst="roundRect">
              <a:avLst>
                <a:gd name="adj" fmla="val 855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5040748"/>
              <a:ext cx="224134" cy="192560"/>
              <a:chOff x="726129" y="5040748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51111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50407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188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90156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这是所有卡满负荷、从不中断的下限。实际训练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会遇到硬件故障，要从检查点恢复，时间更长。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5810250" y="1524000"/>
            <a:ext cx="5848350" cy="2539842"/>
            <a:chOff x="5810250" y="1524000"/>
            <a:chExt cx="5848350" cy="2539842"/>
          </a:xfrm>
        </p:grpSpPr>
        <p:sp>
          <p:nvSpPr>
            <p:cNvPr id="32" name="Rectangle 32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7630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34828" y="1659731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GPU 小时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251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4060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每卡小时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1885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约合天数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23788" y="2108359"/>
              <a:ext cx="416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Grok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66243" y="210835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67785" y="2108359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80491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4827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23788" y="2556986"/>
              <a:ext cx="5069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Llama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81925" y="2556986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3080 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07476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16384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80491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1880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34827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23788" y="3005614"/>
              <a:ext cx="820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DeepSeek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87153" y="3005614"/>
              <a:ext cx="710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278.8 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02248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2048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80491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1361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489882" y="2880360"/>
              <a:ext cx="115919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34827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23788" y="3454241"/>
              <a:ext cx="590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Qwen*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76698" y="3454241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 万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02248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80491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348278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1524000"/>
              <a:ext cx="58426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08945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30103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29735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47559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810250" y="3843814"/>
              <a:ext cx="3452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每卡小时 = GPU 小时 ÷ 卡数；天数 = 每卡小时 ÷ 24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5815965" y="4210050"/>
            <a:ext cx="5842635" cy="1602105"/>
            <a:chOff x="5815965" y="4210050"/>
            <a:chExt cx="5842635" cy="1602105"/>
          </a:xfrm>
        </p:grpSpPr>
        <p:sp>
          <p:nvSpPr>
            <p:cNvPr id="71" name="Rectangle 71"/>
            <p:cNvSpPr/>
            <p:nvPr/>
          </p:nvSpPr>
          <p:spPr>
            <a:xfrm>
              <a:off x="5815965" y="421005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5825490" y="434340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063615" y="441960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132170" y="44553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存储一列怎么来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055995" y="4796790"/>
              <a:ext cx="4987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按每个 token 约 2 字节估算：14.8 × 10¹² token × 2 字节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29.6 TB。训练数据只有几十 TB，可 GPU 要反复读它几个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轮次，还要按批随机抽样，读带宽和并发比容量更要紧。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大数据问题与人工智能新浪潮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分布式技术贯穿大模型生命周期的每一环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727710" y="1781175"/>
            <a:ext cx="10735628" cy="438150"/>
            <a:chOff x="727710" y="1781175"/>
            <a:chExt cx="10735628" cy="438150"/>
          </a:xfrm>
        </p:grpSpPr>
        <p:sp>
          <p:nvSpPr>
            <p:cNvPr id="7" name="Freeform 7"/>
            <p:cNvSpPr/>
            <p:nvPr/>
          </p:nvSpPr>
          <p:spPr>
            <a:xfrm>
              <a:off x="3120390" y="2000250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04235" y="19478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901690" y="2000250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185535" y="19478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682990" y="2000250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966835" y="19478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7710" y="1781175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509010" y="1781175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90310" y="1781175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071610" y="1781175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72946" y="19111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数据获取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68089" y="191119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数据预处理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5546" y="19111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模型训练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16846" y="19111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模型推理</a:t>
              </a:r>
            </a:p>
          </p:txBody>
        </p:sp>
      </p:grpSp>
      <p:grpSp>
        <p:nvGrpSpPr>
          <p:cNvPr id="46" name="c1-table-2"/>
          <p:cNvGrpSpPr/>
          <p:nvPr/>
        </p:nvGrpSpPr>
        <p:grpSpPr>
          <a:xfrm>
            <a:off x="533400" y="2667000"/>
            <a:ext cx="11125200" cy="2244090"/>
            <a:chOff x="533400" y="2667000"/>
            <a:chExt cx="11125200" cy="2244090"/>
          </a:xfrm>
        </p:grpSpPr>
        <p:sp>
          <p:nvSpPr>
            <p:cNvPr id="22" name="Rectangle 22"/>
            <p:cNvSpPr/>
            <p:nvPr/>
          </p:nvSpPr>
          <p:spPr>
            <a:xfrm>
              <a:off x="533400" y="2667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44244" y="2802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85158" y="2802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26386" y="2802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对系统提出的需求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223" y="3251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数据获取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21446" y="325135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获取不同类型的原始数据并存储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93458" y="325135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海量小文件存储对文件系统提出需求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564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3699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数据预处理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21446" y="369998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对抓取的海量数据做删冗等预处理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3458" y="369998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海量数据处理对底层大数据处理框架提出挑战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009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148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模型训练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21446" y="41486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稳定的模型训练需要检查点操作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93458" y="41486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检查点文件读写对存储系统提出需求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457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4624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4597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模型推理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21446" y="459724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加载模型参数，保存中间结果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93458" y="4597241"/>
              <a:ext cx="32636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模型参数和 KV Cache 对存储系统提出需求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2667000"/>
              <a:ext cx="11125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308860" y="2667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80872" y="2667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kv-3"/>
          <p:cNvGrpSpPr/>
          <p:nvPr/>
        </p:nvGrpSpPr>
        <p:grpSpPr>
          <a:xfrm>
            <a:off x="525780" y="5126355"/>
            <a:ext cx="11132820" cy="733425"/>
            <a:chOff x="525780" y="5126355"/>
            <a:chExt cx="11132820" cy="733425"/>
          </a:xfrm>
        </p:grpSpPr>
        <p:sp>
          <p:nvSpPr>
            <p:cNvPr id="47" name="TextBox 47"/>
            <p:cNvSpPr txBox="1"/>
            <p:nvPr/>
          </p:nvSpPr>
          <p:spPr>
            <a:xfrm>
              <a:off x="525780" y="51263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检查点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38300" y="512635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训练中定期把模型参数和优化器状态写到存储；机器故障后从最近一次检查点接着训练，不必从头来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446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5780" y="5566410"/>
              <a:ext cx="916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KV Cache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638300" y="5566410"/>
              <a:ext cx="90048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推理时缓存已处理 token 的 Key、Value 向量，生成下一个 token 时不用重算；上下文越长占得越多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大数据问题与人工智能新浪潮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例题：一个检查点有多大，一分钟写完要多少带宽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269865" cy="2764440"/>
            <a:chOff x="533400" y="1533525"/>
            <a:chExt cx="5269865" cy="276444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每参数字节数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8572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按常见的 BF16 混合精度 + Adam 估算：BF16 权重 2 字节，FP32 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权重、一阶矩、二阶矩各 4 字节，合计 14 字节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1790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DeepSeek-V3 规模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22648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6710 亿 × 14 字节 ≈ 9.39 TB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一分钟写完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2252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9.39 TB ÷ 60 秒 ≈ 157 GB/s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要几块盘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47091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设单块 SSD 写 3 GB/s，157 ÷ 3 ≈ 52.2，至少 53 块盘同时写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475798"/>
            <a:ext cx="5626418" cy="1602105"/>
            <a:chOff x="533400" y="4475798"/>
            <a:chExt cx="5626418" cy="1602105"/>
          </a:xfrm>
        </p:grpSpPr>
        <p:sp>
          <p:nvSpPr>
            <p:cNvPr id="25" name="Rectangle 25"/>
            <p:cNvSpPr/>
            <p:nvPr/>
          </p:nvSpPr>
          <p:spPr>
            <a:xfrm>
              <a:off x="533400" y="4475798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60914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1050" y="468534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4507" y="4721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读回来也一样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5062538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故障恢复时，所有 GPU 要同时把各自那一份状态读回去，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读带宽的要求和写一样高。检查点间隔越短，故障时丢的训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练进度越少，但写得越频繁，两者要权衡。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458902" y="1524000"/>
            <a:ext cx="5220259" cy="2091214"/>
            <a:chOff x="6458902" y="1524000"/>
            <a:chExt cx="5220259" cy="2091214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487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575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93961" y="1659731"/>
              <a:ext cx="8355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BF16 权重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3453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72441" y="2108359"/>
              <a:ext cx="11282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DeepSeek-V3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59190" y="2108359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6710 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63194" y="2108359"/>
              <a:ext cx="668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1.34 TB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548938" y="1982152"/>
              <a:ext cx="110013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882381" y="2108359"/>
              <a:ext cx="668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9.39 TB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72441" y="2556986"/>
              <a:ext cx="13310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Llama 3.1 405B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59190" y="2556986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4050 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63194" y="2556986"/>
              <a:ext cx="668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0.81 TB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82381" y="2556986"/>
              <a:ext cx="668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5.67 TB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2441" y="3005614"/>
              <a:ext cx="1074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70B 稠密模型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53963" y="3005614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700 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63194" y="3005614"/>
              <a:ext cx="668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 TB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82381" y="3005614"/>
              <a:ext cx="668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 TB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1524000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8483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27830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53465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58902" y="3395186"/>
              <a:ext cx="5220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检查点按每参数 14 字节估算，只是量级（DeepSeek-V3 实际用了 FP8 训练）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3761422"/>
            <a:ext cx="5193982" cy="2316480"/>
            <a:chOff x="6464618" y="3761422"/>
            <a:chExt cx="5193982" cy="2316480"/>
          </a:xfrm>
        </p:grpSpPr>
        <p:sp>
          <p:nvSpPr>
            <p:cNvPr id="58" name="Rectangle 58"/>
            <p:cNvSpPr/>
            <p:nvPr/>
          </p:nvSpPr>
          <p:spPr>
            <a:xfrm>
              <a:off x="6464618" y="3761422"/>
              <a:ext cx="5193982" cy="2316480"/>
            </a:xfrm>
            <a:prstGeom prst="roundRect">
              <a:avLst>
                <a:gd name="adj" fmla="val 57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74168" y="3970972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39725" y="40066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为什么是存储问题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66548" y="4348162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写检查点时 GPU 往往要停下来等。几 TB 的数据只有分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散到很多存储节点并行写，才能把停顿压到分钟级，这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正是分布式文件系统的用武之地。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4884" cy="3351847"/>
            <a:chOff x="667512" y="1835468"/>
            <a:chExt cx="40248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数据中心、高性能计算和它们背后的机器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内容提要二：云计算系统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数据中心长什么样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高性能计算的定义与形态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9771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Top500 榜单与吉林大学超算中心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64162" cy="909257"/>
            <a:chOff x="520446" y="342900"/>
            <a:chExt cx="53641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641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这是什么建筑：Google 的数据中心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202180"/>
            <a:chOff x="533400" y="1524000"/>
            <a:chExt cx="5410200" cy="22021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02180"/>
            </a:xfrm>
            <a:prstGeom prst="roundRect">
              <a:avLst>
                <a:gd name="adj" fmla="val 60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354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3159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516" y="1769269"/>
              <a:ext cx="12006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原课件第19–20页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5693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达尔斯（The Dalles）数据中心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4650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位于美国俄勒冈州的一片厂房。外面看是普通的工业建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筑，里面是成排的服务器机柜。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082766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内景照片里天花板下的彩色粗管是冷却水管，数据中心的很大一部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分电力花在散热上。</a:t>
              </a:r>
            </a:p>
          </p:txBody>
        </p:sp>
      </p:grpSp>
      <p:grpSp>
        <p:nvGrpSpPr>
          <p:cNvPr id="30" name="c1-table-2"/>
          <p:cNvGrpSpPr/>
          <p:nvPr/>
        </p:nvGrpSpPr>
        <p:grpSpPr>
          <a:xfrm>
            <a:off x="527685" y="3916680"/>
            <a:ext cx="5415915" cy="2091214"/>
            <a:chOff x="527685" y="3916680"/>
            <a:chExt cx="5415915" cy="2091214"/>
          </a:xfrm>
        </p:grpSpPr>
        <p:sp>
          <p:nvSpPr>
            <p:cNvPr id="15" name="Rectangle 15"/>
            <p:cNvSpPr/>
            <p:nvPr/>
          </p:nvSpPr>
          <p:spPr>
            <a:xfrm>
              <a:off x="533400" y="391668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4214" y="40514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31085" y="4051459"/>
              <a:ext cx="13140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Google 数据中心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" y="450103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39480" y="4501039"/>
              <a:ext cx="27182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全球 36 个数据中心（不完全统计）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8091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81393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494966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39480" y="4949666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分布在全球 19 个地点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257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539829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39480" y="5398294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分布在全球 21 个地点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1668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826895" y="391668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7685" y="5787866"/>
              <a:ext cx="501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2010 年数的是数据中心，2019、2021 年数的是地点，一个地点常有多栋楼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6240780" y="1548765"/>
            <a:ext cx="5417820" cy="1455420"/>
            <a:chOff x="6240780" y="1548765"/>
            <a:chExt cx="5417820" cy="1455420"/>
          </a:xfrm>
        </p:grpSpPr>
        <p:sp>
          <p:nvSpPr>
            <p:cNvPr id="31" name="TextBox 31"/>
            <p:cNvSpPr txBox="1"/>
            <p:nvPr/>
          </p:nvSpPr>
          <p:spPr>
            <a:xfrm>
              <a:off x="6240780" y="15487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服务器机柜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80935" y="154876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每个机柜装几十台服务器，成排摆放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0780" y="19888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80935" y="198882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机柜顶部交换机再汇聚到核心交换机，连到互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联网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590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40780" y="2710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供电与冷却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80935" y="271081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市电、备用电源，冷水管或风冷带走热量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248400" y="3135630"/>
            <a:ext cx="5410200" cy="2827972"/>
            <a:chOff x="6248400" y="3135630"/>
            <a:chExt cx="5410200" cy="2827972"/>
          </a:xfrm>
        </p:grpSpPr>
        <p:sp>
          <p:nvSpPr>
            <p:cNvPr id="40" name="Rectangle 40"/>
            <p:cNvSpPr/>
            <p:nvPr/>
          </p:nvSpPr>
          <p:spPr>
            <a:xfrm>
              <a:off x="6248400" y="3135630"/>
              <a:ext cx="5410200" cy="2827972"/>
            </a:xfrm>
            <a:prstGeom prst="roundRect">
              <a:avLst>
                <a:gd name="adj" fmla="val 47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3268980"/>
              <a:ext cx="47625" cy="256127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6050" y="3345180"/>
              <a:ext cx="1546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6534" y="3380899"/>
              <a:ext cx="1445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What？Why？How？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8430" y="37223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本节回答三个问题：数据中心是什么，高性能计算是什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么，集群计算和云计算是什么。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8430" y="434340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三者的关系：数据中心是放机器的场所；高性能计算追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求把单个大问题算快；集群和云是把大量机器组织起来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对外提供服务的方式。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9573" y="5246846"/>
              <a:ext cx="46702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原课件第22页只列了这三个问题，集群、网格、云的对比放在第2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部分。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从每天的生活说起：屏幕背后是大规模存储和处理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2924175"/>
            <a:chOff x="533400" y="1524000"/>
            <a:chExt cx="6059805" cy="29241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098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生活场景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0507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用到的服务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2533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背后的技术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早上查邮件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58593" y="2108359"/>
              <a:ext cx="439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Gmail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0770" y="210835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大规模数据存储和处理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6703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上网课、看视频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58593" y="2556986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在线课程、视频、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Instagram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0770" y="26703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流数据处理和分发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3456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聚会找饭馆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58593" y="3232309"/>
              <a:ext cx="13053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Yelp、大众点评、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Google、百度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0770" y="33456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网页检索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0209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网上买书买鞋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58593" y="3907631"/>
              <a:ext cx="17523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eBay、Amazon、淘宝、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京东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0770" y="402097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大规模数据挖掘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059805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346008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28185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2"/>
          <p:cNvGrpSpPr/>
          <p:nvPr/>
        </p:nvGrpSpPr>
        <p:grpSpPr>
          <a:xfrm>
            <a:off x="533400" y="4638675"/>
            <a:ext cx="6059805" cy="1059180"/>
            <a:chOff x="533400" y="4638675"/>
            <a:chExt cx="6059805" cy="1059180"/>
          </a:xfrm>
        </p:grpSpPr>
        <p:sp>
          <p:nvSpPr>
            <p:cNvPr id="32" name="Rectangle 32"/>
            <p:cNvSpPr/>
            <p:nvPr/>
          </p:nvSpPr>
          <p:spPr>
            <a:xfrm>
              <a:off x="533400" y="4638675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068255"/>
              <a:ext cx="200023" cy="200023"/>
              <a:chOff x="738188" y="5068255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0682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51349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4787265"/>
              <a:ext cx="5158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What happens behind？这背后是云计算和大数据：几十万台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服务器存着你的邮件、视频和订单，每次点击都要在毫秒级找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到数据。</a:t>
              </a:r>
            </a:p>
          </p:txBody>
        </p:sp>
      </p:grpSp>
      <p:grpSp>
        <p:nvGrpSpPr>
          <p:cNvPr id="40" name="c2-image-1"/>
          <p:cNvGrpSpPr/>
          <p:nvPr/>
        </p:nvGrpSpPr>
        <p:grpSpPr>
          <a:xfrm>
            <a:off x="6898005" y="1524000"/>
            <a:ext cx="4760595" cy="3885724"/>
            <a:chOff x="6898005" y="1524000"/>
            <a:chExt cx="4760595" cy="3885724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5562" t="0" r="5561" b="0"/>
            <a:stretch>
              <a:fillRect/>
            </a:stretch>
          </p:blipFill>
          <p:spPr>
            <a:xfrm>
              <a:off x="6898005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8217167" y="518969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手机屏幕后面连着整座数据中心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2821" cy="909257"/>
            <a:chOff x="520446" y="342900"/>
            <a:chExt cx="96328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2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高性能计算（HPC）：大量计算节点连起来解决“高级”计算问题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956435"/>
            <a:chOff x="533400" y="1524000"/>
            <a:chExt cx="5626418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9405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High Performance Computing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huge number of computing units connected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together to solve advanced computation problems.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796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一组数量庞大的计算节点连接在一起，解决“高级”的计算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问题。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27685" y="3670935"/>
            <a:ext cx="5632133" cy="2539842"/>
            <a:chOff x="527685" y="3670935"/>
            <a:chExt cx="5632133" cy="2539842"/>
          </a:xfrm>
        </p:grpSpPr>
        <p:sp>
          <p:nvSpPr>
            <p:cNvPr id="15" name="Rectangle 15"/>
            <p:cNvSpPr/>
            <p:nvPr/>
          </p:nvSpPr>
          <p:spPr>
            <a:xfrm>
              <a:off x="533400" y="3670935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537" y="38066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11032" y="38066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1789" y="38066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42552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大型主机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66125" y="4255294"/>
              <a:ext cx="8972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Mainframe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29166" y="425529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一台昂贵的高可靠机器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5634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56819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7039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66125" y="4703921"/>
              <a:ext cx="638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Cluster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29166" y="470392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多台机器用高速网络连成一个系统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0130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51525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66125" y="5152549"/>
              <a:ext cx="3537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29166" y="515254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跨多个组织、多个管理域共享资源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4616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546639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56011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66125" y="5601176"/>
              <a:ext cx="4486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Cloud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29166" y="560117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按需租用的资源池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670935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653540" y="367093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116580" y="367093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685" y="5990749"/>
              <a:ext cx="30166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典型代表是超级计算机（Supercomputers）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464618" y="1524000"/>
            <a:ext cx="5193982" cy="1906905"/>
            <a:chOff x="6464618" y="1524000"/>
            <a:chExt cx="5193982" cy="1906905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16573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3295" y="1768792"/>
              <a:ext cx="17980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云计算的 NIST 定义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4648" y="2129790"/>
              <a:ext cx="4396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一种模型，让用户随时随地、便捷、按需地通过网络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访问可配置的共享计算资源池（网络、服务器、存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储、应用和服务），资源能快速供应和释放，管理工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作量和与服务商的交互降到最低。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464618" y="3621405"/>
            <a:ext cx="5193982" cy="2545080"/>
            <a:chOff x="6464618" y="3621405"/>
            <a:chExt cx="5193982" cy="2545080"/>
          </a:xfrm>
        </p:grpSpPr>
        <p:sp>
          <p:nvSpPr>
            <p:cNvPr id="48" name="Rectangle 48"/>
            <p:cNvSpPr/>
            <p:nvPr/>
          </p:nvSpPr>
          <p:spPr>
            <a:xfrm>
              <a:off x="6464618" y="3621405"/>
              <a:ext cx="5193982" cy="2545080"/>
            </a:xfrm>
            <a:prstGeom prst="roundRect">
              <a:avLst>
                <a:gd name="adj" fmla="val 52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3754755"/>
              <a:ext cx="47625" cy="22783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12268" y="383095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5724" y="386667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原课件的问题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04648" y="4208145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云计算为什么热门、怎样影响生活？课件留作思考，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答案散在后面的应用举例里：邮件、视频、网购、天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气预报都跑在云和数据中心上。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05791" y="5111591"/>
              <a:ext cx="45565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集群、网格、云的区别和 IaaS、PaaS、SaaS 三种服务模式见第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2部分。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30851" cy="909257"/>
            <a:chOff x="520446" y="342900"/>
            <a:chExt cx="98308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308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Connected to Solve Advanced Problems：小鱼群胜过大鲨鱼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977765" cy="4047649"/>
            <a:chOff x="533400" y="1524000"/>
            <a:chExt cx="4977765" cy="404764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5550" t="0" r="5550" b="0"/>
            <a:stretch>
              <a:fillRect/>
            </a:stretch>
          </p:blipFill>
          <p:spPr>
            <a:xfrm>
              <a:off x="533400" y="1524000"/>
              <a:ext cx="4977765" cy="3732848"/>
            </a:xfrm>
            <a:prstGeom prst="roundRect">
              <a:avLst>
                <a:gd name="adj" fmla="val 3572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24349" y="5351621"/>
              <a:ext cx="3795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原课件第26页的比喻：许多小鱼组成的鱼群比大鲨鱼还大</a:t>
              </a:r>
            </a:p>
          </p:txBody>
        </p:sp>
      </p:grpSp>
      <p:grpSp>
        <p:nvGrpSpPr>
          <p:cNvPr id="29" name="c2-compare-1"/>
          <p:cNvGrpSpPr/>
          <p:nvPr/>
        </p:nvGrpSpPr>
        <p:grpSpPr>
          <a:xfrm>
            <a:off x="5815965" y="1524000"/>
            <a:ext cx="5842635" cy="2038350"/>
            <a:chOff x="5815965" y="1524000"/>
            <a:chExt cx="5842635" cy="2038350"/>
          </a:xfrm>
        </p:grpSpPr>
        <p:sp>
          <p:nvSpPr>
            <p:cNvPr id="10" name="Rectangle 10"/>
            <p:cNvSpPr/>
            <p:nvPr/>
          </p:nvSpPr>
          <p:spPr>
            <a:xfrm>
              <a:off x="5815965" y="1524000"/>
              <a:ext cx="2711768" cy="2038350"/>
            </a:xfrm>
            <a:prstGeom prst="roundRect">
              <a:avLst>
                <a:gd name="adj" fmla="val 654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17895" y="17583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过去：单台强机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031230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189345" y="2112645"/>
              <a:ext cx="1057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PC、工作站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031230" y="25107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89345" y="2447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小型机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031230" y="28460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89345" y="278320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向量超级计算机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031230" y="31813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89345" y="31184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大型主机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946832" y="1524000"/>
              <a:ext cx="2711768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956358" y="1657350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86862" y="1758315"/>
              <a:ext cx="1080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现在：NOW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9200198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58312" y="2112645"/>
              <a:ext cx="1929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工作站网络（Network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of Workstations）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9200198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58312" y="27336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集群、网格、云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575358" y="238125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45698" y="247745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5815965" y="3752850"/>
            <a:ext cx="5842635" cy="1602105"/>
            <a:chOff x="5815965" y="3752850"/>
            <a:chExt cx="5842635" cy="1602105"/>
          </a:xfrm>
        </p:grpSpPr>
        <p:sp>
          <p:nvSpPr>
            <p:cNvPr id="30" name="Rectangle 30"/>
            <p:cNvSpPr/>
            <p:nvPr/>
          </p:nvSpPr>
          <p:spPr>
            <a:xfrm>
              <a:off x="5815965" y="375285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25515" y="39624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15723" y="39981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7895" y="4339590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大鲨鱼是一台昂贵的大型主机或向量机；鱼群是用网络连起来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的大量普通计算机。单条小鱼很弱，合起来的规模和总算力超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过大鲨鱼，坏掉几条也不影响整体。</a:t>
              </a:r>
            </a:p>
          </p:txBody>
        </p:sp>
      </p:grpSp>
      <p:grpSp>
        <p:nvGrpSpPr>
          <p:cNvPr id="41" name="c2-callout-3"/>
          <p:cNvGrpSpPr/>
          <p:nvPr/>
        </p:nvGrpSpPr>
        <p:grpSpPr>
          <a:xfrm>
            <a:off x="5815965" y="5545455"/>
            <a:ext cx="5842635" cy="782955"/>
            <a:chOff x="5815965" y="5545455"/>
            <a:chExt cx="5842635" cy="782955"/>
          </a:xfrm>
        </p:grpSpPr>
        <p:sp>
          <p:nvSpPr>
            <p:cNvPr id="35" name="Rectangle 35"/>
            <p:cNvSpPr/>
            <p:nvPr/>
          </p:nvSpPr>
          <p:spPr>
            <a:xfrm>
              <a:off x="5815965" y="554545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020753" y="5836920"/>
              <a:ext cx="200026" cy="200026"/>
              <a:chOff x="6020753" y="5836920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020753" y="58369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20765" y="59035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109653" y="59369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322695" y="5694045"/>
              <a:ext cx="4796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原课件第27页的机房照片对比了早期的桌面机器和今天成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排机柜的超算。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39641" cy="909257"/>
            <a:chOff x="520446" y="342900"/>
            <a:chExt cx="80396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396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Top500 榜单：前几名都已是百万核、百 PFlop/s 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6" name="c1-table-1"/>
          <p:cNvGrpSpPr/>
          <p:nvPr/>
        </p:nvGrpSpPr>
        <p:grpSpPr>
          <a:xfrm>
            <a:off x="528447" y="1524000"/>
            <a:ext cx="11130153" cy="2933414"/>
            <a:chOff x="528447" y="1524000"/>
            <a:chExt cx="11130153" cy="29334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628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7844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3679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国家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320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上榜时间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1809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9303" y="1641157"/>
              <a:ext cx="11990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Rmax（PFlop/s）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03659" y="1641157"/>
              <a:ext cx="774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功耗（kW）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6823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07224" y="2023110"/>
              <a:ext cx="1779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 Capitan（AMD MI300A）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36795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美国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73810" y="202311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2024.11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71638" y="202311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11,039,616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663940" y="1914525"/>
              <a:ext cx="164973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73647" y="202311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1,742.0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86795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29,581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6823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07224" y="2404110"/>
              <a:ext cx="1825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Frontier（AMD EPYC 64C）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36795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美国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73810" y="240411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2022.06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49381" y="240411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8,730,112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73647" y="240411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1,353.0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86795" y="2404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21,100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823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07224" y="2785110"/>
              <a:ext cx="14033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Eagle（微软，H100）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36795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美国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73810" y="278511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2023.11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49381" y="278511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2,073,600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29133" y="2785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561.2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75510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6823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07224" y="3167062"/>
              <a:ext cx="1455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富岳（富士通 A64FX）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36795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日本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73810" y="316706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2020.06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49381" y="3167062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7,630,848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29133" y="316706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442.0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86795" y="316706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29,899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6008" y="3548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07224" y="3548062"/>
              <a:ext cx="936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神威·太湖之光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36795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中国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73810" y="354806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2016.06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71638" y="354806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10,649,600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663940" y="3440430"/>
              <a:ext cx="164973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906876" y="3548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93.0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86795" y="354806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15,371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3807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33400" y="3811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36008" y="3930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07224" y="393001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天河二号（国防科大）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36795" y="3930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中国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873810" y="393001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2013.06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49381" y="393001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3,120,000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663940" y="3821430"/>
              <a:ext cx="164973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906876" y="393001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33.9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086795" y="393001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17,808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3400" y="1524000"/>
              <a:ext cx="11125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130778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53390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42353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87038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864965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1031843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28447" y="4266724"/>
              <a:ext cx="42315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排名是原课件所用榜单（2024 年 11 月前后）的名次；网址 top500.org</a:t>
              </a:r>
            </a:p>
          </p:txBody>
        </p:sp>
      </p:grpSp>
      <p:grpSp>
        <p:nvGrpSpPr>
          <p:cNvPr id="85" name="c1-kv-2"/>
          <p:cNvGrpSpPr/>
          <p:nvPr/>
        </p:nvGrpSpPr>
        <p:grpSpPr>
          <a:xfrm>
            <a:off x="526923" y="4604861"/>
            <a:ext cx="11131677" cy="998029"/>
            <a:chOff x="526923" y="4604861"/>
            <a:chExt cx="11131677" cy="998029"/>
          </a:xfrm>
        </p:grpSpPr>
        <p:sp>
          <p:nvSpPr>
            <p:cNvPr id="77" name="TextBox 77"/>
            <p:cNvSpPr txBox="1"/>
            <p:nvPr/>
          </p:nvSpPr>
          <p:spPr>
            <a:xfrm>
              <a:off x="526923" y="4604861"/>
              <a:ext cx="453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Rmax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414653" y="4604861"/>
              <a:ext cx="4476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 Linpack 基准测出的最大持续性能，Top500 按它排名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48768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26923" y="4979194"/>
              <a:ext cx="516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Rpeak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414653" y="4979194"/>
              <a:ext cx="49152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理论峰值 = 核数 × 主频 × 每周期浮点运算次数，机器不可能跑满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33400" y="52511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26923" y="5353526"/>
              <a:ext cx="676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PFlop/s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414653" y="5353526"/>
              <a:ext cx="63531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每秒 10¹⁵ 次浮点运算；1 EFlop/s = 1000 PFlop/s，El Capitan 已过 1.7 EFlop/s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6" name="Rectangle 8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1273" y="6039326"/>
              <a:ext cx="9652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比较两台超算只能都用 Rmax 或都用 Rpeak。太湖之光 Rmax/Rpeak ≈ 0.74，天河二号 ≈ 0.62，混用会把它们高估三到六成。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47696" cy="909257"/>
            <a:chOff x="520446" y="342900"/>
            <a:chExt cx="45476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476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Top500 页的几处更正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951220" cy="3750945"/>
            <a:chOff x="533400" y="1524000"/>
            <a:chExt cx="5951220" cy="3750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750945"/>
            </a:xfrm>
            <a:prstGeom prst="roundRect">
              <a:avLst>
                <a:gd name="adj" fmla="val 35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84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45205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太湖之光写的 125,435.9 TFlop/s、天河二号写的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54,902.4 TFlop/s 都是 Rpeak，同页其他系统写的是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Rmax。两者的 Rmax 分别是 93,014.6 和 33,862.7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TFlop/s，上页表格已按 Rmax 改。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32899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33322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33032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 Capitan 首次登榜是 2024 年 11 月榜（Top500 每年 6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月、11 月各发布一次），原课件写 2024.12。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9109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953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92430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Frontier 首次上榜是 2022 年 6 月，原课件写 2021.06；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当时是 1,102 PFlop/s，1,353 是后来升级后的成绩，核数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和功耗仍是 2022 年的值。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481774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48600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4831080"/>
              <a:ext cx="52920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Eagle 的核数原课件误作“2,-73,600”，应为 2,073,600。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783705" y="1524000"/>
            <a:ext cx="4874895" cy="1642587"/>
            <a:chOff x="6783705" y="1524000"/>
            <a:chExt cx="4874895" cy="1642587"/>
          </a:xfrm>
        </p:grpSpPr>
        <p:sp>
          <p:nvSpPr>
            <p:cNvPr id="24" name="Rectangle 24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164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31560" y="1659731"/>
              <a:ext cx="453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Rmax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59371" y="1659731"/>
              <a:ext cx="516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Rpeak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111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9724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太湖之光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5541" y="210835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93,014.6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47611" y="210835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125,435.9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93948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9724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天河二号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35541" y="25569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33,862.7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42383" y="25569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54,902.4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93948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89420" y="1524000"/>
              <a:ext cx="486918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97190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309735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71657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83705" y="2946559"/>
              <a:ext cx="912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单位 TFlop/s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789420" y="3312795"/>
            <a:ext cx="4869180" cy="1962150"/>
            <a:chOff x="6789420" y="3312795"/>
            <a:chExt cx="4869180" cy="1962150"/>
          </a:xfrm>
        </p:grpSpPr>
        <p:sp>
          <p:nvSpPr>
            <p:cNvPr id="45" name="Rectangle 45"/>
            <p:cNvSpPr/>
            <p:nvPr/>
          </p:nvSpPr>
          <p:spPr>
            <a:xfrm>
              <a:off x="6789420" y="3312795"/>
              <a:ext cx="4869180" cy="1962150"/>
            </a:xfrm>
            <a:prstGeom prst="roundRect">
              <a:avLst>
                <a:gd name="adj" fmla="val 67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98945" y="3446145"/>
              <a:ext cx="47625" cy="16954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37070" y="352234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14476" y="355806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怎么发现的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29450" y="3899535"/>
              <a:ext cx="41776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用“Rmax ÷ 核数”算每核性能：太湖之光用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125,435.9 时是 11.8 GFlop/s，用 93,014.6 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8.7 GFlop/s。同一张表里口径不一，算出的每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核性能和能效都不能比。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1" name="Rectangle 51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728335"/>
              <a:ext cx="9787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引用 Top500 数据时写明是哪一期榜单，同一张表里的核数、Rmax、功耗最好出自同一期，否则算出来的比值没有意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义。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94872" cy="909257"/>
            <a:chOff x="520446" y="342900"/>
            <a:chExt cx="63948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948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例题：超算的能效，和 PC、核电站比一比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27685" y="1524000"/>
            <a:ext cx="5848350" cy="2877027"/>
            <a:chOff x="527685" y="1524000"/>
            <a:chExt cx="5848350" cy="287702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872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00223" y="1655445"/>
              <a:ext cx="425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Rmax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6525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62995" y="1655445"/>
              <a:ext cx="1509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能效（GFlop/s/W）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828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 Capitan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85568" y="2085022"/>
              <a:ext cx="1016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1742 PFlop/s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64509" y="2085022"/>
              <a:ext cx="788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29.58 MW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668202" y="1964055"/>
              <a:ext cx="169830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03100" y="20850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58.9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富岳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95042" y="2515552"/>
              <a:ext cx="1106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442.0 PFlop/s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64509" y="2515552"/>
              <a:ext cx="788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29.90 MW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03100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14.8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太湖之光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85568" y="2946082"/>
              <a:ext cx="1016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93.0 PFlop/s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64509" y="2946082"/>
              <a:ext cx="788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15.37 MW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03100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2394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24421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天河二号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85568" y="3375660"/>
              <a:ext cx="1016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33.9 PFlop/s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64509" y="3375660"/>
              <a:ext cx="788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17.81 MW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03100" y="33756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6699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3806190"/>
              <a:ext cx="14730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PC（Intel i7 4 核）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76093" y="3806190"/>
              <a:ext cx="925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GFlop/s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98646" y="380619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50–400 W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25401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0.25–2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5842635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21361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602355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653915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7685" y="4180999"/>
              <a:ext cx="4880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能效 = Rmax ÷ 功耗。Frontier 的 Rmax 与功耗不是同一期的数，不列入</a:t>
              </a:r>
            </a:p>
          </p:txBody>
        </p:sp>
      </p:grpSp>
      <p:grpSp>
        <p:nvGrpSpPr>
          <p:cNvPr id="50" name="c1-card-2"/>
          <p:cNvGrpSpPr/>
          <p:nvPr/>
        </p:nvGrpSpPr>
        <p:grpSpPr>
          <a:xfrm>
            <a:off x="533400" y="4541520"/>
            <a:ext cx="5842635" cy="1274445"/>
            <a:chOff x="533400" y="4541520"/>
            <a:chExt cx="5842635" cy="1274445"/>
          </a:xfrm>
        </p:grpSpPr>
        <p:sp>
          <p:nvSpPr>
            <p:cNvPr id="45" name="Rectangle 45"/>
            <p:cNvSpPr/>
            <p:nvPr/>
          </p:nvSpPr>
          <p:spPr>
            <a:xfrm>
              <a:off x="533400" y="4541520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67487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75335" y="47453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5543" y="47810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8096" y="5118259"/>
              <a:ext cx="502793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原课件把秦山核电站一期写作“300MWH”。装机容量是功率，单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位是 MW；MWh 是电量单位。</a:t>
              </a:r>
            </a:p>
          </p:txBody>
        </p:sp>
      </p:grpSp>
      <p:grpSp>
        <p:nvGrpSpPr>
          <p:cNvPr id="68" name="c2-steps-1"/>
          <p:cNvGrpSpPr/>
          <p:nvPr/>
        </p:nvGrpSpPr>
        <p:grpSpPr>
          <a:xfrm>
            <a:off x="6680835" y="1533525"/>
            <a:ext cx="4654296" cy="2853119"/>
            <a:chOff x="6680835" y="1533525"/>
            <a:chExt cx="4654296" cy="2853119"/>
          </a:xfrm>
        </p:grpSpPr>
        <p:sp>
          <p:nvSpPr>
            <p:cNvPr id="51" name="Rectangle 51"/>
            <p:cNvSpPr/>
            <p:nvPr/>
          </p:nvSpPr>
          <p:spPr>
            <a:xfrm>
              <a:off x="6814185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80835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445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680835" y="29965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74459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680835" y="361664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4459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92696" y="1566386"/>
              <a:ext cx="1139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 PC 快多少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93839" y="1846898"/>
              <a:ext cx="4227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1742 × 10¹⁵ ÷ 10¹¹ ≈ 1.7 × 10⁷，约 1700 万台 PC 的算力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92696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比核电站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93839" y="2467927"/>
              <a:ext cx="4203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29.58 MW ÷ 300 MW ≈ 1/10，一台超算用掉秦山一期约一成的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发电能力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92696" y="302942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一天的电量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93839" y="3309938"/>
              <a:ext cx="2157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29.58 MW × 24 h ≈ 710 MWh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92696" y="365045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十一年的进步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93839" y="3930968"/>
              <a:ext cx="42412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58.9 ÷ 1.90 ≈ 31，同样的电，El Capitan（2024）的算力是天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河二号（2013）的 31 倍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6680835" y="4562475"/>
            <a:ext cx="4977765" cy="1254442"/>
            <a:chOff x="6680835" y="4562475"/>
            <a:chExt cx="4977765" cy="1254442"/>
          </a:xfrm>
        </p:grpSpPr>
        <p:sp>
          <p:nvSpPr>
            <p:cNvPr id="69" name="Rectangle 69"/>
            <p:cNvSpPr/>
            <p:nvPr/>
          </p:nvSpPr>
          <p:spPr>
            <a:xfrm>
              <a:off x="6680835" y="4562475"/>
              <a:ext cx="4977765" cy="1254442"/>
            </a:xfrm>
            <a:prstGeom prst="roundRect">
              <a:avLst>
                <a:gd name="adj" fmla="val 911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885623" y="5089208"/>
              <a:ext cx="200026" cy="200025"/>
              <a:chOff x="6885623" y="5089208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885623" y="50892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925361" y="51336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960077" y="52447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187946" y="4827746"/>
              <a:ext cx="402704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超算的电费和散热是大头，所以榜单也比能效。El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Capitan 用的 MI300A 把 CPU 和 GPU 封装在一起，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能效约是纯 CPU 的富岳的 4 倍（58.9 ÷ 14.8）。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40489" cy="909257"/>
            <a:chOff x="520446" y="342900"/>
            <a:chExt cx="68404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404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Top500 国家分布：中美两国台数占一半以上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8" name="c1-table-1"/>
          <p:cNvGrpSpPr/>
          <p:nvPr/>
        </p:nvGrpSpPr>
        <p:grpSpPr>
          <a:xfrm>
            <a:off x="527685" y="1524000"/>
            <a:ext cx="5632133" cy="4783932"/>
            <a:chOff x="527685" y="1524000"/>
            <a:chExt cx="5632133" cy="47839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51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国家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02446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10228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10667" y="1659731"/>
              <a:ext cx="709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2024.06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美国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963102" y="1982152"/>
              <a:ext cx="128873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857218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65001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9620" y="1982152"/>
              <a:ext cx="157067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4723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5199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271838" y="2430780"/>
              <a:ext cx="128873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65001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4949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德国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51991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5977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49496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51991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59773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49496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7633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39038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法国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51991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59773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49496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211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21671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223" y="43524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英国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51991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59773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49496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6605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223" y="48010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韩国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046763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54546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49496" y="480107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1101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511492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1223" y="52497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意大利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046763" y="52497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354546" y="52497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49496" y="524970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55587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1223" y="56983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俄罗斯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951991" y="569833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354546" y="569833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944268" y="569833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1524000"/>
              <a:ext cx="5626418" cy="44881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948815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3257550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565332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7685" y="608790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各年上榜台数（共 500 台）；— 表示原课件未列出</a:t>
              </a:r>
            </a:p>
          </p:txBody>
        </p:sp>
      </p:grpSp>
      <p:grpSp>
        <p:nvGrpSpPr>
          <p:cNvPr id="75" name="c2-bullets-1"/>
          <p:cNvGrpSpPr/>
          <p:nvPr/>
        </p:nvGrpSpPr>
        <p:grpSpPr>
          <a:xfrm>
            <a:off x="6470333" y="1548765"/>
            <a:ext cx="4907280" cy="1554480"/>
            <a:chOff x="6470333" y="1548765"/>
            <a:chExt cx="4907280" cy="1554480"/>
          </a:xfrm>
        </p:grpSpPr>
        <p:sp>
          <p:nvSpPr>
            <p:cNvPr id="69" name="Ellipse 69"/>
            <p:cNvSpPr/>
            <p:nvPr/>
          </p:nvSpPr>
          <p:spPr>
            <a:xfrm>
              <a:off x="6470333" y="16116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28448" y="1548765"/>
              <a:ext cx="2620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 年美国 255 台，占 51%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470333" y="19564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28448" y="18935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2017 年中国 202 台，台数第一，中美合计 345 台，占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69%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470333" y="25869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28448" y="2524125"/>
              <a:ext cx="4749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 年 6 月美国 171 台、中国 80 台，合计 251 台，约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占一半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464618" y="3234690"/>
            <a:ext cx="5193982" cy="1602105"/>
            <a:chOff x="6464618" y="3234690"/>
            <a:chExt cx="5193982" cy="1602105"/>
          </a:xfrm>
        </p:grpSpPr>
        <p:sp>
          <p:nvSpPr>
            <p:cNvPr id="76" name="Rectangle 76"/>
            <p:cNvSpPr/>
            <p:nvPr/>
          </p:nvSpPr>
          <p:spPr>
            <a:xfrm>
              <a:off x="6464618" y="3234690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74142" y="336804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712268" y="344424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72923" y="347995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看份额图要分清口径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704648" y="3821430"/>
              <a:ext cx="4558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原课件第30–34页是 top500.org 的饼图和面积图，按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国家、厂商、应用领域统计。系统份额数的是台数，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性能份额加的是 Rmax，台数多不代表算力份额大。</a:t>
              </a:r>
            </a:p>
          </p:txBody>
        </p:sp>
      </p:grpSp>
      <p:grpSp>
        <p:nvGrpSpPr>
          <p:cNvPr id="88" name="c2-callout-3"/>
          <p:cNvGrpSpPr/>
          <p:nvPr/>
        </p:nvGrpSpPr>
        <p:grpSpPr>
          <a:xfrm>
            <a:off x="6464618" y="5027295"/>
            <a:ext cx="5193982" cy="1236345"/>
            <a:chOff x="6464618" y="5027295"/>
            <a:chExt cx="5193982" cy="1236345"/>
          </a:xfrm>
        </p:grpSpPr>
        <p:sp>
          <p:nvSpPr>
            <p:cNvPr id="82" name="Rectangle 82"/>
            <p:cNvSpPr/>
            <p:nvPr/>
          </p:nvSpPr>
          <p:spPr>
            <a:xfrm>
              <a:off x="6464618" y="5027295"/>
              <a:ext cx="5193982" cy="1236345"/>
            </a:xfrm>
            <a:prstGeom prst="roundRect">
              <a:avLst>
                <a:gd name="adj" fmla="val 924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669405" y="5545455"/>
              <a:ext cx="200026" cy="200026"/>
              <a:chOff x="6669405" y="5545455"/>
              <a:chExt cx="200026" cy="200026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6669405" y="55454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769418" y="56121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758305" y="56454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971348" y="5264468"/>
              <a:ext cx="43014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第31页是 El Capitan 所用 AMD Instinct MI300A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加速器的产品页，这颗芯片把 CPU 核和 GPU 核封装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在一起。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吉林大学超算中心：三代集群，节点越来越强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28066" y="1524000"/>
            <a:ext cx="11130534" cy="2404682"/>
            <a:chOff x="528066" y="1524000"/>
            <a:chExt cx="11130534" cy="24046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726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09013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72447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每节点核数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36145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总核数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35596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峰值性能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7736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6171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每核峰值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5889" y="218313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老集群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77211" y="218313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60929" y="218313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215890" y="1958340"/>
              <a:ext cx="1538288" cy="61912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93625" y="218313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66192" y="2183130"/>
              <a:ext cx="835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TFlop/s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68346" y="2076450"/>
              <a:ext cx="7360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Gb/s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InfiniBand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39908" y="2183130"/>
              <a:ext cx="1016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13.9 GFlop/s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5812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258603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27146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77211" y="271462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60929" y="2714625"/>
              <a:ext cx="16580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36（Intel Gold 6240）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93625" y="271462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4320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66192" y="2714625"/>
              <a:ext cx="925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371 TFlop/s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68346" y="2714625"/>
              <a:ext cx="1229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Gb/s 光网络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39908" y="2714625"/>
              <a:ext cx="1016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85.9 GFlop/s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0060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889" y="32461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7211" y="324612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60929" y="3139440"/>
              <a:ext cx="18333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56（Intel 6330，28 核 × 2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04776" y="324612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11312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773228" y="3020378"/>
              <a:ext cx="1983105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66192" y="3246120"/>
              <a:ext cx="1794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707 TFlop/s，1 PB 存储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68346" y="3139440"/>
              <a:ext cx="7360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Gb/s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InfiniBand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39908" y="3246120"/>
              <a:ext cx="1016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62.5 GFlop/s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11125200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752600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753678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201602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58940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761095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318432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8066" y="3723323"/>
              <a:ext cx="66584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GPU 服务器：A800 2×2、A30 2×16（原课件写法）。老集群当年排全球第 239、国内第 15、国内高校第 1</a:t>
              </a:r>
            </a:p>
          </p:txBody>
        </p:sp>
      </p:grpSp>
      <p:grpSp>
        <p:nvGrpSpPr>
          <p:cNvPr id="68" name="c1-compare-2"/>
          <p:cNvGrpSpPr/>
          <p:nvPr/>
        </p:nvGrpSpPr>
        <p:grpSpPr>
          <a:xfrm>
            <a:off x="533400" y="4067175"/>
            <a:ext cx="11125200" cy="2295525"/>
            <a:chOff x="533400" y="4067175"/>
            <a:chExt cx="11125200" cy="2295525"/>
          </a:xfrm>
        </p:grpSpPr>
        <p:sp>
          <p:nvSpPr>
            <p:cNvPr id="50" name="Rectangle 50"/>
            <p:cNvSpPr/>
            <p:nvPr/>
          </p:nvSpPr>
          <p:spPr>
            <a:xfrm>
              <a:off x="533400" y="4067175"/>
              <a:ext cx="5353050" cy="2295525"/>
            </a:xfrm>
            <a:prstGeom prst="roundRect">
              <a:avLst>
                <a:gd name="adj" fmla="val 58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42925" y="4200525"/>
              <a:ext cx="47625" cy="20288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2381" y="428863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77240" y="468439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3831" y="4624864"/>
              <a:ext cx="445985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老集群 300 × 12 = 3600 核，原课件写 4000 核（可能是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约数）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77240" y="527399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33831" y="5213509"/>
              <a:ext cx="448691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Intel 6330 是 28 核处理器，202 × 2 × 28 = 11312，说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明每个节点两颗 CPU；Gold 6240 每颗 18 核，36 核同样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是双路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305550" y="4067175"/>
              <a:ext cx="5353050" cy="2295525"/>
            </a:xfrm>
            <a:prstGeom prst="roundRect">
              <a:avLst>
                <a:gd name="adj" fmla="val 58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315075" y="4200525"/>
              <a:ext cx="47625" cy="20288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34531" y="428863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峰值怎么估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549390" y="468439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05981" y="4624864"/>
              <a:ext cx="35413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峰值 = 核数 × 主频 × 每周期浮点运算次数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549390" y="500253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05981" y="4942046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6330 基频 2.0 GHz，AVX-512 每周期 32 次双精度运算：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11312 × 2.0 × 32 ≈ 724 TFlop/s，与标称 707 相近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549390" y="55911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05981" y="5531644"/>
              <a:ext cx="42975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最新集群总峰值是老集群的 707 ÷ 50 ≈ 14 倍，节点数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却更少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934075" y="505301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10546" y="515445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吉大超算的组成：三张网络连起各类节点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graph-1"/>
          <p:cNvGrpSpPr/>
          <p:nvPr/>
        </p:nvGrpSpPr>
        <p:grpSpPr>
          <a:xfrm>
            <a:off x="697230" y="1632585"/>
            <a:ext cx="5977890" cy="4152328"/>
            <a:chOff x="697230" y="1632585"/>
            <a:chExt cx="5977890" cy="4152328"/>
          </a:xfrm>
        </p:grpSpPr>
        <p:sp>
          <p:nvSpPr>
            <p:cNvPr id="7" name="Freeform 7"/>
            <p:cNvSpPr/>
            <p:nvPr/>
          </p:nvSpPr>
          <p:spPr>
            <a:xfrm>
              <a:off x="2125980" y="1887855"/>
              <a:ext cx="830580" cy="9525"/>
            </a:xfrm>
            <a:custGeom>
              <a:avLst/>
              <a:gdLst/>
              <a:ahLst/>
              <a:cxnLst/>
              <a:rect l="l" t="t" r="r" b="b"/>
              <a:pathLst>
                <a:path w="830580" h="9525">
                  <a:moveTo>
                    <a:pt x="0" y="0"/>
                  </a:moveTo>
                  <a:lnTo>
                    <a:pt x="8305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70935" y="2143125"/>
              <a:ext cx="9525" cy="950595"/>
            </a:xfrm>
            <a:custGeom>
              <a:avLst/>
              <a:gdLst/>
              <a:ahLst/>
              <a:cxnLst/>
              <a:rect l="l" t="t" r="r" b="b"/>
              <a:pathLst>
                <a:path w="9525" h="950595">
                  <a:moveTo>
                    <a:pt x="0" y="0"/>
                  </a:moveTo>
                  <a:lnTo>
                    <a:pt x="0" y="950595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953578" y="4801552"/>
              <a:ext cx="1002982" cy="9525"/>
            </a:xfrm>
            <a:custGeom>
              <a:avLst/>
              <a:gdLst/>
              <a:ahLst/>
              <a:cxnLst/>
              <a:rect l="l" t="t" r="r" b="b"/>
              <a:pathLst>
                <a:path w="1002982" h="9525">
                  <a:moveTo>
                    <a:pt x="0" y="0"/>
                  </a:moveTo>
                  <a:lnTo>
                    <a:pt x="1002982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56560" y="47539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858328" y="47539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990022" y="3049905"/>
              <a:ext cx="1866900" cy="1496378"/>
            </a:xfrm>
            <a:custGeom>
              <a:avLst/>
              <a:gdLst/>
              <a:ahLst/>
              <a:cxnLst/>
              <a:rect l="l" t="t" r="r" b="b"/>
              <a:pathLst>
                <a:path w="1866900" h="1496378">
                  <a:moveTo>
                    <a:pt x="0" y="1496378"/>
                  </a:moveTo>
                  <a:lnTo>
                    <a:pt x="186690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228148" y="3869055"/>
              <a:ext cx="1478280" cy="677228"/>
            </a:xfrm>
            <a:custGeom>
              <a:avLst/>
              <a:gdLst/>
              <a:ahLst/>
              <a:cxnLst/>
              <a:rect l="l" t="t" r="r" b="b"/>
              <a:pathLst>
                <a:path w="1478280" h="677228">
                  <a:moveTo>
                    <a:pt x="0" y="677228"/>
                  </a:moveTo>
                  <a:lnTo>
                    <a:pt x="147828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90060" y="4588192"/>
              <a:ext cx="1242060" cy="141923"/>
            </a:xfrm>
            <a:custGeom>
              <a:avLst/>
              <a:gdLst/>
              <a:ahLst/>
              <a:cxnLst/>
              <a:rect l="l" t="t" r="r" b="b"/>
              <a:pathLst>
                <a:path w="1242060" h="141923">
                  <a:moveTo>
                    <a:pt x="0" y="141923"/>
                  </a:moveTo>
                  <a:lnTo>
                    <a:pt x="124206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290060" y="4990148"/>
              <a:ext cx="1146810" cy="350520"/>
            </a:xfrm>
            <a:custGeom>
              <a:avLst/>
              <a:gdLst/>
              <a:ahLst/>
              <a:cxnLst/>
              <a:rect l="l" t="t" r="r" b="b"/>
              <a:pathLst>
                <a:path w="1146810" h="350520">
                  <a:moveTo>
                    <a:pt x="0" y="0"/>
                  </a:moveTo>
                  <a:lnTo>
                    <a:pt x="1146810" y="35052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495425" y="2143125"/>
              <a:ext cx="1966912" cy="2403158"/>
            </a:xfrm>
            <a:custGeom>
              <a:avLst/>
              <a:gdLst/>
              <a:ahLst/>
              <a:cxnLst/>
              <a:rect l="l" t="t" r="r" b="b"/>
              <a:pathLst>
                <a:path w="1966912" h="2403158">
                  <a:moveTo>
                    <a:pt x="1966912" y="0"/>
                  </a:moveTo>
                  <a:lnTo>
                    <a:pt x="0" y="240315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4279582" y="2143125"/>
              <a:ext cx="1395412" cy="586740"/>
            </a:xfrm>
            <a:custGeom>
              <a:avLst/>
              <a:gdLst/>
              <a:ahLst/>
              <a:cxnLst/>
              <a:rect l="l" t="t" r="r" b="b"/>
              <a:pathLst>
                <a:path w="1395412" h="586740">
                  <a:moveTo>
                    <a:pt x="0" y="0"/>
                  </a:moveTo>
                  <a:lnTo>
                    <a:pt x="1395412" y="58674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8" name="Rectangle 18"/>
            <p:cNvSpPr/>
            <p:nvPr/>
          </p:nvSpPr>
          <p:spPr>
            <a:xfrm>
              <a:off x="697230" y="1632585"/>
              <a:ext cx="142875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956560" y="1632585"/>
              <a:ext cx="1428750" cy="510540"/>
            </a:xfrm>
            <a:prstGeom prst="roundRect">
              <a:avLst>
                <a:gd name="adj" fmla="val 1865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147060" y="3093720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051810" y="4546282"/>
              <a:ext cx="1238250" cy="510540"/>
            </a:xfrm>
            <a:prstGeom prst="roundRect">
              <a:avLst>
                <a:gd name="adj" fmla="val 1865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5328" y="4546282"/>
              <a:ext cx="1143000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532120" y="2729865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532120" y="3549015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532120" y="4368165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36870" y="5273992"/>
              <a:ext cx="123825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3345" y="1718310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校园网 / 互联网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43965" y="1908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44219" y="1718310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万兆 / 千兆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80207" y="19088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以太网交换机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03295" y="3179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57428" y="4631055"/>
              <a:ext cx="827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InfiniBand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22523" y="48215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7643" y="46310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计算节点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7098" y="482155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很多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26811" y="28146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管理节点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26811" y="36337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登录节点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13613" y="4453890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节点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67384" y="5359717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Lustre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65267" y="555021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并行文件系统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446145" y="2526030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468091" y="256079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存储网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254568" y="3251835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276513" y="328660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管理网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7114222" y="1524000"/>
            <a:ext cx="4544378" cy="2248852"/>
            <a:chOff x="7114222" y="1524000"/>
            <a:chExt cx="4544378" cy="2248852"/>
          </a:xfrm>
        </p:grpSpPr>
        <p:sp>
          <p:nvSpPr>
            <p:cNvPr id="46" name="Rectangle 46"/>
            <p:cNvSpPr/>
            <p:nvPr/>
          </p:nvSpPr>
          <p:spPr>
            <a:xfrm>
              <a:off x="7114222" y="1524000"/>
              <a:ext cx="454437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164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6241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原图标注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254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22046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管理网络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85073" y="2221706"/>
              <a:ext cx="9667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Gbps 以太网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57613" y="2108359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连所有节点，登录、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监控、调度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114222" y="264318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14222" y="2647950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22046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存储网络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85073" y="2783681"/>
              <a:ext cx="6420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Gbps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57613" y="2783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连存储设备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114222" y="309276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22046" y="33456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计算网络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85073" y="3345656"/>
              <a:ext cx="840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InfiniBand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857613" y="3232309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节点间通信和读写并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行文件系统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114222" y="1524000"/>
              <a:ext cx="4544378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47248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74502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kv-2"/>
          <p:cNvGrpSpPr/>
          <p:nvPr/>
        </p:nvGrpSpPr>
        <p:grpSpPr>
          <a:xfrm>
            <a:off x="7106602" y="3988118"/>
            <a:ext cx="4551998" cy="1173480"/>
            <a:chOff x="7106602" y="3988118"/>
            <a:chExt cx="4551998" cy="1173480"/>
          </a:xfrm>
        </p:grpSpPr>
        <p:sp>
          <p:nvSpPr>
            <p:cNvPr id="66" name="TextBox 66"/>
            <p:cNvSpPr txBox="1"/>
            <p:nvPr/>
          </p:nvSpPr>
          <p:spPr>
            <a:xfrm>
              <a:off x="7106602" y="398811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登录节点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47685" y="398811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用户登录、编译、提交作业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114222" y="430815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06602" y="44281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管理节点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147685" y="442817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作业调度与集群监控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114222" y="474821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106602" y="4868228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Lustre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47685" y="4868228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所有计算节点共享的并行文件系统</a:t>
              </a:r>
            </a:p>
          </p:txBody>
        </p:sp>
      </p:grpSp>
      <p:grpSp>
        <p:nvGrpSpPr>
          <p:cNvPr id="81" name="c2-callout-3"/>
          <p:cNvGrpSpPr/>
          <p:nvPr/>
        </p:nvGrpSpPr>
        <p:grpSpPr>
          <a:xfrm>
            <a:off x="7114222" y="5293042"/>
            <a:ext cx="4544378" cy="782955"/>
            <a:chOff x="7114222" y="5293042"/>
            <a:chExt cx="4544378" cy="782955"/>
          </a:xfrm>
        </p:grpSpPr>
        <p:sp>
          <p:nvSpPr>
            <p:cNvPr id="75" name="Rectangle 75"/>
            <p:cNvSpPr/>
            <p:nvPr/>
          </p:nvSpPr>
          <p:spPr>
            <a:xfrm>
              <a:off x="7114222" y="5293042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19010" y="5584508"/>
              <a:ext cx="200026" cy="200026"/>
              <a:chOff x="7319010" y="5584508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19010" y="55845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419023" y="56511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407910" y="56845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7620952" y="5441632"/>
              <a:ext cx="3434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原图拼写 Storeage、LUSTER、Gps 应为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Storage、Lustre、Gbps。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62537" cy="909257"/>
            <a:chOff x="520446" y="342900"/>
            <a:chExt cx="90625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625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吉大 DeepSeek 部署：智算与超算集群共用一套网络和存储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654368" y="2053590"/>
            <a:ext cx="5955982" cy="3387090"/>
            <a:chOff x="654368" y="2053590"/>
            <a:chExt cx="5955982" cy="3387090"/>
          </a:xfrm>
        </p:grpSpPr>
        <p:sp>
          <p:nvSpPr>
            <p:cNvPr id="7" name="Freeform 7"/>
            <p:cNvSpPr/>
            <p:nvPr/>
          </p:nvSpPr>
          <p:spPr>
            <a:xfrm>
              <a:off x="1035368" y="3950018"/>
              <a:ext cx="9525" cy="980123"/>
            </a:xfrm>
            <a:custGeom>
              <a:avLst/>
              <a:gdLst/>
              <a:ahLst/>
              <a:cxnLst/>
              <a:rect l="l" t="t" r="r" b="b"/>
              <a:pathLst>
                <a:path w="9525" h="980123">
                  <a:moveTo>
                    <a:pt x="0" y="98012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35368" y="2650808"/>
              <a:ext cx="9525" cy="979170"/>
            </a:xfrm>
            <a:custGeom>
              <a:avLst/>
              <a:gdLst/>
              <a:ahLst/>
              <a:cxnLst/>
              <a:rect l="l" t="t" r="r" b="b"/>
              <a:pathLst>
                <a:path w="9525" h="979170">
                  <a:moveTo>
                    <a:pt x="0" y="0"/>
                  </a:moveTo>
                  <a:lnTo>
                    <a:pt x="0" y="979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416368" y="3789998"/>
              <a:ext cx="519112" cy="9525"/>
            </a:xfrm>
            <a:custGeom>
              <a:avLst/>
              <a:gdLst/>
              <a:ahLst/>
              <a:cxnLst/>
              <a:rect l="l" t="t" r="r" b="b"/>
              <a:pathLst>
                <a:path w="519112" h="9525">
                  <a:moveTo>
                    <a:pt x="0" y="0"/>
                  </a:moveTo>
                  <a:lnTo>
                    <a:pt x="5191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16492" y="2468880"/>
              <a:ext cx="9525" cy="1199198"/>
            </a:xfrm>
            <a:custGeom>
              <a:avLst/>
              <a:gdLst/>
              <a:ahLst/>
              <a:cxnLst/>
              <a:rect l="l" t="t" r="r" b="b"/>
              <a:pathLst>
                <a:path w="9525" h="1199198">
                  <a:moveTo>
                    <a:pt x="0" y="0"/>
                  </a:moveTo>
                  <a:lnTo>
                    <a:pt x="0" y="11991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670935" y="2468880"/>
              <a:ext cx="9525" cy="1199198"/>
            </a:xfrm>
            <a:custGeom>
              <a:avLst/>
              <a:gdLst/>
              <a:ahLst/>
              <a:cxnLst/>
              <a:rect l="l" t="t" r="r" b="b"/>
              <a:pathLst>
                <a:path w="9525" h="1199198">
                  <a:moveTo>
                    <a:pt x="0" y="0"/>
                  </a:moveTo>
                  <a:lnTo>
                    <a:pt x="0" y="11991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989195" y="2564130"/>
              <a:ext cx="9525" cy="1103948"/>
            </a:xfrm>
            <a:custGeom>
              <a:avLst/>
              <a:gdLst/>
              <a:ahLst/>
              <a:cxnLst/>
              <a:rect l="l" t="t" r="r" b="b"/>
              <a:pathLst>
                <a:path w="9525" h="1103948">
                  <a:moveTo>
                    <a:pt x="0" y="0"/>
                  </a:moveTo>
                  <a:lnTo>
                    <a:pt x="0" y="11039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181725" y="2564130"/>
              <a:ext cx="9525" cy="1103948"/>
            </a:xfrm>
            <a:custGeom>
              <a:avLst/>
              <a:gdLst/>
              <a:ahLst/>
              <a:cxnLst/>
              <a:rect l="l" t="t" r="r" b="b"/>
              <a:pathLst>
                <a:path w="9525" h="1103948">
                  <a:moveTo>
                    <a:pt x="0" y="0"/>
                  </a:moveTo>
                  <a:lnTo>
                    <a:pt x="0" y="11039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44190" y="3911918"/>
              <a:ext cx="9525" cy="1113473"/>
            </a:xfrm>
            <a:custGeom>
              <a:avLst/>
              <a:gdLst/>
              <a:ahLst/>
              <a:cxnLst/>
              <a:rect l="l" t="t" r="r" b="b"/>
              <a:pathLst>
                <a:path w="9525" h="1113473">
                  <a:moveTo>
                    <a:pt x="0" y="111347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472815" y="5185410"/>
              <a:ext cx="960120" cy="9525"/>
            </a:xfrm>
            <a:custGeom>
              <a:avLst/>
              <a:gdLst/>
              <a:ahLst/>
              <a:cxnLst/>
              <a:rect l="l" t="t" r="r" b="b"/>
              <a:pathLst>
                <a:path w="960120" h="9525">
                  <a:moveTo>
                    <a:pt x="0" y="0"/>
                  </a:moveTo>
                  <a:lnTo>
                    <a:pt x="96012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432935" y="51377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54368" y="4930140"/>
              <a:ext cx="762000" cy="510540"/>
            </a:xfrm>
            <a:prstGeom prst="roundRect">
              <a:avLst>
                <a:gd name="adj" fmla="val 1865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54368" y="2140268"/>
              <a:ext cx="762000" cy="510540"/>
            </a:xfrm>
            <a:prstGeom prst="roundRect">
              <a:avLst>
                <a:gd name="adj" fmla="val 1865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54368" y="3629978"/>
              <a:ext cx="762000" cy="320040"/>
            </a:xfrm>
            <a:prstGeom prst="roundRect">
              <a:avLst>
                <a:gd name="adj" fmla="val 2976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35480" y="3628072"/>
              <a:ext cx="4476750" cy="323850"/>
            </a:xfrm>
            <a:prstGeom prst="roundRect">
              <a:avLst>
                <a:gd name="adj" fmla="val 2941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987868" y="2148840"/>
              <a:ext cx="857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242310" y="2148840"/>
              <a:ext cx="857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17695" y="2053590"/>
              <a:ext cx="1143000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53100" y="2053590"/>
              <a:ext cx="85725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15565" y="5025390"/>
              <a:ext cx="857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8185" y="5025390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6956" y="50149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校外网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7728" y="52054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956" y="222599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校内网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7728" y="24164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956" y="37157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防火墙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62507" y="3715702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计算网络 + 监控管理网络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87308" y="22336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登录节点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41751" y="22336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管理节点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60011" y="21383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智算集群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95902" y="2328863"/>
              <a:ext cx="1186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+ 昇腾 NPU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52541" y="21383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超算集群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39343" y="2328863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平台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55575" y="5110162"/>
              <a:ext cx="577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 节点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22876" y="51101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存储阵列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37622" y="509206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863619" y="51268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读写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7114222" y="1524000"/>
            <a:ext cx="4544378" cy="3108960"/>
            <a:chOff x="7114222" y="1524000"/>
            <a:chExt cx="4544378" cy="3108960"/>
          </a:xfrm>
        </p:grpSpPr>
        <p:sp>
          <p:nvSpPr>
            <p:cNvPr id="44" name="Rectangle 44"/>
            <p:cNvSpPr/>
            <p:nvPr/>
          </p:nvSpPr>
          <p:spPr>
            <a:xfrm>
              <a:off x="7114222" y="1524000"/>
              <a:ext cx="4544378" cy="3108960"/>
            </a:xfrm>
            <a:prstGeom prst="roundRect">
              <a:avLst>
                <a:gd name="adj" fmla="val 42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23748" y="1657350"/>
              <a:ext cx="47625" cy="28422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61872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5603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20025" y="1768792"/>
              <a:ext cx="3241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deepseek-r1:70b 一张卡放得下吗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54252" y="2129790"/>
              <a:ext cx="3796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70b 是 DeepSeek-R1 蒸馏到 Llama 70B 上的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版本，不是 6710 亿参数的完整版。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54252" y="2750820"/>
              <a:ext cx="3758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BF16 权重：700 亿 × 2 字节 = 140 GB，超过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 80 GB 显卡，至少两张。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54252" y="337185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位量化：700 亿 × 0.5 字节 = 35 GB，一张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卡放得下。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55396" y="3989546"/>
              <a:ext cx="3824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以上只算权重，KV Cache 还要另占显存，并发用户越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多占得越多。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7114222" y="4823460"/>
            <a:ext cx="4544378" cy="1059180"/>
            <a:chOff x="7114222" y="4823460"/>
            <a:chExt cx="4544378" cy="1059180"/>
          </a:xfrm>
        </p:grpSpPr>
        <p:sp>
          <p:nvSpPr>
            <p:cNvPr id="54" name="Rectangle 54"/>
            <p:cNvSpPr/>
            <p:nvPr/>
          </p:nvSpPr>
          <p:spPr>
            <a:xfrm>
              <a:off x="7114222" y="482346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19010" y="5253038"/>
              <a:ext cx="200026" cy="200025"/>
              <a:chOff x="7319010" y="525303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19010" y="52530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358749" y="52974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393464" y="54086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620952" y="4972050"/>
              <a:ext cx="35680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图中存储阵列只接在 IO 节点上，其他节点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读写数据都要经过 IO 节点转发，这是超算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里常见的计算与存储分离。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云计算系统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数据中心与高性能计算机的五个特点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4760595" cy="2581275"/>
            <a:chOff x="533400" y="1524000"/>
            <a:chExt cx="4760595" cy="2581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538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32594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规模庞大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57044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占据整栋楼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793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84108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性能强大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57044" y="2515552"/>
              <a:ext cx="2355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Top500 第一名已超过 1 EFlop/s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造价昂贵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57044" y="2946082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大型企业、政府、研究所，不是个人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945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44215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技术前沿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57044" y="33756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各国争相竞争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6998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380619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专业要求高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57044" y="380619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使用和维护都需要一定的专业水平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4760595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46935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llout-2"/>
          <p:cNvGrpSpPr/>
          <p:nvPr/>
        </p:nvGrpSpPr>
        <p:grpSpPr>
          <a:xfrm>
            <a:off x="533400" y="4290060"/>
            <a:ext cx="4760595" cy="2007870"/>
            <a:chOff x="533400" y="4290060"/>
            <a:chExt cx="4760595" cy="2007870"/>
          </a:xfrm>
        </p:grpSpPr>
        <p:sp>
          <p:nvSpPr>
            <p:cNvPr id="29" name="Rectangle 29"/>
            <p:cNvSpPr/>
            <p:nvPr/>
          </p:nvSpPr>
          <p:spPr>
            <a:xfrm>
              <a:off x="533400" y="4290060"/>
              <a:ext cx="4760595" cy="2007870"/>
            </a:xfrm>
            <a:prstGeom prst="roundRect">
              <a:avLst>
                <a:gd name="adj" fmla="val 569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193983"/>
              <a:ext cx="200026" cy="200026"/>
              <a:chOff x="738188" y="519398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1939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2606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2939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4932521"/>
              <a:ext cx="375653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原课件第41页链接了 Google 数据中心的介绍短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片，可在网上搜 Google Data Center tour 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5593080" y="1524000"/>
            <a:ext cx="6065520" cy="3086577"/>
            <a:chOff x="5593080" y="1524000"/>
            <a:chExt cx="6065520" cy="3086577"/>
          </a:xfrm>
        </p:grpSpPr>
        <p:sp>
          <p:nvSpPr>
            <p:cNvPr id="36" name="Rectangle 36"/>
            <p:cNvSpPr/>
            <p:nvPr/>
          </p:nvSpPr>
          <p:spPr>
            <a:xfrm>
              <a:off x="5598795" y="1524000"/>
              <a:ext cx="605980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7693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2464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云数据中心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8735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超算中心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04142" y="21917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94754" y="2085022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同时服务大量用户，看总吞吐和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79826" y="219170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尽快算完少数几个大问题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598795" y="25927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598795" y="2597468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4142" y="28355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典型负载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94754" y="2728912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网页、存储、在线服务、数据分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79826" y="283559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数值模拟、科学计算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98795" y="32365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704142" y="33728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94754" y="33728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以太网为主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79826" y="3372802"/>
              <a:ext cx="18064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InfiniBand 等低延迟网络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98795" y="36661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598795" y="3670935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04142" y="3909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94754" y="3802380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分布式文件、键值、表格、对象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79826" y="3909060"/>
              <a:ext cx="1730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Lustre 等并行文件系统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598795" y="1524000"/>
              <a:ext cx="6059805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84645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16971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593080" y="4390549"/>
              <a:ext cx="5076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对比表是补充内容，两者界限在变模糊：超算也跑 AI，云上也能租 GPU 集群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5598795" y="4752022"/>
            <a:ext cx="6059805" cy="1545908"/>
            <a:chOff x="5598795" y="4752022"/>
            <a:chExt cx="6059805" cy="1545908"/>
          </a:xfrm>
        </p:grpSpPr>
        <p:sp>
          <p:nvSpPr>
            <p:cNvPr id="62" name="Rectangle 62"/>
            <p:cNvSpPr/>
            <p:nvPr/>
          </p:nvSpPr>
          <p:spPr>
            <a:xfrm>
              <a:off x="5598795" y="4752022"/>
              <a:ext cx="6059805" cy="1545908"/>
            </a:xfrm>
            <a:prstGeom prst="roundRect">
              <a:avLst>
                <a:gd name="adj" fmla="val 86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802630" y="495585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876087" y="499157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与本课的关系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795391" y="5328761"/>
              <a:ext cx="54246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本课后面讲的 GFS、HDFS、Dynamo、Bigtable 都出自云数据中心，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目标是用大量普通服务器存海量数据，并在机器经常故障的前提下保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持可用。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367528" cy="3706177"/>
            <a:chOff x="667512" y="1835468"/>
            <a:chExt cx="5367528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大数据与云计算应用举例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七个例子，看数据中心到底在算什么、存什么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357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内容提要三：大数据/云计算应用举例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数值模拟：工业设计、天气预报、地质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数据管理：搜索、社交、电商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生物医学与遥感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三类负载对存储的要求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3914" cy="909257"/>
            <a:chOff x="520446" y="342900"/>
            <a:chExt cx="64139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大数据与云计算应用举例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39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数据中心能做什么：从 IT 服务到地质勘探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27685" y="1524000"/>
            <a:ext cx="4766310" cy="2091214"/>
            <a:chOff x="527685" y="1524000"/>
            <a:chExt cx="4766310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89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7696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应用领域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商业与信息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69973" y="2108359"/>
              <a:ext cx="17731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 服务、数据库、金融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科学与工程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9973" y="255698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天气预报、化学、航天技术、地质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能源与国家安全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69973" y="30056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能源、国防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476059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5738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7685" y="3395186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原课件第43页列了九个领域，分类是补充的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761422"/>
            <a:ext cx="4760595" cy="1602105"/>
            <a:chOff x="533400" y="3761422"/>
            <a:chExt cx="4760595" cy="1602105"/>
          </a:xfrm>
        </p:grpSpPr>
        <p:sp>
          <p:nvSpPr>
            <p:cNvPr id="23" name="Rectangle 23"/>
            <p:cNvSpPr/>
            <p:nvPr/>
          </p:nvSpPr>
          <p:spPr>
            <a:xfrm>
              <a:off x="533400" y="3761422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894772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397097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3359" y="40066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数值模拟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4348162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把物理过程写成偏微分方程，离散到网格上，用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计算机一步步求近似解。网格越细、时间步越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多，计算量和输出的数据量就越大。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5598795" y="1524000"/>
            <a:ext cx="6059805" cy="2202180"/>
            <a:chOff x="5598795" y="1524000"/>
            <a:chExt cx="6059805" cy="2202180"/>
          </a:xfrm>
        </p:grpSpPr>
        <p:sp>
          <p:nvSpPr>
            <p:cNvPr id="29" name="Rectangle 29"/>
            <p:cNvSpPr/>
            <p:nvPr/>
          </p:nvSpPr>
          <p:spPr>
            <a:xfrm>
              <a:off x="5598795" y="1524000"/>
              <a:ext cx="6059805" cy="2202180"/>
            </a:xfrm>
            <a:prstGeom prst="roundRect">
              <a:avLst>
                <a:gd name="adj" fmla="val 60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608320" y="1657350"/>
              <a:ext cx="47625" cy="19354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46445" y="1733550"/>
              <a:ext cx="90582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25288" y="1769269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应用举例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8952" y="1768792"/>
              <a:ext cx="4335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工业设计（数值模拟，numerical simulation）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52160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10275" y="2129790"/>
              <a:ext cx="5225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飞机设计（空客 Airbus）、汽车设计：内燃机、碰撞试验、空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气动力学、外形设计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52160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10275" y="2750820"/>
              <a:ext cx="33312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芯片设计：AMD 用约 1 万个核做仿真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39968" y="3082766"/>
              <a:ext cx="5393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原课件第44页的图是赛车的气动仿真和汽车碰撞仿真结果，颜色表示压力或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形变大小。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5598795" y="3916680"/>
            <a:ext cx="6059805" cy="1446848"/>
            <a:chOff x="5598795" y="3916680"/>
            <a:chExt cx="6059805" cy="1446848"/>
          </a:xfrm>
        </p:grpSpPr>
        <p:sp>
          <p:nvSpPr>
            <p:cNvPr id="40" name="Rectangle 40"/>
            <p:cNvSpPr/>
            <p:nvPr/>
          </p:nvSpPr>
          <p:spPr>
            <a:xfrm>
              <a:off x="5598795" y="3916680"/>
              <a:ext cx="6059805" cy="1446848"/>
            </a:xfrm>
            <a:prstGeom prst="roundRect">
              <a:avLst>
                <a:gd name="adj" fmla="val 790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803583" y="4539615"/>
              <a:ext cx="200026" cy="200025"/>
              <a:chOff x="5803583" y="4539615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803583" y="45396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843321" y="45840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878037" y="46951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105525" y="4396740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用仿真代替一部分风洞试验和实车碰撞，能省下大量样车和试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验费用，代价是要在集群上跑很大的计算。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9707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仿真每算完若干时间步就要把整张网格写盘，网格越细输出越大，所以数值模拟对存储的要求首先是写带宽。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31161" cy="909257"/>
            <a:chOff x="520446" y="342900"/>
            <a:chExt cx="61311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大数据与云计算应用举例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311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应用举例 2：天气预报就是学一个函数 f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flow-1"/>
          <p:cNvGrpSpPr/>
          <p:nvPr/>
        </p:nvGrpSpPr>
        <p:grpSpPr>
          <a:xfrm>
            <a:off x="666750" y="1683068"/>
            <a:ext cx="5359717" cy="870584"/>
            <a:chOff x="666750" y="1683068"/>
            <a:chExt cx="5359717" cy="870584"/>
          </a:xfrm>
        </p:grpSpPr>
        <p:sp>
          <p:nvSpPr>
            <p:cNvPr id="7" name="Freeform 7"/>
            <p:cNvSpPr/>
            <p:nvPr/>
          </p:nvSpPr>
          <p:spPr>
            <a:xfrm>
              <a:off x="2275522" y="22383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37448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150995" y="22383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12920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1924050"/>
              <a:ext cx="16087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42222" y="2019300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17695" y="1924050"/>
              <a:ext cx="16087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8736" y="2039779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当前时刻的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气象变量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51063" y="214931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f(·)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28400" y="2039779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未来某时刻的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气象变量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960495" y="1683068"/>
              <a:ext cx="64865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985708" y="1709738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如 5 天后</a:t>
              </a:r>
            </a:p>
          </p:txBody>
        </p:sp>
      </p:grpSp>
      <p:grpSp>
        <p:nvGrpSpPr>
          <p:cNvPr id="35" name="c1-compare-2"/>
          <p:cNvGrpSpPr/>
          <p:nvPr/>
        </p:nvGrpSpPr>
        <p:grpSpPr>
          <a:xfrm>
            <a:off x="533400" y="3143250"/>
            <a:ext cx="5627370" cy="2352675"/>
            <a:chOff x="533400" y="3143250"/>
            <a:chExt cx="5627370" cy="2352675"/>
          </a:xfrm>
        </p:grpSpPr>
        <p:sp>
          <p:nvSpPr>
            <p:cNvPr id="20" name="Rectangle 20"/>
            <p:cNvSpPr/>
            <p:nvPr/>
          </p:nvSpPr>
          <p:spPr>
            <a:xfrm>
              <a:off x="533400" y="3143250"/>
              <a:ext cx="2604135" cy="2352675"/>
            </a:xfrm>
            <a:prstGeom prst="roundRect">
              <a:avLst>
                <a:gd name="adj" fmla="val 566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5330" y="3377565"/>
              <a:ext cx="1920240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物理仿真（传统数值方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48665" y="4051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989070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用偏微分方程系统近似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48665" y="46729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6780" y="4610100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在超算上按网格数值求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556635" y="3143250"/>
              <a:ext cx="2604135" cy="2352675"/>
            </a:xfrm>
            <a:prstGeom prst="roundRect">
              <a:avLst>
                <a:gd name="adj" fmla="val 56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66160" y="3276600"/>
              <a:ext cx="47625" cy="2085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96665" y="3377565"/>
              <a:ext cx="676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AI 方法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810000" y="379476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68115" y="3731895"/>
              <a:ext cx="20042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用深度神经网络近似 f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810000" y="41300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968115" y="406717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用历史数据训练，推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理很快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3185160" y="415766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255500" y="425481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2722245"/>
            <a:chOff x="6464618" y="1524000"/>
            <a:chExt cx="5193982" cy="2722245"/>
          </a:xfrm>
        </p:grpSpPr>
        <p:sp>
          <p:nvSpPr>
            <p:cNvPr id="36" name="Rectangle 36"/>
            <p:cNvSpPr/>
            <p:nvPr/>
          </p:nvSpPr>
          <p:spPr>
            <a:xfrm>
              <a:off x="6464618" y="1524000"/>
              <a:ext cx="5193982" cy="2722245"/>
            </a:xfrm>
            <a:prstGeom prst="roundRect">
              <a:avLst>
                <a:gd name="adj" fmla="val 48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1657350"/>
              <a:ext cx="47625" cy="24555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12268" y="1733550"/>
              <a:ext cx="108489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85469" y="1769269"/>
              <a:ext cx="939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原课件第46页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03845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盘古气象模型的输入与对照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17983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76098" y="2129790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输入地表 2 米气温（T2M），输出与未来 3 天的真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实值对照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17983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76098" y="2750820"/>
              <a:ext cx="4272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输入地表 10 米 U 向风速（U10），同样对照未来 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05791" y="3368516"/>
              <a:ext cx="442645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K. Bi et al., Pangu-Weather: A 3D High-Resolution Model</a:t>
              </a:r>
              <a:br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for Fast and Accurate Global Weather Forecast,</a:t>
              </a:r>
              <a:br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arXiv:2211.02556, 2022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464618" y="4436745"/>
            <a:ext cx="5193982" cy="1059180"/>
            <a:chOff x="6464618" y="4436745"/>
            <a:chExt cx="5193982" cy="1059180"/>
          </a:xfrm>
        </p:grpSpPr>
        <p:sp>
          <p:nvSpPr>
            <p:cNvPr id="47" name="Rectangle 47"/>
            <p:cNvSpPr/>
            <p:nvPr/>
          </p:nvSpPr>
          <p:spPr>
            <a:xfrm>
              <a:off x="6464618" y="443674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669405" y="4866325"/>
              <a:ext cx="200023" cy="200023"/>
              <a:chOff x="6669405" y="486632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669405" y="48663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802755" y="49329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71348" y="4585335"/>
              <a:ext cx="4234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两条路线都离不开大存储：物理方法每天输出海量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网格数据，AI 方法要先存下几十年的再分析数据才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能训练。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10020" cy="909257"/>
            <a:chOff x="520446" y="342900"/>
            <a:chExt cx="89100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大数据与云计算应用举例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100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天气预报的数据与算力：每天 100 TB，训练用上百块 GPU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544378" cy="2005965"/>
            <a:chOff x="533400" y="1524000"/>
            <a:chExt cx="4544378" cy="2005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数值模拟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业务天气预报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29100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每天约 100 TB 数据，PB 级存储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33369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km 网格，分短期、中期、长期预报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2800350"/>
              <a:ext cx="3749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算一下：100 TB × 365 = 36.5 PB，一年就是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几十 PB。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3729990"/>
            <a:ext cx="4351401" cy="1462374"/>
            <a:chOff x="533400" y="3729990"/>
            <a:chExt cx="4351401" cy="1462374"/>
          </a:xfrm>
        </p:grpSpPr>
        <p:sp>
          <p:nvSpPr>
            <p:cNvPr id="18" name="Rectangle 18"/>
            <p:cNvSpPr/>
            <p:nvPr/>
          </p:nvSpPr>
          <p:spPr>
            <a:xfrm>
              <a:off x="666750" y="3872865"/>
              <a:ext cx="19050" cy="6505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33400" y="37299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38038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3805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454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764280"/>
              <a:ext cx="25386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盘古训练用了多少 GPU 小时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4058126"/>
              <a:ext cx="32574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192 × 16 天 × 24 小时 = 73,728 GPU 小时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441483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和大模型比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708684"/>
              <a:ext cx="39387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约为 DeepSeek-V3 的 1/38，气象模型参数少，但每个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样本是整个地球的三维网格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376862" y="1524000"/>
            <a:ext cx="6281738" cy="2322672"/>
            <a:chOff x="5376862" y="1524000"/>
            <a:chExt cx="6281738" cy="2322672"/>
          </a:xfrm>
        </p:grpSpPr>
        <p:sp>
          <p:nvSpPr>
            <p:cNvPr id="28" name="Rectangle 28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629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440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0336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训练资源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330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92102" y="1982152"/>
              <a:ext cx="129921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90401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8661" y="2108359"/>
              <a:ext cx="10533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3D 深度神经网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51698" y="2108359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192 块 V100 跑 16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天（尚未完全收敛）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71925" y="2108359"/>
              <a:ext cx="1028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PB 数据，超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6000 万参数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82578" y="26431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82578" y="2647950"/>
              <a:ext cx="6276022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90401" y="3010376"/>
              <a:ext cx="919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GraphCast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8661" y="3010376"/>
              <a:ext cx="1229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图神经网络 GNN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51698" y="2897029"/>
              <a:ext cx="11752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个 Cloud TPU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v4，约 4 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71925" y="2783681"/>
              <a:ext cx="1386586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 41k 节点、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328k 条边、81k 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82578" y="1524000"/>
              <a:ext cx="6276022" cy="2026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6075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39112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959340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376862" y="3626644"/>
              <a:ext cx="3298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盘古 2022 年首次在预报精度上超过传统数值方法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5382578" y="3992880"/>
            <a:ext cx="6276022" cy="1847850"/>
            <a:chOff x="5382578" y="3992880"/>
            <a:chExt cx="6276022" cy="1847850"/>
          </a:xfrm>
        </p:grpSpPr>
        <p:sp>
          <p:nvSpPr>
            <p:cNvPr id="50" name="Rectangle 50"/>
            <p:cNvSpPr/>
            <p:nvPr/>
          </p:nvSpPr>
          <p:spPr>
            <a:xfrm>
              <a:off x="5382578" y="3992880"/>
              <a:ext cx="6276022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92102" y="4126230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630228" y="42024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21388" y="4238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22608" y="4579620"/>
              <a:ext cx="5377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GraphCast 训练 3 周，论文原文是在 32 个 Cloud TPU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v4 上训练约 4 周。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23751" y="5196364"/>
              <a:ext cx="5483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原课件的“1 TPU-minute vs 10k CPU”指 GraphCast 在一个 TPU 上约 1 分钟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出一次 10 天预报，传统数值预报要动用上万个 CPU 核算上几个小时。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2223" cy="909257"/>
            <a:chOff x="520446" y="342900"/>
            <a:chExt cx="64722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大数据与云计算应用举例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22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应用举例 3：数据管理和处理，每秒 TB 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842635" cy="2697480"/>
            <a:chOff x="533400" y="1524000"/>
            <a:chExt cx="5842635" cy="2697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37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3602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网页搜索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60460" y="2108359"/>
              <a:ext cx="192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每天 35 亿次请求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社交网络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60460" y="2556986"/>
              <a:ext cx="2099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Facebook 每天新产生 4 PB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1189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电商大促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62162" y="2880360"/>
              <a:ext cx="4304348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60460" y="3005614"/>
              <a:ext cx="38574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2019 年淘宝双十一当天处理 970 PB，峰值 54.4 万笔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交易/秒，100% 在云上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5413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546158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7942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实时计算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60460" y="3680936"/>
              <a:ext cx="3833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2020 年峰值 7 TB/s（每秒 40 亿条记录），100 多万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个核上跑着 1 万多个作业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842635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47875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411980"/>
            <a:ext cx="5842635" cy="1059180"/>
            <a:chOff x="533400" y="4411980"/>
            <a:chExt cx="5842635" cy="1059180"/>
          </a:xfrm>
        </p:grpSpPr>
        <p:sp>
          <p:nvSpPr>
            <p:cNvPr id="27" name="Rectangle 27"/>
            <p:cNvSpPr/>
            <p:nvPr/>
          </p:nvSpPr>
          <p:spPr>
            <a:xfrm>
              <a:off x="533400" y="4411980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841558"/>
              <a:ext cx="200026" cy="200026"/>
              <a:chOff x="738188" y="4841558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8415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49082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49415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560570"/>
              <a:ext cx="48444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原课件第51页是优酷、搜狐视频、YouTube、Coursera、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Outschool 的截图，视频和在线教育同样是数据管理和处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理的大户。</a:t>
              </a:r>
            </a:p>
          </p:txBody>
        </p:sp>
      </p:grpSp>
      <p:grpSp>
        <p:nvGrpSpPr>
          <p:cNvPr id="47" name="c2-steps-1"/>
          <p:cNvGrpSpPr/>
          <p:nvPr/>
        </p:nvGrpSpPr>
        <p:grpSpPr>
          <a:xfrm>
            <a:off x="6680835" y="1533525"/>
            <a:ext cx="4569719" cy="2112930"/>
            <a:chOff x="6680835" y="1533525"/>
            <a:chExt cx="4569719" cy="2112930"/>
          </a:xfrm>
        </p:grpSpPr>
        <p:sp>
          <p:nvSpPr>
            <p:cNvPr id="34" name="Rectangle 34"/>
            <p:cNvSpPr/>
            <p:nvPr/>
          </p:nvSpPr>
          <p:spPr>
            <a:xfrm>
              <a:off x="6814185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80835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7445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80835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445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92315" y="1567815"/>
              <a:ext cx="1775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970 PB 平摊到一天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93458" y="1861661"/>
              <a:ext cx="39062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970 × 10¹⁵ ÷ 86400 ≈ 1.12 × 10¹³ 字节/秒，约 11.2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TB/s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92315" y="24536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每条记录多大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3458" y="2746534"/>
              <a:ext cx="3578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× 10¹² ÷ (4 × 10⁹) = 1750 字节，约 1.7 KB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2315" y="31041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交易峰值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3458" y="3397091"/>
              <a:ext cx="41570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54.4 万笔/秒，每笔都要写订单、扣库存、记支付流水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680835" y="3825240"/>
            <a:ext cx="4977765" cy="1645920"/>
            <a:chOff x="6680835" y="3825240"/>
            <a:chExt cx="4977765" cy="1645920"/>
          </a:xfrm>
        </p:grpSpPr>
        <p:sp>
          <p:nvSpPr>
            <p:cNvPr id="48" name="Rectangle 48"/>
            <p:cNvSpPr/>
            <p:nvPr/>
          </p:nvSpPr>
          <p:spPr>
            <a:xfrm>
              <a:off x="6680835" y="3825240"/>
              <a:ext cx="4977765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0360" y="3958590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28485" y="403479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14743" y="40705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别混算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20865" y="4411980"/>
              <a:ext cx="42348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970 PB 是 2019 年全天各类计算处理的数据总量，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TB/s 是 2020 年实时流计算的峰值，年份和口径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都不同，不能拿来互相推算。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77991" cy="909257"/>
            <a:chOff x="520446" y="342900"/>
            <a:chExt cx="58779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大数据与云计算应用举例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779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应用举例 4–7：生物医学、遥感与地质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11125200" cy="2438400"/>
            <a:chOff x="533400" y="1524000"/>
            <a:chExt cx="11125200" cy="2438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4388" y="16630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1551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领域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0933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6791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计算类型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7045" y="215074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225" y="21507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生物信息学、生物医学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44265" y="2150745"/>
              <a:ext cx="5441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AlphaFold 蛋白质结构预测；DNA 序列分析；分子动力学模拟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06865" y="21507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深度学习、批处理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7045" y="26384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19225" y="26384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遥感数据处理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44265" y="2638425"/>
              <a:ext cx="4820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吉林高分数据与应用中心，高分辨率卫星数据达 TB 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06865" y="26384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大数据处理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7045" y="312610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9225" y="31261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地质勘探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44265" y="312610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深部探测（黄大年教授团队，深部探测技术与实验研究）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06865" y="31261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数值模拟、大数据处理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747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7045" y="361378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19225" y="36137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地质资源和环境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44265" y="361378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二氧化碳地下贮藏和利用；混合溶质运移、化学反应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06865" y="36137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数值模拟、大数据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11125200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30778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53282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09542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compare-2"/>
          <p:cNvGrpSpPr/>
          <p:nvPr/>
        </p:nvGrpSpPr>
        <p:grpSpPr>
          <a:xfrm>
            <a:off x="533400" y="4152900"/>
            <a:ext cx="11125200" cy="2209800"/>
            <a:chOff x="533400" y="4152900"/>
            <a:chExt cx="11125200" cy="2209800"/>
          </a:xfrm>
        </p:grpSpPr>
        <p:sp>
          <p:nvSpPr>
            <p:cNvPr id="38" name="Rectangle 38"/>
            <p:cNvSpPr/>
            <p:nvPr/>
          </p:nvSpPr>
          <p:spPr>
            <a:xfrm>
              <a:off x="533400" y="4152900"/>
              <a:ext cx="5353050" cy="2209800"/>
            </a:xfrm>
            <a:prstGeom prst="roundRect">
              <a:avLst>
                <a:gd name="adj" fmla="val 603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5330" y="4387215"/>
              <a:ext cx="27665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数值模拟类（例 1、2、6、7）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48665" y="48044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6780" y="47415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先有方程，后有数据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48665" y="51396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6780" y="50768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输出的网格数据量大，要高带宽写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05550" y="4152900"/>
              <a:ext cx="5353050" cy="2209800"/>
            </a:xfrm>
            <a:prstGeom prst="roundRect">
              <a:avLst>
                <a:gd name="adj" fmla="val 603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07480" y="4387215"/>
              <a:ext cx="24479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数据处理类（例 3、4、5）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20815" y="48044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78930" y="47415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先有数据，再从中找规律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20815" y="51396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78930" y="50768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数据来源多、条数多，要能扩展、能并发读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934075" y="50958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04415" y="51920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 · 大数据与云计算应用举例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把应用归类：三类负载对存储的要求不同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2018348"/>
            <a:chOff x="533400" y="1524000"/>
            <a:chExt cx="11125200" cy="20183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9195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9279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59043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26308" y="16516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对存储的要求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2270" y="20964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数值模拟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01050" y="209645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工业设计、天气预报、地质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59464" y="209645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按时间步输出的大文件，单个文件很大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97024" y="209645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高带宽并行读写，常用并行文件系统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08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13635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2270" y="254127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数据管理与处理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01050" y="254127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搜索、社交、电商、遥感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59464" y="254127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海量记录，读写频繁，有访问高峰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97024" y="254127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横向扩展、高并发、高可用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52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270" y="310610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深度学习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01050" y="2986088"/>
              <a:ext cx="223399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盘古、GraphCast、大语言模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59464" y="3106102"/>
              <a:ext cx="25210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大量训练样本加上 TB 级检查点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97024" y="310610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小文件吞吐和检查点写带宽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11125200" cy="20183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197418" y="1524000"/>
              <a:ext cx="9525" cy="20183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755832" y="1524000"/>
              <a:ext cx="9525" cy="20183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93392" y="1524000"/>
              <a:ext cx="9525" cy="20183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table-2"/>
          <p:cNvGrpSpPr/>
          <p:nvPr/>
        </p:nvGrpSpPr>
        <p:grpSpPr>
          <a:xfrm>
            <a:off x="533400" y="3717608"/>
            <a:ext cx="11125200" cy="1623060"/>
            <a:chOff x="533400" y="3717608"/>
            <a:chExt cx="11125200" cy="1623060"/>
          </a:xfrm>
        </p:grpSpPr>
        <p:sp>
          <p:nvSpPr>
            <p:cNvPr id="32" name="Rectangle 32"/>
            <p:cNvSpPr/>
            <p:nvPr/>
          </p:nvSpPr>
          <p:spPr>
            <a:xfrm>
              <a:off x="533400" y="3717608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228291" y="38419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后续内容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40117" y="384190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主要解决什么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3412" y="4247674"/>
              <a:ext cx="13957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第4部分 GFS、HDFS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38675" y="424767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大文件的顺序读写和容错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243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529138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412" y="4653439"/>
              <a:ext cx="11580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第5部分 Dynamo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38675" y="4653439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高可用的键值读写，允许短时不一致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93014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3412" y="5059204"/>
              <a:ext cx="1220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第6部分 Bigtable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38675" y="505920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海量结构化数据按行键有序存取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717608"/>
              <a:ext cx="11125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533900" y="3717608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7" name="Rectangle 4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3610"/>
              <a:ext cx="10009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遇到一个新应用，先问三件事：数据是先有还是算出来的、单个对象多大、读多还是写多。答案基本决定该用哪类存储系统。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194560" cy="264033"/>
            <a:chOff x="526542" y="1545907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大数据问题有哪两个表现？传统单机方式存在哪两个问题？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735104"/>
              <a:ext cx="47515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规模每 18 个月翻一倍；数据类型增殖，约 80% 非结构化。传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统存储系统缺乏可扩展能力；传统处理方法可扩展性差，只到千核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671638"/>
            <a:chOff x="533400" y="3765232"/>
            <a:chExt cx="5410200" cy="1671638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75239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大模型生命周期中，哪个阶段对“海量小文件存储”提出需求？哪个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阶段对“检查点读写”提出需求？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数据获取阶段要存大量不同类型的原始数据，对应海量小文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件；模型训练阶段为稳定训练要定期写检查点。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428750"/>
            <a:chOff x="6248400" y="1928812"/>
            <a:chExt cx="54102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按时间顺序写出科学研究的四种范式，第四范式靠什么做发现？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73510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实验、理论、计算、数据密集型（第四范式）。第四范式用多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源数据把前三者统一起来，靠数据搜索和数据挖掘做探索和发现。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522345"/>
            <a:ext cx="5410200" cy="1914525"/>
            <a:chOff x="6248400" y="3522345"/>
            <a:chExt cx="5410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6248400" y="3522345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7033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7361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043839"/>
              <a:ext cx="428706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Top500 按什么排名？为什么不能拿太湖之光的 125,435.9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TFlop/s 和 El Capitan 的 1,742 PFlop/s 直接比？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571524"/>
              <a:ext cx="486537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Linpack 实测的 Rmax 排名。125,435.9 是太湖之光的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Rpeak（理论峰值），El Capitan 的 1,742 是 Rmax，口径不同；应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该用 93,014.6 比。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5216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概念题答不上时，回到对应页面的表格，看“做什么”和“需求”两列。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自测题（二）估算与计算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881884" cy="278702"/>
            <a:chOff x="526161" y="1547336"/>
            <a:chExt cx="288188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带计算的题把单位写全，再算数。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768792"/>
            <a:chOff x="533400" y="1941195"/>
            <a:chExt cx="5410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75902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数据量每 2 年翻一倍，10 年后是现在的多少倍？每年增长百分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之几？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049905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2⁵ = 32 倍；每年倍数是 2 的 0.5 次方 ≈ 1.414，约增长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41%。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5410200" cy="1768792"/>
            <a:chOff x="533400" y="3886200"/>
            <a:chExt cx="5410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4748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4050 亿参数的模型，检查点按每参数 14 字节算，要在 2 分钟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内写完，需要多大写带宽？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994910"/>
              <a:ext cx="43856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4.05 × 10¹¹ × 14 ≈ 5.67 TB；5.67 TB ÷ 120 秒 ≈ 47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GB/s。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768792"/>
            <a:chOff x="6248400" y="1941195"/>
            <a:chExt cx="5410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74702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PB 数据平均存到 500 台机器，每台磁盘读 250 MB/s，全部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并行读一遍要多久？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3049905"/>
              <a:ext cx="44285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 10¹⁵ ÷ 500 = 2 × 10¹² 字节；2 × 10¹² ÷ (2.5 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10⁸) = 8000 秒 ≈ 2.2 小时。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86200"/>
            <a:ext cx="5410200" cy="1768792"/>
            <a:chOff x="6248400" y="3886200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434840"/>
              <a:ext cx="4645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太湖之光 Rmax 93.0 PFlop/s、功耗 15,371 kW，能效是多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少？El Capitan 是它的几倍？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994910"/>
              <a:ext cx="387991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93.0 × 10⁶ GFlop/s ÷ 15.371 × 10⁶ W ≈ 6.05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GFlop/s/W；El Capitan 58.9 ÷ 6.05 ≈ 9.7 倍。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79449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估算题先统一成字节、秒、瓦，再做除法；PB、TB 按 10¹⁵、10¹² 算，差几个百分点不影响量级。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第1部分 导论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2572"/>
            <a:ext cx="5594985" cy="1591152"/>
            <a:chOff x="533400" y="1532572"/>
            <a:chExt cx="5594985" cy="1591152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9105" y="156429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542574"/>
              <a:ext cx="4104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大数据问题：规模每 18 个月翻一倍，约 80% 是非结构化数据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04988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9105" y="183670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2955" y="1814989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单机存储不可扩展、处理只到千核级，于是转向分布式存储和并行计算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77402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9105" y="210912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87404"/>
              <a:ext cx="5345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大模型参数到千亿级，训练耗百万到上亿 GPU 小时，四个阶段都需要分布式存储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349818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9105" y="238153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2955" y="2359819"/>
              <a:ext cx="5146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HPC 是大量节点连起来解决高级计算问题，形态有大型主机、集群、网格、云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622232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105" y="265395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955" y="2632234"/>
              <a:ext cx="4665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Top500 按 Rmax 排名，比较时别和 Rpeak 混用；能效 = Rmax ÷ 功耗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93695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9105" y="292636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2955" y="2903696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应用分数值模拟、数据处理、深度学习三类，对存储的要求各不相同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254692"/>
            <a:ext cx="6059805" cy="2345055"/>
            <a:chOff x="533400" y="3254692"/>
            <a:chExt cx="6059805" cy="2345055"/>
          </a:xfrm>
        </p:grpSpPr>
        <p:sp>
          <p:nvSpPr>
            <p:cNvPr id="26" name="Rectangle 26"/>
            <p:cNvSpPr/>
            <p:nvPr/>
          </p:nvSpPr>
          <p:spPr>
            <a:xfrm>
              <a:off x="533400" y="3254692"/>
              <a:ext cx="6059805" cy="2345055"/>
            </a:xfrm>
            <a:prstGeom prst="roundRect">
              <a:avLst>
                <a:gd name="adj" fmla="val 56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388042"/>
              <a:ext cx="47625" cy="2078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3905" y="3447098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3341" y="348138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72478" y="386048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8497" y="3804285"/>
              <a:ext cx="523436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中国数据占比约 18%（第6页）；理论范式是近几百年、弗里德曼方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程系数 8πG/3（第8页）；Gemini 参数未公开、Qwen2.5 数据量已公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开且为 18 万亿 token、Gemini 存储口径不一（第11、12页）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72478" y="46767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497" y="4620578"/>
              <a:ext cx="51915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太湖之光与天河二号应取 Rmax，El Capitan、Frontier 上榜时间，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Eagle 核数（第21、22页）；300 MW 不是 MWh（第23页）；老集群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3600 核（第25页）；GraphCast 约 4 周（第32页）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898005" y="1524000"/>
            <a:ext cx="4760595" cy="2434590"/>
            <a:chOff x="6898005" y="1524000"/>
            <a:chExt cx="4760595" cy="2434590"/>
          </a:xfrm>
        </p:grpSpPr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5493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6080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98017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翻倍时间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5815" y="2054066"/>
              <a:ext cx="203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N(t) = N₀ 乘以 2 的 t/T 次方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98005" y="2330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98005" y="233553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8017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横向扩展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5815" y="245983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加普通机器，数据和计算分到各台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2736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8017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5815" y="286559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定期保存训练状态，故障后接着训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314229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98005" y="314706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8017" y="3271361"/>
              <a:ext cx="39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Rmax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25815" y="3271361"/>
              <a:ext cx="2262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Linpack 实测最大性能，排名依据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354806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8017" y="3677126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Rpeak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25815" y="3677126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核数 × 主频 × 每周期浮点次数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98005" y="1524000"/>
              <a:ext cx="476059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32104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6898005" y="4133850"/>
            <a:ext cx="4760595" cy="1466850"/>
            <a:chOff x="6898005" y="4133850"/>
            <a:chExt cx="4760595" cy="1466850"/>
          </a:xfrm>
        </p:grpSpPr>
        <p:sp>
          <p:nvSpPr>
            <p:cNvPr id="57" name="Rectangle 57"/>
            <p:cNvSpPr/>
            <p:nvPr/>
          </p:nvSpPr>
          <p:spPr>
            <a:xfrm>
              <a:off x="6898005" y="4133850"/>
              <a:ext cx="4760595" cy="1466850"/>
            </a:xfrm>
            <a:prstGeom prst="roundRect">
              <a:avLst>
                <a:gd name="adj" fmla="val 909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090410" y="432625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77850" y="43605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83552" y="4682490"/>
              <a:ext cx="405136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第2部分分布式系统基础：分布式系统的发展，集群、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网格、云的区别，高性能计算与数据中心的架构和管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3610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复习时动手算三类估算：翻倍时间与增长倍数、按带宽算读写时间、按参数量算检查点和显存。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第1部分 导论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tore_p1">
  <a:themeElements>
    <a:clrScheme name="dstore_p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tore_p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tore_p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2026-09-23T09:21:52Z</dcterms:created>
  <dcterms:modified xsi:type="dcterms:W3CDTF">2026-09-23T09:21:52Z</dcterms:modified>
  <cp:category/>
  <cp:contentStatus/>
</cp:coreProperties>
</file>