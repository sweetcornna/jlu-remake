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tore_p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tore_p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76c74728d493e9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f659863caacc0ef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31ad9131fc4bd81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9618" t="0" r="9617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95928" cy="3437763"/>
            <a:chOff x="666750" y="1619250"/>
            <a:chExt cx="399592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345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6607" y="1718310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分布式存储 · 第2部分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分布式系统基础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从并行计算机到集群的编程与管理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并行计算机分类与结构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集群、网格与云计算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5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MPI 并行编程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集群信息与资源管理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50144" cy="205359"/>
            <a:chOff x="680466" y="6192202"/>
            <a:chExt cx="435014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50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自学复习版｜据吉林大学《分布式存储》第2部分课件整理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164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4262" y="407194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并行计算机分类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477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Flynn 分类；按存储方式分出的 SMP、NUMA、MPP 和集群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分布式系统发展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纵向扩展与横向扩展，集群、网格、云的来历和区别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20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云的关键词与特性，SaaS、PaaS、IaaS 三种服务模式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并行计算环境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5037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四类并行编程模型；MPI 的 6 个基本函数、点对点通信与群集通信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集群架构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集群的软硬件模块，集群操作系统要管哪些事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信息与资源管理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778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NIS、ZooKeeper 管共享信息，LSF 管作业和资源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Flynn 分类和存储方式给一台并行计算机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归类，说出 SMP、MPP、集群的主要区别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从管理域和网络范围区分集群、网格、云，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IaaS、PaaS、SaaS 各提供什么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读懂只用 6 个基本函数的 MPI 程序，并判断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它的输出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58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Bcast、Gather、Scatter、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Allgather、Alltoall、Reduce、Scan 前后的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88061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ZooKeeper 的多数派机制和 LSF 作业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从提交到完成的六步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并行计算机分类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先按指令流和数据流分，再按存储怎样组织分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内容提要一：并行计算机分类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并行计算与分布式计算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9909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Flynn 分类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6019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SMP、NUMA、MPP 与集群的结构和对比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并行计算机分类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并行计算求快，分布式计算让联网的多台机器协同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291715"/>
            <a:chOff x="533400" y="1524000"/>
            <a:chExt cx="541020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115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并行计算（Parallel Computing）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基于分而治之的思想，把一个大问题分解成多个小问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题，并发地求解各小问题，使多个运算同时进行。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并行的层次：位级、指令级、数据级、任务级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多核、多处理器在一台机器内并行；集群、MPP、网格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用多台计算机做同一个任务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06215"/>
            <a:ext cx="5410200" cy="1906905"/>
            <a:chOff x="533400" y="4006215"/>
            <a:chExt cx="5410200" cy="1906905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39565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25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2078" y="4251008"/>
              <a:ext cx="3720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分布式计算（Distributed Computing）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612005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研究分布式系统中怎样计算。分布式系统由多台经网络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连接的计算机组成，它们联合完成共同的目标。问题被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分解成许多小任务，分散到不同计算机上处理，处理过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程中互相发消息，最后汇总成结果。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2685" y="1524000"/>
            <a:ext cx="5415915" cy="2993232"/>
            <a:chOff x="6242685" y="1524000"/>
            <a:chExt cx="5415915" cy="299323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06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137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并行计算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3929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622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38263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把一个问题算得更快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02343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让联网的多台机器协同完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成目标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6223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38263" y="278368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多核、多处理器、集群、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2343" y="278368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通过网络连接的多台计算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6223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38263" y="34590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共享内存或高速互连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02343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768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77285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6223" y="39076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典型问题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38263" y="39076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数值模拟、矩阵运算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02343" y="39076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网页服务、分布式存储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2567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48975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42685" y="429720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对比表是补充内容，两个概念有重叠，不是非此即彼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248400" y="4663440"/>
            <a:ext cx="5410200" cy="1249680"/>
            <a:chOff x="6248400" y="4663440"/>
            <a:chExt cx="5410200" cy="1249680"/>
          </a:xfrm>
        </p:grpSpPr>
        <p:sp>
          <p:nvSpPr>
            <p:cNvPr id="51" name="Rectangle 51"/>
            <p:cNvSpPr/>
            <p:nvPr/>
          </p:nvSpPr>
          <p:spPr>
            <a:xfrm>
              <a:off x="6248400" y="4663440"/>
              <a:ext cx="5410200" cy="1249680"/>
            </a:xfrm>
            <a:prstGeom prst="roundRect">
              <a:avLst>
                <a:gd name="adj" fmla="val 914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5188270"/>
              <a:ext cx="200023" cy="200023"/>
              <a:chOff x="6453188" y="518827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1882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86538" y="5254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130" y="4907280"/>
              <a:ext cx="44824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原课件用三个词串起分布式计算：网络联通、分布式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系统、分布式计算。集群和 MPP 既是并行计算机，也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是分布式系统，两个概念在这里交汇。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95795" cy="909257"/>
            <a:chOff x="520446" y="342900"/>
            <a:chExt cx="61957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并行计算机分类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957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Flynn 分类：看指令流和数据流各有几条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28447" y="1524000"/>
            <a:ext cx="6064758" cy="3044856"/>
            <a:chOff x="528447" y="1524000"/>
            <a:chExt cx="6064758" cy="30448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426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2565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19323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187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6935" y="2065496"/>
              <a:ext cx="18215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SISD 单指令流单数据流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03649" y="20654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30407" y="20654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41660" y="20654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传统的单处理机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593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64105"/>
              <a:ext cx="6059805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6935" y="2598896"/>
              <a:ext cx="1859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 单指令流多数据流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03649" y="25988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91636" y="259889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41660" y="248554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并行处理机（阵列机）、向量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070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6935" y="3245644"/>
              <a:ext cx="1859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MISD 多指令流单数据流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64879" y="3245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30407" y="32456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41660" y="3132296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实际上不存在，也有学者认为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537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58552"/>
              <a:ext cx="6059805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668078"/>
              <a:ext cx="2041208" cy="6276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6935" y="3892391"/>
              <a:ext cx="1898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 多指令流多数据流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64879" y="389239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91636" y="389239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41660" y="3779044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大多数多处理机和多计算机系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059805" cy="2781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588895" y="1524000"/>
              <a:ext cx="9525" cy="2781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15652" y="1524000"/>
              <a:ext cx="9525" cy="2781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43362" y="1524000"/>
              <a:ext cx="9525" cy="2781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4378166"/>
              <a:ext cx="3081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Flynn 于 1966 年按“指令与数据”提出，原课件第6页</a:t>
              </a:r>
            </a:p>
          </p:txBody>
        </p:sp>
      </p:grpSp>
      <p:grpSp>
        <p:nvGrpSpPr>
          <p:cNvPr id="45" name="c1-card-2"/>
          <p:cNvGrpSpPr/>
          <p:nvPr/>
        </p:nvGrpSpPr>
        <p:grpSpPr>
          <a:xfrm>
            <a:off x="533400" y="4695825"/>
            <a:ext cx="6059805" cy="1143952"/>
            <a:chOff x="533400" y="4695825"/>
            <a:chExt cx="6059805" cy="1143952"/>
          </a:xfrm>
        </p:grpSpPr>
        <p:sp>
          <p:nvSpPr>
            <p:cNvPr id="40" name="Rectangle 40"/>
            <p:cNvSpPr/>
            <p:nvPr/>
          </p:nvSpPr>
          <p:spPr>
            <a:xfrm>
              <a:off x="533400" y="4695825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82917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2475" y="4876800"/>
              <a:ext cx="127635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0617" y="4909661"/>
              <a:ext cx="1160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MISD 为什么有争议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5998" y="5216366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有人把流水线，或几台计算机对同一份数据做冗余计算、再表决的容错系统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算作 MISD；也有人认为这些不算，所以说它“实际上不存在”。</a:t>
              </a:r>
            </a:p>
          </p:txBody>
        </p:sp>
      </p:grpSp>
      <p:grpSp>
        <p:nvGrpSpPr>
          <p:cNvPr id="51" name="c2-kv-1"/>
          <p:cNvGrpSpPr/>
          <p:nvPr/>
        </p:nvGrpSpPr>
        <p:grpSpPr>
          <a:xfrm>
            <a:off x="6891528" y="1545431"/>
            <a:ext cx="4767072" cy="1102804"/>
            <a:chOff x="6891528" y="1545431"/>
            <a:chExt cx="4767072" cy="1102804"/>
          </a:xfrm>
        </p:grpSpPr>
        <p:sp>
          <p:nvSpPr>
            <p:cNvPr id="46" name="TextBox 46"/>
            <p:cNvSpPr txBox="1"/>
            <p:nvPr/>
          </p:nvSpPr>
          <p:spPr>
            <a:xfrm>
              <a:off x="6891528" y="1545431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SIMD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56373" y="154543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像广播体操：一个口令，全体同时做同一个动作，每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人在自己的位置上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205644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91528" y="2158841"/>
              <a:ext cx="462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MIMD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56373" y="215884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像食堂后厨：每个厨师照自己的菜谱做不同的菜，各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用各的材料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898005" y="2762250"/>
            <a:ext cx="4760595" cy="3077528"/>
            <a:chOff x="6898005" y="2762250"/>
            <a:chExt cx="4760595" cy="3077528"/>
          </a:xfrm>
        </p:grpSpPr>
        <p:sp>
          <p:nvSpPr>
            <p:cNvPr id="52" name="Rectangle 52"/>
            <p:cNvSpPr/>
            <p:nvPr/>
          </p:nvSpPr>
          <p:spPr>
            <a:xfrm>
              <a:off x="6898005" y="2762250"/>
              <a:ext cx="4760595" cy="3077528"/>
            </a:xfrm>
            <a:prstGeom prst="roundRect">
              <a:avLst>
                <a:gd name="adj" fmla="val 433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78980" y="294322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59498" y="297608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今天的机器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72503" y="3283744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集群、MPP 和多核处理器都属于 MIMD：每个核、每个节点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各跑各的程序。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72503" y="3811429"/>
              <a:ext cx="4198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单个核内部的向量指令（SSE、AVX）属于 SIMD，一条指令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同时处理 4 个或 8 个数。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73646" y="4335780"/>
              <a:ext cx="417118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后面讲的 MPI 程序，每个进程执行同一份代码的不同分支，处理不同的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数据，按 Flynn 分类属于 MIMD。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并行计算机分类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按存储方式分：共享内存的多处理机与分布内存的多计算机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533400" y="1632585"/>
            <a:ext cx="4761547" cy="2191702"/>
            <a:chOff x="533400" y="1632585"/>
            <a:chExt cx="4761547" cy="2191702"/>
          </a:xfrm>
        </p:grpSpPr>
        <p:sp>
          <p:nvSpPr>
            <p:cNvPr id="7" name="Freeform 7"/>
            <p:cNvSpPr/>
            <p:nvPr/>
          </p:nvSpPr>
          <p:spPr>
            <a:xfrm>
              <a:off x="3568065" y="1812608"/>
              <a:ext cx="419100" cy="288607"/>
            </a:xfrm>
            <a:custGeom>
              <a:avLst/>
              <a:gdLst/>
              <a:ahLst/>
              <a:cxnLst/>
              <a:rect l="l" t="t" r="r" b="b"/>
              <a:pathLst>
                <a:path w="419100" h="288607">
                  <a:moveTo>
                    <a:pt x="0" y="288607"/>
                  </a:moveTo>
                  <a:lnTo>
                    <a:pt x="209550" y="2886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568065" y="2101215"/>
              <a:ext cx="419100" cy="288608"/>
            </a:xfrm>
            <a:custGeom>
              <a:avLst/>
              <a:gdLst/>
              <a:ahLst/>
              <a:cxnLst/>
              <a:rect l="l" t="t" r="r" b="b"/>
              <a:pathLst>
                <a:path w="419100" h="288608">
                  <a:moveTo>
                    <a:pt x="0" y="0"/>
                  </a:moveTo>
                  <a:lnTo>
                    <a:pt x="209550" y="0"/>
                  </a:lnTo>
                  <a:lnTo>
                    <a:pt x="209550" y="288608"/>
                  </a:lnTo>
                  <a:lnTo>
                    <a:pt x="419100" y="2886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568065" y="2967990"/>
              <a:ext cx="419100" cy="288607"/>
            </a:xfrm>
            <a:custGeom>
              <a:avLst/>
              <a:gdLst/>
              <a:ahLst/>
              <a:cxnLst/>
              <a:rect l="l" t="t" r="r" b="b"/>
              <a:pathLst>
                <a:path w="419100" h="288607">
                  <a:moveTo>
                    <a:pt x="0" y="288607"/>
                  </a:moveTo>
                  <a:lnTo>
                    <a:pt x="209550" y="2886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68065" y="3256598"/>
              <a:ext cx="419100" cy="288608"/>
            </a:xfrm>
            <a:custGeom>
              <a:avLst/>
              <a:gdLst/>
              <a:ahLst/>
              <a:cxnLst/>
              <a:rect l="l" t="t" r="r" b="b"/>
              <a:pathLst>
                <a:path w="419100" h="288608">
                  <a:moveTo>
                    <a:pt x="0" y="0"/>
                  </a:moveTo>
                  <a:lnTo>
                    <a:pt x="209550" y="0"/>
                  </a:lnTo>
                  <a:lnTo>
                    <a:pt x="209550" y="288608"/>
                  </a:lnTo>
                  <a:lnTo>
                    <a:pt x="419100" y="2886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41182" y="2101215"/>
              <a:ext cx="419100" cy="577215"/>
            </a:xfrm>
            <a:custGeom>
              <a:avLst/>
              <a:gdLst/>
              <a:ahLst/>
              <a:cxnLst/>
              <a:rect l="l" t="t" r="r" b="b"/>
              <a:pathLst>
                <a:path w="419100" h="577215">
                  <a:moveTo>
                    <a:pt x="0" y="577215"/>
                  </a:moveTo>
                  <a:lnTo>
                    <a:pt x="209550" y="5772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41182" y="2678430"/>
              <a:ext cx="419100" cy="578167"/>
            </a:xfrm>
            <a:custGeom>
              <a:avLst/>
              <a:gdLst/>
              <a:ahLst/>
              <a:cxnLst/>
              <a:rect l="l" t="t" r="r" b="b"/>
              <a:pathLst>
                <a:path w="419100" h="578167">
                  <a:moveTo>
                    <a:pt x="0" y="0"/>
                  </a:moveTo>
                  <a:lnTo>
                    <a:pt x="209550" y="0"/>
                  </a:lnTo>
                  <a:lnTo>
                    <a:pt x="209550" y="578167"/>
                  </a:lnTo>
                  <a:lnTo>
                    <a:pt x="419100" y="57816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987165" y="1632585"/>
              <a:ext cx="130778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987165" y="2210752"/>
              <a:ext cx="130778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260282" y="1822132"/>
              <a:ext cx="1307782" cy="558165"/>
            </a:xfrm>
            <a:prstGeom prst="roundRect">
              <a:avLst>
                <a:gd name="adj" fmla="val 1706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987165" y="2787968"/>
              <a:ext cx="1307782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87165" y="3266122"/>
              <a:ext cx="1307782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60282" y="2977515"/>
              <a:ext cx="1307782" cy="558165"/>
            </a:xfrm>
            <a:prstGeom prst="roundRect">
              <a:avLst>
                <a:gd name="adj" fmla="val 1706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00300"/>
              <a:ext cx="1307782" cy="558165"/>
            </a:xfrm>
            <a:prstGeom prst="roundRect">
              <a:avLst>
                <a:gd name="adj" fmla="val 1706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76319" y="1728788"/>
              <a:ext cx="966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UMA（SMP）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76319" y="2306002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49437" y="1918335"/>
              <a:ext cx="9265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共享内存多处</a:t>
              </a:r>
              <a:br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理机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76319" y="288417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76319" y="3362325"/>
              <a:ext cx="93421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集群（COW、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NOW）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49437" y="3073718"/>
              <a:ext cx="9265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分布内存多计</a:t>
              </a:r>
              <a:br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算机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2554" y="2496502"/>
              <a:ext cx="1045845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MIMD 并行计算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019550"/>
            <a:ext cx="4760595" cy="2248852"/>
            <a:chOff x="533400" y="4019550"/>
            <a:chExt cx="4760595" cy="2248852"/>
          </a:xfrm>
        </p:grpSpPr>
        <p:sp>
          <p:nvSpPr>
            <p:cNvPr id="28" name="Rectangle 28"/>
            <p:cNvSpPr/>
            <p:nvPr/>
          </p:nvSpPr>
          <p:spPr>
            <a:xfrm>
              <a:off x="533400" y="4019550"/>
              <a:ext cx="4760595" cy="2248852"/>
            </a:xfrm>
            <a:prstGeom prst="roundRect">
              <a:avLst>
                <a:gd name="adj" fmla="val 59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152900"/>
              <a:ext cx="47625" cy="19821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5335" y="42233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5543" y="42591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8096" y="4596289"/>
              <a:ext cx="4108196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NUMA 列在“分布内存多计算机系统”下。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 的内存虽然分散在各节点上，但处理器能用普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通的读写指令直接访问远程内存，全机只有一个地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址空间，通常归为共享内存多处理机。MPP 和集群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的节点只能靠消息取得别的节点上的数据。</a:t>
              </a:r>
            </a:p>
          </p:txBody>
        </p:sp>
      </p:grpSp>
      <p:grpSp>
        <p:nvGrpSpPr>
          <p:cNvPr id="48" name="c2-kv-1"/>
          <p:cNvGrpSpPr/>
          <p:nvPr/>
        </p:nvGrpSpPr>
        <p:grpSpPr>
          <a:xfrm>
            <a:off x="5591556" y="1547336"/>
            <a:ext cx="6067044" cy="3572447"/>
            <a:chOff x="5591556" y="1547336"/>
            <a:chExt cx="6067044" cy="3572447"/>
          </a:xfrm>
        </p:grpSpPr>
        <p:sp>
          <p:nvSpPr>
            <p:cNvPr id="34" name="TextBox 34"/>
            <p:cNvSpPr txBox="1"/>
            <p:nvPr/>
          </p:nvSpPr>
          <p:spPr>
            <a:xfrm>
              <a:off x="5591556" y="1547336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UMA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5526" y="1547336"/>
              <a:ext cx="4414774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均匀存储访问（Uniform Memory Access）：任一处理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器访问任一内存单元的时间相同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21212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91556" y="2236946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SMP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5526" y="2236946"/>
              <a:ext cx="438772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对称多处理机（Symmetrical Multi Processing）：处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理器地位对等，经总线或交叉开关共享内存，属于 UMA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8108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91556" y="2926556"/>
              <a:ext cx="5234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NUMA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5526" y="2926556"/>
              <a:ext cx="445084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非均匀存储访问（Non-Uniform Memory Access）：内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存分在各节点、全局统一编址，访问本地快、远程慢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3500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591556" y="3616166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MPP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75526" y="3616166"/>
              <a:ext cx="45229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大规模并行处理机：成百上千个节点，高速专用网络、专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用设备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41900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91556" y="4305776"/>
              <a:ext cx="1127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COW / NOW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5526" y="4305776"/>
              <a:ext cx="4495927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工作站集群（cluster of workstations）、工作站网络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（network of workstations）：用商用网络把完整的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计算机连起来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5598795" y="5249228"/>
            <a:ext cx="6059805" cy="1018222"/>
            <a:chOff x="5598795" y="5249228"/>
            <a:chExt cx="6059805" cy="1018222"/>
          </a:xfrm>
        </p:grpSpPr>
        <p:sp>
          <p:nvSpPr>
            <p:cNvPr id="49" name="Rectangle 49"/>
            <p:cNvSpPr/>
            <p:nvPr/>
          </p:nvSpPr>
          <p:spPr>
            <a:xfrm>
              <a:off x="5598795" y="5249228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803583" y="5658803"/>
              <a:ext cx="200026" cy="200025"/>
              <a:chOff x="5803583" y="565880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803583" y="56588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843321" y="57032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878037" y="58143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105906" y="5396389"/>
              <a:ext cx="50639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判断方法：一个处理器能不能直接 load/store 另一个节点的内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存。能，就是多处理机（共享地址空间）；不能，只能发消息，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就是多计算机。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并行计算机分类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三种结构的连法：总线、定制网络、局域网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834390" y="1653540"/>
            <a:ext cx="2903220" cy="1734979"/>
            <a:chOff x="834390" y="1653540"/>
            <a:chExt cx="2903220" cy="1734979"/>
          </a:xfrm>
        </p:grpSpPr>
        <p:sp>
          <p:nvSpPr>
            <p:cNvPr id="7" name="Freeform 7"/>
            <p:cNvSpPr/>
            <p:nvPr/>
          </p:nvSpPr>
          <p:spPr>
            <a:xfrm>
              <a:off x="1094422" y="1953578"/>
              <a:ext cx="9525" cy="452438"/>
            </a:xfrm>
            <a:custGeom>
              <a:avLst/>
              <a:gdLst/>
              <a:ahLst/>
              <a:cxnLst/>
              <a:rect l="l" t="t" r="r" b="b"/>
              <a:pathLst>
                <a:path w="9525" h="452438">
                  <a:moveTo>
                    <a:pt x="0" y="0"/>
                  </a:moveTo>
                  <a:lnTo>
                    <a:pt x="0" y="4524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75498" y="1953578"/>
              <a:ext cx="9525" cy="452438"/>
            </a:xfrm>
            <a:custGeom>
              <a:avLst/>
              <a:gdLst/>
              <a:ahLst/>
              <a:cxnLst/>
              <a:rect l="l" t="t" r="r" b="b"/>
              <a:pathLst>
                <a:path w="9525" h="452438">
                  <a:moveTo>
                    <a:pt x="0" y="0"/>
                  </a:moveTo>
                  <a:lnTo>
                    <a:pt x="0" y="4524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77578" y="1953578"/>
              <a:ext cx="9525" cy="452438"/>
            </a:xfrm>
            <a:custGeom>
              <a:avLst/>
              <a:gdLst/>
              <a:ahLst/>
              <a:cxnLst/>
              <a:rect l="l" t="t" r="r" b="b"/>
              <a:pathLst>
                <a:path w="9525" h="452438">
                  <a:moveTo>
                    <a:pt x="0" y="0"/>
                  </a:moveTo>
                  <a:lnTo>
                    <a:pt x="0" y="4524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94422" y="2634615"/>
              <a:ext cx="9525" cy="453390"/>
            </a:xfrm>
            <a:custGeom>
              <a:avLst/>
              <a:gdLst/>
              <a:ahLst/>
              <a:cxnLst/>
              <a:rect l="l" t="t" r="r" b="b"/>
              <a:pathLst>
                <a:path w="9525" h="453390">
                  <a:moveTo>
                    <a:pt x="0" y="4533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86000" y="2634615"/>
              <a:ext cx="9525" cy="453390"/>
            </a:xfrm>
            <a:custGeom>
              <a:avLst/>
              <a:gdLst/>
              <a:ahLst/>
              <a:cxnLst/>
              <a:rect l="l" t="t" r="r" b="b"/>
              <a:pathLst>
                <a:path w="9525" h="453390">
                  <a:moveTo>
                    <a:pt x="0" y="4533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77578" y="2634615"/>
              <a:ext cx="9525" cy="453390"/>
            </a:xfrm>
            <a:custGeom>
              <a:avLst/>
              <a:gdLst/>
              <a:ahLst/>
              <a:cxnLst/>
              <a:rect l="l" t="t" r="r" b="b"/>
              <a:pathLst>
                <a:path w="9525" h="453390">
                  <a:moveTo>
                    <a:pt x="0" y="4533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4390" y="1653540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815465" y="1653540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17545" y="1653540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5345" y="2373630"/>
              <a:ext cx="2860358" cy="294322"/>
            </a:xfrm>
            <a:prstGeom prst="roundRect">
              <a:avLst>
                <a:gd name="adj" fmla="val 323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34390" y="308800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25968" y="308800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217545" y="3088005"/>
              <a:ext cx="52006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0706" y="173307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1781" y="173307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3861" y="173307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27286" y="1733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52575" y="24503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总线或交叉开关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9979" y="316849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71557" y="316849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38043" y="3168491"/>
              <a:ext cx="279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692842"/>
            <a:ext cx="3505200" cy="1709738"/>
            <a:chOff x="533400" y="3692842"/>
            <a:chExt cx="3505200" cy="1709738"/>
          </a:xfrm>
        </p:grpSpPr>
        <p:sp>
          <p:nvSpPr>
            <p:cNvPr id="29" name="Rectangle 29"/>
            <p:cNvSpPr/>
            <p:nvPr/>
          </p:nvSpPr>
          <p:spPr>
            <a:xfrm>
              <a:off x="533400" y="3692842"/>
              <a:ext cx="3505200" cy="1709738"/>
            </a:xfrm>
            <a:prstGeom prst="roundRect">
              <a:avLst>
                <a:gd name="adj" fmla="val 77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8947" y="3907155"/>
              <a:ext cx="1295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SMP：共享内存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8947" y="4227195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所有处理器经总线或交叉开关访问同一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组共享存储 SM。结构简单，处理器一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多总线就成瓶颈，所以节点数在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O(10) 以内。</a:t>
              </a:r>
            </a:p>
          </p:txBody>
        </p:sp>
      </p:grpSp>
      <p:grpSp>
        <p:nvGrpSpPr>
          <p:cNvPr id="44" name="c2-graph-1"/>
          <p:cNvGrpSpPr/>
          <p:nvPr/>
        </p:nvGrpSpPr>
        <p:grpSpPr>
          <a:xfrm>
            <a:off x="4621530" y="1818322"/>
            <a:ext cx="2948940" cy="1530192"/>
            <a:chOff x="4621530" y="1818322"/>
            <a:chExt cx="2948940" cy="1530192"/>
          </a:xfrm>
        </p:grpSpPr>
        <p:sp>
          <p:nvSpPr>
            <p:cNvPr id="33" name="Freeform 33"/>
            <p:cNvSpPr/>
            <p:nvPr/>
          </p:nvSpPr>
          <p:spPr>
            <a:xfrm>
              <a:off x="5184458" y="2425065"/>
              <a:ext cx="9525" cy="659130"/>
            </a:xfrm>
            <a:custGeom>
              <a:avLst/>
              <a:gdLst/>
              <a:ahLst/>
              <a:cxnLst/>
              <a:rect l="l" t="t" r="r" b="b"/>
              <a:pathLst>
                <a:path w="9525" h="659130">
                  <a:moveTo>
                    <a:pt x="0" y="0"/>
                  </a:moveTo>
                  <a:lnTo>
                    <a:pt x="0" y="6591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007542" y="2425065"/>
              <a:ext cx="9525" cy="659130"/>
            </a:xfrm>
            <a:custGeom>
              <a:avLst/>
              <a:gdLst/>
              <a:ahLst/>
              <a:cxnLst/>
              <a:rect l="l" t="t" r="r" b="b"/>
              <a:pathLst>
                <a:path w="9525" h="659130">
                  <a:moveTo>
                    <a:pt x="0" y="0"/>
                  </a:moveTo>
                  <a:lnTo>
                    <a:pt x="0" y="6591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621530" y="1818322"/>
              <a:ext cx="1126808" cy="606742"/>
            </a:xfrm>
            <a:prstGeom prst="roundRect">
              <a:avLst>
                <a:gd name="adj" fmla="val 1569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43662" y="1818322"/>
              <a:ext cx="1126808" cy="606742"/>
            </a:xfrm>
            <a:prstGeom prst="roundRect">
              <a:avLst>
                <a:gd name="adj" fmla="val 1569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66298" y="3050858"/>
              <a:ext cx="2860358" cy="294322"/>
            </a:xfrm>
            <a:prstGeom prst="roundRect">
              <a:avLst>
                <a:gd name="adj" fmla="val 323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70014" y="196262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22556" y="2141696"/>
              <a:ext cx="112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 · LM · NIC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93099" y="196262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5641" y="2141696"/>
              <a:ext cx="112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 · LM · NIC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46749" y="2052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88736" y="31284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定制网络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4343400" y="3692842"/>
            <a:ext cx="3505200" cy="1709738"/>
            <a:chOff x="4343400" y="3692842"/>
            <a:chExt cx="3505200" cy="1709738"/>
          </a:xfrm>
        </p:grpSpPr>
        <p:sp>
          <p:nvSpPr>
            <p:cNvPr id="45" name="Rectangle 45"/>
            <p:cNvSpPr/>
            <p:nvPr/>
          </p:nvSpPr>
          <p:spPr>
            <a:xfrm>
              <a:off x="4343400" y="3692842"/>
              <a:ext cx="3505200" cy="1709738"/>
            </a:xfrm>
            <a:prstGeom prst="roundRect">
              <a:avLst>
                <a:gd name="adj" fmla="val 77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28947" y="3907155"/>
              <a:ext cx="2241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MPP：分布内存 + 专用网络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28947" y="4227195"/>
              <a:ext cx="29798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每个节点有自己的处理器和本地存储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LM，经网卡 NIC 接到厂商定制的高速网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络。节点可到成百上千个。</a:t>
              </a:r>
            </a:p>
          </p:txBody>
        </p:sp>
      </p:grpSp>
      <p:grpSp>
        <p:nvGrpSpPr>
          <p:cNvPr id="60" name="c3-graph-1"/>
          <p:cNvGrpSpPr/>
          <p:nvPr/>
        </p:nvGrpSpPr>
        <p:grpSpPr>
          <a:xfrm>
            <a:off x="8431530" y="1818322"/>
            <a:ext cx="2948940" cy="1530192"/>
            <a:chOff x="8431530" y="1818322"/>
            <a:chExt cx="2948940" cy="1530192"/>
          </a:xfrm>
        </p:grpSpPr>
        <p:sp>
          <p:nvSpPr>
            <p:cNvPr id="49" name="Freeform 49"/>
            <p:cNvSpPr/>
            <p:nvPr/>
          </p:nvSpPr>
          <p:spPr>
            <a:xfrm>
              <a:off x="8994458" y="2425065"/>
              <a:ext cx="9525" cy="659130"/>
            </a:xfrm>
            <a:custGeom>
              <a:avLst/>
              <a:gdLst/>
              <a:ahLst/>
              <a:cxnLst/>
              <a:rect l="l" t="t" r="r" b="b"/>
              <a:pathLst>
                <a:path w="9525" h="659130">
                  <a:moveTo>
                    <a:pt x="0" y="0"/>
                  </a:moveTo>
                  <a:lnTo>
                    <a:pt x="0" y="6591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817542" y="2425065"/>
              <a:ext cx="9525" cy="659130"/>
            </a:xfrm>
            <a:custGeom>
              <a:avLst/>
              <a:gdLst/>
              <a:ahLst/>
              <a:cxnLst/>
              <a:rect l="l" t="t" r="r" b="b"/>
              <a:pathLst>
                <a:path w="9525" h="659130">
                  <a:moveTo>
                    <a:pt x="0" y="0"/>
                  </a:moveTo>
                  <a:lnTo>
                    <a:pt x="0" y="6591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1530" y="1818322"/>
              <a:ext cx="1126808" cy="606742"/>
            </a:xfrm>
            <a:prstGeom prst="roundRect">
              <a:avLst>
                <a:gd name="adj" fmla="val 1569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253662" y="1818322"/>
              <a:ext cx="1126808" cy="606742"/>
            </a:xfrm>
            <a:prstGeom prst="roundRect">
              <a:avLst>
                <a:gd name="adj" fmla="val 1569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76298" y="3050858"/>
              <a:ext cx="2860358" cy="294322"/>
            </a:xfrm>
            <a:prstGeom prst="roundRect">
              <a:avLst>
                <a:gd name="adj" fmla="val 323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45101" y="1962626"/>
              <a:ext cx="1098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 · M · MIO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29467" y="2141696"/>
              <a:ext cx="529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· NIC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68186" y="1962626"/>
              <a:ext cx="1098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 · M · MIO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52552" y="2141696"/>
              <a:ext cx="529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· NIC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56749" y="20521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58708" y="3128486"/>
              <a:ext cx="16945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局域网 LAN（商用网络）</a:t>
              </a:r>
            </a:p>
          </p:txBody>
        </p:sp>
      </p:grpSp>
      <p:grpSp>
        <p:nvGrpSpPr>
          <p:cNvPr id="64" name="c3-card-2"/>
          <p:cNvGrpSpPr/>
          <p:nvPr/>
        </p:nvGrpSpPr>
        <p:grpSpPr>
          <a:xfrm>
            <a:off x="8153400" y="3692842"/>
            <a:ext cx="3505200" cy="1709738"/>
            <a:chOff x="8153400" y="3692842"/>
            <a:chExt cx="3505200" cy="1709738"/>
          </a:xfrm>
        </p:grpSpPr>
        <p:sp>
          <p:nvSpPr>
            <p:cNvPr id="61" name="Rectangle 61"/>
            <p:cNvSpPr/>
            <p:nvPr/>
          </p:nvSpPr>
          <p:spPr>
            <a:xfrm>
              <a:off x="8153400" y="3692842"/>
              <a:ext cx="3505200" cy="1709738"/>
            </a:xfrm>
            <a:prstGeom prst="roundRect">
              <a:avLst>
                <a:gd name="adj" fmla="val 779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38947" y="3907155"/>
              <a:ext cx="2595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集群：完整的计算机 + 商用网络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38947" y="4227195"/>
              <a:ext cx="298837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每个节点是一台带磁盘 D、I/O 桥 MIO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的完整计算机，运行自己的操作系统，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用以太网或 InfiniBand 这类商用网络连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起来。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5" name="Rectangle 6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5779770"/>
              <a:ext cx="989780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图中记号：P/C 处理器和缓存，SM 共享存储，LM 本地存储，M 内存，MB 存储总线，MIO 存储与 I/O 桥，D 本地磁盘，NIC 网卡。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据原课件第7、9、10页重画。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4259" cy="909257"/>
            <a:chOff x="520446" y="342900"/>
            <a:chExt cx="65842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并行计算机分类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42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SMP、MPP、集群对比：集群台数占近九成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28066" y="1524000"/>
            <a:ext cx="5415534" cy="4106799"/>
            <a:chOff x="528066" y="1524000"/>
            <a:chExt cx="5415534" cy="410679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41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系统特征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93196" y="164830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SMP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73369" y="164830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375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节点数量 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5962" y="2054066"/>
              <a:ext cx="616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O(10)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22295" y="2054066"/>
              <a:ext cx="1301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O(100)–O(1000)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45355" y="2054066"/>
              <a:ext cx="70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O(100)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559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节点复杂度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85962" y="2459831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中粒度或细粒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22295" y="25598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细粒度或中粒度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45355" y="25598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中粒度或粗粒度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1656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节点间通信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5962" y="31656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22295" y="3065621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消息传递或共享变量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（有 DSM 时）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45355" y="31656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423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547110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77142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节点操作系统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85962" y="377142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22295" y="3671411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个微内核和 1 个主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 OS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5355" y="3671411"/>
              <a:ext cx="8435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个（希望同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481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2772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单一系统映像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85962" y="42772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永远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22295" y="42772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45355" y="42772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希望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5539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55866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4568190"/>
              <a:ext cx="1333500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412" y="47829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895475" y="4568190"/>
              <a:ext cx="1117282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985962" y="47829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031808" y="4568190"/>
              <a:ext cx="1604010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122295" y="4682966"/>
              <a:ext cx="11706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多或单一（有 DSM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654868" y="4568190"/>
              <a:ext cx="127920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45355" y="47829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5410200" cy="36404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881188" y="1524000"/>
              <a:ext cx="9525" cy="36404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017520" y="1524000"/>
              <a:ext cx="9525" cy="36404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640580" y="1524000"/>
              <a:ext cx="9525" cy="36404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8066" y="5238750"/>
              <a:ext cx="509130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原课件第11页的表格被饼图挡住一部分，被挡的格子按并行计算教材中同一张表补全；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DSM 指分布式共享存储</a:t>
              </a:r>
            </a:p>
          </p:txBody>
        </p:sp>
      </p:grpSp>
      <p:grpSp>
        <p:nvGrpSpPr>
          <p:cNvPr id="90" name="c2-table-1"/>
          <p:cNvGrpSpPr/>
          <p:nvPr/>
        </p:nvGrpSpPr>
        <p:grpSpPr>
          <a:xfrm>
            <a:off x="6248400" y="1524000"/>
            <a:ext cx="5410200" cy="2634615"/>
            <a:chOff x="6248400" y="1524000"/>
            <a:chExt cx="5410200" cy="2634615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1741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系统特征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16781" y="164830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SMP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9331" y="164830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MPP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258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48412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00962" y="21540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单一运行队列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53512" y="2054066"/>
              <a:ext cx="1007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主机上单一运行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06062" y="21540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协作多队列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48400" y="253555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8412" y="2659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网络协议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00962" y="2659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非标准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53512" y="2659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非标准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06062" y="2659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标准或非标准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29365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8412" y="30656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00962" y="30656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通常较低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53512" y="30656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低到中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06062" y="30656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高可用或容错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3423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334708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48412" y="3471386"/>
              <a:ext cx="852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性能/价格比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00962" y="3471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53512" y="3471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315575" y="3356610"/>
              <a:ext cx="133350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06062" y="34713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7480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48412" y="38771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互连网络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00962" y="3877151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总线/交叉开关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053512" y="3877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定制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406062" y="3877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商用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1524000"/>
              <a:ext cx="5410200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596188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948738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301288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4" name="c2-steps-2"/>
          <p:cNvGrpSpPr/>
          <p:nvPr/>
        </p:nvGrpSpPr>
        <p:grpSpPr>
          <a:xfrm>
            <a:off x="6248400" y="4343400"/>
            <a:ext cx="5371780" cy="1693069"/>
            <a:chOff x="6248400" y="4343400"/>
            <a:chExt cx="5371780" cy="1693069"/>
          </a:xfrm>
        </p:grpSpPr>
        <p:sp>
          <p:nvSpPr>
            <p:cNvPr id="91" name="Rectangle 91"/>
            <p:cNvSpPr/>
            <p:nvPr/>
          </p:nvSpPr>
          <p:spPr>
            <a:xfrm>
              <a:off x="6381750" y="448627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6248400" y="43434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342024" y="44172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6248400" y="49301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342024" y="50039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6248400" y="55168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42024" y="5590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660642" y="43748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读饼图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661785" y="4642961"/>
              <a:ext cx="494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Top500 中集群占台数 87.6%、性能 51%；MPP 占台数 12.4%、性能 49%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60642" y="496157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平均每台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661785" y="5229701"/>
              <a:ext cx="4800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性能份额 ÷ 台数份额：集群 51 ÷ 87.6 ≈ 0.58，MPP 49 ÷ 12.4 ≈ 3.95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660642" y="554926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61785" y="5816441"/>
              <a:ext cx="4958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 MPP 平均抵 3.95 ÷ 0.58 ≈ 6.8 台集群，MPP 多是榜单前部的大机器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分布式系统发展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从一台机器变强，到多台机器联合，再到按需租用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内容提要二：分布式系统发展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纵向扩展与横向扩展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集群的主从结构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集群、网格、云的区别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分布式系统发展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纵向扩展换更强的机器，横向扩展加更多的机器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760595" cy="3885724"/>
            <a:chOff x="533400" y="1524000"/>
            <a:chExt cx="4760595" cy="3885724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16671" t="0" r="16671" b="0"/>
            <a:stretch>
              <a:fillRect/>
            </a:stretch>
          </p:blipFill>
          <p:spPr>
            <a:xfrm>
              <a:off x="533400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249464" y="518969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车拉不动了：换一头更大的牛，还是多套几头牛？</a:t>
              </a:r>
            </a:p>
          </p:txBody>
        </p:sp>
      </p:grpSp>
      <p:grpSp>
        <p:nvGrpSpPr>
          <p:cNvPr id="30" name="c2-table-1"/>
          <p:cNvGrpSpPr/>
          <p:nvPr/>
        </p:nvGrpSpPr>
        <p:grpSpPr>
          <a:xfrm>
            <a:off x="5598795" y="1524000"/>
            <a:ext cx="6059805" cy="1933575"/>
            <a:chOff x="5598795" y="1524000"/>
            <a:chExt cx="6059805" cy="1933575"/>
          </a:xfrm>
        </p:grpSpPr>
        <p:sp>
          <p:nvSpPr>
            <p:cNvPr id="10" name="Rectangle 10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597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53071" y="1655445"/>
              <a:ext cx="1375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纵向扩展 Vertical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04836" y="1655445"/>
              <a:ext cx="1562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横向扩展 Horizontal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04142" y="2191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73786" y="2085022"/>
              <a:ext cx="21381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升级单机：更快的 CPU、更多处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理器和内存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18866" y="219170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增加节点：多台机器联网协作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98795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98795" y="259746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04142" y="27289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73786" y="272891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受单机硬件上限约束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23045" y="2606992"/>
              <a:ext cx="252603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18866" y="27289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随节点数增加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98795" y="30232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04142" y="31594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73786" y="315944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单处理机到多处理机、大型主机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18866" y="3159442"/>
              <a:ext cx="812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集群、MPP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598795" y="1524000"/>
              <a:ext cx="6059805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563678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08758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card-2"/>
          <p:cNvGrpSpPr/>
          <p:nvPr/>
        </p:nvGrpSpPr>
        <p:grpSpPr>
          <a:xfrm>
            <a:off x="5598795" y="3643312"/>
            <a:ext cx="6059805" cy="1865948"/>
            <a:chOff x="5598795" y="3643312"/>
            <a:chExt cx="6059805" cy="1865948"/>
          </a:xfrm>
        </p:grpSpPr>
        <p:sp>
          <p:nvSpPr>
            <p:cNvPr id="31" name="Rectangle 31"/>
            <p:cNvSpPr/>
            <p:nvPr/>
          </p:nvSpPr>
          <p:spPr>
            <a:xfrm>
              <a:off x="5598795" y="3643312"/>
              <a:ext cx="605980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08320" y="3776662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40730" y="3847148"/>
              <a:ext cx="190023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89445" y="3882866"/>
              <a:ext cx="1803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原课件第15–16页的两幅图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48350" y="428053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04941" y="4220051"/>
              <a:ext cx="52172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人从 5 岁到 20 岁先往高里长，之后往宽里长：计算机系统也是先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纵向扩展，到头再横向扩展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848350" y="48720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04941" y="4811554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变形金刚：几个小机器人合体成一个大机器人，对应多台普通机器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组成一个大系统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0" name="Rectangle 4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97636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单机的频率和核数都有物理上限，数据和计算量却一直在涨，最后只能横向扩展。这也是本课讲分布式存储的起点。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分布式系统发展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集群：单一组织、单一管理域，主节点带多个从节点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632460" y="1649730"/>
            <a:ext cx="4873942" cy="2130171"/>
            <a:chOff x="632460" y="1649730"/>
            <a:chExt cx="4873942" cy="2130171"/>
          </a:xfrm>
        </p:grpSpPr>
        <p:sp>
          <p:nvSpPr>
            <p:cNvPr id="7" name="Freeform 7"/>
            <p:cNvSpPr/>
            <p:nvPr/>
          </p:nvSpPr>
          <p:spPr>
            <a:xfrm>
              <a:off x="1724025" y="2160270"/>
              <a:ext cx="9525" cy="480060"/>
            </a:xfrm>
            <a:custGeom>
              <a:avLst/>
              <a:gdLst/>
              <a:ahLst/>
              <a:cxnLst/>
              <a:rect l="l" t="t" r="r" b="b"/>
              <a:pathLst>
                <a:path w="9525" h="480060">
                  <a:moveTo>
                    <a:pt x="0" y="0"/>
                  </a:moveTo>
                  <a:lnTo>
                    <a:pt x="0" y="4800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752975" y="2065020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0"/>
                  </a:moveTo>
                  <a:lnTo>
                    <a:pt x="0" y="575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156460" y="2884170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5753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63302" y="2884170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5753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077778" y="2884170"/>
              <a:ext cx="9525" cy="575310"/>
            </a:xfrm>
            <a:custGeom>
              <a:avLst/>
              <a:gdLst/>
              <a:ahLst/>
              <a:cxnLst/>
              <a:rect l="l" t="t" r="r" b="b"/>
              <a:pathLst>
                <a:path w="9525" h="575310">
                  <a:moveTo>
                    <a:pt x="0" y="5753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99210" y="2762250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200150" y="1649730"/>
              <a:ext cx="1047750" cy="510540"/>
            </a:xfrm>
            <a:prstGeom prst="roundRect">
              <a:avLst>
                <a:gd name="adj" fmla="val 1865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24350" y="174498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" y="2602230"/>
              <a:ext cx="6667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99310" y="2619375"/>
              <a:ext cx="3143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727835" y="345948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34678" y="345948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49152" y="345948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18292" y="1735455"/>
              <a:ext cx="61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75613" y="19259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主节点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2452" y="183070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423" y="26879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交换机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47781" y="2687955"/>
              <a:ext cx="846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局域网 LAN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35937" y="354520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42780" y="354520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57255" y="354520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095750"/>
            <a:ext cx="5410200" cy="2173605"/>
            <a:chOff x="533400" y="4095750"/>
            <a:chExt cx="5410200" cy="2173605"/>
          </a:xfrm>
        </p:grpSpPr>
        <p:sp>
          <p:nvSpPr>
            <p:cNvPr id="29" name="Rectangle 29"/>
            <p:cNvSpPr/>
            <p:nvPr/>
          </p:nvSpPr>
          <p:spPr>
            <a:xfrm>
              <a:off x="533400" y="4095750"/>
              <a:ext cx="541020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229100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305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1258" y="4341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82078" y="4340542"/>
              <a:ext cx="1592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集群（Cluster）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3430" y="4701540"/>
              <a:ext cx="46634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一组独立的计算机用局域网连在一起，作为一个整体对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外服务，归一个组织管理。1967 年起源于 IBM（并行体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系结构、多处理器、分布式系统），在学术界和企业界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都广受欢迎。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6240780" y="1548765"/>
            <a:ext cx="5417820" cy="1737360"/>
            <a:chOff x="6240780" y="1548765"/>
            <a:chExt cx="5417820" cy="1737360"/>
          </a:xfrm>
        </p:grpSpPr>
        <p:sp>
          <p:nvSpPr>
            <p:cNvPr id="36" name="TextBox 36"/>
            <p:cNvSpPr txBox="1"/>
            <p:nvPr/>
          </p:nvSpPr>
          <p:spPr>
            <a:xfrm>
              <a:off x="6240780" y="1548765"/>
              <a:ext cx="1434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主节点 Master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3840" y="154876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接收用户作业，分给从节点，汇总结果；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调度器、名字服务常放在这里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0780" y="2270760"/>
              <a:ext cx="1221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从节点 Slave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63840" y="22707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执行分到的任务，定期向主节点报告状态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0780" y="2710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单一管理域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63840" y="271081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所有机器归一个组织管，账号、软件、安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全策略统一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3417570"/>
            <a:ext cx="5410200" cy="1059180"/>
            <a:chOff x="6248400" y="3417570"/>
            <a:chExt cx="5410200" cy="1059180"/>
          </a:xfrm>
        </p:grpSpPr>
        <p:sp>
          <p:nvSpPr>
            <p:cNvPr id="45" name="Rectangle 45"/>
            <p:cNvSpPr/>
            <p:nvPr/>
          </p:nvSpPr>
          <p:spPr>
            <a:xfrm>
              <a:off x="6248400" y="341757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3847148"/>
              <a:ext cx="200026" cy="200025"/>
              <a:chOff x="6453188" y="384714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38471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92926" y="38915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27642" y="40027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130" y="3566160"/>
              <a:ext cx="43872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后面会反复遇到这种主从结构：LSF 的主控主机和执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行主机（本讲第七节），HDFS 的 NameNode 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DataNode（第4部分）。</a:t>
              </a:r>
            </a:p>
          </p:txBody>
        </p:sp>
      </p:grpSp>
      <p:grpSp>
        <p:nvGrpSpPr>
          <p:cNvPr id="57" name="c2-card-3"/>
          <p:cNvGrpSpPr/>
          <p:nvPr/>
        </p:nvGrpSpPr>
        <p:grpSpPr>
          <a:xfrm>
            <a:off x="6248400" y="4667250"/>
            <a:ext cx="5410200" cy="1602105"/>
            <a:chOff x="6248400" y="4667250"/>
            <a:chExt cx="5410200" cy="1602105"/>
          </a:xfrm>
        </p:grpSpPr>
        <p:sp>
          <p:nvSpPr>
            <p:cNvPr id="52" name="Rectangle 52"/>
            <p:cNvSpPr/>
            <p:nvPr/>
          </p:nvSpPr>
          <p:spPr>
            <a:xfrm>
              <a:off x="6248400" y="466725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480060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96050" y="48768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557" y="49125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主从结构的软肋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88430" y="5253990"/>
              <a:ext cx="4692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主节点只有一个，它宕机整个集群就停摆。所以要给主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节点做备份，并用 ZooKeeper 这类协调服务在主备之间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选出唯一的主（本讲第六节）。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分布式系统发展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集群、网格、云：看管理域、网络范围和谁先推动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33400" y="1524000"/>
            <a:ext cx="11125200" cy="2800350"/>
            <a:chOff x="533400" y="1524000"/>
            <a:chExt cx="11125200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605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80379" y="1645444"/>
              <a:ext cx="935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 Cluster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81836" y="1645444"/>
              <a:ext cx="674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网格 Grid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39815" y="1645444"/>
              <a:ext cx="6104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云 Cloud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0555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组织与管理域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100262" y="1933575"/>
              <a:ext cx="309562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87892" y="20454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单一组织、单一管理域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215890" y="1933575"/>
              <a:ext cx="320706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03520" y="20454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多组织、多管理域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42008" y="1933575"/>
              <a:ext cx="320706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29638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单一管理域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87892" y="2445544"/>
              <a:ext cx="774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局域网 LAN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03520" y="2445544"/>
              <a:ext cx="8062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广域网 WAN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29638" y="24455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局域网或广域网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29456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7892" y="2945606"/>
              <a:ext cx="944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1967 年，IBM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03520" y="2845594"/>
              <a:ext cx="2500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 年代，电力网类比；Ian Foster、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Globus 联盟（Globus Toolkit）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9638" y="2845594"/>
              <a:ext cx="26642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2006 年，Amazon EC2（Elastic Compute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Cloud）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19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32422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34456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87892" y="34456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并行体系结构、多处理器、分布式系统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03520" y="34456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跨机构共享资源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29638" y="34456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面向服务，对用户透明，注重用户体验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719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39457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谁推动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87892" y="39457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学术界和企业界都欢迎，应用广泛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03520" y="3845719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学术界推崇，企业界兴趣不大（集中在少数专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业公司）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29638" y="39457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工业界先推出，学术界跟进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08597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20160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42772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rd-2"/>
          <p:cNvGrpSpPr/>
          <p:nvPr/>
        </p:nvGrpSpPr>
        <p:grpSpPr>
          <a:xfrm>
            <a:off x="533400" y="4493895"/>
            <a:ext cx="11125200" cy="967740"/>
            <a:chOff x="533400" y="4493895"/>
            <a:chExt cx="11125200" cy="967740"/>
          </a:xfrm>
        </p:grpSpPr>
        <p:sp>
          <p:nvSpPr>
            <p:cNvPr id="46" name="Rectangle 46"/>
            <p:cNvSpPr/>
            <p:nvPr/>
          </p:nvSpPr>
          <p:spPr>
            <a:xfrm>
              <a:off x="533400" y="4493895"/>
              <a:ext cx="11125200" cy="967740"/>
            </a:xfrm>
            <a:prstGeom prst="roundRect">
              <a:avLst>
                <a:gd name="adj" fmla="val 13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42925" y="4627245"/>
              <a:ext cx="47625" cy="7010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8190" y="46805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0862" y="4713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1332" y="5025390"/>
              <a:ext cx="10148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EC2 “$0.085 per hour”。2006 年 EC2 上线时小型实例是每小时 0.10 美元，0.085 美元是 2009 年降价后的价格。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2" name="Rectangle 52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5779770"/>
              <a:ext cx="99749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“分久必合、合久必分”：网格把分散各地的集群连起来共享（分），云又把资源收进一家的数据中心统一管理、按用量收费（合），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所以云被称作“带有商业盈利模式的网格计算”。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分布式系统发展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网格：像使用电网一样使用计算资源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760595" cy="3853529"/>
            <a:chOff x="533400" y="1524000"/>
            <a:chExt cx="4760595" cy="385352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533400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853324" y="518683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插上插头就有电，不必关心电厂在哪</a:t>
              </a:r>
            </a:p>
          </p:txBody>
        </p:sp>
      </p:grpSp>
      <p:grpSp>
        <p:nvGrpSpPr>
          <p:cNvPr id="16" name="c2-card-1"/>
          <p:cNvGrpSpPr/>
          <p:nvPr/>
        </p:nvGrpSpPr>
        <p:grpSpPr>
          <a:xfrm>
            <a:off x="5598795" y="1524000"/>
            <a:ext cx="6059805" cy="1716405"/>
            <a:chOff x="5598795" y="1524000"/>
            <a:chExt cx="6059805" cy="1716405"/>
          </a:xfrm>
        </p:grpSpPr>
        <p:sp>
          <p:nvSpPr>
            <p:cNvPr id="10" name="Rectangle 10"/>
            <p:cNvSpPr/>
            <p:nvPr/>
          </p:nvSpPr>
          <p:spPr>
            <a:xfrm>
              <a:off x="5598795" y="1524000"/>
              <a:ext cx="6059805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08320" y="1657350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823585" y="1710690"/>
              <a:ext cx="97536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01257" y="1743551"/>
              <a:ext cx="8219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原课件第19页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07339" y="17459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从电池到电网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16727" y="2071688"/>
              <a:ext cx="538867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1800 年伏打发明电池，1801 年在法国国家研究院向拿破仑演示。之后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爱迪生、特斯拉发明电灯和交流电，逐渐形成可靠、一致、无处不在的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电网。网格计算（Computing Grid）借用的就是电网（Power Grid）这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个名字。</a:t>
              </a:r>
            </a:p>
          </p:txBody>
        </p:sp>
      </p:grpSp>
      <p:grpSp>
        <p:nvGrpSpPr>
          <p:cNvPr id="25" name="c2-kv-2"/>
          <p:cNvGrpSpPr/>
          <p:nvPr/>
        </p:nvGrpSpPr>
        <p:grpSpPr>
          <a:xfrm>
            <a:off x="5591937" y="3432810"/>
            <a:ext cx="6066663" cy="1809940"/>
            <a:chOff x="5591937" y="3432810"/>
            <a:chExt cx="6066663" cy="1809940"/>
          </a:xfrm>
        </p:grpSpPr>
        <p:sp>
          <p:nvSpPr>
            <p:cNvPr id="17" name="TextBox 17"/>
            <p:cNvSpPr txBox="1"/>
            <p:nvPr/>
          </p:nvSpPr>
          <p:spPr>
            <a:xfrm>
              <a:off x="5591937" y="3432810"/>
              <a:ext cx="558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I-WAY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5934" y="3432810"/>
              <a:ext cx="421424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 年用高速网络把美国多个超算中心连起来的实验项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目，网格的前身（原课件第20页）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98795" y="39728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91937" y="4079558"/>
              <a:ext cx="1303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Globus Toolkit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5934" y="4079558"/>
              <a:ext cx="417995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Ian Foster 等人开发的网格中间件，负责跨机构的身份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认证、资源发现和作业提交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98795" y="461962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591937" y="4725352"/>
              <a:ext cx="873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ChinaGrid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5934" y="4725352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中国教育科研网格，把多所高校的计算资源连起来共享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（原课件第21页）</a:t>
              </a:r>
            </a:p>
          </p:txBody>
        </p:sp>
      </p:grpSp>
      <p:grpSp>
        <p:nvGrpSpPr>
          <p:cNvPr id="32" name="c2-callout-3"/>
          <p:cNvGrpSpPr/>
          <p:nvPr/>
        </p:nvGrpSpPr>
        <p:grpSpPr>
          <a:xfrm>
            <a:off x="5598795" y="5359718"/>
            <a:ext cx="6059805" cy="978218"/>
            <a:chOff x="5598795" y="5359718"/>
            <a:chExt cx="6059805" cy="978218"/>
          </a:xfrm>
        </p:grpSpPr>
        <p:sp>
          <p:nvSpPr>
            <p:cNvPr id="26" name="Rectangle 26"/>
            <p:cNvSpPr/>
            <p:nvPr/>
          </p:nvSpPr>
          <p:spPr>
            <a:xfrm>
              <a:off x="5598795" y="5359718"/>
              <a:ext cx="605980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803583" y="5749290"/>
              <a:ext cx="200026" cy="200025"/>
              <a:chOff x="5803583" y="5749290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803583" y="57492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843321" y="57937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878037" y="59048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106287" y="5506402"/>
              <a:ext cx="51572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网格的资源分属不同单位，安全、计费、管理都要跨组织协商，这是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它在企业里推广不开的原因之一。云把资源收归一家管理，绕开了这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个难题。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02761" cy="3351847"/>
            <a:chOff x="667512" y="1835468"/>
            <a:chExt cx="380276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把资源集中起来，包装成服务按需出租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内容提要三：云计算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云的三个关键词和六个特性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37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SaaS、PaaS、IaaS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按用量付费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云计算：面向服务、虚拟化、数据集中存放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5200840" cy="1821371"/>
            <a:chOff x="526542" y="1545907"/>
            <a:chExt cx="5200840" cy="1821371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40160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面向服务 Service</a:t>
              </a:r>
              <a:br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oriented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92477" y="1545907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应用、平台、基础设施都包装成服务，通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过网络按需使用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88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198370"/>
              <a:ext cx="1219867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虚拟化</a:t>
              </a:r>
              <a:br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Virtualization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92477" y="2198370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一台物理机切成多台虚拟机，资源池化后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按需分配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403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849880"/>
              <a:ext cx="1149572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数据仓库 Data</a:t>
              </a:r>
              <a:br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warehouse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92477" y="284988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数据集中存放在云端，各种终端都能访问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89008"/>
            <a:ext cx="5193982" cy="1209675"/>
            <a:chOff x="533400" y="3489008"/>
            <a:chExt cx="5193982" cy="1209675"/>
          </a:xfrm>
        </p:grpSpPr>
        <p:sp>
          <p:nvSpPr>
            <p:cNvPr id="16" name="Rectangle 16"/>
            <p:cNvSpPr/>
            <p:nvPr/>
          </p:nvSpPr>
          <p:spPr>
            <a:xfrm>
              <a:off x="533400" y="3489008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62235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681412"/>
              <a:ext cx="196405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0862" y="3715702"/>
              <a:ext cx="1870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生活中的云（原课件第26页）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038600"/>
              <a:ext cx="44628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Dropbox、iCloud 把文件、通讯录、日历放在云端，手机、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平板、电脑之间自动同步。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873942"/>
            <a:ext cx="5193982" cy="1466850"/>
            <a:chOff x="533400" y="4873942"/>
            <a:chExt cx="5193982" cy="1466850"/>
          </a:xfrm>
        </p:grpSpPr>
        <p:sp>
          <p:nvSpPr>
            <p:cNvPr id="22" name="Rectangle 22"/>
            <p:cNvSpPr/>
            <p:nvPr/>
          </p:nvSpPr>
          <p:spPr>
            <a:xfrm>
              <a:off x="533400" y="4873942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500729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50663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345" y="51006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5422583"/>
              <a:ext cx="45399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原课件写“2018 年亚马逊 AWS 的年营业收入 73 亿美元”。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AWS 2018 年营业收入是 256.6 亿美元，73 亿美元是它的营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业利润。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026848" y="1524000"/>
            <a:ext cx="5631752" cy="3120009"/>
            <a:chOff x="6026848" y="1524000"/>
            <a:chExt cx="5631752" cy="3120009"/>
          </a:xfrm>
        </p:grpSpPr>
        <p:sp>
          <p:nvSpPr>
            <p:cNvPr id="28" name="Rectangle 28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386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445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526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2195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57098" y="2054066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user-friendly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4928" y="2054066"/>
              <a:ext cx="229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网页上点几下或调一个 API 就能用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2195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57098" y="24598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44928" y="24598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用户看到的是虚拟机和虚拟存储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32195" y="28655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57098" y="2865596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flexible and scalable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44928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资源随负载增减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2182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32195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57098" y="3271361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 (or close)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44928" y="327136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接口可以开放，也可以封闭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32195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价钱合理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57098" y="367712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affordable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44928" y="367712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按用量付费，不必先买机器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39538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32182" y="395859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32195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57098" y="40828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secure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44928" y="40828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租户之间的数据要隔离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1524000"/>
              <a:ext cx="562641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5232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84015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26848" y="4438650"/>
              <a:ext cx="531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原课件说几乎所有云环境都有前四条（It's），后两条写作 It can be，表示应当做到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6032182" y="4777740"/>
            <a:ext cx="5626418" cy="1562100"/>
            <a:chOff x="6032182" y="4777740"/>
            <a:chExt cx="5626418" cy="1562100"/>
          </a:xfrm>
        </p:grpSpPr>
        <p:sp>
          <p:nvSpPr>
            <p:cNvPr id="63" name="Rectangle 63"/>
            <p:cNvSpPr/>
            <p:nvPr/>
          </p:nvSpPr>
          <p:spPr>
            <a:xfrm>
              <a:off x="6032182" y="4777740"/>
              <a:ext cx="5626418" cy="1562100"/>
            </a:xfrm>
            <a:prstGeom prst="roundRect">
              <a:avLst>
                <a:gd name="adj" fmla="val 73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236970" y="5458778"/>
              <a:ext cx="200026" cy="200026"/>
              <a:chOff x="6236970" y="545877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236970" y="54587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336983" y="55254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325870" y="55587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539674" y="5215890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原课件第32–33页是国内云厂商的产品页：云服务器按 CPU 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数、内存、带宽和购买时长标价，正是把资源包装成商品出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售。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三种服务模式：云替你管到哪一层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table-1"/>
          <p:cNvGrpSpPr/>
          <p:nvPr/>
        </p:nvGrpSpPr>
        <p:grpSpPr>
          <a:xfrm>
            <a:off x="528066" y="1524000"/>
            <a:ext cx="5847969" cy="3120009"/>
            <a:chOff x="528066" y="1524000"/>
            <a:chExt cx="5847969" cy="31200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51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8831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自建机房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82696" y="1648301"/>
              <a:ext cx="328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IaaS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13907" y="1648301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PaaS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5467" y="1648301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39086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90646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42206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0" y="1939290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93766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39086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90646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2206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0" y="2345055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3766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运行时、中间件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39086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90646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82440" y="2750820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42206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0" y="2750820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3766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39086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90646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282440" y="3156585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642206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0" y="3156585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93766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412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39086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230880" y="3562350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90646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282440" y="3562350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2206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0" y="3562350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3766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3412" y="40828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服务器、存储、网络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539086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230880" y="3968115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90646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282440" y="3968115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42206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0" y="3968115"/>
              <a:ext cx="1032510" cy="386715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93766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厂商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1524000"/>
              <a:ext cx="584263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216503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21659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26815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1971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8066" y="443865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责任划分表是补充内容；越往右，用户自己管的越少</a:t>
              </a:r>
            </a:p>
          </p:txBody>
        </p:sp>
      </p:grpSp>
      <p:grpSp>
        <p:nvGrpSpPr>
          <p:cNvPr id="76" name="c1-card-2"/>
          <p:cNvGrpSpPr/>
          <p:nvPr/>
        </p:nvGrpSpPr>
        <p:grpSpPr>
          <a:xfrm>
            <a:off x="533400" y="4777740"/>
            <a:ext cx="5842635" cy="1581150"/>
            <a:chOff x="533400" y="4777740"/>
            <a:chExt cx="5842635" cy="1581150"/>
          </a:xfrm>
        </p:grpSpPr>
        <p:sp>
          <p:nvSpPr>
            <p:cNvPr id="70" name="Rectangle 70"/>
            <p:cNvSpPr/>
            <p:nvPr/>
          </p:nvSpPr>
          <p:spPr>
            <a:xfrm>
              <a:off x="533400" y="4777740"/>
              <a:ext cx="5842635" cy="1581150"/>
            </a:xfrm>
            <a:prstGeom prst="roundRect">
              <a:avLst>
                <a:gd name="adj" fmla="val 84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42925" y="4911090"/>
              <a:ext cx="47625" cy="13144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63905" y="497014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59346" y="50044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214247" y="50101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按用量付费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7047" y="5344478"/>
              <a:ext cx="47200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EC2 小型实例每小时 0.085 美元。每天只用 2 小时，一个月是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0.085 × 2 × 30 = 5.1 美元；全天开着是 0.085 × 24 × 30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61.2 美元。</a:t>
              </a:r>
            </a:p>
          </p:txBody>
        </p:sp>
      </p:grpSp>
      <p:grpSp>
        <p:nvGrpSpPr>
          <p:cNvPr id="85" name="c2-kv-1"/>
          <p:cNvGrpSpPr/>
          <p:nvPr/>
        </p:nvGrpSpPr>
        <p:grpSpPr>
          <a:xfrm>
            <a:off x="6673977" y="1545907"/>
            <a:ext cx="4984623" cy="2328101"/>
            <a:chOff x="6673977" y="1545907"/>
            <a:chExt cx="4984623" cy="2328101"/>
          </a:xfrm>
        </p:grpSpPr>
        <p:sp>
          <p:nvSpPr>
            <p:cNvPr id="77" name="TextBox 77"/>
            <p:cNvSpPr txBox="1"/>
            <p:nvPr/>
          </p:nvSpPr>
          <p:spPr>
            <a:xfrm>
              <a:off x="6673977" y="1545907"/>
              <a:ext cx="1276017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IaaS 基础设施即</a:t>
              </a:r>
              <a:br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67497" y="1545907"/>
              <a:ext cx="30998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租虚拟机、存储和网络，自己装系统和软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件。例：Amazon EC2、GoGrid、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Eucalyptus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680835" y="234219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73977" y="2451735"/>
              <a:ext cx="1149572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PaaS 平台即服</a:t>
              </a:r>
              <a:br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务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167497" y="2451735"/>
              <a:ext cx="327126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提供编程环境和运行平台，上传代码就能部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署。例：Google App Engine、Microsoft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Azure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680835" y="324802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673977" y="3356610"/>
              <a:ext cx="1149572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SaaS 软件即服</a:t>
              </a:r>
              <a:br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务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167497" y="3356610"/>
              <a:ext cx="297122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直接用做好的软件。例：Salesforce、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Gmail</a:t>
              </a:r>
            </a:p>
          </p:txBody>
        </p:sp>
      </p:grpSp>
      <p:grpSp>
        <p:nvGrpSpPr>
          <p:cNvPr id="92" name="c2-callout-2"/>
          <p:cNvGrpSpPr/>
          <p:nvPr/>
        </p:nvGrpSpPr>
        <p:grpSpPr>
          <a:xfrm>
            <a:off x="6680835" y="3996690"/>
            <a:ext cx="4977765" cy="978218"/>
            <a:chOff x="6680835" y="3996690"/>
            <a:chExt cx="4977765" cy="978218"/>
          </a:xfrm>
        </p:grpSpPr>
        <p:sp>
          <p:nvSpPr>
            <p:cNvPr id="86" name="Rectangle 86"/>
            <p:cNvSpPr/>
            <p:nvPr/>
          </p:nvSpPr>
          <p:spPr>
            <a:xfrm>
              <a:off x="6680835" y="3996690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885623" y="4385310"/>
              <a:ext cx="200026" cy="200025"/>
              <a:chOff x="6885623" y="4385310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885623" y="43853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925361" y="44297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960077" y="45408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188327" y="4142422"/>
              <a:ext cx="408565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判断属于哪一层，看用户拿到的是什么：拿到一台虚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拟机是 IaaS，拿到运行环境是 PaaS，拿到打开就能用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的软件是 SaaS。</a:t>
              </a:r>
            </a:p>
          </p:txBody>
        </p:sp>
      </p:grpSp>
      <p:grpSp>
        <p:nvGrpSpPr>
          <p:cNvPr id="97" name="c2-card-3"/>
          <p:cNvGrpSpPr/>
          <p:nvPr/>
        </p:nvGrpSpPr>
        <p:grpSpPr>
          <a:xfrm>
            <a:off x="6680835" y="5150168"/>
            <a:ext cx="4977765" cy="1209675"/>
            <a:chOff x="6680835" y="5150168"/>
            <a:chExt cx="4977765" cy="1209675"/>
          </a:xfrm>
        </p:grpSpPr>
        <p:sp>
          <p:nvSpPr>
            <p:cNvPr id="93" name="Rectangle 93"/>
            <p:cNvSpPr/>
            <p:nvPr/>
          </p:nvSpPr>
          <p:spPr>
            <a:xfrm>
              <a:off x="6680835" y="5150168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873240" y="534257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948678" y="53768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和存储的关系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866382" y="569880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云盘、对象存储这类服务也分层：租一块云硬盘自己建文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件系统接近 IaaS，直接用网盘则是 SaaS。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319092" cy="3706177"/>
            <a:chOff x="667512" y="1835468"/>
            <a:chExt cx="4319092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并行计算环境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3091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从并行编程模型到能在集群上跑的 MPI 程序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内容提要四：并行计算环境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四类并行编程模型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64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的 6 个基本函数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点对点通信与群集通信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696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运行一个 MPI 程序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物理问题怎样变成并行程序：两边抽象，中间映射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graph-1"/>
          <p:cNvGrpSpPr/>
          <p:nvPr/>
        </p:nvGrpSpPr>
        <p:grpSpPr>
          <a:xfrm>
            <a:off x="944880" y="1703070"/>
            <a:ext cx="5020628" cy="4022788"/>
            <a:chOff x="944880" y="1703070"/>
            <a:chExt cx="5020628" cy="4022788"/>
          </a:xfrm>
        </p:grpSpPr>
        <p:sp>
          <p:nvSpPr>
            <p:cNvPr id="7" name="Freeform 7"/>
            <p:cNvSpPr/>
            <p:nvPr/>
          </p:nvSpPr>
          <p:spPr>
            <a:xfrm>
              <a:off x="2087880" y="1863090"/>
              <a:ext cx="2829877" cy="9525"/>
            </a:xfrm>
            <a:custGeom>
              <a:avLst/>
              <a:gdLst/>
              <a:ahLst/>
              <a:cxnLst/>
              <a:rect l="l" t="t" r="r" b="b"/>
              <a:pathLst>
                <a:path w="2829877" h="9525">
                  <a:moveTo>
                    <a:pt x="282987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92630" y="18154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12570" y="2023110"/>
              <a:ext cx="237172" cy="861060"/>
            </a:xfrm>
            <a:custGeom>
              <a:avLst/>
              <a:gdLst/>
              <a:ahLst/>
              <a:cxnLst/>
              <a:rect l="l" t="t" r="r" b="b"/>
              <a:pathLst>
                <a:path w="237172" h="861060">
                  <a:moveTo>
                    <a:pt x="0" y="0"/>
                  </a:moveTo>
                  <a:lnTo>
                    <a:pt x="237172" y="8610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04022" y="2871788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70485" y="104775"/>
                  </a:moveTo>
                  <a:lnTo>
                    <a:pt x="0" y="25717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160645" y="2023110"/>
              <a:ext cx="237173" cy="861060"/>
            </a:xfrm>
            <a:custGeom>
              <a:avLst/>
              <a:gdLst/>
              <a:ahLst/>
              <a:cxnLst/>
              <a:rect l="l" t="t" r="r" b="b"/>
              <a:pathLst>
                <a:path w="237173" h="861060">
                  <a:moveTo>
                    <a:pt x="237173" y="0"/>
                  </a:moveTo>
                  <a:lnTo>
                    <a:pt x="0" y="8610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13972" y="2871788"/>
              <a:ext cx="92393" cy="104775"/>
            </a:xfrm>
            <a:custGeom>
              <a:avLst/>
              <a:gdLst/>
              <a:ahLst/>
              <a:cxnLst/>
              <a:rect l="l" t="t" r="r" b="b"/>
              <a:pathLst>
                <a:path w="92393" h="104775">
                  <a:moveTo>
                    <a:pt x="20955" y="104775"/>
                  </a:moveTo>
                  <a:lnTo>
                    <a:pt x="0" y="0"/>
                  </a:lnTo>
                  <a:lnTo>
                    <a:pt x="92393" y="257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63090" y="3296602"/>
              <a:ext cx="210502" cy="765810"/>
            </a:xfrm>
            <a:custGeom>
              <a:avLst/>
              <a:gdLst/>
              <a:ahLst/>
              <a:cxnLst/>
              <a:rect l="l" t="t" r="r" b="b"/>
              <a:pathLst>
                <a:path w="210502" h="765810">
                  <a:moveTo>
                    <a:pt x="0" y="0"/>
                  </a:moveTo>
                  <a:lnTo>
                    <a:pt x="210502" y="7658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27872" y="4050030"/>
              <a:ext cx="91440" cy="103823"/>
            </a:xfrm>
            <a:custGeom>
              <a:avLst/>
              <a:gdLst/>
              <a:ahLst/>
              <a:cxnLst/>
              <a:rect l="l" t="t" r="r" b="b"/>
              <a:pathLst>
                <a:path w="91440" h="103823">
                  <a:moveTo>
                    <a:pt x="71438" y="103823"/>
                  </a:moveTo>
                  <a:lnTo>
                    <a:pt x="0" y="24765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35842" y="3296602"/>
              <a:ext cx="211455" cy="765810"/>
            </a:xfrm>
            <a:custGeom>
              <a:avLst/>
              <a:gdLst/>
              <a:ahLst/>
              <a:cxnLst/>
              <a:rect l="l" t="t" r="r" b="b"/>
              <a:pathLst>
                <a:path w="211455" h="765810">
                  <a:moveTo>
                    <a:pt x="211455" y="0"/>
                  </a:moveTo>
                  <a:lnTo>
                    <a:pt x="0" y="7658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790122" y="4050030"/>
              <a:ext cx="91440" cy="103823"/>
            </a:xfrm>
            <a:custGeom>
              <a:avLst/>
              <a:gdLst/>
              <a:ahLst/>
              <a:cxnLst/>
              <a:rect l="l" t="t" r="r" b="b"/>
              <a:pathLst>
                <a:path w="91440" h="103823">
                  <a:moveTo>
                    <a:pt x="20955" y="103823"/>
                  </a:moveTo>
                  <a:lnTo>
                    <a:pt x="0" y="0"/>
                  </a:lnTo>
                  <a:lnTo>
                    <a:pt x="91440" y="247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533650" y="3136582"/>
              <a:ext cx="1938338" cy="9525"/>
            </a:xfrm>
            <a:custGeom>
              <a:avLst/>
              <a:gdLst/>
              <a:ahLst/>
              <a:cxnLst/>
              <a:rect l="l" t="t" r="r" b="b"/>
              <a:pathLst>
                <a:path w="1938338" h="9525">
                  <a:moveTo>
                    <a:pt x="193833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438400" y="30889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931795" y="4409122"/>
              <a:ext cx="1189672" cy="9525"/>
            </a:xfrm>
            <a:custGeom>
              <a:avLst/>
              <a:gdLst/>
              <a:ahLst/>
              <a:cxnLst/>
              <a:rect l="l" t="t" r="r" b="b"/>
              <a:pathLst>
                <a:path w="1189672" h="9525">
                  <a:moveTo>
                    <a:pt x="118967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836545" y="43614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478405" y="4664392"/>
              <a:ext cx="593408" cy="489585"/>
            </a:xfrm>
            <a:custGeom>
              <a:avLst/>
              <a:gdLst/>
              <a:ahLst/>
              <a:cxnLst/>
              <a:rect l="l" t="t" r="r" b="b"/>
              <a:pathLst>
                <a:path w="593408" h="489585">
                  <a:moveTo>
                    <a:pt x="0" y="0"/>
                  </a:moveTo>
                  <a:lnTo>
                    <a:pt x="593408" y="489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042285" y="5117782"/>
              <a:ext cx="102870" cy="97155"/>
            </a:xfrm>
            <a:custGeom>
              <a:avLst/>
              <a:gdLst/>
              <a:ahLst/>
              <a:cxnLst/>
              <a:rect l="l" t="t" r="r" b="b"/>
              <a:pathLst>
                <a:path w="102870" h="97155">
                  <a:moveTo>
                    <a:pt x="102870" y="97155"/>
                  </a:moveTo>
                  <a:lnTo>
                    <a:pt x="0" y="73343"/>
                  </a:lnTo>
                  <a:lnTo>
                    <a:pt x="6000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837622" y="4664392"/>
              <a:ext cx="593408" cy="489585"/>
            </a:xfrm>
            <a:custGeom>
              <a:avLst/>
              <a:gdLst/>
              <a:ahLst/>
              <a:cxnLst/>
              <a:rect l="l" t="t" r="r" b="b"/>
              <a:pathLst>
                <a:path w="593408" h="489585">
                  <a:moveTo>
                    <a:pt x="593408" y="0"/>
                  </a:moveTo>
                  <a:lnTo>
                    <a:pt x="0" y="489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764280" y="511778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2862" y="0"/>
                  </a:lnTo>
                  <a:lnTo>
                    <a:pt x="103823" y="7334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44880" y="170307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917758" y="170307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200150" y="2976562"/>
              <a:ext cx="1238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71988" y="2976562"/>
              <a:ext cx="12382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3045" y="4153852"/>
              <a:ext cx="13335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21468" y="4153852"/>
              <a:ext cx="123825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40342" y="5214938"/>
              <a:ext cx="1428750" cy="510540"/>
            </a:xfrm>
            <a:prstGeom prst="roundRect">
              <a:avLst>
                <a:gd name="adj" fmla="val 1865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20343" y="178879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12448" y="17887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8547" y="3061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并行计算模型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0384" y="3061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并行求解模型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79067" y="423957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适合并行计算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98295" y="443007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模型的并行算法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30636" y="423957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问题的并行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11408" y="44300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求解算法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83218" y="530066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用并行语言进行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63990" y="549116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并行程序设计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92792" y="177069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317837" y="18054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映射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481138" y="240696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07134" y="24417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103495" y="2406968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129492" y="24417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693545" y="363283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712392" y="36676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精确描述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41532" y="363283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60379" y="36676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精确描述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649855" y="4847272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674899" y="48820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680835" y="1524000"/>
            <a:ext cx="4977765" cy="2863215"/>
            <a:chOff x="6680835" y="1524000"/>
            <a:chExt cx="4977765" cy="2863215"/>
          </a:xfrm>
        </p:grpSpPr>
        <p:sp>
          <p:nvSpPr>
            <p:cNvPr id="55" name="Rectangle 55"/>
            <p:cNvSpPr/>
            <p:nvPr/>
          </p:nvSpPr>
          <p:spPr>
            <a:xfrm>
              <a:off x="6680835" y="1524000"/>
              <a:ext cx="4977765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0360" y="1657350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29512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并行编程模型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20865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让并行计算问题能用并行程序表达出来，进而编译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和运行。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934200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92315" y="275082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评价看通用性：能表达多少种问题（适用问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题），能在多少种体系结构上高效运行（兼容平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934200" y="37204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92315" y="365760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实现形式：库函数（MPI、PVM）、语言扩展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（OpenMP），或全新的执行模型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680835" y="4577715"/>
            <a:ext cx="4977765" cy="1602105"/>
            <a:chOff x="6680835" y="4577715"/>
            <a:chExt cx="4977765" cy="1602105"/>
          </a:xfrm>
        </p:grpSpPr>
        <p:sp>
          <p:nvSpPr>
            <p:cNvPr id="66" name="Rectangle 66"/>
            <p:cNvSpPr/>
            <p:nvPr/>
          </p:nvSpPr>
          <p:spPr>
            <a:xfrm>
              <a:off x="6680835" y="457771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90360" y="47110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28485" y="4787265"/>
              <a:ext cx="165354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84935" y="4822984"/>
              <a:ext cx="1542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读图（原课件第36页）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20865" y="516445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左边从机器出发，看机器能做什么；右边从问题出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发，看问题需要什么。两边在算法这一层对上（虚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线箭头），再用并行语言写成程序。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四类并行编程模型：谁来指定并行，子作业有多少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ompare-1"/>
          <p:cNvGrpSpPr/>
          <p:nvPr/>
        </p:nvGrpSpPr>
        <p:grpSpPr>
          <a:xfrm>
            <a:off x="533400" y="1524000"/>
            <a:ext cx="11125200" cy="1240155"/>
            <a:chOff x="533400" y="1524000"/>
            <a:chExt cx="11125200" cy="1240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9698" cy="1240155"/>
            </a:xfrm>
            <a:prstGeom prst="roundRect">
              <a:avLst>
                <a:gd name="adj" fmla="val 107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8947" y="1738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库函数法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34378" y="21145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90397" y="205835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在串行语言的基础上引入支持并行操作的库函数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4378" y="241744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0397" y="2361248"/>
              <a:ext cx="1813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例：MPI、MapReduce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58902" y="1524000"/>
              <a:ext cx="5199698" cy="1240155"/>
            </a:xfrm>
            <a:prstGeom prst="roundRect">
              <a:avLst>
                <a:gd name="adj" fmla="val 107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44449" y="17383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编译制导法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659880" y="21145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15899" y="2058352"/>
              <a:ext cx="4572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源程序语言不变，加入编译制导（Pragmas）格式的注释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659880" y="241744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15899" y="2361248"/>
              <a:ext cx="1068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例：OpenMP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780722" y="1828800"/>
              <a:ext cx="630555" cy="63055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27192" y="20835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设计方法</a:t>
              </a:r>
            </a:p>
          </p:txBody>
        </p:sp>
      </p:grpSp>
      <p:grpSp>
        <p:nvGrpSpPr>
          <p:cNvPr id="53" name="c1-table-2"/>
          <p:cNvGrpSpPr/>
          <p:nvPr/>
        </p:nvGrpSpPr>
        <p:grpSpPr>
          <a:xfrm>
            <a:off x="533400" y="2939415"/>
            <a:ext cx="11125200" cy="2228850"/>
            <a:chOff x="533400" y="2939415"/>
            <a:chExt cx="11125200" cy="2228850"/>
          </a:xfrm>
        </p:grpSpPr>
        <p:sp>
          <p:nvSpPr>
            <p:cNvPr id="22" name="Rectangle 22"/>
            <p:cNvSpPr/>
            <p:nvPr/>
          </p:nvSpPr>
          <p:spPr>
            <a:xfrm>
              <a:off x="533400" y="2939415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858" y="30637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5201" y="30637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怎样并行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6172" y="306371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粒度与子作业数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9591" y="30637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3412" y="34694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隐式并行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79308" y="3469481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程序员不指定，编译器或运行时自动并行；简单、自动，但不可控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5648" y="34694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子作业数量不可控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33572" y="3469481"/>
              <a:ext cx="1841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Fortran 自动并行化、JVM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461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75094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38752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数据并行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79308" y="387524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同一操作施加到大批数据上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5648" y="387524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中小粒度、大规模；子作业数量大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33572" y="3875246"/>
              <a:ext cx="1290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SIMD、MapReduce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519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166235"/>
              <a:ext cx="1426845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43810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79308" y="4281011"/>
              <a:ext cx="4563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各节点上的进程互发消息（指令、数据、同步信号、中断信号），要显式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85648" y="438102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大粒度；子作业数量适中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33572" y="4381024"/>
              <a:ext cx="711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MPI、PVM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57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76250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412" y="48868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79308" y="488680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多处理器通过读写共享存储通信，单一地址空间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85648" y="48868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子作业数量相对少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33572" y="4886801"/>
              <a:ext cx="585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OpenMP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2939415"/>
              <a:ext cx="11125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974532" y="293941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80872" y="293941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428798" y="293941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4" name="Rectangle 5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3610"/>
              <a:ext cx="10394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消息传递模型不假设内存共享，所以能跑在集群上；OpenMP 依赖共享内存，通常只在一个节点内用。本节剩下的内容都讲 MPI。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71857" cy="909257"/>
            <a:chOff x="520446" y="342900"/>
            <a:chExt cx="72718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718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是一套消息传递接口标准，由各家分别实现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156460"/>
            <a:chOff x="533400" y="1524000"/>
            <a:chExt cx="5626418" cy="2156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4051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MPI（Message-Passing Interface）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92874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1993–1994 年由工业界、政府和学术界的研究者共同制定，是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第一个并行编程标准。可移植、高效、灵活，能运行在不同的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操作系统和硬件平台上。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30422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982754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标准只规定函数接口和语义，MPICH、Open MPI 等是具体实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865245"/>
            <a:ext cx="5626418" cy="2137410"/>
            <a:chOff x="533400" y="3865245"/>
            <a:chExt cx="5626418" cy="2137410"/>
          </a:xfrm>
        </p:grpSpPr>
        <p:sp>
          <p:nvSpPr>
            <p:cNvPr id="16" name="Rectangle 16"/>
            <p:cNvSpPr/>
            <p:nvPr/>
          </p:nvSpPr>
          <p:spPr>
            <a:xfrm>
              <a:off x="533400" y="3865245"/>
              <a:ext cx="5626418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98595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0690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41047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5024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4442936"/>
              <a:ext cx="46943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 MPI 支持 C、C++、Java、FORTRAN。标准只定义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C 和 Fortran 接口；C++ 接口在 MPI-2 加入，MPI-3 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删除；Java 接口只是 Open MPI 等实现提供的扩展。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536543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5305901"/>
              <a:ext cx="46852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“MPI 不包括进程管理、虚拟机配置和 I/O”说的是 MPI-1；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MPI-2 起已有动态进程和并行 I/O（见右表）。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464618" y="1524000"/>
            <a:ext cx="5193982" cy="3004185"/>
            <a:chOff x="6464618" y="1524000"/>
            <a:chExt cx="5193982" cy="3004185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2086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0765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1969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主要内容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9964" y="2298382"/>
              <a:ext cx="693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MPI-1.1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6786" y="22983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43544" y="2085022"/>
              <a:ext cx="28696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点对点通信、群集通信、通信域；最流行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的开源实现 MPICH 由 Argonne 国家实验室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和密西西比州立大学开发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80606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64618" y="2810828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9964" y="2942272"/>
              <a:ext cx="75628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MPI-1.2 ~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16786" y="304895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47722" y="2820352"/>
              <a:ext cx="3201352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43544" y="2942272"/>
              <a:ext cx="27401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动态进程、并行 I/O、远程存储访问，支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 F90 和 C++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34499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9964" y="3692842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16786" y="369284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43544" y="3586162"/>
              <a:ext cx="2816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邻居集合通信（Neighborhood collective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communication）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40928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409765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9964" y="4229100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MPI-4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16786" y="422910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43544" y="42291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持久化群集通信、分区通信等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1524000"/>
              <a:ext cx="5193982" cy="30041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706678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433435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464618" y="4713922"/>
            <a:ext cx="5193982" cy="1289685"/>
            <a:chOff x="6464618" y="4713922"/>
            <a:chExt cx="5193982" cy="1289685"/>
          </a:xfrm>
        </p:grpSpPr>
        <p:sp>
          <p:nvSpPr>
            <p:cNvPr id="51" name="Rectangle 51"/>
            <p:cNvSpPr/>
            <p:nvPr/>
          </p:nvSpPr>
          <p:spPr>
            <a:xfrm>
              <a:off x="6464618" y="4713922"/>
              <a:ext cx="5193982" cy="1289685"/>
            </a:xfrm>
            <a:prstGeom prst="roundRect">
              <a:avLst>
                <a:gd name="adj" fmla="val 886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5258753"/>
              <a:ext cx="200026" cy="200025"/>
              <a:chOff x="6669405" y="5258753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52587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09144" y="53032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43859" y="54143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729" y="4996339"/>
              <a:ext cx="421640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MPI-1 故意不管进程怎样启动、机器怎样配置，这些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留给 mpirun 和操作系统。这样 PVM 这类系统也能移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植到 MPI 之上，直接用厂商优化过的通信库。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9550" cy="909257"/>
            <a:chOff x="520446" y="342900"/>
            <a:chExt cx="66995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95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 MPI 程序：每个进程报出自己的编号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951220" cy="3319462"/>
            <a:chOff x="533400" y="1524000"/>
            <a:chExt cx="5951220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05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hello.c（原课件第46页，已改为标准写法）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2991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36054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117086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"mpi.h"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argc,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*argv[])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myid, numprocs, namelen;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processor_name[MPI_MAX_PROCESSOR_NAME];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MPI_Init(&amp;argc, &amp;argv);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MPI_Comm_rank(MPI_COMM_WORLD, &amp;myid);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MPI_Comm_size(MPI_COMM_WORLD, &amp;numprocs);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MPI_Get_processor_name(processor_name, &amp;namelen);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fprintf(stderr,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 World! Process %d of %d on %s\n"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myid, numprocs, processor_name);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MPI_Finalize();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5008245"/>
            <a:ext cx="5951220" cy="1143952"/>
            <a:chOff x="533400" y="5008245"/>
            <a:chExt cx="5951220" cy="1143952"/>
          </a:xfrm>
        </p:grpSpPr>
        <p:sp>
          <p:nvSpPr>
            <p:cNvPr id="13" name="Rectangle 13"/>
            <p:cNvSpPr/>
            <p:nvPr/>
          </p:nvSpPr>
          <p:spPr>
            <a:xfrm>
              <a:off x="533400" y="5008245"/>
              <a:ext cx="595122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14159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51892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147" y="52220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5529739"/>
              <a:ext cx="5076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K&amp;R 老式写法 void main(argc, argv)，标准 C 要求 int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main(int argc, char *argv[])，已改；另删去没有用到的 math.h。</a:t>
              </a:r>
            </a:p>
          </p:txBody>
        </p:sp>
      </p:grpSp>
      <p:grpSp>
        <p:nvGrpSpPr>
          <p:cNvPr id="33" name="c2-kv-1"/>
          <p:cNvGrpSpPr/>
          <p:nvPr/>
        </p:nvGrpSpPr>
        <p:grpSpPr>
          <a:xfrm>
            <a:off x="6782943" y="1545431"/>
            <a:ext cx="4875657" cy="1744789"/>
            <a:chOff x="6782943" y="1545431"/>
            <a:chExt cx="4875657" cy="1744789"/>
          </a:xfrm>
        </p:grpSpPr>
        <p:sp>
          <p:nvSpPr>
            <p:cNvPr id="19" name="TextBox 19"/>
            <p:cNvSpPr txBox="1"/>
            <p:nvPr/>
          </p:nvSpPr>
          <p:spPr>
            <a:xfrm>
              <a:off x="6782943" y="15454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07820" y="1545431"/>
              <a:ext cx="24812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mpi.h 提供 MPI 函数和数据类型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789420" y="181737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82943" y="19188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变量声明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07820" y="191881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进程号、进程总数、机器名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89420" y="21907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2943" y="2293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程序开始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07820" y="2293144"/>
              <a:ext cx="18409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MPI_Init 进入 MPI 环境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25650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2943" y="26674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程序体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07820" y="266747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取编号、进程数、机器名，然后打印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89420" y="293941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2943" y="30408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程序结束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07820" y="3040856"/>
              <a:ext cx="21755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MPI_Finalize 退出 MPI 环境</a:t>
              </a:r>
            </a:p>
          </p:txBody>
        </p:sp>
      </p:grpSp>
      <p:grpSp>
        <p:nvGrpSpPr>
          <p:cNvPr id="37" name="c2-code-2"/>
          <p:cNvGrpSpPr/>
          <p:nvPr/>
        </p:nvGrpSpPr>
        <p:grpSpPr>
          <a:xfrm>
            <a:off x="6789420" y="3405188"/>
            <a:ext cx="4869180" cy="1209675"/>
            <a:chOff x="6789420" y="3405188"/>
            <a:chExt cx="4869180" cy="1209675"/>
          </a:xfrm>
        </p:grpSpPr>
        <p:sp>
          <p:nvSpPr>
            <p:cNvPr id="34" name="Rectangle 34"/>
            <p:cNvSpPr/>
            <p:nvPr/>
          </p:nvSpPr>
          <p:spPr>
            <a:xfrm>
              <a:off x="6789420" y="3405188"/>
              <a:ext cx="486918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17817" y="3557111"/>
              <a:ext cx="1738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个进程在 4 台机器上的输出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17817" y="3818096"/>
              <a:ext cx="2337308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Process 0 of 4 on tp5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Process 1 of 4 on tp1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Process 2 of 4 on tp3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 World! Process 3 of 4 on tp4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6789420" y="4779645"/>
            <a:ext cx="4869180" cy="1372552"/>
            <a:chOff x="6789420" y="4779645"/>
            <a:chExt cx="4869180" cy="1372552"/>
          </a:xfrm>
        </p:grpSpPr>
        <p:sp>
          <p:nvSpPr>
            <p:cNvPr id="38" name="Rectangle 38"/>
            <p:cNvSpPr/>
            <p:nvPr/>
          </p:nvSpPr>
          <p:spPr>
            <a:xfrm>
              <a:off x="6789420" y="4779645"/>
              <a:ext cx="4869180" cy="1372552"/>
            </a:xfrm>
            <a:prstGeom prst="roundRect">
              <a:avLst>
                <a:gd name="adj" fmla="val 832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982149" y="5361741"/>
              <a:ext cx="224134" cy="192560"/>
              <a:chOff x="6982149" y="5361741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94220" y="54321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82149" y="53617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94220" y="55098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297293" y="5142071"/>
              <a:ext cx="39143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在 1 台机器上原课件跑出 0、1、3、2 的顺序。各进程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独立打印，先后取决于调度；本讲义用线程模拟实跑，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打出的是 3、2、1、0。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76085" cy="909257"/>
            <a:chOff x="520446" y="342900"/>
            <a:chExt cx="59760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760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个基本函数就能写出完整的 MPI 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3040380"/>
            <a:chOff x="533400" y="1524000"/>
            <a:chExt cx="11125200" cy="3040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7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7621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函数原型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47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3048" y="2054066"/>
              <a:ext cx="2795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MPI_Init(int *argc, char ***argv)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3938" y="2054066"/>
              <a:ext cx="2472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 MPI 环境，完成所有初始化工作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23048" y="2459831"/>
              <a:ext cx="1622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MPI_Finalize(void)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43938" y="2459831"/>
              <a:ext cx="1266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MPI 环境中退出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取编号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3048" y="2865596"/>
              <a:ext cx="356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MPI_Comm_rank(MPI_Comm comm, int *rank)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43938" y="28655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本进程在通信域中的编号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取进程数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23048" y="3271361"/>
              <a:ext cx="3490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MPI_Comm_size(MPI_Comm comm, int *size)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43938" y="32713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通信域中的进程个数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562350"/>
              <a:ext cx="8705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23048" y="3677126"/>
              <a:ext cx="7084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MPI_Send(void *buf, int count, MPI_Datatype datatype, int dest, int tag, MPI_Comm comm)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43938" y="3677126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把一条消息发给目标进程 dest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958590"/>
              <a:ext cx="11125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3968115"/>
              <a:ext cx="870585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1829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23048" y="4082891"/>
              <a:ext cx="62842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MPI_Recv(void *buf, int count, MPI_Datatype datatype, int source, int tag, MPI_Comm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comm, MPI_Status *status)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43938" y="4182904"/>
              <a:ext cx="1956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source 进程接收一条消息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30403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418272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539162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kv-2"/>
          <p:cNvGrpSpPr/>
          <p:nvPr/>
        </p:nvGrpSpPr>
        <p:grpSpPr>
          <a:xfrm>
            <a:off x="526542" y="4761548"/>
            <a:ext cx="11132058" cy="1457515"/>
            <a:chOff x="526542" y="4761548"/>
            <a:chExt cx="11132058" cy="1457515"/>
          </a:xfrm>
        </p:grpSpPr>
        <p:sp>
          <p:nvSpPr>
            <p:cNvPr id="43" name="TextBox 43"/>
            <p:cNvSpPr txBox="1"/>
            <p:nvPr/>
          </p:nvSpPr>
          <p:spPr>
            <a:xfrm>
              <a:off x="526542" y="4761548"/>
              <a:ext cx="2056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buf、count、datatype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82062" y="476154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消息内容：缓冲区起始地址、元素个数、元素类型（三元组）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0511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6542" y="5159692"/>
              <a:ext cx="1741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dest、source、tag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82062" y="5159692"/>
              <a:ext cx="4239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对方进程的编号；消息标签，收发双方的 tag 要对上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448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542" y="5557838"/>
              <a:ext cx="132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comm、status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782062" y="5557838"/>
              <a:ext cx="6094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通信域（MPI_COMM_WORLD 表示全部进程）；接收后返回实际来源和标签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8464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542" y="59550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82062" y="5955030"/>
              <a:ext cx="5547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原课件第55页把参数名拼成 dataytpe、datatyepe，应为 datatype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11466" cy="909257"/>
            <a:chOff x="520446" y="342900"/>
            <a:chExt cx="90114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11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Greetings 程序：其他进程发消息，0 号进程按编号依次收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492240" cy="4377690"/>
            <a:chOff x="533400" y="1524000"/>
            <a:chExt cx="6492240" cy="43776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377690"/>
            </a:xfrm>
            <a:prstGeom prst="roundRect">
              <a:avLst>
                <a:gd name="adj" fmla="val 21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0261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greetings.c（已补上 int 返回类型和 string.h）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913822"/>
              <a:ext cx="6454140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532948"/>
              <a:ext cx="6454140" cy="15430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575"/>
              <a:ext cx="3854069" cy="3870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&lt;stdio.h&gt;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&lt;string.h&gt;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"mpi.h"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argc,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**argv)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my_rank, p, source, dest, tag = 50;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message[100];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MPI_Status status;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MPI_Init(&amp;argc, &amp;argv);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MPI_Comm_rank(MPI_COMM_WORLD, &amp;my_rank);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MPI_Comm_size(MPI_COMM_WORLD, &amp;p);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(my_rank != 0)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sprintf(message,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"Greetings from process %d!"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my_rank);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dest = 0;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长度加 1，把结尾的 '\0' 也发过去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MPI_Send(message, strlen(message) + 1, MPI_CHAR,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dest, tag, MPI_COMM_WORLD);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(source = 1; source &lt; p; source++)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MPI_Recv(message, 100, MPI_CHAR, source, tag,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MPI_COMM_WORLD, &amp;status);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"%s\n"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message);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MPI_Finalize();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graph-1"/>
          <p:cNvGrpSpPr/>
          <p:nvPr/>
        </p:nvGrpSpPr>
        <p:grpSpPr>
          <a:xfrm>
            <a:off x="7645718" y="1488758"/>
            <a:ext cx="3697604" cy="1412176"/>
            <a:chOff x="7645718" y="1488758"/>
            <a:chExt cx="3697604" cy="1412176"/>
          </a:xfrm>
        </p:grpSpPr>
        <p:sp>
          <p:nvSpPr>
            <p:cNvPr id="13" name="Freeform 13"/>
            <p:cNvSpPr/>
            <p:nvPr/>
          </p:nvSpPr>
          <p:spPr>
            <a:xfrm>
              <a:off x="8494395" y="1773555"/>
              <a:ext cx="2094548" cy="343853"/>
            </a:xfrm>
            <a:custGeom>
              <a:avLst/>
              <a:gdLst/>
              <a:ahLst/>
              <a:cxnLst/>
              <a:rect l="l" t="t" r="r" b="b"/>
              <a:pathLst>
                <a:path w="2094548" h="343853">
                  <a:moveTo>
                    <a:pt x="2094548" y="0"/>
                  </a:moveTo>
                  <a:lnTo>
                    <a:pt x="0" y="34385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400098" y="2070735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0" y="61912"/>
                  </a:moveTo>
                  <a:lnTo>
                    <a:pt x="86678" y="0"/>
                  </a:lnTo>
                  <a:lnTo>
                    <a:pt x="101918" y="93345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495348" y="2194560"/>
              <a:ext cx="2093595" cy="9525"/>
            </a:xfrm>
            <a:custGeom>
              <a:avLst/>
              <a:gdLst/>
              <a:ahLst/>
              <a:cxnLst/>
              <a:rect l="l" t="t" r="r" b="b"/>
              <a:pathLst>
                <a:path w="2093595" h="9525">
                  <a:moveTo>
                    <a:pt x="209359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400098" y="21469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494395" y="2271712"/>
              <a:ext cx="2094548" cy="343853"/>
            </a:xfrm>
            <a:custGeom>
              <a:avLst/>
              <a:gdLst/>
              <a:ahLst/>
              <a:cxnLst/>
              <a:rect l="l" t="t" r="r" b="b"/>
              <a:pathLst>
                <a:path w="2094548" h="343853">
                  <a:moveTo>
                    <a:pt x="2094548" y="34385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400098" y="2225040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0" y="31433"/>
                  </a:moveTo>
                  <a:lnTo>
                    <a:pt x="101918" y="0"/>
                  </a:lnTo>
                  <a:lnTo>
                    <a:pt x="86678" y="93345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45718" y="1733550"/>
              <a:ext cx="754380" cy="922020"/>
            </a:xfrm>
            <a:prstGeom prst="roundRect">
              <a:avLst>
                <a:gd name="adj" fmla="val 1262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588942" y="1488758"/>
              <a:ext cx="75438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0588942" y="1971675"/>
              <a:ext cx="75438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588942" y="2453640"/>
              <a:ext cx="75438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13145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9217" y="2212658"/>
              <a:ext cx="507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Recv()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56370" y="156305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12442" y="1729740"/>
              <a:ext cx="507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56370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12442" y="2212658"/>
              <a:ext cx="507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6370" y="252888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12442" y="2695575"/>
              <a:ext cx="507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240202" y="1874520"/>
              <a:ext cx="50863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60702" y="1903571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次收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240202" y="2116455"/>
              <a:ext cx="50863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0702" y="2145506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次收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240202" y="2357438"/>
              <a:ext cx="50863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60702" y="2386489"/>
              <a:ext cx="4676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次收</a:t>
              </a:r>
            </a:p>
          </p:txBody>
        </p:sp>
      </p:grpSp>
      <p:grpSp>
        <p:nvGrpSpPr>
          <p:cNvPr id="41" name="c2-code-2"/>
          <p:cNvGrpSpPr/>
          <p:nvPr/>
        </p:nvGrpSpPr>
        <p:grpSpPr>
          <a:xfrm>
            <a:off x="7330440" y="3034665"/>
            <a:ext cx="4328160" cy="1033462"/>
            <a:chOff x="7330440" y="3034665"/>
            <a:chExt cx="4328160" cy="1033462"/>
          </a:xfrm>
        </p:grpSpPr>
        <p:sp>
          <p:nvSpPr>
            <p:cNvPr id="38" name="Rectangle 38"/>
            <p:cNvSpPr/>
            <p:nvPr/>
          </p:nvSpPr>
          <p:spPr>
            <a:xfrm>
              <a:off x="7330440" y="3034665"/>
              <a:ext cx="432816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58837" y="3186589"/>
              <a:ext cx="12853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mpirun -np 4 的输出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8837" y="3447574"/>
              <a:ext cx="1721231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Greetings from process 1!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Greetings from process 2!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Greetings from process 3!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7330440" y="4238625"/>
            <a:ext cx="4328160" cy="729615"/>
            <a:chOff x="7330440" y="4238625"/>
            <a:chExt cx="4328160" cy="729615"/>
          </a:xfrm>
        </p:grpSpPr>
        <p:sp>
          <p:nvSpPr>
            <p:cNvPr id="42" name="Rectangle 42"/>
            <p:cNvSpPr/>
            <p:nvPr/>
          </p:nvSpPr>
          <p:spPr>
            <a:xfrm>
              <a:off x="7330440" y="4238625"/>
              <a:ext cx="432816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535228" y="4503422"/>
              <a:ext cx="200023" cy="200023"/>
              <a:chOff x="7535228" y="4503422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535228" y="45034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668578" y="45700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837932" y="4384358"/>
              <a:ext cx="34770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Recv 指明了 source，0 号进程按 1、2、3 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顺序收，输出顺序固定，与谁先发无关。</a:t>
              </a:r>
            </a:p>
          </p:txBody>
        </p:sp>
      </p:grpSp>
      <p:grpSp>
        <p:nvGrpSpPr>
          <p:cNvPr id="53" name="c2-card-4"/>
          <p:cNvGrpSpPr/>
          <p:nvPr/>
        </p:nvGrpSpPr>
        <p:grpSpPr>
          <a:xfrm>
            <a:off x="7330440" y="5137785"/>
            <a:ext cx="4328160" cy="1185862"/>
            <a:chOff x="7330440" y="5137785"/>
            <a:chExt cx="4328160" cy="1185862"/>
          </a:xfrm>
        </p:grpSpPr>
        <p:sp>
          <p:nvSpPr>
            <p:cNvPr id="48" name="Rectangle 48"/>
            <p:cNvSpPr/>
            <p:nvPr/>
          </p:nvSpPr>
          <p:spPr>
            <a:xfrm>
              <a:off x="7330440" y="5137785"/>
              <a:ext cx="432816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39965" y="527113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55230" y="5324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47902" y="5357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48372" y="5669280"/>
              <a:ext cx="36827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main 前缺返回类型，也没包含 strlen 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在的 string.h。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点对点通信：阻塞与否，看返回时缓冲区能不能动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6161" y="1547336"/>
            <a:ext cx="4767834" cy="694945"/>
            <a:chOff x="526161" y="1547336"/>
            <a:chExt cx="4767834" cy="694945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点对点通信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12976" y="1547336"/>
              <a:ext cx="33024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发送端和接收端都是一个进程（task）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070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35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群集通信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2976" y="196357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发送端或接收端多于一个进程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2366962"/>
            <a:ext cx="4760595" cy="1568768"/>
            <a:chOff x="533400" y="2366962"/>
            <a:chExt cx="4760595" cy="1568768"/>
          </a:xfrm>
        </p:grpSpPr>
        <p:sp>
          <p:nvSpPr>
            <p:cNvPr id="13" name="Rectangle 13"/>
            <p:cNvSpPr/>
            <p:nvPr/>
          </p:nvSpPr>
          <p:spPr>
            <a:xfrm>
              <a:off x="533400" y="2366962"/>
              <a:ext cx="476059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500312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2565082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057" y="259937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阻塞通信返回的条件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9620" y="291274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965" y="29530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514" y="292560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通信操作已经完成：消息已发出或已收到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9620" y="323088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965" y="3271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514" y="3242786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缓冲区可用：发送缓冲可以被别的操作改写；接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收缓冲里的数据已经完整，可以引用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115752"/>
            <a:ext cx="4760595" cy="1981200"/>
            <a:chOff x="533400" y="4115752"/>
            <a:chExt cx="4760595" cy="1981200"/>
          </a:xfrm>
        </p:grpSpPr>
        <p:sp>
          <p:nvSpPr>
            <p:cNvPr id="24" name="Rectangle 24"/>
            <p:cNvSpPr/>
            <p:nvPr/>
          </p:nvSpPr>
          <p:spPr>
            <a:xfrm>
              <a:off x="533400" y="4115752"/>
              <a:ext cx="4760595" cy="1981200"/>
            </a:xfrm>
            <a:prstGeom prst="roundRect">
              <a:avLst>
                <a:gd name="adj" fmla="val 6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249102"/>
              <a:ext cx="47625" cy="17145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9620" y="431387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7059" y="43481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非阻塞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381" y="4674394"/>
              <a:ext cx="409917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调用立即返回，不代表通信完成。要用 MPI_Wait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（一直等到完成）或 MPI_Test（查一下完成没有）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检测，之后才能动缓冲区。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5593461" y="1524000"/>
            <a:ext cx="6065139" cy="3677221"/>
            <a:chOff x="5593461" y="1524000"/>
            <a:chExt cx="6065139" cy="3677221"/>
          </a:xfrm>
        </p:grpSpPr>
        <p:sp>
          <p:nvSpPr>
            <p:cNvPr id="30" name="Rectangle 30"/>
            <p:cNvSpPr/>
            <p:nvPr/>
          </p:nvSpPr>
          <p:spPr>
            <a:xfrm>
              <a:off x="5598795" y="1524000"/>
              <a:ext cx="605980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3636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948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阻塞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49806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非阻塞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45040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发送何时算完成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01284" y="2076450"/>
              <a:ext cx="1138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 Standard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34784" y="2076450"/>
              <a:ext cx="737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25397" y="2076450"/>
              <a:ext cx="784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MPI_Isend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76969" y="2076450"/>
              <a:ext cx="2003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MPI 决定是否先缓存消息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8795" y="2372678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1284" y="2501265"/>
              <a:ext cx="98031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Synchronous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34784" y="2607945"/>
              <a:ext cx="82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MPI_Ssend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25397" y="2607945"/>
              <a:ext cx="873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MPI_Issend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76969" y="260794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接收方已经开始接收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3006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1284" y="3139440"/>
              <a:ext cx="1138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 Buffered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34784" y="3139440"/>
              <a:ext cx="82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MPI_Bsend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25397" y="3139440"/>
              <a:ext cx="873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MPI_Ibsend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76969" y="313944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消息已拷进用户提供的缓冲区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4299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343471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1284" y="3669982"/>
              <a:ext cx="858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就绪 Ready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4784" y="3669982"/>
              <a:ext cx="82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MPI_Rsend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25397" y="3669982"/>
              <a:ext cx="873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MPI_Irsend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76969" y="3563302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要求接收方已先发起接收，否则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40681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01284" y="4201478"/>
              <a:ext cx="1002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 Receive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34784" y="4201478"/>
              <a:ext cx="737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MPI_Recv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25397" y="4201478"/>
              <a:ext cx="7846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MPI_Irecv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76969" y="42014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44929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598795" y="449770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01284" y="46253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完成检测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34784" y="4625340"/>
              <a:ext cx="729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MPI_Wait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25397" y="4625340"/>
              <a:ext cx="737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MPI_Test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76969" y="46253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98795" y="1524000"/>
              <a:ext cx="6059805" cy="33975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27532" y="1524000"/>
              <a:ext cx="9525" cy="3397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018145" y="1524000"/>
              <a:ext cx="9525" cy="3397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169718" y="1524000"/>
              <a:ext cx="9525" cy="3397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93461" y="4995862"/>
              <a:ext cx="5763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四种模式 × 阻塞/非阻塞 = 8 种发送操作；接收只有阻塞、非阻塞两种。最后一列是补充说明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5598795" y="5340668"/>
            <a:ext cx="6059805" cy="756285"/>
            <a:chOff x="5598795" y="5340668"/>
            <a:chExt cx="6059805" cy="756285"/>
          </a:xfrm>
        </p:grpSpPr>
        <p:sp>
          <p:nvSpPr>
            <p:cNvPr id="73" name="Rectangle 73"/>
            <p:cNvSpPr/>
            <p:nvPr/>
          </p:nvSpPr>
          <p:spPr>
            <a:xfrm>
              <a:off x="5598795" y="5340668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5803583" y="5618798"/>
              <a:ext cx="200026" cy="200026"/>
              <a:chOff x="5803583" y="5618798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5803583" y="56187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903595" y="5685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892483" y="57188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105906" y="5487829"/>
              <a:ext cx="50639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通信模式指缓冲怎样管理，以及发送方和接收方之间怎样同步。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模式和阻塞属性组合起来，就有了很丰富的点对点通信函数。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非阻塞通信让计算和通信重叠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666750" y="1764982"/>
            <a:ext cx="5143500" cy="412433"/>
            <a:chOff x="666750" y="1764982"/>
            <a:chExt cx="5143500" cy="412433"/>
          </a:xfrm>
        </p:grpSpPr>
        <p:sp>
          <p:nvSpPr>
            <p:cNvPr id="7" name="Freeform 7"/>
            <p:cNvSpPr/>
            <p:nvPr/>
          </p:nvSpPr>
          <p:spPr>
            <a:xfrm>
              <a:off x="2203132" y="19716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65058" y="19192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007168" y="197167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9092" y="19192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1765935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469832" y="1765935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73868" y="1765935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9411" y="1887855"/>
              <a:ext cx="712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P(W)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82494" y="1887855"/>
              <a:ext cx="712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Q(X)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02645" y="1887855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R(Y)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54568" y="1764982"/>
              <a:ext cx="163830" cy="179070"/>
            </a:xfrm>
            <a:prstGeom prst="roundRect">
              <a:avLst>
                <a:gd name="adj" fmla="val 232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93196" y="1790224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8602" y="1764982"/>
              <a:ext cx="163830" cy="179070"/>
            </a:xfrm>
            <a:prstGeom prst="roundRect">
              <a:avLst>
                <a:gd name="adj" fmla="val 2325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97231" y="1790224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</p:grpSp>
      <p:grpSp>
        <p:nvGrpSpPr>
          <p:cNvPr id="25" name="c1-code-2"/>
          <p:cNvGrpSpPr/>
          <p:nvPr/>
        </p:nvGrpSpPr>
        <p:grpSpPr>
          <a:xfrm>
            <a:off x="533400" y="2599372"/>
            <a:ext cx="5410200" cy="1450658"/>
            <a:chOff x="533400" y="2599372"/>
            <a:chExt cx="5410200" cy="1450658"/>
          </a:xfrm>
        </p:grpSpPr>
        <p:sp>
          <p:nvSpPr>
            <p:cNvPr id="22" name="Rectangle 22"/>
            <p:cNvSpPr/>
            <p:nvPr/>
          </p:nvSpPr>
          <p:spPr>
            <a:xfrm>
              <a:off x="533400" y="2599372"/>
              <a:ext cx="541020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275129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阻塞版本：收、算、发依次进行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416" y="3012758"/>
              <a:ext cx="1550861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(Not_Done)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MPI_Recv(X, ...);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 = Q(X);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MPI_Send(Y, ...);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1-code-3"/>
          <p:cNvGrpSpPr/>
          <p:nvPr/>
        </p:nvGrpSpPr>
        <p:grpSpPr>
          <a:xfrm>
            <a:off x="533400" y="4231005"/>
            <a:ext cx="5410200" cy="1640205"/>
            <a:chOff x="533400" y="4231005"/>
            <a:chExt cx="5410200" cy="1640205"/>
          </a:xfrm>
        </p:grpSpPr>
        <p:sp>
          <p:nvSpPr>
            <p:cNvPr id="26" name="Rectangle 26"/>
            <p:cNvSpPr/>
            <p:nvPr/>
          </p:nvSpPr>
          <p:spPr>
            <a:xfrm>
              <a:off x="533400" y="4231005"/>
              <a:ext cx="541020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1797" y="438292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非阻塞版本：收下一个、发上一个、算当前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416" y="4644390"/>
              <a:ext cx="3324416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(Not_Done)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MPI_Irecv(NextX, ...);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MPI_Isend(PreviousY, ...);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CurrentY = Q(CurrentX);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MPI_Wait(...);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收发都完成后再换缓冲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6248400" y="1533525"/>
            <a:ext cx="5202936" cy="2840736"/>
            <a:chOff x="6248400" y="1533525"/>
            <a:chExt cx="5202936" cy="2840736"/>
          </a:xfrm>
        </p:grpSpPr>
        <p:sp>
          <p:nvSpPr>
            <p:cNvPr id="30" name="Rectangle 30"/>
            <p:cNvSpPr/>
            <p:nvPr/>
          </p:nvSpPr>
          <p:spPr>
            <a:xfrm>
              <a:off x="6381750" y="1676400"/>
              <a:ext cx="19050" cy="22926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8400" y="23717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29879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2024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48400" y="38261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2024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404" y="1846898"/>
              <a:ext cx="47899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三进程流水线的中间进程：收 2 ms、算 3 ms、发 2 ms，网络收发可同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时进行，共处理 100 个数据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0261" y="24045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阻塞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404" y="2685098"/>
              <a:ext cx="2774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每个数据 2 + 3 + 2 = 7 ms，共 700 ms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0261" y="302085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1404" y="3301365"/>
              <a:ext cx="4751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本轮计算与下一个 X 的接收、上一个 Y 的发送同时进行，每轮 max(3,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2) = 3 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0261" y="38590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1404" y="413956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首个接收 2 + 100 × 3 + 最后一次发送 2 = 304 ms，快约 2.3 倍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4545330"/>
            <a:ext cx="5410200" cy="1793558"/>
            <a:chOff x="6248400" y="4545330"/>
            <a:chExt cx="5410200" cy="1793558"/>
          </a:xfrm>
        </p:grpSpPr>
        <p:sp>
          <p:nvSpPr>
            <p:cNvPr id="48" name="Rectangle 48"/>
            <p:cNvSpPr/>
            <p:nvPr/>
          </p:nvSpPr>
          <p:spPr>
            <a:xfrm>
              <a:off x="6248400" y="4545330"/>
              <a:ext cx="5410200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467868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84620" y="47434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6060" y="4777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7381" y="5103971"/>
              <a:ext cx="4748403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MPI_Recv、MPI_Irecv 拼成 MPI_Revc、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MPI_Irevc。非阻塞版本的循环里还缺 MPI_Wait：不等收发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完成就进入下一轮，NextX 可能还没收完，PreviousY 可能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还没发完就被改写。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23380" cy="909257"/>
            <a:chOff x="520446" y="342900"/>
            <a:chExt cx="66233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233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双缓冲：收下一个 X 的同时，计算当前的 X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667542" y="1758315"/>
            <a:ext cx="5741990" cy="1722501"/>
            <a:chOff x="667542" y="1758315"/>
            <a:chExt cx="5741990" cy="1722501"/>
          </a:xfrm>
        </p:grpSpPr>
        <p:sp>
          <p:nvSpPr>
            <p:cNvPr id="7" name="Freeform 7"/>
            <p:cNvSpPr/>
            <p:nvPr/>
          </p:nvSpPr>
          <p:spPr>
            <a:xfrm>
              <a:off x="1009650" y="2125028"/>
              <a:ext cx="702945" cy="394335"/>
            </a:xfrm>
            <a:custGeom>
              <a:avLst/>
              <a:gdLst/>
              <a:ahLst/>
              <a:cxnLst/>
              <a:rect l="l" t="t" r="r" b="b"/>
              <a:pathLst>
                <a:path w="702945" h="394335">
                  <a:moveTo>
                    <a:pt x="0" y="394335"/>
                  </a:moveTo>
                  <a:lnTo>
                    <a:pt x="7029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88782" y="207835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0"/>
                  </a:moveTo>
                  <a:lnTo>
                    <a:pt x="46672" y="88583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09650" y="2719388"/>
              <a:ext cx="702945" cy="394335"/>
            </a:xfrm>
            <a:custGeom>
              <a:avLst/>
              <a:gdLst/>
              <a:ahLst/>
              <a:cxnLst/>
              <a:rect l="l" t="t" r="r" b="b"/>
              <a:pathLst>
                <a:path w="702945" h="394335">
                  <a:moveTo>
                    <a:pt x="0" y="0"/>
                  </a:moveTo>
                  <a:lnTo>
                    <a:pt x="702945" y="39433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688782" y="307181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3820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33638" y="2078355"/>
              <a:ext cx="754380" cy="341948"/>
            </a:xfrm>
            <a:custGeom>
              <a:avLst/>
              <a:gdLst/>
              <a:ahLst/>
              <a:cxnLst/>
              <a:rect l="l" t="t" r="r" b="b"/>
              <a:pathLst>
                <a:path w="754380" h="341948">
                  <a:moveTo>
                    <a:pt x="0" y="0"/>
                  </a:moveTo>
                  <a:lnTo>
                    <a:pt x="754380" y="34194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168015" y="2376488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2867"/>
                  </a:moveTo>
                  <a:lnTo>
                    <a:pt x="0" y="86678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33638" y="2818448"/>
              <a:ext cx="754380" cy="341948"/>
            </a:xfrm>
            <a:custGeom>
              <a:avLst/>
              <a:gdLst/>
              <a:ahLst/>
              <a:cxnLst/>
              <a:rect l="l" t="t" r="r" b="b"/>
              <a:pathLst>
                <a:path w="754380" h="341948">
                  <a:moveTo>
                    <a:pt x="0" y="341948"/>
                  </a:moveTo>
                  <a:lnTo>
                    <a:pt x="7543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68015" y="2775585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3810"/>
                  </a:moveTo>
                  <a:lnTo>
                    <a:pt x="40005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68115" y="2119312"/>
              <a:ext cx="721995" cy="340042"/>
            </a:xfrm>
            <a:custGeom>
              <a:avLst/>
              <a:gdLst/>
              <a:ahLst/>
              <a:cxnLst/>
              <a:rect l="l" t="t" r="r" b="b"/>
              <a:pathLst>
                <a:path w="721995" h="340042">
                  <a:moveTo>
                    <a:pt x="0" y="340042"/>
                  </a:moveTo>
                  <a:lnTo>
                    <a:pt x="7219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670108" y="2075498"/>
              <a:ext cx="105727" cy="86677"/>
            </a:xfrm>
            <a:custGeom>
              <a:avLst/>
              <a:gdLst/>
              <a:ahLst/>
              <a:cxnLst/>
              <a:rect l="l" t="t" r="r" b="b"/>
              <a:pathLst>
                <a:path w="105727" h="86677">
                  <a:moveTo>
                    <a:pt x="105727" y="2857"/>
                  </a:moveTo>
                  <a:lnTo>
                    <a:pt x="40005" y="86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968115" y="2779395"/>
              <a:ext cx="721995" cy="340042"/>
            </a:xfrm>
            <a:custGeom>
              <a:avLst/>
              <a:gdLst/>
              <a:ahLst/>
              <a:cxnLst/>
              <a:rect l="l" t="t" r="r" b="b"/>
              <a:pathLst>
                <a:path w="721995" h="340042">
                  <a:moveTo>
                    <a:pt x="0" y="0"/>
                  </a:moveTo>
                  <a:lnTo>
                    <a:pt x="721995" y="3400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70108" y="3076575"/>
              <a:ext cx="105727" cy="86678"/>
            </a:xfrm>
            <a:custGeom>
              <a:avLst/>
              <a:gdLst/>
              <a:ahLst/>
              <a:cxnLst/>
              <a:rect l="l" t="t" r="r" b="b"/>
              <a:pathLst>
                <a:path w="105727" h="86678">
                  <a:moveTo>
                    <a:pt x="105727" y="83820"/>
                  </a:moveTo>
                  <a:lnTo>
                    <a:pt x="0" y="86678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374005" y="2078355"/>
              <a:ext cx="612457" cy="380048"/>
            </a:xfrm>
            <a:custGeom>
              <a:avLst/>
              <a:gdLst/>
              <a:ahLst/>
              <a:cxnLst/>
              <a:rect l="l" t="t" r="r" b="b"/>
              <a:pathLst>
                <a:path w="612457" h="380048">
                  <a:moveTo>
                    <a:pt x="0" y="0"/>
                  </a:moveTo>
                  <a:lnTo>
                    <a:pt x="612457" y="3800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961698" y="241744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374005" y="2780348"/>
              <a:ext cx="612457" cy="380048"/>
            </a:xfrm>
            <a:custGeom>
              <a:avLst/>
              <a:gdLst/>
              <a:ahLst/>
              <a:cxnLst/>
              <a:rect l="l" t="t" r="r" b="b"/>
              <a:pathLst>
                <a:path w="612457" h="380048">
                  <a:moveTo>
                    <a:pt x="0" y="380048"/>
                  </a:moveTo>
                  <a:lnTo>
                    <a:pt x="6124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5961698" y="273081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0"/>
                  </a:moveTo>
                  <a:lnTo>
                    <a:pt x="49530" y="90488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604010" y="1758315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04010" y="3160395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04198" y="2459355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39628" y="1758315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39628" y="3160395"/>
              <a:ext cx="9525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7542" y="2545080"/>
              <a:ext cx="32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 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11831" y="1844040"/>
              <a:ext cx="53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11831" y="3246120"/>
              <a:ext cx="53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54571" y="2545080"/>
              <a:ext cx="747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= Q(X)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47449" y="1844040"/>
              <a:ext cx="53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Ybuf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47449" y="3246120"/>
              <a:ext cx="53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Ybuf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83457" y="2545080"/>
              <a:ext cx="32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Y</a:t>
              </a:r>
            </a:p>
          </p:txBody>
        </p:sp>
      </p:grpSp>
      <p:grpSp>
        <p:nvGrpSpPr>
          <p:cNvPr id="37" name="c1-text-2"/>
          <p:cNvGrpSpPr/>
          <p:nvPr/>
        </p:nvGrpSpPr>
        <p:grpSpPr>
          <a:xfrm>
            <a:off x="526923" y="3926681"/>
            <a:ext cx="5621274" cy="500824"/>
            <a:chOff x="526923" y="3926681"/>
            <a:chExt cx="5621274" cy="500824"/>
          </a:xfrm>
        </p:grpSpPr>
        <p:sp>
          <p:nvSpPr>
            <p:cNvPr id="36" name="TextBox 36"/>
            <p:cNvSpPr txBox="1"/>
            <p:nvPr/>
          </p:nvSpPr>
          <p:spPr>
            <a:xfrm>
              <a:off x="526923" y="3926681"/>
              <a:ext cx="562127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实线是这一轮：新的 X 收进 Xbuf 0，用 Xbuf 1 算出 Ybuf 1，同时把上一轮的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Ybuf 0 发走。下一轮实线和虚线互换。据原课件第65页重画。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4567238"/>
            <a:ext cx="5951220" cy="1602105"/>
            <a:chOff x="533400" y="4567238"/>
            <a:chExt cx="5951220" cy="1602105"/>
          </a:xfrm>
        </p:grpSpPr>
        <p:sp>
          <p:nvSpPr>
            <p:cNvPr id="38" name="Rectangle 38"/>
            <p:cNvSpPr/>
            <p:nvPr/>
          </p:nvSpPr>
          <p:spPr>
            <a:xfrm>
              <a:off x="533400" y="4567238"/>
              <a:ext cx="595122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70058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477678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7308" y="48125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要保证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430" y="5153978"/>
              <a:ext cx="5292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缓冲里的数据在被下一次接收覆盖之前已经算完；Y 缓冲里的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结果在被下一次计算覆盖之前已经发完。所以每轮末尾要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MPI_Wait。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6783705" y="1524000"/>
            <a:ext cx="4874895" cy="2539842"/>
            <a:chOff x="6783705" y="1524000"/>
            <a:chExt cx="4874895" cy="2539842"/>
          </a:xfrm>
        </p:grpSpPr>
        <p:sp>
          <p:nvSpPr>
            <p:cNvPr id="44" name="Rectangle 44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335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6801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接收写入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3289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597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5609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46149" y="2108359"/>
              <a:ext cx="545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71737" y="2108359"/>
              <a:ext cx="1279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0 → Ybuf 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8467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5609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46149" y="2556986"/>
              <a:ext cx="545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1737" y="2556986"/>
              <a:ext cx="1279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1 → Ybuf 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65561" y="2556986"/>
              <a:ext cx="545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Ybuf 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5609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46149" y="3005614"/>
              <a:ext cx="545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71737" y="3005614"/>
              <a:ext cx="1279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0 → Ybuf 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65561" y="3005614"/>
              <a:ext cx="545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Ybuf 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78942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78942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5609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46149" y="3454241"/>
              <a:ext cx="545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71737" y="3454241"/>
              <a:ext cx="1279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Xbuf 1 → Ybuf 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65561" y="3454241"/>
              <a:ext cx="545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Ybuf 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789420" y="1524000"/>
              <a:ext cx="486918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952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9919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61370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783705" y="3843814"/>
              <a:ext cx="4576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i 轮算 Xbuf[i mod 2]，收进另一个 X 缓冲，发出上一轮的 Y 缓冲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789420" y="4210050"/>
            <a:ext cx="4869180" cy="1959292"/>
            <a:chOff x="6789420" y="4210050"/>
            <a:chExt cx="4869180" cy="1959292"/>
          </a:xfrm>
        </p:grpSpPr>
        <p:sp>
          <p:nvSpPr>
            <p:cNvPr id="76" name="Rectangle 76"/>
            <p:cNvSpPr/>
            <p:nvPr/>
          </p:nvSpPr>
          <p:spPr>
            <a:xfrm>
              <a:off x="6789420" y="4210050"/>
              <a:ext cx="4869180" cy="1959292"/>
            </a:xfrm>
            <a:prstGeom prst="roundRect">
              <a:avLst>
                <a:gd name="adj" fmla="val 68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798945" y="4343400"/>
              <a:ext cx="47625" cy="16925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037070" y="44196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110527" y="44553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为什么要两套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29450" y="4796790"/>
              <a:ext cx="42348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 X 缓冲时，接收新数据会覆盖正在计算的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数据，只能先算完再收，计算和通信又变回串行。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X 和 Y 各准备两个缓冲，收、算、发才能各用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各的。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群集通信：通信域里的所有进程都参加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93495"/>
            <a:chOff x="533400" y="1524000"/>
            <a:chExt cx="4977765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7125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群集通信（Collective Communications）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一个进程组中所有进程都参加的全局通信操作。组里每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个进程都要调用同一个群集函数。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33400" y="3002280"/>
            <a:ext cx="4977765" cy="2360295"/>
            <a:chOff x="533400" y="3002280"/>
            <a:chExt cx="4977765" cy="2360295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497776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3905" y="31337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26183" y="31337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97692" y="31337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746" y="36709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35037" y="36709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组内数据的传输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24846" y="3564255"/>
              <a:ext cx="1239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Bcast、Gather、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Scatter 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0719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076700"/>
              <a:ext cx="497776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3138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35037" y="420719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在通信的基础上对数据做运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24846" y="4313872"/>
              <a:ext cx="12829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Reduce、Scan 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14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495776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35037" y="485108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组内所有进程在执行进度上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取得一致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24846" y="4957762"/>
              <a:ext cx="598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Barrier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002280"/>
              <a:ext cx="4977765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324928" y="300228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614738" y="300228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graph-1"/>
          <p:cNvGrpSpPr/>
          <p:nvPr/>
        </p:nvGrpSpPr>
        <p:grpSpPr>
          <a:xfrm>
            <a:off x="6012180" y="1584960"/>
            <a:ext cx="5391150" cy="1793082"/>
            <a:chOff x="6012180" y="1584960"/>
            <a:chExt cx="5391150" cy="1793082"/>
          </a:xfrm>
        </p:grpSpPr>
        <p:sp>
          <p:nvSpPr>
            <p:cNvPr id="34" name="Freeform 34"/>
            <p:cNvSpPr/>
            <p:nvPr/>
          </p:nvSpPr>
          <p:spPr>
            <a:xfrm>
              <a:off x="6216015" y="2092642"/>
              <a:ext cx="381953" cy="593408"/>
            </a:xfrm>
            <a:custGeom>
              <a:avLst/>
              <a:gdLst/>
              <a:ahLst/>
              <a:cxnLst/>
              <a:rect l="l" t="t" r="r" b="b"/>
              <a:pathLst>
                <a:path w="381953" h="593408">
                  <a:moveTo>
                    <a:pt x="381953" y="0"/>
                  </a:moveTo>
                  <a:lnTo>
                    <a:pt x="0" y="5934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164580" y="2660332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0" y="105727"/>
                  </a:moveTo>
                  <a:lnTo>
                    <a:pt x="11430" y="0"/>
                  </a:lnTo>
                  <a:lnTo>
                    <a:pt x="91440" y="514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750368" y="2137410"/>
              <a:ext cx="9525" cy="517207"/>
            </a:xfrm>
            <a:custGeom>
              <a:avLst/>
              <a:gdLst/>
              <a:ahLst/>
              <a:cxnLst/>
              <a:rect l="l" t="t" r="r" b="b"/>
              <a:pathLst>
                <a:path w="9525" h="517207">
                  <a:moveTo>
                    <a:pt x="0" y="0"/>
                  </a:moveTo>
                  <a:lnTo>
                    <a:pt x="0" y="5172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702742" y="26546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902768" y="2092642"/>
              <a:ext cx="381952" cy="593408"/>
            </a:xfrm>
            <a:custGeom>
              <a:avLst/>
              <a:gdLst/>
              <a:ahLst/>
              <a:cxnLst/>
              <a:rect l="l" t="t" r="r" b="b"/>
              <a:pathLst>
                <a:path w="381952" h="593408">
                  <a:moveTo>
                    <a:pt x="0" y="0"/>
                  </a:moveTo>
                  <a:lnTo>
                    <a:pt x="381952" y="5934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244715" y="2660332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91440" y="105727"/>
                  </a:moveTo>
                  <a:lnTo>
                    <a:pt x="0" y="51435"/>
                  </a:lnTo>
                  <a:lnTo>
                    <a:pt x="8001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151495" y="1945005"/>
              <a:ext cx="381953" cy="593408"/>
            </a:xfrm>
            <a:custGeom>
              <a:avLst/>
              <a:gdLst/>
              <a:ahLst/>
              <a:cxnLst/>
              <a:rect l="l" t="t" r="r" b="b"/>
              <a:pathLst>
                <a:path w="381953" h="593408">
                  <a:moveTo>
                    <a:pt x="0" y="0"/>
                  </a:moveTo>
                  <a:lnTo>
                    <a:pt x="381953" y="5934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93442" y="2512695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91440" y="105727"/>
                  </a:moveTo>
                  <a:lnTo>
                    <a:pt x="0" y="51435"/>
                  </a:lnTo>
                  <a:lnTo>
                    <a:pt x="8001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737282" y="1961198"/>
              <a:ext cx="9525" cy="517207"/>
            </a:xfrm>
            <a:custGeom>
              <a:avLst/>
              <a:gdLst/>
              <a:ahLst/>
              <a:cxnLst/>
              <a:rect l="l" t="t" r="r" b="b"/>
              <a:pathLst>
                <a:path w="9525" h="517207">
                  <a:moveTo>
                    <a:pt x="0" y="0"/>
                  </a:moveTo>
                  <a:lnTo>
                    <a:pt x="0" y="5172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689658" y="2478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941118" y="1945005"/>
              <a:ext cx="381952" cy="593408"/>
            </a:xfrm>
            <a:custGeom>
              <a:avLst/>
              <a:gdLst/>
              <a:ahLst/>
              <a:cxnLst/>
              <a:rect l="l" t="t" r="r" b="b"/>
              <a:pathLst>
                <a:path w="381952" h="593408">
                  <a:moveTo>
                    <a:pt x="381952" y="0"/>
                  </a:moveTo>
                  <a:lnTo>
                    <a:pt x="0" y="5934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888730" y="2512695"/>
              <a:ext cx="92392" cy="105727"/>
            </a:xfrm>
            <a:custGeom>
              <a:avLst/>
              <a:gdLst/>
              <a:ahLst/>
              <a:cxnLst/>
              <a:rect l="l" t="t" r="r" b="b"/>
              <a:pathLst>
                <a:path w="92392" h="105727">
                  <a:moveTo>
                    <a:pt x="0" y="105727"/>
                  </a:moveTo>
                  <a:lnTo>
                    <a:pt x="12382" y="0"/>
                  </a:lnTo>
                  <a:lnTo>
                    <a:pt x="92392" y="514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456545" y="1856422"/>
              <a:ext cx="651510" cy="9525"/>
            </a:xfrm>
            <a:custGeom>
              <a:avLst/>
              <a:gdLst/>
              <a:ahLst/>
              <a:cxnLst/>
              <a:rect l="l" t="t" r="r" b="b"/>
              <a:pathLst>
                <a:path w="651510" h="9525">
                  <a:moveTo>
                    <a:pt x="0" y="0"/>
                  </a:moveTo>
                  <a:lnTo>
                    <a:pt x="6515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1108055" y="1808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61295" y="1808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256520" y="2056448"/>
              <a:ext cx="9525" cy="598170"/>
            </a:xfrm>
            <a:custGeom>
              <a:avLst/>
              <a:gdLst/>
              <a:ahLst/>
              <a:cxnLst/>
              <a:rect l="l" t="t" r="r" b="b"/>
              <a:pathLst>
                <a:path w="9525" h="598170">
                  <a:moveTo>
                    <a:pt x="0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208895" y="26546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208895" y="19611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401300" y="1994535"/>
              <a:ext cx="762000" cy="721995"/>
            </a:xfrm>
            <a:custGeom>
              <a:avLst/>
              <a:gdLst/>
              <a:ahLst/>
              <a:cxnLst/>
              <a:rect l="l" t="t" r="r" b="b"/>
              <a:pathLst>
                <a:path w="762000" h="721995">
                  <a:moveTo>
                    <a:pt x="0" y="0"/>
                  </a:moveTo>
                  <a:lnTo>
                    <a:pt x="762000" y="7219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1129962" y="2682240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100012"/>
                  </a:moveTo>
                  <a:lnTo>
                    <a:pt x="0" y="69532"/>
                  </a:lnTo>
                  <a:lnTo>
                    <a:pt x="6572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332720" y="1928812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0" y="0"/>
                  </a:moveTo>
                  <a:lnTo>
                    <a:pt x="101918" y="30480"/>
                  </a:lnTo>
                  <a:lnTo>
                    <a:pt x="36195" y="1000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10401300" y="1994535"/>
              <a:ext cx="762000" cy="721995"/>
            </a:xfrm>
            <a:custGeom>
              <a:avLst/>
              <a:gdLst/>
              <a:ahLst/>
              <a:cxnLst/>
              <a:rect l="l" t="t" r="r" b="b"/>
              <a:pathLst>
                <a:path w="762000" h="721995">
                  <a:moveTo>
                    <a:pt x="762000" y="0"/>
                  </a:moveTo>
                  <a:lnTo>
                    <a:pt x="0" y="7219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332720" y="2682240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0" y="100012"/>
                  </a:moveTo>
                  <a:lnTo>
                    <a:pt x="36195" y="0"/>
                  </a:lnTo>
                  <a:lnTo>
                    <a:pt x="101918" y="6953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1129962" y="1928812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0"/>
                  </a:moveTo>
                  <a:lnTo>
                    <a:pt x="65723" y="100012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1308080" y="2056448"/>
              <a:ext cx="9525" cy="598170"/>
            </a:xfrm>
            <a:custGeom>
              <a:avLst/>
              <a:gdLst/>
              <a:ahLst/>
              <a:cxnLst/>
              <a:rect l="l" t="t" r="r" b="b"/>
              <a:pathLst>
                <a:path w="9525" h="598170">
                  <a:moveTo>
                    <a:pt x="0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1260455" y="26546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11260455" y="19611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456545" y="2854642"/>
              <a:ext cx="651510" cy="9525"/>
            </a:xfrm>
            <a:custGeom>
              <a:avLst/>
              <a:gdLst/>
              <a:ahLst/>
              <a:cxnLst/>
              <a:rect l="l" t="t" r="r" b="b"/>
              <a:pathLst>
                <a:path w="651510" h="9525">
                  <a:moveTo>
                    <a:pt x="0" y="0"/>
                  </a:moveTo>
                  <a:lnTo>
                    <a:pt x="6515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1108055" y="28070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361295" y="28070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6478905" y="1584960"/>
              <a:ext cx="542925" cy="54292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012180" y="275939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655118" y="275939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7298055" y="275939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7999095" y="176117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8642032" y="176117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9284970" y="176117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465820" y="2583180"/>
              <a:ext cx="542925" cy="54292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10161270" y="176117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1212830" y="176117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0161270" y="275939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11212830" y="275939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55048" y="1782128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41963" y="2779395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18491" y="31580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05406" y="31580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多对一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50423" y="31580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</p:grpSp>
      <p:grpSp>
        <p:nvGrpSpPr>
          <p:cNvPr id="90" name="c2-kv-2"/>
          <p:cNvGrpSpPr/>
          <p:nvPr/>
        </p:nvGrpSpPr>
        <p:grpSpPr>
          <a:xfrm>
            <a:off x="5808726" y="3580924"/>
            <a:ext cx="5849874" cy="1389317"/>
            <a:chOff x="5808726" y="3580924"/>
            <a:chExt cx="5849874" cy="1389317"/>
          </a:xfrm>
        </p:grpSpPr>
        <p:sp>
          <p:nvSpPr>
            <p:cNvPr id="82" name="TextBox 82"/>
            <p:cNvSpPr txBox="1"/>
            <p:nvPr/>
          </p:nvSpPr>
          <p:spPr>
            <a:xfrm>
              <a:off x="5808726" y="358092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19304" y="3580924"/>
              <a:ext cx="49539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一个进程向其他所有进程发消息，这个发送者叫 Root 进程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15965" y="38862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808726" y="400288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多对一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619304" y="4002881"/>
              <a:ext cx="466725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一个进程从其他所有进程收消息，这个接收者也叫 Root 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815965" y="45758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808726" y="469153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619304" y="469153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每个进程都向其他所有进程发送或接收消息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91" name="Rectangle 9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40511" y="5753576"/>
              <a:ext cx="996924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用点对点也能拼出群集操作，比如 Root 循环调用 p−1 次 MPI_Send 就是广播。群集函数把这件事交给 MPI 实现，内部可以用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树形、环形等更快的算法（后面几页）。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0663" cy="909257"/>
            <a:chOff x="520446" y="342900"/>
            <a:chExt cx="78106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06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群集通信函数一览：9 个通信、4 个聚集、1 个同步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5951220" cy="3813810"/>
            <a:chOff x="533400" y="1524000"/>
            <a:chExt cx="5951220" cy="3813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624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通信类函数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1951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835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758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MPI_Bcast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1188" y="2023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广播同样的消息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69611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921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MPI_Scatter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1188" y="2404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散播不同的消息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69611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1002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MPI_Scatterv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1188" y="2785110"/>
              <a:ext cx="1167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Scatter 的一般化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69611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839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MPI_Gather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1188" y="3167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收集各进程的消息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69611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921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MPI_Gatherv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51188" y="3548062"/>
              <a:ext cx="1089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Gather 的一般化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69611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100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MPI_Allgather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51188" y="3930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全局收集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69611" y="3930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10903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MPI_Allgatherv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51188" y="4311015"/>
              <a:ext cx="12517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Allgather 的一般化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69611" y="4311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700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74858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692015"/>
              <a:ext cx="851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MPI_Alltoall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51188" y="469201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全局交换消息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69611" y="46920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5204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078" y="5073968"/>
              <a:ext cx="933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MPI_Alltoallv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51188" y="5073968"/>
              <a:ext cx="1102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Alltoall 的一般化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69611" y="50739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595122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551748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170170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table-1"/>
          <p:cNvGrpSpPr/>
          <p:nvPr/>
        </p:nvGrpSpPr>
        <p:grpSpPr>
          <a:xfrm>
            <a:off x="6789420" y="1524000"/>
            <a:ext cx="4869180" cy="2287905"/>
            <a:chOff x="6789420" y="1524000"/>
            <a:chExt cx="4869180" cy="2287905"/>
          </a:xfrm>
        </p:grpSpPr>
        <p:sp>
          <p:nvSpPr>
            <p:cNvPr id="54" name="Rectangle 54"/>
            <p:cNvSpPr/>
            <p:nvPr/>
          </p:nvSpPr>
          <p:spPr>
            <a:xfrm>
              <a:off x="6789420" y="1524000"/>
              <a:ext cx="486918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5084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聚集与同步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974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84098" y="2023110"/>
              <a:ext cx="8398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MPI_Reduce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24378" y="2023110"/>
              <a:ext cx="17825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多对一归约，结果只在 Root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789420" y="2282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89420" y="2286952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84098" y="2404110"/>
              <a:ext cx="1008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MPI_Allreduce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24378" y="2404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归约结果给所有进程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789420" y="26631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84098" y="2785110"/>
              <a:ext cx="14932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MPI_Reduce_scatter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24378" y="2785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归约后把结果分段散给各进程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789420" y="3045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89420" y="3049905"/>
              <a:ext cx="48691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84098" y="3167062"/>
              <a:ext cx="6771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MPI_Scan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24378" y="31670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扫描（前缀归约）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789420" y="34261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798945" y="3440430"/>
              <a:ext cx="222123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84098" y="3548062"/>
              <a:ext cx="883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MPI_Barrier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243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路障同步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789420" y="1524000"/>
              <a:ext cx="486918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902493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card-2"/>
          <p:cNvGrpSpPr/>
          <p:nvPr/>
        </p:nvGrpSpPr>
        <p:grpSpPr>
          <a:xfrm>
            <a:off x="6789420" y="3976688"/>
            <a:ext cx="4869180" cy="1143952"/>
            <a:chOff x="6789420" y="3976688"/>
            <a:chExt cx="4869180" cy="1143952"/>
          </a:xfrm>
        </p:grpSpPr>
        <p:sp>
          <p:nvSpPr>
            <p:cNvPr id="77" name="Rectangle 77"/>
            <p:cNvSpPr/>
            <p:nvPr/>
          </p:nvSpPr>
          <p:spPr>
            <a:xfrm>
              <a:off x="6789420" y="3976688"/>
              <a:ext cx="486918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798945" y="411003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08495" y="4157662"/>
              <a:ext cx="85725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88661" y="4190524"/>
              <a:ext cx="696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带 v 的版本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002018" y="449818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每个进程发送或接收的元素个数可以不同，用数组分别给出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各进程的个数和在缓冲区里的偏移。</a:t>
              </a:r>
            </a:p>
          </p:txBody>
        </p:sp>
      </p:grpSp>
      <p:grpSp>
        <p:nvGrpSpPr>
          <p:cNvPr id="89" name="c2-callout-3"/>
          <p:cNvGrpSpPr/>
          <p:nvPr/>
        </p:nvGrpSpPr>
        <p:grpSpPr>
          <a:xfrm>
            <a:off x="6789420" y="5286375"/>
            <a:ext cx="4869180" cy="937260"/>
            <a:chOff x="6789420" y="5286375"/>
            <a:chExt cx="4869180" cy="937260"/>
          </a:xfrm>
        </p:grpSpPr>
        <p:sp>
          <p:nvSpPr>
            <p:cNvPr id="83" name="Rectangle 83"/>
            <p:cNvSpPr/>
            <p:nvPr/>
          </p:nvSpPr>
          <p:spPr>
            <a:xfrm>
              <a:off x="6789420" y="5286375"/>
              <a:ext cx="4869180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994208" y="5654993"/>
              <a:ext cx="200026" cy="200026"/>
              <a:chOff x="6994208" y="5654993"/>
              <a:chExt cx="200026" cy="200026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994208" y="56549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094220" y="57216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083108" y="57550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297293" y="5430679"/>
              <a:ext cx="372745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Allreduce、Reduce_scatter 都写成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“MPI_Reduce 的一般化”，右表写出了它们各自的效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6348" cy="909257"/>
            <a:chOff x="520446" y="342900"/>
            <a:chExt cx="80163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63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 MPI_Bcast：Root 把同一份数据发给所有进程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681990"/>
            <a:chOff x="533400" y="1524000"/>
            <a:chExt cx="5626418" cy="681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542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MPI_Bcast(Address, Count, Datatype, Root, Comm);</a:t>
              </a:r>
            </a:p>
          </p:txBody>
        </p:sp>
      </p:grpSp>
      <p:grpSp>
        <p:nvGrpSpPr>
          <p:cNvPr id="38" name="c1-cells-2"/>
          <p:cNvGrpSpPr/>
          <p:nvPr/>
        </p:nvGrpSpPr>
        <p:grpSpPr>
          <a:xfrm>
            <a:off x="528066" y="2370772"/>
            <a:ext cx="5631752" cy="1039178"/>
            <a:chOff x="528066" y="2370772"/>
            <a:chExt cx="5631752" cy="1039178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24831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广播前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66800" y="2370772"/>
              <a:ext cx="84867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00030" y="24831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15478" y="2370772"/>
              <a:ext cx="848678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764155" y="2370772"/>
              <a:ext cx="848678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13785" y="2370772"/>
              <a:ext cx="848678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62462" y="2370772"/>
              <a:ext cx="848678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11140" y="2370772"/>
              <a:ext cx="848678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56496" y="2780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05173" y="2780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53851" y="2780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02528" y="2780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51206" y="2780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00836" y="27808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066" y="3166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广播后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6800" y="3053715"/>
              <a:ext cx="84867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00030" y="31661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915478" y="3053715"/>
              <a:ext cx="84867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48708" y="31661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764155" y="3053715"/>
              <a:ext cx="84867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97385" y="31661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613785" y="3053715"/>
              <a:ext cx="84867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46063" y="31661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62462" y="3053715"/>
              <a:ext cx="84867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94740" y="31661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11140" y="3053715"/>
              <a:ext cx="848678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44370" y="31661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</p:grpSp>
      <p:grpSp>
        <p:nvGrpSpPr>
          <p:cNvPr id="45" name="c1-bullets-3"/>
          <p:cNvGrpSpPr/>
          <p:nvPr/>
        </p:nvGrpSpPr>
        <p:grpSpPr>
          <a:xfrm>
            <a:off x="542925" y="3591878"/>
            <a:ext cx="4907518" cy="713993"/>
            <a:chOff x="542925" y="3591878"/>
            <a:chExt cx="4907518" cy="713993"/>
          </a:xfrm>
        </p:grpSpPr>
        <p:sp>
          <p:nvSpPr>
            <p:cNvPr id="39" name="Ellipse 39"/>
            <p:cNvSpPr/>
            <p:nvPr/>
          </p:nvSpPr>
          <p:spPr>
            <a:xfrm>
              <a:off x="542925" y="362997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516" y="3591878"/>
              <a:ext cx="41218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标号为 Root 的进程把相同的消息发给通信域 Comm 中的所有进程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42925" y="38842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516" y="3846195"/>
              <a:ext cx="4466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消息和点对点通信一样，由三元组 &lt;Address, Count, Datatype&gt; 标识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42925" y="413861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516" y="4100512"/>
              <a:ext cx="4750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Root，这个三元组既是发送缓冲也是接收缓冲；对其他进程只是接收缓冲</a:t>
              </a:r>
            </a:p>
          </p:txBody>
        </p:sp>
      </p:grpSp>
      <p:grpSp>
        <p:nvGrpSpPr>
          <p:cNvPr id="52" name="c1-callout-4"/>
          <p:cNvGrpSpPr/>
          <p:nvPr/>
        </p:nvGrpSpPr>
        <p:grpSpPr>
          <a:xfrm>
            <a:off x="533400" y="4429125"/>
            <a:ext cx="5626418" cy="937260"/>
            <a:chOff x="533400" y="4429125"/>
            <a:chExt cx="5626418" cy="937260"/>
          </a:xfrm>
        </p:grpSpPr>
        <p:sp>
          <p:nvSpPr>
            <p:cNvPr id="46" name="Rectangle 46"/>
            <p:cNvSpPr/>
            <p:nvPr/>
          </p:nvSpPr>
          <p:spPr>
            <a:xfrm>
              <a:off x="533400" y="4429125"/>
              <a:ext cx="5626418" cy="937260"/>
            </a:xfrm>
            <a:prstGeom prst="roundRect">
              <a:avLst>
                <a:gd name="adj" fmla="val 12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4797743"/>
              <a:ext cx="200026" cy="200025"/>
              <a:chOff x="738188" y="479774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47977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48421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49533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4574381"/>
              <a:ext cx="455650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例：各进程都调用 MPI_Bcast(buf, 3, MPI_INT, 0,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MPI_COMM_WORLD)。调用前只有 0 号的 buf 有效，如 (5, 8,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2)；返回后人人的 buf 都是 (5, 8, 2)。</a:t>
              </a:r>
            </a:p>
          </p:txBody>
        </p:sp>
      </p:grpSp>
      <p:grpSp>
        <p:nvGrpSpPr>
          <p:cNvPr id="97" name="c2-tree-1"/>
          <p:cNvGrpSpPr/>
          <p:nvPr/>
        </p:nvGrpSpPr>
        <p:grpSpPr>
          <a:xfrm>
            <a:off x="6667500" y="1604010"/>
            <a:ext cx="4788218" cy="1476947"/>
            <a:chOff x="6667500" y="1604010"/>
            <a:chExt cx="4788218" cy="1476947"/>
          </a:xfrm>
        </p:grpSpPr>
        <p:sp>
          <p:nvSpPr>
            <p:cNvPr id="53" name="Freeform 53"/>
            <p:cNvSpPr/>
            <p:nvPr/>
          </p:nvSpPr>
          <p:spPr>
            <a:xfrm>
              <a:off x="6789420" y="2535555"/>
              <a:ext cx="324803" cy="405765"/>
            </a:xfrm>
            <a:custGeom>
              <a:avLst/>
              <a:gdLst/>
              <a:ahLst/>
              <a:cxnLst/>
              <a:rect l="l" t="t" r="r" b="b"/>
              <a:pathLst>
                <a:path w="324803" h="405765">
                  <a:moveTo>
                    <a:pt x="324803" y="0"/>
                  </a:moveTo>
                  <a:lnTo>
                    <a:pt x="0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114222" y="2535555"/>
              <a:ext cx="324803" cy="405765"/>
            </a:xfrm>
            <a:custGeom>
              <a:avLst/>
              <a:gdLst/>
              <a:ahLst/>
              <a:cxnLst/>
              <a:rect l="l" t="t" r="r" b="b"/>
              <a:pathLst>
                <a:path w="324803" h="405765">
                  <a:moveTo>
                    <a:pt x="0" y="0"/>
                  </a:moveTo>
                  <a:lnTo>
                    <a:pt x="324803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087678" y="2535555"/>
              <a:ext cx="324803" cy="405765"/>
            </a:xfrm>
            <a:custGeom>
              <a:avLst/>
              <a:gdLst/>
              <a:ahLst/>
              <a:cxnLst/>
              <a:rect l="l" t="t" r="r" b="b"/>
              <a:pathLst>
                <a:path w="324803" h="405765">
                  <a:moveTo>
                    <a:pt x="324803" y="0"/>
                  </a:moveTo>
                  <a:lnTo>
                    <a:pt x="0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412480" y="2535555"/>
              <a:ext cx="324802" cy="405765"/>
            </a:xfrm>
            <a:custGeom>
              <a:avLst/>
              <a:gdLst/>
              <a:ahLst/>
              <a:cxnLst/>
              <a:rect l="l" t="t" r="r" b="b"/>
              <a:pathLst>
                <a:path w="324802" h="405765">
                  <a:moveTo>
                    <a:pt x="0" y="0"/>
                  </a:moveTo>
                  <a:lnTo>
                    <a:pt x="324802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114222" y="2131695"/>
              <a:ext cx="648653" cy="403860"/>
            </a:xfrm>
            <a:custGeom>
              <a:avLst/>
              <a:gdLst/>
              <a:ahLst/>
              <a:cxnLst/>
              <a:rect l="l" t="t" r="r" b="b"/>
              <a:pathLst>
                <a:path w="648653" h="403860">
                  <a:moveTo>
                    <a:pt x="648653" y="0"/>
                  </a:moveTo>
                  <a:lnTo>
                    <a:pt x="0" y="403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762875" y="2131695"/>
              <a:ext cx="649605" cy="403860"/>
            </a:xfrm>
            <a:custGeom>
              <a:avLst/>
              <a:gdLst/>
              <a:ahLst/>
              <a:cxnLst/>
              <a:rect l="l" t="t" r="r" b="b"/>
              <a:pathLst>
                <a:path w="649605" h="403860">
                  <a:moveTo>
                    <a:pt x="0" y="0"/>
                  </a:moveTo>
                  <a:lnTo>
                    <a:pt x="649605" y="403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385935" y="2535555"/>
              <a:ext cx="324803" cy="405765"/>
            </a:xfrm>
            <a:custGeom>
              <a:avLst/>
              <a:gdLst/>
              <a:ahLst/>
              <a:cxnLst/>
              <a:rect l="l" t="t" r="r" b="b"/>
              <a:pathLst>
                <a:path w="324803" h="405765">
                  <a:moveTo>
                    <a:pt x="324803" y="0"/>
                  </a:moveTo>
                  <a:lnTo>
                    <a:pt x="0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710738" y="2535555"/>
              <a:ext cx="324802" cy="405765"/>
            </a:xfrm>
            <a:custGeom>
              <a:avLst/>
              <a:gdLst/>
              <a:ahLst/>
              <a:cxnLst/>
              <a:rect l="l" t="t" r="r" b="b"/>
              <a:pathLst>
                <a:path w="324802" h="405765">
                  <a:moveTo>
                    <a:pt x="0" y="0"/>
                  </a:moveTo>
                  <a:lnTo>
                    <a:pt x="324802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685145" y="2535555"/>
              <a:ext cx="323850" cy="405765"/>
            </a:xfrm>
            <a:custGeom>
              <a:avLst/>
              <a:gdLst/>
              <a:ahLst/>
              <a:cxnLst/>
              <a:rect l="l" t="t" r="r" b="b"/>
              <a:pathLst>
                <a:path w="323850" h="405765">
                  <a:moveTo>
                    <a:pt x="323850" y="0"/>
                  </a:moveTo>
                  <a:lnTo>
                    <a:pt x="0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1008995" y="2535555"/>
              <a:ext cx="324803" cy="405765"/>
            </a:xfrm>
            <a:custGeom>
              <a:avLst/>
              <a:gdLst/>
              <a:ahLst/>
              <a:cxnLst/>
              <a:rect l="l" t="t" r="r" b="b"/>
              <a:pathLst>
                <a:path w="324803" h="405765">
                  <a:moveTo>
                    <a:pt x="0" y="0"/>
                  </a:moveTo>
                  <a:lnTo>
                    <a:pt x="324803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710738" y="2131695"/>
              <a:ext cx="649605" cy="403860"/>
            </a:xfrm>
            <a:custGeom>
              <a:avLst/>
              <a:gdLst/>
              <a:ahLst/>
              <a:cxnLst/>
              <a:rect l="l" t="t" r="r" b="b"/>
              <a:pathLst>
                <a:path w="649605" h="403860">
                  <a:moveTo>
                    <a:pt x="649605" y="0"/>
                  </a:moveTo>
                  <a:lnTo>
                    <a:pt x="0" y="403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360342" y="2131695"/>
              <a:ext cx="648652" cy="403860"/>
            </a:xfrm>
            <a:custGeom>
              <a:avLst/>
              <a:gdLst/>
              <a:ahLst/>
              <a:cxnLst/>
              <a:rect l="l" t="t" r="r" b="b"/>
              <a:pathLst>
                <a:path w="648652" h="403860">
                  <a:moveTo>
                    <a:pt x="0" y="0"/>
                  </a:moveTo>
                  <a:lnTo>
                    <a:pt x="648652" y="403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762875" y="1725930"/>
              <a:ext cx="1299210" cy="405765"/>
            </a:xfrm>
            <a:custGeom>
              <a:avLst/>
              <a:gdLst/>
              <a:ahLst/>
              <a:cxnLst/>
              <a:rect l="l" t="t" r="r" b="b"/>
              <a:pathLst>
                <a:path w="1299210" h="405765">
                  <a:moveTo>
                    <a:pt x="1299210" y="0"/>
                  </a:moveTo>
                  <a:lnTo>
                    <a:pt x="0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062085" y="1725930"/>
              <a:ext cx="1298258" cy="405765"/>
            </a:xfrm>
            <a:custGeom>
              <a:avLst/>
              <a:gdLst/>
              <a:ahLst/>
              <a:cxnLst/>
              <a:rect l="l" t="t" r="r" b="b"/>
              <a:pathLst>
                <a:path w="1298258" h="405765">
                  <a:moveTo>
                    <a:pt x="0" y="0"/>
                  </a:moveTo>
                  <a:lnTo>
                    <a:pt x="1298258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6667500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7317105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6992302" y="241363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965758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615362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290560" y="241363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7640955" y="200977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264015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913620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588818" y="241363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0563225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1211878" y="281940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0887075" y="241363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0238422" y="2009775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8940165" y="1604010"/>
              <a:ext cx="243840" cy="243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43271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92876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068073" y="24707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041528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91133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366331" y="24707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16726" y="206597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39786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989391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64588" y="24707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638996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87648" y="2875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962846" y="247078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314193" y="206597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015936" y="16611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11" name="c2-steps-2"/>
          <p:cNvGrpSpPr/>
          <p:nvPr/>
        </p:nvGrpSpPr>
        <p:grpSpPr>
          <a:xfrm>
            <a:off x="6464618" y="3317558"/>
            <a:ext cx="4368127" cy="1596961"/>
            <a:chOff x="6464618" y="3317558"/>
            <a:chExt cx="4368127" cy="1596961"/>
          </a:xfrm>
        </p:grpSpPr>
        <p:sp>
          <p:nvSpPr>
            <p:cNvPr id="98" name="Rectangle 98"/>
            <p:cNvSpPr/>
            <p:nvPr/>
          </p:nvSpPr>
          <p:spPr>
            <a:xfrm>
              <a:off x="6597968" y="346043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6464618" y="331755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558241" y="33913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464618" y="38709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58241" y="3944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6464618" y="44234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58241" y="44972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77241" y="3348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线性广播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878384" y="3602355"/>
              <a:ext cx="2531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依次给 7 个进程各发一次，共 7 步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877241" y="39009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树形广播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878384" y="4155758"/>
              <a:ext cx="39543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 0→4；第 2 步 0→2、4→6；第 3 步 0→1、2→3、4→5、6→7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877241" y="44543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878384" y="4709160"/>
              <a:ext cx="33818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个进程只要 log₂8 = 3 步，1024 个进程也只要 10 步</a:t>
              </a:r>
            </a:p>
          </p:txBody>
        </p:sp>
      </p:grpSp>
      <p:grpSp>
        <p:nvGrpSpPr>
          <p:cNvPr id="118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12" name="Rectangle 112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041273" y="5805011"/>
              <a:ext cx="9620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右上是原课件第44页的“进程组织成树”：每一步已有数据的进程都把数据转发出去，拿到数据的进程数翻倍。MPI 实现内部就是这样做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Bcast 的。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279898" cy="909257"/>
            <a:chOff x="520446" y="342900"/>
            <a:chExt cx="102798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2798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收集与散播：Gather 把各进程的数据拼到 Root，Scatter 反过来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033462"/>
            <a:chOff x="533400" y="1524000"/>
            <a:chExt cx="5410200" cy="1033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367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收集 Gather（多对一）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295650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MPI_Gather(SendAddress, SendCount, SendDatatype,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RecvAddress, RecvCount, RecvDatatype,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Root, Comm);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33400" y="2722245"/>
            <a:ext cx="5410200" cy="1906905"/>
            <a:chOff x="533400" y="2722245"/>
            <a:chExt cx="5410200" cy="1906905"/>
          </a:xfrm>
        </p:grpSpPr>
        <p:sp>
          <p:nvSpPr>
            <p:cNvPr id="11" name="Rectangle 11"/>
            <p:cNvSpPr/>
            <p:nvPr/>
          </p:nvSpPr>
          <p:spPr>
            <a:xfrm>
              <a:off x="533400" y="272224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64920" y="2839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81872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发送缓冲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26064" y="2839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收集后的接收缓冲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13099" y="3221355"/>
              <a:ext cx="797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P0（Root）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82430" y="322135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59530" y="3113722"/>
              <a:ext cx="207454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95686" y="3221355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A1 A2 A3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804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48519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20020" y="360235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2430" y="360235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0118" y="36023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8614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20020" y="398430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2430" y="398430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0118" y="39843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43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24815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20020" y="436530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82430" y="436530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0118" y="43653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2722245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84095" y="272224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845242" y="272224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bullets-3"/>
          <p:cNvGrpSpPr/>
          <p:nvPr/>
        </p:nvGrpSpPr>
        <p:grpSpPr>
          <a:xfrm>
            <a:off x="542925" y="4811078"/>
            <a:ext cx="3911594" cy="713993"/>
            <a:chOff x="542925" y="4811078"/>
            <a:chExt cx="3911594" cy="713993"/>
          </a:xfrm>
        </p:grpSpPr>
        <p:sp>
          <p:nvSpPr>
            <p:cNvPr id="37" name="Ellipse 37"/>
            <p:cNvSpPr/>
            <p:nvPr/>
          </p:nvSpPr>
          <p:spPr>
            <a:xfrm>
              <a:off x="542925" y="484917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9516" y="4811078"/>
              <a:ext cx="3054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从通信域的所有进程（包括自己）接收消息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42925" y="51034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516" y="5065395"/>
              <a:ext cx="3755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个消息按进程编号 rank 排序拼接，存进 Root 的接收缓冲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42925" y="535781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516" y="5319712"/>
              <a:ext cx="1966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所有非 Root 进程忽略接收缓冲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6248400" y="1524000"/>
            <a:ext cx="5410200" cy="1033462"/>
            <a:chOff x="6248400" y="1524000"/>
            <a:chExt cx="5410200" cy="1033462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1675924"/>
              <a:ext cx="15129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散播 Scatter（一对多）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797" y="1935956"/>
              <a:ext cx="3364103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MPI_Scatter(SendAddress, SendCount, SendDatatype,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RecvAddress, RecvCount, RecvDatatype,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Root, Comm);</a:t>
              </a:r>
            </a:p>
          </p:txBody>
        </p:sp>
      </p:grpSp>
      <p:grpSp>
        <p:nvGrpSpPr>
          <p:cNvPr id="73" name="c2-table-2"/>
          <p:cNvGrpSpPr/>
          <p:nvPr/>
        </p:nvGrpSpPr>
        <p:grpSpPr>
          <a:xfrm>
            <a:off x="6248400" y="2722245"/>
            <a:ext cx="5410200" cy="1906905"/>
            <a:chOff x="6248400" y="2722245"/>
            <a:chExt cx="5410200" cy="1906905"/>
          </a:xfrm>
        </p:grpSpPr>
        <p:sp>
          <p:nvSpPr>
            <p:cNvPr id="48" name="Rectangle 48"/>
            <p:cNvSpPr/>
            <p:nvPr/>
          </p:nvSpPr>
          <p:spPr>
            <a:xfrm>
              <a:off x="6248400" y="2722245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44678" y="2839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96872" y="2839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发送缓冲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75355" y="2839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散播后的接收缓冲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92856" y="3221355"/>
              <a:ext cx="7970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P0（Root）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943850" y="3113722"/>
              <a:ext cx="168021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83791" y="3221355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A1 A2 A3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58615" y="322135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4804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348519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99778" y="360235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38222" y="36023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58615" y="360235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8614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99778" y="398430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38222" y="39843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58615" y="398430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4243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424815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99778" y="436530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38222" y="43653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58615" y="436530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2722245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929562" y="272224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629775" y="272224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bullets-3"/>
          <p:cNvGrpSpPr/>
          <p:nvPr/>
        </p:nvGrpSpPr>
        <p:grpSpPr>
          <a:xfrm>
            <a:off x="6257925" y="4811078"/>
            <a:ext cx="5161217" cy="914019"/>
            <a:chOff x="6257925" y="4811078"/>
            <a:chExt cx="5161217" cy="914019"/>
          </a:xfrm>
        </p:grpSpPr>
        <p:sp>
          <p:nvSpPr>
            <p:cNvPr id="74" name="Ellipse 74"/>
            <p:cNvSpPr/>
            <p:nvPr/>
          </p:nvSpPr>
          <p:spPr>
            <a:xfrm>
              <a:off x="6257925" y="484917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4516" y="4811078"/>
              <a:ext cx="2289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Scatter 执行与 Gather 相反的操作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257925" y="51034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14516" y="5065395"/>
              <a:ext cx="5004626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给每个进程（包括自己）发一个不同的消息，这 n 个消息在 Root 的发送缓冲中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rank 顺序存放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257925" y="555783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414516" y="5519738"/>
              <a:ext cx="1966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所有非 Root 进程忽略发送缓冲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1" name="Rectangle 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103960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Gather 的 RecvCount 是“从每个进程收多少个”，不是总数；Scatter 的 SendCount 同样是“发给每个进程多少个”。写成总数会越界。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18830" cy="909257"/>
            <a:chOff x="520446" y="342900"/>
            <a:chExt cx="71188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188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全局收集与全局交换：每个进程都当一次 Root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110615"/>
            <a:chOff x="533400" y="1524000"/>
            <a:chExt cx="5410200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97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全局收集 Allgather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00126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MPI_Allgather(SendAddress, SendCount, SendDatatype,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RecvAddress, RecvCount, RecvDatatype,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Comm);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2820352"/>
            <a:ext cx="5415915" cy="2446497"/>
            <a:chOff x="527685" y="2820352"/>
            <a:chExt cx="5415915" cy="2446497"/>
          </a:xfrm>
        </p:grpSpPr>
        <p:sp>
          <p:nvSpPr>
            <p:cNvPr id="11" name="Rectangle 11"/>
            <p:cNvSpPr/>
            <p:nvPr/>
          </p:nvSpPr>
          <p:spPr>
            <a:xfrm>
              <a:off x="533400" y="2820352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5855" y="29508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7854" y="29508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发送缓冲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82858" y="29508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接收缓冲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8827" y="338137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67063" y="338137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53623" y="338137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B0 C0 D0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6756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68046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88827" y="38119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67063" y="381190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3623" y="381190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B0 C0 D0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05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88827" y="424148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67063" y="424148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3623" y="4241482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B0 C0 D0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535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54056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88827" y="467201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67063" y="467201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53623" y="4672012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B0 C0 D0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820352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49780" y="28203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74770" y="28203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5046821"/>
              <a:ext cx="4606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相当于每个进程都作为 Root 执行了一次 Gather，人人拿到全部数据</a:t>
              </a:r>
            </a:p>
          </p:txBody>
        </p:sp>
      </p:grpSp>
      <p:grpSp>
        <p:nvGrpSpPr>
          <p:cNvPr id="40" name="c2-code-1"/>
          <p:cNvGrpSpPr/>
          <p:nvPr/>
        </p:nvGrpSpPr>
        <p:grpSpPr>
          <a:xfrm>
            <a:off x="6248400" y="1524000"/>
            <a:ext cx="5410200" cy="1110615"/>
            <a:chOff x="6248400" y="1524000"/>
            <a:chExt cx="5410200" cy="1110615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76797" y="1675924"/>
              <a:ext cx="10537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全局交换 Alltoall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76035" y="1937861"/>
              <a:ext cx="3923030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MPI_Alltoall(SendAddress, SendCount, SendDatatype,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RecvAddress, RecvCount, RecvDatatype,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Comm);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6242685" y="2820352"/>
            <a:ext cx="5415915" cy="2646521"/>
            <a:chOff x="6242685" y="2820352"/>
            <a:chExt cx="5415915" cy="2646521"/>
          </a:xfrm>
        </p:grpSpPr>
        <p:sp>
          <p:nvSpPr>
            <p:cNvPr id="41" name="Rectangle 41"/>
            <p:cNvSpPr/>
            <p:nvPr/>
          </p:nvSpPr>
          <p:spPr>
            <a:xfrm>
              <a:off x="6248400" y="2820352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1802" y="29508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2854" y="29508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发送缓冲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36911" y="29508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接收缓冲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64774" y="338137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3618" y="338137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A1 A2 A3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07676" y="338137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 B0 C0 D0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6756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368046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64774" y="38119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23618" y="381190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B0 B1 B2 B3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07676" y="3811905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B1 C1 D1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105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774" y="424148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23618" y="4241482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C0 C1 C2 C3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684068" y="4119562"/>
              <a:ext cx="196500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07676" y="4241482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B2 C2 D2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535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48400" y="454056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64774" y="467201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23618" y="4672012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D0 D1 D2 D3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07676" y="4672012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B3 C3 D3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2820352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684770" y="28203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69780" y="28203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42685" y="5046821"/>
              <a:ext cx="4698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相当于每个进程都作为 Root 执行了一次 Scatter；把发送缓冲排成矩阵，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Alltoall 就是转置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8" name="Rectangle 6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5753576"/>
              <a:ext cx="974382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通信量（每块 m 字节、p 个进程）：Gather 只有 Root 收 (p−1)m；Allgather 和 Alltoall 每个进程都收 (p−1)m，总量是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Gather 的 p 倍。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14810" cy="909257"/>
            <a:chOff x="520446" y="342900"/>
            <a:chExt cx="7514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14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 Reduce：先通信，再计算，再放进接收缓冲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140708" cy="1781556"/>
            <a:chOff x="533400" y="1533525"/>
            <a:chExt cx="4140708" cy="17815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消息按要求发到目标进程，目标进程收齐需要的消息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36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411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对消息执行计算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7998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0803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把处理结果放进指定的接收缓冲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486150"/>
            <a:ext cx="5193982" cy="882968"/>
            <a:chOff x="533400" y="3486150"/>
            <a:chExt cx="5193982" cy="882968"/>
          </a:xfrm>
        </p:grpSpPr>
        <p:sp>
          <p:nvSpPr>
            <p:cNvPr id="21" name="Rectangle 21"/>
            <p:cNvSpPr/>
            <p:nvPr/>
          </p:nvSpPr>
          <p:spPr>
            <a:xfrm>
              <a:off x="533400" y="3486150"/>
              <a:ext cx="5193982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36380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416" y="3899535"/>
              <a:ext cx="316439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MPI_Reduce(SendAddress, RecvAddress, Count,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Datatype, Op, Root, Comm);</a:t>
              </a:r>
            </a:p>
          </p:txBody>
        </p:sp>
      </p:grpSp>
      <p:grpSp>
        <p:nvGrpSpPr>
          <p:cNvPr id="31" name="c1-bullets-3"/>
          <p:cNvGrpSpPr/>
          <p:nvPr/>
        </p:nvGrpSpPr>
        <p:grpSpPr>
          <a:xfrm>
            <a:off x="542925" y="4569142"/>
            <a:ext cx="4938141" cy="1268159"/>
            <a:chOff x="542925" y="4569142"/>
            <a:chExt cx="4938141" cy="1268159"/>
          </a:xfrm>
        </p:grpSpPr>
        <p:sp>
          <p:nvSpPr>
            <p:cNvPr id="25" name="Ellipse 25"/>
            <p:cNvSpPr/>
            <p:nvPr/>
          </p:nvSpPr>
          <p:spPr>
            <a:xfrm>
              <a:off x="542925" y="46167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754" y="4569142"/>
              <a:ext cx="46908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对每个进程发送缓冲中的数据按 Op 运算，最终结果放在 Root 的接收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42925" y="51330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8754" y="5085398"/>
              <a:ext cx="47823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Datatype 定义数据类型，Op 定义运算，可以是预定义的，也可以是用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户自定义的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42925" y="56502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8754" y="5602605"/>
              <a:ext cx="41134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每个进程可以贡献长度为 Count 的向量，按分量逐个归约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026848" y="1524000"/>
            <a:ext cx="5631752" cy="2191321"/>
            <a:chOff x="6026848" y="1524000"/>
            <a:chExt cx="5631752" cy="2191321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57925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09841" y="17592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发送缓冲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3898" y="1652588"/>
              <a:ext cx="138112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Reduce 后（Root =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P0）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22433" y="1759268"/>
              <a:ext cx="984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Allreduce 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20897" y="22898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51192" y="228981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66722" y="2171700"/>
              <a:ext cx="189357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93353" y="2289810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12 15 18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93578" y="2289810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12 15 18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25812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258603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20897" y="271462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1192" y="2714625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63939" y="271462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93578" y="271462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12 15 18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3006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20897" y="313944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51192" y="313944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63939" y="31394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93578" y="3139440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12 15 18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1524000"/>
              <a:ext cx="5626418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1513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52435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96600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26848" y="3509962"/>
              <a:ext cx="4359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Op = MPI_SUM。按分量相加：1+4+7 = 12，2+5+8 = 15，3+6+9 = 18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032182" y="3853815"/>
            <a:ext cx="5626418" cy="1522095"/>
            <a:chOff x="6032182" y="3853815"/>
            <a:chExt cx="5626418" cy="1522095"/>
          </a:xfrm>
        </p:grpSpPr>
        <p:sp>
          <p:nvSpPr>
            <p:cNvPr id="59" name="Rectangle 59"/>
            <p:cNvSpPr/>
            <p:nvPr/>
          </p:nvSpPr>
          <p:spPr>
            <a:xfrm>
              <a:off x="6032182" y="3853815"/>
              <a:ext cx="5626418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41708" y="398716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68402" y="405193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7841" y="40862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原课件记号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61164" y="4412456"/>
              <a:ext cx="480250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原课件第85–87页用 A0、B0、C0 分别表示 P0、P1、P2 的第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个分量，Reduce 后 P0 得到 A0+B0+C0、A1+B1+C1、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A2+B2+C2。这里代入了具体数字。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6032182" y="5556885"/>
            <a:ext cx="5626418" cy="756285"/>
            <a:chOff x="6032182" y="5556885"/>
            <a:chExt cx="5626418" cy="756285"/>
          </a:xfrm>
        </p:grpSpPr>
        <p:sp>
          <p:nvSpPr>
            <p:cNvPr id="65" name="Rectangle 65"/>
            <p:cNvSpPr/>
            <p:nvPr/>
          </p:nvSpPr>
          <p:spPr>
            <a:xfrm>
              <a:off x="6032182" y="5556885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236970" y="5835017"/>
              <a:ext cx="200023" cy="200023"/>
              <a:chOff x="6236970" y="5835017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236970" y="58350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70320" y="5901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539294" y="5704046"/>
              <a:ext cx="460413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Allreduce 没有 Root 参数，效果等于 Reduce 之后再把结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果广播给所有进程。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7061" cy="909257"/>
            <a:chOff x="520446" y="342900"/>
            <a:chExt cx="85170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70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预定义归约操作：12 种，MAXLOC、MINLOC 还带位置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able-1"/>
          <p:cNvGrpSpPr/>
          <p:nvPr/>
        </p:nvGrpSpPr>
        <p:grpSpPr>
          <a:xfrm>
            <a:off x="527685" y="1524000"/>
            <a:ext cx="6065520" cy="3709512"/>
            <a:chOff x="527685" y="1524000"/>
            <a:chExt cx="6065520" cy="3709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060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4506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9858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3497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150745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MPI_MAX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94547" y="21507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7095" y="215074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02530" y="21507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638425"/>
              <a:ext cx="8553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MPI_MIN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4547" y="2638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27095" y="2638425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02530" y="2638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82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126105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MPI_SUM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94547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27095" y="3126105"/>
              <a:ext cx="9860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MPI_LXOR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0253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逻辑异或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699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7472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3613785"/>
              <a:ext cx="10345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MPI_PROD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94547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7095" y="3613785"/>
              <a:ext cx="9860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MPI_BXOR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02530" y="3613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按位异或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576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4101465"/>
              <a:ext cx="989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MPI_LAND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94547" y="41014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逻辑与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329940" y="3971925"/>
              <a:ext cx="155638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27095" y="4101465"/>
              <a:ext cx="1263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MPI_MAXLOC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02530" y="41014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最大值及其位置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4453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45008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0080" y="4589145"/>
              <a:ext cx="989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MPI_BAND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94547" y="45891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按位与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29940" y="4459605"/>
              <a:ext cx="155638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427095" y="4589145"/>
              <a:ext cx="1210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MPI_MINLOC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02530" y="45891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最小值及其位置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059805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983105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31565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89108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7685" y="5013484"/>
              <a:ext cx="484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归约操作分预定义操作和派生操作；自定义操作用 MPI_Op_create 注册</a:t>
              </a:r>
            </a:p>
          </p:txBody>
        </p:sp>
      </p:grpSp>
      <p:grpSp>
        <p:nvGrpSpPr>
          <p:cNvPr id="57" name="c1-kv-2"/>
          <p:cNvGrpSpPr/>
          <p:nvPr/>
        </p:nvGrpSpPr>
        <p:grpSpPr>
          <a:xfrm>
            <a:off x="525780" y="5404485"/>
            <a:ext cx="6067425" cy="733425"/>
            <a:chOff x="525780" y="5404485"/>
            <a:chExt cx="6067425" cy="733425"/>
          </a:xfrm>
        </p:grpSpPr>
        <p:sp>
          <p:nvSpPr>
            <p:cNvPr id="52" name="TextBox 52"/>
            <p:cNvSpPr txBox="1"/>
            <p:nvPr/>
          </p:nvSpPr>
          <p:spPr>
            <a:xfrm>
              <a:off x="525780" y="54044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逻辑运算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66862" y="5404485"/>
              <a:ext cx="428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LAND、LOR、LXOR 把非零当真，结果是 0 或 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72452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5780" y="58445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按位运算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566862" y="5844540"/>
              <a:ext cx="327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BAND、BOR、BXOR 对整数逐位运算</a:t>
              </a:r>
            </a:p>
          </p:txBody>
        </p:sp>
      </p:grpSp>
      <p:grpSp>
        <p:nvGrpSpPr>
          <p:cNvPr id="75" name="c2-steps-1"/>
          <p:cNvGrpSpPr/>
          <p:nvPr/>
        </p:nvGrpSpPr>
        <p:grpSpPr>
          <a:xfrm>
            <a:off x="6898005" y="1533525"/>
            <a:ext cx="4408297" cy="2764440"/>
            <a:chOff x="6898005" y="1533525"/>
            <a:chExt cx="4408297" cy="2764440"/>
          </a:xfrm>
        </p:grpSpPr>
        <p:sp>
          <p:nvSpPr>
            <p:cNvPr id="58" name="Rectangle 58"/>
            <p:cNvSpPr/>
            <p:nvPr/>
          </p:nvSpPr>
          <p:spPr>
            <a:xfrm>
              <a:off x="703135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98005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9162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898005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9162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898005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9162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0948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10628" y="1861661"/>
              <a:ext cx="3995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每个进程提供（值，自己的编号）：P0 (3, 0)、P1 (7,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1)、P2 (7, 2)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09485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比较值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10628" y="2746534"/>
              <a:ext cx="210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最大值是 7，P1 和 P2 并列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309485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并列时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10628" y="33970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取较小的位置编号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09485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10628" y="4048601"/>
              <a:ext cx="2054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MPI_MAXLOC 得到 (7, 1)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898005" y="4475798"/>
            <a:ext cx="4760595" cy="1603058"/>
            <a:chOff x="6898005" y="4475798"/>
            <a:chExt cx="4760595" cy="1603058"/>
          </a:xfrm>
        </p:grpSpPr>
        <p:sp>
          <p:nvSpPr>
            <p:cNvPr id="76" name="Rectangle 76"/>
            <p:cNvSpPr/>
            <p:nvPr/>
          </p:nvSpPr>
          <p:spPr>
            <a:xfrm>
              <a:off x="6898005" y="4475798"/>
              <a:ext cx="4760595" cy="1603058"/>
            </a:xfrm>
            <a:prstGeom prst="roundRect">
              <a:avLst>
                <a:gd name="adj" fmla="val 83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907530" y="4609148"/>
              <a:ext cx="47625" cy="13363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145655" y="46853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235863" y="4721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38035" y="5062538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不光要知道最大值是多少，还要知道它在哪个进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程上，比如误差最大的网格块由哪个进程负责，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好让它继续细分。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11324" cy="909257"/>
            <a:chOff x="520446" y="342900"/>
            <a:chExt cx="84113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113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 Scan 是前缀归约，路障 Barrier 让所有进程对齐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907732"/>
            <a:chOff x="533400" y="1524000"/>
            <a:chExt cx="5626418" cy="9077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218942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MPI_Scan(SendAddress, RecvAddress, Count,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Datatype, Op, Comm);</a:t>
              </a:r>
            </a:p>
          </p:txBody>
        </p:sp>
      </p:grpSp>
      <p:grpSp>
        <p:nvGrpSpPr>
          <p:cNvPr id="33" name="c1-table-2"/>
          <p:cNvGrpSpPr/>
          <p:nvPr/>
        </p:nvGrpSpPr>
        <p:grpSpPr>
          <a:xfrm>
            <a:off x="527685" y="2622232"/>
            <a:ext cx="5632133" cy="2091215"/>
            <a:chOff x="527685" y="2622232"/>
            <a:chExt cx="5632133" cy="2091215"/>
          </a:xfrm>
        </p:grpSpPr>
        <p:sp>
          <p:nvSpPr>
            <p:cNvPr id="11" name="Rectangle 11"/>
            <p:cNvSpPr/>
            <p:nvPr/>
          </p:nvSpPr>
          <p:spPr>
            <a:xfrm>
              <a:off x="533400" y="2622232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7082" y="27579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3543" y="27579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发送缓冲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03765" y="2757964"/>
              <a:ext cx="1342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Scan 后（SUM）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54252" y="320659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94318" y="320659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4578" y="320659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5147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51948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4252" y="365521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4318" y="365521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4 5 6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98570" y="3529012"/>
              <a:ext cx="235172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74578" y="365521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5 7 9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9643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54252" y="410384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94318" y="410384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7 8 9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98570" y="3978592"/>
              <a:ext cx="235172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32419" y="4103846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12 15 18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622232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94535" y="262223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84282" y="262223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4493419"/>
              <a:ext cx="331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原课件记号：P1 得 A0+B0 …，P2 得 A0+B0+C0 …</a:t>
              </a:r>
            </a:p>
          </p:txBody>
        </p:sp>
      </p:grpSp>
      <p:grpSp>
        <p:nvGrpSpPr>
          <p:cNvPr id="40" name="c1-bullets-3"/>
          <p:cNvGrpSpPr/>
          <p:nvPr/>
        </p:nvGrpSpPr>
        <p:grpSpPr>
          <a:xfrm>
            <a:off x="542925" y="4880134"/>
            <a:ext cx="5370322" cy="1104709"/>
            <a:chOff x="542925" y="4880134"/>
            <a:chExt cx="5370322" cy="1104709"/>
          </a:xfrm>
        </p:grpSpPr>
        <p:sp>
          <p:nvSpPr>
            <p:cNvPr id="34" name="Ellipse 34"/>
            <p:cNvSpPr/>
            <p:nvPr/>
          </p:nvSpPr>
          <p:spPr>
            <a:xfrm>
              <a:off x="542925" y="49329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8373" y="488013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看作一种特殊的归约：每个进程 i 对进程 0, 1, …, i 的发送缓冲做指定的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归约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42925" y="548163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8373" y="5429726"/>
              <a:ext cx="3353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同样允许每个进程贡献长度为 Count 的向量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42925" y="57873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373" y="5735479"/>
              <a:ext cx="5089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MPI_scan，C 语言函数名区分大小写，应为 MPI_Scan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524000"/>
            <a:ext cx="5193982" cy="2242185"/>
            <a:chOff x="6464618" y="1524000"/>
            <a:chExt cx="5193982" cy="2242185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1657350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3295" y="1768792"/>
              <a:ext cx="2932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路障同步 MPI_Barrier(Comm)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4648" y="2129790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同步功能用来协调各进程的进度。MPI 目前只支持这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一个同步操作。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4648" y="2750820"/>
              <a:ext cx="4434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通信域 Comm 中的所有进程互相同步；调用返回后，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可以保证组内所有进程都已执行完调用之前的全部操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作，可以开始调用之后的操作。</a:t>
              </a:r>
            </a:p>
          </p:txBody>
        </p:sp>
      </p:grpSp>
      <p:grpSp>
        <p:nvGrpSpPr>
          <p:cNvPr id="54" name="c2-kv-2"/>
          <p:cNvGrpSpPr/>
          <p:nvPr/>
        </p:nvGrpSpPr>
        <p:grpSpPr>
          <a:xfrm>
            <a:off x="6456998" y="3981450"/>
            <a:ext cx="5201602" cy="1015365"/>
            <a:chOff x="6456998" y="3981450"/>
            <a:chExt cx="5201602" cy="1015365"/>
          </a:xfrm>
        </p:grpSpPr>
        <p:sp>
          <p:nvSpPr>
            <p:cNvPr id="49" name="TextBox 49"/>
            <p:cNvSpPr txBox="1"/>
            <p:nvPr/>
          </p:nvSpPr>
          <p:spPr>
            <a:xfrm>
              <a:off x="6456998" y="3981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统一计时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9033" y="3981450"/>
              <a:ext cx="38061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计时前先 Barrier，让所有进程从同一时刻开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45834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56998" y="47034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分阶段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9033" y="470344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所有进程写完一批文件，再一起进入读取阶段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464618" y="5128260"/>
            <a:ext cx="5193982" cy="805815"/>
            <a:chOff x="6464618" y="5128260"/>
            <a:chExt cx="5193982" cy="805815"/>
          </a:xfrm>
        </p:grpSpPr>
        <p:sp>
          <p:nvSpPr>
            <p:cNvPr id="55" name="Rectangle 55"/>
            <p:cNvSpPr/>
            <p:nvPr/>
          </p:nvSpPr>
          <p:spPr>
            <a:xfrm>
              <a:off x="6464618" y="5128260"/>
              <a:ext cx="5193982" cy="805815"/>
            </a:xfrm>
            <a:prstGeom prst="roundRect">
              <a:avLst>
                <a:gd name="adj" fmla="val 141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57347" y="5427463"/>
              <a:ext cx="224134" cy="192560"/>
              <a:chOff x="6657347" y="5427463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769418" y="54978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657347" y="54274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69418" y="55756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1348" y="5288280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群集函数要求组内每个进程都调用。只要有一个进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程没走到 Barrier，其他进程就会一直等下去。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93040" cy="909257"/>
            <a:chOff x="520446" y="342900"/>
            <a:chExt cx="9193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93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Ring AllReduce：先 ReduceScatter 合，再 AllGather 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28447" y="1524000"/>
            <a:ext cx="11130153" cy="3488722"/>
            <a:chOff x="528447" y="1524000"/>
            <a:chExt cx="11130153" cy="34887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9923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98655" y="1641157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→ 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23695" y="1641157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→ 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48735" y="1641157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→ 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73775" y="1641157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→ 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023110"/>
              <a:ext cx="1579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ReduceScatter 第 1 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7883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2923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37963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63003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404110"/>
              <a:ext cx="1579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ReduceScatter 第 2 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71268" y="2404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a3+d3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96308" y="2404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a0+b0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21348" y="2404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b1+c1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46388" y="2404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c2+d2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2785110"/>
              <a:ext cx="1579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ReduceScatter 第 3 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4654" y="2785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a2+c2+d2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79694" y="2785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a3+b3+d3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04734" y="2785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a0+b0+c0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29774" y="278511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b1+c1+d1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16706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合完后各自持有的完整块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767965" y="3059430"/>
              <a:ext cx="22059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12248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有第 1 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93005" y="3059430"/>
              <a:ext cx="22059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37288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有第 2 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18045" y="3059430"/>
              <a:ext cx="22059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62329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有第 3 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443085" y="3059430"/>
              <a:ext cx="220599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187369" y="316706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有第 0 块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3548062"/>
              <a:ext cx="117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AllGather 第 1 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642998" y="354806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68038" y="354806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93078" y="354806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18118" y="354806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块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" y="3930015"/>
              <a:ext cx="117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AllGather 第 2 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42998" y="3930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68038" y="3930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93078" y="3930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18118" y="3930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块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8078" y="4311015"/>
              <a:ext cx="1177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AllGather 第 3 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642998" y="4311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68038" y="4311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93078" y="4311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18118" y="4311015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块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1524000"/>
              <a:ext cx="11125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275367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97871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0375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42879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8447" y="4648676"/>
              <a:ext cx="10676128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个进程 a、b、c、d 连成环，每个进程的数据切成 4 块；a0 表示 a 的第 0 块。表中是每一步沿环发出的数据：ReduceScatter 时接收方把它加到自己的同一块上，AllGather 时直接覆盖。已用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脚本模拟核对</a:t>
              </a:r>
            </a:p>
          </p:txBody>
        </p:sp>
      </p:grpSp>
      <p:grpSp>
        <p:nvGrpSpPr>
          <p:cNvPr id="84" name="c1-compare-2"/>
          <p:cNvGrpSpPr/>
          <p:nvPr/>
        </p:nvGrpSpPr>
        <p:grpSpPr>
          <a:xfrm>
            <a:off x="533400" y="5138738"/>
            <a:ext cx="11125200" cy="1223962"/>
            <a:chOff x="533400" y="5138738"/>
            <a:chExt cx="11125200" cy="1223962"/>
          </a:xfrm>
        </p:grpSpPr>
        <p:sp>
          <p:nvSpPr>
            <p:cNvPr id="68" name="Rectangle 68"/>
            <p:cNvSpPr/>
            <p:nvPr/>
          </p:nvSpPr>
          <p:spPr>
            <a:xfrm>
              <a:off x="533400" y="5138738"/>
              <a:ext cx="5096828" cy="1223962"/>
            </a:xfrm>
            <a:prstGeom prst="roundRect">
              <a:avLst>
                <a:gd name="adj" fmla="val 10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5272088"/>
              <a:ext cx="47625" cy="9572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5998" y="5341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62000" y="5694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17448" y="564213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单链路通信量小：每步每个进程只发一块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62000" y="59797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17448" y="59269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通信均衡、无瓶颈：没有哪个进程比别人收发得多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561772" y="5138738"/>
              <a:ext cx="5096828" cy="1223962"/>
            </a:xfrm>
            <a:prstGeom prst="roundRect">
              <a:avLst>
                <a:gd name="adj" fmla="val 10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571298" y="5272088"/>
              <a:ext cx="47625" cy="9572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74370" y="5341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790372" y="5694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45820" y="5642134"/>
              <a:ext cx="24461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步数 2(N−1) 随进程数线性增长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790372" y="59797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945820" y="59269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每步都有固定的启动延迟，规模大时累积起来，性能较差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5677852" y="5333048"/>
              <a:ext cx="836295" cy="83629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718374" y="5694998"/>
              <a:ext cx="7552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原课件第90页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3906" cy="909257"/>
            <a:chOff x="520446" y="342900"/>
            <a:chExt cx="9633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3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例题：400 MB 的数据做 AllReduce，环形算法每个进程发多少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5" name="c1-steps-2"/>
          <p:cNvGrpSpPr/>
          <p:nvPr/>
        </p:nvGrpSpPr>
        <p:grpSpPr>
          <a:xfrm>
            <a:off x="533400" y="2264092"/>
            <a:ext cx="5486267" cy="2149412"/>
            <a:chOff x="533400" y="2264092"/>
            <a:chExt cx="5486267" cy="2149412"/>
          </a:xfrm>
        </p:grpSpPr>
        <p:sp>
          <p:nvSpPr>
            <p:cNvPr id="8" name="Rectangle 8"/>
            <p:cNvSpPr/>
            <p:nvPr/>
          </p:nvSpPr>
          <p:spPr>
            <a:xfrm>
              <a:off x="666750" y="2406968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2640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3379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8174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2891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3699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443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9233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997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2950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166" y="2548890"/>
              <a:ext cx="3175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个进程，每个进程的数据 S 切成 N 块，每块 S/N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847499"/>
              <a:ext cx="13178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ReduceScatter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166" y="3102293"/>
              <a:ext cx="2417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 步，每步发一块，共发 (N−1)S/N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400901"/>
              <a:ext cx="8282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AllGather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3655695"/>
              <a:ext cx="2038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又是 N−1 步，同样发 (N−1)S/N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9533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4208145"/>
              <a:ext cx="5072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4、S = 400 MB：每块 100 MB，每个进程发 2 × 3 × 100 = 600 MB，共 6 步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574858"/>
            <a:ext cx="5410200" cy="1386840"/>
            <a:chOff x="533400" y="4574858"/>
            <a:chExt cx="5410200" cy="1386840"/>
          </a:xfrm>
        </p:grpSpPr>
        <p:sp>
          <p:nvSpPr>
            <p:cNvPr id="26" name="Rectangle 26"/>
            <p:cNvSpPr/>
            <p:nvPr/>
          </p:nvSpPr>
          <p:spPr>
            <a:xfrm>
              <a:off x="533400" y="4574858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70820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47558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147" y="47886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998" y="5096351"/>
              <a:ext cx="47840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 N = 4：朴素做法里根进程要收 3 × 400 = 1200 MB、再发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1200 MB，其他进程各只收发 400 MB，负担全压在根上。环形算法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个进程各收发 600 MB，每条链路一样忙。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243447" y="1524000"/>
            <a:ext cx="5415153" cy="2343817"/>
            <a:chOff x="6243447" y="1524000"/>
            <a:chExt cx="5415153" cy="2343817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20006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4953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每进程发送量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9353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8702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朴素做法根进程收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2231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9410" y="2023110"/>
              <a:ext cx="496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 MB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77190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85716" y="2023110"/>
              <a:ext cx="578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1200 MB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2231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9410" y="2404110"/>
              <a:ext cx="496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 MB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99447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85716" y="2404110"/>
              <a:ext cx="578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2800 MB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1501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65122" y="2785110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787.5 MB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21704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03572" y="2785110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25200 MB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99871" y="316706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298055" y="3059430"/>
              <a:ext cx="151257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065122" y="3167062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799.2 MB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829675" y="3059430"/>
              <a:ext cx="102108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443961" y="31670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11573" y="3167062"/>
              <a:ext cx="652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400 GB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8376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81538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85551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3447" y="3503771"/>
              <a:ext cx="5206111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朴素做法：各进程把 S 都发给根进程归约，根进程再逐个广播回去，根进程要收 (N−1)S、再发</a:t>
              </a:r>
              <a:br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(N−1)S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3994785"/>
            <a:ext cx="5410200" cy="1967865"/>
            <a:chOff x="6248400" y="3994785"/>
            <a:chExt cx="5410200" cy="1967865"/>
          </a:xfrm>
        </p:grpSpPr>
        <p:sp>
          <p:nvSpPr>
            <p:cNvPr id="66" name="Rectangle 66"/>
            <p:cNvSpPr/>
            <p:nvPr/>
          </p:nvSpPr>
          <p:spPr>
            <a:xfrm>
              <a:off x="6248400" y="3994785"/>
              <a:ext cx="5410200" cy="1967865"/>
            </a:xfrm>
            <a:prstGeom prst="roundRect">
              <a:avLst>
                <a:gd name="adj" fmla="val 67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29375" y="41757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22047" y="42086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22898" y="4515326"/>
              <a:ext cx="48409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环形算法每个进程的发送量永远不到 2S，几乎不随 N 增长，所以没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有根节点瓶颈；步数却随 N 线性增长，这就是原课件说的“大规模性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能较差”。多卡训练深度学习模型时同步梯度常用这种算法。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73825" cy="909257"/>
            <a:chOff x="520446" y="342900"/>
            <a:chExt cx="87738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并行计算环境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738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 MPI 程序：编译一次，拷到各节点，用 mpirun 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flow-1"/>
          <p:cNvGrpSpPr/>
          <p:nvPr/>
        </p:nvGrpSpPr>
        <p:grpSpPr>
          <a:xfrm>
            <a:off x="666750" y="1749742"/>
            <a:ext cx="4493895" cy="3669984"/>
            <a:chOff x="666750" y="1749742"/>
            <a:chExt cx="4493895" cy="3669984"/>
          </a:xfrm>
        </p:grpSpPr>
        <p:sp>
          <p:nvSpPr>
            <p:cNvPr id="7" name="Freeform 7"/>
            <p:cNvSpPr/>
            <p:nvPr/>
          </p:nvSpPr>
          <p:spPr>
            <a:xfrm>
              <a:off x="2913698" y="2122170"/>
              <a:ext cx="9525" cy="347662"/>
            </a:xfrm>
            <a:custGeom>
              <a:avLst/>
              <a:gdLst/>
              <a:ahLst/>
              <a:cxnLst/>
              <a:rect l="l" t="t" r="r" b="b"/>
              <a:pathLst>
                <a:path w="9525" h="347662">
                  <a:moveTo>
                    <a:pt x="0" y="0"/>
                  </a:moveTo>
                  <a:lnTo>
                    <a:pt x="0" y="3476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61310" y="24698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26832" y="2947035"/>
              <a:ext cx="1586865" cy="346710"/>
            </a:xfrm>
            <a:custGeom>
              <a:avLst/>
              <a:gdLst/>
              <a:ahLst/>
              <a:cxnLst/>
              <a:rect l="l" t="t" r="r" b="b"/>
              <a:pathLst>
                <a:path w="1586865" h="346710">
                  <a:moveTo>
                    <a:pt x="1586865" y="0"/>
                  </a:moveTo>
                  <a:lnTo>
                    <a:pt x="1586865" y="225743"/>
                  </a:lnTo>
                  <a:lnTo>
                    <a:pt x="0" y="225743"/>
                  </a:ln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74445" y="32937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2947035"/>
              <a:ext cx="9525" cy="346710"/>
            </a:xfrm>
            <a:custGeom>
              <a:avLst/>
              <a:gdLst/>
              <a:ahLst/>
              <a:cxnLst/>
              <a:rect l="l" t="t" r="r" b="b"/>
              <a:pathLst>
                <a:path w="9525" h="346710">
                  <a:moveTo>
                    <a:pt x="0" y="0"/>
                  </a:moveTo>
                  <a:lnTo>
                    <a:pt x="0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61310" y="32937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13698" y="2947035"/>
              <a:ext cx="1586865" cy="346710"/>
            </a:xfrm>
            <a:custGeom>
              <a:avLst/>
              <a:gdLst/>
              <a:ahLst/>
              <a:cxnLst/>
              <a:rect l="l" t="t" r="r" b="b"/>
              <a:pathLst>
                <a:path w="1586865" h="346710">
                  <a:moveTo>
                    <a:pt x="0" y="0"/>
                  </a:moveTo>
                  <a:lnTo>
                    <a:pt x="0" y="225743"/>
                  </a:lnTo>
                  <a:lnTo>
                    <a:pt x="1586865" y="225743"/>
                  </a:lnTo>
                  <a:lnTo>
                    <a:pt x="1586865" y="3467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48175" y="32937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26832" y="3770948"/>
              <a:ext cx="1586865" cy="257175"/>
            </a:xfrm>
            <a:custGeom>
              <a:avLst/>
              <a:gdLst/>
              <a:ahLst/>
              <a:cxnLst/>
              <a:rect l="l" t="t" r="r" b="b"/>
              <a:pathLst>
                <a:path w="1586865" h="257175">
                  <a:moveTo>
                    <a:pt x="0" y="0"/>
                  </a:moveTo>
                  <a:lnTo>
                    <a:pt x="0" y="180975"/>
                  </a:lnTo>
                  <a:lnTo>
                    <a:pt x="1586865" y="180975"/>
                  </a:lnTo>
                  <a:lnTo>
                    <a:pt x="1586865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61310" y="40281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13698" y="3770948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61310" y="40281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913698" y="3770948"/>
              <a:ext cx="1586865" cy="257175"/>
            </a:xfrm>
            <a:custGeom>
              <a:avLst/>
              <a:gdLst/>
              <a:ahLst/>
              <a:cxnLst/>
              <a:rect l="l" t="t" r="r" b="b"/>
              <a:pathLst>
                <a:path w="1586865" h="257175">
                  <a:moveTo>
                    <a:pt x="1586865" y="0"/>
                  </a:moveTo>
                  <a:lnTo>
                    <a:pt x="1586865" y="180975"/>
                  </a:lnTo>
                  <a:lnTo>
                    <a:pt x="0" y="180975"/>
                  </a:lnTo>
                  <a:lnTo>
                    <a:pt x="0" y="2571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861310" y="40281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913698" y="4684395"/>
              <a:ext cx="9525" cy="258127"/>
            </a:xfrm>
            <a:custGeom>
              <a:avLst/>
              <a:gdLst/>
              <a:ahLst/>
              <a:cxnLst/>
              <a:rect l="l" t="t" r="r" b="b"/>
              <a:pathLst>
                <a:path w="9525" h="258127">
                  <a:moveTo>
                    <a:pt x="0" y="0"/>
                  </a:moveTo>
                  <a:lnTo>
                    <a:pt x="0" y="2581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861310" y="4942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53615" y="1749742"/>
              <a:ext cx="132016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53615" y="2574608"/>
              <a:ext cx="132016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3398520"/>
              <a:ext cx="132016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53615" y="3398520"/>
              <a:ext cx="132016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40480" y="3398520"/>
              <a:ext cx="132016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66775" y="4132898"/>
              <a:ext cx="409479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253615" y="5047298"/>
              <a:ext cx="1320165" cy="3724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54453" y="1863090"/>
              <a:ext cx="718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源程序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90699" y="2687002"/>
              <a:ext cx="1045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可执行 MPI 程序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9398" y="351091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结点机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36263" y="351091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结点机 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19727" y="3510915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结点机 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74938" y="4245292"/>
              <a:ext cx="14775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各结点机上的 MPI 程序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并行执行，协同完成任务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67012" y="51596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942272" y="2269808"/>
              <a:ext cx="178689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66085" y="2292668"/>
              <a:ext cx="18299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支持 MPI 的 C 或 Fortran 编译器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942272" y="3093720"/>
              <a:ext cx="8953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66085" y="311658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拷贝到各结点机</a:t>
              </a:r>
            </a:p>
          </p:txBody>
        </p:sp>
      </p:grpSp>
      <p:grpSp>
        <p:nvGrpSpPr>
          <p:cNvPr id="45" name="c2-code-1"/>
          <p:cNvGrpSpPr/>
          <p:nvPr/>
        </p:nvGrpSpPr>
        <p:grpSpPr>
          <a:xfrm>
            <a:off x="5598795" y="1524000"/>
            <a:ext cx="6059805" cy="1556385"/>
            <a:chOff x="5598795" y="1524000"/>
            <a:chExt cx="6059805" cy="1556385"/>
          </a:xfrm>
        </p:grpSpPr>
        <p:sp>
          <p:nvSpPr>
            <p:cNvPr id="42" name="Rectangle 42"/>
            <p:cNvSpPr/>
            <p:nvPr/>
          </p:nvSpPr>
          <p:spPr>
            <a:xfrm>
              <a:off x="5598795" y="1524000"/>
              <a:ext cx="6059805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27192" y="1675924"/>
              <a:ext cx="16543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原课件第100、102页的命令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27382" y="1935004"/>
              <a:ext cx="3045206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% cc -o hello hello.c -I/usr/local/mpi/include \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-L/usr/local/mpi/lib -lmpi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% mpicc -o hello hello.c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等价的简写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% ./hello 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没用 mpirun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[0] Aborting program ! Could not create p4 procgroup.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% mpirun -np 4 hello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启动 4 个进程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% mpirun -machinefile hosts -np 6 cpi</a:t>
              </a:r>
            </a:p>
          </p:txBody>
        </p:sp>
      </p:grpSp>
      <p:grpSp>
        <p:nvGrpSpPr>
          <p:cNvPr id="51" name="c2-kv-2"/>
          <p:cNvGrpSpPr/>
          <p:nvPr/>
        </p:nvGrpSpPr>
        <p:grpSpPr>
          <a:xfrm>
            <a:off x="5592318" y="3266599"/>
            <a:ext cx="6066282" cy="1102804"/>
            <a:chOff x="5592318" y="3266599"/>
            <a:chExt cx="6066282" cy="1102804"/>
          </a:xfrm>
        </p:grpSpPr>
        <p:sp>
          <p:nvSpPr>
            <p:cNvPr id="46" name="TextBox 46"/>
            <p:cNvSpPr txBox="1"/>
            <p:nvPr/>
          </p:nvSpPr>
          <p:spPr>
            <a:xfrm>
              <a:off x="5592318" y="3266599"/>
              <a:ext cx="7208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MPI 实现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18186" y="3266599"/>
              <a:ext cx="4272026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MPICH、LAM（Local Area Multicomputer）、Open MPI、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CHIMP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37776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92318" y="3880009"/>
              <a:ext cx="10080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machinefile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18186" y="3880009"/>
              <a:ext cx="368681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列出可用节点的文件；默认是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$(HOME)/mpich/util/machines/machines.LINUX</a:t>
              </a:r>
            </a:p>
          </p:txBody>
        </p:sp>
      </p:grpSp>
      <p:grpSp>
        <p:nvGrpSpPr>
          <p:cNvPr id="76" name="c2-table-3"/>
          <p:cNvGrpSpPr/>
          <p:nvPr/>
        </p:nvGrpSpPr>
        <p:grpSpPr>
          <a:xfrm>
            <a:off x="5593842" y="4483418"/>
            <a:ext cx="6064758" cy="1199864"/>
            <a:chOff x="5593842" y="4483418"/>
            <a:chExt cx="6064758" cy="1199864"/>
          </a:xfrm>
        </p:grpSpPr>
        <p:sp>
          <p:nvSpPr>
            <p:cNvPr id="52" name="Rectangle 52"/>
            <p:cNvSpPr/>
            <p:nvPr/>
          </p:nvSpPr>
          <p:spPr>
            <a:xfrm>
              <a:off x="5598795" y="4483418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30251" y="46005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rank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896" y="46005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67196" y="46005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44448" y="46005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20748" y="46005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97048" y="46005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74301" y="46005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693474" y="4982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37353" y="49825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13653" y="49825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90906" y="49825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67206" y="49825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43506" y="49825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91825" y="4874895"/>
              <a:ext cx="85725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20758" y="49825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node1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598795" y="4483418"/>
              <a:ext cx="6059805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394132" y="44834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270432" y="44834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147685" y="44834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023985" y="44834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900285" y="44834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0777538" y="448341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593842" y="5319236"/>
              <a:ext cx="5523484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例：hosts 里列了 node1–node5（原课件第103页），-np 6 时 MPICH 按列表轮转，第 6 个进程回到</a:t>
              </a:r>
              <a:br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node1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7" name="Rectangle 7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1273" y="6039326"/>
              <a:ext cx="9686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./hello 报错是老版本 MPICH（p4 设备）的行为；现在的 MPICH、Open MPI 允许不经 mpirun 直接运行，这时只有 1 个进程。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02761" cy="3351847"/>
            <a:chOff x="667512" y="1835468"/>
            <a:chExt cx="380276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集群架构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集群由哪些软硬件组成，谁来管理它们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内容提要五：集群架构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集群系统的优点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硬件、软件、应用三层模块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从单机操作系统到集群操作系统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集群系统的优点与组成模块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542" y="1545907"/>
            <a:ext cx="4010978" cy="2096929"/>
            <a:chOff x="526542" y="1545907"/>
            <a:chExt cx="4010978" cy="2096929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964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优点（原课件第106页）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83092"/>
              <a:ext cx="107632" cy="87630"/>
            </a:xfrm>
            <a:custGeom>
              <a:avLst/>
              <a:gdLst/>
              <a:ahLst/>
              <a:cxnLst/>
              <a:rect l="l" t="t" r="r" b="b"/>
              <a:pathLst>
                <a:path w="107632" h="87630">
                  <a:moveTo>
                    <a:pt x="0" y="46673"/>
                  </a:moveTo>
                  <a:lnTo>
                    <a:pt x="40957" y="87630"/>
                  </a:lnTo>
                  <a:lnTo>
                    <a:pt x="10763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9618" y="185975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性能/价格比高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152650"/>
              <a:ext cx="107632" cy="87630"/>
            </a:xfrm>
            <a:custGeom>
              <a:avLst/>
              <a:gdLst/>
              <a:ahLst/>
              <a:cxnLst/>
              <a:rect l="l" t="t" r="r" b="b"/>
              <a:pathLst>
                <a:path w="107632" h="87630">
                  <a:moveTo>
                    <a:pt x="0" y="46673"/>
                  </a:moveTo>
                  <a:lnTo>
                    <a:pt x="40957" y="87630"/>
                  </a:lnTo>
                  <a:lnTo>
                    <a:pt x="10763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618" y="21293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可扩展性好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423160"/>
              <a:ext cx="107632" cy="86677"/>
            </a:xfrm>
            <a:custGeom>
              <a:avLst/>
              <a:gdLst/>
              <a:ahLst/>
              <a:cxnLst/>
              <a:rect l="l" t="t" r="r" b="b"/>
              <a:pathLst>
                <a:path w="107632" h="86677">
                  <a:moveTo>
                    <a:pt x="0" y="45720"/>
                  </a:moveTo>
                  <a:lnTo>
                    <a:pt x="40957" y="86677"/>
                  </a:lnTo>
                  <a:lnTo>
                    <a:pt x="10763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9618" y="23988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容错性能好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692718"/>
              <a:ext cx="107632" cy="87630"/>
            </a:xfrm>
            <a:custGeom>
              <a:avLst/>
              <a:gdLst/>
              <a:ahLst/>
              <a:cxnLst/>
              <a:rect l="l" t="t" r="r" b="b"/>
              <a:pathLst>
                <a:path w="107632" h="87630">
                  <a:moveTo>
                    <a:pt x="0" y="45720"/>
                  </a:moveTo>
                  <a:lnTo>
                    <a:pt x="40957" y="87630"/>
                  </a:lnTo>
                  <a:lnTo>
                    <a:pt x="10763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9618" y="266842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能用异构的软件和硬件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2962275"/>
              <a:ext cx="107632" cy="87630"/>
            </a:xfrm>
            <a:custGeom>
              <a:avLst/>
              <a:gdLst/>
              <a:ahLst/>
              <a:cxnLst/>
              <a:rect l="l" t="t" r="r" b="b"/>
              <a:pathLst>
                <a:path w="107632" h="87630">
                  <a:moveTo>
                    <a:pt x="0" y="46672"/>
                  </a:moveTo>
                  <a:lnTo>
                    <a:pt x="40957" y="87630"/>
                  </a:lnTo>
                  <a:lnTo>
                    <a:pt x="10763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293893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支持串行、并行、工作流等不同作业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3231832"/>
              <a:ext cx="107632" cy="87630"/>
            </a:xfrm>
            <a:custGeom>
              <a:avLst/>
              <a:gdLst/>
              <a:ahLst/>
              <a:cxnLst/>
              <a:rect l="l" t="t" r="r" b="b"/>
              <a:pathLst>
                <a:path w="107632" h="87630">
                  <a:moveTo>
                    <a:pt x="0" y="46672"/>
                  </a:moveTo>
                  <a:lnTo>
                    <a:pt x="40957" y="87630"/>
                  </a:lnTo>
                  <a:lnTo>
                    <a:pt x="10763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9618" y="3208496"/>
              <a:ext cx="3787902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有功能强大的集群管理系统（集群 OS）：LSF、SGE、PBS、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Condor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3768090"/>
            <a:ext cx="4328160" cy="978218"/>
            <a:chOff x="533400" y="3768090"/>
            <a:chExt cx="4328160" cy="978218"/>
          </a:xfrm>
        </p:grpSpPr>
        <p:sp>
          <p:nvSpPr>
            <p:cNvPr id="21" name="Rectangle 21"/>
            <p:cNvSpPr/>
            <p:nvPr/>
          </p:nvSpPr>
          <p:spPr>
            <a:xfrm>
              <a:off x="533400" y="3768090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157663"/>
              <a:ext cx="200026" cy="200026"/>
              <a:chOff x="738188" y="4157663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1576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224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2576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3914775"/>
              <a:ext cx="342557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 OS 管作业和资源，区别于并行计算环境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PVM、MPI：后者只管一个作业内部的进程怎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样通信。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915852"/>
            <a:ext cx="4328160" cy="1443038"/>
            <a:chOff x="533400" y="4915852"/>
            <a:chExt cx="4328160" cy="1443038"/>
          </a:xfrm>
        </p:grpSpPr>
        <p:sp>
          <p:nvSpPr>
            <p:cNvPr id="28" name="Rectangle 28"/>
            <p:cNvSpPr/>
            <p:nvPr/>
          </p:nvSpPr>
          <p:spPr>
            <a:xfrm>
              <a:off x="533400" y="4915852"/>
              <a:ext cx="432816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504920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51025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0862" y="51354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332" y="5447348"/>
              <a:ext cx="37256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原课件把网络速率写成 1GB、20 GB、40GB，应按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比特计：千兆以太网 1 Gb/s，InfiniBand QDR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Gb/s。AutoDoc 应为 AutoDock。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5161407" y="1524000"/>
            <a:ext cx="6497193" cy="4264056"/>
            <a:chOff x="5161407" y="1524000"/>
            <a:chExt cx="6497193" cy="4264056"/>
          </a:xfrm>
        </p:grpSpPr>
        <p:sp>
          <p:nvSpPr>
            <p:cNvPr id="34" name="Rectangle 34"/>
            <p:cNvSpPr/>
            <p:nvPr/>
          </p:nvSpPr>
          <p:spPr>
            <a:xfrm>
              <a:off x="5166360" y="1524000"/>
              <a:ext cx="649224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10060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339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2470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6351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13120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00950" y="2045494"/>
              <a:ext cx="1881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多达上万台主机、50 万个核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23193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166360" y="23241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6351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13120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00950" y="2445544"/>
              <a:ext cx="711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TB、PB 级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166360" y="27193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351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13120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00950" y="2845594"/>
              <a:ext cx="3501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以太网 1 Gb/s、光纤 20 Gb/s、InfiniBand 40 Gb/s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31194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66360" y="31242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3515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13120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00950" y="3245644"/>
              <a:ext cx="2148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Unix、Linux、Windows Server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35194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63515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13120" y="3645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资源调度器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00950" y="3645694"/>
              <a:ext cx="1101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LSF、SGE、PBS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166360" y="39195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166360" y="39243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63515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13120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存储系统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513320" y="3933825"/>
              <a:ext cx="413575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00950" y="4045744"/>
              <a:ext cx="3012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NFS、Lustre、HDFS、S3、HBase、Dynamo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166360" y="43195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63515" y="4445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13120" y="44457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并行计算环境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00950" y="4445794"/>
              <a:ext cx="2196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MPI、PVM、Hadoop MapReduce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166360" y="47196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166360" y="47244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63515" y="4845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13120" y="4845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数值模拟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00950" y="4845844"/>
              <a:ext cx="2186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Fluent、LS-DYNA、VASP、WRF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166360" y="51196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263515" y="5245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913120" y="52458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00950" y="5245894"/>
              <a:ext cx="23572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BLAST、AutoDock、Web 日志分析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166360" y="1524000"/>
              <a:ext cx="6492240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581120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49903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161407" y="5597366"/>
              <a:ext cx="458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分布式系统模块（原课件第111页）；存储系统这一行是本课后面各部分的主角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集群操作系统：把单机操作系统的职能搬到整个集群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6059805" cy="3613785"/>
            <a:chOff x="533400" y="1524000"/>
            <a:chExt cx="6059805" cy="36137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7235" y="1652588"/>
              <a:ext cx="92583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单机 OS 的功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09100" y="17592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8393" y="175926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集群里对应的系统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289810"/>
              <a:ext cx="101460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处理机/任务管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9389" y="2289810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作业与进程调度、进程控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制、进程同步和通信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057650" y="2171700"/>
              <a:ext cx="2526030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50614" y="2289810"/>
              <a:ext cx="19629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LSF、SGE、PBS、Condor、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Hadoop、Google MapReduce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7946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799398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0346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69389" y="2927985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文件操作、目录管理、读写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808922"/>
              <a:ext cx="2526030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50614" y="3034665"/>
              <a:ext cx="1717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NFS、SAN、GFS、HDFS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3281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36728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用户管理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9389" y="36728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群组、权限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57650" y="3447098"/>
              <a:ext cx="2526030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50614" y="3566160"/>
              <a:ext cx="17495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账号、NIS、LDAP、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0700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074795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42033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69389" y="42033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内存保护、分配、地址映射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50614" y="42033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原课件未展开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4948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889" y="4628198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网络管理、设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备管理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69389" y="473487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网卡、磁盘等设备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50614" y="473487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原课件未展开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6059805" cy="3613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62138" y="1524000"/>
              <a:ext cx="9525" cy="3613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43362" y="1524000"/>
              <a:ext cx="9525" cy="3613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5317808"/>
            <a:ext cx="6059805" cy="1018222"/>
            <a:chOff x="533400" y="5317808"/>
            <a:chExt cx="6059805" cy="1018222"/>
          </a:xfrm>
        </p:grpSpPr>
        <p:sp>
          <p:nvSpPr>
            <p:cNvPr id="39" name="Rectangle 39"/>
            <p:cNvSpPr/>
            <p:nvPr/>
          </p:nvSpPr>
          <p:spPr>
            <a:xfrm>
              <a:off x="533400" y="5317808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727383"/>
              <a:ext cx="200026" cy="200025"/>
              <a:chOff x="738188" y="5727383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7273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57718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58829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464969"/>
              <a:ext cx="50639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本讲后两节正好对应前三行里的两行：第六节讲用户与共享信息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管理（NIS、ZooKeeper），第七节讲处理机管理（LSF）。文件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管理的 NFS、GFS、HDFS 放在第4部分。</a:t>
              </a:r>
            </a:p>
          </p:txBody>
        </p:sp>
      </p:grpSp>
      <p:grpSp>
        <p:nvGrpSpPr>
          <p:cNvPr id="70" name="c2-flow-1"/>
          <p:cNvGrpSpPr/>
          <p:nvPr/>
        </p:nvGrpSpPr>
        <p:grpSpPr>
          <a:xfrm>
            <a:off x="7064692" y="1613535"/>
            <a:ext cx="4427220" cy="2775585"/>
            <a:chOff x="7064692" y="1613535"/>
            <a:chExt cx="4427220" cy="2775585"/>
          </a:xfrm>
        </p:grpSpPr>
        <p:sp>
          <p:nvSpPr>
            <p:cNvPr id="46" name="Freeform 46"/>
            <p:cNvSpPr/>
            <p:nvPr/>
          </p:nvSpPr>
          <p:spPr>
            <a:xfrm>
              <a:off x="8087678" y="2004060"/>
              <a:ext cx="9525" cy="20955"/>
            </a:xfrm>
            <a:custGeom>
              <a:avLst/>
              <a:gdLst/>
              <a:ahLst/>
              <a:cxnLst/>
              <a:rect l="l" t="t" r="r" b="b"/>
              <a:pathLst>
                <a:path w="9525" h="20955">
                  <a:moveTo>
                    <a:pt x="0" y="209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035290" y="20040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087678" y="2711768"/>
              <a:ext cx="9525" cy="92392"/>
            </a:xfrm>
            <a:custGeom>
              <a:avLst/>
              <a:gdLst/>
              <a:ahLst/>
              <a:cxnLst/>
              <a:rect l="l" t="t" r="r" b="b"/>
              <a:pathLst>
                <a:path w="9525" h="92392">
                  <a:moveTo>
                    <a:pt x="0" y="0"/>
                  </a:moveTo>
                  <a:lnTo>
                    <a:pt x="0" y="923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035290" y="26993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087678" y="2706052"/>
              <a:ext cx="2380298" cy="98107"/>
            </a:xfrm>
            <a:custGeom>
              <a:avLst/>
              <a:gdLst/>
              <a:ahLst/>
              <a:cxnLst/>
              <a:rect l="l" t="t" r="r" b="b"/>
              <a:pathLst>
                <a:path w="2380298" h="98107">
                  <a:moveTo>
                    <a:pt x="0" y="5715"/>
                  </a:moveTo>
                  <a:lnTo>
                    <a:pt x="0" y="0"/>
                  </a:lnTo>
                  <a:lnTo>
                    <a:pt x="2380298" y="0"/>
                  </a:lnTo>
                  <a:lnTo>
                    <a:pt x="2380298" y="981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415588" y="26993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087678" y="3296602"/>
              <a:ext cx="1190625" cy="99060"/>
            </a:xfrm>
            <a:custGeom>
              <a:avLst/>
              <a:gdLst/>
              <a:ahLst/>
              <a:cxnLst/>
              <a:rect l="l" t="t" r="r" b="b"/>
              <a:pathLst>
                <a:path w="1190625" h="99060">
                  <a:moveTo>
                    <a:pt x="0" y="6667"/>
                  </a:moveTo>
                  <a:lnTo>
                    <a:pt x="0" y="0"/>
                  </a:lnTo>
                  <a:lnTo>
                    <a:pt x="1190625" y="0"/>
                  </a:lnTo>
                  <a:lnTo>
                    <a:pt x="1190625" y="99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225915" y="32908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9278302" y="3296602"/>
              <a:ext cx="1189672" cy="99060"/>
            </a:xfrm>
            <a:custGeom>
              <a:avLst/>
              <a:gdLst/>
              <a:ahLst/>
              <a:cxnLst/>
              <a:rect l="l" t="t" r="r" b="b"/>
              <a:pathLst>
                <a:path w="1189672" h="99060">
                  <a:moveTo>
                    <a:pt x="1189672" y="6667"/>
                  </a:moveTo>
                  <a:lnTo>
                    <a:pt x="1189672" y="0"/>
                  </a:lnTo>
                  <a:lnTo>
                    <a:pt x="0" y="0"/>
                  </a:lnTo>
                  <a:lnTo>
                    <a:pt x="0" y="990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225915" y="32908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9278302" y="3872865"/>
              <a:ext cx="9525" cy="20955"/>
            </a:xfrm>
            <a:custGeom>
              <a:avLst/>
              <a:gdLst/>
              <a:ahLst/>
              <a:cxnLst/>
              <a:rect l="l" t="t" r="r" b="b"/>
              <a:pathLst>
                <a:path w="9525" h="20955">
                  <a:moveTo>
                    <a:pt x="0" y="209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225915" y="38728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64692" y="1613535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64692" y="2108835"/>
              <a:ext cx="204692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64692" y="2699385"/>
              <a:ext cx="204692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444990" y="2699385"/>
              <a:ext cx="204692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230428" y="3290888"/>
              <a:ext cx="409479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230428" y="3977640"/>
              <a:ext cx="4094798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58494" y="17354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1032" y="2224088"/>
              <a:ext cx="11932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并行计算环境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MPI、MapReduce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00582" y="2814638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资源调度器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LSF、PBS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92309" y="2814638"/>
              <a:ext cx="7513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存储系统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NFS、HDFS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67406" y="3405188"/>
              <a:ext cx="621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22170" y="40995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硬件：主机、共享存储、网络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6898005" y="4658678"/>
            <a:ext cx="4760595" cy="1677352"/>
            <a:chOff x="6898005" y="4658678"/>
            <a:chExt cx="4760595" cy="1677352"/>
          </a:xfrm>
        </p:grpSpPr>
        <p:sp>
          <p:nvSpPr>
            <p:cNvPr id="71" name="Rectangle 71"/>
            <p:cNvSpPr/>
            <p:nvPr/>
          </p:nvSpPr>
          <p:spPr>
            <a:xfrm>
              <a:off x="6898005" y="4658678"/>
              <a:ext cx="4760595" cy="1677352"/>
            </a:xfrm>
            <a:prstGeom prst="roundRect">
              <a:avLst>
                <a:gd name="adj" fmla="val 681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102793" y="5397818"/>
              <a:ext cx="200026" cy="200026"/>
              <a:chOff x="7102793" y="5397818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102793" y="53978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02805" y="54644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191693" y="54978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405116" y="5135404"/>
              <a:ext cx="373849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原课件第108、117、122、131页反复出现的吉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大高性能计算中心架构图，已在第1部分第26页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重画。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802761" cy="3351847"/>
            <a:chOff x="667512" y="1835468"/>
            <a:chExt cx="380276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共享信息管理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让整个集群用同一套账号、同一份配置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内容提要六：共享信息管理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33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NIS：统一账号和主机信息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8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ZooKeeper：配置、命名、锁和选主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256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多数派机制与 Leader 选举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1434" cy="909257"/>
            <a:chOff x="520446" y="342900"/>
            <a:chExt cx="70814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共享信息管理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14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NIS：把账号、主机名等配置集中到一台服务器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427922"/>
            <a:chOff x="533400" y="1524000"/>
            <a:chExt cx="5410200" cy="24279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27922"/>
            </a:xfrm>
            <a:prstGeom prst="roundRect">
              <a:avLst>
                <a:gd name="adj" fmla="val 54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6122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35228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NIS（Network Information Service）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网络信息服务：集中管理网络中所有与系统管理相关的配置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文件（用户账号、密码、主机名、群组等）的主从式目录服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务协议。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30422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982754"/>
              <a:ext cx="44688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最早由 Sun 公司开发。旧名 Yellow Pages（黄页）已被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英国电信注册为商标，于是改名 NIS，但命令和函数仍以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yp 开头（ypbind、ypserv）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136708"/>
            <a:ext cx="5410200" cy="2048828"/>
            <a:chOff x="533400" y="4136708"/>
            <a:chExt cx="5410200" cy="2048828"/>
          </a:xfrm>
        </p:grpSpPr>
        <p:sp>
          <p:nvSpPr>
            <p:cNvPr id="16" name="Rectangle 16"/>
            <p:cNvSpPr/>
            <p:nvPr/>
          </p:nvSpPr>
          <p:spPr>
            <a:xfrm>
              <a:off x="533400" y="4136708"/>
              <a:ext cx="5410200" cy="2048828"/>
            </a:xfrm>
            <a:prstGeom prst="roundRect">
              <a:avLst>
                <a:gd name="adj" fmla="val 65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7235" y="434054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44" y="4376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统一账号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471439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用户名和密码存在 NIS 数据库里，用户就能在网络中任何一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台运行 NIS 客户端的机器上登录，所有主机上的账号都一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样，整个网络像一个系统。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1139" y="5573078"/>
              <a:ext cx="4751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原课件称之为“单点登录”。严格说这是统一账号：每登录一台机器仍要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输一次密码，只是用的是同一套账号。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242685" y="1524000"/>
            <a:ext cx="5415915" cy="4166712"/>
            <a:chOff x="6242685" y="1524000"/>
            <a:chExt cx="5415915" cy="4166712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1127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服务器端文件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931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3747" y="2085022"/>
              <a:ext cx="107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/etc/passwd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1609" y="2085022"/>
              <a:ext cx="2845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用户账号、UID、GID、家目录、Shell 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3747" y="2515552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/etc/group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01609" y="2515552"/>
              <a:ext cx="2563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群组数据、GID 对应，以及群组成员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3747" y="2946082"/>
              <a:ext cx="945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/etc/hosts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01609" y="2946082"/>
              <a:ext cx="2930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主机名与 IP 的对应，常用于私有 IP 主机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3747" y="3375660"/>
              <a:ext cx="1182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/etc/services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1609" y="33756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每种服务（守护进程）对应的端口号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3747" y="3806190"/>
              <a:ext cx="1275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/etc/protocols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1609" y="3806190"/>
              <a:ext cx="3070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基础的 TCP/IP 协议，如 TCP、UDP、ICMP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41052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3747" y="4235768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/etc/netgroup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01609" y="423576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网络群组的定义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4530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3747" y="4666298"/>
              <a:ext cx="758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/etc/rpc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01609" y="4666298"/>
              <a:ext cx="2011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 RPC 服务对应的程序号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9606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4965382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53747" y="5096828"/>
              <a:ext cx="1598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/var/yp/ypservers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01609" y="5096828"/>
              <a:ext cx="1917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NIS 服务器所提供的数据库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1524000"/>
              <a:ext cx="5410200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91500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2685" y="5470684"/>
              <a:ext cx="2340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NIS 提供的数据（原课件第121页）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12093" cy="909257"/>
            <a:chOff x="520446" y="342900"/>
            <a:chExt cx="89120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共享信息管理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120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NIS 工作原理：主服务器建库，从服务器同步，客户端查询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715328" y="1945958"/>
            <a:ext cx="5115877" cy="3899534"/>
            <a:chOff x="715328" y="1945958"/>
            <a:chExt cx="5115877" cy="3899534"/>
          </a:xfrm>
        </p:grpSpPr>
        <p:sp>
          <p:nvSpPr>
            <p:cNvPr id="7" name="Freeform 7"/>
            <p:cNvSpPr/>
            <p:nvPr/>
          </p:nvSpPr>
          <p:spPr>
            <a:xfrm>
              <a:off x="1354455" y="2423160"/>
              <a:ext cx="1508760" cy="1298257"/>
            </a:xfrm>
            <a:custGeom>
              <a:avLst/>
              <a:gdLst/>
              <a:ahLst/>
              <a:cxnLst/>
              <a:rect l="l" t="t" r="r" b="b"/>
              <a:pathLst>
                <a:path w="1508760" h="1298257">
                  <a:moveTo>
                    <a:pt x="0" y="0"/>
                  </a:moveTo>
                  <a:lnTo>
                    <a:pt x="1508760" y="12982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32735" y="3685222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98108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82065" y="2361248"/>
              <a:ext cx="102870" cy="98107"/>
            </a:xfrm>
            <a:custGeom>
              <a:avLst/>
              <a:gdLst/>
              <a:ahLst/>
              <a:cxnLst/>
              <a:rect l="l" t="t" r="r" b="b"/>
              <a:pathLst>
                <a:path w="102870" h="98107">
                  <a:moveTo>
                    <a:pt x="0" y="0"/>
                  </a:moveTo>
                  <a:lnTo>
                    <a:pt x="102870" y="25717"/>
                  </a:lnTo>
                  <a:lnTo>
                    <a:pt x="40958" y="9810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72578" y="3943350"/>
              <a:ext cx="1024890" cy="9525"/>
            </a:xfrm>
            <a:custGeom>
              <a:avLst/>
              <a:gdLst/>
              <a:ahLst/>
              <a:cxnLst/>
              <a:rect l="l" t="t" r="r" b="b"/>
              <a:pathLst>
                <a:path w="1024890" h="9525">
                  <a:moveTo>
                    <a:pt x="0" y="0"/>
                  </a:moveTo>
                  <a:lnTo>
                    <a:pt x="10248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597468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477328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54455" y="4165282"/>
              <a:ext cx="1508760" cy="1298258"/>
            </a:xfrm>
            <a:custGeom>
              <a:avLst/>
              <a:gdLst/>
              <a:ahLst/>
              <a:cxnLst/>
              <a:rect l="l" t="t" r="r" b="b"/>
              <a:pathLst>
                <a:path w="1508760" h="1298258">
                  <a:moveTo>
                    <a:pt x="0" y="1298258"/>
                  </a:moveTo>
                  <a:lnTo>
                    <a:pt x="15087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32735" y="4103370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0"/>
                  </a:moveTo>
                  <a:lnTo>
                    <a:pt x="61912" y="98108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282065" y="5427345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0" y="98108"/>
                  </a:moveTo>
                  <a:lnTo>
                    <a:pt x="40958" y="0"/>
                  </a:lnTo>
                  <a:lnTo>
                    <a:pt x="102870" y="723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91852" y="2516505"/>
              <a:ext cx="1481138" cy="1206818"/>
            </a:xfrm>
            <a:custGeom>
              <a:avLst/>
              <a:gdLst/>
              <a:ahLst/>
              <a:cxnLst/>
              <a:rect l="l" t="t" r="r" b="b"/>
              <a:pathLst>
                <a:path w="1481138" h="1206818">
                  <a:moveTo>
                    <a:pt x="0" y="1206818"/>
                  </a:moveTo>
                  <a:lnTo>
                    <a:pt x="14811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842510" y="2456498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60008" y="97155"/>
                  </a:lnTo>
                  <a:lnTo>
                    <a:pt x="0" y="238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18510" y="3686175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2862" y="0"/>
                  </a:lnTo>
                  <a:lnTo>
                    <a:pt x="103823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391852" y="4163378"/>
              <a:ext cx="1597342" cy="1302067"/>
            </a:xfrm>
            <a:custGeom>
              <a:avLst/>
              <a:gdLst/>
              <a:ahLst/>
              <a:cxnLst/>
              <a:rect l="l" t="t" r="r" b="b"/>
              <a:pathLst>
                <a:path w="1597342" h="1302067">
                  <a:moveTo>
                    <a:pt x="0" y="0"/>
                  </a:moveTo>
                  <a:lnTo>
                    <a:pt x="1597342" y="13020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959668" y="5428298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3343"/>
                  </a:lnTo>
                  <a:lnTo>
                    <a:pt x="6000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318510" y="4103370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0"/>
                  </a:moveTo>
                  <a:lnTo>
                    <a:pt x="103823" y="22860"/>
                  </a:lnTo>
                  <a:lnTo>
                    <a:pt x="42862" y="9715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259705" y="2456498"/>
              <a:ext cx="9525" cy="2973705"/>
            </a:xfrm>
            <a:custGeom>
              <a:avLst/>
              <a:gdLst/>
              <a:ahLst/>
              <a:cxnLst/>
              <a:rect l="l" t="t" r="r" b="b"/>
              <a:pathLst>
                <a:path w="9525" h="2973705">
                  <a:moveTo>
                    <a:pt x="0" y="0"/>
                  </a:moveTo>
                  <a:lnTo>
                    <a:pt x="0" y="297370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212080" y="54302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5328" y="2041208"/>
              <a:ext cx="762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5328" y="3783330"/>
              <a:ext cx="762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5328" y="5525452"/>
              <a:ext cx="762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92718" y="3783330"/>
              <a:ext cx="8572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88205" y="1945958"/>
              <a:ext cx="1143000" cy="510540"/>
            </a:xfrm>
            <a:prstGeom prst="roundRect">
              <a:avLst>
                <a:gd name="adj" fmla="val 1865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88205" y="5525452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7916" y="212693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916" y="38690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916" y="56102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72930" y="38690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交换机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78182" y="2031682"/>
              <a:ext cx="963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NIS 主服务器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19976" y="222218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建库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78182" y="5610225"/>
              <a:ext cx="963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NIS 从服务器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36445" y="2979420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067602" y="30141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059555" y="3027045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90712" y="306181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87315" y="3897630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18472" y="393239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</p:grpSp>
      <p:grpSp>
        <p:nvGrpSpPr>
          <p:cNvPr id="61" name="c2-steps-1"/>
          <p:cNvGrpSpPr/>
          <p:nvPr/>
        </p:nvGrpSpPr>
        <p:grpSpPr>
          <a:xfrm>
            <a:off x="6464618" y="1533525"/>
            <a:ext cx="4977257" cy="3468339"/>
            <a:chOff x="6464618" y="1533525"/>
            <a:chExt cx="4977257" cy="3468339"/>
          </a:xfrm>
        </p:grpSpPr>
        <p:sp>
          <p:nvSpPr>
            <p:cNvPr id="44" name="Rectangle 44"/>
            <p:cNvSpPr/>
            <p:nvPr/>
          </p:nvSpPr>
          <p:spPr>
            <a:xfrm>
              <a:off x="6597968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64618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824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64618" y="33042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8241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64618" y="41900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8241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6098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主服务器建库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7241" y="1861661"/>
              <a:ext cx="4540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/etc/passwd、/etc/group、/etc/hosts 等文件转成数据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库文件（/var/yp 下）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6098" y="24536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同步到从服务器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7241" y="2746534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主服务器把数据库推给从服务器，从服务器也可以主动来取；账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号有改动时要重建数据库再同步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6098" y="333851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客户端查询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77241" y="3632359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用户登录时，客户端先查本机文件，找不到再向 NIS 域里的服务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器查询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6098" y="422433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服务器应答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77241" y="4518184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主、从服务器都能回答，客户端采用先回应的那台；拿到账号信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息后比对密码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464618" y="5180648"/>
            <a:ext cx="5193982" cy="1059180"/>
            <a:chOff x="6464618" y="5180648"/>
            <a:chExt cx="5193982" cy="1059180"/>
          </a:xfrm>
        </p:grpSpPr>
        <p:sp>
          <p:nvSpPr>
            <p:cNvPr id="62" name="Rectangle 62"/>
            <p:cNvSpPr/>
            <p:nvPr/>
          </p:nvSpPr>
          <p:spPr>
            <a:xfrm>
              <a:off x="6464618" y="5180648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9405" y="5610225"/>
              <a:ext cx="200026" cy="200025"/>
              <a:chOff x="6669405" y="5610225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669405" y="56102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09144" y="56546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43859" y="57658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1348" y="5329238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从服务器分担查询压力，主服务器宕机时客户端照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样能登录。NIS 的数据在网络上基本是明文传输，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后来多被 LDAP 取代。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1455" cy="909257"/>
            <a:chOff x="520446" y="342900"/>
            <a:chExt cx="90414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共享信息管理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14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ZooKeeper：给分布式系统提供配置、命名、锁和集群信息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291715"/>
            <a:chOff x="533400" y="1524000"/>
            <a:chExt cx="4977765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8485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Apache ZooKeeper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分布式协调服务，管理配置信息、命名服务、分布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式锁和集群信息。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解决通用性、伸缩性和资源浪费问题：各个系统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不必各自实现一套协调逻辑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特点：简单、高效、高可用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006215"/>
            <a:ext cx="4977765" cy="1602105"/>
            <a:chOff x="533400" y="4006215"/>
            <a:chExt cx="4977765" cy="1602105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3956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215765"/>
              <a:ext cx="302990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2158" y="4251484"/>
              <a:ext cx="3006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在 Hadoop 生态中的位置（原课件第123页）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592955"/>
              <a:ext cx="4253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在最底层，MapReduce、HBase、Pig、Hive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等在上面，ZooKeeper 竖在一侧，为各个组件做协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调。</a:t>
              </a:r>
            </a:p>
          </p:txBody>
        </p:sp>
      </p:grpSp>
      <p:grpSp>
        <p:nvGrpSpPr>
          <p:cNvPr id="56" name="c2-graph-1"/>
          <p:cNvGrpSpPr/>
          <p:nvPr/>
        </p:nvGrpSpPr>
        <p:grpSpPr>
          <a:xfrm>
            <a:off x="5948362" y="1555909"/>
            <a:ext cx="5577840" cy="2128742"/>
            <a:chOff x="5948362" y="1555909"/>
            <a:chExt cx="5577840" cy="2128742"/>
          </a:xfrm>
        </p:grpSpPr>
        <p:sp>
          <p:nvSpPr>
            <p:cNvPr id="24" name="Freeform 24"/>
            <p:cNvSpPr/>
            <p:nvPr/>
          </p:nvSpPr>
          <p:spPr>
            <a:xfrm>
              <a:off x="6256020" y="2207895"/>
              <a:ext cx="228600" cy="1156335"/>
            </a:xfrm>
            <a:custGeom>
              <a:avLst/>
              <a:gdLst/>
              <a:ahLst/>
              <a:cxnLst/>
              <a:rect l="l" t="t" r="r" b="b"/>
              <a:pathLst>
                <a:path w="228600" h="1156335">
                  <a:moveTo>
                    <a:pt x="0" y="1156335"/>
                  </a:moveTo>
                  <a:lnTo>
                    <a:pt x="2286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574155" y="2207895"/>
              <a:ext cx="411480" cy="1156335"/>
            </a:xfrm>
            <a:custGeom>
              <a:avLst/>
              <a:gdLst/>
              <a:ahLst/>
              <a:cxnLst/>
              <a:rect l="l" t="t" r="r" b="b"/>
              <a:pathLst>
                <a:path w="411480" h="1156335">
                  <a:moveTo>
                    <a:pt x="411480" y="11563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52385" y="2207895"/>
              <a:ext cx="182880" cy="1156335"/>
            </a:xfrm>
            <a:custGeom>
              <a:avLst/>
              <a:gdLst/>
              <a:ahLst/>
              <a:cxnLst/>
              <a:rect l="l" t="t" r="r" b="b"/>
              <a:pathLst>
                <a:path w="182880" h="1156335">
                  <a:moveTo>
                    <a:pt x="182880" y="11563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737282" y="2207895"/>
              <a:ext cx="9525" cy="1156335"/>
            </a:xfrm>
            <a:custGeom>
              <a:avLst/>
              <a:gdLst/>
              <a:ahLst/>
              <a:cxnLst/>
              <a:rect l="l" t="t" r="r" b="b"/>
              <a:pathLst>
                <a:path w="9525" h="1156335">
                  <a:moveTo>
                    <a:pt x="0" y="11563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639300" y="2207895"/>
              <a:ext cx="182880" cy="1156335"/>
            </a:xfrm>
            <a:custGeom>
              <a:avLst/>
              <a:gdLst/>
              <a:ahLst/>
              <a:cxnLst/>
              <a:rect l="l" t="t" r="r" b="b"/>
              <a:pathLst>
                <a:path w="182880" h="1156335">
                  <a:moveTo>
                    <a:pt x="0" y="1156335"/>
                  </a:moveTo>
                  <a:lnTo>
                    <a:pt x="1828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488930" y="2207895"/>
              <a:ext cx="411480" cy="1156335"/>
            </a:xfrm>
            <a:custGeom>
              <a:avLst/>
              <a:gdLst/>
              <a:ahLst/>
              <a:cxnLst/>
              <a:rect l="l" t="t" r="r" b="b"/>
              <a:pathLst>
                <a:path w="411480" h="1156335">
                  <a:moveTo>
                    <a:pt x="0" y="1156335"/>
                  </a:moveTo>
                  <a:lnTo>
                    <a:pt x="4114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988992" y="2207895"/>
              <a:ext cx="228600" cy="1156335"/>
            </a:xfrm>
            <a:custGeom>
              <a:avLst/>
              <a:gdLst/>
              <a:ahLst/>
              <a:cxnLst/>
              <a:rect l="l" t="t" r="r" b="b"/>
              <a:pathLst>
                <a:path w="228600" h="1156335">
                  <a:moveTo>
                    <a:pt x="228600" y="11563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155055" y="1887855"/>
              <a:ext cx="7239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264718" y="1887855"/>
              <a:ext cx="7239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375332" y="1887855"/>
              <a:ext cx="723900" cy="320040"/>
            </a:xfrm>
            <a:prstGeom prst="roundRect">
              <a:avLst>
                <a:gd name="adj" fmla="val 2976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484995" y="1887855"/>
              <a:ext cx="7239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595610" y="1887855"/>
              <a:ext cx="7239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948362" y="3364230"/>
              <a:ext cx="5524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66560" y="3364230"/>
              <a:ext cx="5524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84758" y="3364230"/>
              <a:ext cx="5524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461058" y="3364230"/>
              <a:ext cx="5524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337358" y="3364230"/>
              <a:ext cx="5524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155555" y="3364230"/>
              <a:ext cx="5524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973752" y="3364230"/>
              <a:ext cx="5524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28394" y="197358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38056" y="197358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8671" y="197358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Leader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8334" y="197358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68949" y="197358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78782" y="3449955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96979" y="3449955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15177" y="3449955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91477" y="3449955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67777" y="3449955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85974" y="3449955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04172" y="3449955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83743" y="1555909"/>
              <a:ext cx="2507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ZooKeeper 服务（5 台服务器）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5815965" y="4095750"/>
            <a:ext cx="5842635" cy="1512570"/>
            <a:chOff x="5815965" y="4095750"/>
            <a:chExt cx="5842635" cy="1512570"/>
          </a:xfrm>
        </p:grpSpPr>
        <p:sp>
          <p:nvSpPr>
            <p:cNvPr id="57" name="Rectangle 57"/>
            <p:cNvSpPr/>
            <p:nvPr/>
          </p:nvSpPr>
          <p:spPr>
            <a:xfrm>
              <a:off x="5815965" y="4095750"/>
              <a:ext cx="5842635" cy="1512570"/>
            </a:xfrm>
            <a:prstGeom prst="roundRect">
              <a:avLst>
                <a:gd name="adj" fmla="val 755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020753" y="4752025"/>
              <a:ext cx="200023" cy="200023"/>
              <a:chOff x="6020753" y="4752025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020753" y="47520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54103" y="48186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322695" y="4609148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每个客户端只连一台服务器。读请求由所连的服务器直接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回答，写请求一律转给 Leader。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80389" cy="909257"/>
            <a:chOff x="520446" y="342900"/>
            <a:chExt cx="74803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共享信息管理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803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数据模型：像 Unix 文件系统一样的树形命名空间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891540" y="1659255"/>
            <a:ext cx="4132897" cy="1762125"/>
            <a:chOff x="891540" y="1659255"/>
            <a:chExt cx="4132897" cy="1762125"/>
          </a:xfrm>
        </p:grpSpPr>
        <p:sp>
          <p:nvSpPr>
            <p:cNvPr id="7" name="Freeform 7"/>
            <p:cNvSpPr/>
            <p:nvPr/>
          </p:nvSpPr>
          <p:spPr>
            <a:xfrm>
              <a:off x="1128712" y="2540318"/>
              <a:ext cx="1189672" cy="677228"/>
            </a:xfrm>
            <a:custGeom>
              <a:avLst/>
              <a:gdLst/>
              <a:ahLst/>
              <a:cxnLst/>
              <a:rect l="l" t="t" r="r" b="b"/>
              <a:pathLst>
                <a:path w="1189672" h="677228">
                  <a:moveTo>
                    <a:pt x="1189672" y="0"/>
                  </a:moveTo>
                  <a:lnTo>
                    <a:pt x="0" y="6772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18385" y="2540318"/>
              <a:ext cx="9525" cy="677228"/>
            </a:xfrm>
            <a:custGeom>
              <a:avLst/>
              <a:gdLst/>
              <a:ahLst/>
              <a:cxnLst/>
              <a:rect l="l" t="t" r="r" b="b"/>
              <a:pathLst>
                <a:path w="9525" h="677228">
                  <a:moveTo>
                    <a:pt x="0" y="0"/>
                  </a:moveTo>
                  <a:lnTo>
                    <a:pt x="0" y="6772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18385" y="2540318"/>
              <a:ext cx="1190625" cy="677228"/>
            </a:xfrm>
            <a:custGeom>
              <a:avLst/>
              <a:gdLst/>
              <a:ahLst/>
              <a:cxnLst/>
              <a:rect l="l" t="t" r="r" b="b"/>
              <a:pathLst>
                <a:path w="1190625" h="677228">
                  <a:moveTo>
                    <a:pt x="0" y="0"/>
                  </a:moveTo>
                  <a:lnTo>
                    <a:pt x="1190625" y="6772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18385" y="1863090"/>
              <a:ext cx="595312" cy="677228"/>
            </a:xfrm>
            <a:custGeom>
              <a:avLst/>
              <a:gdLst/>
              <a:ahLst/>
              <a:cxnLst/>
              <a:rect l="l" t="t" r="r" b="b"/>
              <a:pathLst>
                <a:path w="595312" h="677228">
                  <a:moveTo>
                    <a:pt x="595312" y="0"/>
                  </a:moveTo>
                  <a:lnTo>
                    <a:pt x="0" y="6772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1863090"/>
              <a:ext cx="1785938" cy="677228"/>
            </a:xfrm>
            <a:custGeom>
              <a:avLst/>
              <a:gdLst/>
              <a:ahLst/>
              <a:cxnLst/>
              <a:rect l="l" t="t" r="r" b="b"/>
              <a:pathLst>
                <a:path w="1785938" h="677228">
                  <a:moveTo>
                    <a:pt x="0" y="0"/>
                  </a:moveTo>
                  <a:lnTo>
                    <a:pt x="1785938" y="6772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91540" y="3014662"/>
              <a:ext cx="47339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82165" y="3014662"/>
              <a:ext cx="47339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271838" y="3014662"/>
              <a:ext cx="473392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93582" y="2337435"/>
              <a:ext cx="64960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74832" y="2337435"/>
              <a:ext cx="649605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710815" y="1659255"/>
              <a:ext cx="406718" cy="406718"/>
            </a:xfrm>
            <a:prstGeom prst="roundRect">
              <a:avLst>
                <a:gd name="adj" fmla="val 18735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2679" y="314325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72352" y="314325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2977" y="314325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p_3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79060" y="246602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/app1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0310" y="246602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/app2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60956" y="1787843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</p:grpSp>
      <p:grpSp>
        <p:nvGrpSpPr>
          <p:cNvPr id="26" name="c1-text-2"/>
          <p:cNvGrpSpPr/>
          <p:nvPr/>
        </p:nvGrpSpPr>
        <p:grpSpPr>
          <a:xfrm>
            <a:off x="527304" y="3761422"/>
            <a:ext cx="4546092" cy="470916"/>
            <a:chOff x="527304" y="3761422"/>
            <a:chExt cx="4546092" cy="470916"/>
          </a:xfrm>
        </p:grpSpPr>
        <p:sp>
          <p:nvSpPr>
            <p:cNvPr id="25" name="TextBox 25"/>
            <p:cNvSpPr txBox="1"/>
            <p:nvPr/>
          </p:nvSpPr>
          <p:spPr>
            <a:xfrm>
              <a:off x="527304" y="3761422"/>
              <a:ext cx="45460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每个节点叫 znode，由唯一的路径标识，例如 /app1/p₁。节点既能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存数据，也能有子节点。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371022"/>
            <a:ext cx="4760595" cy="1884045"/>
            <a:chOff x="533400" y="4371022"/>
            <a:chExt cx="4760595" cy="1884045"/>
          </a:xfrm>
        </p:grpSpPr>
        <p:sp>
          <p:nvSpPr>
            <p:cNvPr id="27" name="Rectangle 27"/>
            <p:cNvSpPr/>
            <p:nvPr/>
          </p:nvSpPr>
          <p:spPr>
            <a:xfrm>
              <a:off x="533400" y="4371022"/>
              <a:ext cx="4760595" cy="1884045"/>
            </a:xfrm>
            <a:prstGeom prst="roundRect">
              <a:avLst>
                <a:gd name="adj" fmla="val 70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04372"/>
              <a:ext cx="47625" cy="16173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45748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5543" y="4610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096" y="4947761"/>
              <a:ext cx="399097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原课件说“每个 Znode 默认存储 1MB 数据”。1 MB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是单个 znode 数据量的默认上限，实际只放几 KB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以内的配置和状态，不能当文件存储用。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593080" y="1524000"/>
            <a:ext cx="6065520" cy="2656047"/>
            <a:chOff x="5593080" y="1524000"/>
            <a:chExt cx="6065520" cy="2656047"/>
          </a:xfrm>
        </p:grpSpPr>
        <p:sp>
          <p:nvSpPr>
            <p:cNvPr id="33" name="Rectangle 33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9732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节点类型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7565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生命周期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3938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04142" y="2085022"/>
              <a:ext cx="85229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Persistent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58609" y="219170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会话结束后仍然存在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1754" y="219170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存配置、命名信息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98795" y="259746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4142" y="2835592"/>
              <a:ext cx="1222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短暂 Ephemeral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58609" y="272891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创建它的会话失效就被删除；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不能有子节点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1754" y="2835592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表示“某台机器还活着”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3236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4142" y="3479482"/>
              <a:ext cx="1239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 Sequential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58609" y="337280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可与上两种组合；名字后自动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加递增序号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61754" y="34794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排队、实现分布式锁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1524000"/>
              <a:ext cx="6059805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48500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351645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593080" y="396001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顺序节点是补充内容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5598795" y="4321492"/>
            <a:ext cx="6059805" cy="1933575"/>
            <a:chOff x="5598795" y="4321492"/>
            <a:chExt cx="6059805" cy="1933575"/>
          </a:xfrm>
        </p:grpSpPr>
        <p:sp>
          <p:nvSpPr>
            <p:cNvPr id="54" name="Rectangle 54"/>
            <p:cNvSpPr/>
            <p:nvPr/>
          </p:nvSpPr>
          <p:spPr>
            <a:xfrm>
              <a:off x="5598795" y="4321492"/>
              <a:ext cx="6059805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608320" y="4454842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40730" y="452532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19089" y="45610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更新和监听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68858" y="4564856"/>
              <a:ext cx="6065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watch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833491" y="4917281"/>
              <a:ext cx="53074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客户端在 znode 上注册监听，节点数据变化或子节点增减时收到通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知，不用反复轮询。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848350" y="55683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04941" y="550878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监听节点数据变化：配置改了，所有客户端马上知道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848350" y="58883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04941" y="582882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监听子节点增减变化：有机器加入或退出集群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8708" cy="909257"/>
            <a:chOff x="520446" y="342900"/>
            <a:chExt cx="87687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共享信息管理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87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一致性管理：一个 Leader、多个 Follower，过半即成功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641152" cy="3179730"/>
            <a:chOff x="533400" y="1533525"/>
            <a:chExt cx="5641152" cy="31797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4504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客户端把写请求发给所连的服务器，Follower 转给 Leader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41596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Leader 给这次更新编号，作为提案发给所有 Follower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2844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Follower 把提案写入日志后回复确认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13334"/>
              <a:ext cx="5228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过半服务器（含 Leader）确认后，Leader 提交，通知各服务器生效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6389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客户端所连的服务器回复写成功</a:t>
              </a:r>
            </a:p>
          </p:txBody>
        </p:sp>
      </p:grpSp>
      <p:grpSp>
        <p:nvGrpSpPr>
          <p:cNvPr id="37" name="c1-kv-2"/>
          <p:cNvGrpSpPr/>
          <p:nvPr/>
        </p:nvGrpSpPr>
        <p:grpSpPr>
          <a:xfrm>
            <a:off x="525780" y="4916805"/>
            <a:ext cx="5634038" cy="1173480"/>
            <a:chOff x="525780" y="4916805"/>
            <a:chExt cx="5634038" cy="1173480"/>
          </a:xfrm>
        </p:grpSpPr>
        <p:sp>
          <p:nvSpPr>
            <p:cNvPr id="29" name="TextBox 29"/>
            <p:cNvSpPr txBox="1"/>
            <p:nvPr/>
          </p:nvSpPr>
          <p:spPr>
            <a:xfrm>
              <a:off x="525780" y="49168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0622" y="4916805"/>
              <a:ext cx="43300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Leader 和多个 Follower，总数一般取奇数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52368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780" y="53568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70622" y="5356860"/>
              <a:ext cx="43710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Leader 协调，大多数 Server 更新成功即算成功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6769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80" y="57969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可用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70622" y="5796915"/>
              <a:ext cx="32333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半数以上 Server 存活就能提供服务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464618" y="1524000"/>
            <a:ext cx="5193982" cy="2692718"/>
            <a:chOff x="6464618" y="1524000"/>
            <a:chExt cx="5193982" cy="2692718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2896" y="1659731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服务器数 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68344" y="1659731"/>
              <a:ext cx="12807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多数派 ⌊n/2⌋+1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14179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最多容忍几台宕机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0466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5485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5604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466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5485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771698" y="2430780"/>
              <a:ext cx="187737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5604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0466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5485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771698" y="2880360"/>
              <a:ext cx="187737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5604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0466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5485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771698" y="3328988"/>
              <a:ext cx="187737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65604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0466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485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5604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464618" y="1524000"/>
              <a:ext cx="519398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85145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75741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6464618" y="4407218"/>
            <a:ext cx="5193982" cy="1624012"/>
            <a:chOff x="6464618" y="4407218"/>
            <a:chExt cx="5193982" cy="1624012"/>
          </a:xfrm>
        </p:grpSpPr>
        <p:sp>
          <p:nvSpPr>
            <p:cNvPr id="70" name="Rectangle 70"/>
            <p:cNvSpPr/>
            <p:nvPr/>
          </p:nvSpPr>
          <p:spPr>
            <a:xfrm>
              <a:off x="6464618" y="4407218"/>
              <a:ext cx="5193982" cy="1624012"/>
            </a:xfrm>
            <a:prstGeom prst="roundRect">
              <a:avLst>
                <a:gd name="adj" fmla="val 821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674168" y="461676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47624" y="46524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为什么取奇数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66548" y="4993958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台和 3 台都只能容忍 1 台宕机，多出的那台只增加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写确认的开销。网络断成两半时，最多只有一半能凑够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多数，另一半停止服务，不会同时冒出两个 Leader。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5700" cy="909257"/>
            <a:chOff x="520446" y="342900"/>
            <a:chExt cx="82357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共享信息管理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57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例题：5 台服务器依次启动，为什么是 3 号当 Leader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8066" y="1524000"/>
            <a:ext cx="6065139" cy="3313367"/>
            <a:chOff x="528066" y="1524000"/>
            <a:chExt cx="6065139" cy="331336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982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4098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投票情况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7069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2516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4746" y="2119789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号启动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4391" y="2119789"/>
              <a:ext cx="941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投给自己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5616" y="2119789"/>
              <a:ext cx="6930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票 &lt; 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5261" y="21197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继续选举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460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50782"/>
              <a:ext cx="6059805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4746" y="2709386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号启动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04391" y="2582704"/>
              <a:ext cx="152933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 都投 2（myid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85616" y="2709386"/>
              <a:ext cx="6930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票 &lt;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5261" y="2709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继续选举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1623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746" y="3298984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号启动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04391" y="3298984"/>
              <a:ext cx="13143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1、2、3 都投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85616" y="3298984"/>
              <a:ext cx="6930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票 ≥ 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63440" y="3176588"/>
              <a:ext cx="1920240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55261" y="3298984"/>
              <a:ext cx="14451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号成为 Leader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261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630930"/>
              <a:ext cx="605980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746" y="3762851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号启动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04391" y="3762851"/>
              <a:ext cx="10914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 Leader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85616" y="376285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55261" y="3762851"/>
              <a:ext cx="15975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号成为 Follower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0890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746" y="4225766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号启动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4391" y="4225766"/>
              <a:ext cx="10914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 Leader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85616" y="422576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55261" y="4225766"/>
              <a:ext cx="15975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号成为 Follower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059805" cy="3032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498282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79508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649152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066" y="4632008"/>
              <a:ext cx="5827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设集群配置了 5 台，数据都为空（最新事务编号 zxid 相同），投票时比 myid。已用脚本模拟</a:t>
              </a:r>
            </a:p>
          </p:txBody>
        </p:sp>
      </p:grpSp>
      <p:grpSp>
        <p:nvGrpSpPr>
          <p:cNvPr id="51" name="c1-callout-2"/>
          <p:cNvGrpSpPr/>
          <p:nvPr/>
        </p:nvGrpSpPr>
        <p:grpSpPr>
          <a:xfrm>
            <a:off x="533400" y="4975860"/>
            <a:ext cx="6059805" cy="1167765"/>
            <a:chOff x="533400" y="4975860"/>
            <a:chExt cx="6059805" cy="1167765"/>
          </a:xfrm>
        </p:grpSpPr>
        <p:sp>
          <p:nvSpPr>
            <p:cNvPr id="45" name="Rectangle 45"/>
            <p:cNvSpPr/>
            <p:nvPr/>
          </p:nvSpPr>
          <p:spPr>
            <a:xfrm>
              <a:off x="533400" y="4975860"/>
              <a:ext cx="6059805" cy="1167765"/>
            </a:xfrm>
            <a:prstGeom prst="roundRect">
              <a:avLst>
                <a:gd name="adj" fmla="val 978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459730"/>
              <a:ext cx="200026" cy="200025"/>
              <a:chOff x="738188" y="5459730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4597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55041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56153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328761"/>
              <a:ext cx="50189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Leader 宕机后剩下 4 台重新选举，仍需 3 票；再坏一台还剩 3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台，也能选出；只剩 2 台时凑不够 3 票，集群停止服务。</a:t>
              </a:r>
            </a:p>
          </p:txBody>
        </p:sp>
      </p:grpSp>
      <p:grpSp>
        <p:nvGrpSpPr>
          <p:cNvPr id="69" name="c2-steps-1"/>
          <p:cNvGrpSpPr/>
          <p:nvPr/>
        </p:nvGrpSpPr>
        <p:grpSpPr>
          <a:xfrm>
            <a:off x="6898005" y="1533525"/>
            <a:ext cx="4834890" cy="2619756"/>
            <a:chOff x="6898005" y="1533525"/>
            <a:chExt cx="4834890" cy="2619756"/>
          </a:xfrm>
        </p:grpSpPr>
        <p:sp>
          <p:nvSpPr>
            <p:cNvPr id="52" name="Rectangle 52"/>
            <p:cNvSpPr/>
            <p:nvPr/>
          </p:nvSpPr>
          <p:spPr>
            <a:xfrm>
              <a:off x="7031355" y="1676400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98005" y="23717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162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98005" y="29879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91629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98005" y="36052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91629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09866" y="15663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先比数据新旧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11009" y="1846898"/>
              <a:ext cx="4050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选票里带着各自最新的事务编号 zxid，zxid 大的数据更新，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优先当选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09866" y="2404586"/>
              <a:ext cx="640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再比 ID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11009" y="2685098"/>
              <a:ext cx="415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zxid 相同时 myid 大的胜出，这是原课件说的“大 ID 胜出”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09866" y="302085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过半即定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11009" y="3301365"/>
              <a:ext cx="4018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得票超过 5 ÷ 2，即至少 3 票，立即当选（“半数投票”）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09866" y="36380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先来后到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11009" y="3918585"/>
              <a:ext cx="44218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Leader 选出后才启动的 4、5 号 ID 更大，也只能当 Follower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898005" y="4324350"/>
            <a:ext cx="4760595" cy="1819275"/>
            <a:chOff x="6898005" y="4324350"/>
            <a:chExt cx="4760595" cy="1819275"/>
          </a:xfrm>
        </p:grpSpPr>
        <p:sp>
          <p:nvSpPr>
            <p:cNvPr id="70" name="Rectangle 70"/>
            <p:cNvSpPr/>
            <p:nvPr/>
          </p:nvSpPr>
          <p:spPr>
            <a:xfrm>
              <a:off x="6898005" y="4324350"/>
              <a:ext cx="4760595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907530" y="4457700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34225" y="45224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25665" y="45567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17536" y="4557236"/>
              <a:ext cx="28603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启动顺序反过来：5、4、3、2、1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126986" y="4901089"/>
              <a:ext cx="405409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号先启动投自己；4 号启动后两台都投 5；3 号启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动后三台都投 5，凑够 3 票，5 号当选。2、1 号后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到，成为 Follower。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28129" y="5757862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谁当选取决于凑够多数时已经在线的那几台里谁最大。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4386" cy="909257"/>
            <a:chOff x="520446" y="342900"/>
            <a:chExt cx="84643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共享信息管理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43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 的应用：共享信息、命名、分布式锁、监控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626418" cy="2093595"/>
            <a:chOff x="533400" y="1524000"/>
            <a:chExt cx="5626418" cy="20935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203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747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11645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共享信息管理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78724" y="2023110"/>
              <a:ext cx="388448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地址、域名、服务和配置信息放进 znode；改一处，监听它的客户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端都收到通知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68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7364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59080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统一命名空间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8724" y="25908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用户自定义的路径树，随时更新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49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9718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78724" y="29718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多个客户端抢着创建同一个节点，或按顺序节点排队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1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3659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监控节点状态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8724" y="3353752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每台机器注册一个短暂节点，机器宕机、会话失效后节点自动消失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7928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3782378"/>
            <a:ext cx="5626418" cy="2111692"/>
            <a:chOff x="533400" y="3782378"/>
            <a:chExt cx="5626418" cy="2111692"/>
          </a:xfrm>
        </p:grpSpPr>
        <p:sp>
          <p:nvSpPr>
            <p:cNvPr id="26" name="Rectangle 26"/>
            <p:cNvSpPr/>
            <p:nvPr/>
          </p:nvSpPr>
          <p:spPr>
            <a:xfrm>
              <a:off x="533400" y="3782378"/>
              <a:ext cx="5626418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915728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3963352"/>
              <a:ext cx="154495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2043" y="3996214"/>
              <a:ext cx="14258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原课件第128页的两句话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43557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430387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“一个 HDFS 系统只有一个 NameNode”：主备两个 NameNode 抢着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创建同一个短暂节点，创建成功的那个是活动的，另一个待命。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48834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4831556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“某一个 DataNode 的状态更新为失效”：机器的短暂节点消失，监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听者马上知道。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7141" y="5355908"/>
              <a:ext cx="457790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实际的 HDFS 中 DataNode 靠向 NameNode 发心跳报告状态，ZooKeeper 用在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NameNode 主备切换上（第4部分）。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6464618" y="1533525"/>
            <a:ext cx="4806315" cy="2342769"/>
            <a:chOff x="6464618" y="1533525"/>
            <a:chExt cx="4806315" cy="2342769"/>
          </a:xfrm>
        </p:grpSpPr>
        <p:sp>
          <p:nvSpPr>
            <p:cNvPr id="36" name="Rectangle 36"/>
            <p:cNvSpPr/>
            <p:nvPr/>
          </p:nvSpPr>
          <p:spPr>
            <a:xfrm>
              <a:off x="6597968" y="1676400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64618" y="22802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8241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64618" y="28327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33861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3459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7241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8384" y="1818322"/>
              <a:ext cx="392449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每个客户端在 /lock 下创建“短暂 + 顺序”节点，得到 lock-0001、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lock-0002 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77241" y="23102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78384" y="256508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序号最小的客户端持有锁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77241" y="2863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8384" y="311848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其他客户端只监听比自己小一号的节点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241" y="3416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8384" y="3670935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持锁者用完删掉节点（宕机时节点自动消失），下一号收到通知后拿锁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464618" y="4037648"/>
            <a:ext cx="5193982" cy="1855470"/>
            <a:chOff x="6464618" y="4037648"/>
            <a:chExt cx="5193982" cy="1855470"/>
          </a:xfrm>
        </p:grpSpPr>
        <p:sp>
          <p:nvSpPr>
            <p:cNvPr id="54" name="Rectangle 54"/>
            <p:cNvSpPr/>
            <p:nvPr/>
          </p:nvSpPr>
          <p:spPr>
            <a:xfrm>
              <a:off x="6464618" y="4037648"/>
              <a:ext cx="5193982" cy="1855470"/>
            </a:xfrm>
            <a:prstGeom prst="roundRect">
              <a:avLst>
                <a:gd name="adj" fmla="val 61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69405" y="4866323"/>
              <a:ext cx="200026" cy="200025"/>
              <a:chOff x="6669405" y="4866323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69405" y="48663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09144" y="49107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43859" y="50218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2491" y="4642009"/>
              <a:ext cx="423951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只监听前一个节点，锁释放时只唤醒一个客户端，避免所有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等待者同时来抢（羊群效应）。这套分布式锁做法是补充内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容。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371033" cy="3706177"/>
            <a:chOff x="667512" y="1835468"/>
            <a:chExt cx="5371033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集群资源管理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611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作业调度和负载平衡：LSF 怎样把作业派到合适的主机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内容提要七：集群资源管理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负载不均与负载共享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50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 的守护进程和基本概念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作业状态与生命周期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调度策略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集群软件要解决的问题：异构、负载不均、需求多样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5417058" cy="1313688"/>
            <a:chOff x="526542" y="1545907"/>
            <a:chExt cx="5417058" cy="1313688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异构性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88567" y="1545907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廉价服务器通过网络连成集群，软硬件各不相同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354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19440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负载平衡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8567" y="1944052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即作业调度问题：系统负载有突发性，在各主机间分布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869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5955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需求复杂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8567" y="259556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多种作业类型、多种资源类型、多用户群组和权限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2981325"/>
            <a:ext cx="5410200" cy="2303145"/>
            <a:chOff x="533400" y="2981325"/>
            <a:chExt cx="5410200" cy="2303145"/>
          </a:xfrm>
        </p:grpSpPr>
        <p:sp>
          <p:nvSpPr>
            <p:cNvPr id="16" name="Rectangle 16"/>
            <p:cNvSpPr/>
            <p:nvPr/>
          </p:nvSpPr>
          <p:spPr>
            <a:xfrm>
              <a:off x="533400" y="2981325"/>
              <a:ext cx="5410200" cy="2303145"/>
            </a:xfrm>
            <a:prstGeom prst="roundRect">
              <a:avLst>
                <a:gd name="adj" fmla="val 57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114675"/>
              <a:ext cx="47625" cy="20364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1737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5345" y="32080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47597" y="3213735"/>
              <a:ext cx="2274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负载共享（Load sharing）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354806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调整系统负载在各主机上的分布，以提高系统性能和对远程资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源的可用性。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41643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410813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新作业来了，派给当前最闲的主机，而不是提交它的那台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44662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441007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已有的作业可以从忙的主机迁到闲的主机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8190" y="4708684"/>
              <a:ext cx="47978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原课件第134页：工作站的用户不会一直用机器，可一旦用起来又常嫌不够；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有的主机忙不过来，有的却闲着。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459730"/>
            <a:ext cx="5410200" cy="729615"/>
            <a:chOff x="533400" y="5459730"/>
            <a:chExt cx="5410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545973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724525"/>
              <a:ext cx="200026" cy="200025"/>
              <a:chOff x="738188" y="572452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724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768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880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605462"/>
              <a:ext cx="422281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负载共享只要求“别让一台主机闲着、另一台却有作业排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队”；负载平衡更进一步，要求各主机的负载尽量接近。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248400" y="1524000"/>
            <a:ext cx="5410200" cy="2028825"/>
            <a:chOff x="6248400" y="1524000"/>
            <a:chExt cx="5410200" cy="202882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815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4694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当前作业数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076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调整后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4964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迁移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86282" y="20540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8242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4546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85569" y="205406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迁入 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9555" y="2459831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436168" y="2345055"/>
              <a:ext cx="15859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242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4546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85569" y="245983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迁出 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6282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8242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4546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85569" y="286559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迁入 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6282" y="32713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436168" y="3156585"/>
              <a:ext cx="15859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8242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4546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785569" y="327136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迁出 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1524000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42188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02779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34796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steps-2"/>
          <p:cNvGrpSpPr/>
          <p:nvPr/>
        </p:nvGrpSpPr>
        <p:grpSpPr>
          <a:xfrm>
            <a:off x="6248400" y="3737610"/>
            <a:ext cx="4187205" cy="1106329"/>
            <a:chOff x="6248400" y="3737610"/>
            <a:chExt cx="4187205" cy="1106329"/>
          </a:xfrm>
        </p:grpSpPr>
        <p:sp>
          <p:nvSpPr>
            <p:cNvPr id="68" name="Rectangle 68"/>
            <p:cNvSpPr/>
            <p:nvPr/>
          </p:nvSpPr>
          <p:spPr>
            <a:xfrm>
              <a:off x="6381750" y="3880485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6248400" y="373761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2024" y="38114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248400" y="4324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2024" y="4398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60642" y="37690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求平均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61785" y="403717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+ 7 + 2 + 6) ÷ 4 = 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60642" y="4355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算迁移量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61785" y="4623911"/>
              <a:ext cx="377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超出平均的部分移走：Q 3 个、S 2 个，共迁移 5 个作业</a:t>
              </a:r>
            </a:p>
          </p:txBody>
        </p:sp>
      </p:grpSp>
      <p:grpSp>
        <p:nvGrpSpPr>
          <p:cNvPr id="84" name="c2-callout-3"/>
          <p:cNvGrpSpPr/>
          <p:nvPr/>
        </p:nvGrpSpPr>
        <p:grpSpPr>
          <a:xfrm>
            <a:off x="6248400" y="5013008"/>
            <a:ext cx="5410200" cy="1176338"/>
            <a:chOff x="6248400" y="5013008"/>
            <a:chExt cx="5410200" cy="1176338"/>
          </a:xfrm>
        </p:grpSpPr>
        <p:sp>
          <p:nvSpPr>
            <p:cNvPr id="78" name="Rectangle 78"/>
            <p:cNvSpPr/>
            <p:nvPr/>
          </p:nvSpPr>
          <p:spPr>
            <a:xfrm>
              <a:off x="6248400" y="5013008"/>
              <a:ext cx="5410200" cy="1176338"/>
            </a:xfrm>
            <a:prstGeom prst="roundRect">
              <a:avLst>
                <a:gd name="adj" fmla="val 97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453188" y="5500688"/>
              <a:ext cx="200026" cy="200026"/>
              <a:chOff x="6453188" y="5500688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453188" y="550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553200" y="55673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542088" y="56007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755892" y="5257800"/>
              <a:ext cx="451427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例题数字是补充的。实际调度器还要看 CPU 核数、内存和负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载指标，LSF 的 lim 就是专门收集这些负载信息的守护进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3365" cy="909257"/>
            <a:chOff x="520446" y="342900"/>
            <a:chExt cx="68333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33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LSF：从一篇博士论文发展出的负载共享系统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kv-1"/>
          <p:cNvGrpSpPr/>
          <p:nvPr/>
        </p:nvGrpSpPr>
        <p:grpSpPr>
          <a:xfrm>
            <a:off x="526542" y="1545907"/>
            <a:ext cx="6282880" cy="3268219"/>
            <a:chOff x="526542" y="1545907"/>
            <a:chExt cx="6282880" cy="3268219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全称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9497" y="1545907"/>
              <a:ext cx="1856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Sharing Facility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354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19440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源头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09497" y="1944052"/>
              <a:ext cx="5062919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Songnian Zhou 1987 年在加州大学伯克利分校的博士论文：大规模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分布式计算机系统资源共享的理论、算法和实施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869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5955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公司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9497" y="2595562"/>
              <a:ext cx="4214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Platform Computing，1992 年成立，总部在加拿大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8851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299370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客户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09497" y="2993708"/>
              <a:ext cx="515721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全球 1800 多家，财富 500 强中超过 60%：芯片 Intel、AMD、ATI、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TI、东芝；科研 CERN、SLAC；汽车 GM、克莱斯勒；金融 J.P.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Morgan、加拿大皇家银行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899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542" y="38985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竞争者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09497" y="3898582"/>
              <a:ext cx="3087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Condor、PBS、SGE、Silver、NQS 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88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542" y="429672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归属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09497" y="4296728"/>
              <a:ext cx="511435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于 2011 年宣布收购 Platform，2012 年初完成；产品现名 IBM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Spectrum LSF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936808"/>
            <a:ext cx="6276022" cy="1209675"/>
            <a:chOff x="533400" y="4936808"/>
            <a:chExt cx="6276022" cy="1209675"/>
          </a:xfrm>
        </p:grpSpPr>
        <p:sp>
          <p:nvSpPr>
            <p:cNvPr id="25" name="Rectangle 25"/>
            <p:cNvSpPr/>
            <p:nvPr/>
          </p:nvSpPr>
          <p:spPr>
            <a:xfrm>
              <a:off x="533400" y="4936808"/>
              <a:ext cx="627602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07015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512921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345" y="5163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5485448"/>
              <a:ext cx="54315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全称应为 Load Sharing Facility（原课件写 Load Share）；客户名 JP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Mogen 应为 J.P. Morgan；第139页标题 LSF Damons 应为 Daemons。</a:t>
              </a:r>
            </a:p>
          </p:txBody>
        </p:sp>
      </p:grpSp>
      <p:grpSp>
        <p:nvGrpSpPr>
          <p:cNvPr id="50" name="c2-bullets-1"/>
          <p:cNvGrpSpPr/>
          <p:nvPr/>
        </p:nvGrpSpPr>
        <p:grpSpPr>
          <a:xfrm>
            <a:off x="7107364" y="1545907"/>
            <a:ext cx="2327682" cy="2140458"/>
            <a:chOff x="7107364" y="1545907"/>
            <a:chExt cx="2327682" cy="2140458"/>
          </a:xfrm>
        </p:grpSpPr>
        <p:sp>
          <p:nvSpPr>
            <p:cNvPr id="31" name="TextBox 31"/>
            <p:cNvSpPr txBox="1"/>
            <p:nvPr/>
          </p:nvSpPr>
          <p:spPr>
            <a:xfrm>
              <a:off x="7107364" y="1545907"/>
              <a:ext cx="2327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主要功能（原课件第137页）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114222" y="185356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69901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94067" y="186594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作业管理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14222" y="216503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69901" y="22034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94067" y="217741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作业执行机制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14222" y="247650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69901" y="25148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94067" y="248888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负载信息收集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114222" y="278701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69901" y="28263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94067" y="27993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14222" y="309848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69901" y="31368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94067" y="311086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资源管理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14222" y="340995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69901" y="34483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94067" y="34223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用户管理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7114222" y="3808095"/>
            <a:ext cx="4544378" cy="2338388"/>
            <a:chOff x="7114222" y="3808095"/>
            <a:chExt cx="4544378" cy="2338388"/>
          </a:xfrm>
        </p:grpSpPr>
        <p:sp>
          <p:nvSpPr>
            <p:cNvPr id="51" name="Rectangle 51"/>
            <p:cNvSpPr/>
            <p:nvPr/>
          </p:nvSpPr>
          <p:spPr>
            <a:xfrm>
              <a:off x="7114222" y="3808095"/>
              <a:ext cx="4544378" cy="2338388"/>
            </a:xfrm>
            <a:prstGeom prst="roundRect">
              <a:avLst>
                <a:gd name="adj" fmla="val 5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23748" y="3941445"/>
              <a:ext cx="47625" cy="2071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44728" y="4000500"/>
              <a:ext cx="11077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16973" y="4034790"/>
              <a:ext cx="962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原课件第136页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37870" y="4356735"/>
              <a:ext cx="39570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论文题目：Utopia: A Load Sharing Facility for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Large, Heterogeneous Distributed Computer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Systems（Zhou 等，1992 年技术报告），LSF 的名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字就出自这里。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0586" cy="909257"/>
            <a:chOff x="520446" y="342900"/>
            <a:chExt cx="93505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05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 架构：提交主机、主控主机、执行主机各跑哪些守护进程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913448" y="2074545"/>
            <a:ext cx="4691062" cy="3627120"/>
            <a:chOff x="913448" y="2074545"/>
            <a:chExt cx="4691062" cy="3627120"/>
          </a:xfrm>
        </p:grpSpPr>
        <p:sp>
          <p:nvSpPr>
            <p:cNvPr id="7" name="Freeform 7"/>
            <p:cNvSpPr/>
            <p:nvPr/>
          </p:nvSpPr>
          <p:spPr>
            <a:xfrm>
              <a:off x="1488758" y="2521268"/>
              <a:ext cx="691515" cy="1718310"/>
            </a:xfrm>
            <a:custGeom>
              <a:avLst/>
              <a:gdLst/>
              <a:ahLst/>
              <a:cxnLst/>
              <a:rect l="l" t="t" r="r" b="b"/>
              <a:pathLst>
                <a:path w="691515" h="1718310">
                  <a:moveTo>
                    <a:pt x="0" y="0"/>
                  </a:moveTo>
                  <a:lnTo>
                    <a:pt x="691515" y="17183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36458" y="4221480"/>
              <a:ext cx="87630" cy="105728"/>
            </a:xfrm>
            <a:custGeom>
              <a:avLst/>
              <a:gdLst/>
              <a:ahLst/>
              <a:cxnLst/>
              <a:rect l="l" t="t" r="r" b="b"/>
              <a:pathLst>
                <a:path w="87630" h="105728">
                  <a:moveTo>
                    <a:pt x="79057" y="105728"/>
                  </a:moveTo>
                  <a:lnTo>
                    <a:pt x="0" y="35242"/>
                  </a:lnTo>
                  <a:lnTo>
                    <a:pt x="876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91790" y="3048952"/>
              <a:ext cx="1702118" cy="1278255"/>
            </a:xfrm>
            <a:custGeom>
              <a:avLst/>
              <a:gdLst/>
              <a:ahLst/>
              <a:cxnLst/>
              <a:rect l="l" t="t" r="r" b="b"/>
              <a:pathLst>
                <a:path w="1702118" h="1278255">
                  <a:moveTo>
                    <a:pt x="0" y="1278255"/>
                  </a:moveTo>
                  <a:lnTo>
                    <a:pt x="17021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565332" y="299180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61335" y="4890135"/>
              <a:ext cx="1398270" cy="349568"/>
            </a:xfrm>
            <a:custGeom>
              <a:avLst/>
              <a:gdLst/>
              <a:ahLst/>
              <a:cxnLst/>
              <a:rect l="l" t="t" r="r" b="b"/>
              <a:pathLst>
                <a:path w="1398270" h="349568">
                  <a:moveTo>
                    <a:pt x="0" y="0"/>
                  </a:moveTo>
                  <a:lnTo>
                    <a:pt x="1398270" y="3495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48175" y="5193982"/>
              <a:ext cx="103822" cy="92393"/>
            </a:xfrm>
            <a:custGeom>
              <a:avLst/>
              <a:gdLst/>
              <a:ahLst/>
              <a:cxnLst/>
              <a:rect l="l" t="t" r="r" b="b"/>
              <a:pathLst>
                <a:path w="103822" h="92393">
                  <a:moveTo>
                    <a:pt x="103822" y="69533"/>
                  </a:moveTo>
                  <a:lnTo>
                    <a:pt x="0" y="9239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09850" y="2781300"/>
              <a:ext cx="1942147" cy="1461135"/>
            </a:xfrm>
            <a:custGeom>
              <a:avLst/>
              <a:gdLst/>
              <a:ahLst/>
              <a:cxnLst/>
              <a:rect l="l" t="t" r="r" b="b"/>
              <a:pathLst>
                <a:path w="1942147" h="1461135">
                  <a:moveTo>
                    <a:pt x="1942147" y="0"/>
                  </a:moveTo>
                  <a:cubicBezTo>
                    <a:pt x="1052512" y="162560"/>
                    <a:pt x="405130" y="649605"/>
                    <a:pt x="0" y="146113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2566988" y="422052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953" y="106680"/>
                  </a:moveTo>
                  <a:lnTo>
                    <a:pt x="0" y="0"/>
                  </a:lnTo>
                  <a:lnTo>
                    <a:pt x="85725" y="428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99410" y="5169218"/>
              <a:ext cx="1652588" cy="489585"/>
            </a:xfrm>
            <a:custGeom>
              <a:avLst/>
              <a:gdLst/>
              <a:ahLst/>
              <a:cxnLst/>
              <a:rect l="l" t="t" r="r" b="b"/>
              <a:pathLst>
                <a:path w="1652588" h="489585">
                  <a:moveTo>
                    <a:pt x="1652588" y="342900"/>
                  </a:moveTo>
                  <a:cubicBezTo>
                    <a:pt x="988378" y="489585"/>
                    <a:pt x="437515" y="375285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827972" y="5107305"/>
              <a:ext cx="102870" cy="98107"/>
            </a:xfrm>
            <a:custGeom>
              <a:avLst/>
              <a:gdLst/>
              <a:ahLst/>
              <a:cxnLst/>
              <a:rect l="l" t="t" r="r" b="b"/>
              <a:pathLst>
                <a:path w="102870" h="98107">
                  <a:moveTo>
                    <a:pt x="0" y="0"/>
                  </a:moveTo>
                  <a:lnTo>
                    <a:pt x="102870" y="25717"/>
                  </a:lnTo>
                  <a:lnTo>
                    <a:pt x="40958" y="9810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3448" y="2074545"/>
              <a:ext cx="971550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684972" y="4327208"/>
              <a:ext cx="1376362" cy="780098"/>
            </a:xfrm>
            <a:prstGeom prst="roundRect">
              <a:avLst>
                <a:gd name="adj" fmla="val 1221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51998" y="2378392"/>
              <a:ext cx="1052512" cy="613410"/>
            </a:xfrm>
            <a:prstGeom prst="roundRect">
              <a:avLst>
                <a:gd name="adj" fmla="val 1552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1998" y="5088255"/>
              <a:ext cx="1052512" cy="613410"/>
            </a:xfrm>
            <a:prstGeom prst="roundRect">
              <a:avLst>
                <a:gd name="adj" fmla="val 1552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1186" y="214979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提交主机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5164" y="2316480"/>
              <a:ext cx="728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Commands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84641" y="4402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主控主机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1723" y="4569142"/>
              <a:ext cx="1301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mbatchd · mbschd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69776" y="4735830"/>
              <a:ext cx="14058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sbatchd · pim · res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82762" y="4902518"/>
              <a:ext cx="779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Master lim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89742" y="24536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执行主机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2662" y="2620328"/>
              <a:ext cx="99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sbatchd · pim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64475" y="2787015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 · lim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89742" y="51625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执行主机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2662" y="5329238"/>
              <a:ext cx="99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sbatchd · pim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4475" y="5495925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 · lim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580198" y="3346132"/>
              <a:ext cx="54483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99476" y="3375184"/>
              <a:ext cx="5062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bsub 提交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38550" y="358140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65322" y="361045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142298" y="321087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62503" y="324088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负载信息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6248400" y="1524000"/>
            <a:ext cx="5410200" cy="3789998"/>
            <a:chOff x="6248400" y="1524000"/>
            <a:chExt cx="5410200" cy="3789998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189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守护进程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1834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57925" y="1914525"/>
              <a:ext cx="1604010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3079" y="2116455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mbatchd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66138" y="2023110"/>
              <a:ext cx="339109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batch daemon，主批处理守护进程：管理队列，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接收和派发作业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468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2473642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2483168"/>
              <a:ext cx="1604010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3079" y="2684145"/>
              <a:ext cx="530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mbschd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66138" y="2590800"/>
              <a:ext cx="343109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batch scheduling daemon，主批处理调度进程：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按策略做调度决策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0365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325183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sbatchd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66138" y="3158490"/>
              <a:ext cx="339109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 batch daemon，从批处理守护进程：在本机启动和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控制作业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6052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60997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3079" y="382047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6138" y="3727132"/>
              <a:ext cx="339775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remote execution service，远程执行服务：真正运行作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业进程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41729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43079" y="4388168"/>
              <a:ext cx="211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lim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66138" y="4294822"/>
              <a:ext cx="339109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load information manager，负载信息管理器；主控机上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的叫 Master lim，汇总全集群负载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740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474535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3079" y="4956810"/>
              <a:ext cx="248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66138" y="4863465"/>
              <a:ext cx="33777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 information manager，进程信息管理器：收集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作业进程的资源用量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1524000"/>
              <a:ext cx="5410200" cy="3789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66698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llout-2"/>
          <p:cNvGrpSpPr/>
          <p:nvPr/>
        </p:nvGrpSpPr>
        <p:grpSpPr>
          <a:xfrm>
            <a:off x="6248400" y="5478780"/>
            <a:ext cx="5410200" cy="702945"/>
            <a:chOff x="6248400" y="5478780"/>
            <a:chExt cx="5410200" cy="702945"/>
          </a:xfrm>
        </p:grpSpPr>
        <p:sp>
          <p:nvSpPr>
            <p:cNvPr id="68" name="Rectangle 68"/>
            <p:cNvSpPr/>
            <p:nvPr/>
          </p:nvSpPr>
          <p:spPr>
            <a:xfrm>
              <a:off x="6248400" y="547878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453188" y="5730240"/>
              <a:ext cx="200026" cy="200026"/>
              <a:chOff x="6453188" y="5730240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453188" y="57302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553200" y="57969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542088" y="58302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756273" y="5623084"/>
              <a:ext cx="45239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每台服务器主机都跑 sbatchd、pim、res、lim，只有主控主机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多出 mbatchd 和 mbschd（原课件第138页）。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7776" cy="909257"/>
            <a:chOff x="520446" y="342900"/>
            <a:chExt cx="591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 基本概念：集群、作业、提交主机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328160" cy="1930718"/>
            <a:chOff x="533400" y="1524000"/>
            <a:chExt cx="4328160" cy="1930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集群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669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Cluster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3751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一组运行 LSF 守护进程和命令的计算机，相互共享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资源和负载。集群把异构的机器资源隐藏起来，给用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户一个单一系统映像（Single-system Image）。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8841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832259"/>
              <a:ext cx="3589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可以按管理组、按同一文件服务器或子网、按功能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相近来划分主机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19500"/>
            <a:ext cx="4328160" cy="1403032"/>
            <a:chOff x="533400" y="3619500"/>
            <a:chExt cx="4328160" cy="1403032"/>
          </a:xfrm>
        </p:grpSpPr>
        <p:sp>
          <p:nvSpPr>
            <p:cNvPr id="16" name="Rectangle 16"/>
            <p:cNvSpPr/>
            <p:nvPr/>
          </p:nvSpPr>
          <p:spPr>
            <a:xfrm>
              <a:off x="533400" y="3619500"/>
              <a:ext cx="432816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7528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8004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147" y="38333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作业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18450" y="3840956"/>
              <a:ext cx="3171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4157186"/>
              <a:ext cx="3751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用一条 LSF 提交命令提交的一个工作单位，可以是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复杂问题、模拟场景、运算等需要计算能力的工作。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 按配置策略负责它的调度、控制和监视。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5188268"/>
            <a:ext cx="4328160" cy="1143952"/>
            <a:chOff x="533400" y="5188268"/>
            <a:chExt cx="4328160" cy="1143952"/>
          </a:xfrm>
        </p:grpSpPr>
        <p:sp>
          <p:nvSpPr>
            <p:cNvPr id="23" name="Rectangle 23"/>
            <p:cNvSpPr/>
            <p:nvPr/>
          </p:nvSpPr>
          <p:spPr>
            <a:xfrm>
              <a:off x="533400" y="5188268"/>
              <a:ext cx="432816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532161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536924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044" y="54021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提交主机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5708809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用于把作业提交到集群的主机，客户机和服务器主机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都可以当提交主机。提交命令是 bsub。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5166360" y="1524000"/>
            <a:ext cx="6492240" cy="937260"/>
            <a:chOff x="5166360" y="1524000"/>
            <a:chExt cx="6492240" cy="937260"/>
          </a:xfrm>
        </p:grpSpPr>
        <p:sp>
          <p:nvSpPr>
            <p:cNvPr id="29" name="Rectangle 29"/>
            <p:cNvSpPr/>
            <p:nvPr/>
          </p:nvSpPr>
          <p:spPr>
            <a:xfrm>
              <a:off x="5166360" y="1524000"/>
              <a:ext cx="6492240" cy="937260"/>
            </a:xfrm>
            <a:prstGeom prst="roundRect">
              <a:avLst>
                <a:gd name="adj" fmla="val 101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94757" y="1675924"/>
              <a:ext cx="2980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提交一个要 12 个作业槽的作业（原课件第143页）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94948" y="1934289"/>
              <a:ext cx="3706686" cy="438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% bsub -n 12 \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-R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"rusage[swp=50:duration=2h:decay=1, license=1:duration=2]"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\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myjob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5161407" y="2626042"/>
            <a:ext cx="6497193" cy="2171414"/>
            <a:chOff x="5161407" y="2626042"/>
            <a:chExt cx="6497193" cy="2171414"/>
          </a:xfrm>
        </p:grpSpPr>
        <p:sp>
          <p:nvSpPr>
            <p:cNvPr id="33" name="Rectangle 33"/>
            <p:cNvSpPr/>
            <p:nvPr/>
          </p:nvSpPr>
          <p:spPr>
            <a:xfrm>
              <a:off x="5166360" y="2626042"/>
              <a:ext cx="649224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88392" y="27432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34512" y="27432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61038" y="3125152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-n 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98474" y="3125152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 12 个作业槽（计算资源）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66360" y="33842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66360" y="338899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61038" y="3506152"/>
              <a:ext cx="530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swp=50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98474" y="3506152"/>
              <a:ext cx="1351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预留 50 MB 交换空间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166360" y="37652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61038" y="3888105"/>
              <a:ext cx="1569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duration=2h, decay=1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98474" y="3888105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交换空间预留 2 小时，预留量在这段时间内线性递减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41471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66360" y="4151948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1038" y="4269105"/>
              <a:ext cx="15319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license=1:duration=2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98474" y="4269105"/>
              <a:ext cx="3650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 1 个许可证 2 分钟（duration 不写单位时按分钟算）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66360" y="2626042"/>
              <a:ext cx="649224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499032" y="262604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61407" y="4606766"/>
              <a:ext cx="32553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rusage 是资源预留串，逗号隔开的两段各有自己的时长</a:t>
              </a:r>
            </a:p>
          </p:txBody>
        </p:sp>
      </p:grpSp>
      <p:grpSp>
        <p:nvGrpSpPr>
          <p:cNvPr id="61" name="c2-kv-3"/>
          <p:cNvGrpSpPr/>
          <p:nvPr/>
        </p:nvGrpSpPr>
        <p:grpSpPr>
          <a:xfrm>
            <a:off x="5159883" y="4944904"/>
            <a:ext cx="6498717" cy="997076"/>
            <a:chOff x="5159883" y="4944904"/>
            <a:chExt cx="6498717" cy="997076"/>
          </a:xfrm>
        </p:grpSpPr>
        <p:sp>
          <p:nvSpPr>
            <p:cNvPr id="53" name="TextBox 53"/>
            <p:cNvSpPr txBox="1"/>
            <p:nvPr/>
          </p:nvSpPr>
          <p:spPr>
            <a:xfrm>
              <a:off x="5159883" y="4944904"/>
              <a:ext cx="980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bsub / bkill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21043" y="494490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提交作业 / 杀掉作业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52168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159883" y="5318284"/>
              <a:ext cx="1451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bstop / bresume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21043" y="5318284"/>
              <a:ext cx="3329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挂起作业 / 恢复作业（见第55页的状态图）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55902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159883" y="5692616"/>
              <a:ext cx="12704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bhosts / bjobs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21043" y="5692616"/>
              <a:ext cx="4139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查看各主机的作业槽 / 查看作业状态（bjobs 是补充）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7264" cy="909257"/>
            <a:chOff x="520446" y="342900"/>
            <a:chExt cx="82972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72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作业槽：一台主机能同时跑几个作业，用 bhosts 查看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293495"/>
            <a:chOff x="533400" y="1524000"/>
            <a:chExt cx="5842635" cy="1293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7657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作业槽（Job Slot）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0549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 中承载作业的单元。每台主机可以配置一定数量的作业槽，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LSF 队列把作业发送到这些作业槽上。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002280"/>
            <a:ext cx="5842635" cy="1313498"/>
            <a:chOff x="533400" y="3002280"/>
            <a:chExt cx="5842635" cy="1313498"/>
          </a:xfrm>
        </p:grpSpPr>
        <p:sp>
          <p:nvSpPr>
            <p:cNvPr id="14" name="Rectangle 14"/>
            <p:cNvSpPr/>
            <p:nvPr/>
          </p:nvSpPr>
          <p:spPr>
            <a:xfrm>
              <a:off x="533400" y="3002280"/>
              <a:ext cx="584263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154204"/>
              <a:ext cx="17645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% bhosts（原课件第141页）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3417094"/>
              <a:ext cx="462711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HOST_NAME  STATUS  JL/U  MAX  NJOBS  RUN  SSUSP  USUSP  RSV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hostA      ok         2    2      0    0      0      0   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hostD      ok         2    4      2    1      0      0   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hostB      ok         1    2      2    1      0      1    0</a:t>
              </a:r>
            </a:p>
          </p:txBody>
        </p:sp>
      </p:grpSp>
      <p:grpSp>
        <p:nvGrpSpPr>
          <p:cNvPr id="29" name="c1-kv-3"/>
          <p:cNvGrpSpPr/>
          <p:nvPr/>
        </p:nvGrpSpPr>
        <p:grpSpPr>
          <a:xfrm>
            <a:off x="526161" y="4524851"/>
            <a:ext cx="5849874" cy="1543622"/>
            <a:chOff x="526161" y="4524851"/>
            <a:chExt cx="5849874" cy="1543622"/>
          </a:xfrm>
        </p:grpSpPr>
        <p:sp>
          <p:nvSpPr>
            <p:cNvPr id="18" name="TextBox 18"/>
            <p:cNvSpPr txBox="1"/>
            <p:nvPr/>
          </p:nvSpPr>
          <p:spPr>
            <a:xfrm>
              <a:off x="526161" y="452485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JL/U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55788" y="452485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每个用户在该主机上最多能占的作业槽数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8310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4946809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55788" y="494680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该主机的作业槽总数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2520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5368766"/>
              <a:ext cx="640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NJOBS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5788" y="5368766"/>
              <a:ext cx="40591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已占用的作业槽 = RUN + SSUSP + USUSP + RSV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6740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161" y="578977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RSV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55788" y="57897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为等待中的作业预留的槽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680835" y="1524000"/>
            <a:ext cx="4977765" cy="1720215"/>
            <a:chOff x="6680835" y="1524000"/>
            <a:chExt cx="4977765" cy="1720215"/>
          </a:xfrm>
        </p:grpSpPr>
        <p:sp>
          <p:nvSpPr>
            <p:cNvPr id="30" name="Rectangle 30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1802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1996" y="1655445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06876" y="1655445"/>
              <a:ext cx="540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NJOBS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2315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5376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3695" y="208502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hostA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7335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2680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73729" y="208502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0+0+0+0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7088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43695" y="251555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hostD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7335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2680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73729" y="251555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1+0+0+1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7088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43695" y="2946082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hostB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7335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2680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73729" y="294608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1+0+1+0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793730" y="2824162"/>
              <a:ext cx="85534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7088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0835" y="1524000"/>
              <a:ext cx="497776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8572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5154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59358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77944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steps-2"/>
          <p:cNvGrpSpPr/>
          <p:nvPr/>
        </p:nvGrpSpPr>
        <p:grpSpPr>
          <a:xfrm>
            <a:off x="6680835" y="3439478"/>
            <a:ext cx="4715317" cy="1790128"/>
            <a:chOff x="6680835" y="3439478"/>
            <a:chExt cx="4715317" cy="1790128"/>
          </a:xfrm>
        </p:grpSpPr>
        <p:sp>
          <p:nvSpPr>
            <p:cNvPr id="61" name="Rectangle 61"/>
            <p:cNvSpPr/>
            <p:nvPr/>
          </p:nvSpPr>
          <p:spPr>
            <a:xfrm>
              <a:off x="6814185" y="358235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680835" y="34394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74459" y="35132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680835" y="40605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74459" y="4134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680835" y="46815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74459" y="4755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92696" y="34723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93839" y="3752850"/>
              <a:ext cx="35679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 NJOBS 都等于 RUN + SSUSP + USUSP + RSV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92696" y="409336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空闲槽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93839" y="4373880"/>
              <a:ext cx="3908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− NJOBS：hostA 2 个、hostD 2 个、hostB 0 个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92696" y="47143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93839" y="4994910"/>
              <a:ext cx="4302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新来一个单槽作业，可以派到 hostA 或 hostD，hostB 已满</a:t>
              </a:r>
            </a:p>
          </p:txBody>
        </p:sp>
      </p:grpSp>
      <p:grpSp>
        <p:nvGrpSpPr>
          <p:cNvPr id="81" name="c2-callout-3"/>
          <p:cNvGrpSpPr/>
          <p:nvPr/>
        </p:nvGrpSpPr>
        <p:grpSpPr>
          <a:xfrm>
            <a:off x="6680835" y="5405438"/>
            <a:ext cx="4977765" cy="756285"/>
            <a:chOff x="6680835" y="5405438"/>
            <a:chExt cx="4977765" cy="756285"/>
          </a:xfrm>
        </p:grpSpPr>
        <p:sp>
          <p:nvSpPr>
            <p:cNvPr id="75" name="Rectangle 75"/>
            <p:cNvSpPr/>
            <p:nvPr/>
          </p:nvSpPr>
          <p:spPr>
            <a:xfrm>
              <a:off x="6680835" y="5405438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873564" y="5679876"/>
              <a:ext cx="224134" cy="192560"/>
              <a:chOff x="6873564" y="5679876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985635" y="57502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873564" y="56798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985635" y="5828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187946" y="5552599"/>
              <a:ext cx="407212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hostB 上有一个作业被用户挂起（USUSP = 1），挂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起的作业仍占着作业槽，所以 hostB 没有空槽。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4384" cy="909257"/>
            <a:chOff x="520446" y="342900"/>
            <a:chExt cx="75543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作业状态：从 PEND 出发，结束于 DONE 或 EXIT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28447" y="1524000"/>
            <a:ext cx="4333113" cy="4864131"/>
            <a:chOff x="528447" y="1524000"/>
            <a:chExt cx="4333113" cy="48641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93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3345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15490" y="20454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在作业队列中等待调度和派发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432816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15490" y="24455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已派发到某台主机并开始执行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15490" y="2845594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正常结束，返回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432816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133725"/>
              <a:ext cx="1365885" cy="58102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34565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15490" y="3245644"/>
              <a:ext cx="25504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返回非 0，或被杀掉、异常退出（更正：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EXITED）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1951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845719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PSUSP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15490" y="3845719"/>
              <a:ext cx="1362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PEND 阶段被挂起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11956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124325"/>
              <a:ext cx="432816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245769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USUSP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5490" y="42457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运行中被用户挂起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51961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4645819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SSUSP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15490" y="4645819"/>
              <a:ext cx="1576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运行中被 LSF 系统挂起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91966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924425"/>
              <a:ext cx="432816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045869"/>
              <a:ext cx="906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POST_DONE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15490" y="50458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后处理结束，返回成功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31971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445919"/>
              <a:ext cx="78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POST_ERR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015490" y="544591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后处理结束，返回错误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71976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724525"/>
              <a:ext cx="432816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5845969"/>
              <a:ext cx="37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15490" y="58459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批处理作业的子作业等待运行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4328160" cy="4600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913572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8447" y="6197441"/>
              <a:ext cx="3850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原课件第144页；LSF 的状态名是 EXIT，第145页的图里也是 EXIT</a:t>
              </a:r>
            </a:p>
          </p:txBody>
        </p:sp>
      </p:grpSp>
      <p:grpSp>
        <p:nvGrpSpPr>
          <p:cNvPr id="115" name="c2-graph-1"/>
          <p:cNvGrpSpPr/>
          <p:nvPr/>
        </p:nvGrpSpPr>
        <p:grpSpPr>
          <a:xfrm>
            <a:off x="5269230" y="1681162"/>
            <a:ext cx="5895975" cy="3373756"/>
            <a:chOff x="5269230" y="1681162"/>
            <a:chExt cx="5895975" cy="3373756"/>
          </a:xfrm>
        </p:grpSpPr>
        <p:sp>
          <p:nvSpPr>
            <p:cNvPr id="49" name="Freeform 49"/>
            <p:cNvSpPr/>
            <p:nvPr/>
          </p:nvSpPr>
          <p:spPr>
            <a:xfrm>
              <a:off x="5269230" y="1966912"/>
              <a:ext cx="545782" cy="9525"/>
            </a:xfrm>
            <a:custGeom>
              <a:avLst/>
              <a:gdLst/>
              <a:ahLst/>
              <a:cxnLst/>
              <a:rect l="l" t="t" r="r" b="b"/>
              <a:pathLst>
                <a:path w="545782" h="9525">
                  <a:moveTo>
                    <a:pt x="0" y="0"/>
                  </a:moveTo>
                  <a:lnTo>
                    <a:pt x="5457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815012" y="19192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500812" y="1966912"/>
              <a:ext cx="1650682" cy="9525"/>
            </a:xfrm>
            <a:custGeom>
              <a:avLst/>
              <a:gdLst/>
              <a:ahLst/>
              <a:cxnLst/>
              <a:rect l="l" t="t" r="r" b="b"/>
              <a:pathLst>
                <a:path w="1650682" h="9525">
                  <a:moveTo>
                    <a:pt x="0" y="0"/>
                  </a:moveTo>
                  <a:lnTo>
                    <a:pt x="16506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151495" y="19192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837295" y="1966912"/>
              <a:ext cx="1651635" cy="9525"/>
            </a:xfrm>
            <a:custGeom>
              <a:avLst/>
              <a:gdLst/>
              <a:ahLst/>
              <a:cxnLst/>
              <a:rect l="l" t="t" r="r" b="b"/>
              <a:pathLst>
                <a:path w="1651635" h="9525">
                  <a:moveTo>
                    <a:pt x="0" y="0"/>
                  </a:moveTo>
                  <a:lnTo>
                    <a:pt x="16516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488930" y="19192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5808345" y="2217420"/>
              <a:ext cx="240983" cy="842010"/>
            </a:xfrm>
            <a:custGeom>
              <a:avLst/>
              <a:gdLst/>
              <a:ahLst/>
              <a:cxnLst/>
              <a:rect l="l" t="t" r="r" b="b"/>
              <a:pathLst>
                <a:path w="240983" h="842010">
                  <a:moveTo>
                    <a:pt x="240983" y="0"/>
                  </a:moveTo>
                  <a:cubicBezTo>
                    <a:pt x="61278" y="290195"/>
                    <a:pt x="0" y="570865"/>
                    <a:pt x="57150" y="8420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5818822" y="3049905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65722" y="102870"/>
                  </a:moveTo>
                  <a:lnTo>
                    <a:pt x="0" y="19050"/>
                  </a:lnTo>
                  <a:lnTo>
                    <a:pt x="933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100762" y="2348865"/>
              <a:ext cx="241300" cy="842010"/>
            </a:xfrm>
            <a:custGeom>
              <a:avLst/>
              <a:gdLst/>
              <a:ahLst/>
              <a:cxnLst/>
              <a:rect l="l" t="t" r="r" b="b"/>
              <a:pathLst>
                <a:path w="241300" h="842010">
                  <a:moveTo>
                    <a:pt x="0" y="842010"/>
                  </a:moveTo>
                  <a:cubicBezTo>
                    <a:pt x="179705" y="552450"/>
                    <a:pt x="241300" y="271780"/>
                    <a:pt x="184785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238875" y="2255520"/>
              <a:ext cx="92393" cy="102870"/>
            </a:xfrm>
            <a:custGeom>
              <a:avLst/>
              <a:gdLst/>
              <a:ahLst/>
              <a:cxnLst/>
              <a:rect l="l" t="t" r="r" b="b"/>
              <a:pathLst>
                <a:path w="92393" h="102870">
                  <a:moveTo>
                    <a:pt x="26670" y="0"/>
                  </a:moveTo>
                  <a:lnTo>
                    <a:pt x="92393" y="83820"/>
                  </a:lnTo>
                  <a:lnTo>
                    <a:pt x="0" y="1028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823960" y="2055495"/>
              <a:ext cx="1808797" cy="1194435"/>
            </a:xfrm>
            <a:custGeom>
              <a:avLst/>
              <a:gdLst/>
              <a:ahLst/>
              <a:cxnLst/>
              <a:rect l="l" t="t" r="r" b="b"/>
              <a:pathLst>
                <a:path w="1808797" h="1194435">
                  <a:moveTo>
                    <a:pt x="0" y="0"/>
                  </a:moveTo>
                  <a:cubicBezTo>
                    <a:pt x="749935" y="235585"/>
                    <a:pt x="1352868" y="633730"/>
                    <a:pt x="1808797" y="119443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595610" y="3219450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97155" y="103822"/>
                  </a:moveTo>
                  <a:lnTo>
                    <a:pt x="0" y="60008"/>
                  </a:lnTo>
                  <a:lnTo>
                    <a:pt x="742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788718" y="2269808"/>
              <a:ext cx="1808797" cy="1194435"/>
            </a:xfrm>
            <a:custGeom>
              <a:avLst/>
              <a:gdLst/>
              <a:ahLst/>
              <a:cxnLst/>
              <a:rect l="l" t="t" r="r" b="b"/>
              <a:pathLst>
                <a:path w="1808797" h="1194435">
                  <a:moveTo>
                    <a:pt x="1808797" y="1194435"/>
                  </a:moveTo>
                  <a:cubicBezTo>
                    <a:pt x="1058862" y="958215"/>
                    <a:pt x="455930" y="560070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728710" y="2195512"/>
              <a:ext cx="97155" cy="103823"/>
            </a:xfrm>
            <a:custGeom>
              <a:avLst/>
              <a:gdLst/>
              <a:ahLst/>
              <a:cxnLst/>
              <a:rect l="l" t="t" r="r" b="b"/>
              <a:pathLst>
                <a:path w="97155" h="103823">
                  <a:moveTo>
                    <a:pt x="0" y="0"/>
                  </a:moveTo>
                  <a:lnTo>
                    <a:pt x="97155" y="43815"/>
                  </a:lnTo>
                  <a:lnTo>
                    <a:pt x="22860" y="1038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608695" y="2254568"/>
              <a:ext cx="494348" cy="2134552"/>
            </a:xfrm>
            <a:custGeom>
              <a:avLst/>
              <a:gdLst/>
              <a:ahLst/>
              <a:cxnLst/>
              <a:rect l="l" t="t" r="r" b="b"/>
              <a:pathLst>
                <a:path w="494348" h="2134552">
                  <a:moveTo>
                    <a:pt x="0" y="0"/>
                  </a:moveTo>
                  <a:lnTo>
                    <a:pt x="494348" y="21345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057322" y="4378642"/>
              <a:ext cx="92393" cy="102870"/>
            </a:xfrm>
            <a:custGeom>
              <a:avLst/>
              <a:gdLst/>
              <a:ahLst/>
              <a:cxnLst/>
              <a:rect l="l" t="t" r="r" b="b"/>
              <a:pathLst>
                <a:path w="92393" h="102870">
                  <a:moveTo>
                    <a:pt x="67628" y="102870"/>
                  </a:moveTo>
                  <a:lnTo>
                    <a:pt x="0" y="20955"/>
                  </a:lnTo>
                  <a:lnTo>
                    <a:pt x="923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9478328" y="3882390"/>
              <a:ext cx="1191578" cy="815340"/>
            </a:xfrm>
            <a:custGeom>
              <a:avLst/>
              <a:gdLst/>
              <a:ahLst/>
              <a:cxnLst/>
              <a:rect l="l" t="t" r="r" b="b"/>
              <a:pathLst>
                <a:path w="1191578" h="815340">
                  <a:moveTo>
                    <a:pt x="0" y="815340"/>
                  </a:moveTo>
                  <a:cubicBezTo>
                    <a:pt x="534035" y="682625"/>
                    <a:pt x="931228" y="410845"/>
                    <a:pt x="1191578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10629900" y="3801428"/>
              <a:ext cx="91440" cy="106680"/>
            </a:xfrm>
            <a:custGeom>
              <a:avLst/>
              <a:gdLst/>
              <a:ahLst/>
              <a:cxnLst/>
              <a:rect l="l" t="t" r="r" b="b"/>
              <a:pathLst>
                <a:path w="91440" h="106680">
                  <a:moveTo>
                    <a:pt x="91440" y="0"/>
                  </a:moveTo>
                  <a:lnTo>
                    <a:pt x="80962" y="106680"/>
                  </a:lnTo>
                  <a:lnTo>
                    <a:pt x="0" y="552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401175" y="3624262"/>
              <a:ext cx="1191577" cy="815340"/>
            </a:xfrm>
            <a:custGeom>
              <a:avLst/>
              <a:gdLst/>
              <a:ahLst/>
              <a:cxnLst/>
              <a:rect l="l" t="t" r="r" b="b"/>
              <a:pathLst>
                <a:path w="1191577" h="815340">
                  <a:moveTo>
                    <a:pt x="1191577" y="0"/>
                  </a:moveTo>
                  <a:cubicBezTo>
                    <a:pt x="657542" y="132715"/>
                    <a:pt x="260350" y="404495"/>
                    <a:pt x="0" y="8153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349740" y="4413885"/>
              <a:ext cx="91440" cy="106680"/>
            </a:xfrm>
            <a:custGeom>
              <a:avLst/>
              <a:gdLst/>
              <a:ahLst/>
              <a:cxnLst/>
              <a:rect l="l" t="t" r="r" b="b"/>
              <a:pathLst>
                <a:path w="91440" h="106680">
                  <a:moveTo>
                    <a:pt x="0" y="106680"/>
                  </a:moveTo>
                  <a:lnTo>
                    <a:pt x="10478" y="0"/>
                  </a:lnTo>
                  <a:lnTo>
                    <a:pt x="91440" y="514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6817042" y="2208848"/>
              <a:ext cx="1556385" cy="2240280"/>
            </a:xfrm>
            <a:custGeom>
              <a:avLst/>
              <a:gdLst/>
              <a:ahLst/>
              <a:cxnLst/>
              <a:rect l="l" t="t" r="r" b="b"/>
              <a:pathLst>
                <a:path w="1556385" h="2240280">
                  <a:moveTo>
                    <a:pt x="1556385" y="0"/>
                  </a:moveTo>
                  <a:lnTo>
                    <a:pt x="0" y="22402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762750" y="4421505"/>
              <a:ext cx="94297" cy="105728"/>
            </a:xfrm>
            <a:custGeom>
              <a:avLst/>
              <a:gdLst/>
              <a:ahLst/>
              <a:cxnLst/>
              <a:rect l="l" t="t" r="r" b="b"/>
              <a:pathLst>
                <a:path w="94297" h="105728">
                  <a:moveTo>
                    <a:pt x="0" y="105728"/>
                  </a:moveTo>
                  <a:lnTo>
                    <a:pt x="15240" y="0"/>
                  </a:lnTo>
                  <a:lnTo>
                    <a:pt x="94297" y="542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6075045" y="3707130"/>
              <a:ext cx="347662" cy="711517"/>
            </a:xfrm>
            <a:custGeom>
              <a:avLst/>
              <a:gdLst/>
              <a:ahLst/>
              <a:cxnLst/>
              <a:rect l="l" t="t" r="r" b="b"/>
              <a:pathLst>
                <a:path w="347662" h="711517">
                  <a:moveTo>
                    <a:pt x="0" y="0"/>
                  </a:moveTo>
                  <a:lnTo>
                    <a:pt x="347662" y="711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379845" y="439769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3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6985635" y="4769168"/>
              <a:ext cx="1910715" cy="9525"/>
            </a:xfrm>
            <a:custGeom>
              <a:avLst/>
              <a:gdLst/>
              <a:ahLst/>
              <a:cxnLst/>
              <a:rect l="l" t="t" r="r" b="b"/>
              <a:pathLst>
                <a:path w="1910715" h="9525">
                  <a:moveTo>
                    <a:pt x="191071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890385" y="47215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5919788" y="1681162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8256270" y="1681162"/>
              <a:ext cx="571500" cy="5715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0593705" y="1681162"/>
              <a:ext cx="571500" cy="5715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5659755" y="3155632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0593705" y="3267075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8905875" y="4483418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309360" y="4483418"/>
              <a:ext cx="571500" cy="5715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27702" y="190119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PEND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07310" y="190119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RUN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685937" y="190119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724544" y="3376612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PSUSP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658494" y="3487102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SSUSP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970664" y="4704398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USUSP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36877" y="4704398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EXIT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436870" y="1887855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463080" y="191690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bsub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022782" y="1887855"/>
              <a:ext cx="70104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037375" y="191690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找到合适主机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464992" y="188785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485198" y="191690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正常结束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692140" y="2589848"/>
              <a:ext cx="3629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717521" y="2619851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bstop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002655" y="2772728"/>
              <a:ext cx="49815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022958" y="2801779"/>
              <a:ext cx="456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bresume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9606915" y="247078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628073" y="249983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主机过载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322118" y="289179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342323" y="29208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负载恢复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685848" y="3289935"/>
              <a:ext cx="3629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710276" y="3318986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bstop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9940290" y="4295775"/>
              <a:ext cx="49815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960593" y="4324826"/>
              <a:ext cx="456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bresume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9700260" y="3869055"/>
              <a:ext cx="3629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725641" y="3898106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bstop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254240" y="3289935"/>
              <a:ext cx="6276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271273" y="3318986"/>
              <a:ext cx="5945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bkill 或异常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127432" y="402717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155157" y="405622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bkill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7750492" y="469106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778217" y="47201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bkill</a:t>
              </a:r>
            </a:p>
          </p:txBody>
        </p:sp>
      </p:grpSp>
      <p:grpSp>
        <p:nvGrpSpPr>
          <p:cNvPr id="122" name="c2-callout-2"/>
          <p:cNvGrpSpPr/>
          <p:nvPr/>
        </p:nvGrpSpPr>
        <p:grpSpPr>
          <a:xfrm>
            <a:off x="5166360" y="5381625"/>
            <a:ext cx="6492240" cy="967740"/>
            <a:chOff x="5166360" y="5381625"/>
            <a:chExt cx="6492240" cy="967740"/>
          </a:xfrm>
        </p:grpSpPr>
        <p:sp>
          <p:nvSpPr>
            <p:cNvPr id="116" name="Rectangle 116"/>
            <p:cNvSpPr/>
            <p:nvPr/>
          </p:nvSpPr>
          <p:spPr>
            <a:xfrm>
              <a:off x="5166360" y="5381625"/>
              <a:ext cx="6492240" cy="967740"/>
            </a:xfrm>
            <a:prstGeom prst="roundRect">
              <a:avLst>
                <a:gd name="adj" fmla="val 1181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5371148" y="5766435"/>
              <a:ext cx="200026" cy="200025"/>
              <a:chOff x="5371148" y="5766435"/>
              <a:chExt cx="200026" cy="200025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5371148" y="57664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5410886" y="58108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5445602" y="59220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5673852" y="5647373"/>
              <a:ext cx="55001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用户 bresume 之后作业先转成 SSUSP，等 LSF 判断主机负载允许了才回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 RUN。据原课件第145页重画，PEND、SSUSP 到 EXIT 的 bkill 边从略。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批处理作业的生命周期：提交、调度、派发、运行、回报、通知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graph-1"/>
          <p:cNvGrpSpPr/>
          <p:nvPr/>
        </p:nvGrpSpPr>
        <p:grpSpPr>
          <a:xfrm>
            <a:off x="797242" y="1817370"/>
            <a:ext cx="5137786" cy="3855720"/>
            <a:chOff x="797242" y="1817370"/>
            <a:chExt cx="5137786" cy="3855720"/>
          </a:xfrm>
        </p:grpSpPr>
        <p:sp>
          <p:nvSpPr>
            <p:cNvPr id="7" name="Freeform 7"/>
            <p:cNvSpPr/>
            <p:nvPr/>
          </p:nvSpPr>
          <p:spPr>
            <a:xfrm>
              <a:off x="1494472" y="2137410"/>
              <a:ext cx="1054418" cy="970598"/>
            </a:xfrm>
            <a:custGeom>
              <a:avLst/>
              <a:gdLst/>
              <a:ahLst/>
              <a:cxnLst/>
              <a:rect l="l" t="t" r="r" b="b"/>
              <a:pathLst>
                <a:path w="1054418" h="970598">
                  <a:moveTo>
                    <a:pt x="0" y="0"/>
                  </a:moveTo>
                  <a:lnTo>
                    <a:pt x="1054418" y="970598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16505" y="3072765"/>
              <a:ext cx="102870" cy="100012"/>
            </a:xfrm>
            <a:custGeom>
              <a:avLst/>
              <a:gdLst/>
              <a:ahLst/>
              <a:cxnLst/>
              <a:rect l="l" t="t" r="r" b="b"/>
              <a:pathLst>
                <a:path w="102870" h="100012">
                  <a:moveTo>
                    <a:pt x="102870" y="100012"/>
                  </a:moveTo>
                  <a:lnTo>
                    <a:pt x="0" y="70485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96552" y="3778568"/>
              <a:ext cx="9525" cy="481965"/>
            </a:xfrm>
            <a:custGeom>
              <a:avLst/>
              <a:gdLst/>
              <a:ahLst/>
              <a:cxnLst/>
              <a:rect l="l" t="t" r="r" b="b"/>
              <a:pathLst>
                <a:path w="9525" h="481965">
                  <a:moveTo>
                    <a:pt x="0" y="0"/>
                  </a:moveTo>
                  <a:lnTo>
                    <a:pt x="0" y="4819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48928" y="42605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48928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236595" y="4399598"/>
              <a:ext cx="1460182" cy="902970"/>
            </a:xfrm>
            <a:custGeom>
              <a:avLst/>
              <a:gdLst/>
              <a:ahLst/>
              <a:cxnLst/>
              <a:rect l="l" t="t" r="r" b="b"/>
              <a:pathLst>
                <a:path w="1460182" h="902970">
                  <a:moveTo>
                    <a:pt x="1460182" y="0"/>
                  </a:moveTo>
                  <a:lnTo>
                    <a:pt x="0" y="90297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3155632" y="526256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90488"/>
                  </a:moveTo>
                  <a:lnTo>
                    <a:pt x="56197" y="0"/>
                  </a:lnTo>
                  <a:lnTo>
                    <a:pt x="105727" y="809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468052" y="3372167"/>
              <a:ext cx="1146810" cy="233998"/>
            </a:xfrm>
            <a:custGeom>
              <a:avLst/>
              <a:gdLst/>
              <a:ahLst/>
              <a:cxnLst/>
              <a:rect l="l" t="t" r="r" b="b"/>
              <a:pathLst>
                <a:path w="1146810" h="233998">
                  <a:moveTo>
                    <a:pt x="0" y="25400"/>
                  </a:moveTo>
                  <a:cubicBezTo>
                    <a:pt x="484505" y="0"/>
                    <a:pt x="866775" y="69533"/>
                    <a:pt x="1146810" y="233998"/>
                  </a:cubicBez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91050" y="356425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89535"/>
                  </a:moveTo>
                  <a:lnTo>
                    <a:pt x="0" y="82867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413760" y="3730942"/>
              <a:ext cx="1283018" cy="342265"/>
            </a:xfrm>
            <a:custGeom>
              <a:avLst/>
              <a:gdLst/>
              <a:ahLst/>
              <a:cxnLst/>
              <a:rect l="l" t="t" r="r" b="b"/>
              <a:pathLst>
                <a:path w="1283018" h="342265">
                  <a:moveTo>
                    <a:pt x="1283018" y="318135"/>
                  </a:moveTo>
                  <a:cubicBezTo>
                    <a:pt x="830263" y="342265"/>
                    <a:pt x="402590" y="236220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3331845" y="368331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0"/>
                  </a:moveTo>
                  <a:lnTo>
                    <a:pt x="106680" y="6667"/>
                  </a:lnTo>
                  <a:lnTo>
                    <a:pt x="58102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938338" y="2105025"/>
              <a:ext cx="882967" cy="1067753"/>
            </a:xfrm>
            <a:custGeom>
              <a:avLst/>
              <a:gdLst/>
              <a:ahLst/>
              <a:cxnLst/>
              <a:rect l="l" t="t" r="r" b="b"/>
              <a:pathLst>
                <a:path w="882967" h="1067753">
                  <a:moveTo>
                    <a:pt x="882967" y="1067753"/>
                  </a:moveTo>
                  <a:cubicBezTo>
                    <a:pt x="698183" y="439103"/>
                    <a:pt x="403860" y="83185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844992" y="205835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26670"/>
                  </a:moveTo>
                  <a:lnTo>
                    <a:pt x="102870" y="0"/>
                  </a:lnTo>
                  <a:lnTo>
                    <a:pt x="83820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97242" y="1817370"/>
              <a:ext cx="10477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325052" y="3172778"/>
              <a:ext cx="1143000" cy="510540"/>
            </a:xfrm>
            <a:prstGeom prst="roundRect">
              <a:avLst>
                <a:gd name="adj" fmla="val 1865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25052" y="4355782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325052" y="5353050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96778" y="3588068"/>
              <a:ext cx="123825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1933" y="1902143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提交主机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46974" y="3257550"/>
              <a:ext cx="69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mbatchd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67368" y="34480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（队列）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93619" y="4440555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mbschd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50935" y="5437822"/>
              <a:ext cx="891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lim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6719" y="37518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执行主机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83286" y="3942398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sbatchd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7843" y="4132898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 · lim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828800" y="2562225"/>
              <a:ext cx="45624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51257" y="2596991"/>
              <a:ext cx="412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bsub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81288" y="3926205"/>
              <a:ext cx="43053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03603" y="3960971"/>
              <a:ext cx="385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调度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639502" y="4783455"/>
              <a:ext cx="57435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657397" y="481822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负载信息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23348" y="3349942"/>
              <a:ext cx="43053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45663" y="3384709"/>
              <a:ext cx="385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 派发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76650" y="3883342"/>
              <a:ext cx="68008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690863" y="3917156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⑤ 作业报告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223135" y="2336482"/>
              <a:ext cx="43053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245450" y="2371249"/>
              <a:ext cx="385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⑥ 邮件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01095" y="4756309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④ RUN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45448" y="27465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主控主机</a:t>
              </a:r>
            </a:p>
          </p:txBody>
        </p:sp>
      </p:grpSp>
      <p:grpSp>
        <p:nvGrpSpPr>
          <p:cNvPr id="73" name="c2-steps-1"/>
          <p:cNvGrpSpPr/>
          <p:nvPr/>
        </p:nvGrpSpPr>
        <p:grpSpPr>
          <a:xfrm>
            <a:off x="6464618" y="1533525"/>
            <a:ext cx="4839081" cy="4535138"/>
            <a:chOff x="6464618" y="1533525"/>
            <a:chExt cx="4839081" cy="4535138"/>
          </a:xfrm>
        </p:grpSpPr>
        <p:sp>
          <p:nvSpPr>
            <p:cNvPr id="48" name="Rectangle 48"/>
            <p:cNvSpPr/>
            <p:nvPr/>
          </p:nvSpPr>
          <p:spPr>
            <a:xfrm>
              <a:off x="6597968" y="1676400"/>
              <a:ext cx="19050" cy="3957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64618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824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64618" y="33042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8241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64618" y="39557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8241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64618" y="46062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8241" y="4680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64618" y="54911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8241" y="55649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6098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77241" y="1861661"/>
              <a:ext cx="4426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用户在提交主机上用 bsub 提交，作业进入主控主机 mbatchd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的队列，状态 PEND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6098" y="24536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77241" y="2746534"/>
              <a:ext cx="4393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mbatchd 定期把队列里的作业交给 mbschd；mbschd 按优先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级、调度策略和 Master lim 汇总的负载信息选出主机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76098" y="333851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派发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77241" y="3632359"/>
              <a:ext cx="3545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mbatchd 把作业派发给执行主机上的 sbatchd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76098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7241" y="4282916"/>
              <a:ext cx="4227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sbatchd 建立执行环境，通过 res 启动作业，状态 RUN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6098" y="46405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7241" y="4933474"/>
              <a:ext cx="3938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作业结束后，sbatchd 把输出、错误和作业信息报告给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mbatchd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76098" y="55254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77241" y="5819299"/>
              <a:ext cx="3174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mbatchd 把作业报告用邮件发回提交用户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 · 集群资源管理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调度策略：按顺序、位置、时间分类，实际中组合使用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626418" cy="2023110"/>
            <a:chOff x="533400" y="1524000"/>
            <a:chExt cx="5626418" cy="2023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906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分类依据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152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660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作业执行顺序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58315" y="2054066"/>
              <a:ext cx="1568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FCFS（先来先服务）等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84282" y="205406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还有按优先级、按用户公平分配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5598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作业执行位置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8315" y="2459831"/>
              <a:ext cx="1327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数据感知调度（data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aware scheduling）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84282" y="245983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把作业派到数据所在或离数据近的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1656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作业执行时间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58315" y="306562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截止时间调度、开始时间调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84282" y="306562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保证在期限前完成，或到指定时间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才开始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53540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79508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ompare-2"/>
          <p:cNvGrpSpPr/>
          <p:nvPr/>
        </p:nvGrpSpPr>
        <p:grpSpPr>
          <a:xfrm>
            <a:off x="533400" y="3722370"/>
            <a:ext cx="5626418" cy="1240155"/>
            <a:chOff x="533400" y="3722370"/>
            <a:chExt cx="5626418" cy="1240155"/>
          </a:xfrm>
        </p:grpSpPr>
        <p:sp>
          <p:nvSpPr>
            <p:cNvPr id="27" name="Rectangle 27"/>
            <p:cNvSpPr/>
            <p:nvPr/>
          </p:nvSpPr>
          <p:spPr>
            <a:xfrm>
              <a:off x="533400" y="3722370"/>
              <a:ext cx="2449830" cy="1240155"/>
            </a:xfrm>
            <a:prstGeom prst="roundRect">
              <a:avLst>
                <a:gd name="adj" fmla="val 107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8947" y="39366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单个作业的执行效率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4378" y="43129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0397" y="425672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等待时间短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4378" y="46158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0397" y="4559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周转时间短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709988" y="3722370"/>
              <a:ext cx="2449830" cy="1240155"/>
            </a:xfrm>
            <a:prstGeom prst="roundRect">
              <a:avLst>
                <a:gd name="adj" fmla="val 107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95534" y="39366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整个集群的执行效率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3910965" y="43129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66984" y="425672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机器忙闲均衡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3910965" y="46158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66984" y="45596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单位时间完成的作业多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031807" y="4027170"/>
              <a:ext cx="630555" cy="63055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078277" y="42819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调度目标</a:t>
              </a:r>
            </a:p>
          </p:txBody>
        </p:sp>
      </p:grpSp>
      <p:grpSp>
        <p:nvGrpSpPr>
          <p:cNvPr id="48" name="c1-callout-3"/>
          <p:cNvGrpSpPr/>
          <p:nvPr/>
        </p:nvGrpSpPr>
        <p:grpSpPr>
          <a:xfrm>
            <a:off x="533400" y="5137785"/>
            <a:ext cx="5626418" cy="978218"/>
            <a:chOff x="533400" y="5137785"/>
            <a:chExt cx="5626418" cy="978218"/>
          </a:xfrm>
        </p:grpSpPr>
        <p:sp>
          <p:nvSpPr>
            <p:cNvPr id="42" name="Rectangle 42"/>
            <p:cNvSpPr/>
            <p:nvPr/>
          </p:nvSpPr>
          <p:spPr>
            <a:xfrm>
              <a:off x="533400" y="5137785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522713"/>
              <a:ext cx="224134" cy="192560"/>
              <a:chOff x="726129" y="552271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55930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5227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670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5283518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实际使用的调度策略往往是多个策略的组合，要处理冲突，不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是所有策略都能同时生效。比如严格的先来先服务和数据感知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调度就可能互相矛盾。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464618" y="1524000"/>
            <a:ext cx="5193982" cy="969645"/>
            <a:chOff x="6464618" y="1524000"/>
            <a:chExt cx="5193982" cy="969645"/>
          </a:xfrm>
        </p:grpSpPr>
        <p:sp>
          <p:nvSpPr>
            <p:cNvPr id="49" name="Rectangle 49"/>
            <p:cNvSpPr/>
            <p:nvPr/>
          </p:nvSpPr>
          <p:spPr>
            <a:xfrm>
              <a:off x="6464618" y="1524000"/>
              <a:ext cx="5193982" cy="969645"/>
            </a:xfrm>
            <a:prstGeom prst="roundRect">
              <a:avLst>
                <a:gd name="adj" fmla="val 13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1657350"/>
              <a:ext cx="47625" cy="7029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5122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4561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例（补充）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78864" y="175641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同一台主机，顺序不同，平均周转时间不同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88264" y="2090738"/>
              <a:ext cx="4316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三个作业同时到达：A 要 6 小时，B、C 各要 1 小时。</a:t>
              </a:r>
            </a:p>
          </p:txBody>
        </p:sp>
      </p:grpSp>
      <p:grpSp>
        <p:nvGrpSpPr>
          <p:cNvPr id="72" name="c2-table-2"/>
          <p:cNvGrpSpPr/>
          <p:nvPr/>
        </p:nvGrpSpPr>
        <p:grpSpPr>
          <a:xfrm>
            <a:off x="6464618" y="2668905"/>
            <a:ext cx="5193982" cy="1217295"/>
            <a:chOff x="6464618" y="2668905"/>
            <a:chExt cx="5193982" cy="1217295"/>
          </a:xfrm>
        </p:grpSpPr>
        <p:sp>
          <p:nvSpPr>
            <p:cNvPr id="56" name="Rectangle 56"/>
            <p:cNvSpPr/>
            <p:nvPr/>
          </p:nvSpPr>
          <p:spPr>
            <a:xfrm>
              <a:off x="6464618" y="2668905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27303" y="27932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93455" y="27932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各作业完成时刻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47134" y="27932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平均周转时间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64630" y="3198971"/>
              <a:ext cx="1107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FCFS：A、B、C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46002" y="3198971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6、7、8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684604" y="319897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小时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64618" y="34756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64618" y="348043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64630" y="3604736"/>
              <a:ext cx="1493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短作业优先：B、C、A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46002" y="360473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1、2、8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161270" y="3489960"/>
              <a:ext cx="148780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462212" y="360473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3.67 小时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2668905"/>
              <a:ext cx="5193982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498205" y="26689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146982" y="266890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rd-3"/>
          <p:cNvGrpSpPr/>
          <p:nvPr/>
        </p:nvGrpSpPr>
        <p:grpSpPr>
          <a:xfrm>
            <a:off x="6464618" y="4061460"/>
            <a:ext cx="5193982" cy="2054542"/>
            <a:chOff x="6464618" y="4061460"/>
            <a:chExt cx="5193982" cy="2054542"/>
          </a:xfrm>
        </p:grpSpPr>
        <p:sp>
          <p:nvSpPr>
            <p:cNvPr id="73" name="Rectangle 73"/>
            <p:cNvSpPr/>
            <p:nvPr/>
          </p:nvSpPr>
          <p:spPr>
            <a:xfrm>
              <a:off x="6464618" y="4061460"/>
              <a:ext cx="5193982" cy="2054542"/>
            </a:xfrm>
            <a:prstGeom prst="roundRect">
              <a:avLst>
                <a:gd name="adj" fmla="val 649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57022" y="42538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48462" y="42881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50164" y="4610100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两种顺序都在第 8 小时全部完成，机器的总忙碌时间不变；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改变的只是单个作业等多久。这就是两类调度目标的区别。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1308" y="5165884"/>
              <a:ext cx="45133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回填（backfill）调度兼顾两者：大作业在等凑齐资源时，让能在这段空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档内跑完的小作业先用这些资源，既不推迟大作业，又不让机器闲着。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308403" cy="278702"/>
            <a:chOff x="526161" y="1547336"/>
            <a:chExt cx="23084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2025968"/>
            <a:chOff x="533400" y="1941195"/>
            <a:chExt cx="5410200" cy="202596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78602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 属于共享内存多处理机还是分布内存多计算机？它的地址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空间和集群有什么不同？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属于共享内存多处理机：内存分散在各节点，但全局统一编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址，只有一个地址空间。集群每个节点有自己的地址空间，只能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靠消息取别的节点的数据。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143375"/>
            <a:ext cx="5410200" cy="1511618"/>
            <a:chOff x="533400" y="4143375"/>
            <a:chExt cx="5410200" cy="1511618"/>
          </a:xfrm>
        </p:grpSpPr>
        <p:sp>
          <p:nvSpPr>
            <p:cNvPr id="15" name="Rectangle 15"/>
            <p:cNvSpPr/>
            <p:nvPr/>
          </p:nvSpPr>
          <p:spPr>
            <a:xfrm>
              <a:off x="533400" y="414337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33578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37007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69201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租一台虚拟机自己装数据库，属于哪种服务模式？直接用网页邮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箱呢？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5252085"/>
              <a:ext cx="3445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租虚拟机是 IaaS；网页邮箱是 SaaS。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从管理域和网络范围区分集群、网格、云。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279273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集群是单一组织、单一管理域，局域网；网格是多组织、多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管理域，广域网；云是单一管理域，局域网或广域网，面向服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务、按用量收费。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643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 为什么通常部署奇数台？5 台最多能坏几台？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737735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多数派是 ⌊n/2⌋+1，偶数台并不比少一台的奇数台多容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错。5 台的多数派是 3，最多坏 2 台。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6610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概念题答不上时，回到对应页的对比表，看“管理域”“地址空间”“多数派”这几列。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自测题（二）程序与计算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411167" cy="278702"/>
            <a:chOff x="526161" y="1547336"/>
            <a:chExt cx="441116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程序题先想清楚每个进程执行哪个分支，再写输出。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5139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Greetings 程序用 mpirun -np 1 运行，输出什么？-np 3 呢？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6514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-np 1：什么也不输出，0 号进程的 for 循环从 source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开始，1 &lt; 1 不成立。-np 3：依次输出 Greetings from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process 1! 和 Greetings from process 2!。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6917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个进程做 Ring AllReduce，每个进程有 800 MB 数据，每个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进程共发送多少？一共几步？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(8−1) ÷ 8 × 800 = 1400 MB；ReduceScatter 7 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AllGather 7 步，共 14 步。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2025968"/>
            <a:chOff x="6248400" y="1941195"/>
            <a:chExt cx="5410200" cy="202596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5717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个进程的发送缓冲是 (2, 5)、(4, 1)、(3, 3)。求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MPI_Reduce（MAX，Root = 0）和 MPI_Scan（SUM）的结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307080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后 P0 得 (4, 5)。Scan 后 P0 得 (2, 5)，P1 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 6)，P2 得 (9, 9)。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143375"/>
            <a:ext cx="5410200" cy="1511618"/>
            <a:chOff x="6248400" y="4143375"/>
            <a:chExt cx="5410200" cy="1511618"/>
          </a:xfrm>
        </p:grpSpPr>
        <p:sp>
          <p:nvSpPr>
            <p:cNvPr id="27" name="Rectangle 27"/>
            <p:cNvSpPr/>
            <p:nvPr/>
          </p:nvSpPr>
          <p:spPr>
            <a:xfrm>
              <a:off x="6248400" y="414337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33578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37007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692015"/>
              <a:ext cx="473544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个进程做 MPI_Alltoall，P2 的发送缓冲是 C0 C1 C2 C3，P2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最后收到什么？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5252085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每个进程的第 2 块：A2 B2 C2 D2。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7499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数据分布题画一张“进程 × 数据块”的表，Gather、Scatter、Alltoall 的前后对照一目了然。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829372" cy="909257"/>
            <a:chOff x="520446" y="342900"/>
            <a:chExt cx="1829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164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4262" y="407194"/>
              <a:ext cx="165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第2部分 分布式系统基础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2572"/>
            <a:ext cx="5880376" cy="1485519"/>
            <a:chOff x="533400" y="1532572"/>
            <a:chExt cx="5880376" cy="1485519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5640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Flynn 分类看指令流和数据流；按存储方式分为共享内存的多处理机和分布内存的多计算机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4062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集群用商用部件和标准网络，性价比高，Top500 中台数占近九成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4978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集群、网格、云的区别在管理域和网络范围；云按 IaaS、PaaS、SaaS 提供服务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4132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MPI 用 6 个基本函数就能编程；阻塞与否看返回时缓冲区能否使用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53949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群集通信分通信、聚集、同步三类；Ring AllReduce 通信量均衡但步数随规模线性增长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03208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283297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2812732"/>
              <a:ext cx="5264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NIS、ZooKeeper 管共享信息，ZooKeeper 靠过半确认保证一致；LSF 管作业和资源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3141345"/>
            <a:ext cx="6059805" cy="2223135"/>
            <a:chOff x="533400" y="3141345"/>
            <a:chExt cx="6059805" cy="2223135"/>
          </a:xfrm>
        </p:grpSpPr>
        <p:sp>
          <p:nvSpPr>
            <p:cNvPr id="26" name="Rectangle 26"/>
            <p:cNvSpPr/>
            <p:nvPr/>
          </p:nvSpPr>
          <p:spPr>
            <a:xfrm>
              <a:off x="533400" y="3141345"/>
              <a:ext cx="6059805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274695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332232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4642" y="335518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371475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3662839"/>
              <a:ext cx="51986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 的归类（第6页）；EC2 首发价（第12页）；AWS 营业利润（第15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页）；MPI 语言接口与 MPI-1 范围（第20页）；main 写法、string.h、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datatype（第21–23页）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44853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4433411"/>
              <a:ext cx="51579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Revc 拼写与缺 MPI_Wait（第25页）；MPI_Scan（第34页）；网速单位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Gb/s（第39页）；znode 1 MB 是上限（第45页）；LSF 全称等（第51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页）；EXIT（第55页）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898005" y="1524000"/>
            <a:ext cx="4760595" cy="2287905"/>
            <a:chOff x="6898005" y="1524000"/>
            <a:chExt cx="4760595" cy="2287905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647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753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92684" y="2023110"/>
              <a:ext cx="1234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 / MPP / 集群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0481" y="2023110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共享总线 / 定制网络 / 商用网络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2684" y="2404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消息传递模型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0481" y="2404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进程互发消息，要显式同步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2684" y="2785110"/>
              <a:ext cx="117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Bcast / Scatter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0481" y="278511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同一份数据 / 不同的数据发给各进程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3045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8005" y="3049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2684" y="3167062"/>
              <a:ext cx="10088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/ Scan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0481" y="316706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全体归约 / 前缀归约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426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2684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20481" y="354806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⌊n/2⌋+1 台确认才算写成功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1524000"/>
              <a:ext cx="476059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2104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6898005" y="3976688"/>
            <a:ext cx="4760595" cy="1386840"/>
            <a:chOff x="6898005" y="3976688"/>
            <a:chExt cx="4760595" cy="1386840"/>
          </a:xfrm>
        </p:grpSpPr>
        <p:sp>
          <p:nvSpPr>
            <p:cNvPr id="57" name="Rectangle 57"/>
            <p:cNvSpPr/>
            <p:nvPr/>
          </p:nvSpPr>
          <p:spPr>
            <a:xfrm>
              <a:off x="6898005" y="3976688"/>
              <a:ext cx="4760595" cy="1386840"/>
            </a:xfrm>
            <a:prstGeom prst="roundRect">
              <a:avLst>
                <a:gd name="adj" fmla="val 961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78980" y="4157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67601" y="4190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72503" y="4498181"/>
              <a:ext cx="416636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第3部分分布式存储技术：数据怎样分区和复制，副本怎样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保持一致，机器坏了怎样容错。本讲的多数派写入是其中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一种一致性做法。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9278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复习时动手画三样东西：SMP、MPP、集群的连接图，七种群集操作前后的数据表，LSF 作业从 bsub 到邮件通知的六步。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第2部分 分布式系统基础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tore_p2">
  <a:themeElements>
    <a:clrScheme name="dstore_p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ore_p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tore_p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2026-09-23T10:03:05Z</dcterms:created>
  <dcterms:modified xsi:type="dcterms:W3CDTF">2026-09-23T10:03:05Z</dcterms:modified>
  <cp:category/>
  <cp:contentStatus/>
</cp:coreProperties>
</file>