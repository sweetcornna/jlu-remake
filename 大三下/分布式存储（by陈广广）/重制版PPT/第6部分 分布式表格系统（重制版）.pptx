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tore_p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tore_p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e903f8a22d5d63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d75e27ae7779c4c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c766d50b975a7bb.png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706093" cy="3437763"/>
            <a:chOff x="666750" y="1619250"/>
            <a:chExt cx="4706093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345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6607" y="1718310"/>
              <a:ext cx="159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分布式存储 · 第6部分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分布式表格系统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961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Bigtable：建在 GFS 之上的分布式有序索引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行、列族、时间戳的数据模型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1830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系统架构与 Chubby 锁服务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子表分布与三层定位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存储实现、容错与负载均衡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50144" cy="205359"/>
            <a:chOff x="680466" y="6192202"/>
            <a:chExt cx="435014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50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自学复习版｜据吉林大学《分布式存储》第6部分课件整理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372691" cy="4461795"/>
            <a:chOff x="521970" y="1515428"/>
            <a:chExt cx="6372691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简介与数据模型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稀疏、分布式、持久化的多维有序映射；行键、列族、时间戳各管什么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系统架构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827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依赖 GFS、Chubby、调度器、MapReduce；一个 Master 加多台子表服务器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854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表按行键范围切成子表，Chubby → Root → METADATA 三层定位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54211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SSTable 与 Merge-dump 引擎：先写日志和 memtable，再转储、合并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容错和负载分配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54088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靠 Chubby 锁判定故障，靠 GFS 日志回放恢复；子表迁移、分裂与合并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对比和应用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5217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优缺点、与 Dynamo 对比，Google Analytics、Earth 与开源 HBase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529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Bigtable 的映射 (行, 列, 时间戳) 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值，解释行键反转、列族、多版本的用途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91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Bigtable 的系统结构，说出 Master、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子表服务器、Chubby、GFS 各自的职责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06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走一遍三层子表定位，算出 128 MB 元数据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子表能管多大的数据量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06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说清一次写入和一次读取在 memtable、提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交日志、SSTable 之间怎样流动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537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描述子表服务器和 Master 出错后的检测与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恢复，以及迁移时两次 minor compaction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的作用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95885" cy="909257"/>
            <a:chOff x="520446" y="342900"/>
            <a:chExt cx="87958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958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本部分地图：Bigtable = 分布式文件系统 + 分布式索引层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ree-1"/>
          <p:cNvGrpSpPr/>
          <p:nvPr/>
        </p:nvGrpSpPr>
        <p:grpSpPr>
          <a:xfrm>
            <a:off x="533400" y="1524000"/>
            <a:ext cx="5193982" cy="2670810"/>
            <a:chOff x="533400" y="1524000"/>
            <a:chExt cx="5193982" cy="2670810"/>
          </a:xfrm>
        </p:grpSpPr>
        <p:sp>
          <p:nvSpPr>
            <p:cNvPr id="7" name="Freeform 7"/>
            <p:cNvSpPr/>
            <p:nvPr/>
          </p:nvSpPr>
          <p:spPr>
            <a:xfrm>
              <a:off x="3487102" y="1690688"/>
              <a:ext cx="419100" cy="501015"/>
            </a:xfrm>
            <a:custGeom>
              <a:avLst/>
              <a:gdLst/>
              <a:ahLst/>
              <a:cxnLst/>
              <a:rect l="l" t="t" r="r" b="b"/>
              <a:pathLst>
                <a:path w="419100" h="501015">
                  <a:moveTo>
                    <a:pt x="0" y="501015"/>
                  </a:moveTo>
                  <a:lnTo>
                    <a:pt x="209550" y="50101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87102" y="2025015"/>
              <a:ext cx="419100" cy="166688"/>
            </a:xfrm>
            <a:custGeom>
              <a:avLst/>
              <a:gdLst/>
              <a:ahLst/>
              <a:cxnLst/>
              <a:rect l="l" t="t" r="r" b="b"/>
              <a:pathLst>
                <a:path w="419100" h="166688">
                  <a:moveTo>
                    <a:pt x="0" y="166688"/>
                  </a:moveTo>
                  <a:lnTo>
                    <a:pt x="209550" y="16668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87102" y="2191702"/>
              <a:ext cx="419100" cy="167640"/>
            </a:xfrm>
            <a:custGeom>
              <a:avLst/>
              <a:gdLst/>
              <a:ahLst/>
              <a:cxnLst/>
              <a:rect l="l" t="t" r="r" b="b"/>
              <a:pathLst>
                <a:path w="419100" h="167640">
                  <a:moveTo>
                    <a:pt x="0" y="0"/>
                  </a:moveTo>
                  <a:lnTo>
                    <a:pt x="209550" y="0"/>
                  </a:lnTo>
                  <a:lnTo>
                    <a:pt x="209550" y="167640"/>
                  </a:lnTo>
                  <a:lnTo>
                    <a:pt x="419100" y="16764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87102" y="2191702"/>
              <a:ext cx="419100" cy="501015"/>
            </a:xfrm>
            <a:custGeom>
              <a:avLst/>
              <a:gdLst/>
              <a:ahLst/>
              <a:cxnLst/>
              <a:rect l="l" t="t" r="r" b="b"/>
              <a:pathLst>
                <a:path w="419100" h="501015">
                  <a:moveTo>
                    <a:pt x="0" y="0"/>
                  </a:moveTo>
                  <a:lnTo>
                    <a:pt x="209550" y="0"/>
                  </a:lnTo>
                  <a:lnTo>
                    <a:pt x="209550" y="501015"/>
                  </a:lnTo>
                  <a:lnTo>
                    <a:pt x="419100" y="5010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487102" y="3027045"/>
              <a:ext cx="419100" cy="501015"/>
            </a:xfrm>
            <a:custGeom>
              <a:avLst/>
              <a:gdLst/>
              <a:ahLst/>
              <a:cxnLst/>
              <a:rect l="l" t="t" r="r" b="b"/>
              <a:pathLst>
                <a:path w="419100" h="501015">
                  <a:moveTo>
                    <a:pt x="0" y="501015"/>
                  </a:moveTo>
                  <a:lnTo>
                    <a:pt x="209550" y="50101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87102" y="3360420"/>
              <a:ext cx="419100" cy="167640"/>
            </a:xfrm>
            <a:custGeom>
              <a:avLst/>
              <a:gdLst/>
              <a:ahLst/>
              <a:cxnLst/>
              <a:rect l="l" t="t" r="r" b="b"/>
              <a:pathLst>
                <a:path w="419100" h="167640">
                  <a:moveTo>
                    <a:pt x="0" y="167640"/>
                  </a:moveTo>
                  <a:lnTo>
                    <a:pt x="209550" y="16764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487102" y="3528060"/>
              <a:ext cx="419100" cy="166688"/>
            </a:xfrm>
            <a:custGeom>
              <a:avLst/>
              <a:gdLst/>
              <a:ahLst/>
              <a:cxnLst/>
              <a:rect l="l" t="t" r="r" b="b"/>
              <a:pathLst>
                <a:path w="419100" h="166688">
                  <a:moveTo>
                    <a:pt x="0" y="0"/>
                  </a:moveTo>
                  <a:lnTo>
                    <a:pt x="209550" y="0"/>
                  </a:lnTo>
                  <a:lnTo>
                    <a:pt x="209550" y="166688"/>
                  </a:lnTo>
                  <a:lnTo>
                    <a:pt x="419100" y="16668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87102" y="3528060"/>
              <a:ext cx="419100" cy="501015"/>
            </a:xfrm>
            <a:custGeom>
              <a:avLst/>
              <a:gdLst/>
              <a:ahLst/>
              <a:cxnLst/>
              <a:rect l="l" t="t" r="r" b="b"/>
              <a:pathLst>
                <a:path w="419100" h="501015">
                  <a:moveTo>
                    <a:pt x="0" y="0"/>
                  </a:moveTo>
                  <a:lnTo>
                    <a:pt x="209550" y="0"/>
                  </a:lnTo>
                  <a:lnTo>
                    <a:pt x="209550" y="501015"/>
                  </a:lnTo>
                  <a:lnTo>
                    <a:pt x="419100" y="5010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540192" y="2191702"/>
              <a:ext cx="419100" cy="667702"/>
            </a:xfrm>
            <a:custGeom>
              <a:avLst/>
              <a:gdLst/>
              <a:ahLst/>
              <a:cxnLst/>
              <a:rect l="l" t="t" r="r" b="b"/>
              <a:pathLst>
                <a:path w="419100" h="667702">
                  <a:moveTo>
                    <a:pt x="0" y="667702"/>
                  </a:moveTo>
                  <a:lnTo>
                    <a:pt x="209550" y="66770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540192" y="2859405"/>
              <a:ext cx="419100" cy="668655"/>
            </a:xfrm>
            <a:custGeom>
              <a:avLst/>
              <a:gdLst/>
              <a:ahLst/>
              <a:cxnLst/>
              <a:rect l="l" t="t" r="r" b="b"/>
              <a:pathLst>
                <a:path w="419100" h="668655">
                  <a:moveTo>
                    <a:pt x="0" y="0"/>
                  </a:moveTo>
                  <a:lnTo>
                    <a:pt x="209550" y="0"/>
                  </a:lnTo>
                  <a:lnTo>
                    <a:pt x="209550" y="668655"/>
                  </a:lnTo>
                  <a:lnTo>
                    <a:pt x="419100" y="6686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906202" y="1524000"/>
              <a:ext cx="18211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906202" y="1858328"/>
              <a:ext cx="18211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906202" y="2191702"/>
              <a:ext cx="18211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906202" y="2526030"/>
              <a:ext cx="18211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959292" y="2025015"/>
              <a:ext cx="1527810" cy="333375"/>
            </a:xfrm>
            <a:prstGeom prst="roundRect">
              <a:avLst>
                <a:gd name="adj" fmla="val 28571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06202" y="2860358"/>
              <a:ext cx="18211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906202" y="3193732"/>
              <a:ext cx="18211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906202" y="3528060"/>
              <a:ext cx="18211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906202" y="3861435"/>
              <a:ext cx="18211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959292" y="3361372"/>
              <a:ext cx="1527810" cy="333375"/>
            </a:xfrm>
            <a:prstGeom prst="roundRect">
              <a:avLst>
                <a:gd name="adj" fmla="val 28571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2692718"/>
              <a:ext cx="1006792" cy="333375"/>
            </a:xfrm>
            <a:prstGeom prst="roundRect">
              <a:avLst>
                <a:gd name="adj" fmla="val 2857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96118" y="16173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96118" y="195167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子表与三层定位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96118" y="2286000"/>
              <a:ext cx="1457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Merge-dump 存储引擎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96118" y="261937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容错、迁移、分裂合并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49208" y="211836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自己实现的索引层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96118" y="2953702"/>
              <a:ext cx="7259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存文件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96118" y="3287078"/>
              <a:ext cx="13724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 管锁和元信息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96118" y="362140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调度器管机器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96118" y="3955732"/>
              <a:ext cx="1214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 批处理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49208" y="345471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依赖的外部系统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3316" y="2787015"/>
              <a:ext cx="593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Bigtable</a:t>
              </a:r>
            </a:p>
          </p:txBody>
        </p:sp>
      </p:grpSp>
      <p:grpSp>
        <p:nvGrpSpPr>
          <p:cNvPr id="46" name="c1-callout-2"/>
          <p:cNvGrpSpPr/>
          <p:nvPr/>
        </p:nvGrpSpPr>
        <p:grpSpPr>
          <a:xfrm>
            <a:off x="533400" y="4360545"/>
            <a:ext cx="5193982" cy="1952625"/>
            <a:chOff x="533400" y="4360545"/>
            <a:chExt cx="5193982" cy="1952625"/>
          </a:xfrm>
        </p:grpSpPr>
        <p:sp>
          <p:nvSpPr>
            <p:cNvPr id="40" name="Rectangle 40"/>
            <p:cNvSpPr/>
            <p:nvPr/>
          </p:nvSpPr>
          <p:spPr>
            <a:xfrm>
              <a:off x="533400" y="4360545"/>
              <a:ext cx="5193982" cy="1952625"/>
            </a:xfrm>
            <a:prstGeom prst="roundRect">
              <a:avLst>
                <a:gd name="adj" fmla="val 585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236845"/>
              <a:ext cx="200026" cy="200026"/>
              <a:chOff x="738188" y="5236845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2368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3035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53368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1273" y="5013484"/>
              <a:ext cx="43207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 83 页，删去封面、课程大纲、六次重复的内容提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要、空白页和致谢页；原课件第26–30页与第50–54页讲的是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同一套 LSM 树内容，合并讲解。</a:t>
              </a:r>
            </a:p>
          </p:txBody>
        </p:sp>
      </p:grpSp>
      <p:grpSp>
        <p:nvGrpSpPr>
          <p:cNvPr id="78" name="c2-table-1"/>
          <p:cNvGrpSpPr/>
          <p:nvPr/>
        </p:nvGrpSpPr>
        <p:grpSpPr>
          <a:xfrm>
            <a:off x="6032182" y="1524000"/>
            <a:ext cx="5626418" cy="3237548"/>
            <a:chOff x="6032182" y="1524000"/>
            <a:chExt cx="5626418" cy="3237548"/>
          </a:xfrm>
        </p:grpSpPr>
        <p:sp>
          <p:nvSpPr>
            <p:cNvPr id="47" name="Rectangle 47"/>
            <p:cNvSpPr/>
            <p:nvPr/>
          </p:nvSpPr>
          <p:spPr>
            <a:xfrm>
              <a:off x="6032182" y="1524000"/>
              <a:ext cx="562641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69418" y="1641157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本讲用到的技术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53778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前面在哪讲过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26861" y="2023110"/>
              <a:ext cx="2132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LSM 树、SSTable、Compaction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17255" y="1914525"/>
              <a:ext cx="313182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02409" y="2023110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第3部分第19–21页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32182" y="2286952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26861" y="2404110"/>
              <a:ext cx="2092262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顺序分布、Root/Meta/User 多级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517255" y="2296478"/>
              <a:ext cx="3131820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02409" y="2497455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第3部分第42–43页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28498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26861" y="2971800"/>
              <a:ext cx="1140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REDO 日志与回放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02409" y="2971800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第3部分第45–46页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32182" y="32318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32182" y="323659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26861" y="3353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02409" y="3353752"/>
              <a:ext cx="950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第3部分第49页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032182" y="36128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26861" y="3734752"/>
              <a:ext cx="892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Paxos 多数派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517255" y="3627120"/>
              <a:ext cx="313182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602409" y="3734752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第3部分第57–60页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032182" y="39938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032182" y="399859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126861" y="4116705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主从架构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02409" y="4116705"/>
              <a:ext cx="11312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第4部分 GFS 各节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032182" y="43757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126861" y="449770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一致性哈希（对照用）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602409" y="4497705"/>
              <a:ext cx="2136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第3部分第39页、第5部分 Dynamo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032182" y="1524000"/>
              <a:ext cx="5626418" cy="3237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8502968" y="1524000"/>
              <a:ext cx="9525" cy="3237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4" name="c2-card-2"/>
          <p:cNvGrpSpPr/>
          <p:nvPr/>
        </p:nvGrpSpPr>
        <p:grpSpPr>
          <a:xfrm>
            <a:off x="6032182" y="4926330"/>
            <a:ext cx="5626418" cy="1386840"/>
            <a:chOff x="6032182" y="4926330"/>
            <a:chExt cx="5626418" cy="1386840"/>
          </a:xfrm>
        </p:grpSpPr>
        <p:sp>
          <p:nvSpPr>
            <p:cNvPr id="79" name="Rectangle 79"/>
            <p:cNvSpPr/>
            <p:nvPr/>
          </p:nvSpPr>
          <p:spPr>
            <a:xfrm>
              <a:off x="6032182" y="4926330"/>
              <a:ext cx="5626418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041708" y="505968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251258" y="510730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339878" y="514016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怎么读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244780" y="5447824"/>
              <a:ext cx="48897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先弄清数据模型（第一节），再看 Bigtable 靠哪些外部系统搭起来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（第二节）。后三节回答三个问题：一行数据放在哪台机器上、在机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器上怎么存、机器坏了或忙不过来怎么办。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81349" cy="3351847"/>
            <a:chOff x="667512" y="1835468"/>
            <a:chExt cx="558134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58134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简介与数据模型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一张很大、很稀疏、按行键排好序的多版本表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314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内容提要：Bigtable简介与数据模型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9390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规模：PB 级数据、数千台服务器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行键排序、列族分组、时间戳存多版本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990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放弃多行事务和 SQL，换水平扩展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63929" cy="909257"/>
            <a:chOff x="520446" y="342900"/>
            <a:chExt cx="79639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842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125" y="407194"/>
              <a:ext cx="3109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Bigtable 简介与数据模型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639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Bigtable：面向半结构化海量数据的高可用存储系统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205038"/>
            <a:chOff x="533400" y="1524000"/>
            <a:chExt cx="5410200" cy="22050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1713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Bigtable（OSDI 2006）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65823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稀疏、分布式、持久化的多维有序映射表（A Bigtable is a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sparse, distributed, persistent multidimensional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sorted map）。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30422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98275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支持容错和数据持久化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3623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30279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面向高可用性，支持半结构化数据</a:t>
              </a:r>
            </a:p>
          </p:txBody>
        </p:sp>
      </p:grpSp>
      <p:grpSp>
        <p:nvGrpSpPr>
          <p:cNvPr id="26" name="c1-kv-2"/>
          <p:cNvGrpSpPr/>
          <p:nvPr/>
        </p:nvGrpSpPr>
        <p:grpSpPr>
          <a:xfrm>
            <a:off x="526161" y="3938111"/>
            <a:ext cx="5417439" cy="1121665"/>
            <a:chOff x="526161" y="3938111"/>
            <a:chExt cx="5417439" cy="1121665"/>
          </a:xfrm>
        </p:grpSpPr>
        <p:sp>
          <p:nvSpPr>
            <p:cNvPr id="18" name="TextBox 18"/>
            <p:cNvSpPr txBox="1"/>
            <p:nvPr/>
          </p:nvSpPr>
          <p:spPr>
            <a:xfrm>
              <a:off x="526161" y="3938111"/>
              <a:ext cx="8103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网页 URL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33906" y="3938111"/>
              <a:ext cx="39260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网页内容、元数据、链接、锚文本、PageRank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243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161" y="43591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用户数据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33906" y="435911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偏好设置、账户信息、最近的查询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665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161" y="47810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地理数据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33906" y="478107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道路、卫星图像、兴趣点、标注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5189220"/>
            <a:ext cx="5410200" cy="1018222"/>
            <a:chOff x="533400" y="5189220"/>
            <a:chExt cx="5410200" cy="1018222"/>
          </a:xfrm>
        </p:grpSpPr>
        <p:sp>
          <p:nvSpPr>
            <p:cNvPr id="27" name="Rectangle 27"/>
            <p:cNvSpPr/>
            <p:nvPr/>
          </p:nvSpPr>
          <p:spPr>
            <a:xfrm>
              <a:off x="533400" y="5189220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598795"/>
              <a:ext cx="200026" cy="200026"/>
              <a:chOff x="738188" y="5598795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5987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6654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6988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5336381"/>
              <a:ext cx="447789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原课件第5页是论文首页：Chang 等，Bigtable：A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Distributed Storage System for Structured Data，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OSDI 2006。本讲引用的「论文」都指这一篇。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248400" y="1524000"/>
            <a:ext cx="5410200" cy="3011805"/>
            <a:chOff x="6248400" y="1524000"/>
            <a:chExt cx="5410200" cy="3011805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3799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58466" y="165544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原课件给出的规模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53747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8222" y="2085022"/>
              <a:ext cx="30071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PB 级数据，数十亿个 URL（每个多版本）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3747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68222" y="251555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数以千计；可动态加入、退出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3747" y="29460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用户与请求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68222" y="294608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数亿用户，每秒数千个查询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53747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遥感数据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68222" y="3375660"/>
              <a:ext cx="907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TB 以上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3747" y="380619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内存与持久化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68222" y="3806190"/>
              <a:ext cx="2428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TB 级内存存储，PB 级持久化存储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4100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48400" y="410527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53747" y="42357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吞吐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68222" y="4235768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每秒百万级读写，还要高效扫描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1524000"/>
              <a:ext cx="5410200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75811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llout-2"/>
          <p:cNvGrpSpPr/>
          <p:nvPr/>
        </p:nvGrpSpPr>
        <p:grpSpPr>
          <a:xfrm>
            <a:off x="6248400" y="4720590"/>
            <a:ext cx="5410200" cy="1486852"/>
            <a:chOff x="6248400" y="4720590"/>
            <a:chExt cx="5410200" cy="1486852"/>
          </a:xfrm>
        </p:grpSpPr>
        <p:sp>
          <p:nvSpPr>
            <p:cNvPr id="60" name="Rectangle 60"/>
            <p:cNvSpPr/>
            <p:nvPr/>
          </p:nvSpPr>
          <p:spPr>
            <a:xfrm>
              <a:off x="6248400" y="4720590"/>
              <a:ext cx="5410200" cy="1486852"/>
            </a:xfrm>
            <a:prstGeom prst="roundRect">
              <a:avLst>
                <a:gd name="adj" fmla="val 768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453188" y="5364480"/>
              <a:ext cx="200026" cy="200025"/>
              <a:chOff x="6453188" y="5364480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453188" y="53644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492926" y="54089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527642" y="55200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755511" y="5102066"/>
              <a:ext cx="45229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半结构化的意思是每条数据有大致的结构（网页都有内容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和链接），但字段多少因条而异，不适合固定列的二维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40253" cy="909257"/>
            <a:chOff x="520446" y="342900"/>
            <a:chExt cx="91402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842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125" y="407194"/>
              <a:ext cx="3109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Bigtable 简介与数据模型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402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为什么自己造：传统数据库扩不动、太贵，也不好改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760595" cy="2322195"/>
            <a:chOff x="533400" y="1524000"/>
            <a:chExt cx="4760595" cy="23221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322195"/>
            </a:xfrm>
            <a:prstGeom prst="roundRect">
              <a:avLst>
                <a:gd name="adj" fmla="val 574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252888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9477" y="1769269"/>
              <a:ext cx="2474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支撑的 Google 应用（60 多个产品）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486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110740"/>
              <a:ext cx="3219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Analytics、Google Finance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486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2446020"/>
              <a:ext cx="3387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个性化搜索（Personalized Search）、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Blogger.com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486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3067050"/>
              <a:ext cx="3307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Code 托管、YouTube、Gmail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8665" y="34651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3402330"/>
              <a:ext cx="2758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Earth 与 Google Maps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4036695"/>
            <a:ext cx="4760595" cy="2036445"/>
            <a:chOff x="533400" y="4036695"/>
            <a:chExt cx="4760595" cy="2036445"/>
          </a:xfrm>
        </p:grpSpPr>
        <p:sp>
          <p:nvSpPr>
            <p:cNvPr id="19" name="Rectangle 19"/>
            <p:cNvSpPr/>
            <p:nvPr/>
          </p:nvSpPr>
          <p:spPr>
            <a:xfrm>
              <a:off x="533400" y="4036695"/>
              <a:ext cx="4760595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170045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4246245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2853" y="428196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为什么不使用传统数据库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1050" y="461010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899" y="46523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2040" y="462343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可扩展性不够：扩到数千台机器很难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1050" y="494538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2899" y="49876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2040" y="49587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成本高：商业数据库按规模收费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1050" y="528066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2899" y="53229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2040" y="529399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自己开发，内部维护和更新更方便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1050" y="561594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899" y="56582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2040" y="56292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能针对自己的负载做底层性能优化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5598795" y="1524000"/>
            <a:ext cx="6059805" cy="2750820"/>
            <a:chOff x="5598795" y="1524000"/>
            <a:chExt cx="6059805" cy="2750820"/>
          </a:xfrm>
        </p:grpSpPr>
        <p:sp>
          <p:nvSpPr>
            <p:cNvPr id="36" name="Rectangle 36"/>
            <p:cNvSpPr/>
            <p:nvPr/>
          </p:nvSpPr>
          <p:spPr>
            <a:xfrm>
              <a:off x="5598795" y="1524000"/>
              <a:ext cx="6059805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9984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设计目标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80379" y="1663065"/>
              <a:ext cx="19217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Bigtable 的对应设计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608320" y="2021205"/>
              <a:ext cx="2405062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705475" y="2150745"/>
              <a:ext cx="2110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支持异步数据访问（每秒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百万级请求）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29588" y="2150745"/>
              <a:ext cx="3253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数据切成子表分到数千台服务器，客户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端直连子表服务器读写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2761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598795" y="2766060"/>
              <a:ext cx="605980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608320" y="2775585"/>
              <a:ext cx="2405062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5475" y="2905125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支持顺序访问（需要排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29588" y="2905125"/>
              <a:ext cx="32346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行按行键字典序存放，SSTable 内部有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序，可以范围扫描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98795" y="35156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608320" y="3529965"/>
              <a:ext cx="2405062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705475" y="3659505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保证数据一致性（需要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29588" y="3659505"/>
              <a:ext cx="31775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单行读写原子；全局信息交给 Chubby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锁服务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1524000"/>
              <a:ext cx="6059805" cy="2750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18145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llout-2"/>
          <p:cNvGrpSpPr/>
          <p:nvPr/>
        </p:nvGrpSpPr>
        <p:grpSpPr>
          <a:xfrm>
            <a:off x="5598795" y="4465320"/>
            <a:ext cx="6059805" cy="1607820"/>
            <a:chOff x="5598795" y="4465320"/>
            <a:chExt cx="6059805" cy="1607820"/>
          </a:xfrm>
        </p:grpSpPr>
        <p:sp>
          <p:nvSpPr>
            <p:cNvPr id="54" name="Rectangle 54"/>
            <p:cNvSpPr/>
            <p:nvPr/>
          </p:nvSpPr>
          <p:spPr>
            <a:xfrm>
              <a:off x="5598795" y="4465320"/>
              <a:ext cx="6059805" cy="1607820"/>
            </a:xfrm>
            <a:prstGeom prst="roundRect">
              <a:avLst>
                <a:gd name="adj" fmla="val 710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803583" y="5169218"/>
              <a:ext cx="200026" cy="200026"/>
              <a:chOff x="5803583" y="5169218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5803583" y="51692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903595" y="52358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892483" y="52692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105525" y="5026342"/>
              <a:ext cx="5073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原课件第8页三条目标的括号里已经点明了手段：排序和锁。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后面几节就是围绕这两点展开的。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47566" cy="909257"/>
            <a:chOff x="520446" y="342900"/>
            <a:chExt cx="78475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842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125" y="407194"/>
              <a:ext cx="3109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Bigtable 简介与数据模型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475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数据模型：（行, 列, 时间戳）三个坐标定位一个值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bullets-1"/>
          <p:cNvGrpSpPr/>
          <p:nvPr/>
        </p:nvGrpSpPr>
        <p:grpSpPr>
          <a:xfrm>
            <a:off x="541972" y="1545907"/>
            <a:ext cx="4177037" cy="1197484"/>
            <a:chOff x="541972" y="1545907"/>
            <a:chExt cx="4177037" cy="1197484"/>
          </a:xfrm>
        </p:grpSpPr>
        <p:sp>
          <p:nvSpPr>
            <p:cNvPr id="7" name="Ellipse 7"/>
            <p:cNvSpPr/>
            <p:nvPr/>
          </p:nvSpPr>
          <p:spPr>
            <a:xfrm>
              <a:off x="541972" y="16021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992" y="1545907"/>
              <a:ext cx="3690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系统由多个表格构成，每个表有多行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972" y="19135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992" y="1857375"/>
              <a:ext cx="402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每行有一个主键（row key）和多个列（column）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972" y="22250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992" y="2168842"/>
              <a:ext cx="2503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一行一列确定一个单元（cell）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1972" y="253555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992" y="247935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每个单元包含多个版本的数据，用时间戳区分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2866072"/>
            <a:ext cx="4328160" cy="978218"/>
            <a:chOff x="533400" y="2866072"/>
            <a:chExt cx="4328160" cy="978218"/>
          </a:xfrm>
        </p:grpSpPr>
        <p:sp>
          <p:nvSpPr>
            <p:cNvPr id="16" name="Rectangle 16"/>
            <p:cNvSpPr/>
            <p:nvPr/>
          </p:nvSpPr>
          <p:spPr>
            <a:xfrm>
              <a:off x="533400" y="2866072"/>
              <a:ext cx="4328160" cy="978218"/>
            </a:xfrm>
            <a:prstGeom prst="roundRect">
              <a:avLst>
                <a:gd name="adj" fmla="val 1168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3254695"/>
              <a:ext cx="200023" cy="200023"/>
              <a:chOff x="738188" y="3254695"/>
              <a:chExt cx="200023" cy="2000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32546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1538" y="33213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3011805"/>
              <a:ext cx="347700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值都是未解释的字节串，存什么类型由应用自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己决定；Bigtable 只负责按三个坐标存取和排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序。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018598"/>
            <a:ext cx="4328160" cy="2253615"/>
            <a:chOff x="533400" y="4018598"/>
            <a:chExt cx="4328160" cy="2253615"/>
          </a:xfrm>
        </p:grpSpPr>
        <p:sp>
          <p:nvSpPr>
            <p:cNvPr id="22" name="Rectangle 22"/>
            <p:cNvSpPr/>
            <p:nvPr/>
          </p:nvSpPr>
          <p:spPr>
            <a:xfrm>
              <a:off x="533400" y="4018598"/>
              <a:ext cx="4328160" cy="2253615"/>
            </a:xfrm>
            <a:prstGeom prst="roundRect">
              <a:avLst>
                <a:gd name="adj" fmla="val 5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151948"/>
              <a:ext cx="47625" cy="19869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3905" y="421100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5342" y="424529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和二维表的区别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047" y="4568190"/>
              <a:ext cx="36141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二维表是（行, 列）→ 值；Bigtable 多了时间这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一维，而且整张表按行键排好序，可以看成一个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巨大的有序 Map。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5"/>
              <p:cNvSpPr txBox="1">
                <a:spLocks noGrp="1"/>
              </p:cNvSpPr>
              <p:nvPr/>
            </p:nvSpPr>
            <p:spPr>
              <a:xfrm>
                <a:off x="5166360" y="1524000"/>
                <a:ext cx="649224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row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string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column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string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time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m:rPr>
                              <m:nor m:val="on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int64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string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4" name="c2-table-2"/>
          <p:cNvGrpSpPr/>
          <p:nvPr/>
        </p:nvGrpSpPr>
        <p:grpSpPr>
          <a:xfrm>
            <a:off x="5161026" y="2118360"/>
            <a:ext cx="6497574" cy="2508504"/>
            <a:chOff x="5161026" y="2118360"/>
            <a:chExt cx="6497574" cy="2508504"/>
          </a:xfrm>
        </p:grpSpPr>
        <p:sp>
          <p:nvSpPr>
            <p:cNvPr id="29" name="Rectangle 29"/>
            <p:cNvSpPr/>
            <p:nvPr/>
          </p:nvSpPr>
          <p:spPr>
            <a:xfrm>
              <a:off x="5166360" y="2118360"/>
              <a:ext cx="649224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83326" y="22426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37068" y="22426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31844" y="22426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值（时间戳）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66372" y="2748439"/>
              <a:ext cx="1095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com.cnn.www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14235" y="2748439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contents: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21178" y="2648426"/>
              <a:ext cx="19174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&lt;html&gt;…（t6、t5、t3 三个版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166360" y="312515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166360" y="312991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66372" y="3254216"/>
              <a:ext cx="1095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com.cnn.www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14235" y="3254216"/>
              <a:ext cx="1330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anchor:cnnsi.com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21178" y="3254216"/>
              <a:ext cx="9169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"CNN"（t9）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66360" y="353091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66372" y="3659981"/>
              <a:ext cx="1095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com.cnn.www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14235" y="3659981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anchor:my.look.ca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21178" y="3659981"/>
              <a:ext cx="1277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"CNN.com"（t8）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66360" y="39366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166360" y="394144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66372" y="4065746"/>
              <a:ext cx="143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com.example.www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14235" y="406574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contents: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21178" y="4065746"/>
              <a:ext cx="1051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&lt;html&gt;…（t5）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166360" y="2118360"/>
              <a:ext cx="6492240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09460" y="211836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316402" y="211836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161026" y="4421505"/>
              <a:ext cx="52456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据原课件第10、17页的 Webtable 示例，按（行, 列）排好序；没有值的格子不出现</a:t>
              </a:r>
            </a:p>
          </p:txBody>
        </p:sp>
      </p:grpSp>
      <p:grpSp>
        <p:nvGrpSpPr>
          <p:cNvPr id="61" name="c2-card-3"/>
          <p:cNvGrpSpPr/>
          <p:nvPr/>
        </p:nvGrpSpPr>
        <p:grpSpPr>
          <a:xfrm>
            <a:off x="5166360" y="4760595"/>
            <a:ext cx="6492240" cy="1511618"/>
            <a:chOff x="5166360" y="4760595"/>
            <a:chExt cx="6492240" cy="1511618"/>
          </a:xfrm>
        </p:grpSpPr>
        <p:sp>
          <p:nvSpPr>
            <p:cNvPr id="55" name="Rectangle 55"/>
            <p:cNvSpPr/>
            <p:nvPr/>
          </p:nvSpPr>
          <p:spPr>
            <a:xfrm>
              <a:off x="5166360" y="4760595"/>
              <a:ext cx="6492240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175885" y="4893945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96865" y="49530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80304" y="49872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查一个值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390007" y="5309235"/>
              <a:ext cx="5442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get("com.cnn.www", "anchor:cnnsi.com", t9) 返回 "CNN"。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390007" y="5612130"/>
              <a:ext cx="58258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不给时间戳时默认返回最新版本：get("com.cnn.www", "contents:") 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 t6 那版网页。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842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125" y="407194"/>
              <a:ext cx="3109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Bigtable 简介与数据模型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行：行键是任意字符串，单行读写原子，全表按字典序排序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2727960"/>
            <a:chOff x="533400" y="1524000"/>
            <a:chExt cx="4977765" cy="27279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727960"/>
            </a:xfrm>
            <a:prstGeom prst="roundRect">
              <a:avLst>
                <a:gd name="adj" fmla="val 48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6126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82486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928" y="1737836"/>
              <a:ext cx="6619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行（row）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2000" y="20974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7448" y="2045494"/>
              <a:ext cx="40525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Row Key 是自定义字符串（论文：最长 64 KB，一般 10–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字节）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2509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73179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对一行的数据访问是原子的（行锁），不管读写这一行的几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315372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3100864"/>
              <a:ext cx="40932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行按 key 全局字典序排序：AAAA &lt; AAAB &lt; AABA，key 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近的数据临近存储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368141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3628549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不支持关系模型，不支持多行事务，只能多个单行操作连续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416742"/>
            <a:ext cx="4977765" cy="1554480"/>
            <a:chOff x="533400" y="4416742"/>
            <a:chExt cx="4977765" cy="1554480"/>
          </a:xfrm>
        </p:grpSpPr>
        <p:sp>
          <p:nvSpPr>
            <p:cNvPr id="20" name="Rectangle 20"/>
            <p:cNvSpPr/>
            <p:nvPr/>
          </p:nvSpPr>
          <p:spPr>
            <a:xfrm>
              <a:off x="533400" y="4416742"/>
              <a:ext cx="4977765" cy="1554480"/>
            </a:xfrm>
            <a:prstGeom prst="roundRect">
              <a:avLst>
                <a:gd name="adj" fmla="val 735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090278"/>
              <a:ext cx="224134" cy="192560"/>
              <a:chOff x="726129" y="5090278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1606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0902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2384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1273" y="4987766"/>
              <a:ext cx="39469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转账这类要同时改两行的操作，Bigtable 不能保证原子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性，应用要自己处理中途失败的情况。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5811012" y="1524000"/>
            <a:ext cx="5847588" cy="2933414"/>
            <a:chOff x="5811012" y="1524000"/>
            <a:chExt cx="5847588" cy="2933414"/>
          </a:xfrm>
        </p:grpSpPr>
        <p:sp>
          <p:nvSpPr>
            <p:cNvPr id="27" name="Rectangle 27"/>
            <p:cNvSpPr/>
            <p:nvPr/>
          </p:nvSpPr>
          <p:spPr>
            <a:xfrm>
              <a:off x="5815965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05410" y="1641157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原样的主机名排序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26727" y="1641157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反转后作行键排序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10644" y="2023110"/>
              <a:ext cx="11609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ccst.jlu.edu.cn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746808" y="1914525"/>
              <a:ext cx="290226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31961" y="2023110"/>
              <a:ext cx="1106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cn.edu.jlu.ccst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5965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10644" y="2404110"/>
              <a:ext cx="1116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mail.jlu.edu.cn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746808" y="2296478"/>
              <a:ext cx="290226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831961" y="2404110"/>
              <a:ext cx="106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cn.edu.jlu.mail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10644" y="2785110"/>
              <a:ext cx="1131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money.cnn.com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746808" y="2677478"/>
              <a:ext cx="290226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31961" y="2785110"/>
              <a:ext cx="11132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cn.edu.jlu.www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15965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10644" y="3167062"/>
              <a:ext cx="1027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www.cnn.com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31961" y="3167062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cn.edu.pku.www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25490" y="3440430"/>
              <a:ext cx="290226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10644" y="3548062"/>
              <a:ext cx="11683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www.jlu.edu.cn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31961" y="3548062"/>
              <a:ext cx="1077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com.cnn.money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3807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15965" y="3811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10644" y="3930015"/>
              <a:ext cx="1242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www.pku.edu.cn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31961" y="3930015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com.cnn.www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1524000"/>
              <a:ext cx="584263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73252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811012" y="4266724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同一组 6 个主机名按字典序排两次（脚本复核）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5815965" y="4584382"/>
            <a:ext cx="5842635" cy="1386840"/>
            <a:chOff x="5815965" y="4584382"/>
            <a:chExt cx="5842635" cy="1386840"/>
          </a:xfrm>
        </p:grpSpPr>
        <p:sp>
          <p:nvSpPr>
            <p:cNvPr id="58" name="Rectangle 58"/>
            <p:cNvSpPr/>
            <p:nvPr/>
          </p:nvSpPr>
          <p:spPr>
            <a:xfrm>
              <a:off x="5815965" y="4584382"/>
              <a:ext cx="5842635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825490" y="4717732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035040" y="4765358"/>
              <a:ext cx="270129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57711" y="4798219"/>
              <a:ext cx="26559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 Webtable 用 com.cnn.www 作行键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28563" y="5104924"/>
              <a:ext cx="52148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原样排序时，www.jlu.edu.cn 和 ccst.jlu.edu.cn 被 cnn 的两个站隔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开。把域名逐段反转后，吉大的三个站排成连续的一段，一次扫描就能读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完一个域名下的全部网页，而且它们大概率落在同一个子表里。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842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125" y="407194"/>
              <a:ext cx="3109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Bigtable 简介与数据模型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列族：少量、固定的列族，加任意多个限定词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4328160" cy="2769870"/>
            <a:chOff x="533400" y="1524000"/>
            <a:chExt cx="4328160" cy="2769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769870"/>
            </a:xfrm>
            <a:prstGeom prst="roundRect">
              <a:avLst>
                <a:gd name="adj" fmla="val 48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0317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00774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8402" y="1737836"/>
              <a:ext cx="855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列（column）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3759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列名写成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family:qualifier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，即列族名加限定词，多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个列组织成一个列族（column family）。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62509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57317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列族是基本访问单元，访问控制按列族统一设置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9108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857976"/>
              <a:ext cx="3589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一个列族中的数据通常是同一种类型，存放和压缩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在一起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343852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338566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列族数量少、很少变动，建表时定义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372332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3670459"/>
              <a:ext cx="3589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限定词可由用户随时新增，数量可以很大，每行可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以不同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458652"/>
            <a:ext cx="4328160" cy="1387792"/>
            <a:chOff x="533400" y="4458652"/>
            <a:chExt cx="4328160" cy="1387792"/>
          </a:xfrm>
        </p:grpSpPr>
        <p:sp>
          <p:nvSpPr>
            <p:cNvPr id="21" name="Rectangle 21"/>
            <p:cNvSpPr/>
            <p:nvPr/>
          </p:nvSpPr>
          <p:spPr>
            <a:xfrm>
              <a:off x="533400" y="4458652"/>
              <a:ext cx="4328160" cy="1387792"/>
            </a:xfrm>
            <a:prstGeom prst="roundRect">
              <a:avLst>
                <a:gd name="adj" fmla="val 823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053015"/>
              <a:ext cx="200023" cy="200023"/>
              <a:chOff x="738188" y="5053015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0530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51196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1273" y="4828699"/>
              <a:ext cx="342671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列族是结构化的部分（先定义），限定词是非结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构化的部分（随用随加），两者搭配兼顾了约束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和灵活。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5161407" y="1524000"/>
            <a:ext cx="6497193" cy="3493484"/>
            <a:chOff x="5161407" y="1524000"/>
            <a:chExt cx="6497193" cy="3493484"/>
          </a:xfrm>
        </p:grpSpPr>
        <p:sp>
          <p:nvSpPr>
            <p:cNvPr id="27" name="Rectangle 27"/>
            <p:cNvSpPr/>
            <p:nvPr/>
          </p:nvSpPr>
          <p:spPr>
            <a:xfrm>
              <a:off x="5166360" y="1524000"/>
              <a:ext cx="6492240" cy="56769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798820" y="17345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8384" y="1641157"/>
              <a:ext cx="2773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27439" y="1734502"/>
              <a:ext cx="990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列族 contents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99744" y="1734502"/>
              <a:ext cx="827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列族 anchor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79431" y="1734502"/>
              <a:ext cx="790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列族 people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61038" y="2209800"/>
              <a:ext cx="1027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com.cnn.www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19329" y="2209800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31961" y="2209800"/>
              <a:ext cx="1273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cnnsi.com = "CNN"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166360" y="246888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166360" y="2473642"/>
              <a:ext cx="649224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61038" y="2684145"/>
              <a:ext cx="1027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com.cnn.www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19329" y="268414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31961" y="2590800"/>
              <a:ext cx="85077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my.look.ca =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"CNN.com"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66360" y="303657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61038" y="3158490"/>
              <a:ext cx="1027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com.cnn.www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19329" y="3158490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03211" y="3158490"/>
              <a:ext cx="1169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html = "&lt;html&gt;…"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66360" y="34185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166360" y="342328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61038" y="3540443"/>
              <a:ext cx="1027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com.cnn.www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19329" y="3540443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03211" y="3540443"/>
              <a:ext cx="1169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html = "&lt;html&gt;…"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166360" y="37995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61038" y="3921443"/>
              <a:ext cx="1027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com.cnn.www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19329" y="3921443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03211" y="3921443"/>
              <a:ext cx="1169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html = "&lt;html&gt;…"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166360" y="41805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166360" y="4185285"/>
              <a:ext cx="649224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61038" y="4396740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com.example.www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19329" y="4396740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03211" y="4396740"/>
              <a:ext cx="1169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html = "&lt;html&gt;…"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584561" y="4303395"/>
              <a:ext cx="71075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author =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"John Doe"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166360" y="1524000"/>
              <a:ext cx="6492240" cy="322992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719888" y="1524000"/>
              <a:ext cx="9525" cy="32299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303770" y="1524000"/>
              <a:ext cx="9525" cy="32299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732520" y="1524000"/>
              <a:ext cx="9525" cy="32299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485120" y="1524000"/>
              <a:ext cx="9525" cy="32299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161407" y="4826794"/>
              <a:ext cx="34334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据原课件第17页；每个非空格子是一个（列, 时间戳）版本</a:t>
              </a:r>
            </a:p>
          </p:txBody>
        </p:sp>
      </p:grpSp>
      <p:grpSp>
        <p:nvGrpSpPr>
          <p:cNvPr id="73" name="c2-callout-2"/>
          <p:cNvGrpSpPr/>
          <p:nvPr/>
        </p:nvGrpSpPr>
        <p:grpSpPr>
          <a:xfrm>
            <a:off x="5166360" y="5144452"/>
            <a:ext cx="6492240" cy="702945"/>
            <a:chOff x="5166360" y="5144452"/>
            <a:chExt cx="6492240" cy="702945"/>
          </a:xfrm>
        </p:grpSpPr>
        <p:sp>
          <p:nvSpPr>
            <p:cNvPr id="67" name="Rectangle 67"/>
            <p:cNvSpPr/>
            <p:nvPr/>
          </p:nvSpPr>
          <p:spPr>
            <a:xfrm>
              <a:off x="5166360" y="5144452"/>
              <a:ext cx="649224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5371148" y="5394960"/>
              <a:ext cx="200026" cy="200025"/>
              <a:chOff x="5371148" y="5394960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5371148" y="53949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5410886" y="54394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5445602" y="55505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5674233" y="5288756"/>
              <a:ext cx="55725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表里大部分格子是空的，空格子不占存储，这就是「稀疏」。Bigtable 的表一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般很大，而且稀疏。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52580" cy="909257"/>
            <a:chOff x="520446" y="342900"/>
            <a:chExt cx="99525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842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125" y="407194"/>
              <a:ext cx="3109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Bigtable 简介与数据模型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525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数据模型举例：Webtable 一行存网页正文和所有指向它的锚文本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ells-1"/>
          <p:cNvGrpSpPr/>
          <p:nvPr/>
        </p:nvGrpSpPr>
        <p:grpSpPr>
          <a:xfrm>
            <a:off x="527685" y="1524000"/>
            <a:ext cx="6065520" cy="1600200"/>
            <a:chOff x="527685" y="1524000"/>
            <a:chExt cx="6065520" cy="1600200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63541"/>
              <a:ext cx="795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contents: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055495" y="1524000"/>
              <a:ext cx="1512570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94451" y="1663541"/>
              <a:ext cx="834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t6 &lt;html&gt;…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8065" y="1524000"/>
              <a:ext cx="15125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907021" y="1663541"/>
              <a:ext cx="834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t5 &lt;html&gt;…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80635" y="1524000"/>
              <a:ext cx="15125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19591" y="1663541"/>
              <a:ext cx="834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 &lt;html&gt;…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7685" y="2254091"/>
              <a:ext cx="139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anchor:cnnsi.com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055495" y="2114550"/>
              <a:ext cx="1512570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63620" y="2254091"/>
              <a:ext cx="696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t9 "CNN"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7685" y="2844641"/>
              <a:ext cx="14837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anchor:my.look.ca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055495" y="2705100"/>
              <a:ext cx="1512570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275012" y="2844641"/>
              <a:ext cx="1073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t8 "CNN.com"</a:t>
              </a:r>
            </a:p>
          </p:txBody>
        </p:sp>
      </p:grpSp>
      <p:grpSp>
        <p:nvGrpSpPr>
          <p:cNvPr id="22" name="c1-text-2"/>
          <p:cNvGrpSpPr/>
          <p:nvPr/>
        </p:nvGrpSpPr>
        <p:grpSpPr>
          <a:xfrm>
            <a:off x="526923" y="3336131"/>
            <a:ext cx="5840730" cy="752284"/>
            <a:chOff x="526923" y="3336131"/>
            <a:chExt cx="5840730" cy="752284"/>
          </a:xfrm>
        </p:grpSpPr>
        <p:sp>
          <p:nvSpPr>
            <p:cNvPr id="21" name="TextBox 21"/>
            <p:cNvSpPr txBox="1"/>
            <p:nvPr/>
          </p:nvSpPr>
          <p:spPr>
            <a:xfrm>
              <a:off x="526923" y="3336131"/>
              <a:ext cx="5840730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行键 com.cnn.www 这一行：contents 列族只有一列（限定词为空），存网页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三次抓取的三个版本；anchor 列族每个引用 CNN 的网站占一列，限定词是引用方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的网址，值是链接文字。</a:t>
              </a:r>
            </a:p>
          </p:txBody>
        </p:sp>
      </p:grpSp>
      <p:grpSp>
        <p:nvGrpSpPr>
          <p:cNvPr id="31" name="c1-kv-3"/>
          <p:cNvGrpSpPr/>
          <p:nvPr/>
        </p:nvGrpSpPr>
        <p:grpSpPr>
          <a:xfrm>
            <a:off x="525780" y="4251960"/>
            <a:ext cx="6067425" cy="1173480"/>
            <a:chOff x="525780" y="4251960"/>
            <a:chExt cx="6067425" cy="1173480"/>
          </a:xfrm>
        </p:grpSpPr>
        <p:sp>
          <p:nvSpPr>
            <p:cNvPr id="23" name="TextBox 23"/>
            <p:cNvSpPr txBox="1"/>
            <p:nvPr/>
          </p:nvSpPr>
          <p:spPr>
            <a:xfrm>
              <a:off x="525780" y="425196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列族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68742" y="425196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contents、anchor 两个，建表时定好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5720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5780" y="46920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限定词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68742" y="4692015"/>
              <a:ext cx="5194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cnnsi.com、my.look.ca 等，出现新的引用网站就多一列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0120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5780" y="513207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时间戳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68742" y="5132070"/>
              <a:ext cx="44778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t3、t5、t6 是抓取时间，t8、t9 是锚文本的时间</a:t>
              </a:r>
            </a:p>
          </p:txBody>
        </p:sp>
      </p:grpSp>
      <p:grpSp>
        <p:nvGrpSpPr>
          <p:cNvPr id="38" name="c1-callout-4"/>
          <p:cNvGrpSpPr/>
          <p:nvPr/>
        </p:nvGrpSpPr>
        <p:grpSpPr>
          <a:xfrm>
            <a:off x="533400" y="5556885"/>
            <a:ext cx="6059805" cy="782955"/>
            <a:chOff x="533400" y="5556885"/>
            <a:chExt cx="6059805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55688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848350"/>
              <a:ext cx="200026" cy="200025"/>
              <a:chOff x="738188" y="5848350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8483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8928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60039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705475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深色格子是各列最新的版本（时间戳最大）。读网页时只要最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新版，做历史分析时再取旧版本。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898005" y="1524000"/>
            <a:ext cx="4760595" cy="1887855"/>
            <a:chOff x="6898005" y="1524000"/>
            <a:chExt cx="4760595" cy="1887855"/>
          </a:xfrm>
        </p:grpSpPr>
        <p:sp>
          <p:nvSpPr>
            <p:cNvPr id="39" name="Rectangle 39"/>
            <p:cNvSpPr/>
            <p:nvPr/>
          </p:nvSpPr>
          <p:spPr>
            <a:xfrm>
              <a:off x="6898005" y="1524000"/>
              <a:ext cx="476059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07530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456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358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38035" y="2110740"/>
              <a:ext cx="4015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原课件第13页写「列是任意字符串 64KB」。按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论文，64 KB 是行键的长度上限；列族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名必须是可打印字符，限定词才可以是任意字符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898005" y="3602355"/>
            <a:ext cx="4760595" cy="2737485"/>
            <a:chOff x="6898005" y="3602355"/>
            <a:chExt cx="4760595" cy="2737485"/>
          </a:xfrm>
        </p:grpSpPr>
        <p:sp>
          <p:nvSpPr>
            <p:cNvPr id="45" name="Rectangle 45"/>
            <p:cNvSpPr/>
            <p:nvPr/>
          </p:nvSpPr>
          <p:spPr>
            <a:xfrm>
              <a:off x="6898005" y="3602355"/>
              <a:ext cx="4760595" cy="2737485"/>
            </a:xfrm>
            <a:prstGeom prst="roundRect">
              <a:avLst>
                <a:gd name="adj" fmla="val 487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07555" y="3811905"/>
              <a:ext cx="234315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42607" y="384762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为什么这样设计（原课件的提问）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99935" y="4189095"/>
              <a:ext cx="41681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行键用反转的 URL（com.cnn.www），同一域名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的网页排在一起（见上页例子）；锚文本按引用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网站分列，一个网页被多少网站引用就有多少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列，列数不固定，正好用限定词表达。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842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125" y="407194"/>
              <a:ext cx="3109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Bigtable 简介与数据模型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时间戳：一个单元格存多个版本，按个数或时间范围取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2272665"/>
            <a:chOff x="533400" y="1524000"/>
            <a:chExt cx="5193982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68211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758" y="1769269"/>
              <a:ext cx="1572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时间戳（timestamp）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用于维护一个 cell 的多个数据版本，是 64 位整数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301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每次新的写入产生一个新的时间戳（由 Bigtable 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微秒自动分配），也可以由用户设置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4263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 cell 的版本按时间戳倒序存放，最新的最先读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33400" y="3987165"/>
            <a:ext cx="5193982" cy="1795462"/>
            <a:chOff x="533400" y="3987165"/>
            <a:chExt cx="5193982" cy="1795462"/>
          </a:xfrm>
        </p:grpSpPr>
        <p:sp>
          <p:nvSpPr>
            <p:cNvPr id="18" name="Rectangle 18"/>
            <p:cNvSpPr/>
            <p:nvPr/>
          </p:nvSpPr>
          <p:spPr>
            <a:xfrm>
              <a:off x="533400" y="3987165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0648" y="412289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查找与保留选项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97947" y="41228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223" y="4571524"/>
              <a:ext cx="19559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返回时间戳最新的 K 个值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3916" y="457152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只看最近几版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8796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88442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502015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返回时间戳范围内的全部数据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33916" y="502015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按时间段做分析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3292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546877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设置存储的版本数量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33916" y="546877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旧版本自动垃圾回收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87165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021330" y="39871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rd-1"/>
          <p:cNvGrpSpPr/>
          <p:nvPr/>
        </p:nvGrpSpPr>
        <p:grpSpPr>
          <a:xfrm>
            <a:off x="6032182" y="1524000"/>
            <a:ext cx="5626418" cy="3159442"/>
            <a:chOff x="6032182" y="1524000"/>
            <a:chExt cx="5626418" cy="3159442"/>
          </a:xfrm>
        </p:grpSpPr>
        <p:sp>
          <p:nvSpPr>
            <p:cNvPr id="33" name="Rectangle 33"/>
            <p:cNvSpPr/>
            <p:nvPr/>
          </p:nvSpPr>
          <p:spPr>
            <a:xfrm>
              <a:off x="6032182" y="1524000"/>
              <a:ext cx="5626418" cy="3159442"/>
            </a:xfrm>
            <a:prstGeom prst="roundRect">
              <a:avLst>
                <a:gd name="adj" fmla="val 42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41708" y="1657350"/>
              <a:ext cx="47625" cy="28927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7983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004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9908" y="1768792"/>
              <a:ext cx="3210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对上页 com.cnn.www 这一行查询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79832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1682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80823" y="212979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contents: 最新 2 个版本：按时间倒序取前两个，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t6、t5。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79832" y="27374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1682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80823" y="2750820"/>
              <a:ext cx="45681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取时间范围 [t4, t8] 内的全部数据：contents: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t5、t6，加上 anchor:my.look.ca 的 t8；t3 太早，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t9 太晚。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79832" y="36442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1682" y="36865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80823" y="365760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列族设置只保留 2 个版本：t3 那版网页在下次合并时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被回收，t8、t9 各是所在列唯一的版本，保留。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73356" y="4275296"/>
              <a:ext cx="489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结果已用脚本复核（decks/dstore/dstore_p6_verify.py）。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032182" y="4873942"/>
            <a:ext cx="5626418" cy="908685"/>
            <a:chOff x="6032182" y="4873942"/>
            <a:chExt cx="5626418" cy="908685"/>
          </a:xfrm>
        </p:grpSpPr>
        <p:sp>
          <p:nvSpPr>
            <p:cNvPr id="49" name="Rectangle 49"/>
            <p:cNvSpPr/>
            <p:nvPr/>
          </p:nvSpPr>
          <p:spPr>
            <a:xfrm>
              <a:off x="6032182" y="4873942"/>
              <a:ext cx="5626418" cy="908685"/>
            </a:xfrm>
            <a:prstGeom prst="roundRect">
              <a:avLst>
                <a:gd name="adj" fmla="val 1257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236970" y="5228273"/>
              <a:ext cx="200026" cy="200025"/>
              <a:chOff x="6236970" y="5228273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236970" y="52282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276709" y="52727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311424" y="53838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538912" y="5085398"/>
              <a:ext cx="4615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论文里的保留策略有两种：只留最近 n 个版本，或只留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足够新的版本（例如最近 7 天）。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78212" cy="909257"/>
            <a:chOff x="520446" y="342900"/>
            <a:chExt cx="95782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842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125" y="407194"/>
              <a:ext cx="3109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Bigtable 简介与数据模型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782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与关系数据库：放弃多行事务和 SQL，换来水平扩展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11125200" cy="3050858"/>
            <a:chOff x="533400" y="1524000"/>
            <a:chExt cx="11125200" cy="30508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5674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79951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关系数据库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13877" y="1641157"/>
              <a:ext cx="593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Bigtable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08301" y="20231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固定模式的二维表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58381" y="202311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稀疏、多维、有序的映射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08301" y="240411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建表时全部定义，每行列相同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58381" y="240411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列族预先定义，限定词随时新增，每行可以不同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08301" y="2785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通常要占位置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773228" y="2677478"/>
              <a:ext cx="487584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58381" y="2785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不存，不占空间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多版本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08301" y="316706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一般只存当前值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8381" y="3167062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cell 用时间戳存多个版本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08301" y="3548062"/>
              <a:ext cx="1663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支持多行、多表 ACID 事务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773228" y="3440430"/>
              <a:ext cx="487584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58381" y="354806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只保证单行原子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807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811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3930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查询接口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08301" y="3930015"/>
              <a:ext cx="12764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SQL，可以连接多表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73228" y="3821430"/>
              <a:ext cx="487584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58381" y="3930015"/>
              <a:ext cx="2641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按行键 Get / Put / Delete，按范围 Scan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189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8078" y="4311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扩展方式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08301" y="431101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传统上主要靠换更强的机器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73228" y="4203382"/>
              <a:ext cx="487584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58381" y="4311015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切子表，扩到数千台普通服务器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1112520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308860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58940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1-compare-2"/>
          <p:cNvGrpSpPr/>
          <p:nvPr/>
        </p:nvGrpSpPr>
        <p:grpSpPr>
          <a:xfrm>
            <a:off x="533400" y="4739640"/>
            <a:ext cx="11125200" cy="1623060"/>
            <a:chOff x="533400" y="4739640"/>
            <a:chExt cx="11125200" cy="1623060"/>
          </a:xfrm>
        </p:grpSpPr>
        <p:sp>
          <p:nvSpPr>
            <p:cNvPr id="49" name="Rectangle 49"/>
            <p:cNvSpPr/>
            <p:nvPr/>
          </p:nvSpPr>
          <p:spPr>
            <a:xfrm>
              <a:off x="533400" y="4739640"/>
              <a:ext cx="5334000" cy="1623060"/>
            </a:xfrm>
            <a:prstGeom prst="roundRect">
              <a:avLst>
                <a:gd name="adj" fmla="val 8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42925" y="4872990"/>
              <a:ext cx="47625" cy="13563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5998" y="4942046"/>
              <a:ext cx="14674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适合放进 Bigtable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62000" y="529590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7448" y="524303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数据量大到单机放不下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62000" y="55806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7448" y="552783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访问按行键或行键范围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62000" y="58654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7448" y="581263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列多而稀疏、常要保留历史版本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324600" y="4739640"/>
              <a:ext cx="5334000" cy="1623060"/>
            </a:xfrm>
            <a:prstGeom prst="roundRect">
              <a:avLst>
                <a:gd name="adj" fmla="val 8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334125" y="4872990"/>
              <a:ext cx="47625" cy="135636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37198" y="494204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仍该用关系数据库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553200" y="529590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08648" y="524303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要跨行、跨表的事务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553200" y="55806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08648" y="552783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要复杂的多表连接查询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553200" y="58654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08648" y="58126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数据量单机放得下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5915025" y="5370195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70080" y="549497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83156" cy="3351847"/>
            <a:chOff x="667512" y="1835468"/>
            <a:chExt cx="498315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系统架构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732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借 GFS 存数据、借 Chubby 管锁，自己只做索引层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内容提要：系统架构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31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四个依赖：GFS、调度器、Chubby、MapReduce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452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 用 Paxos 维持全局信息的一致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879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Master 加多台子表服务器的主从结构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65153" cy="909257"/>
            <a:chOff x="520446" y="342900"/>
            <a:chExt cx="100651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系统架构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65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站在四个系统上：GFS、调度器、Chubby、MapReduce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5626418" cy="2628900"/>
            <a:chOff x="533400" y="1524000"/>
            <a:chExt cx="5626418" cy="2628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987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依赖的系统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9967" y="1648301"/>
              <a:ext cx="14827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Bigtable 里的作用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20987" y="1648301"/>
              <a:ext cx="11898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Hadoop 里的对应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" y="1939290"/>
              <a:ext cx="1219200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3412" y="2154079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71662" y="2054066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可靠、并发、可扩展的持久化存储：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存日志和 SSTable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72000" y="2154079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5307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535555"/>
              <a:ext cx="562641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7598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71662" y="2659856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分布式系统中的任务调度，管理机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器、处理故障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72000" y="2759869"/>
              <a:ext cx="13143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YARN 等资源管理器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1365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150870"/>
              <a:ext cx="121920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65646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1662" y="326564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分布式锁服务：选主和全局信息维护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72000" y="3265646"/>
              <a:ext cx="767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ZooKeeper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423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47110"/>
              <a:ext cx="562641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771424"/>
              <a:ext cx="8369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71662" y="3671411"/>
              <a:ext cx="23157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大规模数据处理，Bigtable 可作为输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入和输出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2000" y="3771424"/>
              <a:ext cx="1345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MapReduce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626418" cy="26289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766888" y="1524000"/>
              <a:ext cx="9525" cy="2628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467225" y="1524000"/>
              <a:ext cx="9525" cy="2628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llout-2"/>
          <p:cNvGrpSpPr/>
          <p:nvPr/>
        </p:nvGrpSpPr>
        <p:grpSpPr>
          <a:xfrm>
            <a:off x="533400" y="4328160"/>
            <a:ext cx="5626418" cy="978218"/>
            <a:chOff x="533400" y="4328160"/>
            <a:chExt cx="5626418" cy="978218"/>
          </a:xfrm>
        </p:grpSpPr>
        <p:sp>
          <p:nvSpPr>
            <p:cNvPr id="34" name="Rectangle 34"/>
            <p:cNvSpPr/>
            <p:nvPr/>
          </p:nvSpPr>
          <p:spPr>
            <a:xfrm>
              <a:off x="533400" y="4328160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4716782"/>
              <a:ext cx="200023" cy="200023"/>
              <a:chOff x="738188" y="4716782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47167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47834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4473892"/>
              <a:ext cx="473716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Bigtable 自己不管磁盘副本，也不自己实现一致性协议。可靠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性交给 GFS，全局一致交给 Chubby，它只负责表格的索引和读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写。</a:t>
              </a:r>
            </a:p>
          </p:txBody>
        </p:sp>
      </p:grpSp>
      <p:grpSp>
        <p:nvGrpSpPr>
          <p:cNvPr id="46" name="c1-callout-3"/>
          <p:cNvGrpSpPr/>
          <p:nvPr/>
        </p:nvGrpSpPr>
        <p:grpSpPr>
          <a:xfrm>
            <a:off x="533400" y="5480685"/>
            <a:ext cx="5626418" cy="729615"/>
            <a:chOff x="533400" y="5480685"/>
            <a:chExt cx="5626418" cy="729615"/>
          </a:xfrm>
        </p:grpSpPr>
        <p:sp>
          <p:nvSpPr>
            <p:cNvPr id="40" name="Rectangle 40"/>
            <p:cNvSpPr/>
            <p:nvPr/>
          </p:nvSpPr>
          <p:spPr>
            <a:xfrm>
              <a:off x="533400" y="5480685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745480"/>
              <a:ext cx="200026" cy="200026"/>
              <a:chOff x="738188" y="5745480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7454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8121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58454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627370"/>
              <a:ext cx="46514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右图据原课件第21页的 Hadoop 生态图重画，HBase 就是开源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 Bigtable（见第六节）。</a:t>
              </a:r>
            </a:p>
          </p:txBody>
        </p:sp>
      </p:grpSp>
      <p:grpSp>
        <p:nvGrpSpPr>
          <p:cNvPr id="74" name="c2-graph-1"/>
          <p:cNvGrpSpPr/>
          <p:nvPr/>
        </p:nvGrpSpPr>
        <p:grpSpPr>
          <a:xfrm>
            <a:off x="6655118" y="1710690"/>
            <a:ext cx="4883467" cy="3754756"/>
            <a:chOff x="6655118" y="1710690"/>
            <a:chExt cx="4883467" cy="3754756"/>
          </a:xfrm>
        </p:grpSpPr>
        <p:sp>
          <p:nvSpPr>
            <p:cNvPr id="47" name="Rectangle 47"/>
            <p:cNvSpPr/>
            <p:nvPr/>
          </p:nvSpPr>
          <p:spPr>
            <a:xfrm>
              <a:off x="7866698" y="1710690"/>
              <a:ext cx="72771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957310" y="1710690"/>
              <a:ext cx="72771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47922" y="1710690"/>
              <a:ext cx="72771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866698" y="2506028"/>
              <a:ext cx="727710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957310" y="2506028"/>
              <a:ext cx="727710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047922" y="2595562"/>
              <a:ext cx="72771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51495" y="3480435"/>
              <a:ext cx="234029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978140" y="4322445"/>
              <a:ext cx="1646872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151495" y="5165408"/>
              <a:ext cx="2340292" cy="300038"/>
            </a:xfrm>
            <a:prstGeom prst="roundRect">
              <a:avLst>
                <a:gd name="adj" fmla="val 3174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55118" y="2373630"/>
              <a:ext cx="554355" cy="2513648"/>
            </a:xfrm>
            <a:prstGeom prst="roundRect">
              <a:avLst>
                <a:gd name="adj" fmla="val 1718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1052810" y="2373630"/>
              <a:ext cx="485775" cy="2513648"/>
            </a:xfrm>
            <a:prstGeom prst="roundRect">
              <a:avLst>
                <a:gd name="adj" fmla="val 1960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910971" y="1791176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ETL 工具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68493" y="1791176"/>
              <a:ext cx="505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BI 报表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159333" y="1791176"/>
              <a:ext cx="504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RDBMS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11927" y="2586514"/>
              <a:ext cx="2372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Pig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98676" y="27646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58910" y="2586514"/>
              <a:ext cx="32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Hive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60721" y="2764631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185918" y="2676049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Sqoop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24181" y="3559969"/>
              <a:ext cx="21939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MapReduce（作业调度与执行）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46018" y="4402931"/>
              <a:ext cx="1512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HBase（列式数据库）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65312" y="5244941"/>
              <a:ext cx="2311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HDFS（Hadoop 分布式文件系统）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93507" y="3381851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Zoo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62899" y="3559969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Keeper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775806" y="37390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112421" y="3471386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Avro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062868" y="36495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序列化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6266" cy="909257"/>
            <a:chOff x="520446" y="342900"/>
            <a:chExt cx="76662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系统架构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62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 管全局共享信息：Bigtable 的七项锁需求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33400" y="1524000"/>
            <a:ext cx="6276022" cy="3817620"/>
            <a:chOff x="533400" y="1524000"/>
            <a:chExt cx="6276022" cy="3817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1666" y="1659731"/>
              <a:ext cx="1762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需求（原课件第22页）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94542" y="1659731"/>
              <a:ext cx="1812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Bigtable 里的具体用法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命名空间一致性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00553" y="210835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目录加小文件的命名空间，所有客户端看到同一份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55698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原子性的读写文件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00553" y="255698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小文件整体读写，不会读到写了一半的内容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11896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选举唯一主节点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02255" y="2880360"/>
              <a:ext cx="3997642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00553" y="3005614"/>
              <a:ext cx="30853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抢 master 锁，任一时刻最多一个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5413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54615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680936"/>
              <a:ext cx="19967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保存启动位置 bootstrap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802255" y="3555682"/>
              <a:ext cx="399764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00553" y="3680936"/>
              <a:ext cx="35930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Chubby 文件记着 Root 子表在哪台服务器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900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1305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系统节点信息维护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02255" y="4004310"/>
              <a:ext cx="399764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00553" y="4130516"/>
              <a:ext cx="3312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servers 目录里每台子表服务器一个锁文件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4386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44341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4579144"/>
              <a:ext cx="14440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 schema 维护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00553" y="45791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每张表有哪些列族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8872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50277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访问控制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00553" y="502777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列族的访问控制列表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524000"/>
              <a:ext cx="6276022" cy="38176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787968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llout-2"/>
          <p:cNvGrpSpPr/>
          <p:nvPr/>
        </p:nvGrpSpPr>
        <p:grpSpPr>
          <a:xfrm>
            <a:off x="533400" y="5532120"/>
            <a:ext cx="6276022" cy="782955"/>
            <a:chOff x="533400" y="5532120"/>
            <a:chExt cx="6276022" cy="782955"/>
          </a:xfrm>
        </p:grpSpPr>
        <p:sp>
          <p:nvSpPr>
            <p:cNvPr id="39" name="Rectangle 39"/>
            <p:cNvSpPr/>
            <p:nvPr/>
          </p:nvSpPr>
          <p:spPr>
            <a:xfrm>
              <a:off x="533400" y="5532120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823585"/>
              <a:ext cx="200026" cy="200025"/>
              <a:chOff x="738188" y="5823585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8235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58680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59791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680710"/>
              <a:ext cx="5349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三个深色格子是后面几节反复用到的：选主、定位子表的起点、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判定子表服务器存活。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7114222" y="1524000"/>
            <a:ext cx="4544378" cy="1602105"/>
            <a:chOff x="7114222" y="1524000"/>
            <a:chExt cx="4544378" cy="1602105"/>
          </a:xfrm>
        </p:grpSpPr>
        <p:sp>
          <p:nvSpPr>
            <p:cNvPr id="46" name="Rectangle 46"/>
            <p:cNvSpPr/>
            <p:nvPr/>
          </p:nvSpPr>
          <p:spPr>
            <a:xfrm>
              <a:off x="7114222" y="1524000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3748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61872" y="1733550"/>
              <a:ext cx="7019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43949" y="1769269"/>
              <a:ext cx="53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Chubby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54252" y="2110740"/>
              <a:ext cx="3872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的分布式锁服务（OSDI 2006），把共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享信息存成带锁的小文件，是开源 ZooKeeper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的参考对象（ZooKeeper 见第2部分）。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7114222" y="3316605"/>
            <a:ext cx="4544378" cy="2998470"/>
            <a:chOff x="7114222" y="3316605"/>
            <a:chExt cx="4544378" cy="2998470"/>
          </a:xfrm>
        </p:grpSpPr>
        <p:sp>
          <p:nvSpPr>
            <p:cNvPr id="52" name="Rectangle 52"/>
            <p:cNvSpPr/>
            <p:nvPr/>
          </p:nvSpPr>
          <p:spPr>
            <a:xfrm>
              <a:off x="7114222" y="3316605"/>
              <a:ext cx="4544378" cy="2998470"/>
            </a:xfrm>
            <a:prstGeom prst="roundRect">
              <a:avLst>
                <a:gd name="adj" fmla="val 4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23748" y="3449955"/>
              <a:ext cx="47625" cy="27317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61872" y="3526155"/>
              <a:ext cx="1316355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25134" y="3561874"/>
              <a:ext cx="11898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Chubby 不可用时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54252" y="3903345"/>
              <a:ext cx="38442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找不到 Root 子表、也无法判定服务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器存活，整个系统随之不可用。论文统计，因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 不可用导致 Bigtable 数据不可访问的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时间平均占 0.0047%。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15129" cy="909257"/>
            <a:chOff x="520446" y="342900"/>
            <a:chExt cx="98151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系统架构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151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 cell：5 个副本选出一个 Master，多数派活着就能服务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graph-1"/>
          <p:cNvGrpSpPr/>
          <p:nvPr/>
        </p:nvGrpSpPr>
        <p:grpSpPr>
          <a:xfrm>
            <a:off x="1065615" y="1773555"/>
            <a:ext cx="4626297" cy="3848481"/>
            <a:chOff x="1065615" y="1773555"/>
            <a:chExt cx="4626297" cy="3848481"/>
          </a:xfrm>
        </p:grpSpPr>
        <p:sp>
          <p:nvSpPr>
            <p:cNvPr id="7" name="Freeform 7"/>
            <p:cNvSpPr/>
            <p:nvPr/>
          </p:nvSpPr>
          <p:spPr>
            <a:xfrm>
              <a:off x="2920365" y="2507932"/>
              <a:ext cx="1736407" cy="145733"/>
            </a:xfrm>
            <a:custGeom>
              <a:avLst/>
              <a:gdLst/>
              <a:ahLst/>
              <a:cxnLst/>
              <a:rect l="l" t="t" r="r" b="b"/>
              <a:pathLst>
                <a:path w="1736407" h="145733">
                  <a:moveTo>
                    <a:pt x="0" y="0"/>
                  </a:moveTo>
                  <a:lnTo>
                    <a:pt x="1736407" y="1457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652010" y="2606992"/>
              <a:ext cx="99060" cy="94298"/>
            </a:xfrm>
            <a:custGeom>
              <a:avLst/>
              <a:gdLst/>
              <a:ahLst/>
              <a:cxnLst/>
              <a:rect l="l" t="t" r="r" b="b"/>
              <a:pathLst>
                <a:path w="99060" h="94298">
                  <a:moveTo>
                    <a:pt x="99060" y="55245"/>
                  </a:moveTo>
                  <a:lnTo>
                    <a:pt x="0" y="94298"/>
                  </a:lnTo>
                  <a:lnTo>
                    <a:pt x="857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254568" y="2816542"/>
              <a:ext cx="2441258" cy="1510665"/>
            </a:xfrm>
            <a:custGeom>
              <a:avLst/>
              <a:gdLst/>
              <a:ahLst/>
              <a:cxnLst/>
              <a:rect l="l" t="t" r="r" b="b"/>
              <a:pathLst>
                <a:path w="2441258" h="1510665">
                  <a:moveTo>
                    <a:pt x="0" y="1510665"/>
                  </a:moveTo>
                  <a:lnTo>
                    <a:pt x="24412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670108" y="2767012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0"/>
                  </a:moveTo>
                  <a:lnTo>
                    <a:pt x="50483" y="90488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72515" y="2269808"/>
              <a:ext cx="18478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72515" y="4327208"/>
              <a:ext cx="184785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760595" y="177355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760595" y="2514600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760595" y="325564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760595" y="399669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760595" y="473773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5615" y="2354580"/>
              <a:ext cx="1861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客户端应用 ｜ Chubby 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5615" y="4412932"/>
              <a:ext cx="1861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客户端应用 ｜ Chubby 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69778" y="18611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69778" y="26022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6642" y="2616041"/>
              <a:ext cx="4760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69778" y="33423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69778" y="40833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69778" y="48244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694748" y="2491740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715763" y="2526506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RPC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374708" y="3454718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95723" y="3488531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RPC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36632" y="330469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86484" y="526351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客户端进程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53129" y="5387340"/>
              <a:ext cx="1538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 cell 的 5 个副本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2506028"/>
            <a:chOff x="6464618" y="1524000"/>
            <a:chExt cx="5193982" cy="2506028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2506028"/>
            </a:xfrm>
            <a:prstGeom prst="roundRect">
              <a:avLst>
                <a:gd name="adj" fmla="val 5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1657350"/>
              <a:ext cx="47625" cy="223932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06552" y="1727835"/>
              <a:ext cx="100107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79948" y="1763554"/>
              <a:ext cx="855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Chubby cell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14172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70764" y="2100739"/>
              <a:ext cx="43696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由一小组服务器（通常 5 个副本）构成，服务于多个分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布式客户端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714172" y="27527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70764" y="2692241"/>
              <a:ext cx="43877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副本之间用 Paxos 选出 Master，读写都由 Master 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714172" y="334422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70764" y="3283744"/>
              <a:ext cx="38538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Paxos 算法最早的工业实现之一，多数派一致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14172" y="366426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70764" y="3603784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须保证多数（超过一半）副本正常工作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464618" y="4215765"/>
            <a:ext cx="5193982" cy="2088832"/>
            <a:chOff x="6464618" y="4215765"/>
            <a:chExt cx="5193982" cy="2088832"/>
          </a:xfrm>
        </p:grpSpPr>
        <p:sp>
          <p:nvSpPr>
            <p:cNvPr id="47" name="Rectangle 47"/>
            <p:cNvSpPr/>
            <p:nvPr/>
          </p:nvSpPr>
          <p:spPr>
            <a:xfrm>
              <a:off x="6464618" y="4215765"/>
              <a:ext cx="5193982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4349115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06552" y="44196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97713" y="4455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99314" y="4792504"/>
              <a:ext cx="4522978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原课件第24页写「须至少保证一半节点正常工作」。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Paxos 要的是多数，即超过一半：5 个副本至少 3 个正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常；若按「一半」理解，4 个副本只剩 2 个也能工作，这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是错的。第23–24页「至少五个」在论文里是「通常五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个」。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系统架构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例题：两地三中心五副本，能扛住哪些故障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842635" cy="1143952"/>
            <a:chOff x="533400" y="1524000"/>
            <a:chExt cx="5842635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147351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5842" y="1737836"/>
              <a:ext cx="13496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部署（原课件第23页）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51498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同城 A 的两个数据中心各部署 2 个副本，异地 B 的数据中心部署 1 个副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本，共 5 个，多数派是 3。</a:t>
              </a:r>
            </a:p>
          </p:txBody>
        </p:sp>
      </p:grpSp>
      <p:grpSp>
        <p:nvGrpSpPr>
          <p:cNvPr id="41" name="c1-table-2"/>
          <p:cNvGrpSpPr/>
          <p:nvPr/>
        </p:nvGrpSpPr>
        <p:grpSpPr>
          <a:xfrm>
            <a:off x="533400" y="2832735"/>
            <a:ext cx="5842635" cy="2521268"/>
            <a:chOff x="533400" y="2832735"/>
            <a:chExt cx="5842635" cy="2521268"/>
          </a:xfrm>
        </p:grpSpPr>
        <p:sp>
          <p:nvSpPr>
            <p:cNvPr id="12" name="Rectangle 12"/>
            <p:cNvSpPr/>
            <p:nvPr/>
          </p:nvSpPr>
          <p:spPr>
            <a:xfrm>
              <a:off x="533400" y="2832735"/>
              <a:ext cx="5842635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26273" y="29541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故障场景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71291" y="29541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剩余副本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48631" y="29541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能否服务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6935" y="3374231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 2 台机器宕机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68532" y="337423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07101" y="33742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6690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673792"/>
              <a:ext cx="5842635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6935" y="3794284"/>
              <a:ext cx="1991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同城 A 的中心 1 整体故障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68532" y="37942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07101" y="379428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0890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6935" y="4214336"/>
              <a:ext cx="1991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同城 A 的中心 2 整体故障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68532" y="42143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07101" y="421433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50913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513898"/>
              <a:ext cx="5842635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6935" y="4635341"/>
              <a:ext cx="12666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异地 B 整体故障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68532" y="46353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07101" y="46353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29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943475"/>
              <a:ext cx="2668905" cy="40100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935" y="5055394"/>
              <a:ext cx="2300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城市 A 整体故障（两个中心）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68532" y="505539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07101" y="505539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2832735"/>
              <a:ext cx="5842635" cy="252126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216592" y="2832735"/>
              <a:ext cx="9525" cy="2521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618672" y="2832735"/>
              <a:ext cx="9525" cy="2521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llout-3"/>
          <p:cNvGrpSpPr/>
          <p:nvPr/>
        </p:nvGrpSpPr>
        <p:grpSpPr>
          <a:xfrm>
            <a:off x="533400" y="5518785"/>
            <a:ext cx="5842635" cy="702945"/>
            <a:chOff x="533400" y="5518785"/>
            <a:chExt cx="5842635" cy="702945"/>
          </a:xfrm>
        </p:grpSpPr>
        <p:sp>
          <p:nvSpPr>
            <p:cNvPr id="42" name="Rectangle 42"/>
            <p:cNvSpPr/>
            <p:nvPr/>
          </p:nvSpPr>
          <p:spPr>
            <a:xfrm>
              <a:off x="533400" y="5518785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5766553"/>
              <a:ext cx="224134" cy="192560"/>
              <a:chOff x="726129" y="5766553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58369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57665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9147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5664041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这种部署挡得住单个数据中心故障，挡不住整座城市故障；想扛住城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市级灾难，要把副本分到三个城市。</a:t>
              </a:r>
            </a:p>
          </p:txBody>
        </p:sp>
      </p:grpSp>
      <p:grpSp>
        <p:nvGrpSpPr>
          <p:cNvPr id="81" name="c2-table-1"/>
          <p:cNvGrpSpPr/>
          <p:nvPr/>
        </p:nvGrpSpPr>
        <p:grpSpPr>
          <a:xfrm>
            <a:off x="6675882" y="1524000"/>
            <a:ext cx="4982718" cy="2552414"/>
            <a:chOff x="6675882" y="1524000"/>
            <a:chExt cx="4982718" cy="2552414"/>
          </a:xfrm>
        </p:grpSpPr>
        <p:sp>
          <p:nvSpPr>
            <p:cNvPr id="49" name="Rectangle 49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47169" y="1641157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副本数 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7712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多数派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4950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最多容忍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81458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5027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79333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80835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81458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5027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026015" y="2296478"/>
              <a:ext cx="162306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79333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80835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81458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50277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026015" y="2677478"/>
              <a:ext cx="162306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79333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680835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80835" y="3049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481458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150277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026015" y="3059430"/>
              <a:ext cx="162306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793339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680835" y="3426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481458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50277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793339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680835" y="1524000"/>
              <a:ext cx="497776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36866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01172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675882" y="3885724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多数派 = ⌊n/2⌋ + 1，容忍 = n − 多数派</a:t>
              </a:r>
            </a:p>
          </p:txBody>
        </p:sp>
      </p:grpSp>
      <p:grpSp>
        <p:nvGrpSpPr>
          <p:cNvPr id="86" name="c2-card-2"/>
          <p:cNvGrpSpPr/>
          <p:nvPr/>
        </p:nvGrpSpPr>
        <p:grpSpPr>
          <a:xfrm>
            <a:off x="6680835" y="4202430"/>
            <a:ext cx="4977765" cy="2019300"/>
            <a:chOff x="6680835" y="4202430"/>
            <a:chExt cx="4977765" cy="2019300"/>
          </a:xfrm>
        </p:grpSpPr>
        <p:sp>
          <p:nvSpPr>
            <p:cNvPr id="82" name="Rectangle 82"/>
            <p:cNvSpPr/>
            <p:nvPr/>
          </p:nvSpPr>
          <p:spPr>
            <a:xfrm>
              <a:off x="6680835" y="4202430"/>
              <a:ext cx="4977765" cy="2019300"/>
            </a:xfrm>
            <a:prstGeom prst="roundRect">
              <a:avLst>
                <a:gd name="adj" fmla="val 660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861810" y="438340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928028" y="441626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为什么副本数取奇数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855333" y="4723924"/>
              <a:ext cx="44264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个副本和 3 个副本一样只能容忍 1 台故障，却多一台机器、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多一份同步开销。所以 Chubby、ZooKeeper 都部署 3、5、7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50790" cy="909257"/>
            <a:chOff x="520446" y="342900"/>
            <a:chExt cx="91507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系统架构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507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 靠 Paxos 达成一致：Prepare 摸底，Accept 实施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6003133" cy="3649313"/>
            <a:chOff x="533400" y="1533525"/>
            <a:chExt cx="6003133" cy="364931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30727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557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6062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6801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2161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Prepare 1：Proposer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4611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选一个比以往都大的序号 n，向各 Acceptor 发 prepare(n)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218372"/>
              <a:ext cx="2161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Prepare 2：Acceptor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512219"/>
              <a:ext cx="53286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小于已承诺的序号就不回复；n 更大就承诺不再接受更小的序号，并回复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自己已接受过的序号最大的提议（序号和值）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104198"/>
              <a:ext cx="20448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 1：Proposer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397091"/>
              <a:ext cx="5377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收到多数派的承诺后，值取回复中序号最大的已接受提议的值，都没接受过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才用自己的值，发 accept(n, v)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90022"/>
              <a:ext cx="20448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 2：Acceptor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82916"/>
              <a:ext cx="26579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在不违背承诺的前提下接受 (n, v)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6405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933474"/>
              <a:ext cx="559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Proposer 收到多数 Acceptor 的接受消息，发 acknowledge 通知所有人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5361622"/>
            <a:ext cx="6059805" cy="782955"/>
            <a:chOff x="533400" y="5361622"/>
            <a:chExt cx="6059805" cy="782955"/>
          </a:xfrm>
        </p:grpSpPr>
        <p:sp>
          <p:nvSpPr>
            <p:cNvPr id="29" name="Rectangle 29"/>
            <p:cNvSpPr/>
            <p:nvPr/>
          </p:nvSpPr>
          <p:spPr>
            <a:xfrm>
              <a:off x="533400" y="5361622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653088"/>
              <a:ext cx="200026" cy="200025"/>
              <a:chOff x="738188" y="5653088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6530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56975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58086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510212"/>
              <a:ext cx="5025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晚餐投票的完整例题和常见错误见第3部分第58–59页，本讲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不再重复。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898005" y="1524000"/>
            <a:ext cx="4760595" cy="2173605"/>
            <a:chOff x="6898005" y="1524000"/>
            <a:chExt cx="4760595" cy="2173605"/>
          </a:xfrm>
        </p:grpSpPr>
        <p:sp>
          <p:nvSpPr>
            <p:cNvPr id="36" name="Rectangle 36"/>
            <p:cNvSpPr/>
            <p:nvPr/>
          </p:nvSpPr>
          <p:spPr>
            <a:xfrm>
              <a:off x="6898005" y="1524000"/>
              <a:ext cx="4760595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07530" y="1657350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1456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358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38035" y="2110740"/>
              <a:ext cx="401574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原课件第25页写 Proposer「发送被承诺接受的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最大请求号给 Acceptor 批准」。准确说法：序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号用自己的 n，值取回复里序号最大的已接受提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议的值；「如未得到承诺接受的请求号，生成一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个」指的是这时才可以用自己的值。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898005" y="3888105"/>
            <a:ext cx="4760595" cy="2256472"/>
            <a:chOff x="6898005" y="3888105"/>
            <a:chExt cx="4760595" cy="2256472"/>
          </a:xfrm>
        </p:grpSpPr>
        <p:sp>
          <p:nvSpPr>
            <p:cNvPr id="42" name="Rectangle 42"/>
            <p:cNvSpPr/>
            <p:nvPr/>
          </p:nvSpPr>
          <p:spPr>
            <a:xfrm>
              <a:off x="6898005" y="3888105"/>
              <a:ext cx="4760595" cy="2256472"/>
            </a:xfrm>
            <a:prstGeom prst="roundRect">
              <a:avLst>
                <a:gd name="adj" fmla="val 591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07555" y="4097655"/>
              <a:ext cx="1503045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64804" y="4133374"/>
              <a:ext cx="1388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Chubby 里的用途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9935" y="4474845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个副本用 Paxos 选出 Master、复制操作日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志。任意两个多数派至少有一个共同成员，所以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同一时刻不会选出两个 Master。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38043" cy="909257"/>
            <a:chOff x="520446" y="342900"/>
            <a:chExt cx="71380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系统架构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380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存储引擎选 LSM 树：索引要有序，写入还要快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table-1"/>
          <p:cNvGrpSpPr/>
          <p:nvPr/>
        </p:nvGrpSpPr>
        <p:grpSpPr>
          <a:xfrm>
            <a:off x="533400" y="1524000"/>
            <a:ext cx="5626418" cy="1487805"/>
            <a:chOff x="533400" y="1524000"/>
            <a:chExt cx="5626418" cy="14878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2935" y="1645444"/>
              <a:ext cx="2329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日志结构流派 Bitcask 的局限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97210" y="1645444"/>
              <a:ext cx="26867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排序字符串表 SSTable 的解决办法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6935" y="2065496"/>
              <a:ext cx="205470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&lt;key, offset&gt; 索引全放内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存，受内存容量限制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130868" y="1953578"/>
              <a:ext cx="3019425" cy="62769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214878" y="2065496"/>
              <a:ext cx="26057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稀疏索引，只记每块第一个 key，不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必把全部索引放内存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5860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590800"/>
              <a:ext cx="5626418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6935" y="2712244"/>
              <a:ext cx="2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 无序存储，区间查询性能差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130868" y="2600325"/>
              <a:ext cx="3019425" cy="40100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14878" y="2712244"/>
              <a:ext cx="241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 有序存放，区间查询顺着读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1524000"/>
              <a:ext cx="5626418" cy="14878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16580" y="1524000"/>
              <a:ext cx="9525" cy="14878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6" name="c1-card-2"/>
          <p:cNvGrpSpPr/>
          <p:nvPr/>
        </p:nvGrpSpPr>
        <p:grpSpPr>
          <a:xfrm>
            <a:off x="533400" y="3176588"/>
            <a:ext cx="5626418" cy="901065"/>
            <a:chOff x="533400" y="3176588"/>
            <a:chExt cx="5626418" cy="901065"/>
          </a:xfrm>
        </p:grpSpPr>
        <p:sp>
          <p:nvSpPr>
            <p:cNvPr id="21" name="Rectangle 21"/>
            <p:cNvSpPr/>
            <p:nvPr/>
          </p:nvSpPr>
          <p:spPr>
            <a:xfrm>
              <a:off x="533400" y="3176588"/>
              <a:ext cx="5626418" cy="901065"/>
            </a:xfrm>
            <a:prstGeom prst="roundRect">
              <a:avLst>
                <a:gd name="adj" fmla="val 147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309938"/>
              <a:ext cx="47625" cy="6343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3357562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1543" y="33904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新问题：写性能怎么保证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3697129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索引加快读、减慢写。数据要有序，就不能再在文件末尾随手追加。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242435"/>
            <a:ext cx="5626418" cy="1415415"/>
            <a:chOff x="533400" y="4242435"/>
            <a:chExt cx="5626418" cy="1415415"/>
          </a:xfrm>
        </p:grpSpPr>
        <p:sp>
          <p:nvSpPr>
            <p:cNvPr id="27" name="Rectangle 27"/>
            <p:cNvSpPr/>
            <p:nvPr/>
          </p:nvSpPr>
          <p:spPr>
            <a:xfrm>
              <a:off x="533400" y="4242435"/>
              <a:ext cx="5626418" cy="1415415"/>
            </a:xfrm>
            <a:prstGeom prst="roundRect">
              <a:avLst>
                <a:gd name="adj" fmla="val 94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375785"/>
              <a:ext cx="47625" cy="11487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423410"/>
              <a:ext cx="9886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0672" y="4456271"/>
              <a:ext cx="8523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LSM 树的答案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4762976"/>
              <a:ext cx="50360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内存里维护一个有序结构（原课件写平衡树，LevelDB 实际用跳表），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 key 的局部排序；内存中数据过大时整体写成一个 SSTable 文件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（持久化）。磁盘上永远是大块顺序写。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464618" y="1524000"/>
            <a:ext cx="5193982" cy="1957388"/>
            <a:chOff x="6464618" y="1524000"/>
            <a:chExt cx="5193982" cy="1957388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1657350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83692" y="1704975"/>
              <a:ext cx="251460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05734" y="1737836"/>
              <a:ext cx="24705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基于 GFS 完成数据存储（原课件第26页）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93218" y="20974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48666" y="2045494"/>
              <a:ext cx="43614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存储引擎：LSM 树（Log Structured Merge Tree），属日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志流派，只做追加写入；数据落成 Sorted String Table；通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过合并优化存储空间和访问效率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93218" y="286797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48666" y="2816066"/>
              <a:ext cx="34696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分布式文件系统 GFS：保证数据存储的可靠性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93218" y="315372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48666" y="3100864"/>
              <a:ext cx="39856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表格数据以文件形式存于 GFS：操作日志和 SSTable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464618" y="3646170"/>
            <a:ext cx="5193982" cy="1143952"/>
            <a:chOff x="6464618" y="3646170"/>
            <a:chExt cx="5193982" cy="1143952"/>
          </a:xfrm>
        </p:grpSpPr>
        <p:sp>
          <p:nvSpPr>
            <p:cNvPr id="44" name="Rectangle 44"/>
            <p:cNvSpPr/>
            <p:nvPr/>
          </p:nvSpPr>
          <p:spPr>
            <a:xfrm>
              <a:off x="6464618" y="3646170"/>
              <a:ext cx="5193982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377952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3692" y="382714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76364" y="38600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77216" y="4166711"/>
              <a:ext cx="44670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原课件第27、50页的 Bitcast 应为 Bitcask（第3部分第9页已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注明）。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6464618" y="4954905"/>
            <a:ext cx="5193982" cy="702945"/>
            <a:chOff x="6464618" y="4954905"/>
            <a:chExt cx="5193982" cy="702945"/>
          </a:xfrm>
        </p:grpSpPr>
        <p:sp>
          <p:nvSpPr>
            <p:cNvPr id="50" name="Rectangle 50"/>
            <p:cNvSpPr/>
            <p:nvPr/>
          </p:nvSpPr>
          <p:spPr>
            <a:xfrm>
              <a:off x="6464618" y="4954905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669405" y="5206365"/>
              <a:ext cx="200026" cy="200025"/>
              <a:chOff x="6669405" y="520636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669405" y="52063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09144" y="52508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43859" y="53619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972491" y="5099209"/>
              <a:ext cx="43126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LevelDB 的分层结构图和写放大、读放大的讨论见第3部分第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20–21页；本讲第四节讲 Bigtable 自己的读写路径。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33827" cy="909257"/>
            <a:chOff x="520446" y="342900"/>
            <a:chExt cx="103338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系统架构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338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系统结构：一个 Master、多台子表服务器，客户端直连子表服务器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graph-1"/>
          <p:cNvGrpSpPr/>
          <p:nvPr/>
        </p:nvGrpSpPr>
        <p:grpSpPr>
          <a:xfrm>
            <a:off x="820276" y="1698308"/>
            <a:ext cx="6201554" cy="4182427"/>
            <a:chOff x="820276" y="1698308"/>
            <a:chExt cx="6201554" cy="4182427"/>
          </a:xfrm>
        </p:grpSpPr>
        <p:sp>
          <p:nvSpPr>
            <p:cNvPr id="7" name="Freeform 7"/>
            <p:cNvSpPr/>
            <p:nvPr/>
          </p:nvSpPr>
          <p:spPr>
            <a:xfrm>
              <a:off x="3500438" y="1953578"/>
              <a:ext cx="1311592" cy="9525"/>
            </a:xfrm>
            <a:custGeom>
              <a:avLst/>
              <a:gdLst/>
              <a:ahLst/>
              <a:cxnLst/>
              <a:rect l="l" t="t" r="r" b="b"/>
              <a:pathLst>
                <a:path w="1311592" h="9525">
                  <a:moveTo>
                    <a:pt x="131159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05188" y="19059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956685" y="2208848"/>
              <a:ext cx="1341120" cy="1143952"/>
            </a:xfrm>
            <a:custGeom>
              <a:avLst/>
              <a:gdLst/>
              <a:ahLst/>
              <a:cxnLst/>
              <a:rect l="l" t="t" r="r" b="b"/>
              <a:pathLst>
                <a:path w="1341120" h="1143952">
                  <a:moveTo>
                    <a:pt x="1341120" y="0"/>
                  </a:moveTo>
                  <a:lnTo>
                    <a:pt x="0" y="11439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84295" y="3316605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0" y="98108"/>
                  </a:moveTo>
                  <a:lnTo>
                    <a:pt x="40958" y="0"/>
                  </a:lnTo>
                  <a:lnTo>
                    <a:pt x="102870" y="7239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596890" y="2208848"/>
              <a:ext cx="9525" cy="1110615"/>
            </a:xfrm>
            <a:custGeom>
              <a:avLst/>
              <a:gdLst/>
              <a:ahLst/>
              <a:cxnLst/>
              <a:rect l="l" t="t" r="r" b="b"/>
              <a:pathLst>
                <a:path w="9525" h="1110615">
                  <a:moveTo>
                    <a:pt x="0" y="0"/>
                  </a:moveTo>
                  <a:lnTo>
                    <a:pt x="0" y="1110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549265" y="33194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392228" y="1953578"/>
              <a:ext cx="373380" cy="3671888"/>
            </a:xfrm>
            <a:custGeom>
              <a:avLst/>
              <a:gdLst/>
              <a:ahLst/>
              <a:cxnLst/>
              <a:rect l="l" t="t" r="r" b="b"/>
              <a:pathLst>
                <a:path w="373380" h="3671888">
                  <a:moveTo>
                    <a:pt x="0" y="0"/>
                  </a:moveTo>
                  <a:lnTo>
                    <a:pt x="373380" y="0"/>
                  </a:lnTo>
                  <a:lnTo>
                    <a:pt x="373380" y="3671888"/>
                  </a:lnTo>
                  <a:lnTo>
                    <a:pt x="2857" y="367188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6299835" y="55778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812030" y="1698308"/>
              <a:ext cx="1570672" cy="510540"/>
            </a:xfrm>
            <a:prstGeom prst="roundRect">
              <a:avLst>
                <a:gd name="adj" fmla="val 1865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557338" y="1698308"/>
              <a:ext cx="1847850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71550" y="3414712"/>
              <a:ext cx="1201102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984182" y="3414712"/>
              <a:ext cx="1201102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96815" y="3414712"/>
              <a:ext cx="1201102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98220" y="4610100"/>
              <a:ext cx="5173980" cy="27622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79158" y="5370195"/>
              <a:ext cx="1385888" cy="510540"/>
            </a:xfrm>
            <a:prstGeom prst="roundRect">
              <a:avLst>
                <a:gd name="adj" fmla="val 1865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891790" y="5370195"/>
              <a:ext cx="1385888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04422" y="5370195"/>
              <a:ext cx="1385888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89753" y="1783080"/>
              <a:ext cx="12142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Bigtable 客户端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44618" y="197358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（客户端程序库）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93354" y="1783080"/>
              <a:ext cx="1375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主服务器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67446" y="197358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元数据操作、负载均衡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62622" y="34994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43394" y="3689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处理数据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75254" y="34994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56026" y="3689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处理数据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86934" y="34994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67706" y="3689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处理数据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0276" y="5454967"/>
              <a:ext cx="1504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Google WorkQueue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1078" y="5645467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故障处理及监控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31256" y="5454967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52166" y="5645467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保存子表数据及日志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08279" y="5454967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44618" y="5645467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元数据存储、选主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759518" y="1860232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773361" y="18949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元数据操作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428172" y="271843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54169" y="27532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读写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434965" y="271843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60009" y="27532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读写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510338" y="3696652"/>
              <a:ext cx="51149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26514" y="3730466"/>
              <a:ext cx="4781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Open()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7330440" y="1524000"/>
            <a:ext cx="4328160" cy="2360295"/>
            <a:chOff x="7330440" y="1524000"/>
            <a:chExt cx="4328160" cy="2360295"/>
          </a:xfrm>
        </p:grpSpPr>
        <p:sp>
          <p:nvSpPr>
            <p:cNvPr id="49" name="Rectangle 49"/>
            <p:cNvSpPr/>
            <p:nvPr/>
          </p:nvSpPr>
          <p:spPr>
            <a:xfrm>
              <a:off x="7330440" y="1524000"/>
              <a:ext cx="432816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1240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7648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35786" y="22983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34044" y="2085022"/>
              <a:ext cx="258775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实现客户端接口，对数据单元增删改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查；从 Chubby 获得锁服务；直接连子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表服务器取数据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330440" y="280606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30440" y="2810828"/>
              <a:ext cx="432816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39965" y="2820352"/>
              <a:ext cx="127920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35786" y="2942272"/>
              <a:ext cx="9859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Master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34044" y="294227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元数据操作、负载均衡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330440" y="323659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35786" y="3372802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多个子表服务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34044" y="3479482"/>
              <a:ext cx="2384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 Tablet 数据，提供读写服务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330440" y="1524000"/>
              <a:ext cx="4328160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623935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llout-2"/>
          <p:cNvGrpSpPr/>
          <p:nvPr/>
        </p:nvGrpSpPr>
        <p:grpSpPr>
          <a:xfrm>
            <a:off x="7330440" y="4070032"/>
            <a:ext cx="4328160" cy="1018222"/>
            <a:chOff x="7330440" y="4070032"/>
            <a:chExt cx="4328160" cy="1018222"/>
          </a:xfrm>
        </p:grpSpPr>
        <p:sp>
          <p:nvSpPr>
            <p:cNvPr id="65" name="Rectangle 65"/>
            <p:cNvSpPr/>
            <p:nvPr/>
          </p:nvSpPr>
          <p:spPr>
            <a:xfrm>
              <a:off x="7330440" y="4070032"/>
              <a:ext cx="4328160" cy="1018222"/>
            </a:xfrm>
            <a:prstGeom prst="roundRect">
              <a:avLst>
                <a:gd name="adj" fmla="val 1122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535228" y="4479610"/>
              <a:ext cx="200023" cy="200023"/>
              <a:chOff x="7535228" y="4479610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535228" y="4479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668578" y="4546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7837551" y="4217194"/>
              <a:ext cx="347700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数据读写不经过 Master，大多数客户端从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不和 Master 通信，所以一个 Master 管得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过来。</a:t>
              </a:r>
            </a:p>
          </p:txBody>
        </p:sp>
      </p:grpSp>
      <p:grpSp>
        <p:nvGrpSpPr>
          <p:cNvPr id="77" name="c2-callout-3"/>
          <p:cNvGrpSpPr/>
          <p:nvPr/>
        </p:nvGrpSpPr>
        <p:grpSpPr>
          <a:xfrm>
            <a:off x="7330440" y="5273992"/>
            <a:ext cx="4328160" cy="1018222"/>
            <a:chOff x="7330440" y="5273992"/>
            <a:chExt cx="4328160" cy="1018222"/>
          </a:xfrm>
        </p:grpSpPr>
        <p:sp>
          <p:nvSpPr>
            <p:cNvPr id="71" name="Rectangle 71"/>
            <p:cNvSpPr/>
            <p:nvPr/>
          </p:nvSpPr>
          <p:spPr>
            <a:xfrm>
              <a:off x="7330440" y="5273992"/>
              <a:ext cx="432816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535228" y="5683568"/>
              <a:ext cx="200026" cy="200026"/>
              <a:chOff x="7535228" y="5683568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535228" y="56835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635240" y="57502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624128" y="57835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837551" y="5421154"/>
              <a:ext cx="345897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图据原课件第32页重画。主从结构的好处是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灵活：负载均衡、分裂合并都由一处统一决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60703" cy="909257"/>
            <a:chOff x="520446" y="342900"/>
            <a:chExt cx="89607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系统架构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607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分工：Master 管子表放在哪，子表服务器管子表里的数据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compare-1"/>
          <p:cNvGrpSpPr/>
          <p:nvPr/>
        </p:nvGrpSpPr>
        <p:grpSpPr>
          <a:xfrm>
            <a:off x="533400" y="1524000"/>
            <a:ext cx="6492240" cy="4442460"/>
            <a:chOff x="533400" y="1524000"/>
            <a:chExt cx="6492240" cy="4442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036570" cy="4442460"/>
            </a:xfrm>
            <a:prstGeom prst="roundRect">
              <a:avLst>
                <a:gd name="adj" fmla="val 439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1758315"/>
              <a:ext cx="16362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主服务器 Master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48665" y="21755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6780" y="211264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管理子表服务器（发现加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入、判定失效）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8665" y="27965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6780" y="27336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分配子表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8665" y="313182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780" y="3068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管理子表合并和分裂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8665" y="346710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6780" y="340423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监控子表服务器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8665" y="380238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6780" y="37395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负载均衡和容错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48665" y="413766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780" y="4074795"/>
              <a:ext cx="2348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回收 GFS 上的无用文件，处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理建表、改列族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989070" y="1524000"/>
              <a:ext cx="3036570" cy="4442460"/>
            </a:xfrm>
            <a:prstGeom prst="roundRect">
              <a:avLst>
                <a:gd name="adj" fmla="val 43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98595" y="1657350"/>
              <a:ext cx="47625" cy="417576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29100" y="1758315"/>
              <a:ext cx="24481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 TabletServer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242435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0" y="21126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子表的装载和卸出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242435" y="25107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00550" y="24479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表格内容的读写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4242435" y="28460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400550" y="27832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子表合并和分裂的执行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4242435" y="31813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00550" y="3118485"/>
              <a:ext cx="2158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 GFS 上的数据：操作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日志和 SSTable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242435" y="38023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00550" y="373951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通常管 10 到 1000 个子表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617595" y="358330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687935" y="367950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7330440" y="1524000"/>
            <a:ext cx="4328160" cy="3192780"/>
            <a:chOff x="7330440" y="1524000"/>
            <a:chExt cx="4328160" cy="3192780"/>
          </a:xfrm>
        </p:grpSpPr>
        <p:sp>
          <p:nvSpPr>
            <p:cNvPr id="37" name="Rectangle 37"/>
            <p:cNvSpPr/>
            <p:nvPr/>
          </p:nvSpPr>
          <p:spPr>
            <a:xfrm>
              <a:off x="7330440" y="1524000"/>
              <a:ext cx="432816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0293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66045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谁发起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37120" y="21507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分配、迁移子表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01200" y="2150745"/>
              <a:ext cx="72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330440" y="249459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30440" y="2499360"/>
              <a:ext cx="432816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37120" y="26384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合并两个子表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01200" y="2638425"/>
              <a:ext cx="72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330440" y="298227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37120" y="31261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分裂子表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504045" y="2996565"/>
              <a:ext cx="214503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601200" y="312610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330440" y="346995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330440" y="3474720"/>
              <a:ext cx="432816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37120" y="36137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建表、删表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01200" y="3613785"/>
              <a:ext cx="728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330440" y="395763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37120" y="4234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单行读写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01200" y="410146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客户端直连子表服务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330440" y="1524000"/>
              <a:ext cx="4328160" cy="31927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489758" y="1524000"/>
              <a:ext cx="9525" cy="3192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llout-2"/>
          <p:cNvGrpSpPr/>
          <p:nvPr/>
        </p:nvGrpSpPr>
        <p:grpSpPr>
          <a:xfrm>
            <a:off x="7330440" y="4907280"/>
            <a:ext cx="4328160" cy="1059180"/>
            <a:chOff x="7330440" y="4907280"/>
            <a:chExt cx="4328160" cy="1059180"/>
          </a:xfrm>
        </p:grpSpPr>
        <p:sp>
          <p:nvSpPr>
            <p:cNvPr id="60" name="Rectangle 60"/>
            <p:cNvSpPr/>
            <p:nvPr/>
          </p:nvSpPr>
          <p:spPr>
            <a:xfrm>
              <a:off x="7330440" y="4907280"/>
              <a:ext cx="432816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535228" y="5336858"/>
              <a:ext cx="200026" cy="200025"/>
              <a:chOff x="7535228" y="5336858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535228" y="53368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574966" y="53813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609682" y="54924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837170" y="5055870"/>
              <a:ext cx="3444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分裂是唯一由子表服务器自己发起的变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化，因为只有它知道子表什么时候长得太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24379" cy="909257"/>
            <a:chOff x="520446" y="342900"/>
            <a:chExt cx="89243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系统架构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243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典型部署：每台机器同时跑 GFS、调度器和 Bigtable 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graph-1"/>
          <p:cNvGrpSpPr/>
          <p:nvPr/>
        </p:nvGrpSpPr>
        <p:grpSpPr>
          <a:xfrm>
            <a:off x="671512" y="1776412"/>
            <a:ext cx="6648451" cy="4131945"/>
            <a:chOff x="671512" y="1776412"/>
            <a:chExt cx="6648451" cy="4131945"/>
          </a:xfrm>
        </p:grpSpPr>
        <p:sp>
          <p:nvSpPr>
            <p:cNvPr id="7" name="Rectangle 7"/>
            <p:cNvSpPr/>
            <p:nvPr/>
          </p:nvSpPr>
          <p:spPr>
            <a:xfrm>
              <a:off x="832485" y="1776412"/>
              <a:ext cx="1755458" cy="443865"/>
            </a:xfrm>
            <a:prstGeom prst="roundRect">
              <a:avLst>
                <a:gd name="adj" fmla="val 2145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118485" y="1776412"/>
              <a:ext cx="1755458" cy="443865"/>
            </a:xfrm>
            <a:prstGeom prst="roundRect">
              <a:avLst>
                <a:gd name="adj" fmla="val 2145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03532" y="1776412"/>
              <a:ext cx="1755458" cy="443865"/>
            </a:xfrm>
            <a:prstGeom prst="roundRect">
              <a:avLst>
                <a:gd name="adj" fmla="val 2145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71512" y="3519488"/>
              <a:ext cx="2078355" cy="369570"/>
            </a:xfrm>
            <a:prstGeom prst="roundRect">
              <a:avLst>
                <a:gd name="adj" fmla="val 257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76275" y="4348162"/>
              <a:ext cx="961072" cy="701992"/>
            </a:xfrm>
            <a:prstGeom prst="roundRect">
              <a:avLst>
                <a:gd name="adj" fmla="val 1356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784032" y="4348162"/>
              <a:ext cx="961072" cy="701992"/>
            </a:xfrm>
            <a:prstGeom prst="roundRect">
              <a:avLst>
                <a:gd name="adj" fmla="val 1356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71512" y="5575935"/>
              <a:ext cx="2078355" cy="332422"/>
            </a:xfrm>
            <a:prstGeom prst="roundRect">
              <a:avLst>
                <a:gd name="adj" fmla="val 2865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956560" y="3519488"/>
              <a:ext cx="2078355" cy="369570"/>
            </a:xfrm>
            <a:prstGeom prst="roundRect">
              <a:avLst>
                <a:gd name="adj" fmla="val 2577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961322" y="4348162"/>
              <a:ext cx="961072" cy="701992"/>
            </a:xfrm>
            <a:prstGeom prst="roundRect">
              <a:avLst>
                <a:gd name="adj" fmla="val 1356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069080" y="4348162"/>
              <a:ext cx="961072" cy="701992"/>
            </a:xfrm>
            <a:prstGeom prst="roundRect">
              <a:avLst>
                <a:gd name="adj" fmla="val 1356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956560" y="5575935"/>
              <a:ext cx="2078355" cy="332422"/>
            </a:xfrm>
            <a:prstGeom prst="roundRect">
              <a:avLst>
                <a:gd name="adj" fmla="val 2865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241608" y="3519488"/>
              <a:ext cx="2078355" cy="369570"/>
            </a:xfrm>
            <a:prstGeom prst="roundRect">
              <a:avLst>
                <a:gd name="adj" fmla="val 25773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246370" y="4348162"/>
              <a:ext cx="961072" cy="701992"/>
            </a:xfrm>
            <a:prstGeom prst="roundRect">
              <a:avLst>
                <a:gd name="adj" fmla="val 1356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355080" y="4348162"/>
              <a:ext cx="961072" cy="701992"/>
            </a:xfrm>
            <a:prstGeom prst="roundRect">
              <a:avLst>
                <a:gd name="adj" fmla="val 1356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241608" y="5575935"/>
              <a:ext cx="2078355" cy="332422"/>
            </a:xfrm>
            <a:prstGeom prst="roundRect">
              <a:avLst>
                <a:gd name="adj" fmla="val 2865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6185" y="1923098"/>
              <a:ext cx="1309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集群调度 Master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39127" y="1923098"/>
              <a:ext cx="11132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锁服务 Chubby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00843" y="1923098"/>
              <a:ext cx="959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GFS Master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3371" y="3629977"/>
              <a:ext cx="1294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Server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381" y="443484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4370" y="4625340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7724" y="4815840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57832" y="4530090"/>
              <a:ext cx="814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44522" y="4720590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Slave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90167" y="5667375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48418" y="3629977"/>
              <a:ext cx="1294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Server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88381" y="443484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00370" y="4625340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53724" y="4815840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42880" y="4530090"/>
              <a:ext cx="814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29570" y="4720590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Slave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75215" y="5667375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16367" y="3629977"/>
              <a:ext cx="1328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Bigtable Master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73428" y="443484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85417" y="4625340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38771" y="4815840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7927" y="4530090"/>
              <a:ext cx="814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14617" y="4720590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Slave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60262" y="5667375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Linux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470961" y="291084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 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56008" y="291084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 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36975" y="2910840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 N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7762875" y="1524000"/>
            <a:ext cx="3895725" cy="1545908"/>
            <a:chOff x="7762875" y="1524000"/>
            <a:chExt cx="3895725" cy="1545908"/>
          </a:xfrm>
        </p:grpSpPr>
        <p:sp>
          <p:nvSpPr>
            <p:cNvPr id="50" name="Rectangle 50"/>
            <p:cNvSpPr/>
            <p:nvPr/>
          </p:nvSpPr>
          <p:spPr>
            <a:xfrm>
              <a:off x="7762875" y="1524000"/>
              <a:ext cx="3895725" cy="1545908"/>
            </a:xfrm>
            <a:prstGeom prst="roundRect">
              <a:avLst>
                <a:gd name="adj" fmla="val 862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966710" y="1727835"/>
              <a:ext cx="145065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26526" y="1763554"/>
              <a:ext cx="13319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 Bigtable 系统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59471" y="2100739"/>
              <a:ext cx="328764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分布式文件存储系统 + 分布式索引层，再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加任务调度和分布式锁（共享信息管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理）。</a:t>
              </a:r>
            </a:p>
          </p:txBody>
        </p:sp>
      </p:grpSp>
      <p:grpSp>
        <p:nvGrpSpPr>
          <p:cNvPr id="63" name="c2-kv-2"/>
          <p:cNvGrpSpPr/>
          <p:nvPr/>
        </p:nvGrpSpPr>
        <p:grpSpPr>
          <a:xfrm>
            <a:off x="7755636" y="3278981"/>
            <a:ext cx="3902964" cy="1925574"/>
            <a:chOff x="7755636" y="3278981"/>
            <a:chExt cx="3902964" cy="1925574"/>
          </a:xfrm>
        </p:grpSpPr>
        <p:sp>
          <p:nvSpPr>
            <p:cNvPr id="55" name="TextBox 55"/>
            <p:cNvSpPr txBox="1"/>
            <p:nvPr/>
          </p:nvSpPr>
          <p:spPr>
            <a:xfrm>
              <a:off x="7755636" y="3278981"/>
              <a:ext cx="7358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上排三个</a:t>
              </a:r>
              <a:br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58668" y="327898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集群级的管理服务，各自独立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762875" y="3852862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755636" y="396859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每台机器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58668" y="3968591"/>
              <a:ext cx="2223643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同时是 GFS 数据节点、调度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器从节点和子表服务器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762875" y="4542472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55636" y="4658201"/>
              <a:ext cx="752970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Bigtable</a:t>
              </a:r>
              <a:br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58668" y="465820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也只是某台机器上的一个进程</a:t>
              </a:r>
            </a:p>
          </p:txBody>
        </p:sp>
      </p:grpSp>
      <p:grpSp>
        <p:nvGrpSpPr>
          <p:cNvPr id="70" name="c2-callout-3"/>
          <p:cNvGrpSpPr/>
          <p:nvPr/>
        </p:nvGrpSpPr>
        <p:grpSpPr>
          <a:xfrm>
            <a:off x="7762875" y="5334000"/>
            <a:ext cx="3895725" cy="1018222"/>
            <a:chOff x="7762875" y="5334000"/>
            <a:chExt cx="3895725" cy="1018222"/>
          </a:xfrm>
        </p:grpSpPr>
        <p:sp>
          <p:nvSpPr>
            <p:cNvPr id="64" name="Rectangle 64"/>
            <p:cNvSpPr/>
            <p:nvPr/>
          </p:nvSpPr>
          <p:spPr>
            <a:xfrm>
              <a:off x="7762875" y="5334000"/>
              <a:ext cx="389572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967663" y="5743575"/>
              <a:ext cx="200026" cy="200025"/>
              <a:chOff x="7967663" y="5743575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967663" y="57435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007401" y="57880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042117" y="58991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8269986" y="5481161"/>
              <a:ext cx="307124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子表服务器写的 SSTable 常常就落在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本机的 Chunk Server 上，读数据时可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以少走网络。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68237" cy="3351847"/>
            <a:chOff x="667512" y="1835468"/>
            <a:chExt cx="646823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一行数据在哪台机器上：按行键范围切子表，用三层元数据找到它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内容提要：数据分布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子表是数据分布和负载均衡的基本单位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793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用户表、METADATA 表、Root 表三层定位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134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MB 元数据子表能管 2 EB 数据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40253" cy="909257"/>
            <a:chOff x="520446" y="342900"/>
            <a:chExt cx="91402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402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表按行键范围切成子表 Tablet：分布和负载均衡的基本单位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2419350"/>
            <a:chOff x="533400" y="1524000"/>
            <a:chExt cx="5410200" cy="2419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19350"/>
            </a:xfrm>
            <a:prstGeom prst="roundRect">
              <a:avLst>
                <a:gd name="adj" fmla="val 5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526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94488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714" y="1750695"/>
              <a:ext cx="795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子表 Tablet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表格中行的操作是原子的；表格按行分成若干子表。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37553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一个子表是一定范围内连续的行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73462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67843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是数据分布和负载均衡的基本单位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303657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298037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行键相近的子表尽量存在同一台服务器上，访问时涉及较少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的服务器间通信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35966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3540442"/>
              <a:ext cx="3357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需要合理设计 row key 来保证数据本地化</a:t>
              </a:r>
            </a:p>
          </p:txBody>
        </p:sp>
      </p:grpSp>
      <p:grpSp>
        <p:nvGrpSpPr>
          <p:cNvPr id="43" name="c1-cells-2"/>
          <p:cNvGrpSpPr/>
          <p:nvPr/>
        </p:nvGrpSpPr>
        <p:grpSpPr>
          <a:xfrm>
            <a:off x="528638" y="4118610"/>
            <a:ext cx="5414962" cy="918210"/>
            <a:chOff x="528638" y="4118610"/>
            <a:chExt cx="5414962" cy="918210"/>
          </a:xfrm>
        </p:grpSpPr>
        <p:sp>
          <p:nvSpPr>
            <p:cNvPr id="21" name="TextBox 21"/>
            <p:cNvSpPr txBox="1"/>
            <p:nvPr/>
          </p:nvSpPr>
          <p:spPr>
            <a:xfrm>
              <a:off x="528638" y="425291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95350" y="4118610"/>
              <a:ext cx="100965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6270" y="4258151"/>
              <a:ext cx="9078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cn.edu.jlu.ccst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905000" y="4118610"/>
              <a:ext cx="100965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31183" y="4252912"/>
              <a:ext cx="9572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cn.edu.jlu.mail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914650" y="4118610"/>
              <a:ext cx="100965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62672" y="4258151"/>
              <a:ext cx="9136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cn.edu.jlu.www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924300" y="4118610"/>
              <a:ext cx="10096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43345" y="4258151"/>
              <a:ext cx="9715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cn.edu.pku.www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933950" y="4118610"/>
              <a:ext cx="10096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53772" y="4252912"/>
              <a:ext cx="9700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com.cnn.money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638" y="479107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子表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95350" y="4655820"/>
              <a:ext cx="100965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20188" y="4791075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子表 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905000" y="4655820"/>
              <a:ext cx="100965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229838" y="4791075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子表 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914650" y="4655820"/>
              <a:ext cx="100965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39488" y="4791075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子表 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924300" y="4655820"/>
              <a:ext cx="10096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249138" y="4791075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 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33950" y="4655820"/>
              <a:ext cx="100965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58788" y="4791075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 2</a:t>
              </a:r>
            </a:p>
          </p:txBody>
        </p:sp>
      </p:grpSp>
      <p:grpSp>
        <p:nvGrpSpPr>
          <p:cNvPr id="50" name="c1-callout-3"/>
          <p:cNvGrpSpPr/>
          <p:nvPr/>
        </p:nvGrpSpPr>
        <p:grpSpPr>
          <a:xfrm>
            <a:off x="533400" y="5212080"/>
            <a:ext cx="5410200" cy="978218"/>
            <a:chOff x="533400" y="5212080"/>
            <a:chExt cx="5410200" cy="978218"/>
          </a:xfrm>
        </p:grpSpPr>
        <p:sp>
          <p:nvSpPr>
            <p:cNvPr id="44" name="Rectangle 44"/>
            <p:cNvSpPr/>
            <p:nvPr/>
          </p:nvSpPr>
          <p:spPr>
            <a:xfrm>
              <a:off x="533400" y="521208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601653"/>
              <a:ext cx="200026" cy="200025"/>
              <a:chOff x="738188" y="5601653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6016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56461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57572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5358765"/>
              <a:ext cx="447998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子表边界完全由行键决定：例中子表 1 的结束行是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cn.edu.jlu.www，北大和 CNN 的行排在它后面，进了子表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2。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6248400" y="1524000"/>
            <a:ext cx="5410200" cy="1334453"/>
            <a:chOff x="6248400" y="1524000"/>
            <a:chExt cx="5410200" cy="1334453"/>
          </a:xfrm>
        </p:grpSpPr>
        <p:sp>
          <p:nvSpPr>
            <p:cNvPr id="51" name="Rectangle 51"/>
            <p:cNvSpPr/>
            <p:nvPr/>
          </p:nvSpPr>
          <p:spPr>
            <a:xfrm>
              <a:off x="6248400" y="1524000"/>
              <a:ext cx="5410200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21486" y="16516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主机名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53981" y="16516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反转后的行键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47270" y="2096452"/>
              <a:ext cx="1502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www.jlu.edu.cn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52370" y="2096452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cn.edu.jlu.www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24088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2413635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7270" y="2541270"/>
              <a:ext cx="1492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ccst.jlu.edu.cn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52370" y="2541270"/>
              <a:ext cx="1422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cn.edu.jlu.ccst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1524000"/>
              <a:ext cx="5410200" cy="1333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948738" y="1524000"/>
              <a:ext cx="9525" cy="1333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6248400" y="3032760"/>
            <a:ext cx="5410200" cy="1466850"/>
            <a:chOff x="6248400" y="3032760"/>
            <a:chExt cx="5410200" cy="1466850"/>
          </a:xfrm>
        </p:grpSpPr>
        <p:sp>
          <p:nvSpPr>
            <p:cNvPr id="63" name="Rectangle 63"/>
            <p:cNvSpPr/>
            <p:nvPr/>
          </p:nvSpPr>
          <p:spPr>
            <a:xfrm>
              <a:off x="6248400" y="303276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57925" y="316611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78905" y="322516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70345" y="32594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72047" y="3582352"/>
              <a:ext cx="47285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原课件第38页把反转结果写作 cn.jlu.edu.www、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cn.jlu.edu.csw。按域名逐段倒过来应为 cn.edu.jlu.www、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cn.edu.jlu.ccst（csw 是 ccst 的笔误）。</a:t>
              </a:r>
            </a:p>
          </p:txBody>
        </p:sp>
      </p:grpSp>
      <p:grpSp>
        <p:nvGrpSpPr>
          <p:cNvPr id="73" name="c2-card-3"/>
          <p:cNvGrpSpPr/>
          <p:nvPr/>
        </p:nvGrpSpPr>
        <p:grpSpPr>
          <a:xfrm>
            <a:off x="6248400" y="4674870"/>
            <a:ext cx="5410200" cy="1515428"/>
            <a:chOff x="6248400" y="4674870"/>
            <a:chExt cx="5410200" cy="1515428"/>
          </a:xfrm>
        </p:grpSpPr>
        <p:sp>
          <p:nvSpPr>
            <p:cNvPr id="69" name="Rectangle 69"/>
            <p:cNvSpPr/>
            <p:nvPr/>
          </p:nvSpPr>
          <p:spPr>
            <a:xfrm>
              <a:off x="6248400" y="4674870"/>
              <a:ext cx="5410200" cy="1515428"/>
            </a:xfrm>
            <a:prstGeom prst="roundRect">
              <a:avLst>
                <a:gd name="adj" fmla="val 879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440805" y="486727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20244" y="490156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数据本地化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33947" y="522351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反转后吉大的站点在字典序里连成一段，大概率落在同一个子表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或相邻子表，一次范围扫描、一台服务器就能处理完。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75653" cy="909257"/>
            <a:chOff x="520446" y="342900"/>
            <a:chExt cx="90756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756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顺序分布：按 key 的连续范围划分子区域，多级元数据管理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ree-1"/>
          <p:cNvGrpSpPr/>
          <p:nvPr/>
        </p:nvGrpSpPr>
        <p:grpSpPr>
          <a:xfrm>
            <a:off x="679132" y="1912620"/>
            <a:ext cx="6083618" cy="2659380"/>
            <a:chOff x="679132" y="1912620"/>
            <a:chExt cx="6083618" cy="2659380"/>
          </a:xfrm>
        </p:grpSpPr>
        <p:sp>
          <p:nvSpPr>
            <p:cNvPr id="7" name="Freeform 7"/>
            <p:cNvSpPr/>
            <p:nvPr/>
          </p:nvSpPr>
          <p:spPr>
            <a:xfrm>
              <a:off x="982028" y="3242310"/>
              <a:ext cx="447675" cy="1145858"/>
            </a:xfrm>
            <a:custGeom>
              <a:avLst/>
              <a:gdLst/>
              <a:ahLst/>
              <a:cxnLst/>
              <a:rect l="l" t="t" r="r" b="b"/>
              <a:pathLst>
                <a:path w="447675" h="1145858">
                  <a:moveTo>
                    <a:pt x="447675" y="0"/>
                  </a:moveTo>
                  <a:lnTo>
                    <a:pt x="0" y="11458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29702" y="3242310"/>
              <a:ext cx="448627" cy="1145858"/>
            </a:xfrm>
            <a:custGeom>
              <a:avLst/>
              <a:gdLst/>
              <a:ahLst/>
              <a:cxnLst/>
              <a:rect l="l" t="t" r="r" b="b"/>
              <a:pathLst>
                <a:path w="448627" h="1145858">
                  <a:moveTo>
                    <a:pt x="0" y="0"/>
                  </a:moveTo>
                  <a:lnTo>
                    <a:pt x="448627" y="11458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774632" y="3242310"/>
              <a:ext cx="896302" cy="1145858"/>
            </a:xfrm>
            <a:custGeom>
              <a:avLst/>
              <a:gdLst/>
              <a:ahLst/>
              <a:cxnLst/>
              <a:rect l="l" t="t" r="r" b="b"/>
              <a:pathLst>
                <a:path w="896302" h="1145858">
                  <a:moveTo>
                    <a:pt x="896302" y="0"/>
                  </a:moveTo>
                  <a:lnTo>
                    <a:pt x="0" y="11458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70935" y="3242310"/>
              <a:ext cx="9525" cy="1145858"/>
            </a:xfrm>
            <a:custGeom>
              <a:avLst/>
              <a:gdLst/>
              <a:ahLst/>
              <a:cxnLst/>
              <a:rect l="l" t="t" r="r" b="b"/>
              <a:pathLst>
                <a:path w="9525" h="1145858">
                  <a:moveTo>
                    <a:pt x="0" y="0"/>
                  </a:moveTo>
                  <a:lnTo>
                    <a:pt x="0" y="11458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670935" y="3242310"/>
              <a:ext cx="897255" cy="1145858"/>
            </a:xfrm>
            <a:custGeom>
              <a:avLst/>
              <a:gdLst/>
              <a:ahLst/>
              <a:cxnLst/>
              <a:rect l="l" t="t" r="r" b="b"/>
              <a:pathLst>
                <a:path w="897255" h="1145858">
                  <a:moveTo>
                    <a:pt x="0" y="0"/>
                  </a:moveTo>
                  <a:lnTo>
                    <a:pt x="897255" y="11458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464492" y="3242310"/>
              <a:ext cx="448627" cy="1145858"/>
            </a:xfrm>
            <a:custGeom>
              <a:avLst/>
              <a:gdLst/>
              <a:ahLst/>
              <a:cxnLst/>
              <a:rect l="l" t="t" r="r" b="b"/>
              <a:pathLst>
                <a:path w="448627" h="1145858">
                  <a:moveTo>
                    <a:pt x="448627" y="0"/>
                  </a:moveTo>
                  <a:lnTo>
                    <a:pt x="0" y="11458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913120" y="3242310"/>
              <a:ext cx="447675" cy="1145858"/>
            </a:xfrm>
            <a:custGeom>
              <a:avLst/>
              <a:gdLst/>
              <a:ahLst/>
              <a:cxnLst/>
              <a:rect l="l" t="t" r="r" b="b"/>
              <a:pathLst>
                <a:path w="447675" h="1145858">
                  <a:moveTo>
                    <a:pt x="0" y="0"/>
                  </a:moveTo>
                  <a:lnTo>
                    <a:pt x="447675" y="11458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429702" y="2096452"/>
              <a:ext cx="2241232" cy="1145857"/>
            </a:xfrm>
            <a:custGeom>
              <a:avLst/>
              <a:gdLst/>
              <a:ahLst/>
              <a:cxnLst/>
              <a:rect l="l" t="t" r="r" b="b"/>
              <a:pathLst>
                <a:path w="2241232" h="1145857">
                  <a:moveTo>
                    <a:pt x="2241232" y="0"/>
                  </a:moveTo>
                  <a:lnTo>
                    <a:pt x="0" y="11458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670935" y="2096452"/>
              <a:ext cx="9525" cy="1145857"/>
            </a:xfrm>
            <a:custGeom>
              <a:avLst/>
              <a:gdLst/>
              <a:ahLst/>
              <a:cxnLst/>
              <a:rect l="l" t="t" r="r" b="b"/>
              <a:pathLst>
                <a:path w="9525" h="1145857">
                  <a:moveTo>
                    <a:pt x="0" y="0"/>
                  </a:moveTo>
                  <a:lnTo>
                    <a:pt x="0" y="11458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670935" y="2096452"/>
              <a:ext cx="2242185" cy="1145857"/>
            </a:xfrm>
            <a:custGeom>
              <a:avLst/>
              <a:gdLst/>
              <a:ahLst/>
              <a:cxnLst/>
              <a:rect l="l" t="t" r="r" b="b"/>
              <a:pathLst>
                <a:path w="2242185" h="1145857">
                  <a:moveTo>
                    <a:pt x="0" y="0"/>
                  </a:moveTo>
                  <a:lnTo>
                    <a:pt x="2242185" y="11458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79132" y="4203382"/>
              <a:ext cx="60579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476375" y="4203382"/>
              <a:ext cx="80391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81100" y="3057525"/>
              <a:ext cx="497205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372678" y="4203382"/>
              <a:ext cx="80391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269932" y="4203382"/>
              <a:ext cx="80391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166235" y="4203382"/>
              <a:ext cx="80391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422332" y="3057525"/>
              <a:ext cx="497205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062538" y="4203382"/>
              <a:ext cx="80391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58840" y="4203382"/>
              <a:ext cx="803910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663565" y="3057525"/>
              <a:ext cx="497205" cy="368618"/>
            </a:xfrm>
            <a:prstGeom prst="roundRect">
              <a:avLst>
                <a:gd name="adj" fmla="val 2067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59468" y="1912620"/>
              <a:ext cx="623888" cy="368618"/>
            </a:xfrm>
            <a:prstGeom prst="roundRect">
              <a:avLst>
                <a:gd name="adj" fmla="val 20672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7359" y="4331970"/>
              <a:ext cx="429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1–1000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58708" y="4331970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1001–2000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0121" y="3186112"/>
              <a:ext cx="3191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55011" y="4331970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2001–3000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51313" y="4331970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3001–4000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48568" y="4331970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4001–5000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11353" y="3186112"/>
              <a:ext cx="3191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44871" y="4331970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5001–6000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41173" y="4331970"/>
              <a:ext cx="6392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6001–7000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53538" y="3186112"/>
              <a:ext cx="3191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44323" y="2041208"/>
              <a:ext cx="4532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Root 表</a:t>
              </a:r>
            </a:p>
          </p:txBody>
        </p:sp>
      </p:grpSp>
      <p:grpSp>
        <p:nvGrpSpPr>
          <p:cNvPr id="41" name="c1-text-2"/>
          <p:cNvGrpSpPr/>
          <p:nvPr/>
        </p:nvGrpSpPr>
        <p:grpSpPr>
          <a:xfrm>
            <a:off x="527685" y="5148739"/>
            <a:ext cx="5885942" cy="441008"/>
            <a:chOff x="527685" y="5148739"/>
            <a:chExt cx="5885942" cy="441008"/>
          </a:xfrm>
        </p:grpSpPr>
        <p:sp>
          <p:nvSpPr>
            <p:cNvPr id="40" name="TextBox 40"/>
            <p:cNvSpPr txBox="1"/>
            <p:nvPr/>
          </p:nvSpPr>
          <p:spPr>
            <a:xfrm>
              <a:off x="527685" y="5148739"/>
              <a:ext cx="5885942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图据原课件第39页：Root 表 → Meta 表（可选）→ User 表，User 表每个方框是一个子表，数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字是它的行键范围。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7114222" y="1524000"/>
            <a:ext cx="4544378" cy="2085975"/>
            <a:chOff x="7114222" y="1524000"/>
            <a:chExt cx="4544378" cy="2085975"/>
          </a:xfrm>
        </p:grpSpPr>
        <p:sp>
          <p:nvSpPr>
            <p:cNvPr id="42" name="Rectangle 42"/>
            <p:cNvSpPr/>
            <p:nvPr/>
          </p:nvSpPr>
          <p:spPr>
            <a:xfrm>
              <a:off x="7114222" y="1524000"/>
              <a:ext cx="4544378" cy="2085975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23748" y="1657350"/>
              <a:ext cx="47625" cy="18192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39012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23582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顺序分布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47585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03604" y="205454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大的数据表按行的连续范围顺序分成子表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47585" y="24117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03604" y="2355532"/>
              <a:ext cx="36998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数据按照 key 排序，按 key 值连续范围划分成子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区域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347585" y="29689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03604" y="291274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子区域单独管理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347585" y="326898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03604" y="321278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有子区域元数据和全局元数据两级</a:t>
              </a:r>
            </a:p>
          </p:txBody>
        </p:sp>
      </p:grpSp>
      <p:grpSp>
        <p:nvGrpSpPr>
          <p:cNvPr id="66" name="c2-kv-2"/>
          <p:cNvGrpSpPr/>
          <p:nvPr/>
        </p:nvGrpSpPr>
        <p:grpSpPr>
          <a:xfrm>
            <a:off x="7107364" y="3802380"/>
            <a:ext cx="4551236" cy="1441323"/>
            <a:chOff x="7107364" y="3802380"/>
            <a:chExt cx="4551236" cy="1441323"/>
          </a:xfrm>
        </p:grpSpPr>
        <p:sp>
          <p:nvSpPr>
            <p:cNvPr id="55" name="TextBox 55"/>
            <p:cNvSpPr txBox="1"/>
            <p:nvPr/>
          </p:nvSpPr>
          <p:spPr>
            <a:xfrm>
              <a:off x="7107364" y="380238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每个子表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47507" y="3802380"/>
              <a:ext cx="1060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100–200 MB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114222" y="408908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07364" y="41948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每台服务器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47507" y="4194810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10–1000 个子表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114222" y="448151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07364" y="458724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子表太大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47507" y="458724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分裂成两个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114222" y="487394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07364" y="49796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子表太小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47507" y="497967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与相邻子表合并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7114222" y="5360670"/>
            <a:ext cx="4544378" cy="978218"/>
            <a:chOff x="7114222" y="5360670"/>
            <a:chExt cx="4544378" cy="978218"/>
          </a:xfrm>
        </p:grpSpPr>
        <p:sp>
          <p:nvSpPr>
            <p:cNvPr id="67" name="Rectangle 67"/>
            <p:cNvSpPr/>
            <p:nvPr/>
          </p:nvSpPr>
          <p:spPr>
            <a:xfrm>
              <a:off x="7114222" y="5360670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19010" y="5749290"/>
              <a:ext cx="200026" cy="200025"/>
              <a:chOff x="7319010" y="5749290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19010" y="57492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358749" y="57937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393464" y="59048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621714" y="5506402"/>
              <a:ext cx="348557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和一致性哈希不同，顺序分布保留了 key 的顺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序，所以能做范围扫描（对比见第3部分第43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页）。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24239" cy="909257"/>
            <a:chOff x="520446" y="342900"/>
            <a:chExt cx="86242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242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例题：一台子表服务器坏了，100 台机器各分担一个子表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842635" cy="1602105"/>
            <a:chOff x="533400" y="1524000"/>
            <a:chExt cx="5842635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65354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8448" y="1769269"/>
              <a:ext cx="1542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题目（原课件第40页）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台子表服务器，每台 100 个子表，每个子表按 150 MB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算。一台服务器宕机后，它的子表怎样重新分配？每台服务器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多承担多少？</a:t>
              </a:r>
            </a:p>
          </p:txBody>
        </p:sp>
      </p:grpSp>
      <p:grpSp>
        <p:nvGrpSpPr>
          <p:cNvPr id="29" name="c1-steps-2"/>
          <p:cNvGrpSpPr/>
          <p:nvPr/>
        </p:nvGrpSpPr>
        <p:grpSpPr>
          <a:xfrm>
            <a:off x="533400" y="3326130"/>
            <a:ext cx="5619369" cy="2764440"/>
            <a:chOff x="533400" y="3326130"/>
            <a:chExt cx="5619369" cy="2764440"/>
          </a:xfrm>
        </p:grpSpPr>
        <p:sp>
          <p:nvSpPr>
            <p:cNvPr id="12" name="Rectangle 12"/>
            <p:cNvSpPr/>
            <p:nvPr/>
          </p:nvSpPr>
          <p:spPr>
            <a:xfrm>
              <a:off x="666750" y="3469005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33400" y="332613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3999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39766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6272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701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551307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55868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33604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要接管的量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654266"/>
              <a:ext cx="32314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个子表，约 100 × 150 MB ≈ 14.6 GB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4010978"/>
              <a:ext cx="1385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分给其余 99 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4304824"/>
              <a:ext cx="3605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= 99 × 1 + 1：98 台各接 1 个，1 台接 2 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466153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每台多出的负载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955381"/>
              <a:ext cx="52067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100 个子表变成 101 个，只多 1%；每台只需恢复约 150 MB 的一个子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55473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并行恢复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5841206"/>
              <a:ext cx="50789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 台同时各恢复自己那一份，恢复时间约等于恢复一个子表的时间</a:t>
              </a:r>
            </a:p>
          </p:txBody>
        </p:sp>
      </p:grpSp>
      <p:grpSp>
        <p:nvGrpSpPr>
          <p:cNvPr id="50" name="c2-compare-1"/>
          <p:cNvGrpSpPr/>
          <p:nvPr/>
        </p:nvGrpSpPr>
        <p:grpSpPr>
          <a:xfrm>
            <a:off x="6680835" y="1524000"/>
            <a:ext cx="4977765" cy="2560320"/>
            <a:chOff x="6680835" y="1524000"/>
            <a:chExt cx="4977765" cy="2560320"/>
          </a:xfrm>
        </p:grpSpPr>
        <p:sp>
          <p:nvSpPr>
            <p:cNvPr id="30" name="Rectangle 30"/>
            <p:cNvSpPr/>
            <p:nvPr/>
          </p:nvSpPr>
          <p:spPr>
            <a:xfrm>
              <a:off x="6680835" y="1524000"/>
              <a:ext cx="2241232" cy="2560320"/>
            </a:xfrm>
            <a:prstGeom prst="roundRect">
              <a:avLst>
                <a:gd name="adj" fmla="val 59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90360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20865" y="17583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子表多而小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934200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92315" y="211264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故障后的负载能摊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到全体服务器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34200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92315" y="273367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恢复并行进行，很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快完成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934200" y="34175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92315" y="335470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过载时迁移单位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小，调得细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417368" y="1524000"/>
              <a:ext cx="2241232" cy="2560320"/>
            </a:xfrm>
            <a:prstGeom prst="roundRect">
              <a:avLst>
                <a:gd name="adj" fmla="val 59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426892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657398" y="17583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每台一大块数据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670732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28848" y="211264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只能由一台备机整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体接手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670732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28848" y="273367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备机要一个人恢复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14.6 GB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670732" y="34175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28848" y="335470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负载只能整块搬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969692" y="260413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23032" y="27384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680835" y="4274820"/>
            <a:ext cx="4977765" cy="1803082"/>
            <a:chOff x="6680835" y="4274820"/>
            <a:chExt cx="4977765" cy="1803082"/>
          </a:xfrm>
        </p:grpSpPr>
        <p:sp>
          <p:nvSpPr>
            <p:cNvPr id="51" name="Rectangle 51"/>
            <p:cNvSpPr/>
            <p:nvPr/>
          </p:nvSpPr>
          <p:spPr>
            <a:xfrm>
              <a:off x="6680835" y="4274820"/>
              <a:ext cx="4977765" cy="1803082"/>
            </a:xfrm>
            <a:prstGeom prst="roundRect">
              <a:avLst>
                <a:gd name="adj" fmla="val 739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90385" y="448437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72694" y="45200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负载均衡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82765" y="4861560"/>
              <a:ext cx="42348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过载机器上的子表被迁移到其他机器，由主节点制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定负载均衡决策。这就是每台服务器要存 10–1000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个子表的原因。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1208" y="342900"/>
            <a:ext cx="11289632" cy="896112"/>
            <a:chOff x="521208" y="342900"/>
            <a:chExt cx="11289632" cy="896112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1208" y="769620"/>
              <a:ext cx="112896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三种表：用户表存数据，METADATA 存子表位置，Root 存 METADATA 的位置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6059805" cy="2361248"/>
            <a:chOff x="533400" y="1524000"/>
            <a:chExt cx="6059805" cy="23612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7516" y="16454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95460" y="16454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41672" y="164544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它自己的位置记在哪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6935" y="206549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60436" y="20654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用户数据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7450" y="2065496"/>
              <a:ext cx="10773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METADATA 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593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64105"/>
              <a:ext cx="6059805" cy="87344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6935" y="2598896"/>
              <a:ext cx="798119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元数据表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METADATA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60436" y="2485549"/>
              <a:ext cx="245135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关于用户表的元数据：子表位置、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 号、操作日志文件号、日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志回放点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47450" y="2712244"/>
              <a:ext cx="6221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Root 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337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6935" y="3472339"/>
              <a:ext cx="816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根表 Root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60436" y="34723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关于元数据表的元数据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663440" y="3248025"/>
              <a:ext cx="1920240" cy="6276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47450" y="3358991"/>
              <a:ext cx="1516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 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 引导信息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6059805" cy="23612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62138" y="1524000"/>
              <a:ext cx="9525" cy="2361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49152" y="1524000"/>
              <a:ext cx="9525" cy="2361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rd-2"/>
          <p:cNvGrpSpPr/>
          <p:nvPr/>
        </p:nvGrpSpPr>
        <p:grpSpPr>
          <a:xfrm>
            <a:off x="533400" y="4050030"/>
            <a:ext cx="6059805" cy="1143952"/>
            <a:chOff x="533400" y="4050030"/>
            <a:chExt cx="6059805" cy="1143952"/>
          </a:xfrm>
        </p:grpSpPr>
        <p:sp>
          <p:nvSpPr>
            <p:cNvPr id="28" name="Rectangle 28"/>
            <p:cNvSpPr/>
            <p:nvPr/>
          </p:nvSpPr>
          <p:spPr>
            <a:xfrm>
              <a:off x="533400" y="4050030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4375" y="423100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4644" y="426386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根表的元数据放哪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7898" y="4570571"/>
              <a:ext cx="5377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这一串「元数据的元数据」必须在某处停下。Bigtable 把 Root 子表的位置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写进 Chubby 的一个文件，Chubby 本身高可用，客户端从它开始找。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5358765"/>
            <a:ext cx="6059805" cy="702945"/>
            <a:chOff x="533400" y="5358765"/>
            <a:chExt cx="6059805" cy="702945"/>
          </a:xfrm>
        </p:grpSpPr>
        <p:sp>
          <p:nvSpPr>
            <p:cNvPr id="33" name="Rectangle 33"/>
            <p:cNvSpPr/>
            <p:nvPr/>
          </p:nvSpPr>
          <p:spPr>
            <a:xfrm>
              <a:off x="533400" y="5358765"/>
              <a:ext cx="605980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610225"/>
              <a:ext cx="200026" cy="200025"/>
              <a:chOff x="738188" y="561022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6102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56546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57658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5504021"/>
              <a:ext cx="51173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METADATA 表也是一张普通的 Bigtable 表，同样按行排序、切成子表，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存在子表服务器上。</a:t>
              </a:r>
            </a:p>
          </p:txBody>
        </p:sp>
      </p:grpSp>
      <p:grpSp>
        <p:nvGrpSpPr>
          <p:cNvPr id="42" name="c2-image-1"/>
          <p:cNvGrpSpPr/>
          <p:nvPr/>
        </p:nvGrpSpPr>
        <p:grpSpPr>
          <a:xfrm>
            <a:off x="6898005" y="1524000"/>
            <a:ext cx="4760595" cy="3853529"/>
            <a:chOff x="6898005" y="1524000"/>
            <a:chExt cx="4760595" cy="3853529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5562" t="0" r="5561" b="0"/>
            <a:stretch>
              <a:fillRect/>
            </a:stretch>
          </p:blipFill>
          <p:spPr>
            <a:xfrm>
              <a:off x="6898005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7624254" y="5186839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图书馆目录柜：总目录指向抽屉，抽屉里的卡片指向书架</a:t>
              </a:r>
            </a:p>
          </p:txBody>
        </p:sp>
      </p:grpSp>
      <p:grpSp>
        <p:nvGrpSpPr>
          <p:cNvPr id="44" name="c2-text-2"/>
          <p:cNvGrpSpPr/>
          <p:nvPr/>
        </p:nvGrpSpPr>
        <p:grpSpPr>
          <a:xfrm>
            <a:off x="6892671" y="5992178"/>
            <a:ext cx="4197858" cy="412052"/>
            <a:chOff x="6892671" y="5992178"/>
            <a:chExt cx="4197858" cy="412052"/>
          </a:xfrm>
        </p:grpSpPr>
        <p:sp>
          <p:nvSpPr>
            <p:cNvPr id="43" name="TextBox 43"/>
            <p:cNvSpPr txBox="1"/>
            <p:nvPr/>
          </p:nvSpPr>
          <p:spPr>
            <a:xfrm>
              <a:off x="6892671" y="5992178"/>
              <a:ext cx="4197858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原课件第41页用图书馆卡片目录的照片作比：用户表是书架上的书，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METADATA 表是抽屉里的卡片，Root 表是告诉你去哪个抽屉的总目录。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56418" cy="909257"/>
            <a:chOff x="520446" y="342900"/>
            <a:chExt cx="97564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564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定位子表：问 Master 会成瓶颈，于是把位置信息也存成一张表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4977765" cy="1602105"/>
            <a:chOff x="533400" y="1524000"/>
            <a:chExt cx="4977765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65354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8448" y="1769269"/>
              <a:ext cx="1542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问题（原课件第43页）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怎样知道某一行存在集群中哪台机器上？子表的属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性是起始行和终止行，所以先找到行所在的子表，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再在子表里找行。</a:t>
              </a:r>
            </a:p>
          </p:txBody>
        </p:sp>
      </p:grpSp>
      <p:grpSp>
        <p:nvGrpSpPr>
          <p:cNvPr id="32" name="c1-compare-2"/>
          <p:cNvGrpSpPr/>
          <p:nvPr/>
        </p:nvGrpSpPr>
        <p:grpSpPr>
          <a:xfrm>
            <a:off x="533400" y="3316605"/>
            <a:ext cx="4977764" cy="2560320"/>
            <a:chOff x="533400" y="3316605"/>
            <a:chExt cx="4977764" cy="2560320"/>
          </a:xfrm>
        </p:grpSpPr>
        <p:sp>
          <p:nvSpPr>
            <p:cNvPr id="12" name="Rectangle 12"/>
            <p:cNvSpPr/>
            <p:nvPr/>
          </p:nvSpPr>
          <p:spPr>
            <a:xfrm>
              <a:off x="533400" y="3316605"/>
              <a:ext cx="2241232" cy="2560320"/>
            </a:xfrm>
            <a:prstGeom prst="roundRect">
              <a:avLst>
                <a:gd name="adj" fmla="val 59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3449955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3430" y="355092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方案一：问主节点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9681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9052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实现简单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3033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424053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所有读写都要先问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9244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861560"/>
              <a:ext cx="1501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成为性能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瓶颈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269932" y="3316605"/>
              <a:ext cx="2241232" cy="2560320"/>
            </a:xfrm>
            <a:prstGeom prst="roundRect">
              <a:avLst>
                <a:gd name="adj" fmla="val 59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279458" y="3449955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09962" y="355092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方案二：元数据表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3523298" y="39681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81412" y="390525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子表位置存成元数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据表格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3523298" y="45891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81412" y="452628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与其他表一样存在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里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3523298" y="52101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81412" y="514731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位置信息也分布到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多台服务器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2822258" y="439674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875598" y="453104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选二</a:t>
              </a:r>
            </a:p>
          </p:txBody>
        </p:sp>
      </p:grpSp>
      <p:grpSp>
        <p:nvGrpSpPr>
          <p:cNvPr id="50" name="c2-steps-1"/>
          <p:cNvGrpSpPr/>
          <p:nvPr/>
        </p:nvGrpSpPr>
        <p:grpSpPr>
          <a:xfrm>
            <a:off x="5815965" y="1533525"/>
            <a:ext cx="5797860" cy="2764440"/>
            <a:chOff x="5815965" y="1533525"/>
            <a:chExt cx="5797860" cy="2764440"/>
          </a:xfrm>
        </p:grpSpPr>
        <p:sp>
          <p:nvSpPr>
            <p:cNvPr id="33" name="Rectangle 33"/>
            <p:cNvSpPr/>
            <p:nvPr/>
          </p:nvSpPr>
          <p:spPr>
            <a:xfrm>
              <a:off x="5949315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15965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0958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815965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958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815965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09589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7445" y="1567815"/>
              <a:ext cx="15711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层：Chubby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8588" y="1861661"/>
              <a:ext cx="52067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Chubby 读 bootstrap 文件，得到一级元数据（Root 表）所在服务器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IP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7445" y="2453640"/>
              <a:ext cx="16043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层：Root 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8588" y="2746534"/>
              <a:ext cx="53852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用一级元数据查出要找的二级元数据子表（METADATA 表的某个子表）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27445" y="3104198"/>
              <a:ext cx="2164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层：METADATA 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8588" y="339709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用二级元数据表查出目标表的目标子表在哪台服务器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7445" y="37547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读数据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8588" y="404860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直接连那台子表服务器读写这一行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5815965" y="4475798"/>
            <a:ext cx="5842635" cy="1401128"/>
            <a:chOff x="5815965" y="4475798"/>
            <a:chExt cx="5842635" cy="1401128"/>
          </a:xfrm>
        </p:grpSpPr>
        <p:sp>
          <p:nvSpPr>
            <p:cNvPr id="51" name="Rectangle 51"/>
            <p:cNvSpPr/>
            <p:nvPr/>
          </p:nvSpPr>
          <p:spPr>
            <a:xfrm>
              <a:off x="5815965" y="4475798"/>
              <a:ext cx="5842635" cy="1401128"/>
            </a:xfrm>
            <a:prstGeom prst="roundRect">
              <a:avLst>
                <a:gd name="adj" fmla="val 815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20753" y="5076825"/>
              <a:ext cx="200026" cy="200026"/>
              <a:chOff x="6020753" y="5076825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020753" y="50768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120765" y="5143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109653" y="51768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322695" y="4795838"/>
              <a:ext cx="4911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二级元数据表（METADATA）也可以分裂成多个子表；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Root 表是 METADATA 的第一个子表，永远不分裂，所以层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数固定为三层。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983814" cy="909257"/>
            <a:chOff x="520446" y="342900"/>
            <a:chExt cx="109838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9838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三层定位像一棵 B+ 树：Chubby 文件 → Root → METADATA → 用户子表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graph-1"/>
          <p:cNvGrpSpPr/>
          <p:nvPr/>
        </p:nvGrpSpPr>
        <p:grpSpPr>
          <a:xfrm>
            <a:off x="710565" y="1662112"/>
            <a:ext cx="5599747" cy="3205163"/>
            <a:chOff x="710565" y="1662112"/>
            <a:chExt cx="5599747" cy="3205163"/>
          </a:xfrm>
        </p:grpSpPr>
        <p:sp>
          <p:nvSpPr>
            <p:cNvPr id="7" name="Freeform 7"/>
            <p:cNvSpPr/>
            <p:nvPr/>
          </p:nvSpPr>
          <p:spPr>
            <a:xfrm>
              <a:off x="1325880" y="3265170"/>
              <a:ext cx="443865" cy="9525"/>
            </a:xfrm>
            <a:custGeom>
              <a:avLst/>
              <a:gdLst/>
              <a:ahLst/>
              <a:cxnLst/>
              <a:rect l="l" t="t" r="r" b="b"/>
              <a:pathLst>
                <a:path w="443865" h="9525">
                  <a:moveTo>
                    <a:pt x="0" y="0"/>
                  </a:moveTo>
                  <a:lnTo>
                    <a:pt x="4438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69745" y="32175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977515" y="2312670"/>
              <a:ext cx="908685" cy="612458"/>
            </a:xfrm>
            <a:custGeom>
              <a:avLst/>
              <a:gdLst/>
              <a:ahLst/>
              <a:cxnLst/>
              <a:rect l="l" t="t" r="r" b="b"/>
              <a:pathLst>
                <a:path w="908685" h="612458">
                  <a:moveTo>
                    <a:pt x="0" y="612458"/>
                  </a:moveTo>
                  <a:lnTo>
                    <a:pt x="9086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59530" y="2259330"/>
              <a:ext cx="105728" cy="92393"/>
            </a:xfrm>
            <a:custGeom>
              <a:avLst/>
              <a:gdLst/>
              <a:ahLst/>
              <a:cxnLst/>
              <a:rect l="l" t="t" r="r" b="b"/>
              <a:pathLst>
                <a:path w="105728" h="92393">
                  <a:moveTo>
                    <a:pt x="105728" y="0"/>
                  </a:moveTo>
                  <a:lnTo>
                    <a:pt x="53340" y="92393"/>
                  </a:lnTo>
                  <a:lnTo>
                    <a:pt x="0" y="133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79432" y="3265170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27108" y="32175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977515" y="3604260"/>
              <a:ext cx="908685" cy="612458"/>
            </a:xfrm>
            <a:custGeom>
              <a:avLst/>
              <a:gdLst/>
              <a:ahLst/>
              <a:cxnLst/>
              <a:rect l="l" t="t" r="r" b="b"/>
              <a:pathLst>
                <a:path w="908685" h="612458">
                  <a:moveTo>
                    <a:pt x="0" y="0"/>
                  </a:moveTo>
                  <a:lnTo>
                    <a:pt x="908685" y="6124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59530" y="4177665"/>
              <a:ext cx="105728" cy="92392"/>
            </a:xfrm>
            <a:custGeom>
              <a:avLst/>
              <a:gdLst/>
              <a:ahLst/>
              <a:cxnLst/>
              <a:rect l="l" t="t" r="r" b="b"/>
              <a:pathLst>
                <a:path w="105728" h="92392">
                  <a:moveTo>
                    <a:pt x="105728" y="92392"/>
                  </a:moveTo>
                  <a:lnTo>
                    <a:pt x="0" y="79057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836795" y="1868805"/>
              <a:ext cx="732473" cy="116205"/>
            </a:xfrm>
            <a:custGeom>
              <a:avLst/>
              <a:gdLst/>
              <a:ahLst/>
              <a:cxnLst/>
              <a:rect l="l" t="t" r="r" b="b"/>
              <a:pathLst>
                <a:path w="732473" h="116205">
                  <a:moveTo>
                    <a:pt x="0" y="116205"/>
                  </a:moveTo>
                  <a:lnTo>
                    <a:pt x="73247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561648" y="1822132"/>
              <a:ext cx="100965" cy="93345"/>
            </a:xfrm>
            <a:custGeom>
              <a:avLst/>
              <a:gdLst/>
              <a:ahLst/>
              <a:cxnLst/>
              <a:rect l="l" t="t" r="r" b="b"/>
              <a:pathLst>
                <a:path w="100965" h="93345">
                  <a:moveTo>
                    <a:pt x="100965" y="31432"/>
                  </a:moveTo>
                  <a:lnTo>
                    <a:pt x="14288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836795" y="2225040"/>
              <a:ext cx="733425" cy="174308"/>
            </a:xfrm>
            <a:custGeom>
              <a:avLst/>
              <a:gdLst/>
              <a:ahLst/>
              <a:cxnLst/>
              <a:rect l="l" t="t" r="r" b="b"/>
              <a:pathLst>
                <a:path w="733425" h="174308">
                  <a:moveTo>
                    <a:pt x="0" y="0"/>
                  </a:moveTo>
                  <a:lnTo>
                    <a:pt x="733425" y="1743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559742" y="2353628"/>
              <a:ext cx="102870" cy="92393"/>
            </a:xfrm>
            <a:custGeom>
              <a:avLst/>
              <a:gdLst/>
              <a:ahLst/>
              <a:cxnLst/>
              <a:rect l="l" t="t" r="r" b="b"/>
              <a:pathLst>
                <a:path w="102870" h="92393">
                  <a:moveTo>
                    <a:pt x="102870" y="68580"/>
                  </a:moveTo>
                  <a:lnTo>
                    <a:pt x="0" y="92393"/>
                  </a:lnTo>
                  <a:lnTo>
                    <a:pt x="2190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836795" y="4130040"/>
              <a:ext cx="733425" cy="174307"/>
            </a:xfrm>
            <a:custGeom>
              <a:avLst/>
              <a:gdLst/>
              <a:ahLst/>
              <a:cxnLst/>
              <a:rect l="l" t="t" r="r" b="b"/>
              <a:pathLst>
                <a:path w="733425" h="174307">
                  <a:moveTo>
                    <a:pt x="0" y="174307"/>
                  </a:moveTo>
                  <a:lnTo>
                    <a:pt x="7334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59742" y="4083368"/>
              <a:ext cx="102870" cy="92392"/>
            </a:xfrm>
            <a:custGeom>
              <a:avLst/>
              <a:gdLst/>
              <a:ahLst/>
              <a:cxnLst/>
              <a:rect l="l" t="t" r="r" b="b"/>
              <a:pathLst>
                <a:path w="102870" h="92392">
                  <a:moveTo>
                    <a:pt x="102870" y="23812"/>
                  </a:moveTo>
                  <a:lnTo>
                    <a:pt x="21907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836795" y="4544378"/>
              <a:ext cx="732473" cy="116205"/>
            </a:xfrm>
            <a:custGeom>
              <a:avLst/>
              <a:gdLst/>
              <a:ahLst/>
              <a:cxnLst/>
              <a:rect l="l" t="t" r="r" b="b"/>
              <a:pathLst>
                <a:path w="732473" h="116205">
                  <a:moveTo>
                    <a:pt x="0" y="0"/>
                  </a:moveTo>
                  <a:lnTo>
                    <a:pt x="732473" y="1162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561648" y="4613910"/>
              <a:ext cx="100965" cy="93345"/>
            </a:xfrm>
            <a:custGeom>
              <a:avLst/>
              <a:gdLst/>
              <a:ahLst/>
              <a:cxnLst/>
              <a:rect l="l" t="t" r="r" b="b"/>
              <a:pathLst>
                <a:path w="100965" h="93345">
                  <a:moveTo>
                    <a:pt x="100965" y="61912"/>
                  </a:moveTo>
                  <a:lnTo>
                    <a:pt x="0" y="93345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0565" y="3021330"/>
              <a:ext cx="615315" cy="485775"/>
            </a:xfrm>
            <a:prstGeom prst="roundRect">
              <a:avLst>
                <a:gd name="adj" fmla="val 19608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64995" y="2925128"/>
              <a:ext cx="1214438" cy="680085"/>
            </a:xfrm>
            <a:prstGeom prst="roundRect">
              <a:avLst>
                <a:gd name="adj" fmla="val 1400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22358" y="1903095"/>
              <a:ext cx="1214438" cy="356235"/>
            </a:xfrm>
            <a:prstGeom prst="roundRect">
              <a:avLst>
                <a:gd name="adj" fmla="val 2673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622358" y="3087052"/>
              <a:ext cx="1214438" cy="356235"/>
            </a:xfrm>
            <a:prstGeom prst="roundRect">
              <a:avLst>
                <a:gd name="adj" fmla="val 2673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22358" y="4270058"/>
              <a:ext cx="1214438" cy="356235"/>
            </a:xfrm>
            <a:prstGeom prst="roundRect">
              <a:avLst>
                <a:gd name="adj" fmla="val 26738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662612" y="1662112"/>
              <a:ext cx="647700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662612" y="2358390"/>
              <a:ext cx="647700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662612" y="3890962"/>
              <a:ext cx="647700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662612" y="4587240"/>
              <a:ext cx="647700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5688" y="3115628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Chubby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1538" y="32823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37856" y="3032760"/>
              <a:ext cx="669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Root 子表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69989" y="3199448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（第 1 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71121" y="3366135"/>
              <a:ext cx="1203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METADATA 子表）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99159" y="2015490"/>
              <a:ext cx="1061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METADATA 子表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99159" y="3199448"/>
              <a:ext cx="1061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METADATA 子表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99159" y="4383405"/>
              <a:ext cx="1061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METADATA 子表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98427" y="17373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用户子表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98427" y="243363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用户子表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98427" y="396525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用户子表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98427" y="466153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用户子表</a:t>
              </a:r>
            </a:p>
          </p:txBody>
        </p:sp>
      </p:grpSp>
      <p:grpSp>
        <p:nvGrpSpPr>
          <p:cNvPr id="46" name="c1-text-2"/>
          <p:cNvGrpSpPr/>
          <p:nvPr/>
        </p:nvGrpSpPr>
        <p:grpSpPr>
          <a:xfrm>
            <a:off x="528066" y="5187315"/>
            <a:ext cx="5724716" cy="412052"/>
            <a:chOff x="528066" y="5187315"/>
            <a:chExt cx="5724716" cy="412052"/>
          </a:xfrm>
        </p:grpSpPr>
        <p:sp>
          <p:nvSpPr>
            <p:cNvPr id="45" name="TextBox 45"/>
            <p:cNvSpPr txBox="1"/>
            <p:nvPr/>
          </p:nvSpPr>
          <p:spPr>
            <a:xfrm>
              <a:off x="528066" y="5187315"/>
              <a:ext cx="5724716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图据原课件第45页（Bigtable 论文图 4）重画。原课件称三层分层机制为 O(1)：不论表多大，都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只查固定的三层。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formula13"/>
              <p:cNvSpPr txBox="1">
                <a:spLocks noGrp="1"/>
              </p:cNvSpPr>
              <p:nvPr/>
            </p:nvSpPr>
            <p:spPr>
              <a:xfrm>
                <a:off x="6898005" y="1524000"/>
                <a:ext cx="476059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nor m:val="on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table_ID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m:rPr>
                              <m:nor m:val="on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end_row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r>
                        <m:rPr>
                          <m:nor m:val="on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location of tablet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3" name="c2-table-2"/>
          <p:cNvGrpSpPr/>
          <p:nvPr/>
        </p:nvGrpSpPr>
        <p:grpSpPr>
          <a:xfrm>
            <a:off x="6898005" y="1974532"/>
            <a:ext cx="4760595" cy="1525905"/>
            <a:chOff x="6898005" y="1974532"/>
            <a:chExt cx="4760595" cy="1525905"/>
          </a:xfrm>
        </p:grpSpPr>
        <p:sp>
          <p:nvSpPr>
            <p:cNvPr id="48" name="Rectangle 48"/>
            <p:cNvSpPr/>
            <p:nvPr/>
          </p:nvSpPr>
          <p:spPr>
            <a:xfrm>
              <a:off x="6898005" y="1974532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55404" y="2091690"/>
              <a:ext cx="20360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METADATA 行键（表, 结束行）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65689" y="20916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子表位置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92684" y="2473643"/>
              <a:ext cx="1893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Webtable, cn.edu.jlu.mail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944481" y="2473643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 A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898005" y="27327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98005" y="273748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07530" y="2747010"/>
              <a:ext cx="293274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2684" y="2854643"/>
              <a:ext cx="19086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Webtable, com.cnn.money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44481" y="2854643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 B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898005" y="31137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92684" y="3235643"/>
              <a:ext cx="15177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Webtable, +∞（表尾）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44481" y="3235643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 C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898005" y="1974532"/>
              <a:ext cx="476059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845040" y="197453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card-3"/>
          <p:cNvGrpSpPr/>
          <p:nvPr/>
        </p:nvGrpSpPr>
        <p:grpSpPr>
          <a:xfrm>
            <a:off x="6898005" y="3665220"/>
            <a:ext cx="4760595" cy="1629728"/>
            <a:chOff x="6898005" y="3665220"/>
            <a:chExt cx="4760595" cy="1629728"/>
          </a:xfrm>
        </p:grpSpPr>
        <p:sp>
          <p:nvSpPr>
            <p:cNvPr id="64" name="Rectangle 64"/>
            <p:cNvSpPr/>
            <p:nvPr/>
          </p:nvSpPr>
          <p:spPr>
            <a:xfrm>
              <a:off x="6898005" y="3665220"/>
              <a:ext cx="4760595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907530" y="3798570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117080" y="384619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212851" y="387905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110603" y="4185761"/>
              <a:ext cx="419887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找行键 cn.edu.jlu.www：找第一个结束行 ≥ 它的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METADATA 行。cn.edu.jlu.www 大于 cn.edu.jlu.mail、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小于 com.cnn.money（第二个字符 n &lt; o），所以去服务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 B。</a:t>
              </a:r>
            </a:p>
          </p:txBody>
        </p:sp>
      </p:grpSp>
      <p:grpSp>
        <p:nvGrpSpPr>
          <p:cNvPr id="76" name="c2-callout-4"/>
          <p:cNvGrpSpPr/>
          <p:nvPr/>
        </p:nvGrpSpPr>
        <p:grpSpPr>
          <a:xfrm>
            <a:off x="6898005" y="5459730"/>
            <a:ext cx="4760595" cy="702945"/>
            <a:chOff x="6898005" y="5459730"/>
            <a:chExt cx="4760595" cy="702945"/>
          </a:xfrm>
        </p:grpSpPr>
        <p:sp>
          <p:nvSpPr>
            <p:cNvPr id="70" name="Rectangle 70"/>
            <p:cNvSpPr/>
            <p:nvPr/>
          </p:nvSpPr>
          <p:spPr>
            <a:xfrm>
              <a:off x="6898005" y="5459730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102793" y="5711190"/>
              <a:ext cx="200026" cy="200025"/>
              <a:chOff x="7102793" y="5711190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102793" y="57111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142531" y="57556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177247" y="58667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7405878" y="5604034"/>
              <a:ext cx="37762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客户端会缓存子表位置。缓存为空时要 3 次网络往返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（含 1 次读 Chubby）；缓存过期时最多 6 次。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68164" cy="909257"/>
            <a:chOff x="520446" y="342900"/>
            <a:chExt cx="95681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数据分布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681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例题：128 MB 的元数据子表、每行 1 KB，三层能管 2⁶¹ 字节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842635" cy="1316355"/>
            <a:chOff x="533400" y="1524000"/>
            <a:chExt cx="5842635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65354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8448" y="1769269"/>
              <a:ext cx="1542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题目（原课件第46页）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5053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子表大小 128 MB，每个子表的元数据（METADATA 的一行）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 KB。一级、二级元数据分别能支持多少数据量？</a:t>
              </a:r>
            </a:p>
          </p:txBody>
        </p:sp>
      </p:grpSp>
      <p:grpSp>
        <p:nvGrpSpPr>
          <p:cNvPr id="29" name="c1-steps-2"/>
          <p:cNvGrpSpPr/>
          <p:nvPr/>
        </p:nvGrpSpPr>
        <p:grpSpPr>
          <a:xfrm>
            <a:off x="533400" y="3040380"/>
            <a:ext cx="5578729" cy="2764440"/>
            <a:chOff x="533400" y="3040380"/>
            <a:chExt cx="5578729" cy="2764440"/>
          </a:xfrm>
        </p:grpSpPr>
        <p:sp>
          <p:nvSpPr>
            <p:cNvPr id="12" name="Rectangle 12"/>
            <p:cNvSpPr/>
            <p:nvPr/>
          </p:nvSpPr>
          <p:spPr>
            <a:xfrm>
              <a:off x="666750" y="3183255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33400" y="30403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114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36909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764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3414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4153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52273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53011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307467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一个元数据子表记多少子表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368516"/>
              <a:ext cx="37355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MB ÷ 1 KB = 2²⁷ ÷ 2¹⁰ = 2¹⁷ = 131072 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7252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一级元数据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4019074"/>
              <a:ext cx="47758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Root 子表直接指向用户子表：128 MB × 2¹⁷ = 2⁴⁴ B = 16 TB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43757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二级元数据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669631"/>
              <a:ext cx="51661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Root 指向 2¹⁷ 个 METADATA 子表，每个再指向 2¹⁷ 个用户子表：16 TB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2¹⁷ = 2⁶¹ B = 2048 PB = 2 EB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52616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子表个数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5555456"/>
              <a:ext cx="2485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2¹⁷ × 2¹⁷ = 2³⁴ ≈ 172 亿个子表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680835" y="1524000"/>
            <a:ext cx="4977765" cy="2133600"/>
            <a:chOff x="6680835" y="1524000"/>
            <a:chExt cx="4977765" cy="2133600"/>
          </a:xfrm>
        </p:grpSpPr>
        <p:sp>
          <p:nvSpPr>
            <p:cNvPr id="30" name="Rectangle 30"/>
            <p:cNvSpPr/>
            <p:nvPr/>
          </p:nvSpPr>
          <p:spPr>
            <a:xfrm>
              <a:off x="6680835" y="1524000"/>
              <a:ext cx="4977765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90360" y="165735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284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196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变式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20865" y="2110740"/>
              <a:ext cx="4282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METADATA 每行 2 KB：每个元数据子表只记 2¹⁶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个子表，二级共 2³² 个子表 × 128 MB = 2⁵⁹ B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 PB。每行大一倍，总容量缩为 1/4。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22008" y="3014186"/>
              <a:ext cx="42801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这里的 KB、MB、TB 都按 2 的幂计算，与原课件一致；数值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已用脚本复核。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680835" y="3848100"/>
            <a:ext cx="4977765" cy="2036445"/>
            <a:chOff x="6680835" y="3848100"/>
            <a:chExt cx="4977765" cy="2036445"/>
          </a:xfrm>
        </p:grpSpPr>
        <p:sp>
          <p:nvSpPr>
            <p:cNvPr id="37" name="Rectangle 37"/>
            <p:cNvSpPr/>
            <p:nvPr/>
          </p:nvSpPr>
          <p:spPr>
            <a:xfrm>
              <a:off x="6680835" y="3848100"/>
              <a:ext cx="4977765" cy="2036445"/>
            </a:xfrm>
            <a:prstGeom prst="roundRect">
              <a:avLst>
                <a:gd name="adj" fmla="val 654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90385" y="4057650"/>
              <a:ext cx="2223135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29132" y="4093369"/>
              <a:ext cx="2145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数据分布讨论（原课件第46页）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896100" y="44977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54215" y="44348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支持随机访问：有多级索引结构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896100" y="48329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54215" y="4770120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支持顺序访问：row key 排序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896100" y="51682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54215" y="51054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易于实现负载均衡：以子表为单位搬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896100" y="55035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54215" y="5440680"/>
              <a:ext cx="42456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多级元数据结构易于扩展：多一层，容量乘 2¹⁷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669255" cy="3351847"/>
            <a:chOff x="667512" y="1835468"/>
            <a:chExt cx="666925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593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一个子表在机器上怎么存：memtable 加若干 SSTable，都落在 GFS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内容提要：存储实现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972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SSTable：64 KB 数据块加块索引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5081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Merge-dump 引擎：写日志、写 memtable、转储、合并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110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子表分配与 GFS 持久化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238583" cy="909257"/>
            <a:chOff x="520446" y="342900"/>
            <a:chExt cx="112385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存储实现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238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子表存成若干 SSTable：64 KB 数据块加块索引，查一个 key 只读一次盘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3611138" cy="249364"/>
            <a:chOff x="526923" y="1545431"/>
            <a:chExt cx="3611138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3611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 Tablet　起始行 aardvark　结束行 apple</a:t>
              </a:r>
            </a:p>
          </p:txBody>
        </p:sp>
      </p:grpSp>
      <p:grpSp>
        <p:nvGrpSpPr>
          <p:cNvPr id="27" name="c1-cells-2"/>
          <p:cNvGrpSpPr/>
          <p:nvPr/>
        </p:nvGrpSpPr>
        <p:grpSpPr>
          <a:xfrm>
            <a:off x="528447" y="1934528"/>
            <a:ext cx="6064759" cy="1009650"/>
            <a:chOff x="528447" y="1934528"/>
            <a:chExt cx="6064759" cy="1009650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083594"/>
              <a:ext cx="6412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SSTable 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248728" y="1934528"/>
              <a:ext cx="13363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02807" y="2083594"/>
              <a:ext cx="4272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64K 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584132" y="1934528"/>
              <a:ext cx="13363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39165" y="2083594"/>
              <a:ext cx="4272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64K 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920490" y="1934528"/>
              <a:ext cx="13363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74570" y="2083594"/>
              <a:ext cx="4272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64K 块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256848" y="1934528"/>
              <a:ext cx="1336358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21706" y="208359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块索引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8447" y="2674144"/>
              <a:ext cx="6412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SSTable 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248728" y="2525078"/>
              <a:ext cx="13363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02807" y="2674144"/>
              <a:ext cx="4272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64K 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584132" y="2525078"/>
              <a:ext cx="13363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039165" y="2674144"/>
              <a:ext cx="4272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64K 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920490" y="2525078"/>
              <a:ext cx="133635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374570" y="2674144"/>
              <a:ext cx="4272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64K 块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256848" y="2525078"/>
              <a:ext cx="1336358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21706" y="267414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块索引</a:t>
              </a:r>
            </a:p>
          </p:txBody>
        </p:sp>
      </p:grpSp>
      <p:grpSp>
        <p:nvGrpSpPr>
          <p:cNvPr id="38" name="c1-card-3"/>
          <p:cNvGrpSpPr/>
          <p:nvPr/>
        </p:nvGrpSpPr>
        <p:grpSpPr>
          <a:xfrm>
            <a:off x="533400" y="3134678"/>
            <a:ext cx="6059805" cy="1986915"/>
            <a:chOff x="533400" y="3134678"/>
            <a:chExt cx="6059805" cy="1986915"/>
          </a:xfrm>
        </p:grpSpPr>
        <p:sp>
          <p:nvSpPr>
            <p:cNvPr id="28" name="Rectangle 28"/>
            <p:cNvSpPr/>
            <p:nvPr/>
          </p:nvSpPr>
          <p:spPr>
            <a:xfrm>
              <a:off x="533400" y="3134678"/>
              <a:ext cx="6059805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3268028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1050" y="3344228"/>
              <a:ext cx="244316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8288" y="3379946"/>
              <a:ext cx="2407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SSTable（Sorted String Table）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378428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3721418"/>
              <a:ext cx="55568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持久、有序、不可修改的 &lt;key, value&gt; 映射，为流式 IO 优化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411956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4056698"/>
              <a:ext cx="48531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由一串数据块（通常 64 KB）组成，文件末尾是块索引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6765" y="445484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4880" y="4391978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对行的增、删、改都以日志方式追加，由定期合并整理成新的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</p:grpSp>
      <p:grpSp>
        <p:nvGrpSpPr>
          <p:cNvPr id="40" name="c1-text-4"/>
          <p:cNvGrpSpPr/>
          <p:nvPr/>
        </p:nvGrpSpPr>
        <p:grpSpPr>
          <a:xfrm>
            <a:off x="526923" y="5333524"/>
            <a:ext cx="5556250" cy="500824"/>
            <a:chOff x="526923" y="5333524"/>
            <a:chExt cx="5556250" cy="500824"/>
          </a:xfrm>
        </p:grpSpPr>
        <p:sp>
          <p:nvSpPr>
            <p:cNvPr id="39" name="TextBox 39"/>
            <p:cNvSpPr txBox="1"/>
            <p:nvPr/>
          </p:nvSpPr>
          <p:spPr>
            <a:xfrm>
              <a:off x="526923" y="5333524"/>
              <a:ext cx="555625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上图据原课件第55页重画：每个子表存一定范围的行（有序），数据放在若干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 里。</a:t>
              </a:r>
            </a:p>
          </p:txBody>
        </p:sp>
      </p:grpSp>
      <p:grpSp>
        <p:nvGrpSpPr>
          <p:cNvPr id="54" name="c2-steps-1"/>
          <p:cNvGrpSpPr/>
          <p:nvPr/>
        </p:nvGrpSpPr>
        <p:grpSpPr>
          <a:xfrm>
            <a:off x="6898005" y="1533525"/>
            <a:ext cx="3910701" cy="1878615"/>
            <a:chOff x="6898005" y="1533525"/>
            <a:chExt cx="3910701" cy="1878615"/>
          </a:xfrm>
        </p:grpSpPr>
        <p:sp>
          <p:nvSpPr>
            <p:cNvPr id="41" name="Rectangle 41"/>
            <p:cNvSpPr/>
            <p:nvPr/>
          </p:nvSpPr>
          <p:spPr>
            <a:xfrm>
              <a:off x="7031355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898005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162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898005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9162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09485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打开文件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10628" y="1861661"/>
              <a:ext cx="2649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SSTable 末尾的块索引读进内存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09485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10628" y="2512219"/>
              <a:ext cx="3157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在内存索引里找到 key 可能所在的那个块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09485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读一个块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10628" y="3162776"/>
              <a:ext cx="3498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一次磁盘寻道读出 64 KB 的块，在块内找 key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898005" y="3590925"/>
            <a:ext cx="4760595" cy="2192655"/>
            <a:chOff x="6898005" y="3590925"/>
            <a:chExt cx="4760595" cy="2192655"/>
          </a:xfrm>
        </p:grpSpPr>
        <p:sp>
          <p:nvSpPr>
            <p:cNvPr id="55" name="Rectangle 55"/>
            <p:cNvSpPr/>
            <p:nvPr/>
          </p:nvSpPr>
          <p:spPr>
            <a:xfrm>
              <a:off x="6898005" y="3590925"/>
              <a:ext cx="4760595" cy="2192655"/>
            </a:xfrm>
            <a:prstGeom prst="roundRect">
              <a:avLst>
                <a:gd name="adj" fmla="val 608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07555" y="380047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76110" y="38361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为什么不可修改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99935" y="4177665"/>
              <a:ext cx="4053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文件一旦写完就不再变，读 SSTable 不用加锁，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多个子表还能共享同一个文件（下页）。唯一可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变的结构是内存里的 memtable。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88084" cy="909257"/>
            <a:chOff x="520446" y="342900"/>
            <a:chExt cx="79880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存储实现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880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子表之间行不重叠，SSTable 却可以被两个子表共享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795338" y="1878330"/>
            <a:ext cx="5202554" cy="2998470"/>
            <a:chOff x="795338" y="1878330"/>
            <a:chExt cx="5202554" cy="2998470"/>
          </a:xfrm>
        </p:grpSpPr>
        <p:sp>
          <p:nvSpPr>
            <p:cNvPr id="7" name="Freeform 7"/>
            <p:cNvSpPr/>
            <p:nvPr/>
          </p:nvSpPr>
          <p:spPr>
            <a:xfrm>
              <a:off x="1350645" y="2388870"/>
              <a:ext cx="607695" cy="1636395"/>
            </a:xfrm>
            <a:custGeom>
              <a:avLst/>
              <a:gdLst/>
              <a:ahLst/>
              <a:cxnLst/>
              <a:rect l="l" t="t" r="r" b="b"/>
              <a:pathLst>
                <a:path w="607695" h="1636395">
                  <a:moveTo>
                    <a:pt x="607695" y="0"/>
                  </a:moveTo>
                  <a:lnTo>
                    <a:pt x="0" y="16363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05878" y="4009072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11430" y="105728"/>
                  </a:moveTo>
                  <a:lnTo>
                    <a:pt x="0" y="0"/>
                  </a:lnTo>
                  <a:lnTo>
                    <a:pt x="89535" y="3333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103120" y="2388870"/>
              <a:ext cx="322897" cy="1632585"/>
            </a:xfrm>
            <a:custGeom>
              <a:avLst/>
              <a:gdLst/>
              <a:ahLst/>
              <a:cxnLst/>
              <a:rect l="l" t="t" r="r" b="b"/>
              <a:pathLst>
                <a:path w="322897" h="1632585">
                  <a:moveTo>
                    <a:pt x="0" y="0"/>
                  </a:moveTo>
                  <a:lnTo>
                    <a:pt x="322897" y="16325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79345" y="4011930"/>
              <a:ext cx="93345" cy="102870"/>
            </a:xfrm>
            <a:custGeom>
              <a:avLst/>
              <a:gdLst/>
              <a:ahLst/>
              <a:cxnLst/>
              <a:rect l="l" t="t" r="r" b="b"/>
              <a:pathLst>
                <a:path w="93345" h="102870">
                  <a:moveTo>
                    <a:pt x="65722" y="102870"/>
                  </a:moveTo>
                  <a:lnTo>
                    <a:pt x="0" y="19050"/>
                  </a:lnTo>
                  <a:lnTo>
                    <a:pt x="933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80285" y="2388870"/>
              <a:ext cx="1473518" cy="1654492"/>
            </a:xfrm>
            <a:custGeom>
              <a:avLst/>
              <a:gdLst/>
              <a:ahLst/>
              <a:cxnLst/>
              <a:rect l="l" t="t" r="r" b="b"/>
              <a:pathLst>
                <a:path w="1473518" h="1654492">
                  <a:moveTo>
                    <a:pt x="0" y="0"/>
                  </a:moveTo>
                  <a:lnTo>
                    <a:pt x="1473518" y="1654492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17608" y="4011930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102870"/>
                  </a:moveTo>
                  <a:lnTo>
                    <a:pt x="0" y="63817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296728" y="2388870"/>
              <a:ext cx="484822" cy="1634490"/>
            </a:xfrm>
            <a:custGeom>
              <a:avLst/>
              <a:gdLst/>
              <a:ahLst/>
              <a:cxnLst/>
              <a:rect l="l" t="t" r="r" b="b"/>
              <a:pathLst>
                <a:path w="484822" h="1634490">
                  <a:moveTo>
                    <a:pt x="484822" y="0"/>
                  </a:moveTo>
                  <a:lnTo>
                    <a:pt x="0" y="163449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51008" y="4010025"/>
              <a:ext cx="90488" cy="104775"/>
            </a:xfrm>
            <a:custGeom>
              <a:avLst/>
              <a:gdLst/>
              <a:ahLst/>
              <a:cxnLst/>
              <a:rect l="l" t="t" r="r" b="b"/>
              <a:pathLst>
                <a:path w="90488" h="104775">
                  <a:moveTo>
                    <a:pt x="18097" y="104775"/>
                  </a:moveTo>
                  <a:lnTo>
                    <a:pt x="0" y="0"/>
                  </a:lnTo>
                  <a:lnTo>
                    <a:pt x="90488" y="2667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939665" y="2388870"/>
              <a:ext cx="525780" cy="1635442"/>
            </a:xfrm>
            <a:custGeom>
              <a:avLst/>
              <a:gdLst/>
              <a:ahLst/>
              <a:cxnLst/>
              <a:rect l="l" t="t" r="r" b="b"/>
              <a:pathLst>
                <a:path w="525780" h="1635442">
                  <a:moveTo>
                    <a:pt x="0" y="0"/>
                  </a:moveTo>
                  <a:lnTo>
                    <a:pt x="525780" y="16354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419725" y="4009072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74295" y="105728"/>
                  </a:moveTo>
                  <a:lnTo>
                    <a:pt x="0" y="29528"/>
                  </a:lnTo>
                  <a:lnTo>
                    <a:pt x="904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52512" y="1878330"/>
              <a:ext cx="200025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856672" y="1878330"/>
              <a:ext cx="200025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95338" y="4114800"/>
              <a:ext cx="762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139315" y="4114800"/>
              <a:ext cx="762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74758" y="4114800"/>
              <a:ext cx="762000" cy="762000"/>
            </a:xfrm>
            <a:prstGeom prst="roundRect">
              <a:avLst>
                <a:gd name="adj" fmla="val 125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235892" y="4114800"/>
              <a:ext cx="762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808828" y="196405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 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63816" y="2154555"/>
              <a:ext cx="1377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aardvark … apple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12988" y="196405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 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54270" y="2154555"/>
              <a:ext cx="1605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apple_two_E … boat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7517" y="4421505"/>
              <a:ext cx="6376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01494" y="4421505"/>
              <a:ext cx="6376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36937" y="4421505"/>
              <a:ext cx="6376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98072" y="4421505"/>
              <a:ext cx="6376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</p:grpSp>
      <p:grpSp>
        <p:nvGrpSpPr>
          <p:cNvPr id="33" name="c1-text-2"/>
          <p:cNvGrpSpPr/>
          <p:nvPr/>
        </p:nvGrpSpPr>
        <p:grpSpPr>
          <a:xfrm>
            <a:off x="526923" y="5545931"/>
            <a:ext cx="4906985" cy="249364"/>
            <a:chOff x="526923" y="5545931"/>
            <a:chExt cx="4906985" cy="249364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5545931"/>
              <a:ext cx="4906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图据原课件第56页重画。深色的 SSTable 同时被两个子表引用。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680835" y="1524000"/>
            <a:ext cx="4977765" cy="1701165"/>
            <a:chOff x="6680835" y="1524000"/>
            <a:chExt cx="4977765" cy="1701165"/>
          </a:xfrm>
        </p:grpSpPr>
        <p:sp>
          <p:nvSpPr>
            <p:cNvPr id="34" name="Rectangle 34"/>
            <p:cNvSpPr/>
            <p:nvPr/>
          </p:nvSpPr>
          <p:spPr>
            <a:xfrm>
              <a:off x="6680835" y="1524000"/>
              <a:ext cx="4977765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90360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28485" y="1733550"/>
              <a:ext cx="284988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41034" y="1769269"/>
              <a:ext cx="28266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子表与 SSTable 的关系（原课件第56页）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934200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92315" y="211074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多个子表构成一张数据表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934200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92315" y="244602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子表不在多个表格之间共享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934200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92315" y="2781300"/>
              <a:ext cx="41148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子表之间的数据不重叠，但 SSTable 可以重叠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680835" y="3415665"/>
            <a:ext cx="4977765" cy="1887855"/>
            <a:chOff x="6680835" y="3415665"/>
            <a:chExt cx="4977765" cy="1887855"/>
          </a:xfrm>
        </p:grpSpPr>
        <p:sp>
          <p:nvSpPr>
            <p:cNvPr id="45" name="Rectangle 45"/>
            <p:cNvSpPr/>
            <p:nvPr/>
          </p:nvSpPr>
          <p:spPr>
            <a:xfrm>
              <a:off x="6680835" y="3415665"/>
              <a:ext cx="4977765" cy="1887855"/>
            </a:xfrm>
            <a:prstGeom prst="roundRect">
              <a:avLst>
                <a:gd name="adj" fmla="val 706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90385" y="362521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63842" y="36609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为什么会共享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82765" y="4002405"/>
              <a:ext cx="43205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子表分裂时，两个新子表先直接引用父子表原有的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SSTable，不用立刻重写文件；每个子表读的时候只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看自己行范围内的部分。等后续合并时，各自才写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出只含自己数据的新 SSTable。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6680835" y="5494020"/>
            <a:ext cx="4977765" cy="782955"/>
            <a:chOff x="6680835" y="5494020"/>
            <a:chExt cx="4977765" cy="782955"/>
          </a:xfrm>
        </p:grpSpPr>
        <p:sp>
          <p:nvSpPr>
            <p:cNvPr id="50" name="Rectangle 50"/>
            <p:cNvSpPr/>
            <p:nvPr/>
          </p:nvSpPr>
          <p:spPr>
            <a:xfrm>
              <a:off x="6680835" y="549402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885623" y="5785485"/>
              <a:ext cx="200026" cy="200025"/>
              <a:chOff x="6885623" y="578548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885623" y="57854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25361" y="58299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960077" y="59410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187565" y="5642610"/>
              <a:ext cx="4053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所以一个 SSTable 能不能删，要看还有没有子表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引用它，这由 Master 的垃圾回收负责。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955214" cy="909257"/>
            <a:chOff x="520446" y="342900"/>
            <a:chExt cx="10955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存储实现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955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Merge-dump 写入：先写日志，再改 memtable，攒满转储成 SSTable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graph-1"/>
          <p:cNvGrpSpPr/>
          <p:nvPr/>
        </p:nvGrpSpPr>
        <p:grpSpPr>
          <a:xfrm>
            <a:off x="814388" y="1555909"/>
            <a:ext cx="4475797" cy="3021806"/>
            <a:chOff x="814388" y="1555909"/>
            <a:chExt cx="4475797" cy="3021806"/>
          </a:xfrm>
        </p:grpSpPr>
        <p:sp>
          <p:nvSpPr>
            <p:cNvPr id="7" name="Freeform 7"/>
            <p:cNvSpPr/>
            <p:nvPr/>
          </p:nvSpPr>
          <p:spPr>
            <a:xfrm>
              <a:off x="1766888" y="2366962"/>
              <a:ext cx="1613535" cy="724853"/>
            </a:xfrm>
            <a:custGeom>
              <a:avLst/>
              <a:gdLst/>
              <a:ahLst/>
              <a:cxnLst/>
              <a:rect l="l" t="t" r="r" b="b"/>
              <a:pathLst>
                <a:path w="1613535" h="724853">
                  <a:moveTo>
                    <a:pt x="0" y="724853"/>
                  </a:moveTo>
                  <a:lnTo>
                    <a:pt x="16135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61372" y="2323148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4762"/>
                  </a:moveTo>
                  <a:lnTo>
                    <a:pt x="39053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492818" y="2327910"/>
              <a:ext cx="513398" cy="1492568"/>
            </a:xfrm>
            <a:custGeom>
              <a:avLst/>
              <a:gdLst/>
              <a:ahLst/>
              <a:cxnLst/>
              <a:rect l="l" t="t" r="r" b="b"/>
              <a:pathLst>
                <a:path w="513398" h="1492568">
                  <a:moveTo>
                    <a:pt x="513398" y="0"/>
                  </a:moveTo>
                  <a:lnTo>
                    <a:pt x="0" y="1492568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47098" y="3805238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14288" y="105728"/>
                  </a:moveTo>
                  <a:lnTo>
                    <a:pt x="0" y="0"/>
                  </a:lnTo>
                  <a:lnTo>
                    <a:pt x="90488" y="3143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02430" y="2327910"/>
              <a:ext cx="513398" cy="1492568"/>
            </a:xfrm>
            <a:custGeom>
              <a:avLst/>
              <a:gdLst/>
              <a:ahLst/>
              <a:cxnLst/>
              <a:rect l="l" t="t" r="r" b="b"/>
              <a:pathLst>
                <a:path w="513398" h="1492568">
                  <a:moveTo>
                    <a:pt x="0" y="0"/>
                  </a:moveTo>
                  <a:lnTo>
                    <a:pt x="513398" y="1492568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71060" y="3805238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76200" y="105728"/>
                  </a:moveTo>
                  <a:lnTo>
                    <a:pt x="0" y="31433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14388" y="2162175"/>
              <a:ext cx="952500" cy="2286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104198" y="1756410"/>
              <a:ext cx="2000250" cy="571500"/>
            </a:xfrm>
            <a:prstGeom prst="roundRect">
              <a:avLst>
                <a:gd name="adj" fmla="val 1666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918460" y="3910965"/>
              <a:ext cx="857250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32935" y="3910965"/>
              <a:ext cx="857250" cy="6667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1454" y="26593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操作日志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3429" y="2849880"/>
              <a:ext cx="534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3429" y="3040380"/>
              <a:ext cx="534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3429" y="3230880"/>
              <a:ext cx="534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3429" y="3421380"/>
              <a:ext cx="534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3429" y="3611880"/>
              <a:ext cx="534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3429" y="3802380"/>
              <a:ext cx="534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Insert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46934" y="1872615"/>
              <a:ext cx="1914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memtable（内存，有序）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14697" y="2063115"/>
              <a:ext cx="1979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 apple_two_E … boat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28264" y="4170045"/>
              <a:ext cx="6376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42739" y="4170045"/>
              <a:ext cx="6376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267902" y="2616518"/>
              <a:ext cx="69818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82698" y="265128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成功后应用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570922" y="302704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96919" y="306085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转储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8614" y="1555909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 ↓</a:t>
              </a:r>
            </a:p>
          </p:txBody>
        </p:sp>
      </p:grpSp>
      <p:grpSp>
        <p:nvGrpSpPr>
          <p:cNvPr id="35" name="c1-text-2"/>
          <p:cNvGrpSpPr/>
          <p:nvPr/>
        </p:nvGrpSpPr>
        <p:grpSpPr>
          <a:xfrm>
            <a:off x="526923" y="4974431"/>
            <a:ext cx="5068570" cy="500824"/>
            <a:chOff x="526923" y="4974431"/>
            <a:chExt cx="5068570" cy="500824"/>
          </a:xfrm>
        </p:grpSpPr>
        <p:sp>
          <p:nvSpPr>
            <p:cNvPr id="34" name="TextBox 34"/>
            <p:cNvSpPr txBox="1"/>
            <p:nvPr/>
          </p:nvSpPr>
          <p:spPr>
            <a:xfrm>
              <a:off x="526923" y="4974431"/>
              <a:ext cx="506857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图据原课件第53页重画。删除也是写入：追加一条删除标记，旧数据要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等合并时才真正清掉。</a:t>
              </a:r>
            </a:p>
          </p:txBody>
        </p:sp>
      </p:grpSp>
      <p:grpSp>
        <p:nvGrpSpPr>
          <p:cNvPr id="57" name="c2-steps-1"/>
          <p:cNvGrpSpPr/>
          <p:nvPr/>
        </p:nvGrpSpPr>
        <p:grpSpPr>
          <a:xfrm>
            <a:off x="6248400" y="1533525"/>
            <a:ext cx="5224511" cy="3414998"/>
            <a:chOff x="6248400" y="1533525"/>
            <a:chExt cx="5224511" cy="3414998"/>
          </a:xfrm>
        </p:grpSpPr>
        <p:sp>
          <p:nvSpPr>
            <p:cNvPr id="36" name="Rectangle 36"/>
            <p:cNvSpPr/>
            <p:nvPr/>
          </p:nvSpPr>
          <p:spPr>
            <a:xfrm>
              <a:off x="6381750" y="1676400"/>
              <a:ext cx="19050" cy="2837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48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2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43710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2024" y="44448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59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023" y="1861661"/>
              <a:ext cx="4137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检查请求格式，并按 Chubby 里的权限列表检查写权限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59880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写操作日志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1023" y="2512219"/>
              <a:ext cx="4558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追加到 GFS 上的提交日志；多个小写请求可以攒成一组提交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59880" y="2868930"/>
              <a:ext cx="16493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应用到 memtable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1023" y="3162776"/>
              <a:ext cx="4811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日志写成功后才插入内存中的有序 memtable，写请求到此返回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59880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1023" y="3813334"/>
              <a:ext cx="46865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 超过阈值就冻结，另开一个新的；冻结的写成 SSTable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文件（minor compaction）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59880" y="440531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1023" y="4699159"/>
              <a:ext cx="38558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按时间顺序从旧到新合并，定期合并 SSTable 数据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248400" y="5126355"/>
            <a:ext cx="5410200" cy="782955"/>
            <a:chOff x="6248400" y="5126355"/>
            <a:chExt cx="5410200" cy="782955"/>
          </a:xfrm>
        </p:grpSpPr>
        <p:sp>
          <p:nvSpPr>
            <p:cNvPr id="58" name="Rectangle 58"/>
            <p:cNvSpPr/>
            <p:nvPr/>
          </p:nvSpPr>
          <p:spPr>
            <a:xfrm>
              <a:off x="6248400" y="512635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418775"/>
              <a:ext cx="200023" cy="200023"/>
              <a:chOff x="6453188" y="5418775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53188" y="54187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86538" y="54854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130" y="5275898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写入的磁盘开销只有一次顺序追加日志，所以写得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55133" cy="909257"/>
            <a:chOff x="520446" y="342900"/>
            <a:chExt cx="99551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存储实现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551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读取：在 memtable 与各 SSTable 的合并视图上查，新版本优先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graph-1"/>
          <p:cNvGrpSpPr/>
          <p:nvPr/>
        </p:nvGrpSpPr>
        <p:grpSpPr>
          <a:xfrm>
            <a:off x="681038" y="1930718"/>
            <a:ext cx="5560022" cy="3619976"/>
            <a:chOff x="681038" y="1930718"/>
            <a:chExt cx="5560022" cy="3619976"/>
          </a:xfrm>
        </p:grpSpPr>
        <p:sp>
          <p:nvSpPr>
            <p:cNvPr id="7" name="Freeform 7"/>
            <p:cNvSpPr/>
            <p:nvPr/>
          </p:nvSpPr>
          <p:spPr>
            <a:xfrm>
              <a:off x="1550670" y="4291012"/>
              <a:ext cx="600075" cy="663893"/>
            </a:xfrm>
            <a:custGeom>
              <a:avLst/>
              <a:gdLst/>
              <a:ahLst/>
              <a:cxnLst/>
              <a:rect l="l" t="t" r="r" b="b"/>
              <a:pathLst>
                <a:path w="600075" h="663893">
                  <a:moveTo>
                    <a:pt x="600075" y="66389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86852" y="4220528"/>
              <a:ext cx="99060" cy="101917"/>
            </a:xfrm>
            <a:custGeom>
              <a:avLst/>
              <a:gdLst/>
              <a:ahLst/>
              <a:cxnLst/>
              <a:rect l="l" t="t" r="r" b="b"/>
              <a:pathLst>
                <a:path w="99060" h="101917">
                  <a:moveTo>
                    <a:pt x="0" y="0"/>
                  </a:moveTo>
                  <a:lnTo>
                    <a:pt x="99060" y="38100"/>
                  </a:lnTo>
                  <a:lnTo>
                    <a:pt x="28575" y="1019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286000" y="2326005"/>
              <a:ext cx="9525" cy="2628900"/>
            </a:xfrm>
            <a:custGeom>
              <a:avLst/>
              <a:gdLst/>
              <a:ahLst/>
              <a:cxnLst/>
              <a:rect l="l" t="t" r="r" b="b"/>
              <a:pathLst>
                <a:path w="9525" h="2628900">
                  <a:moveTo>
                    <a:pt x="0" y="26289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38375" y="22307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49880" y="2081212"/>
              <a:ext cx="1435418" cy="9525"/>
            </a:xfrm>
            <a:custGeom>
              <a:avLst/>
              <a:gdLst/>
              <a:ahLst/>
              <a:cxnLst/>
              <a:rect l="l" t="t" r="r" b="b"/>
              <a:pathLst>
                <a:path w="1435418" h="9525">
                  <a:moveTo>
                    <a:pt x="0" y="0"/>
                  </a:moveTo>
                  <a:lnTo>
                    <a:pt x="143541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85298" y="20335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003358" y="2319338"/>
              <a:ext cx="758190" cy="1881188"/>
            </a:xfrm>
            <a:custGeom>
              <a:avLst/>
              <a:gdLst/>
              <a:ahLst/>
              <a:cxnLst/>
              <a:rect l="l" t="t" r="r" b="b"/>
              <a:pathLst>
                <a:path w="758190" h="1881188">
                  <a:moveTo>
                    <a:pt x="0" y="1881188"/>
                  </a:moveTo>
                  <a:lnTo>
                    <a:pt x="7581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16780" y="2230755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0010" y="0"/>
                  </a:moveTo>
                  <a:lnTo>
                    <a:pt x="88583" y="106680"/>
                  </a:lnTo>
                  <a:lnTo>
                    <a:pt x="0" y="7048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856798" y="2326005"/>
              <a:ext cx="9525" cy="1874520"/>
            </a:xfrm>
            <a:custGeom>
              <a:avLst/>
              <a:gdLst/>
              <a:ahLst/>
              <a:cxnLst/>
              <a:rect l="l" t="t" r="r" b="b"/>
              <a:pathLst>
                <a:path w="9525" h="1874520">
                  <a:moveTo>
                    <a:pt x="0" y="187452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09172" y="22307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953000" y="2319338"/>
              <a:ext cx="758190" cy="1881188"/>
            </a:xfrm>
            <a:custGeom>
              <a:avLst/>
              <a:gdLst/>
              <a:ahLst/>
              <a:cxnLst/>
              <a:rect l="l" t="t" r="r" b="b"/>
              <a:pathLst>
                <a:path w="758190" h="1881188">
                  <a:moveTo>
                    <a:pt x="758190" y="188118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909185" y="2230755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572" y="0"/>
                  </a:moveTo>
                  <a:lnTo>
                    <a:pt x="88583" y="70485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334000" y="2081212"/>
              <a:ext cx="474345" cy="9525"/>
            </a:xfrm>
            <a:custGeom>
              <a:avLst/>
              <a:gdLst/>
              <a:ahLst/>
              <a:cxnLst/>
              <a:rect l="l" t="t" r="r" b="b"/>
              <a:pathLst>
                <a:path w="474345" h="9525">
                  <a:moveTo>
                    <a:pt x="0" y="0"/>
                  </a:moveTo>
                  <a:lnTo>
                    <a:pt x="4743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808345" y="20335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723072" y="1930718"/>
              <a:ext cx="1126808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0548" y="1930718"/>
              <a:ext cx="953452" cy="300038"/>
            </a:xfrm>
            <a:prstGeom prst="roundRect">
              <a:avLst>
                <a:gd name="adj" fmla="val 3174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1038" y="3182302"/>
              <a:ext cx="5547360" cy="25718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74395" y="3920490"/>
              <a:ext cx="95345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09750" y="4954905"/>
              <a:ext cx="953452" cy="300038"/>
            </a:xfrm>
            <a:prstGeom prst="roundRect">
              <a:avLst>
                <a:gd name="adj" fmla="val 3174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51872" y="4200525"/>
              <a:ext cx="623888" cy="693420"/>
            </a:xfrm>
            <a:prstGeom prst="roundRect">
              <a:avLst>
                <a:gd name="adj" fmla="val 152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45330" y="4200525"/>
              <a:ext cx="623888" cy="693420"/>
            </a:xfrm>
            <a:prstGeom prst="roundRect">
              <a:avLst>
                <a:gd name="adj" fmla="val 152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538788" y="4200525"/>
              <a:ext cx="623888" cy="693420"/>
            </a:xfrm>
            <a:prstGeom prst="roundRect">
              <a:avLst>
                <a:gd name="adj" fmla="val 152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20123" y="2011204"/>
              <a:ext cx="731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44612" y="2011204"/>
              <a:ext cx="6243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Read Op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28081" y="20112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9889" y="4000024"/>
              <a:ext cx="763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tablet log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34407" y="5034439"/>
              <a:ext cx="7031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Write Op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66701" y="4477226"/>
              <a:ext cx="595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59206" y="4477226"/>
              <a:ext cx="595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52664" y="4477226"/>
              <a:ext cx="595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561148" y="4501515"/>
              <a:ext cx="51625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81283" y="4533900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 写日志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085022" y="3507105"/>
              <a:ext cx="40195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108587" y="3539490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 写入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2945" y="2835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2945" y="3312319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GFS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99166" y="5330666"/>
              <a:ext cx="915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SSTable 文件</a:t>
              </a:r>
            </a:p>
          </p:txBody>
        </p:sp>
      </p:grpSp>
      <p:grpSp>
        <p:nvGrpSpPr>
          <p:cNvPr id="58" name="c2-steps-1"/>
          <p:cNvGrpSpPr/>
          <p:nvPr/>
        </p:nvGrpSpPr>
        <p:grpSpPr>
          <a:xfrm>
            <a:off x="6680835" y="1533525"/>
            <a:ext cx="4834966" cy="1900714"/>
            <a:chOff x="6680835" y="1533525"/>
            <a:chExt cx="4834966" cy="1900714"/>
          </a:xfrm>
        </p:grpSpPr>
        <p:sp>
          <p:nvSpPr>
            <p:cNvPr id="45" name="Rectangle 45"/>
            <p:cNvSpPr/>
            <p:nvPr/>
          </p:nvSpPr>
          <p:spPr>
            <a:xfrm>
              <a:off x="6814185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68083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7445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80835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7445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0835" y="29146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74459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93077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4220" y="183308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同写入一样检查格式和读权限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93077" y="2152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合并视图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94220" y="2419826"/>
              <a:ext cx="428574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 和该子表的各个 SSTable 都按行键排好序，可以像多路归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并那样边读边合并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93077" y="294608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取最终结果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94220" y="3214211"/>
              <a:ext cx="4421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key 以时间戳最新的为准；最新的是删除标记就当作不存在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680835" y="3602355"/>
            <a:ext cx="4977765" cy="1466850"/>
            <a:chOff x="6680835" y="3602355"/>
            <a:chExt cx="4977765" cy="1466850"/>
          </a:xfrm>
        </p:grpSpPr>
        <p:sp>
          <p:nvSpPr>
            <p:cNvPr id="59" name="Rectangle 59"/>
            <p:cNvSpPr/>
            <p:nvPr/>
          </p:nvSpPr>
          <p:spPr>
            <a:xfrm>
              <a:off x="6680835" y="3602355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90360" y="373570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11340" y="37947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02780" y="38290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04482" y="4151948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原课件第54页只写「按照时间顺序合并多个相关 SSTable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记录」，图里其实还连着 memtable：最新的写入还没转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储，只在 memtable 里，漏掉它就会读到旧值。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6680835" y="5244465"/>
            <a:ext cx="4977765" cy="729615"/>
            <a:chOff x="6680835" y="5244465"/>
            <a:chExt cx="4977765" cy="729615"/>
          </a:xfrm>
        </p:grpSpPr>
        <p:sp>
          <p:nvSpPr>
            <p:cNvPr id="65" name="Rectangle 65"/>
            <p:cNvSpPr/>
            <p:nvPr/>
          </p:nvSpPr>
          <p:spPr>
            <a:xfrm>
              <a:off x="6680835" y="524446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885623" y="5509260"/>
              <a:ext cx="200026" cy="200025"/>
              <a:chOff x="6885623" y="5509260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885623" y="55092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925361" y="55537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60077" y="56648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188327" y="5391150"/>
              <a:ext cx="39742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图据原课件第54页重画。子表分裂、合并期间读写仍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可继续。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存储实现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例题：一次读合并与范围扫描，删除标记会遮住旧值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able-1"/>
          <p:cNvGrpSpPr/>
          <p:nvPr/>
        </p:nvGrpSpPr>
        <p:grpSpPr>
          <a:xfrm>
            <a:off x="527685" y="1524000"/>
            <a:ext cx="6065520" cy="3147537"/>
            <a:chOff x="527685" y="1524000"/>
            <a:chExt cx="6065520" cy="314753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079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71665" y="1658779"/>
              <a:ext cx="5162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71418" y="1658779"/>
              <a:ext cx="4560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boat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96261" y="1658779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65906" y="1658779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35551" y="1658779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egg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7604" y="2128361"/>
              <a:ext cx="85711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 1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（最旧）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31044" y="2255044"/>
              <a:ext cx="5975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 @1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24584" y="2255044"/>
              <a:ext cx="549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old @2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27412" y="2128361"/>
              <a:ext cx="48336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meow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@3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108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15578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2850356"/>
              <a:ext cx="9293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 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81573" y="2850356"/>
              <a:ext cx="6357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@5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68294" y="2850356"/>
              <a:ext cx="7408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woof @6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794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604" y="3318986"/>
              <a:ext cx="87605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（最新）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93795" y="3193732"/>
              <a:ext cx="950595" cy="70294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36881" y="3445669"/>
              <a:ext cx="6644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 @8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80950" y="3445669"/>
              <a:ext cx="6548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yolk @9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023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907155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04" y="40419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合并结果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64856" y="4041934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724150" y="3916680"/>
              <a:ext cx="950595" cy="4495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015385" y="4041934"/>
              <a:ext cx="3681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693795" y="3916680"/>
              <a:ext cx="950595" cy="4495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875113" y="404193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02106" y="4041934"/>
              <a:ext cx="4732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woof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14762" y="4041934"/>
              <a:ext cx="3872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yolk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059805" cy="2851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740218" y="1524000"/>
              <a:ext cx="9525" cy="2851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709862" y="1524000"/>
              <a:ext cx="9525" cy="2851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679508" y="1524000"/>
              <a:ext cx="9525" cy="2851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649152" y="1524000"/>
              <a:ext cx="9525" cy="2851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618798" y="1524000"/>
              <a:ext cx="9525" cy="2851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685" y="4451509"/>
              <a:ext cx="2702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@ 后是时间戳；每列取时间戳最大的那条</a:t>
              </a:r>
            </a:p>
          </p:txBody>
        </p:sp>
      </p:grpSp>
      <p:grpSp>
        <p:nvGrpSpPr>
          <p:cNvPr id="63" name="c1-steps-2"/>
          <p:cNvGrpSpPr/>
          <p:nvPr/>
        </p:nvGrpSpPr>
        <p:grpSpPr>
          <a:xfrm>
            <a:off x="533400" y="4812982"/>
            <a:ext cx="6059804" cy="1398270"/>
            <a:chOff x="533400" y="4812982"/>
            <a:chExt cx="6059804" cy="1398270"/>
          </a:xfrm>
        </p:grpSpPr>
        <p:sp>
          <p:nvSpPr>
            <p:cNvPr id="46" name="Rectangle 46"/>
            <p:cNvSpPr/>
            <p:nvPr/>
          </p:nvSpPr>
          <p:spPr>
            <a:xfrm>
              <a:off x="533400" y="4812982"/>
              <a:ext cx="1829752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66750" y="49463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6883" y="501681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9511" y="5350669"/>
              <a:ext cx="4560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boat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0654" y="5650230"/>
              <a:ext cx="12466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@5 比 @2 新，读到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2439352" y="542639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648902" y="4812982"/>
              <a:ext cx="1829752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2782252" y="49463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872386" y="501681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775014" y="5350669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776157" y="5650230"/>
              <a:ext cx="13380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最新是 @8 的删除标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记，读不到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4553902" y="5426392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4763452" y="4812982"/>
              <a:ext cx="1829752" cy="1398270"/>
            </a:xfrm>
            <a:prstGeom prst="roundRect">
              <a:avLst>
                <a:gd name="adj" fmla="val 81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4896802" y="49463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986936" y="501681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889564" y="5350669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egg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90706" y="5650230"/>
              <a:ext cx="1406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 memtable 里，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未转储也要读到</a:t>
              </a:r>
            </a:p>
          </p:txBody>
        </p:sp>
      </p:grpSp>
      <p:grpSp>
        <p:nvGrpSpPr>
          <p:cNvPr id="70" name="c2-card-1"/>
          <p:cNvGrpSpPr/>
          <p:nvPr/>
        </p:nvGrpSpPr>
        <p:grpSpPr>
          <a:xfrm>
            <a:off x="6898005" y="1524000"/>
            <a:ext cx="4760595" cy="1777365"/>
            <a:chOff x="6898005" y="1524000"/>
            <a:chExt cx="4760595" cy="1777365"/>
          </a:xfrm>
        </p:grpSpPr>
        <p:sp>
          <p:nvSpPr>
            <p:cNvPr id="64" name="Rectangle 64"/>
            <p:cNvSpPr/>
            <p:nvPr/>
          </p:nvSpPr>
          <p:spPr>
            <a:xfrm>
              <a:off x="6898005" y="1524000"/>
              <a:ext cx="4760595" cy="1777365"/>
            </a:xfrm>
            <a:prstGeom prst="roundRect">
              <a:avLst>
                <a:gd name="adj" fmla="val 7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907530" y="1657350"/>
              <a:ext cx="47625" cy="15106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139940" y="1727835"/>
              <a:ext cx="12792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206629" y="1763554"/>
              <a:ext cx="11448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范围扫描 [b, d)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132701" y="2100739"/>
              <a:ext cx="40631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合并视图里行键落在 b 到 d 之间的有 boat、cat；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cat 已被删除，扫描只返回 (boat, new)。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33844" y="2688907"/>
              <a:ext cx="4073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若读取时漏看 memtable，cat 会被错读成 meow、egg 会查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不到。结果已用脚本复核。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6898005" y="3486150"/>
            <a:ext cx="4760595" cy="2724150"/>
            <a:chOff x="6898005" y="3486150"/>
            <a:chExt cx="4760595" cy="2724150"/>
          </a:xfrm>
        </p:grpSpPr>
        <p:sp>
          <p:nvSpPr>
            <p:cNvPr id="71" name="Rectangle 71"/>
            <p:cNvSpPr/>
            <p:nvPr/>
          </p:nvSpPr>
          <p:spPr>
            <a:xfrm>
              <a:off x="6898005" y="3486150"/>
              <a:ext cx="4760595" cy="2724150"/>
            </a:xfrm>
            <a:prstGeom prst="roundRect">
              <a:avLst>
                <a:gd name="adj" fmla="val 489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101840" y="368998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162495" y="372570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为什么删除要写标记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94601" y="4062889"/>
              <a:ext cx="4117213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SSTable 不可修改，旧值 meow 还躺在 SSTable 1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里。只能写一条更新的删除标记把它遮住，等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major compaction 重写文件时，旧值和标记一起清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掉。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827" y="342900"/>
            <a:ext cx="11268360" cy="902684"/>
            <a:chOff x="520827" y="342900"/>
            <a:chExt cx="11268360" cy="902684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存储实现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827" y="761524"/>
              <a:ext cx="11268360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 Compaction：minor 腾内存，merging 减文件数，major 清删除标记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11125200" cy="1995488"/>
            <a:chOff x="533400" y="1524000"/>
            <a:chExt cx="11125200" cy="19954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5882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82365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2222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78340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42925" y="1972628"/>
              <a:ext cx="1983105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9412" y="2087880"/>
              <a:ext cx="1626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minor compaction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31567" y="2087880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一个冻结的 memtable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02377" y="2087880"/>
              <a:ext cx="1284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一个新 SSTable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72234" y="208788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腾出内存；缩短宕机后要回放的日志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3974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402205"/>
              <a:ext cx="11125200" cy="67913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9412" y="2526982"/>
              <a:ext cx="994839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merging</a:t>
              </a:r>
              <a:br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compaction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31567" y="2646998"/>
              <a:ext cx="2222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 SSTable 加 memtable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02377" y="2646998"/>
              <a:ext cx="1284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一个新 SSTable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72234" y="2646998"/>
              <a:ext cx="3339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 SSTable 个数，读时少合并几个文件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756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089910"/>
              <a:ext cx="1983105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9412" y="3206115"/>
              <a:ext cx="1626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major compaction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31567" y="3206115"/>
              <a:ext cx="1648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子表的全部 SSTable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02377" y="3206115"/>
              <a:ext cx="14666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恰好一个 SSTable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72234" y="320611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真正删掉被删除的数据和删除标记，回收空间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11125200" cy="199548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530792" y="1524000"/>
              <a:ext cx="9525" cy="1995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201602" y="1524000"/>
              <a:ext cx="9525" cy="1995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871460" y="1524000"/>
              <a:ext cx="9525" cy="1995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compare-2"/>
          <p:cNvGrpSpPr/>
          <p:nvPr/>
        </p:nvGrpSpPr>
        <p:grpSpPr>
          <a:xfrm>
            <a:off x="533400" y="3689985"/>
            <a:ext cx="11125200" cy="2021205"/>
            <a:chOff x="533400" y="3689985"/>
            <a:chExt cx="11125200" cy="2021205"/>
          </a:xfrm>
        </p:grpSpPr>
        <p:sp>
          <p:nvSpPr>
            <p:cNvPr id="34" name="Rectangle 34"/>
            <p:cNvSpPr/>
            <p:nvPr/>
          </p:nvSpPr>
          <p:spPr>
            <a:xfrm>
              <a:off x="533400" y="3689985"/>
              <a:ext cx="5334000" cy="2021205"/>
            </a:xfrm>
            <a:prstGeom prst="roundRect">
              <a:avLst>
                <a:gd name="adj" fmla="val 65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3232" y="38985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合并期间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28662" y="42719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84682" y="4215765"/>
              <a:ext cx="4010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读写照常进行：SSTable 不可修改，读它不用加锁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28662" y="45720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84682" y="4515802"/>
              <a:ext cx="2349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新的写入进新开的 memtable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28662" y="48720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4682" y="4815840"/>
              <a:ext cx="3647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分裂出的子表在合并时才写出各自的 SSTable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324600" y="3689985"/>
              <a:ext cx="5334000" cy="2021205"/>
            </a:xfrm>
            <a:prstGeom prst="roundRect">
              <a:avLst>
                <a:gd name="adj" fmla="val 65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04432" y="38985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合并之后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19862" y="42719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75882" y="4215765"/>
              <a:ext cx="3339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被替换的旧 SSTable 不再被任何子表引用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19862" y="45720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75882" y="4515802"/>
              <a:ext cx="44542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用标记清除找出这些文件并删除（原课件第58页的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「垃圾回收」）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19862" y="512921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75882" y="5073015"/>
              <a:ext cx="1842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上的空间随之回收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915025" y="4518660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70080" y="464439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3" name="Rectangle 5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8373"/>
              <a:ext cx="7180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Compaction 以多写几遍磁盘为代价，换来更少的读放大和空间放大（第3部分第21页）。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020389" cy="909257"/>
            <a:chOff x="520446" y="342900"/>
            <a:chExt cx="110203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存储实现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0203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子表分配：同一时刻一个子表只由一台服务器服务，Master 启动走四步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422986" cy="2279809"/>
            <a:chOff x="533400" y="1533525"/>
            <a:chExt cx="5422986" cy="227980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946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抢主节点锁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3786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Chubby 申请唯一的 master 锁，避免出现多个主节点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52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找活跃服务器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9826"/>
              <a:ext cx="38391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 Chubby 的 servers 目录，得到活跃子表服务器名单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7393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问各服务器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00656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与每台活跃子表服务器通信，获取它已经在服务哪些子表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326130"/>
              <a:ext cx="1607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 METADATA 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593306"/>
              <a:ext cx="50096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得到全部子表；不在第 3 步结果里的就是未分配子表，建立列表后分配出去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3982402"/>
            <a:ext cx="5626418" cy="978218"/>
            <a:chOff x="533400" y="3982402"/>
            <a:chExt cx="5626418" cy="978218"/>
          </a:xfrm>
        </p:grpSpPr>
        <p:sp>
          <p:nvSpPr>
            <p:cNvPr id="25" name="Rectangle 25"/>
            <p:cNvSpPr/>
            <p:nvPr/>
          </p:nvSpPr>
          <p:spPr>
            <a:xfrm>
              <a:off x="533400" y="3982402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6129" y="4368283"/>
              <a:ext cx="224134" cy="192560"/>
              <a:chOff x="726129" y="4368283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8200" y="44386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6129" y="43682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45164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892" y="4129088"/>
              <a:ext cx="460000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扫描 METADATA 表之前，METADATA 的子表自己得先有人服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务。第 3 步没发现 Root 子表时，Master 先把它放进未分配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集合并分配出去。</a:t>
              </a:r>
            </a:p>
          </p:txBody>
        </p:sp>
      </p:grpSp>
      <p:grpSp>
        <p:nvGrpSpPr>
          <p:cNvPr id="37" name="c1-card-3"/>
          <p:cNvGrpSpPr/>
          <p:nvPr/>
        </p:nvGrpSpPr>
        <p:grpSpPr>
          <a:xfrm>
            <a:off x="533400" y="5135880"/>
            <a:ext cx="5626418" cy="1209675"/>
            <a:chOff x="533400" y="5135880"/>
            <a:chExt cx="5626418" cy="1209675"/>
          </a:xfrm>
        </p:grpSpPr>
        <p:sp>
          <p:nvSpPr>
            <p:cNvPr id="32" name="Rectangle 32"/>
            <p:cNvSpPr/>
            <p:nvPr/>
          </p:nvSpPr>
          <p:spPr>
            <a:xfrm>
              <a:off x="533400" y="5135880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526923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3905" y="53282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5345" y="53625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7047" y="5684520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原课件第57页写每台服务器存 1–1000 个子表，与第40页的 10–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个不一致。论文的说法是通常 10 到 1000 个。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464618" y="1524000"/>
            <a:ext cx="5193982" cy="2071688"/>
            <a:chOff x="6464618" y="1524000"/>
            <a:chExt cx="5193982" cy="2071688"/>
          </a:xfrm>
        </p:grpSpPr>
        <p:sp>
          <p:nvSpPr>
            <p:cNvPr id="38" name="Rectangle 38"/>
            <p:cNvSpPr/>
            <p:nvPr/>
          </p:nvSpPr>
          <p:spPr>
            <a:xfrm>
              <a:off x="6464618" y="1524000"/>
              <a:ext cx="5193982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95122" y="1716405"/>
              <a:ext cx="2230755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4079" y="1750695"/>
              <a:ext cx="2152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子表分配的规则（原课件第59页）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703695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59714" y="207264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每个子表同一时刻只分配给一台子表服务器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03695" y="243173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59714" y="2375535"/>
              <a:ext cx="42656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记录活跃服务器和每个子表的分配情况，包括未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分配的子表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703695" y="299180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59714" y="2935605"/>
              <a:ext cx="42656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有未分配子表、且某台服务器有空间时，Master 向它发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装载请求</a:t>
              </a:r>
            </a:p>
          </p:txBody>
        </p:sp>
      </p:grpSp>
      <p:grpSp>
        <p:nvGrpSpPr>
          <p:cNvPr id="60" name="c2-table-2"/>
          <p:cNvGrpSpPr/>
          <p:nvPr/>
        </p:nvGrpSpPr>
        <p:grpSpPr>
          <a:xfrm>
            <a:off x="6464618" y="3770948"/>
            <a:ext cx="5193982" cy="1617345"/>
            <a:chOff x="6464618" y="3770948"/>
            <a:chExt cx="5193982" cy="1617345"/>
          </a:xfrm>
        </p:grpSpPr>
        <p:sp>
          <p:nvSpPr>
            <p:cNvPr id="49" name="Rectangle 49"/>
            <p:cNvSpPr/>
            <p:nvPr/>
          </p:nvSpPr>
          <p:spPr>
            <a:xfrm>
              <a:off x="6464618" y="3770948"/>
              <a:ext cx="519398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35838" y="38952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10026" y="3895249"/>
              <a:ext cx="2557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在分配里做什么（原课件第57–58页）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64630" y="44010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19098" y="4301014"/>
              <a:ext cx="31407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可在线进入、退出集群；存储并读写子表；处理分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裂、合并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477774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64618" y="4782502"/>
              <a:ext cx="519398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4630" y="50068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19098" y="4906804"/>
              <a:ext cx="32829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分配子表；以子表为单位负载均衡；垃圾回收；维护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表结构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3770948"/>
              <a:ext cx="5193982" cy="1617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914322" y="3770948"/>
              <a:ext cx="9525" cy="1617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30737" cy="909257"/>
            <a:chOff x="520446" y="342900"/>
            <a:chExt cx="87307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存储实现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307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里存两类文件：提交日志用于回放，SSTable 存数据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5626418" cy="1913573"/>
            <a:chOff x="533400" y="1524000"/>
            <a:chExt cx="5626418" cy="1913573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412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99018" y="165877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8031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25504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操作日志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75854" y="225504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每次写请求先追加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00868" y="2128361"/>
              <a:ext cx="18178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故障恢复时回放，重建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108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15578"/>
              <a:ext cx="5626418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977039"/>
              <a:ext cx="7545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5854" y="2850356"/>
              <a:ext cx="161048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 过大时转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储；合并时生成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00868" y="2850356"/>
              <a:ext cx="19982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持久保存子表数据；按块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626418" cy="191357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766888" y="1524000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91902" y="1524000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2"/>
          <p:cNvGrpSpPr/>
          <p:nvPr/>
        </p:nvGrpSpPr>
        <p:grpSpPr>
          <a:xfrm>
            <a:off x="533400" y="3623310"/>
            <a:ext cx="5626418" cy="1643062"/>
            <a:chOff x="533400" y="3623310"/>
            <a:chExt cx="5626418" cy="1643062"/>
          </a:xfrm>
        </p:grpSpPr>
        <p:sp>
          <p:nvSpPr>
            <p:cNvPr id="23" name="Rectangle 23"/>
            <p:cNvSpPr/>
            <p:nvPr/>
          </p:nvSpPr>
          <p:spPr>
            <a:xfrm>
              <a:off x="533400" y="3623310"/>
              <a:ext cx="5626418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756660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5335" y="3827145"/>
              <a:ext cx="237172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0671" y="3862864"/>
              <a:ext cx="2321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GFS 持久化存储（原课件第60页）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2955" y="426053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9546" y="4200049"/>
              <a:ext cx="46744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日志文件存储于 GFS 中，用于故障恢复过程中回放操作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2955" y="458057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9546" y="4520089"/>
              <a:ext cx="42605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 数据量过大时，以 SSTable 存储于 GFS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2955" y="490061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9546" y="4840129"/>
              <a:ext cx="3263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 文件分块，定期合并回收空间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5452110"/>
            <a:ext cx="5626418" cy="756285"/>
            <a:chOff x="533400" y="5452110"/>
            <a:chExt cx="5626418" cy="756285"/>
          </a:xfrm>
        </p:grpSpPr>
        <p:sp>
          <p:nvSpPr>
            <p:cNvPr id="34" name="Rectangle 34"/>
            <p:cNvSpPr/>
            <p:nvPr/>
          </p:nvSpPr>
          <p:spPr>
            <a:xfrm>
              <a:off x="533400" y="5452110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730242"/>
              <a:ext cx="200023" cy="200023"/>
              <a:chOff x="738188" y="5730242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7302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57969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511" y="5599271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子表服务器本地不存任何必须保留的状态，所以任何一台服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务器都能接手任何子表。</a:t>
              </a:r>
            </a:p>
          </p:txBody>
        </p:sp>
      </p:grpSp>
      <p:grpSp>
        <p:nvGrpSpPr>
          <p:cNvPr id="66" name="c2-flow-1"/>
          <p:cNvGrpSpPr/>
          <p:nvPr/>
        </p:nvGrpSpPr>
        <p:grpSpPr>
          <a:xfrm>
            <a:off x="6646545" y="1807845"/>
            <a:ext cx="4830127" cy="4027170"/>
            <a:chOff x="6646545" y="1807845"/>
            <a:chExt cx="4830127" cy="4027170"/>
          </a:xfrm>
        </p:grpSpPr>
        <p:sp>
          <p:nvSpPr>
            <p:cNvPr id="40" name="Freeform 40"/>
            <p:cNvSpPr/>
            <p:nvPr/>
          </p:nvSpPr>
          <p:spPr>
            <a:xfrm>
              <a:off x="7762875" y="2411730"/>
              <a:ext cx="9525" cy="461962"/>
            </a:xfrm>
            <a:custGeom>
              <a:avLst/>
              <a:gdLst/>
              <a:ahLst/>
              <a:cxnLst/>
              <a:rect l="l" t="t" r="r" b="b"/>
              <a:pathLst>
                <a:path w="9525" h="461962">
                  <a:moveTo>
                    <a:pt x="0" y="0"/>
                  </a:moveTo>
                  <a:lnTo>
                    <a:pt x="0" y="4619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710488" y="28736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762875" y="2411730"/>
              <a:ext cx="2597468" cy="461962"/>
            </a:xfrm>
            <a:custGeom>
              <a:avLst/>
              <a:gdLst/>
              <a:ahLst/>
              <a:cxnLst/>
              <a:rect l="l" t="t" r="r" b="b"/>
              <a:pathLst>
                <a:path w="2597468" h="461962">
                  <a:moveTo>
                    <a:pt x="0" y="0"/>
                  </a:moveTo>
                  <a:lnTo>
                    <a:pt x="0" y="282892"/>
                  </a:lnTo>
                  <a:lnTo>
                    <a:pt x="2597468" y="282892"/>
                  </a:lnTo>
                  <a:lnTo>
                    <a:pt x="2597468" y="4619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307955" y="28736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762875" y="3582352"/>
              <a:ext cx="9525" cy="462915"/>
            </a:xfrm>
            <a:custGeom>
              <a:avLst/>
              <a:gdLst/>
              <a:ahLst/>
              <a:cxnLst/>
              <a:rect l="l" t="t" r="r" b="b"/>
              <a:pathLst>
                <a:path w="9525" h="462915">
                  <a:moveTo>
                    <a:pt x="0" y="0"/>
                  </a:moveTo>
                  <a:lnTo>
                    <a:pt x="0" y="4629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710488" y="40452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0360342" y="3582352"/>
              <a:ext cx="9525" cy="462915"/>
            </a:xfrm>
            <a:custGeom>
              <a:avLst/>
              <a:gdLst/>
              <a:ahLst/>
              <a:cxnLst/>
              <a:rect l="l" t="t" r="r" b="b"/>
              <a:pathLst>
                <a:path w="9525" h="462915">
                  <a:moveTo>
                    <a:pt x="0" y="0"/>
                  </a:moveTo>
                  <a:lnTo>
                    <a:pt x="0" y="4629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307955" y="40452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762875" y="4752975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710488" y="53054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762875" y="4752975"/>
              <a:ext cx="2597468" cy="552450"/>
            </a:xfrm>
            <a:custGeom>
              <a:avLst/>
              <a:gdLst/>
              <a:ahLst/>
              <a:cxnLst/>
              <a:rect l="l" t="t" r="r" b="b"/>
              <a:pathLst>
                <a:path w="2597468" h="552450">
                  <a:moveTo>
                    <a:pt x="2597468" y="0"/>
                  </a:moveTo>
                  <a:lnTo>
                    <a:pt x="2597468" y="328612"/>
                  </a:lnTo>
                  <a:lnTo>
                    <a:pt x="0" y="328612"/>
                  </a:lnTo>
                  <a:lnTo>
                    <a:pt x="0" y="5524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710488" y="53054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46545" y="1807845"/>
              <a:ext cx="2233612" cy="603885"/>
            </a:xfrm>
            <a:prstGeom prst="roundRect">
              <a:avLst>
                <a:gd name="adj" fmla="val 15773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46545" y="2978468"/>
              <a:ext cx="223361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243060" y="2978468"/>
              <a:ext cx="223361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46545" y="4150042"/>
              <a:ext cx="223361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243060" y="4150042"/>
              <a:ext cx="223361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46545" y="5410200"/>
              <a:ext cx="223361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30999" y="1923098"/>
              <a:ext cx="10637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METADATA 表中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该子表的一行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80529" y="3093720"/>
              <a:ext cx="9646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 列表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（在 GFS 上）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73246" y="3093720"/>
              <a:ext cx="7741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日志回放点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redo point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30999" y="4265295"/>
              <a:ext cx="10637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读入各 SSTable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的块索引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97986" y="4265295"/>
              <a:ext cx="112471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回放 redo point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之后的日志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72147" y="55387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子表可以服务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557260" y="4865370"/>
              <a:ext cx="100869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572624" y="4892040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重建 memtable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71648" cy="3351847"/>
            <a:chOff x="667512" y="1835468"/>
            <a:chExt cx="587164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容错和负载分配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861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机器坏了靠 Chubby 判定、靠 GFS 恢复；机器忙了就搬子表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内容提要：容错和负载分配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2226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子表服务器错误：Master 抢锁确认后重新分配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主节点错误：租约到期自停，新主重建分配表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迁移、分裂、合并都以子表为单位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0744" cy="909257"/>
            <a:chOff x="520446" y="342900"/>
            <a:chExt cx="86007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07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容错靠两个外援：Chubby 管谁还活着，GFS 管数据不丢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5410200" cy="1996440"/>
            <a:chOff x="533400" y="1524000"/>
            <a:chExt cx="5410200" cy="1996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52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主要错误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9458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靠谁发现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5008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怎样恢复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38338" y="2150745"/>
              <a:ext cx="13106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查它在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 里的锁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86200" y="215074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子表重新分配，新服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务器从 GFS 恢复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5410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038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主节点错误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38338" y="2905125"/>
              <a:ext cx="14630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 会话（租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约）到期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86200" y="290512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选新主，重建子表分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410200" cy="19964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826895" y="1524000"/>
              <a:ext cx="9525" cy="1996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74758" y="1524000"/>
              <a:ext cx="9525" cy="1996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0" name="c1-card-2"/>
          <p:cNvGrpSpPr/>
          <p:nvPr/>
        </p:nvGrpSpPr>
        <p:grpSpPr>
          <a:xfrm>
            <a:off x="533400" y="3710940"/>
            <a:ext cx="5410200" cy="2081212"/>
            <a:chOff x="533400" y="3710940"/>
            <a:chExt cx="5410200" cy="2081212"/>
          </a:xfrm>
        </p:grpSpPr>
        <p:sp>
          <p:nvSpPr>
            <p:cNvPr id="23" name="Rectangle 23"/>
            <p:cNvSpPr/>
            <p:nvPr/>
          </p:nvSpPr>
          <p:spPr>
            <a:xfrm>
              <a:off x="533400" y="3710940"/>
              <a:ext cx="5410200" cy="2081212"/>
            </a:xfrm>
            <a:prstGeom prst="roundRect">
              <a:avLst>
                <a:gd name="adj" fmla="val 640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42950" y="3920490"/>
              <a:ext cx="299942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4945" y="3956209"/>
              <a:ext cx="29944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 GFS 和 Chubby 实现（原课件第63页）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48665" y="43605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6780" y="4297680"/>
              <a:ext cx="31722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Chubby 负责共享信息的一致性管理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48665" y="469582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780" y="4632960"/>
              <a:ext cx="24505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GFS 负责可靠的持久化存储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1316355"/>
            <a:chOff x="6248400" y="1524000"/>
            <a:chExt cx="5410200" cy="131635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1733550"/>
              <a:ext cx="222313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34797" y="1769269"/>
              <a:ext cx="2145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子表服务器锁（原课件第64页）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2110740"/>
              <a:ext cx="4720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子表服务器信息存在 Chubby 的 servers 目录（server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directory）：活跃的子表服务器、每台分配到的子表。</a:t>
              </a:r>
            </a:p>
          </p:txBody>
        </p:sp>
      </p:grpSp>
      <p:grpSp>
        <p:nvGrpSpPr>
          <p:cNvPr id="54" name="c2-steps-2"/>
          <p:cNvGrpSpPr/>
          <p:nvPr/>
        </p:nvGrpSpPr>
        <p:grpSpPr>
          <a:xfrm>
            <a:off x="6248400" y="3040380"/>
            <a:ext cx="5155585" cy="2764440"/>
            <a:chOff x="6248400" y="3040380"/>
            <a:chExt cx="5155585" cy="2764440"/>
          </a:xfrm>
        </p:grpSpPr>
        <p:sp>
          <p:nvSpPr>
            <p:cNvPr id="37" name="Rectangle 37"/>
            <p:cNvSpPr/>
            <p:nvPr/>
          </p:nvSpPr>
          <p:spPr>
            <a:xfrm>
              <a:off x="6381750" y="3183255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248400" y="30403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024" y="3114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48400" y="36909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2024" y="3764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48400" y="43414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024" y="44153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48400" y="52273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2024" y="53011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9880" y="30746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023" y="3368516"/>
              <a:ext cx="47429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servers 目录下建一个名字唯一的文件，并获取它的排他锁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59880" y="372522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1023" y="401907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持有锁期间才为自己的子表提供服务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59880" y="4375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1023" y="4669631"/>
              <a:ext cx="47109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Chubby 断开导致丢锁时立即停止服务；文件还在就不断尝试重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新加锁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59880" y="52616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文件被删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1023" y="5555456"/>
              <a:ext cx="33108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 Master 已判定它出局，它就自行退出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60703" cy="909257"/>
            <a:chOff x="520446" y="342900"/>
            <a:chExt cx="89607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607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子表服务器出错：Master 抢到它的锁，才确认它已经出局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flow-1"/>
          <p:cNvGrpSpPr/>
          <p:nvPr/>
        </p:nvGrpSpPr>
        <p:grpSpPr>
          <a:xfrm>
            <a:off x="730568" y="1697355"/>
            <a:ext cx="5232082" cy="4407218"/>
            <a:chOff x="730568" y="1697355"/>
            <a:chExt cx="5232082" cy="4407218"/>
          </a:xfrm>
        </p:grpSpPr>
        <p:sp>
          <p:nvSpPr>
            <p:cNvPr id="7" name="Freeform 7"/>
            <p:cNvSpPr/>
            <p:nvPr/>
          </p:nvSpPr>
          <p:spPr>
            <a:xfrm>
              <a:off x="1940242" y="2301240"/>
              <a:ext cx="9525" cy="147638"/>
            </a:xfrm>
            <a:custGeom>
              <a:avLst/>
              <a:gdLst/>
              <a:ahLst/>
              <a:cxnLst/>
              <a:rect l="l" t="t" r="r" b="b"/>
              <a:pathLst>
                <a:path w="9525" h="147638">
                  <a:moveTo>
                    <a:pt x="0" y="0"/>
                  </a:moveTo>
                  <a:lnTo>
                    <a:pt x="0" y="1476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87855" y="24488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149918" y="2949892"/>
              <a:ext cx="288608" cy="9525"/>
            </a:xfrm>
            <a:custGeom>
              <a:avLst/>
              <a:gdLst/>
              <a:ahLst/>
              <a:cxnLst/>
              <a:rect l="l" t="t" r="r" b="b"/>
              <a:pathLst>
                <a:path w="288608" h="9525">
                  <a:moveTo>
                    <a:pt x="0" y="0"/>
                  </a:moveTo>
                  <a:lnTo>
                    <a:pt x="28860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38525" y="28975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40242" y="3347085"/>
              <a:ext cx="9525" cy="147638"/>
            </a:xfrm>
            <a:custGeom>
              <a:avLst/>
              <a:gdLst/>
              <a:ahLst/>
              <a:cxnLst/>
              <a:rect l="l" t="t" r="r" b="b"/>
              <a:pathLst>
                <a:path w="9525" h="147638">
                  <a:moveTo>
                    <a:pt x="0" y="0"/>
                  </a:moveTo>
                  <a:lnTo>
                    <a:pt x="0" y="1476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87855" y="34947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40242" y="4202430"/>
              <a:ext cx="9525" cy="250508"/>
            </a:xfrm>
            <a:custGeom>
              <a:avLst/>
              <a:gdLst/>
              <a:ahLst/>
              <a:cxnLst/>
              <a:rect l="l" t="t" r="r" b="b"/>
              <a:pathLst>
                <a:path w="9525" h="250508">
                  <a:moveTo>
                    <a:pt x="0" y="0"/>
                  </a:moveTo>
                  <a:lnTo>
                    <a:pt x="0" y="250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87855" y="44529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149918" y="4852035"/>
              <a:ext cx="288608" cy="9525"/>
            </a:xfrm>
            <a:custGeom>
              <a:avLst/>
              <a:gdLst/>
              <a:ahLst/>
              <a:cxnLst/>
              <a:rect l="l" t="t" r="r" b="b"/>
              <a:pathLst>
                <a:path w="288608" h="9525">
                  <a:moveTo>
                    <a:pt x="0" y="0"/>
                  </a:moveTo>
                  <a:lnTo>
                    <a:pt x="28860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38525" y="47996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940242" y="5146358"/>
              <a:ext cx="9525" cy="249555"/>
            </a:xfrm>
            <a:custGeom>
              <a:avLst/>
              <a:gdLst/>
              <a:ahLst/>
              <a:cxnLst/>
              <a:rect l="l" t="t" r="r" b="b"/>
              <a:pathLst>
                <a:path w="9525" h="249555">
                  <a:moveTo>
                    <a:pt x="0" y="0"/>
                  </a:moveTo>
                  <a:lnTo>
                    <a:pt x="0" y="2495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887855" y="53959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0568" y="1697355"/>
              <a:ext cx="241935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30568" y="2553652"/>
              <a:ext cx="2419350" cy="793432"/>
            </a:xfrm>
            <a:custGeom>
              <a:avLst/>
              <a:gdLst/>
              <a:ahLst/>
              <a:cxnLst/>
              <a:rect l="l" t="t" r="r" b="b"/>
              <a:pathLst>
                <a:path w="2419350" h="793432">
                  <a:moveTo>
                    <a:pt x="1209675" y="0"/>
                  </a:moveTo>
                  <a:lnTo>
                    <a:pt x="2419350" y="396240"/>
                  </a:lnTo>
                  <a:lnTo>
                    <a:pt x="1209675" y="793432"/>
                  </a:lnTo>
                  <a:lnTo>
                    <a:pt x="0" y="39624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43300" y="2744152"/>
              <a:ext cx="2419350" cy="411480"/>
            </a:xfrm>
            <a:prstGeom prst="roundRect">
              <a:avLst>
                <a:gd name="adj" fmla="val 23148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0568" y="3599498"/>
              <a:ext cx="241935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30568" y="4557712"/>
              <a:ext cx="2419350" cy="588645"/>
            </a:xfrm>
            <a:custGeom>
              <a:avLst/>
              <a:gdLst/>
              <a:ahLst/>
              <a:cxnLst/>
              <a:rect l="l" t="t" r="r" b="b"/>
              <a:pathLst>
                <a:path w="2419350" h="588645">
                  <a:moveTo>
                    <a:pt x="1209675" y="0"/>
                  </a:moveTo>
                  <a:lnTo>
                    <a:pt x="2419350" y="294322"/>
                  </a:lnTo>
                  <a:lnTo>
                    <a:pt x="1209675" y="588645"/>
                  </a:lnTo>
                  <a:lnTo>
                    <a:pt x="0" y="29432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543300" y="4550092"/>
              <a:ext cx="2419350" cy="603885"/>
            </a:xfrm>
            <a:prstGeom prst="roundRect">
              <a:avLst>
                <a:gd name="adj" fmla="val 15773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0568" y="5500688"/>
              <a:ext cx="2419350" cy="603885"/>
            </a:xfrm>
            <a:prstGeom prst="roundRect">
              <a:avLst>
                <a:gd name="adj" fmla="val 15773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24546" y="1812608"/>
              <a:ext cx="12313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定期询问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各服务器的锁状态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00746" y="2763202"/>
              <a:ext cx="10789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报告丢锁或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多次联系不上？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23791" y="28660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照常工作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39786" y="3714750"/>
              <a:ext cx="120091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尝试获取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该服务器的锁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11058" y="476821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拿到锁？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89679" y="4665345"/>
              <a:ext cx="926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对方仍持锁，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照常服务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48346" y="5615940"/>
              <a:ext cx="1383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删除它的锁文件，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子表放入未分配集合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236595" y="274415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276168" y="276844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968818" y="338804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992439" y="341233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236595" y="464534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76168" y="467058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968818" y="523779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992439" y="526303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2065020"/>
            <a:chOff x="6464618" y="1524000"/>
            <a:chExt cx="5193982" cy="2065020"/>
          </a:xfrm>
        </p:grpSpPr>
        <p:sp>
          <p:nvSpPr>
            <p:cNvPr id="42" name="Rectangle 42"/>
            <p:cNvSpPr/>
            <p:nvPr/>
          </p:nvSpPr>
          <p:spPr>
            <a:xfrm>
              <a:off x="6464618" y="1524000"/>
              <a:ext cx="5193982" cy="2065020"/>
            </a:xfrm>
            <a:prstGeom prst="roundRect">
              <a:avLst>
                <a:gd name="adj" fmla="val 645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62738" y="1722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8176" y="1756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为什么要抢锁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5498" y="2082641"/>
              <a:ext cx="4522978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Master 联系不上一台服务器，可能是服务器坏了，也可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能只是 Master 和它之间网络断了。Master 能拿到锁，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 Chubby 正常而那台服务器已经丢锁，它会自己停止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服务，这时把子表交给别人，不会出现两台服务器同时服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务一个子表。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464618" y="3769995"/>
            <a:ext cx="5193982" cy="2508885"/>
            <a:chOff x="6464618" y="3769995"/>
            <a:chExt cx="5193982" cy="2508885"/>
          </a:xfrm>
        </p:grpSpPr>
        <p:sp>
          <p:nvSpPr>
            <p:cNvPr id="47" name="Rectangle 47"/>
            <p:cNvSpPr/>
            <p:nvPr/>
          </p:nvSpPr>
          <p:spPr>
            <a:xfrm>
              <a:off x="6464618" y="3769995"/>
              <a:ext cx="5193982" cy="2508885"/>
            </a:xfrm>
            <a:prstGeom prst="roundRect">
              <a:avLst>
                <a:gd name="adj" fmla="val 5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3903345"/>
              <a:ext cx="47625" cy="22421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00838" y="39681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92278" y="40024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93598" y="4328636"/>
              <a:ext cx="454101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原课件第65页写「子表服务器将子表负载迁移到其他服务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器（unassigned state）」。出错的服务器已经不能做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事，是 Master 删除它的锁文件，把它的子表放进未分配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集合，再分配给其他服务器。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26248" cy="909257"/>
            <a:chOff x="520446" y="342900"/>
            <a:chExt cx="9326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26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数据恢复：从日志回放点开始回放提交日志，重建 memtable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333519" cy="1878615"/>
            <a:chOff x="533400" y="1533525"/>
            <a:chExt cx="4333519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1663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持久化数据在 GFS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39208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操作日志和 SSTable 都在 GFS 上，服务器宕机不丢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1314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METADATA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3683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新服务器查到子表的 SSTable 列表和日志回放点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回放日志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3485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回放操作日志，恢复内存中的 memtable 状态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590925"/>
            <a:ext cx="4977765" cy="2249805"/>
            <a:chOff x="533400" y="3590925"/>
            <a:chExt cx="4977765" cy="2249805"/>
          </a:xfrm>
        </p:grpSpPr>
        <p:sp>
          <p:nvSpPr>
            <p:cNvPr id="21" name="Rectangle 21"/>
            <p:cNvSpPr/>
            <p:nvPr/>
          </p:nvSpPr>
          <p:spPr>
            <a:xfrm>
              <a:off x="533400" y="3590925"/>
              <a:ext cx="4977765" cy="2249805"/>
            </a:xfrm>
            <a:prstGeom prst="roundRect">
              <a:avLst>
                <a:gd name="adj" fmla="val 59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724275"/>
              <a:ext cx="47625" cy="19831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3800475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2853" y="38361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一台服务器只写一个日志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430" y="4177665"/>
              <a:ext cx="42538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为了减少 GFS 上的文件数和磁盘寻道，一台子表服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务器上所有子表的更新写进同一个提交日志，日志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项带 &lt;表编号, 行主键, 日志序列号&gt;。这就是原课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件所说「操作日志存储全局表信息」。</a:t>
              </a:r>
            </a:p>
          </p:txBody>
        </p:sp>
      </p:grpSp>
      <p:grpSp>
        <p:nvGrpSpPr>
          <p:cNvPr id="40" name="c2-cells-1"/>
          <p:cNvGrpSpPr/>
          <p:nvPr/>
        </p:nvGrpSpPr>
        <p:grpSpPr>
          <a:xfrm>
            <a:off x="5811012" y="1524000"/>
            <a:ext cx="5847588" cy="419100"/>
            <a:chOff x="5811012" y="1524000"/>
            <a:chExt cx="5847588" cy="419100"/>
          </a:xfrm>
        </p:grpSpPr>
        <p:sp>
          <p:nvSpPr>
            <p:cNvPr id="27" name="TextBox 27"/>
            <p:cNvSpPr txBox="1"/>
            <p:nvPr/>
          </p:nvSpPr>
          <p:spPr>
            <a:xfrm>
              <a:off x="5811012" y="167306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原日志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322695" y="1524000"/>
              <a:ext cx="889635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3013" y="1673066"/>
              <a:ext cx="4870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T1 r5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211378" y="1524000"/>
              <a:ext cx="88963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12648" y="1673066"/>
              <a:ext cx="4870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T2 a1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01012" y="1524000"/>
              <a:ext cx="889635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02283" y="1673066"/>
              <a:ext cx="4870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T1 r2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990648" y="1524000"/>
              <a:ext cx="88963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91918" y="1673066"/>
              <a:ext cx="4870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T2 a9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880282" y="1524000"/>
              <a:ext cx="889635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80600" y="1673066"/>
              <a:ext cx="4870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T1 r5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768965" y="1524000"/>
              <a:ext cx="88963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009407" y="1673066"/>
              <a:ext cx="4087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T3 x</a:t>
              </a:r>
            </a:p>
          </p:txBody>
        </p:sp>
      </p:grpSp>
      <p:grpSp>
        <p:nvGrpSpPr>
          <p:cNvPr id="42" name="c2-text-2"/>
          <p:cNvGrpSpPr/>
          <p:nvPr/>
        </p:nvGrpSpPr>
        <p:grpSpPr>
          <a:xfrm>
            <a:off x="5809488" y="2155031"/>
            <a:ext cx="5539994" cy="500824"/>
            <a:chOff x="5809488" y="2155031"/>
            <a:chExt cx="5539994" cy="500824"/>
          </a:xfrm>
        </p:grpSpPr>
        <p:sp>
          <p:nvSpPr>
            <p:cNvPr id="41" name="TextBox 41"/>
            <p:cNvSpPr txBox="1"/>
            <p:nvPr/>
          </p:nvSpPr>
          <p:spPr>
            <a:xfrm>
              <a:off x="5809488" y="2155031"/>
              <a:ext cx="553999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每格依次是序列号、表、行。三个子表的更新交错写在同一个日志里，深色的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都属于 T1。</a:t>
              </a:r>
            </a:p>
          </p:txBody>
        </p:sp>
      </p:grpSp>
      <p:grpSp>
        <p:nvGrpSpPr>
          <p:cNvPr id="58" name="c2-table-3"/>
          <p:cNvGrpSpPr/>
          <p:nvPr/>
        </p:nvGrpSpPr>
        <p:grpSpPr>
          <a:xfrm>
            <a:off x="5815965" y="2795588"/>
            <a:ext cx="5842635" cy="1795462"/>
            <a:chOff x="5815965" y="2795588"/>
            <a:chExt cx="5842635" cy="1795462"/>
          </a:xfrm>
        </p:grpSpPr>
        <p:sp>
          <p:nvSpPr>
            <p:cNvPr id="43" name="Rectangle 43"/>
            <p:cNvSpPr/>
            <p:nvPr/>
          </p:nvSpPr>
          <p:spPr>
            <a:xfrm>
              <a:off x="5815965" y="2795588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46730" y="2930366"/>
              <a:ext cx="204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排序后（表, 行, 序列号）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11092" y="29303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交给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25490" y="3253740"/>
              <a:ext cx="348710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23788" y="3379946"/>
              <a:ext cx="32223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(T1, r2, 3) (T1, r5, 1) (T1, r5, 5)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28988" y="3379946"/>
              <a:ext cx="1356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接手 T1 的服务器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36880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15965" y="369284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23788" y="3828574"/>
              <a:ext cx="21339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(T2, a1, 2) (T2, a9, 4)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28988" y="3828574"/>
              <a:ext cx="1356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接手 T2 的服务器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41367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23788" y="4277201"/>
              <a:ext cx="9432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(T3, x, 6)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28988" y="4277201"/>
              <a:ext cx="1356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接手 T3 的服务器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2795588"/>
              <a:ext cx="584263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316402" y="279558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llout-4"/>
          <p:cNvGrpSpPr/>
          <p:nvPr/>
        </p:nvGrpSpPr>
        <p:grpSpPr>
          <a:xfrm>
            <a:off x="5815965" y="4781550"/>
            <a:ext cx="5842635" cy="1059180"/>
            <a:chOff x="5815965" y="4781550"/>
            <a:chExt cx="5842635" cy="1059180"/>
          </a:xfrm>
        </p:grpSpPr>
        <p:sp>
          <p:nvSpPr>
            <p:cNvPr id="59" name="Rectangle 59"/>
            <p:cNvSpPr/>
            <p:nvPr/>
          </p:nvSpPr>
          <p:spPr>
            <a:xfrm>
              <a:off x="5815965" y="4781550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020753" y="5211128"/>
              <a:ext cx="200026" cy="200025"/>
              <a:chOff x="6020753" y="521112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020753" y="52111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060491" y="52555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095207" y="53667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322695" y="4930140"/>
              <a:ext cx="4777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不排序的话，接手子表的每台服务器都要把整份日志读一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遍；先按键排序一次，各台只读自己那一段，同一行按序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列号依次回放。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主节点出错：租约到期自己下线，新主抢到锁后重建子表分配表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407055" cy="2867502"/>
            <a:chOff x="533400" y="1533525"/>
            <a:chExt cx="5407055" cy="286750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946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814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1833086"/>
              <a:ext cx="3318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主服务器在 Chubby 租约（会话）到期后结束服务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152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419826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集群管理系统检测到主节点无响应，启动一个新的主节点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7393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抢锁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006566"/>
              <a:ext cx="24293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新主节点向 Chubby 申请 master 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3261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593306"/>
              <a:ext cx="4993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按第38页的四步扫描 servers 目录和 METADATA 表，得到当前的子表分配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9128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18099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继续提供主节点服务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569142"/>
            <a:ext cx="5410200" cy="1724025"/>
            <a:chOff x="533400" y="4569142"/>
            <a:chExt cx="5410200" cy="1724025"/>
          </a:xfrm>
        </p:grpSpPr>
        <p:sp>
          <p:nvSpPr>
            <p:cNvPr id="29" name="Rectangle 29"/>
            <p:cNvSpPr/>
            <p:nvPr/>
          </p:nvSpPr>
          <p:spPr>
            <a:xfrm>
              <a:off x="533400" y="4569142"/>
              <a:ext cx="5410200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702492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476154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9343" y="479583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为什么先自停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7047" y="5118735"/>
              <a:ext cx="466001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 Master 可能只是和 Chubby 断了联系，自己还在运行。租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约到期就自己退出，保证新 Master 上任时旧的已经停手，不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会出现两个 Master 同时分配子表（租约原理见第3部分第49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1466850"/>
            <a:chOff x="6248400" y="1524000"/>
            <a:chExt cx="5410200" cy="1466850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40805" y="1716405"/>
              <a:ext cx="1942148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85333" y="1750695"/>
              <a:ext cx="1852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Master 宕机期间还能读写吗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3947" y="2072640"/>
              <a:ext cx="47800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能。子表分配不因 Master 宕机而改变，客户端照样通过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Chubby 和 METADATA 表找到子表服务器直接读写。受影响的只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是建表、分配新子表、负载均衡这些要 Master 决策的操作。</a:t>
              </a:r>
            </a:p>
          </p:txBody>
        </p:sp>
      </p:grpSp>
      <p:grpSp>
        <p:nvGrpSpPr>
          <p:cNvPr id="56" name="c2-table-2"/>
          <p:cNvGrpSpPr/>
          <p:nvPr/>
        </p:nvGrpSpPr>
        <p:grpSpPr>
          <a:xfrm>
            <a:off x="6248400" y="3166110"/>
            <a:ext cx="5410200" cy="2053590"/>
            <a:chOff x="6248400" y="3166110"/>
            <a:chExt cx="5410200" cy="2053590"/>
          </a:xfrm>
        </p:grpSpPr>
        <p:sp>
          <p:nvSpPr>
            <p:cNvPr id="40" name="Rectangle 40"/>
            <p:cNvSpPr/>
            <p:nvPr/>
          </p:nvSpPr>
          <p:spPr>
            <a:xfrm>
              <a:off x="6248400" y="3166110"/>
              <a:ext cx="5410200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81013" y="329374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出错对象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58366" y="329374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谁来判定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78783" y="329374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数据要恢复吗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47270" y="385857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54112" y="3738562"/>
              <a:ext cx="135102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抢到它的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 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01974" y="3738562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要：新服务器回放日志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重建 memtable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42900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48400" y="4294822"/>
              <a:ext cx="5410200" cy="92487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7270" y="4663440"/>
              <a:ext cx="687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54112" y="4423410"/>
              <a:ext cx="1659636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 会话到期，集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群管理系统发现无响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612630" y="4304348"/>
              <a:ext cx="2036445" cy="90582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01974" y="4543425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不用：只重建子表分配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3166110"/>
              <a:ext cx="5410200" cy="2053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50480" y="3166110"/>
              <a:ext cx="9525" cy="2053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598342" y="3166110"/>
              <a:ext cx="9525" cy="2053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llout-3"/>
          <p:cNvGrpSpPr/>
          <p:nvPr/>
        </p:nvGrpSpPr>
        <p:grpSpPr>
          <a:xfrm>
            <a:off x="6248400" y="5394960"/>
            <a:ext cx="5410200" cy="898208"/>
            <a:chOff x="6248400" y="5394960"/>
            <a:chExt cx="5410200" cy="898208"/>
          </a:xfrm>
        </p:grpSpPr>
        <p:sp>
          <p:nvSpPr>
            <p:cNvPr id="57" name="Rectangle 57"/>
            <p:cNvSpPr/>
            <p:nvPr/>
          </p:nvSpPr>
          <p:spPr>
            <a:xfrm>
              <a:off x="6248400" y="5394960"/>
              <a:ext cx="5410200" cy="898208"/>
            </a:xfrm>
            <a:prstGeom prst="roundRect">
              <a:avLst>
                <a:gd name="adj" fmla="val 127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5744528"/>
              <a:ext cx="200026" cy="200025"/>
              <a:chOff x="6453188" y="5744528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453188" y="57445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492926" y="57889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27642" y="59001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892" y="5625465"/>
              <a:ext cx="40770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Master 本身不保存数据，它的状态都能从 Chubby 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METADATA 表重新扫出来。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负载均衡：以子表为单位迁移，原服务器先压缩再卸载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steps-1"/>
          <p:cNvGrpSpPr/>
          <p:nvPr/>
        </p:nvGrpSpPr>
        <p:grpSpPr>
          <a:xfrm>
            <a:off x="533400" y="1533525"/>
            <a:ext cx="5506924" cy="4065555"/>
            <a:chOff x="533400" y="1533525"/>
            <a:chExt cx="5506924" cy="406555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3488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3710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4448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50215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50953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186166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子表服务器定时向主节点汇报状态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251221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主节点检测到某台服务器负载过重，决定迁出它的某个子表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请求卸载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16277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主节点请求原子表服务器卸载该子表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3813334"/>
              <a:ext cx="4946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原服务器把内存数据写成 SSTable（minor compaction），然后停止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服务该子表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440531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469915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原服务器回复卸载成功，或者它的锁过期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4880" y="50558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023" y="5349716"/>
              <a:ext cx="50943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主节点选一个轻负载服务器加载子表，按 METADATA 读入 SSTable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464618" y="1524000"/>
            <a:ext cx="5193982" cy="1316355"/>
            <a:chOff x="6464618" y="1524000"/>
            <a:chExt cx="5193982" cy="1316355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12268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68973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子表是负载均衡的单位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4648" y="2110740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子表大小相当（100–200 MB），搬一个子表的代价可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控；负载过重的机器只需交出几个子表。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464618" y="3030855"/>
            <a:ext cx="5193982" cy="1887855"/>
            <a:chOff x="6464618" y="3030855"/>
            <a:chExt cx="5193982" cy="1887855"/>
          </a:xfrm>
        </p:grpSpPr>
        <p:sp>
          <p:nvSpPr>
            <p:cNvPr id="39" name="Rectangle 39"/>
            <p:cNvSpPr/>
            <p:nvPr/>
          </p:nvSpPr>
          <p:spPr>
            <a:xfrm>
              <a:off x="6464618" y="3030855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3164205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12268" y="32404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03428" y="32761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04648" y="3617595"/>
              <a:ext cx="42729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原课件第68页把「原子表服务器合并内存数据和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 数据（minor compaction）」列在最后一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步。压缩要在卸载之前做，新服务器才不用回放日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志；合并的是 memtable，写成新的 SSTable。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6464618" y="5109210"/>
            <a:ext cx="5193982" cy="782955"/>
            <a:chOff x="6464618" y="5109210"/>
            <a:chExt cx="5193982" cy="782955"/>
          </a:xfrm>
        </p:grpSpPr>
        <p:sp>
          <p:nvSpPr>
            <p:cNvPr id="45" name="Rectangle 45"/>
            <p:cNvSpPr/>
            <p:nvPr/>
          </p:nvSpPr>
          <p:spPr>
            <a:xfrm>
              <a:off x="6464618" y="510921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69405" y="5400677"/>
              <a:ext cx="200023" cy="200023"/>
              <a:chOff x="6669405" y="5400677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669405" y="54006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802755" y="5467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71348" y="525780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只要原服务器压缩完才停手，新服务器装载时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memtable 为空，不必回放任何日志。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58860" cy="909257"/>
            <a:chOff x="520446" y="342900"/>
            <a:chExt cx="93588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588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缩短迁移暂停：连做两次 minor compaction，第二次才停写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102962" cy="3179730"/>
            <a:chOff x="533400" y="1533525"/>
            <a:chExt cx="5102962" cy="317973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367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迁移子表会带来服务暂停，读和写都暂停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218372"/>
              <a:ext cx="24762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 minor compaction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512219"/>
              <a:ext cx="46903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原服务器把 memtable 转储成 SSTable，过程中仍允许写操作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8689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停止服务该子表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16277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第一次压缩期间只进来少量新写入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520440"/>
              <a:ext cx="24762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 minor compaction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81333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对子表再执行一次，只转储这一小部分，很快完成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1709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46389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新服务器直接装载，不用回放日志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892040"/>
            <a:ext cx="5626418" cy="782955"/>
            <a:chOff x="533400" y="4892040"/>
            <a:chExt cx="5626418" cy="782955"/>
          </a:xfrm>
        </p:grpSpPr>
        <p:sp>
          <p:nvSpPr>
            <p:cNvPr id="29" name="Rectangle 29"/>
            <p:cNvSpPr/>
            <p:nvPr/>
          </p:nvSpPr>
          <p:spPr>
            <a:xfrm>
              <a:off x="533400" y="489204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183505"/>
              <a:ext cx="200026" cy="200025"/>
              <a:chOff x="738188" y="5183505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1835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52279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53390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040630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暂停只覆盖第二次压缩那一小段，时间和第一次压缩期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间的新写入量成正比。</a:t>
              </a:r>
            </a:p>
          </p:txBody>
        </p:sp>
      </p:grpSp>
      <p:grpSp>
        <p:nvGrpSpPr>
          <p:cNvPr id="38" name="c2-image-1"/>
          <p:cNvGrpSpPr/>
          <p:nvPr/>
        </p:nvGrpSpPr>
        <p:grpSpPr>
          <a:xfrm>
            <a:off x="6945528" y="1524000"/>
            <a:ext cx="4233113" cy="2785587"/>
            <a:chOff x="6945528" y="1524000"/>
            <a:chExt cx="4233113" cy="2785587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rcRect l="16664" t="0" r="16663" b="0"/>
            <a:stretch>
              <a:fillRect/>
            </a:stretch>
          </p:blipFill>
          <p:spPr>
            <a:xfrm>
              <a:off x="7414260" y="1524000"/>
              <a:ext cx="3294698" cy="2470785"/>
            </a:xfrm>
            <a:prstGeom prst="roundRect">
              <a:avLst>
                <a:gd name="adj" fmla="val 5397"/>
              </a:avLst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6945528" y="4089559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搬家：大部分箱子照常生活时先装车，最后一小箱封好就交钥匙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464618" y="4474845"/>
            <a:ext cx="5193982" cy="1887855"/>
            <a:chOff x="6464618" y="4474845"/>
            <a:chExt cx="5193982" cy="1887855"/>
          </a:xfrm>
        </p:grpSpPr>
        <p:sp>
          <p:nvSpPr>
            <p:cNvPr id="39" name="Rectangle 39"/>
            <p:cNvSpPr/>
            <p:nvPr/>
          </p:nvSpPr>
          <p:spPr>
            <a:xfrm>
              <a:off x="6464618" y="4474845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74168" y="4684395"/>
              <a:ext cx="27698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96418" y="472011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原课件的问题：循环合并和「内存脏页」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6548" y="5061585"/>
              <a:ext cx="4587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第一次压缩期间新写入的数据就像虚拟机热迁移时新产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生的脏页。可以一轮轮继续压缩，每轮剩下的越来越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少，但写入一直在进来，收益递减，所以做一两轮就停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写收尾。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44115" cy="909257"/>
            <a:chOff x="520446" y="342900"/>
            <a:chExt cx="7144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44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例题：64 MB 的 memtable 迁移时要暂停多久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842635" cy="1602105"/>
            <a:chOff x="533400" y="1524000"/>
            <a:chExt cx="5842635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5053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子表的 memtable 有 64 MB，写入速率 10 MB/s，转储速率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MB/s，新服务器回放日志 50 MB/s。比较三种迁移方式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的暂停时间。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27685" y="3316605"/>
            <a:ext cx="5848350" cy="3046572"/>
            <a:chOff x="527685" y="3316605"/>
            <a:chExt cx="5848350" cy="3046572"/>
          </a:xfrm>
        </p:grpSpPr>
        <p:sp>
          <p:nvSpPr>
            <p:cNvPr id="12" name="Rectangle 12"/>
            <p:cNvSpPr/>
            <p:nvPr/>
          </p:nvSpPr>
          <p:spPr>
            <a:xfrm>
              <a:off x="533400" y="3316605"/>
              <a:ext cx="5842635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59205" y="34556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37585" y="34556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24500" y="34556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暂停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0080" y="40767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不压缩直接交接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09838" y="3943350"/>
              <a:ext cx="23583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新服务器回放 64 MB 日志：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÷ 50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100638" y="3813810"/>
              <a:ext cx="1266825" cy="7353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97792" y="4076700"/>
              <a:ext cx="631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1.28 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5539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558665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0080" y="46977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停写后压缩一次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09838" y="4697730"/>
              <a:ext cx="20486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转储 64 MB：64 ÷ 100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97792" y="4697730"/>
              <a:ext cx="631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0.64 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0415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080" y="5318760"/>
              <a:ext cx="1105376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 minor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compaction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09838" y="5185410"/>
              <a:ext cx="21583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 0.64 s 内新写入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6.4 MB；停写后转储它：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6.4 ÷ 100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100638" y="5055870"/>
              <a:ext cx="1266825" cy="10020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97792" y="5452110"/>
              <a:ext cx="7421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0.064 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316605"/>
              <a:ext cx="5842635" cy="2750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398395" y="3316605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086350" y="3316605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7685" y="614314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数值已用脚本复核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680835" y="1524000"/>
            <a:ext cx="4977765" cy="1602105"/>
            <a:chOff x="6680835" y="1524000"/>
            <a:chExt cx="4977765" cy="1602105"/>
          </a:xfrm>
        </p:grpSpPr>
        <p:sp>
          <p:nvSpPr>
            <p:cNvPr id="35" name="Rectangle 35"/>
            <p:cNvSpPr/>
            <p:nvPr/>
          </p:nvSpPr>
          <p:spPr>
            <a:xfrm>
              <a:off x="6680835" y="152400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90360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28485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06844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再做一轮呢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0865" y="2110740"/>
              <a:ext cx="4168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第二次压缩若也不停写，0.064 s 内又写入 0.64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MB，第三次只需 0.0064 s。每轮缩到上一轮的 w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÷ c = 10 ÷ 100 = 1/10。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680835" y="3316605"/>
            <a:ext cx="4977765" cy="1602105"/>
            <a:chOff x="6680835" y="3316605"/>
            <a:chExt cx="4977765" cy="1602105"/>
          </a:xfrm>
        </p:grpSpPr>
        <p:sp>
          <p:nvSpPr>
            <p:cNvPr id="41" name="Rectangle 41"/>
            <p:cNvSpPr/>
            <p:nvPr/>
          </p:nvSpPr>
          <p:spPr>
            <a:xfrm>
              <a:off x="6680835" y="3316605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0360" y="344995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8485" y="352615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89140" y="356187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什么时候循环不收敛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20865" y="3903345"/>
              <a:ext cx="4301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写入速率 w 不小于转储速率 c 时，每轮剩下的数据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不减反增，只能直接停写。所以实际做法是固定做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两次，第二次一定停写。</a:t>
              </a:r>
            </a:p>
          </p:txBody>
        </p:sp>
      </p:grpSp>
      <p:grpSp>
        <p:nvGrpSpPr>
          <p:cNvPr id="53" name="c2-callout-3"/>
          <p:cNvGrpSpPr/>
          <p:nvPr/>
        </p:nvGrpSpPr>
        <p:grpSpPr>
          <a:xfrm>
            <a:off x="6680835" y="5109210"/>
            <a:ext cx="4977765" cy="1209675"/>
            <a:chOff x="6680835" y="5109210"/>
            <a:chExt cx="4977765" cy="1209675"/>
          </a:xfrm>
        </p:grpSpPr>
        <p:sp>
          <p:nvSpPr>
            <p:cNvPr id="47" name="Rectangle 47"/>
            <p:cNvSpPr/>
            <p:nvPr/>
          </p:nvSpPr>
          <p:spPr>
            <a:xfrm>
              <a:off x="6680835" y="5109210"/>
              <a:ext cx="4977765" cy="1209675"/>
            </a:xfrm>
            <a:prstGeom prst="roundRect">
              <a:avLst>
                <a:gd name="adj" fmla="val 944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885623" y="5614035"/>
              <a:ext cx="200026" cy="200025"/>
              <a:chOff x="6885623" y="5614035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885623" y="56140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925361" y="56584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960077" y="57696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187565" y="547116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数字只是为了比较量级，真实系统的速率要看硬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件和负载。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容错和负载分配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分裂与合并：子表太大一分为二，太小就合并，维持大小相当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graph-1"/>
          <p:cNvGrpSpPr/>
          <p:nvPr/>
        </p:nvGrpSpPr>
        <p:grpSpPr>
          <a:xfrm>
            <a:off x="1305878" y="1664970"/>
            <a:ext cx="3865244" cy="1942147"/>
            <a:chOff x="1305878" y="1664970"/>
            <a:chExt cx="3865244" cy="1942147"/>
          </a:xfrm>
        </p:grpSpPr>
        <p:sp>
          <p:nvSpPr>
            <p:cNvPr id="7" name="Freeform 7"/>
            <p:cNvSpPr/>
            <p:nvPr/>
          </p:nvSpPr>
          <p:spPr>
            <a:xfrm>
              <a:off x="2020252" y="2111692"/>
              <a:ext cx="1019175" cy="1143953"/>
            </a:xfrm>
            <a:custGeom>
              <a:avLst/>
              <a:gdLst/>
              <a:ahLst/>
              <a:cxnLst/>
              <a:rect l="l" t="t" r="r" b="b"/>
              <a:pathLst>
                <a:path w="1019175" h="1143953">
                  <a:moveTo>
                    <a:pt x="1019175" y="0"/>
                  </a:moveTo>
                  <a:lnTo>
                    <a:pt x="0" y="11439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56435" y="3224212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0" y="102870"/>
                  </a:moveTo>
                  <a:lnTo>
                    <a:pt x="27623" y="0"/>
                  </a:lnTo>
                  <a:lnTo>
                    <a:pt x="99060" y="638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437572" y="2111692"/>
              <a:ext cx="1019175" cy="1143953"/>
            </a:xfrm>
            <a:custGeom>
              <a:avLst/>
              <a:gdLst/>
              <a:ahLst/>
              <a:cxnLst/>
              <a:rect l="l" t="t" r="r" b="b"/>
              <a:pathLst>
                <a:path w="1019175" h="1143953">
                  <a:moveTo>
                    <a:pt x="0" y="0"/>
                  </a:moveTo>
                  <a:lnTo>
                    <a:pt x="1019175" y="11439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421505" y="3224212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102870"/>
                  </a:moveTo>
                  <a:lnTo>
                    <a:pt x="0" y="63817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468880" y="1664970"/>
              <a:ext cx="1538288" cy="446722"/>
            </a:xfrm>
            <a:prstGeom prst="roundRect">
              <a:avLst>
                <a:gd name="adj" fmla="val 2132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305878" y="3327082"/>
              <a:ext cx="1052512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118610" y="3327082"/>
              <a:ext cx="1052512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802399" y="1739265"/>
              <a:ext cx="87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 (1, 10]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35207" y="1905952"/>
              <a:ext cx="14065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 + SSTable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36371" y="3401378"/>
              <a:ext cx="790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 (1, 5]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09241" y="3401378"/>
              <a:ext cx="87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 (5, 10]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355532" y="264033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83257" y="267033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836670" y="264033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863442" y="267033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分裂</a:t>
              </a:r>
            </a:p>
          </p:txBody>
        </p:sp>
      </p:grpSp>
      <p:grpSp>
        <p:nvGrpSpPr>
          <p:cNvPr id="39" name="c1-table-2"/>
          <p:cNvGrpSpPr/>
          <p:nvPr/>
        </p:nvGrpSpPr>
        <p:grpSpPr>
          <a:xfrm>
            <a:off x="533400" y="4117658"/>
            <a:ext cx="5410200" cy="1143952"/>
            <a:chOff x="533400" y="4117658"/>
            <a:chExt cx="5410200" cy="1143952"/>
          </a:xfrm>
        </p:grpSpPr>
        <p:sp>
          <p:nvSpPr>
            <p:cNvPr id="23" name="Rectangle 23"/>
            <p:cNvSpPr/>
            <p:nvPr/>
          </p:nvSpPr>
          <p:spPr>
            <a:xfrm>
              <a:off x="533400" y="4117658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6001" y="4234815"/>
              <a:ext cx="20360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METADATA 行键（表, 结束行）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53574" y="42348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分裂前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69002" y="42348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分裂后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8078" y="4616768"/>
              <a:ext cx="3164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T, 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08376" y="46167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38650" y="4508182"/>
              <a:ext cx="149542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23804" y="4616768"/>
              <a:ext cx="11909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新增，指向 (1, 5]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8758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88061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4997768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T, 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08376" y="4997768"/>
              <a:ext cx="844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 (1, 10]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23804" y="4997768"/>
              <a:ext cx="844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改为 (5, 10]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117658"/>
              <a:ext cx="5410200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908935" y="4117658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424362" y="4117658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text-3"/>
          <p:cNvGrpSpPr/>
          <p:nvPr/>
        </p:nvGrpSpPr>
        <p:grpSpPr>
          <a:xfrm>
            <a:off x="528066" y="5443538"/>
            <a:ext cx="5104638" cy="412052"/>
            <a:chOff x="528066" y="5443538"/>
            <a:chExt cx="5104638" cy="412052"/>
          </a:xfrm>
        </p:grpSpPr>
        <p:sp>
          <p:nvSpPr>
            <p:cNvPr id="40" name="TextBox 40"/>
            <p:cNvSpPr txBox="1"/>
            <p:nvPr/>
          </p:nvSpPr>
          <p:spPr>
            <a:xfrm>
              <a:off x="528066" y="5443538"/>
              <a:ext cx="5104638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METADATA 的行键是结束行，(5, 10] 的结束行仍是 10，沿用原来那行，所以原课件说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「元数据增加一行」。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248400" y="1524000"/>
            <a:ext cx="5410200" cy="1999298"/>
            <a:chOff x="6248400" y="1524000"/>
            <a:chExt cx="5410200" cy="1999298"/>
          </a:xfrm>
        </p:grpSpPr>
        <p:sp>
          <p:nvSpPr>
            <p:cNvPr id="42" name="Rectangle 42"/>
            <p:cNvSpPr/>
            <p:nvPr/>
          </p:nvSpPr>
          <p:spPr>
            <a:xfrm>
              <a:off x="6248400" y="1524000"/>
              <a:ext cx="5410200" cy="1999298"/>
            </a:xfrm>
            <a:prstGeom prst="roundRect">
              <a:avLst>
                <a:gd name="adj" fmla="val 66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1657350"/>
              <a:ext cx="47625" cy="173259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7475" y="1704975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26543" y="1737836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分裂（子表服务器发起）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77000" y="20974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32448" y="2045494"/>
              <a:ext cx="4702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每个子表的数据 = 内存中的 memtable + GFS 中多个 SSTable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77000" y="238220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32448" y="2330291"/>
              <a:ext cx="44670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内存索引信息分成两份：(1, 10] → (1, 5]、(5, 10]，形成两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memtable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77000" y="29108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32448" y="2857976"/>
              <a:ext cx="48974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 先共享，等 compaction 时再生成各自的 SSTable 文件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77000" y="319563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32448" y="3142774"/>
              <a:ext cx="43230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子表服务器修改 METADATA，增加一行，再通知 Master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248400" y="3688080"/>
            <a:ext cx="5410200" cy="1471612"/>
            <a:chOff x="6248400" y="3688080"/>
            <a:chExt cx="5410200" cy="1471612"/>
          </a:xfrm>
        </p:grpSpPr>
        <p:sp>
          <p:nvSpPr>
            <p:cNvPr id="55" name="Rectangle 55"/>
            <p:cNvSpPr/>
            <p:nvPr/>
          </p:nvSpPr>
          <p:spPr>
            <a:xfrm>
              <a:off x="6248400" y="3688080"/>
              <a:ext cx="5410200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3821430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67475" y="386905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33693" y="390191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合并（主节点发起）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77000" y="426148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32448" y="420862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把要合并的相邻子表迁移到同一台子表服务器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77000" y="45462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32448" y="4494371"/>
              <a:ext cx="3484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子表服务器合并它们的 memtable 和 SSTable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77000" y="483108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32448" y="477916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更新元数据：两行合成一行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6248400" y="5323522"/>
            <a:ext cx="5410200" cy="702945"/>
            <a:chOff x="6248400" y="5323522"/>
            <a:chExt cx="5410200" cy="702945"/>
          </a:xfrm>
        </p:grpSpPr>
        <p:sp>
          <p:nvSpPr>
            <p:cNvPr id="66" name="Rectangle 66"/>
            <p:cNvSpPr/>
            <p:nvPr/>
          </p:nvSpPr>
          <p:spPr>
            <a:xfrm>
              <a:off x="6248400" y="532352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453188" y="5574985"/>
              <a:ext cx="200023" cy="200023"/>
              <a:chOff x="6453188" y="5574985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453188" y="55749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586538" y="56416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756273" y="5468779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数据不断写入和删除，靠分裂与合并维持顺序分布，并让子表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容量大致相当。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702095" cy="3351847"/>
            <a:chOff x="667512" y="1835468"/>
            <a:chExt cx="670209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对比和应用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921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Bigtable 的得失、与 Dynamo 的对照，以及它在 Google 内外的用法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内容提要：对比和应用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54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索引层管一致性，GFS 管可靠性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71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与 Dynamo 两条路线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5029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Analytics、个性化搜索、Google Earth、HBase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010900" cy="909257"/>
            <a:chOff x="520446" y="342900"/>
            <a:chExt cx="110109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对比和应用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0109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优缺点：可扩展、恢复快，但一个子表只有一处服务，故障时会短暂中断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1999298"/>
            <a:chOff x="533400" y="1524000"/>
            <a:chExt cx="5410200" cy="19992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99298"/>
            </a:xfrm>
            <a:prstGeom prst="roundRect">
              <a:avLst>
                <a:gd name="adj" fmla="val 66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25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4735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3942" y="1737836"/>
              <a:ext cx="13496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优点（原课件第75页）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2000" y="20974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7448" y="2045494"/>
              <a:ext cx="45890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兼顾一致性和可用性：Bigtable 管一致性和容错，GFS 管数据可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2509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73179"/>
              <a:ext cx="36573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结构清楚：分布式文件存储系统 + 分布式索引层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9108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85797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线性可扩展，可到数千台服务器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319563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3142774"/>
              <a:ext cx="3140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易于实现故障恢复（原课件说 1 分钟内）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688080"/>
            <a:ext cx="5410200" cy="2170748"/>
            <a:chOff x="533400" y="3688080"/>
            <a:chExt cx="5410200" cy="2170748"/>
          </a:xfrm>
        </p:grpSpPr>
        <p:sp>
          <p:nvSpPr>
            <p:cNvPr id="20" name="Rectangle 20"/>
            <p:cNvSpPr/>
            <p:nvPr/>
          </p:nvSpPr>
          <p:spPr>
            <a:xfrm>
              <a:off x="533400" y="3688080"/>
              <a:ext cx="5410200" cy="2170748"/>
            </a:xfrm>
            <a:prstGeom prst="roundRect">
              <a:avLst>
                <a:gd name="adj" fmla="val 6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821430"/>
              <a:ext cx="47625" cy="19040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38690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5147" y="39019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2000" y="426148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7448" y="4208621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单副本服务：每个子表同一时刻只由一台服务器提供服务，它宕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机后要等重新分配和日志回放，中间有短暂中断，不适合实时性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要求很高的场景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2000" y="503205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7448" y="4980146"/>
              <a:ext cx="4605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架构复杂，依赖 GFS、Chubby、调度器，子系统之间的依赖也复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629728"/>
            <a:chOff x="6248400" y="1524000"/>
            <a:chExt cx="5410200" cy="1629728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0998" y="2045494"/>
              <a:ext cx="481660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原课件第75页写「GFS（可用性 A、可靠性 P）」。CAP 里的 P 是分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区容错（Partition tolerance），不是可靠性。Bigtable 保证单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行强一致，网络分区时宁可让部分子表暂时不可用，属于偏 C 的设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计。</a:t>
              </a:r>
            </a:p>
          </p:txBody>
        </p:sp>
      </p:grpSp>
      <p:grpSp>
        <p:nvGrpSpPr>
          <p:cNvPr id="49" name="c2-table-2"/>
          <p:cNvGrpSpPr/>
          <p:nvPr/>
        </p:nvGrpSpPr>
        <p:grpSpPr>
          <a:xfrm>
            <a:off x="6248400" y="3318510"/>
            <a:ext cx="5410200" cy="1907858"/>
            <a:chOff x="6248400" y="3318510"/>
            <a:chExt cx="5410200" cy="1907858"/>
          </a:xfrm>
        </p:grpSpPr>
        <p:sp>
          <p:nvSpPr>
            <p:cNvPr id="35" name="Rectangle 35"/>
            <p:cNvSpPr/>
            <p:nvPr/>
          </p:nvSpPr>
          <p:spPr>
            <a:xfrm>
              <a:off x="6248400" y="3318510"/>
              <a:ext cx="5410200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75881" y="343995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08668" y="34399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管什么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41936" y="3973354"/>
              <a:ext cx="12951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索引层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81213" y="3860006"/>
              <a:ext cx="31015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单行原子、有序、一个子表只由一台服务器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写，保证一致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43815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4386262"/>
              <a:ext cx="5410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1936" y="4506754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81213" y="4506754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数据块 3 副本，服务器坏了数据不丢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48015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1936" y="4926806"/>
              <a:ext cx="615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81213" y="492680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多数派复制，保证全局信息一致、选唯一主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3318510"/>
              <a:ext cx="5410200" cy="1907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82915" y="3318510"/>
              <a:ext cx="9525" cy="1907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llout-3"/>
          <p:cNvGrpSpPr/>
          <p:nvPr/>
        </p:nvGrpSpPr>
        <p:grpSpPr>
          <a:xfrm>
            <a:off x="6248400" y="5391150"/>
            <a:ext cx="5410200" cy="467678"/>
            <a:chOff x="6248400" y="5391150"/>
            <a:chExt cx="5410200" cy="467678"/>
          </a:xfrm>
        </p:grpSpPr>
        <p:sp>
          <p:nvSpPr>
            <p:cNvPr id="50" name="Rectangle 50"/>
            <p:cNvSpPr/>
            <p:nvPr/>
          </p:nvSpPr>
          <p:spPr>
            <a:xfrm>
              <a:off x="6248400" y="5391150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453188" y="5525453"/>
              <a:ext cx="200026" cy="200025"/>
              <a:chOff x="6453188" y="5525453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453188" y="55254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492926" y="55699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27642" y="56810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756273" y="5536406"/>
              <a:ext cx="47304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这里的「单副本」说的是服务，数据在 GFS 上仍有多个副本。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171845" cy="909257"/>
            <a:chOff x="520446" y="342900"/>
            <a:chExt cx="111718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对比和应用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1718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与 Dynamo：按范围有序的主从表格，对按哈希散开的对等键值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28066" y="1524000"/>
            <a:ext cx="6281356" cy="3632454"/>
            <a:chOff x="528066" y="1524000"/>
            <a:chExt cx="6281356" cy="363245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75995" y="1651635"/>
              <a:ext cx="1547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Bigtable 表格存储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86277" y="1651635"/>
              <a:ext cx="1472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Dynamo 键值存储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7900" y="20964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1934" y="2096452"/>
              <a:ext cx="11017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 范围顺序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4637" y="209645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一致性哈希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4088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413635"/>
              <a:ext cx="627602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9638" y="25412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61934" y="25412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4637" y="2541270"/>
              <a:ext cx="569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P2P 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527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7900" y="29860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61934" y="29860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34637" y="29860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2975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302318"/>
              <a:ext cx="627602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9638" y="343090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61934" y="3430905"/>
              <a:ext cx="1893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Get/Put/Scan/Delete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34637" y="3430905"/>
              <a:ext cx="726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Get/Put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423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9638" y="38747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61934" y="3874770"/>
              <a:ext cx="1966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SSTable，文件放在 GFS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34637" y="387477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各节点本地的可插拔存储引擎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1871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191952"/>
              <a:ext cx="6276022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8769" y="443960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672590" y="4201478"/>
              <a:ext cx="2553652" cy="6657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61934" y="4319588"/>
              <a:ext cx="187394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Distributed index (DB)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built on GFS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245292" y="4201478"/>
              <a:ext cx="2553652" cy="6657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34637" y="4439602"/>
              <a:ext cx="1991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Distributed hash table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276022" cy="33528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658302" y="1524000"/>
              <a:ext cx="9525" cy="3352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231005" y="1524000"/>
              <a:ext cx="9525" cy="33528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8066" y="4951095"/>
              <a:ext cx="27650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据原课件第76页；Dynamo 的细节见第5部分</a:t>
              </a:r>
            </a:p>
          </p:txBody>
        </p:sp>
      </p:grpSp>
      <p:grpSp>
        <p:nvGrpSpPr>
          <p:cNvPr id="48" name="c1-callout-2"/>
          <p:cNvGrpSpPr/>
          <p:nvPr/>
        </p:nvGrpSpPr>
        <p:grpSpPr>
          <a:xfrm>
            <a:off x="533400" y="5290185"/>
            <a:ext cx="6276022" cy="729615"/>
            <a:chOff x="533400" y="5290185"/>
            <a:chExt cx="6276022" cy="729615"/>
          </a:xfrm>
        </p:grpSpPr>
        <p:sp>
          <p:nvSpPr>
            <p:cNvPr id="43" name="Rectangle 43"/>
            <p:cNvSpPr/>
            <p:nvPr/>
          </p:nvSpPr>
          <p:spPr>
            <a:xfrm>
              <a:off x="533400" y="5290185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554982"/>
              <a:ext cx="200023" cy="200023"/>
              <a:chOff x="738188" y="5554982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5549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56216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5435918"/>
              <a:ext cx="524294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两者的差别根子在数据分布：有序分布才能 Scan，哈希分布才能去中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心化。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7114222" y="1524000"/>
            <a:ext cx="4544378" cy="1466850"/>
            <a:chOff x="7114222" y="1524000"/>
            <a:chExt cx="4544378" cy="1466850"/>
          </a:xfrm>
        </p:grpSpPr>
        <p:sp>
          <p:nvSpPr>
            <p:cNvPr id="49" name="Rectangle 49"/>
            <p:cNvSpPr/>
            <p:nvPr/>
          </p:nvSpPr>
          <p:spPr>
            <a:xfrm>
              <a:off x="7114222" y="1524000"/>
              <a:ext cx="454437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123748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344728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36168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37870" y="2072640"/>
              <a:ext cx="39227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原表 Dynamo 的「存储」一格只写了「索引」，含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义不清；Dynamo 论文里每个节点用可插拔的本地引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擎（如 Berkeley DB、MySQL）存数据。</a:t>
              </a:r>
            </a:p>
          </p:txBody>
        </p:sp>
      </p:grpSp>
      <p:grpSp>
        <p:nvGrpSpPr>
          <p:cNvPr id="73" name="c2-compare-2"/>
          <p:cNvGrpSpPr/>
          <p:nvPr/>
        </p:nvGrpSpPr>
        <p:grpSpPr>
          <a:xfrm>
            <a:off x="7114222" y="3166110"/>
            <a:ext cx="4544378" cy="2853690"/>
            <a:chOff x="7114222" y="3166110"/>
            <a:chExt cx="4544378" cy="2853690"/>
          </a:xfrm>
        </p:grpSpPr>
        <p:sp>
          <p:nvSpPr>
            <p:cNvPr id="55" name="Rectangle 55"/>
            <p:cNvSpPr/>
            <p:nvPr/>
          </p:nvSpPr>
          <p:spPr>
            <a:xfrm>
              <a:off x="7114222" y="3166110"/>
              <a:ext cx="2033588" cy="2853690"/>
            </a:xfrm>
            <a:prstGeom prst="roundRect">
              <a:avLst>
                <a:gd name="adj" fmla="val 655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99770" y="3380422"/>
              <a:ext cx="16054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Bigtable 这一路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315200" y="375666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71220" y="370046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要按行键范围扫描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315200" y="405860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71220" y="400240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要单行强一致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15200" y="43614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471220" y="4305300"/>
              <a:ext cx="1351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能接受有 Master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和短暂不可用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625012" y="3166110"/>
              <a:ext cx="2033588" cy="2853690"/>
            </a:xfrm>
            <a:prstGeom prst="roundRect">
              <a:avLst>
                <a:gd name="adj" fmla="val 655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810560" y="3380422"/>
              <a:ext cx="15304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Dynamo 这一路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9825990" y="375666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982010" y="3700462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只按 key 读写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9825990" y="405860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982010" y="40024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写入必须随时可用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9825990" y="43614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982010" y="4305300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能接受最终一致、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自己解决冲突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9194482" y="4401502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249054" y="45315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33168" cy="909257"/>
            <a:chOff x="520446" y="342900"/>
            <a:chExt cx="98331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对比和应用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331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应用：Google Analytics 与个性化搜索，行键设计决定访问效率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2223135"/>
            <a:chOff x="533400" y="1524000"/>
            <a:chExt cx="5410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53460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5296" y="1769269"/>
              <a:ext cx="2485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Google Analytics（原课件第77页）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53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原始点击表（约 200 TB）：每个终端用户会话一行，行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名是 {网站名, 会话时间}，访问同一网站的会话排在一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起并按时间有序。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017520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汇总表（约 20 TB）：每个被统计网站的各种汇总，由周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期性的 MapReduce 作业从原始点击表生成。</a:t>
              </a:r>
            </a:p>
          </p:txBody>
        </p:sp>
      </p:grpSp>
      <p:grpSp>
        <p:nvGrpSpPr>
          <p:cNvPr id="23" name="c1-cells-2"/>
          <p:cNvGrpSpPr/>
          <p:nvPr/>
        </p:nvGrpSpPr>
        <p:grpSpPr>
          <a:xfrm>
            <a:off x="528638" y="3937635"/>
            <a:ext cx="5414962" cy="419100"/>
            <a:chOff x="528638" y="3937635"/>
            <a:chExt cx="5414962" cy="419100"/>
          </a:xfrm>
        </p:grpSpPr>
        <p:sp>
          <p:nvSpPr>
            <p:cNvPr id="14" name="TextBox 14"/>
            <p:cNvSpPr txBox="1"/>
            <p:nvPr/>
          </p:nvSpPr>
          <p:spPr>
            <a:xfrm>
              <a:off x="528638" y="409098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95350" y="3937635"/>
              <a:ext cx="1262062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9099" y="4090988"/>
              <a:ext cx="10336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jlu.edu.cn|09:00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157412" y="3937635"/>
              <a:ext cx="1262062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272114" y="4090988"/>
              <a:ext cx="10336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jlu.edu.cn|09:03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419475" y="3937635"/>
              <a:ext cx="1262062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33224" y="4090988"/>
              <a:ext cx="10336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jlu.edu.cn|09:10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681538" y="3937635"/>
              <a:ext cx="12620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64435" y="4090988"/>
              <a:ext cx="10972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pku.edu.cn|08:55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4547235"/>
            <a:ext cx="5410200" cy="1059180"/>
            <a:chOff x="533400" y="4547235"/>
            <a:chExt cx="5410200" cy="1059180"/>
          </a:xfrm>
        </p:grpSpPr>
        <p:sp>
          <p:nvSpPr>
            <p:cNvPr id="24" name="Rectangle 24"/>
            <p:cNvSpPr/>
            <p:nvPr/>
          </p:nvSpPr>
          <p:spPr>
            <a:xfrm>
              <a:off x="533400" y="454723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976813"/>
              <a:ext cx="200026" cy="200025"/>
              <a:chOff x="738188" y="4976813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9768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50212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51323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4695825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上面是示意的行键。以网站名开头，同一网站的会话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按时间连成一段，生成某个网站的报表只需扫描连续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的行。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248400" y="1524000"/>
            <a:ext cx="5410200" cy="2607945"/>
            <a:chOff x="6248400" y="1524000"/>
            <a:chExt cx="5410200" cy="260794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1733550"/>
              <a:ext cx="208026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38746" y="1769269"/>
              <a:ext cx="1994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个性化搜索（原课件第78页）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9880" y="2110740"/>
              <a:ext cx="32895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每个用户一行，行键是唯一的用户 ID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880" y="24460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每类行为一个列族，例如网页搜索记录一个列族（你的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全部搜索历史）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306705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每个单元的时间戳记录这次行为发生的时间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34651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340233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MapReduce 扫描 Bigtable 生成用户画像，用来个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性化实时搜索结果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248400" y="4322445"/>
            <a:ext cx="5410200" cy="1283970"/>
            <a:chOff x="6248400" y="4322445"/>
            <a:chExt cx="5410200" cy="1283970"/>
          </a:xfrm>
        </p:grpSpPr>
        <p:sp>
          <p:nvSpPr>
            <p:cNvPr id="44" name="Rectangle 44"/>
            <p:cNvSpPr/>
            <p:nvPr/>
          </p:nvSpPr>
          <p:spPr>
            <a:xfrm>
              <a:off x="6248400" y="4322445"/>
              <a:ext cx="5410200" cy="1283970"/>
            </a:xfrm>
            <a:prstGeom prst="roundRect">
              <a:avLst>
                <a:gd name="adj" fmla="val 890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53188" y="4864418"/>
              <a:ext cx="200026" cy="200025"/>
              <a:chOff x="6453188" y="4864418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453188" y="48644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92926" y="49088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27642" y="50199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55130" y="4583430"/>
              <a:ext cx="44824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用户 ID 作行键，一个用户的全部行为在同一行，读一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行就拿到完整历史；更新只涉及一行，单行原子就够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130" y="5991225"/>
              <a:ext cx="9505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两个例子都用到第一节的三个维度：行键决定数据怎样聚在一起，列族给数据分类，时间戳记录发生时刻。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43399" cy="909257"/>
            <a:chOff x="520446" y="342900"/>
            <a:chExt cx="79433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 · 对比和应用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433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应用：Google Earth 的影像表，与开源实现 HBase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193982" cy="4813935"/>
            <a:chOff x="533400" y="1524000"/>
            <a:chExt cx="5193982" cy="4813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813935"/>
            </a:xfrm>
            <a:prstGeom prst="roundRect">
              <a:avLst>
                <a:gd name="adj" fmla="val 27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5472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311753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5380" y="1750695"/>
              <a:ext cx="3113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Google Maps / Google Earth（原课件第79页）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42656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预处理：原始影像表约 70 TB，每行对应一个地理区块，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行名的设计让相邻区块排在一起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68890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3271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列族记录每个区块的数据来源：每张原始图像一列，列很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多但很稀疏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24897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3192780"/>
              <a:ext cx="2162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MapReduce 预处理数据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355092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3494722"/>
              <a:ext cx="44028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服务：一张表索引 GFS 中的数据，只有约 500 GB，但要低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延迟地承受每秒上万次查询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032182" y="1524000"/>
            <a:ext cx="5626418" cy="4001453"/>
            <a:chOff x="6032182" y="1524000"/>
            <a:chExt cx="5626418" cy="4001453"/>
          </a:xfrm>
        </p:grpSpPr>
        <p:sp>
          <p:nvSpPr>
            <p:cNvPr id="20" name="Rectangle 20"/>
            <p:cNvSpPr/>
            <p:nvPr/>
          </p:nvSpPr>
          <p:spPr>
            <a:xfrm>
              <a:off x="6032182" y="1524000"/>
              <a:ext cx="5626418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57428" y="1651635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Bigtable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76576" y="1651635"/>
              <a:ext cx="5503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HBase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31052" y="2096452"/>
              <a:ext cx="1022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Tablet 子表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43784" y="2096452"/>
              <a:ext cx="573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Region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32182" y="24088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32182" y="2413635"/>
              <a:ext cx="5626418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31052" y="2541270"/>
              <a:ext cx="12368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TabletServer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43784" y="2541270"/>
              <a:ext cx="1178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RegionServer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32182" y="28527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31052" y="2986088"/>
              <a:ext cx="687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43784" y="2986088"/>
              <a:ext cx="761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HMaster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32182" y="32975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32182" y="3302318"/>
              <a:ext cx="5626418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31052" y="3430905"/>
              <a:ext cx="6493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43784" y="3430905"/>
              <a:ext cx="924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ZooKeeper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37423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31052" y="3874770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43784" y="3874770"/>
              <a:ext cx="43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4187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4191952"/>
              <a:ext cx="5626418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31052" y="4319588"/>
              <a:ext cx="717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43784" y="4319588"/>
              <a:ext cx="431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HFile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46320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31052" y="4764405"/>
              <a:ext cx="881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43784" y="4764405"/>
              <a:ext cx="898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MemStore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50758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32182" y="5080635"/>
              <a:ext cx="5626418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31052" y="5209223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提交日志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43784" y="5209223"/>
              <a:ext cx="1143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WAL（HLog）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1524000"/>
              <a:ext cx="5626418" cy="40014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840152" y="1524000"/>
              <a:ext cx="9525" cy="40014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text-2"/>
          <p:cNvGrpSpPr/>
          <p:nvPr/>
        </p:nvGrpSpPr>
        <p:grpSpPr>
          <a:xfrm>
            <a:off x="6026467" y="5719286"/>
            <a:ext cx="5388102" cy="661988"/>
            <a:chOff x="6026467" y="5719286"/>
            <a:chExt cx="5388102" cy="661988"/>
          </a:xfrm>
        </p:grpSpPr>
        <p:sp>
          <p:nvSpPr>
            <p:cNvPr id="53" name="TextBox 53"/>
            <p:cNvSpPr txBox="1"/>
            <p:nvPr/>
          </p:nvSpPr>
          <p:spPr>
            <a:xfrm>
              <a:off x="6026467" y="5719286"/>
              <a:ext cx="5388102" cy="661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原课件第80页列出的差别（较早版本的 HBase）：不按列族做访问控制；时间戳到毫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秒而非微秒；不支持客户端脚本；可用 HDFS 或其他文件系统；不支持内存映射子表；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多个备用 Master 提高容错。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194560" cy="264033"/>
            <a:chOff x="526542" y="1545907"/>
            <a:chExt cx="21945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914525"/>
            <a:chOff x="533400" y="1928812"/>
            <a:chExt cx="5410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79384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Bigtable 的数据模型是怎样的映射？「单行原子」意味着什么做不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(行键, 列, 时间戳) → 字符串的稀疏有序多维映射。同一行的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读写是原子的，但跨行的多个更新不能放进一个事务，失败时要应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用自己处理。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5410200" cy="1671638"/>
            <a:chOff x="533400" y="4008120"/>
            <a:chExt cx="5410200" cy="1671638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3291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宕机后，客户端还能读写数据吗？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85724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能。客户端靠 Chubby 和 METADATA 表定位子表后直连子表服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务器，数据不经过 Master，子表分配也不变；只有建表、分配子表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等元数据操作要等新 Master。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428750"/>
            <a:chOff x="6248400" y="1928812"/>
            <a:chExt cx="54102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3185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Webtable 为什么把 URL 反转后作行键？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73510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反转后同一域名的网页前缀相同，在字典序里相邻，多半落在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同一或相邻子表，按站点扫描只读连续的行，涉及的服务器少。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522345"/>
            <a:ext cx="5410200" cy="2157412"/>
            <a:chOff x="6248400" y="3522345"/>
            <a:chExt cx="5410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6248400" y="3522345"/>
              <a:ext cx="5410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7033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7361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043839"/>
              <a:ext cx="5014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为什么要先拿到出错服务器的锁，才重新分配它的子表？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328636"/>
              <a:ext cx="47109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拿到锁说明 Chubby 正常且那台服务器已丢锁，它会自己停止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服务；这样同一个子表不会同时由两台服务器服务。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62076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答不上时回到对应页：数据模型看第7–9页，架构看第20页，容错看第42、44页。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自测题（二）估算与计算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881884" cy="278702"/>
            <a:chOff x="526161" y="1547336"/>
            <a:chExt cx="288188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带计算的题把单位写全，再算数。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768792"/>
            <a:chOff x="533400" y="1941195"/>
            <a:chExt cx="5410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68315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METADATA 子表 128 MB、每行 1 KB，三层定位最多能管多少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个用户子表？若每个用户子表 128 MB，共多少数据？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049905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每个元数据子表记 2¹⁷ 个子表，两级共 2¹⁷ × 2¹⁷ = 2³⁴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个；× 2²⁷ B = 2⁶¹ B = 2 EB。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86200"/>
            <a:ext cx="5410200" cy="1768792"/>
            <a:chOff x="533400" y="3886200"/>
            <a:chExt cx="5410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533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434840"/>
              <a:ext cx="4785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台子表服务器每台 200 个子表，坏了一台后均分，其余每台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接几个？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994910"/>
              <a:ext cx="4529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 = 49 × 4 + 4：45 台各接 4 个，4 台各接 5 个。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768792"/>
            <a:chOff x="6248400" y="1941195"/>
            <a:chExt cx="5410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个副本的 Chubby cell 最多容忍几台故障？部署成 3 + 3 + 1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的两地三中心，同城两个中心一起故障还能服务吗？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3049905"/>
              <a:ext cx="48400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多数派是 4，最多容忍 3 台。同城两个中心坏掉后只剩 1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副本，不到 4 个，不能服务。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86200"/>
            <a:ext cx="5410200" cy="1768792"/>
            <a:chOff x="6248400" y="3886200"/>
            <a:chExt cx="5410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6248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434840"/>
              <a:ext cx="44645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memtable 32 MB，写入 8 MB/s，转储 80 MB/s。用两次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minor compaction 迁移，暂停多久？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994910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第一次转储 0.4 s，期间写入 3.2 MB；停写后第二次转储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 ÷ 80 = 0.04 s，暂停约 40 ms。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6821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容量题按 2 的幂算：1 KB = 2¹⁰ B，128 MB = 2²⁷ B，与原课件第46页的算法一致。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第6部分 表格系统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2572"/>
            <a:ext cx="6171971" cy="1631252"/>
            <a:chOff x="533400" y="1532572"/>
            <a:chExt cx="6171971" cy="1631252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5334" y="156138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858" y="1541145"/>
              <a:ext cx="57989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数据模型：(行, 列, 时间戳) → 值；行键字典序、单行原子，列族加限定词，时间戳存多版本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786890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5334" y="181570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858" y="1795462"/>
              <a:ext cx="5564696" cy="4053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架构：一个 Master 加多台子表服务器，数据存 GFS，全局信息交给 Chubby，客户端直连子表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241232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334" y="227004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858" y="2249805"/>
              <a:ext cx="44065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数据分布：按行键范围切子表，Chubby → Root → METADATA 三层定位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94598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5334" y="252436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858" y="2504123"/>
              <a:ext cx="5932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存储：先写日志再写 memtable，转储成不可修改的 SSTable，读时合并，靠 compaction 整理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48915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334" y="277868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858" y="2758440"/>
              <a:ext cx="5591366" cy="4053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容错：Master 抢锁判定服务器出局，新服务器回放日志；两次 minor compaction 缩短迁移暂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287078"/>
            <a:ext cx="6059805" cy="2157412"/>
            <a:chOff x="533400" y="3287078"/>
            <a:chExt cx="6059805" cy="2157412"/>
          </a:xfrm>
        </p:grpSpPr>
        <p:sp>
          <p:nvSpPr>
            <p:cNvPr id="23" name="Rectangle 23"/>
            <p:cNvSpPr/>
            <p:nvPr/>
          </p:nvSpPr>
          <p:spPr>
            <a:xfrm>
              <a:off x="533400" y="3287078"/>
              <a:ext cx="6059805" cy="2157412"/>
            </a:xfrm>
            <a:prstGeom prst="roundRect">
              <a:avLst>
                <a:gd name="adj" fmla="val 61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420428"/>
              <a:ext cx="47625" cy="18907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2475" y="3468052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4642" y="350091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2000" y="38604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7448" y="3808571"/>
              <a:ext cx="51742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KB 是行键上限（第10页）；Chubby 须多数正常、通常 5 副本（第16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页）；Proposer 发送的值（第18页）；Bitcast 应为 Bitcask（第19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页）；反转域名 cn.edu.jlu.www（第24页）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2000" y="463105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7448" y="4579144"/>
              <a:ext cx="52067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每台 10–1000 个子表（第38页）；由 Master 重新分配子表（第42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页）；minor compaction 在卸载前做（第45页）；CAP 的 P 是分区容错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（第50页）；Dynamo 存储一格（第51页）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898005" y="1524000"/>
            <a:ext cx="4760595" cy="1906905"/>
            <a:chOff x="6898005" y="1524000"/>
            <a:chExt cx="4760595" cy="1906905"/>
          </a:xfrm>
        </p:grpSpPr>
        <p:sp>
          <p:nvSpPr>
            <p:cNvPr id="32" name="Rectangle 32"/>
            <p:cNvSpPr/>
            <p:nvPr/>
          </p:nvSpPr>
          <p:spPr>
            <a:xfrm>
              <a:off x="6898005" y="1524000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6474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7531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92684" y="2023110"/>
              <a:ext cx="795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子表 Tablet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20481" y="202311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一段连续行，分布和负载均衡的单位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98005" y="2282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98005" y="2286952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2684" y="2404110"/>
              <a:ext cx="920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METADATA 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20481" y="2404110"/>
              <a:ext cx="24128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记每个子表的位置、SSTable 和回放点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98005" y="2663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2684" y="2785110"/>
              <a:ext cx="5579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SSTable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0481" y="278511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不可修改的有序文件，块加块索引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8005" y="3045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98005" y="304990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92684" y="3167062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Chubby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20481" y="3167062"/>
              <a:ext cx="21645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副本 Paxos 锁服务，选主和引导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98005" y="1524000"/>
              <a:ext cx="476059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321040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6898005" y="3595688"/>
            <a:ext cx="4760595" cy="1848802"/>
            <a:chOff x="6898005" y="3595688"/>
            <a:chExt cx="4760595" cy="1848802"/>
          </a:xfrm>
        </p:grpSpPr>
        <p:sp>
          <p:nvSpPr>
            <p:cNvPr id="51" name="Rectangle 51"/>
            <p:cNvSpPr/>
            <p:nvPr/>
          </p:nvSpPr>
          <p:spPr>
            <a:xfrm>
              <a:off x="6898005" y="3595688"/>
              <a:ext cx="4760595" cy="1848802"/>
            </a:xfrm>
            <a:prstGeom prst="roundRect">
              <a:avLst>
                <a:gd name="adj" fmla="val 721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078980" y="377666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67601" y="38095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72503" y="4117181"/>
              <a:ext cx="41338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大纲里的对象存储 S3 没有单独课件。复习时把第4–6部分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放在一起比：GFS/HDFS 存文件，Dynamo 存键值，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Bigtable 在 GFS 上建有序索引。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6" name="Rectangle 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1273" y="6039326"/>
              <a:ext cx="74224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复习时动手做三件事：画系统结构图，走一遍三层定位并算容量，推一遍一次读合并和一次迁移。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第6部分 分布式表格系统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tore_p6">
  <a:themeElements>
    <a:clrScheme name="dstore_p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tore_p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tore_p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2026-09-23T11:30:46Z</dcterms:created>
  <dcterms:modified xsi:type="dcterms:W3CDTF">2026-09-23T11:30:46Z</dcterms:modified>
  <cp:category/>
  <cp:contentStatus/>
</cp:coreProperties>
</file>