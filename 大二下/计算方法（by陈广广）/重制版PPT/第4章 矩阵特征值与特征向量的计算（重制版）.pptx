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uma_ch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uma_ch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8e1cfcf06b2330e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9e24bf8311b4046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d3e26bf49df5b66.png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372100" cy="4077843"/>
            <a:chOff x="666750" y="1619250"/>
            <a:chExt cx="5372100" cy="407784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29715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5751" y="1718310"/>
              <a:ext cx="1269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· 第4章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372100" cy="14592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040"/>
                </a:lnSpc>
              </a:pPr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矩阵特征值与特征向量</a:t>
              </a:r>
              <a:br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的计算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78714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4107180"/>
              <a:ext cx="478814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乘幂法、反幂法、原点平移与 Jacobi 旋转法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461676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4561522"/>
              <a:ext cx="2025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 PageRank 看特征向量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90728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85203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乘幂法与规范化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519779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514254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反幂法与原点平移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548830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5433060"/>
              <a:ext cx="11734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Jacobi 旋转法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067442" cy="205359"/>
            <a:chOff x="680466" y="6192202"/>
            <a:chExt cx="406744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0674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自学复习版｜据吉林大学《计算方法》第4章课件整理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1580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9698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特征值的定义与几何意义，PageRank 为什么是一个特征向量问题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80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 幂法及其变体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乘幂法与规范化，反幂法，原点平移，反幂法求指定特征值的特征向量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930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 Jacobi 旋转法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平面旋转阵、元素变换公式、选角、收敛性、特征向量累积、过关法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8731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4.4–4.6 补充速览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2901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原课件只有标题页：Householder 变换、QR 方法与应用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571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道自测题，方法对比与更正汇总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说出乘幂法收敛的前提，以及收敛速度由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|λ₂/λ₁| 决定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手算规范化乘幂法、反幂法的前几步，填出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迭代表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577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LU 分解实现反幂法，会选原点平移参数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λ₀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587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手算一次 Jacobi 旋转：定 θ、写 P、求 Pᵀ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 PageRank 向量为什么是特征值 1 的特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征向量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852160" cy="2997517"/>
            <a:chOff x="667512" y="1835468"/>
            <a:chExt cx="585216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引入：特征值问题从哪里来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791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先弄清定义和几何意义，再看网页排名怎样变成求特征向量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特征值与特征向量的定义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153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几何直观：Av 与 v 共线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9356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PageRank：链接矩阵的特征向量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88504" cy="909257"/>
            <a:chOff x="520446" y="342900"/>
            <a:chExt cx="68885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引入：特征值问题从哪里来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885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特征值问题：求数 λ，使 Ax = λx 有非零解 x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735002" cy="1937385"/>
            <a:chOff x="533400" y="1524000"/>
            <a:chExt cx="5735002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特征值与特征向量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2136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= (aᵢⱼ) ∈ Rⁿˣⁿ。若存在数 λ 和非零向量 x ∈ Rⁿ，使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"/>
                <p:cNvSpPr txBox="1">
                  <a:spLocks noGrp="1"/>
                </p:cNvSpPr>
                <p:nvPr/>
              </p:nvSpPr>
              <p:spPr>
                <a:xfrm>
                  <a:off x="781050" y="2440305"/>
                  <a:ext cx="5277802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Ax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λx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≠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</m:d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4.1.1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017520"/>
              <a:ext cx="47767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 λ 为 A 的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特征值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，x 为 A 相应于 λ 的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特征向量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651885"/>
            <a:ext cx="5735002" cy="2394585"/>
            <a:chOff x="533400" y="3651885"/>
            <a:chExt cx="5735002" cy="2394585"/>
          </a:xfrm>
        </p:grpSpPr>
        <p:sp>
          <p:nvSpPr>
            <p:cNvPr id="16" name="Rectangle 16"/>
            <p:cNvSpPr/>
            <p:nvPr/>
          </p:nvSpPr>
          <p:spPr>
            <a:xfrm>
              <a:off x="533400" y="3651885"/>
              <a:ext cx="5735002" cy="2394585"/>
            </a:xfrm>
            <a:prstGeom prst="roundRect">
              <a:avLst>
                <a:gd name="adj" fmla="val 556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42950" y="38614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0356" y="38971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求解分两步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42950" y="422529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4799" y="42675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3940" y="4238625"/>
              <a:ext cx="43567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求特征值：解特征方程（φ(λ) 称为特征多项式）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6"/>
                <p:cNvSpPr txBox="1">
                  <a:spLocks noGrp="1"/>
                </p:cNvSpPr>
                <p:nvPr/>
              </p:nvSpPr>
              <p:spPr>
                <a:xfrm>
                  <a:off x="742950" y="4549140"/>
                  <a:ext cx="5315902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det</m:t>
                            </m:r>
                          </m:fName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λI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4.1.2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Ellipse 23"/>
            <p:cNvSpPr/>
            <p:nvPr/>
          </p:nvSpPr>
          <p:spPr>
            <a:xfrm>
              <a:off x="742950" y="507492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4799" y="51172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3940" y="5088255"/>
              <a:ext cx="32764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求特征向量：对每个 λ 解齐次方程组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7"/>
                <p:cNvSpPr txBox="1">
                  <a:spLocks noGrp="1"/>
                </p:cNvSpPr>
                <p:nvPr/>
              </p:nvSpPr>
              <p:spPr>
                <a:xfrm>
                  <a:off x="742950" y="5398770"/>
                  <a:ext cx="5315902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λI</m:t>
                            </m:r>
                          </m:e>
                        </m:d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4.1.3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9" name="c2-card-1"/>
          <p:cNvGrpSpPr/>
          <p:nvPr/>
        </p:nvGrpSpPr>
        <p:grpSpPr>
          <a:xfrm>
            <a:off x="6573202" y="1524000"/>
            <a:ext cx="5085398" cy="2195512"/>
            <a:chOff x="6573202" y="1524000"/>
            <a:chExt cx="5085398" cy="2195512"/>
          </a:xfrm>
        </p:grpSpPr>
        <p:sp>
          <p:nvSpPr>
            <p:cNvPr id="28" name="Rectangle 28"/>
            <p:cNvSpPr/>
            <p:nvPr/>
          </p:nvSpPr>
          <p:spPr>
            <a:xfrm>
              <a:off x="6573202" y="1524000"/>
              <a:ext cx="5085398" cy="2195512"/>
            </a:xfrm>
            <a:prstGeom prst="roundRect">
              <a:avLst>
                <a:gd name="adj" fmla="val 6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582728" y="1657350"/>
              <a:ext cx="47625" cy="19288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820852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1501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79005" y="1768792"/>
              <a:ext cx="14602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(2 1; 1 2)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8"/>
                <p:cNvSpPr txBox="1">
                  <a:spLocks noGrp="1"/>
                </p:cNvSpPr>
                <p:nvPr/>
              </p:nvSpPr>
              <p:spPr>
                <a:xfrm>
                  <a:off x="6820852" y="2105025"/>
                  <a:ext cx="462819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</m:d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4" name="Ellipse 34"/>
            <p:cNvSpPr/>
            <p:nvPr/>
          </p:nvSpPr>
          <p:spPr>
            <a:xfrm>
              <a:off x="6826568" y="27070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84683" y="2644140"/>
              <a:ext cx="33034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3：(A − 3I)x = 0 得 x = (1, 1)ᵀ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826568" y="30422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84683" y="2979420"/>
              <a:ext cx="3299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= 1：(A − I)x = 0 得 x = (1, −1)ᵀ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14376" y="331136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特征向量乘任意非零常数仍是特征向量。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6573202" y="3910012"/>
            <a:ext cx="5085398" cy="1611630"/>
            <a:chOff x="6573202" y="3910012"/>
            <a:chExt cx="5085398" cy="1611630"/>
          </a:xfrm>
        </p:grpSpPr>
        <p:sp>
          <p:nvSpPr>
            <p:cNvPr id="40" name="Rectangle 40"/>
            <p:cNvSpPr/>
            <p:nvPr/>
          </p:nvSpPr>
          <p:spPr>
            <a:xfrm>
              <a:off x="6573202" y="3910012"/>
              <a:ext cx="5085398" cy="1611630"/>
            </a:xfrm>
            <a:prstGeom prst="roundRect">
              <a:avLst>
                <a:gd name="adj" fmla="val 70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765932" y="4612123"/>
              <a:ext cx="224134" cy="192560"/>
              <a:chOff x="6765932" y="4612123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878003" y="46824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765932" y="46121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878003" y="47602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7079933" y="4058602"/>
              <a:ext cx="4206240" cy="1398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 阶矩阵的 φ(λ) 是 n 次多项式。5 次及以上的方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程没有通用求根公式，展开行列式又很费事，高次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多项式的根对系数误差也很敏感，所以实际计算不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走“先求特征多项式”这条路，而是直接对矩阵迭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代或做相似变换。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16065" cy="909257"/>
            <a:chOff x="520446" y="342900"/>
            <a:chExt cx="80160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引入：特征值问题从哪里来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160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几何直观：特征向量被 A 作用后方向不变，只被拉伸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graph-1"/>
          <p:cNvGrpSpPr/>
          <p:nvPr/>
        </p:nvGrpSpPr>
        <p:grpSpPr>
          <a:xfrm>
            <a:off x="787718" y="1547812"/>
            <a:ext cx="5040106" cy="4301491"/>
            <a:chOff x="787718" y="1547812"/>
            <a:chExt cx="5040106" cy="4301491"/>
          </a:xfrm>
        </p:grpSpPr>
        <p:sp>
          <p:nvSpPr>
            <p:cNvPr id="7" name="Freeform 7"/>
            <p:cNvSpPr/>
            <p:nvPr/>
          </p:nvSpPr>
          <p:spPr>
            <a:xfrm>
              <a:off x="787718" y="4657725"/>
              <a:ext cx="4823460" cy="9525"/>
            </a:xfrm>
            <a:custGeom>
              <a:avLst/>
              <a:gdLst/>
              <a:ahLst/>
              <a:cxnLst/>
              <a:rect l="l" t="t" r="r" b="b"/>
              <a:pathLst>
                <a:path w="4823460" h="9525">
                  <a:moveTo>
                    <a:pt x="0" y="0"/>
                  </a:moveTo>
                  <a:lnTo>
                    <a:pt x="482346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611178" y="46101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399222" y="1815465"/>
              <a:ext cx="9525" cy="4033838"/>
            </a:xfrm>
            <a:custGeom>
              <a:avLst/>
              <a:gdLst/>
              <a:ahLst/>
              <a:cxnLst/>
              <a:rect l="l" t="t" r="r" b="b"/>
              <a:pathLst>
                <a:path w="9525" h="4033838">
                  <a:moveTo>
                    <a:pt x="0" y="4033838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351598" y="17202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43038" y="3810000"/>
              <a:ext cx="2005965" cy="829628"/>
            </a:xfrm>
            <a:custGeom>
              <a:avLst/>
              <a:gdLst/>
              <a:ahLst/>
              <a:cxnLst/>
              <a:rect l="l" t="t" r="r" b="b"/>
              <a:pathLst>
                <a:path w="2005965" h="829628">
                  <a:moveTo>
                    <a:pt x="0" y="829628"/>
                  </a:moveTo>
                  <a:lnTo>
                    <a:pt x="2005965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430905" y="3765232"/>
              <a:ext cx="105728" cy="88583"/>
            </a:xfrm>
            <a:custGeom>
              <a:avLst/>
              <a:gdLst/>
              <a:ahLst/>
              <a:cxnLst/>
              <a:rect l="l" t="t" r="r" b="b"/>
              <a:pathLst>
                <a:path w="105728" h="88583">
                  <a:moveTo>
                    <a:pt x="105728" y="7620"/>
                  </a:moveTo>
                  <a:lnTo>
                    <a:pt x="36195" y="88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46848" y="4657725"/>
              <a:ext cx="910590" cy="9525"/>
            </a:xfrm>
            <a:custGeom>
              <a:avLst/>
              <a:gdLst/>
              <a:ahLst/>
              <a:cxnLst/>
              <a:rect l="l" t="t" r="r" b="b"/>
              <a:pathLst>
                <a:path w="910590" h="9525">
                  <a:moveTo>
                    <a:pt x="0" y="0"/>
                  </a:moveTo>
                  <a:lnTo>
                    <a:pt x="9105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357438" y="46101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435418" y="2050732"/>
              <a:ext cx="3114675" cy="2576512"/>
            </a:xfrm>
            <a:custGeom>
              <a:avLst/>
              <a:gdLst/>
              <a:ahLst/>
              <a:cxnLst/>
              <a:rect l="l" t="t" r="r" b="b"/>
              <a:pathLst>
                <a:path w="3114675" h="2576512">
                  <a:moveTo>
                    <a:pt x="0" y="2576512"/>
                  </a:moveTo>
                  <a:lnTo>
                    <a:pt x="3114675" y="0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519612" y="1989772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0"/>
                  </a:moveTo>
                  <a:lnTo>
                    <a:pt x="60960" y="97155"/>
                  </a:lnTo>
                  <a:lnTo>
                    <a:pt x="0" y="23812"/>
                  </a:lnTo>
                  <a:close/>
                </a:path>
              </a:pathLst>
            </a:custGeom>
            <a:solidFill>
              <a:srgbClr val="2E7D4F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435418" y="3841432"/>
              <a:ext cx="950595" cy="785812"/>
            </a:xfrm>
            <a:custGeom>
              <a:avLst/>
              <a:gdLst/>
              <a:ahLst/>
              <a:cxnLst/>
              <a:rect l="l" t="t" r="r" b="b"/>
              <a:pathLst>
                <a:path w="950595" h="785812">
                  <a:moveTo>
                    <a:pt x="0" y="785812"/>
                  </a:moveTo>
                  <a:lnTo>
                    <a:pt x="9505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355532" y="3780472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0"/>
                  </a:moveTo>
                  <a:lnTo>
                    <a:pt x="60960" y="97155"/>
                  </a:lnTo>
                  <a:lnTo>
                    <a:pt x="0" y="2381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435418" y="4688205"/>
              <a:ext cx="950595" cy="785813"/>
            </a:xfrm>
            <a:custGeom>
              <a:avLst/>
              <a:gdLst/>
              <a:ahLst/>
              <a:cxnLst/>
              <a:rect l="l" t="t" r="r" b="b"/>
              <a:pathLst>
                <a:path w="950595" h="785813">
                  <a:moveTo>
                    <a:pt x="0" y="0"/>
                  </a:moveTo>
                  <a:lnTo>
                    <a:pt x="950595" y="785813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355532" y="5437822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97155"/>
                  </a:moveTo>
                  <a:lnTo>
                    <a:pt x="0" y="73343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361122" y="46196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462212" y="4638675"/>
              <a:ext cx="38100" cy="381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3544252" y="3743325"/>
              <a:ext cx="38100" cy="381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2462212" y="3743325"/>
              <a:ext cx="38100" cy="381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626292" y="1952625"/>
              <a:ext cx="38100" cy="381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2462212" y="5534025"/>
              <a:ext cx="38100" cy="381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735526" y="45920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53073" y="1547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11732" y="4606766"/>
              <a:ext cx="9700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30886" y="4711541"/>
              <a:ext cx="50075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v = (1,0)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34740" y="3711416"/>
              <a:ext cx="57708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Av = (2,1)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96732" y="3711416"/>
              <a:ext cx="3130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(1,1)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532144" y="1920716"/>
              <a:ext cx="10417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A(1,1)ᵀ = 3(1,1)ᵀ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52700" y="5502116"/>
              <a:ext cx="132127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(1,−1) 与 A(1,−1)ᵀ 重合</a:t>
              </a:r>
            </a:p>
          </p:txBody>
        </p:sp>
      </p:grpSp>
      <p:grpSp>
        <p:nvGrpSpPr>
          <p:cNvPr id="61" name="c2-table-1"/>
          <p:cNvGrpSpPr/>
          <p:nvPr/>
        </p:nvGrpSpPr>
        <p:grpSpPr>
          <a:xfrm>
            <a:off x="6243066" y="1524000"/>
            <a:ext cx="5415534" cy="2401824"/>
            <a:chOff x="6243066" y="1524000"/>
            <a:chExt cx="5415534" cy="2401824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90971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31357" y="1652588"/>
              <a:ext cx="204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Av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95314" y="1652588"/>
              <a:ext cx="10976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Av 与 v 的关系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32298" y="2076450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0)ᵀ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36510" y="2076450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1)ᵀ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31186" y="207645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不共线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，方向被转动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48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32298" y="2501265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1)ᵀ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36510" y="2501265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(5, 4)ᵀ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731186" y="250126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不共线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32298" y="2926080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1)ᵀ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36510" y="2926080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 3)ᵀ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31186" y="2926080"/>
              <a:ext cx="1923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Av = 3v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，特征向量，λ = 3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3216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48400" y="322135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85653" y="3349942"/>
              <a:ext cx="716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−1)ᵀ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92085" y="3349942"/>
              <a:ext cx="6826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−1)ᵀ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731186" y="3349942"/>
              <a:ext cx="20189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Av = 1·v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，特征向量，λ = 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1524000"/>
              <a:ext cx="541020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434262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8623935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43066" y="3720465"/>
              <a:ext cx="23874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(2 1; 1 2)，与上一页的例子相同</a:t>
              </a:r>
            </a:p>
          </p:txBody>
        </p:sp>
      </p:grpSp>
      <p:grpSp>
        <p:nvGrpSpPr>
          <p:cNvPr id="71" name="c2-card-2"/>
          <p:cNvGrpSpPr/>
          <p:nvPr/>
        </p:nvGrpSpPr>
        <p:grpSpPr>
          <a:xfrm>
            <a:off x="6248400" y="4065270"/>
            <a:ext cx="5410200" cy="2068830"/>
            <a:chOff x="6248400" y="4065270"/>
            <a:chExt cx="5410200" cy="2068830"/>
          </a:xfrm>
        </p:grpSpPr>
        <p:sp>
          <p:nvSpPr>
            <p:cNvPr id="62" name="Rectangle 62"/>
            <p:cNvSpPr/>
            <p:nvPr/>
          </p:nvSpPr>
          <p:spPr>
            <a:xfrm>
              <a:off x="6248400" y="4065270"/>
              <a:ext cx="5410200" cy="2068830"/>
            </a:xfrm>
            <a:prstGeom prst="roundRect">
              <a:avLst>
                <a:gd name="adj" fmla="val 64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57925" y="4198620"/>
              <a:ext cx="47625" cy="18021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84620" y="426339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68059" y="429768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怎样看图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492240" y="46834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648831" y="4623911"/>
              <a:ext cx="29516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一般的 v 经 A 作用后既伸缩又转向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492240" y="5001577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648831" y="4941094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特征向量方向上 A 只做伸缩，伸缩倍数就是 λ；λ &lt; 0 时方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向反过来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78524" y="5527358"/>
              <a:ext cx="46908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原课件用动画演示：拖动 v 的位置，Av 与 v 落在同一条过原点的直线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上时，v 就是特征向量。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61577" cy="909257"/>
            <a:chOff x="520446" y="342900"/>
            <a:chExt cx="756157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引入：特征值问题从哪里来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6157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PageRank：4 个网页的得分向量满足 Pr = M·Pr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graph-1"/>
          <p:cNvGrpSpPr/>
          <p:nvPr/>
        </p:nvGrpSpPr>
        <p:grpSpPr>
          <a:xfrm>
            <a:off x="1169988" y="1425258"/>
            <a:ext cx="3151504" cy="2047557"/>
            <a:chOff x="1169988" y="1425258"/>
            <a:chExt cx="3151504" cy="2047557"/>
          </a:xfrm>
        </p:grpSpPr>
        <p:sp>
          <p:nvSpPr>
            <p:cNvPr id="7" name="Freeform 7"/>
            <p:cNvSpPr/>
            <p:nvPr/>
          </p:nvSpPr>
          <p:spPr>
            <a:xfrm>
              <a:off x="1586865" y="1990725"/>
              <a:ext cx="2351722" cy="420687"/>
            </a:xfrm>
            <a:custGeom>
              <a:avLst/>
              <a:gdLst/>
              <a:ahLst/>
              <a:cxnLst/>
              <a:rect l="l" t="t" r="r" b="b"/>
              <a:pathLst>
                <a:path w="2351722" h="420687">
                  <a:moveTo>
                    <a:pt x="0" y="0"/>
                  </a:moveTo>
                  <a:cubicBezTo>
                    <a:pt x="812800" y="406400"/>
                    <a:pt x="1596708" y="420687"/>
                    <a:pt x="2351722" y="42862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917632" y="1990725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106680" y="0"/>
                  </a:moveTo>
                  <a:lnTo>
                    <a:pt x="42862" y="847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72590" y="1425258"/>
              <a:ext cx="2351722" cy="420687"/>
            </a:xfrm>
            <a:custGeom>
              <a:avLst/>
              <a:gdLst/>
              <a:ahLst/>
              <a:cxnLst/>
              <a:rect l="l" t="t" r="r" b="b"/>
              <a:pathLst>
                <a:path w="2351722" h="420687">
                  <a:moveTo>
                    <a:pt x="2351722" y="420687"/>
                  </a:moveTo>
                  <a:cubicBezTo>
                    <a:pt x="1539558" y="14288"/>
                    <a:pt x="755650" y="0"/>
                    <a:pt x="0" y="37782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86865" y="1761172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0" y="84773"/>
                  </a:moveTo>
                  <a:lnTo>
                    <a:pt x="63818" y="0"/>
                  </a:lnTo>
                  <a:lnTo>
                    <a:pt x="106680" y="8477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169988" y="2063115"/>
              <a:ext cx="199708" cy="1027748"/>
            </a:xfrm>
            <a:custGeom>
              <a:avLst/>
              <a:gdLst/>
              <a:ahLst/>
              <a:cxnLst/>
              <a:rect l="l" t="t" r="r" b="b"/>
              <a:pathLst>
                <a:path w="199708" h="1027748">
                  <a:moveTo>
                    <a:pt x="199708" y="0"/>
                  </a:moveTo>
                  <a:cubicBezTo>
                    <a:pt x="14288" y="370840"/>
                    <a:pt x="0" y="713422"/>
                    <a:pt x="156845" y="1027748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284922" y="3068955"/>
              <a:ext cx="84773" cy="106680"/>
            </a:xfrm>
            <a:custGeom>
              <a:avLst/>
              <a:gdLst/>
              <a:ahLst/>
              <a:cxnLst/>
              <a:rect l="l" t="t" r="r" b="b"/>
              <a:pathLst>
                <a:path w="84773" h="106680">
                  <a:moveTo>
                    <a:pt x="84773" y="106680"/>
                  </a:moveTo>
                  <a:lnTo>
                    <a:pt x="0" y="42862"/>
                  </a:lnTo>
                  <a:lnTo>
                    <a:pt x="8477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514475" y="2147888"/>
              <a:ext cx="199708" cy="1027747"/>
            </a:xfrm>
            <a:custGeom>
              <a:avLst/>
              <a:gdLst/>
              <a:ahLst/>
              <a:cxnLst/>
              <a:rect l="l" t="t" r="r" b="b"/>
              <a:pathLst>
                <a:path w="199708" h="1027747">
                  <a:moveTo>
                    <a:pt x="0" y="1027747"/>
                  </a:moveTo>
                  <a:cubicBezTo>
                    <a:pt x="185420" y="656907"/>
                    <a:pt x="199708" y="314325"/>
                    <a:pt x="42862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514475" y="2063115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0" y="0"/>
                  </a:moveTo>
                  <a:lnTo>
                    <a:pt x="85725" y="63818"/>
                  </a:lnTo>
                  <a:lnTo>
                    <a:pt x="0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585912" y="1992630"/>
              <a:ext cx="2354580" cy="1210628"/>
            </a:xfrm>
            <a:custGeom>
              <a:avLst/>
              <a:gdLst/>
              <a:ahLst/>
              <a:cxnLst/>
              <a:rect l="l" t="t" r="r" b="b"/>
              <a:pathLst>
                <a:path w="2354580" h="1210628">
                  <a:moveTo>
                    <a:pt x="0" y="0"/>
                  </a:moveTo>
                  <a:lnTo>
                    <a:pt x="2354580" y="12106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918585" y="3160395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106680" y="85725"/>
                  </a:moveTo>
                  <a:lnTo>
                    <a:pt x="0" y="84772"/>
                  </a:lnTo>
                  <a:lnTo>
                    <a:pt x="438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585912" y="2035492"/>
              <a:ext cx="2354580" cy="1210628"/>
            </a:xfrm>
            <a:custGeom>
              <a:avLst/>
              <a:gdLst/>
              <a:ahLst/>
              <a:cxnLst/>
              <a:rect l="l" t="t" r="r" b="b"/>
              <a:pathLst>
                <a:path w="2354580" h="1210628">
                  <a:moveTo>
                    <a:pt x="0" y="1210628"/>
                  </a:moveTo>
                  <a:lnTo>
                    <a:pt x="23545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918585" y="1992630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106680" y="0"/>
                  </a:moveTo>
                  <a:lnTo>
                    <a:pt x="43815" y="8572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169092" y="2080260"/>
              <a:ext cx="9525" cy="982980"/>
            </a:xfrm>
            <a:custGeom>
              <a:avLst/>
              <a:gdLst/>
              <a:ahLst/>
              <a:cxnLst/>
              <a:rect l="l" t="t" r="r" b="b"/>
              <a:pathLst>
                <a:path w="9525" h="982980">
                  <a:moveTo>
                    <a:pt x="0" y="0"/>
                  </a:moveTo>
                  <a:lnTo>
                    <a:pt x="0" y="9829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121468" y="30632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699260" y="3320415"/>
              <a:ext cx="2307908" cy="9525"/>
            </a:xfrm>
            <a:custGeom>
              <a:avLst/>
              <a:gdLst/>
              <a:ahLst/>
              <a:cxnLst/>
              <a:rect l="l" t="t" r="r" b="b"/>
              <a:pathLst>
                <a:path w="2307908" h="9525">
                  <a:moveTo>
                    <a:pt x="2307908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604010" y="32727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89685" y="176593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016692" y="176593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016692" y="316801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1289685" y="3168015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90370" y="18483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17377" y="18483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17377" y="325040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90370" y="325040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</p:grpSp>
      <p:grpSp>
        <p:nvGrpSpPr>
          <p:cNvPr id="37" name="c1-kv-2"/>
          <p:cNvGrpSpPr/>
          <p:nvPr/>
        </p:nvGrpSpPr>
        <p:grpSpPr>
          <a:xfrm>
            <a:off x="526161" y="3918109"/>
            <a:ext cx="4551617" cy="1231201"/>
            <a:chOff x="526161" y="3918109"/>
            <a:chExt cx="4551617" cy="1231201"/>
          </a:xfrm>
        </p:grpSpPr>
        <p:sp>
          <p:nvSpPr>
            <p:cNvPr id="32" name="TextBox 32"/>
            <p:cNvSpPr txBox="1"/>
            <p:nvPr/>
          </p:nvSpPr>
          <p:spPr>
            <a:xfrm>
              <a:off x="526161" y="391810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投票规则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25334" y="3918109"/>
              <a:ext cx="325158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网页 T 有 L(T) 条链出，每个被它链向的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网页分到 Pr(T)/L(T)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48913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6161" y="46029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得分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25334" y="4602956"/>
              <a:ext cx="3386836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一个网页的 Pr 值等于链向它的网页投来的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票之和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15"/>
              <p:cNvSpPr txBox="1">
                <a:spLocks noGrp="1"/>
              </p:cNvSpPr>
              <p:nvPr/>
            </p:nvSpPr>
            <p:spPr>
              <a:xfrm>
                <a:off x="5382578" y="1524000"/>
                <a:ext cx="6276022" cy="12601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Pr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6" name="c2-card-2"/>
          <p:cNvGrpSpPr/>
          <p:nvPr/>
        </p:nvGrpSpPr>
        <p:grpSpPr>
          <a:xfrm>
            <a:off x="5382578" y="2964180"/>
            <a:ext cx="6276022" cy="2571750"/>
            <a:chOff x="5382578" y="2964180"/>
            <a:chExt cx="6276022" cy="2571750"/>
          </a:xfrm>
        </p:grpSpPr>
        <p:sp>
          <p:nvSpPr>
            <p:cNvPr id="39" name="Rectangle 39"/>
            <p:cNvSpPr/>
            <p:nvPr/>
          </p:nvSpPr>
          <p:spPr>
            <a:xfrm>
              <a:off x="5382578" y="2964180"/>
              <a:ext cx="6276022" cy="2571750"/>
            </a:xfrm>
            <a:prstGeom prst="roundRect">
              <a:avLst>
                <a:gd name="adj" fmla="val 518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580698" y="316230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648134" y="319659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转化为特征值问题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573458" y="3522821"/>
              <a:ext cx="55779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mᵢⱼ = 1/Lⱼ 表示网页 j 链向网页 i，否则为 0。每个网页的得分由链入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网页投票决定，写在一起就是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formula16"/>
                <p:cNvSpPr txBox="1">
                  <a:spLocks noGrp="1"/>
                </p:cNvSpPr>
                <p:nvPr/>
              </p:nvSpPr>
              <p:spPr>
                <a:xfrm>
                  <a:off x="5580698" y="4089082"/>
                  <a:ext cx="5879782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Pr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Pr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4" name="TextBox 44"/>
            <p:cNvSpPr txBox="1"/>
            <p:nvPr/>
          </p:nvSpPr>
          <p:spPr>
            <a:xfrm>
              <a:off x="5573458" y="4640104"/>
              <a:ext cx="53494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 是 M 相应于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特征值 1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的特征向量，归一化（分量和为 1）后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formula17"/>
                <p:cNvSpPr txBox="1">
                  <a:spLocks noGrp="1"/>
                </p:cNvSpPr>
                <p:nvPr/>
              </p:nvSpPr>
              <p:spPr>
                <a:xfrm>
                  <a:off x="5580698" y="4933950"/>
                  <a:ext cx="5879782" cy="3857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Pr</m:t>
                        </m:r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34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34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34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10</m:t>
                                    </m:r>
                                  </m:num>
                                  <m:den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34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0.26471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0.23529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0.20588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0.29412</m:t>
                                </m:r>
                              </m:e>
                            </m:d>
                          </m:e>
                          <m:sup>
                            <m: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7" name="Rectangle 4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511" y="6011704"/>
              <a:ext cx="70300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第2章把它当作 4 阶线性方程组来解；本章换个角度，用迭代直接求这个特征向量。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21261" cy="909257"/>
            <a:chOff x="520446" y="342900"/>
            <a:chExt cx="83212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引入：特征值问题从哪里来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212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从均匀得分出发反复左乘 M，得分逐步稳定到特征向量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7" name="c1-table-1"/>
          <p:cNvGrpSpPr/>
          <p:nvPr/>
        </p:nvGrpSpPr>
        <p:grpSpPr>
          <a:xfrm>
            <a:off x="527685" y="1524000"/>
            <a:ext cx="6281737" cy="3886677"/>
            <a:chOff x="527685" y="1524000"/>
            <a:chExt cx="6281737" cy="388667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1722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74871" y="1659731"/>
              <a:ext cx="426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Pr_A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223611" y="1659731"/>
              <a:ext cx="426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Pr_B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72351" y="1659731"/>
              <a:ext cx="426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Pr_C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22043" y="1659731"/>
              <a:ext cx="426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Pr_D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17222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49699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8439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47179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96872" y="210835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7222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49699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98439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0.20833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47179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0.20833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96872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0.33333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8660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17222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49699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0.27083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98439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0.25000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47179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0.18750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96872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0.29167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3147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31946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7222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49699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0.27083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98439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0.23611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47179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0.21528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796872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0.27778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7633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7222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749699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0.26736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98439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0.23843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47179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0.20023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796872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0.29398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21195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21671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67467" y="435244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749699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0.26415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098439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0.23476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47179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0.20621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96872" y="435244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0.29488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46605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67467" y="480107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423035" y="4674870"/>
              <a:ext cx="132969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749699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0.26471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771775" y="4674870"/>
              <a:ext cx="132969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098439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0.23529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4120515" y="4674870"/>
              <a:ext cx="132969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4447179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0.20588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469255" y="4674870"/>
              <a:ext cx="132969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96872" y="480107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0.29412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3400" y="1524000"/>
              <a:ext cx="6276022" cy="3590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1408748" y="1524000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2757488" y="1524000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4106228" y="1524000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5454968" y="1524000"/>
              <a:ext cx="9525" cy="3590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27685" y="5190649"/>
              <a:ext cx="39604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Pr⁽⁰⁾ = (¼, ¼, ¼, ¼)ᵀ；k = 23 时相邻两步之差小于 10⁻⁵</a:t>
              </a:r>
            </a:p>
          </p:txBody>
        </p:sp>
      </p:grpSp>
      <p:grpSp>
        <p:nvGrpSpPr>
          <p:cNvPr id="70" name="c2-image-1"/>
          <p:cNvGrpSpPr/>
          <p:nvPr/>
        </p:nvGrpSpPr>
        <p:grpSpPr>
          <a:xfrm>
            <a:off x="7114222" y="1524000"/>
            <a:ext cx="4544378" cy="2886552"/>
            <a:chOff x="7114222" y="1524000"/>
            <a:chExt cx="4544378" cy="2886552"/>
          </a:xfrm>
        </p:grpSpPr>
        <p:pic>
          <p:nvPicPr>
            <p:cNvPr id="68" name="Image 68"/>
            <p:cNvPicPr>
              <a:picLocks noChangeAspect="1"/>
            </p:cNvPicPr>
            <p:nvPr/>
          </p:nvPicPr>
          <p:blipFill>
            <a:blip r:embed="rId2"/>
            <a:srcRect l="0" t="12272" r="0" b="12272"/>
            <a:stretch>
              <a:fillRect/>
            </a:stretch>
          </p:blipFill>
          <p:spPr>
            <a:xfrm>
              <a:off x="7114222" y="1524000"/>
              <a:ext cx="4544378" cy="2571750"/>
            </a:xfrm>
            <a:prstGeom prst="roundRect">
              <a:avLst>
                <a:gd name="adj" fmla="val 5185"/>
              </a:avLst>
            </a:prstGeom>
          </p:spPr>
        </p:pic>
        <p:sp>
          <p:nvSpPr>
            <p:cNvPr id="69" name="TextBox 69"/>
            <p:cNvSpPr txBox="1"/>
            <p:nvPr/>
          </p:nvSpPr>
          <p:spPr>
            <a:xfrm>
              <a:off x="7420153" y="419052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浏览者沿链接随机走动，各网页前的人数比例最后稳定下来</a:t>
              </a:r>
            </a:p>
          </p:txBody>
        </p:sp>
      </p:grpSp>
      <p:grpSp>
        <p:nvGrpSpPr>
          <p:cNvPr id="77" name="c2-callout-2"/>
          <p:cNvGrpSpPr/>
          <p:nvPr/>
        </p:nvGrpSpPr>
        <p:grpSpPr>
          <a:xfrm>
            <a:off x="7114222" y="4575810"/>
            <a:ext cx="4544378" cy="1059180"/>
            <a:chOff x="7114222" y="4575810"/>
            <a:chExt cx="4544378" cy="1059180"/>
          </a:xfrm>
        </p:grpSpPr>
        <p:sp>
          <p:nvSpPr>
            <p:cNvPr id="71" name="Rectangle 71"/>
            <p:cNvSpPr/>
            <p:nvPr/>
          </p:nvSpPr>
          <p:spPr>
            <a:xfrm>
              <a:off x="7114222" y="457581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19010" y="5005388"/>
              <a:ext cx="200026" cy="200025"/>
              <a:chOff x="7319010" y="5005388"/>
              <a:chExt cx="200026" cy="20002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19010" y="50053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358749" y="50498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393464" y="51609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7620952" y="472440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读法：M 的第 1 行依次是 A、B、C、D 转到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的比例，乘当前得分向量就是 A 的新得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分，例如 Pr_A⁽¹⁾ = ½·¼ + ½·¼ = 0.25。</a:t>
              </a:r>
            </a:p>
          </p:txBody>
        </p:sp>
      </p:grpSp>
      <p:grpSp>
        <p:nvGrpSpPr>
          <p:cNvPr id="8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8" name="Rectangle 7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1040130" y="5991225"/>
              <a:ext cx="100883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Pr⁽ᵏ⁾ = M·Pr⁽ᵏ⁻¹⁾ = Mᵏ·Pr⁽⁰⁾ 就是 4.2 节的乘幂法，每步只做一次矩阵乘向量，适合几十亿个网页的规模。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55589" cy="909257"/>
            <a:chOff x="520446" y="342900"/>
            <a:chExt cx="83555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6802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0553" y="407194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引入：特征值问题从哪里来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555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再思考：M 为什么一定有特征值 1，而且 1 是主特征值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73629" cy="2682716"/>
            <a:chOff x="533400" y="1533525"/>
            <a:chExt cx="5373629" cy="268271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54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164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0607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798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90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18415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的每列元素之和为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4960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j 列是网页 j 把得分平分出去的比例，所以 Mᵀe = e，e = (1, 1, 1, 1)ᵀ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147888"/>
              <a:ext cx="13567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是 M 的特征值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416016"/>
              <a:ext cx="465556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是 Mᵀ 相应于 1 的特征向量；M 与 Mᵀ 的特征多项式相同，det(M − I) =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det(Mᵀ − I) = 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93846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没有模更大的特征值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205639"/>
              <a:ext cx="41841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对任一特征值 λ，|λ| ≤ ‖M‖₁ = 最大列和 = 1（M 的元素非负）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521392"/>
              <a:ext cx="23567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是唯一的主特征值（本例）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788569"/>
              <a:ext cx="48973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数值计算得其余特征值为 −0.3884、−0.3058 ± 0.5793i，模分别为 0.3884、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0.6551，都小于 1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464618" y="1524000"/>
            <a:ext cx="5193982" cy="1528762"/>
            <a:chOff x="6464618" y="1524000"/>
            <a:chExt cx="5193982" cy="1528762"/>
          </a:xfrm>
        </p:grpSpPr>
        <p:sp>
          <p:nvSpPr>
            <p:cNvPr id="25" name="Rectangle 25"/>
            <p:cNvSpPr/>
            <p:nvPr/>
          </p:nvSpPr>
          <p:spPr>
            <a:xfrm>
              <a:off x="6464618" y="1524000"/>
              <a:ext cx="5193982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4142" y="1657350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89408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70878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用到的结论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97980" y="211074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3999" y="2054542"/>
              <a:ext cx="19572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与 Aᵀ 有相同的特征值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97980" y="241173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53999" y="2355532"/>
              <a:ext cx="45683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任一特征值的模不超过矩阵的任一种算子范数：|λ| ≤ ‖A‖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697980" y="271176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53999" y="2655570"/>
              <a:ext cx="3038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‖A‖₁ 是各列元素绝对值之和的最大值</a:t>
              </a:r>
            </a:p>
          </p:txBody>
        </p:sp>
      </p:grpSp>
      <p:grpSp>
        <p:nvGrpSpPr>
          <p:cNvPr id="42" name="c2-card-2"/>
          <p:cNvGrpSpPr/>
          <p:nvPr/>
        </p:nvGrpSpPr>
        <p:grpSpPr>
          <a:xfrm>
            <a:off x="6464618" y="3223260"/>
            <a:ext cx="5193982" cy="2000250"/>
            <a:chOff x="6464618" y="3223260"/>
            <a:chExt cx="5193982" cy="2000250"/>
          </a:xfrm>
        </p:grpSpPr>
        <p:sp>
          <p:nvSpPr>
            <p:cNvPr id="36" name="Rectangle 36"/>
            <p:cNvSpPr/>
            <p:nvPr/>
          </p:nvSpPr>
          <p:spPr>
            <a:xfrm>
              <a:off x="6464618" y="3223260"/>
              <a:ext cx="5193982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4142" y="3356610"/>
              <a:ext cx="47625" cy="17335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89408" y="340995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66827" y="344281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一般的网页图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82549" y="3753802"/>
              <a:ext cx="44799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若网页分成互不相连的几组，或链接成环形成周期，M 可能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有多个模为 1 的特征值，乘幂法不收敛到唯一结果。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82549" y="4311015"/>
              <a:ext cx="44628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实际的 PageRank 用 G = dM + (1 − d)/N·eeᵀ（d 为阻尼系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数，常取 0.85），G 的元素全为正，1 就是唯一的主特征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值。原课件提到的孤立页面、作弊页面也要另外处理。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3" name="Rectangle 4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8373"/>
              <a:ext cx="8442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本例 M 的第二大特征值模为 0.6551，误差每步约乘 0.66，所以上一页迭代到 23 步才稳定到 5 位小数。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13170" cy="3675697"/>
            <a:chOff x="667512" y="1835468"/>
            <a:chExt cx="6313170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幂法及其变体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032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只做矩阵乘向量或解方程组，求按模最大、最小或某个指定值附近的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特征值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0446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4.2.1 乘幂法与规范化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12369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4.2.2 反幂法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14388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4.2.3 原点平移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反幂法求指定特征值的特征向量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99660" cy="909257"/>
            <a:chOff x="520446" y="342900"/>
            <a:chExt cx="62996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996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乘幂法：取非零初始向量，反复用 A 左乘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758690" cy="588645"/>
            <a:chOff x="525780" y="1548765"/>
            <a:chExt cx="475869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7586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= (aᵢⱼ) ∈ Rⁿˣⁿ，任取初始向量 x⁽⁰⁾ ∈ Rⁿ，x⁽⁰⁾ 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0，令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2"/>
              <p:cNvSpPr txBox="1">
                <a:spLocks noGrp="1"/>
              </p:cNvSpPr>
              <p:nvPr/>
            </p:nvSpPr>
            <p:spPr>
              <a:xfrm>
                <a:off x="533400" y="2268855"/>
                <a:ext cx="5410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⋯,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4.8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5780" y="2865120"/>
            <a:ext cx="3639884" cy="293370"/>
            <a:chOff x="525780" y="2865120"/>
            <a:chExt cx="3639884" cy="293370"/>
          </a:xfrm>
        </p:grpSpPr>
        <p:sp>
          <p:nvSpPr>
            <p:cNvPr id="10" name="TextBox 10"/>
            <p:cNvSpPr txBox="1"/>
            <p:nvPr/>
          </p:nvSpPr>
          <p:spPr>
            <a:xfrm>
              <a:off x="525780" y="2865120"/>
              <a:ext cx="3639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由此得到向量序列 {x⁽ᵏ⁾}。由 (4.8) 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23"/>
              <p:cNvSpPr txBox="1">
                <a:spLocks noGrp="1"/>
              </p:cNvSpPr>
              <p:nvPr/>
            </p:nvSpPr>
            <p:spPr>
              <a:xfrm>
                <a:off x="533400" y="3289935"/>
                <a:ext cx="54102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=⋯=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</m:sSup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4.9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2" name="c1-card-5"/>
          <p:cNvGrpSpPr/>
          <p:nvPr/>
        </p:nvGrpSpPr>
        <p:grpSpPr>
          <a:xfrm>
            <a:off x="533400" y="3899535"/>
            <a:ext cx="5410200" cy="2272665"/>
            <a:chOff x="533400" y="3899535"/>
            <a:chExt cx="5410200" cy="2272665"/>
          </a:xfrm>
        </p:grpSpPr>
        <p:sp>
          <p:nvSpPr>
            <p:cNvPr id="13" name="Rectangle 13"/>
            <p:cNvSpPr/>
            <p:nvPr/>
          </p:nvSpPr>
          <p:spPr>
            <a:xfrm>
              <a:off x="533400" y="3899535"/>
              <a:ext cx="5410200" cy="2272665"/>
            </a:xfrm>
            <a:prstGeom prst="roundRect">
              <a:avLst>
                <a:gd name="adj" fmla="val 5868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0908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356" y="414480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名称与特点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48665" y="454914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486275"/>
              <a:ext cx="4472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 由 A 的 k 次幂左乘 x⁽⁰⁾ 得到，称为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乘幂法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(4.8)、(4.9) 称为乘幂公式，{x⁽ᵏ⁾} 称为乘幂序列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48665" y="51701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10730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用来求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按模最大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的特征值（主特征值）及其特征向量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48665" y="550545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5442585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每步只做一次矩阵乘向量，不改变 A，适合大型稀疏矩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阵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6242685" y="1524000"/>
            <a:ext cx="5415915" cy="3437097"/>
            <a:chOff x="6242685" y="1524000"/>
            <a:chExt cx="5415915" cy="3437097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62677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38770" y="1659731"/>
              <a:ext cx="12388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 = Aᵏx⁽⁰⁾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39478" y="1659731"/>
              <a:ext cx="13065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x₁⁽ᵏ⁾/x₁⁽ᵏ⁻¹⁾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62677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20926" y="21083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(10, 8, 1)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9152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62677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26154" y="2556986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(72, 54, −8)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44142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62677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83995" y="3005614"/>
              <a:ext cx="13483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(468, 342, −88)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44142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6.5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62677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41837" y="3454241"/>
              <a:ext cx="16327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(2916, 2106, −644)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01983" y="345424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6.2308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37633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62677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99678" y="3903821"/>
              <a:ext cx="1917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(17820, 12798, −4204)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501983" y="390382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6.1111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42119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48400" y="421671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62677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210133" y="4352449"/>
              <a:ext cx="22961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(650268, 465102, −160348)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01983" y="435244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6.0270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1524000"/>
              <a:ext cx="5410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8465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92219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42685" y="4741069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 的矩阵（特征值 6、3、2），x⁽⁰⁾ = (1, 1, 1)ᵀ，不做规范化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6248400" y="5107305"/>
            <a:ext cx="5410200" cy="782955"/>
            <a:chOff x="6248400" y="5107305"/>
            <a:chExt cx="5410200" cy="782955"/>
          </a:xfrm>
        </p:grpSpPr>
        <p:sp>
          <p:nvSpPr>
            <p:cNvPr id="58" name="Rectangle 58"/>
            <p:cNvSpPr/>
            <p:nvPr/>
          </p:nvSpPr>
          <p:spPr>
            <a:xfrm>
              <a:off x="6248400" y="510730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6453188" y="5398770"/>
              <a:ext cx="200026" cy="200026"/>
              <a:chOff x="6453188" y="5398770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453188" y="53987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553200" y="54654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542088" y="54987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6755130" y="5255895"/>
              <a:ext cx="4368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先看现象：相邻两步分量之比趋于主特征值 6，而向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量本身约按 6ᵏ 增长。下面两页解释原因。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0752" cy="909257"/>
            <a:chOff x="520446" y="342900"/>
            <a:chExt cx="83807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07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收敛性分析：展开初始向量，Aᵏ 把 λ₁ 方向放大得最快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631632"/>
            <a:chOff x="533400" y="1524000"/>
            <a:chExt cx="5410200" cy="1631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6857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有完全的特征向量系：v₁, v₂, …, vₙ 线性无关，构成 Rⁿ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一组基；且主特征值唯一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5"/>
                <p:cNvSpPr txBox="1">
                  <a:spLocks noGrp="1"/>
                </p:cNvSpPr>
                <p:nvPr/>
              </p:nvSpPr>
              <p:spPr>
                <a:xfrm>
                  <a:off x="758190" y="2589848"/>
                  <a:ext cx="4998720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≥⋯≥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4.10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8" name="c1-card-2"/>
          <p:cNvGrpSpPr/>
          <p:nvPr/>
        </p:nvGrpSpPr>
        <p:grpSpPr>
          <a:xfrm>
            <a:off x="533400" y="3325178"/>
            <a:ext cx="5410200" cy="1243965"/>
            <a:chOff x="533400" y="3325178"/>
            <a:chExt cx="5410200" cy="1243965"/>
          </a:xfrm>
        </p:grpSpPr>
        <p:sp>
          <p:nvSpPr>
            <p:cNvPr id="14" name="Rectangle 14"/>
            <p:cNvSpPr/>
            <p:nvPr/>
          </p:nvSpPr>
          <p:spPr>
            <a:xfrm>
              <a:off x="533400" y="3325178"/>
              <a:ext cx="5410200" cy="1243965"/>
            </a:xfrm>
            <a:prstGeom prst="roundRect">
              <a:avLst>
                <a:gd name="adj" fmla="val 1072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20090" y="3511868"/>
              <a:ext cx="10677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3882" y="3544729"/>
              <a:ext cx="9192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① 展开初始向量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formula46"/>
                <p:cNvSpPr txBox="1">
                  <a:spLocks noGrp="1"/>
                </p:cNvSpPr>
                <p:nvPr/>
              </p:nvSpPr>
              <p:spPr>
                <a:xfrm>
                  <a:off x="720090" y="3833812"/>
                  <a:ext cx="5036820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  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4.11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3" name="c1-card-3"/>
          <p:cNvGrpSpPr/>
          <p:nvPr/>
        </p:nvGrpSpPr>
        <p:grpSpPr>
          <a:xfrm>
            <a:off x="533400" y="4738688"/>
            <a:ext cx="5410200" cy="1563052"/>
            <a:chOff x="533400" y="4738688"/>
            <a:chExt cx="5410200" cy="1563052"/>
          </a:xfrm>
        </p:grpSpPr>
        <p:sp>
          <p:nvSpPr>
            <p:cNvPr id="19" name="Rectangle 19"/>
            <p:cNvSpPr/>
            <p:nvPr/>
          </p:nvSpPr>
          <p:spPr>
            <a:xfrm>
              <a:off x="533400" y="4738688"/>
              <a:ext cx="5410200" cy="1563052"/>
            </a:xfrm>
            <a:prstGeom prst="roundRect">
              <a:avLst>
                <a:gd name="adj" fmla="val 853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4925378"/>
              <a:ext cx="2053590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8406" y="4958239"/>
              <a:ext cx="19769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② 代入 (4.9)，用 Aᵏvⱼ = λⱼᵏvⱼ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47"/>
                <p:cNvSpPr txBox="1">
                  <a:spLocks noGrp="1"/>
                </p:cNvSpPr>
                <p:nvPr/>
              </p:nvSpPr>
              <p:spPr>
                <a:xfrm>
                  <a:off x="720090" y="5247322"/>
                  <a:ext cx="5036820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bSup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  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4.12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8" name="c2-card-1"/>
          <p:cNvGrpSpPr/>
          <p:nvPr/>
        </p:nvGrpSpPr>
        <p:grpSpPr>
          <a:xfrm>
            <a:off x="6248400" y="1524000"/>
            <a:ext cx="5410200" cy="1243965"/>
            <a:chOff x="6248400" y="1524000"/>
            <a:chExt cx="5410200" cy="1243965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1243965"/>
            </a:xfrm>
            <a:prstGeom prst="roundRect">
              <a:avLst>
                <a:gd name="adj" fmla="val 1072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35090" y="1710690"/>
              <a:ext cx="228028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5729" y="1743551"/>
              <a:ext cx="21590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③ 提出 λ₁ᵏ（由 (4.10) 知 λ₁ ≠ 0）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48"/>
                <p:cNvSpPr txBox="1">
                  <a:spLocks noGrp="1"/>
                </p:cNvSpPr>
                <p:nvPr/>
              </p:nvSpPr>
              <p:spPr>
                <a:xfrm>
                  <a:off x="6435090" y="2032635"/>
                  <a:ext cx="5036820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b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bar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e>
                                            <m:r>
                                              <a:rPr lang="zh-CN" sz="13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λ</m:t>
                                            </m:r>
                                          </m:e>
                                          <m:sub>
                                            <m:r>
                                              <a:rPr lang="zh-CN" sz="13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e>
                                            <m:r>
                                              <a:rPr lang="zh-CN" sz="13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λ</m:t>
                                            </m:r>
                                          </m:e>
                                          <m:sub>
                                            <m:r>
                                              <a:rPr lang="zh-CN" sz="13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  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4.13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3" name="c2-card-2"/>
          <p:cNvGrpSpPr/>
          <p:nvPr/>
        </p:nvGrpSpPr>
        <p:grpSpPr>
          <a:xfrm>
            <a:off x="6248400" y="2937510"/>
            <a:ext cx="5410200" cy="1074420"/>
            <a:chOff x="6248400" y="2937510"/>
            <a:chExt cx="5410200" cy="1074420"/>
          </a:xfrm>
        </p:grpSpPr>
        <p:sp>
          <p:nvSpPr>
            <p:cNvPr id="29" name="Rectangle 29"/>
            <p:cNvSpPr/>
            <p:nvPr/>
          </p:nvSpPr>
          <p:spPr>
            <a:xfrm>
              <a:off x="6248400" y="2937510"/>
              <a:ext cx="5410200" cy="1074420"/>
            </a:xfrm>
            <a:prstGeom prst="roundRect">
              <a:avLst>
                <a:gd name="adj" fmla="val 1241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35090" y="3124200"/>
              <a:ext cx="2651760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53662" y="3157061"/>
              <a:ext cx="2414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④ |λⱼ/λ₁| &lt; 1（j ≥ 2），k → ∞ 时 εₖ → 0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49"/>
                <p:cNvSpPr txBox="1">
                  <a:spLocks noGrp="1"/>
                </p:cNvSpPr>
                <p:nvPr/>
              </p:nvSpPr>
              <p:spPr>
                <a:xfrm>
                  <a:off x="6435090" y="3446145"/>
                  <a:ext cx="5036820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sSub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bSup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α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4.14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0" name="c2-card-3"/>
          <p:cNvGrpSpPr/>
          <p:nvPr/>
        </p:nvGrpSpPr>
        <p:grpSpPr>
          <a:xfrm>
            <a:off x="6248400" y="4181475"/>
            <a:ext cx="5410200" cy="2120265"/>
            <a:chOff x="6248400" y="4181475"/>
            <a:chExt cx="5410200" cy="2120265"/>
          </a:xfrm>
        </p:grpSpPr>
        <p:sp>
          <p:nvSpPr>
            <p:cNvPr id="34" name="Rectangle 34"/>
            <p:cNvSpPr/>
            <p:nvPr/>
          </p:nvSpPr>
          <p:spPr>
            <a:xfrm>
              <a:off x="6248400" y="4181475"/>
              <a:ext cx="5410200" cy="2120265"/>
            </a:xfrm>
            <a:prstGeom prst="roundRect">
              <a:avLst>
                <a:gd name="adj" fmla="val 628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35090" y="4368165"/>
              <a:ext cx="2379345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2818" y="4401026"/>
              <a:ext cx="22638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⑤ 若 α₁ ≠ 0 且 v₁ 的第 i 个分量不为 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8232" y="47120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计算相邻迭代向量对应分量的比值：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formula50"/>
                <p:cNvSpPr txBox="1">
                  <a:spLocks noGrp="1"/>
                </p:cNvSpPr>
                <p:nvPr/>
              </p:nvSpPr>
              <p:spPr>
                <a:xfrm>
                  <a:off x="6435090" y="4990148"/>
                  <a:ext cx="5036820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num>
                          <m:den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bSup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num>
                          <m:den>
                            <m:sSubSup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bSup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4.15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51"/>
                <p:cNvSpPr txBox="1">
                  <a:spLocks noGrp="1"/>
                </p:cNvSpPr>
                <p:nvPr/>
              </p:nvSpPr>
              <p:spPr>
                <a:xfrm>
                  <a:off x="6435090" y="5536882"/>
                  <a:ext cx="5036820" cy="5610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</m:num>
                              <m:den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4.16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29837" cy="909257"/>
            <a:chOff x="520446" y="342900"/>
            <a:chExt cx="85298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298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结论：比值给出 λ₁，向量给出 v₁，速度取决于 |λ₂/λ₁|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table-1"/>
          <p:cNvGrpSpPr/>
          <p:nvPr/>
        </p:nvGrpSpPr>
        <p:grpSpPr>
          <a:xfrm>
            <a:off x="533400" y="1524000"/>
            <a:ext cx="5626418" cy="1995488"/>
            <a:chOff x="533400" y="1524000"/>
            <a:chExt cx="5626418" cy="19954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39102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10678" y="164877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24362" y="164877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9412" y="2087880"/>
              <a:ext cx="18074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≈ xᵢ⁽ᵏ⁺¹⁾/xᵢ⁽ᵏ⁾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61157" y="2087880"/>
              <a:ext cx="13949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(4.15)、(4.16)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974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02205"/>
              <a:ext cx="5626418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9412" y="2526982"/>
              <a:ext cx="20149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v₁ ≈ x⁽ᵏ⁾（差一个常数因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61157" y="2646998"/>
              <a:ext cx="21036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(4.14)：x⁽ᵏ⁾ ≈ λ₁ᵏα₁v₁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756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9412" y="3206115"/>
              <a:ext cx="19628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误差约按 |λ₂/λ₁|ᵏ 减小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61157" y="320611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εₖ 中衰减最慢的是 j = 2 这一项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626418" cy="199548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060382" y="1524000"/>
              <a:ext cx="9525" cy="1995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7" name="c1-card-2"/>
          <p:cNvGrpSpPr/>
          <p:nvPr/>
        </p:nvGrpSpPr>
        <p:grpSpPr>
          <a:xfrm>
            <a:off x="533400" y="3689985"/>
            <a:ext cx="5626418" cy="1758315"/>
            <a:chOff x="533400" y="3689985"/>
            <a:chExt cx="5626418" cy="1758315"/>
          </a:xfrm>
        </p:grpSpPr>
        <p:sp>
          <p:nvSpPr>
            <p:cNvPr id="22" name="Rectangle 22"/>
            <p:cNvSpPr/>
            <p:nvPr/>
          </p:nvSpPr>
          <p:spPr>
            <a:xfrm>
              <a:off x="533400" y="3689985"/>
              <a:ext cx="5626418" cy="1758315"/>
            </a:xfrm>
            <a:prstGeom prst="roundRect">
              <a:avLst>
                <a:gd name="adj" fmla="val 758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20090" y="38766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4659" y="39095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收敛速度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55"/>
                <p:cNvSpPr txBox="1">
                  <a:spLocks noGrp="1"/>
                </p:cNvSpPr>
                <p:nvPr/>
              </p:nvSpPr>
              <p:spPr>
                <a:xfrm>
                  <a:off x="720090" y="4198620"/>
                  <a:ext cx="5253038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≪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时收敛快，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接近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时收敛慢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TextBox 26"/>
            <p:cNvSpPr txBox="1"/>
            <p:nvPr/>
          </p:nvSpPr>
          <p:spPr>
            <a:xfrm>
              <a:off x="713232" y="4792980"/>
              <a:ext cx="45314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上一页例子 r = 3/6 = 0.5，比值误差 1.2、0.5、0.2308、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0.1111 大约每步减半。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464618" y="1524000"/>
            <a:ext cx="5193982" cy="1697355"/>
            <a:chOff x="6464618" y="1524000"/>
            <a:chExt cx="5193982" cy="1697355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1657350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89408" y="171069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63728" y="174355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不规范化会溢出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697980" y="211074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53999" y="2054542"/>
              <a:ext cx="3575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|λ₁| &gt; 1：x⁽ᵏ⁾ 约按 |λ₁|ᵏ 增长，k 大时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上溢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697980" y="241173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53999" y="2355532"/>
              <a:ext cx="28488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|λ₁| &lt; 1：x⁽ᵏ⁾ 趋于 0，k 大时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下溢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83692" y="2651284"/>
              <a:ext cx="453466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 的矩阵迭代 7 步分量已到 6.5×10⁵，迭代 400 步会超过双精度浮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点数的上限（约 1.8×10³⁰⁸）。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464618" y="3390900"/>
            <a:ext cx="5193982" cy="2056448"/>
            <a:chOff x="6464618" y="3390900"/>
            <a:chExt cx="5193982" cy="2056448"/>
          </a:xfrm>
        </p:grpSpPr>
        <p:sp>
          <p:nvSpPr>
            <p:cNvPr id="38" name="Rectangle 38"/>
            <p:cNvSpPr/>
            <p:nvPr/>
          </p:nvSpPr>
          <p:spPr>
            <a:xfrm>
              <a:off x="6464618" y="3390900"/>
              <a:ext cx="5193982" cy="2056448"/>
            </a:xfrm>
            <a:prstGeom prst="roundRect">
              <a:avLst>
                <a:gd name="adj" fmla="val 64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4142" y="3524250"/>
              <a:ext cx="47625" cy="178974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89408" y="35775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82079" y="36104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办法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82549" y="392239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每步把向量除以一个数，让它的最大分量保持为 1。向量方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向不变，比值信息也不丢，这就是下一页的规范化乘幂法。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4" name="Rectangle 4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6028373"/>
              <a:ext cx="94186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前提不能省：主特征值唯一（|λ₁| &gt; |λ₂|），且初始向量在 v₁ 方向的分量 α₁ ≠ 0。前提不成立时的情况见思考 1、2。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规范化乘幂法：每步用按模最大分量去除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446848"/>
            <a:chOff x="533400" y="1524000"/>
            <a:chExt cx="5410200" cy="14468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46848"/>
            </a:xfrm>
            <a:prstGeom prst="roundRect">
              <a:avLst>
                <a:gd name="adj" fmla="val 92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8014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95535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316" y="1743551"/>
              <a:ext cx="8001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记号 max(x)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6257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若某个 i₀ 使 |x_{i₀}| = max |xᵢ|（1 ≤ i ≤ n），则令 max(x)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x_{i₀}，即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带符号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的按模最大分量。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475" y="2608421"/>
              <a:ext cx="20845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例：max((1, −5, 3)ᵀ) = −5。</a:t>
              </a:r>
            </a:p>
          </p:txBody>
        </p:sp>
      </p:grpSp>
      <p:grpSp>
        <p:nvGrpSpPr>
          <p:cNvPr id="15" name="c1-text-2"/>
          <p:cNvGrpSpPr/>
          <p:nvPr/>
        </p:nvGrpSpPr>
        <p:grpSpPr>
          <a:xfrm>
            <a:off x="526542" y="3163252"/>
            <a:ext cx="2285429" cy="264033"/>
            <a:chOff x="526542" y="3163252"/>
            <a:chExt cx="2285429" cy="264033"/>
          </a:xfrm>
        </p:grpSpPr>
        <p:sp>
          <p:nvSpPr>
            <p:cNvPr id="14" name="TextBox 14"/>
            <p:cNvSpPr txBox="1"/>
            <p:nvPr/>
          </p:nvSpPr>
          <p:spPr>
            <a:xfrm>
              <a:off x="526542" y="3163252"/>
              <a:ext cx="2285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对任取的初始向量 x⁽⁰⁾，记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formula62"/>
              <p:cNvSpPr txBox="1">
                <a:spLocks noGrp="1"/>
              </p:cNvSpPr>
              <p:nvPr/>
            </p:nvSpPr>
            <p:spPr>
              <a:xfrm>
                <a:off x="533400" y="3544252"/>
                <a:ext cx="54102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</m:func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4.18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8" name="c1-text-4"/>
          <p:cNvGrpSpPr/>
          <p:nvPr/>
        </p:nvGrpSpPr>
        <p:grpSpPr>
          <a:xfrm>
            <a:off x="526542" y="4098608"/>
            <a:ext cx="558927" cy="264033"/>
            <a:chOff x="526542" y="4098608"/>
            <a:chExt cx="558927" cy="264033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409860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并定义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63"/>
              <p:cNvSpPr txBox="1">
                <a:spLocks noGrp="1"/>
              </p:cNvSpPr>
              <p:nvPr/>
            </p:nvSpPr>
            <p:spPr>
              <a:xfrm>
                <a:off x="533400" y="4478655"/>
                <a:ext cx="54102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4.19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6" name="c1-callout-6"/>
          <p:cNvGrpSpPr/>
          <p:nvPr/>
        </p:nvGrpSpPr>
        <p:grpSpPr>
          <a:xfrm>
            <a:off x="533400" y="5011102"/>
            <a:ext cx="5410200" cy="978218"/>
            <a:chOff x="533400" y="5011102"/>
            <a:chExt cx="5410200" cy="978218"/>
          </a:xfrm>
        </p:grpSpPr>
        <p:sp>
          <p:nvSpPr>
            <p:cNvPr id="20" name="Rectangle 20"/>
            <p:cNvSpPr/>
            <p:nvPr/>
          </p:nvSpPr>
          <p:spPr>
            <a:xfrm>
              <a:off x="533400" y="5011102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399723"/>
              <a:ext cx="200026" cy="200025"/>
              <a:chOff x="738188" y="5399723"/>
              <a:chExt cx="200026" cy="20002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3997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77926" y="54441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12642" y="55552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5156835"/>
              <a:ext cx="4454271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 max(x⁽ᵏ⁾) → λ₁：max(cx) = c·max(x)，所以 y⁽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ᵏ⁾ = Aᵏx⁽⁰⁾/max(Aᵏx⁽⁰⁾) → v₁/max(v₁)，于是 x⁽ᵏ⁺¹⁾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= Ay⁽ᵏ⁾ → λ₁v₁/max(v₁)，其按模最大分量趋于 λ₁。</a:t>
              </a:r>
            </a:p>
          </p:txBody>
        </p:sp>
      </p:grpSp>
      <p:grpSp>
        <p:nvGrpSpPr>
          <p:cNvPr id="44" name="c2-steps-1"/>
          <p:cNvGrpSpPr/>
          <p:nvPr/>
        </p:nvGrpSpPr>
        <p:grpSpPr>
          <a:xfrm>
            <a:off x="6248400" y="1533525"/>
            <a:ext cx="4669114" cy="2268379"/>
            <a:chOff x="6248400" y="1533525"/>
            <a:chExt cx="4669114" cy="2268379"/>
          </a:xfrm>
        </p:grpSpPr>
        <p:sp>
          <p:nvSpPr>
            <p:cNvPr id="27" name="Rectangle 27"/>
            <p:cNvSpPr/>
            <p:nvPr/>
          </p:nvSpPr>
          <p:spPr>
            <a:xfrm>
              <a:off x="6381750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48400" y="21164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42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48400" y="26993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2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248400" y="328231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42024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0642" y="156495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取初始向量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1785" y="1833086"/>
              <a:ext cx="4218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维非零向量 x⁽⁰⁾，一般取 ‖x⁽⁰⁾‖∞ = 1，例如 (1, 1, …, 1)ᵀ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0642" y="2147888"/>
              <a:ext cx="19714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迭代（k = 0, 1, 2, …）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61785" y="2416016"/>
              <a:ext cx="29644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y⁽ᵏ⁾ = x⁽ᵏ⁾/max(x⁽ᵏ⁾)，x⁽ᵏ⁺¹⁾ = Ay⁽ᵏ⁾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0642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终止条件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1785" y="2998946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 ‖x⁽ᵏ⁾‖∞ − ‖x⁽ᵏ⁻¹⁾‖∞ | &lt; ε（也可用 ‖y⁽ᵏ⁾ − y⁽ᵏ⁻¹⁾‖∞ &lt; ε）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60642" y="331374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61785" y="3581876"/>
              <a:ext cx="1948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≈ max(x⁽ᵏ⁾)，v₁ ≈ y⁽ᵏ⁾</a:t>
              </a:r>
            </a:p>
          </p:txBody>
        </p:sp>
      </p:grpSp>
      <p:grpSp>
        <p:nvGrpSpPr>
          <p:cNvPr id="65" name="c2-table-2"/>
          <p:cNvGrpSpPr/>
          <p:nvPr/>
        </p:nvGrpSpPr>
        <p:grpSpPr>
          <a:xfrm>
            <a:off x="6243447" y="3965258"/>
            <a:ext cx="5415153" cy="1864708"/>
            <a:chOff x="6243447" y="3965258"/>
            <a:chExt cx="5415153" cy="1864708"/>
          </a:xfrm>
        </p:grpSpPr>
        <p:sp>
          <p:nvSpPr>
            <p:cNvPr id="45" name="Rectangle 45"/>
            <p:cNvSpPr/>
            <p:nvPr/>
          </p:nvSpPr>
          <p:spPr>
            <a:xfrm>
              <a:off x="6248400" y="3965258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69659" y="40867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280067" y="4086701"/>
              <a:ext cx="1453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Aᵏx⁽⁰⁾（不规范化）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84510" y="4086701"/>
              <a:ext cx="1113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y⁽ᵏ⁾（规范化）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69659" y="44867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24064" y="44867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(10, 8, 1)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934265" y="4486751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(1, 0.8, 0.1)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47605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48400" y="476535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69659" y="48868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41138" y="4886801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(72, 54, −8)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644024" y="4886801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0.75, −0.111111)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51606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69659" y="52868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416749" y="5286851"/>
              <a:ext cx="1179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(468, 342, −88)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478173" y="5286851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0.730769, −0.188034)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248400" y="396525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784658" y="396525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219248" y="396525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243447" y="5639276"/>
              <a:ext cx="39361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 的矩阵：y⁽ᵏ⁾ 就是 Aᵏx⁽⁰⁾ 除以其按模最大分量，不会溢出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36623" cy="909257"/>
            <a:chOff x="520446" y="342900"/>
            <a:chExt cx="68366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366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规范化乘幂法的程序（MATLAB / Octave）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059805" cy="3941445"/>
            <a:chOff x="533400" y="1524000"/>
            <a:chExt cx="6059805" cy="39414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941445"/>
            </a:xfrm>
            <a:prstGeom prst="roundRect">
              <a:avLst>
                <a:gd name="adj" fmla="val 24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687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eigen_pow.m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918585"/>
              <a:ext cx="6021705" cy="2019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3923030" cy="3450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0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function [maxEig, eigen_vec] = eigen_pow(A, u, ep)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% 求 A 的主特征值 maxEig 及特征向量 eigen_vec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% u 为初始向量，ep 为误差限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err = 100;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u0 = u;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[ele, label] = max(abs(u0));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v0 = u0 / u0(label);          % y(0)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err &gt; ep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u1 = A * v0;                % x(k+1) = A y(k)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[ele, label] = max(abs(u1));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maxEig = u1(label);         % max(x(k+1))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v1 = u1 / maxEig;           % y(k+1)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err = max(abs(v1 - v0));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v0 = v1;  u0 = u1;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eigen_vec = v0;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33" name="c2-table-1"/>
          <p:cNvGrpSpPr/>
          <p:nvPr/>
        </p:nvGrpSpPr>
        <p:grpSpPr>
          <a:xfrm>
            <a:off x="6898005" y="1524000"/>
            <a:ext cx="4760595" cy="2400300"/>
            <a:chOff x="6898005" y="1524000"/>
            <a:chExt cx="4760595" cy="2400300"/>
          </a:xfrm>
        </p:grpSpPr>
        <p:sp>
          <p:nvSpPr>
            <p:cNvPr id="12" name="Rectangle 12"/>
            <p:cNvSpPr/>
            <p:nvPr/>
          </p:nvSpPr>
          <p:spPr>
            <a:xfrm>
              <a:off x="6898005" y="1524000"/>
              <a:ext cx="4760595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4703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程序变量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02127" y="164544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对应公式里的量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995160" y="2045494"/>
              <a:ext cx="510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u0、u1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08708" y="2045494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x⁽ᵏ⁾、x⁽ᵏ⁺¹⁾（规范化前）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898005" y="231933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898005" y="232410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95160" y="2445544"/>
              <a:ext cx="510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v0、v1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08708" y="2445544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y⁽ᵏ⁾、y⁽ᵏ⁺¹⁾（规范化后）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898005" y="27193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5160" y="2845594"/>
              <a:ext cx="367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label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08708" y="2845594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按模最大分量的下标 i₀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98005" y="311943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98005" y="312420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95160" y="3245644"/>
              <a:ext cx="5308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maxEig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08708" y="3245644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max(x⁽ᵏ⁺¹⁾)，主特征值的近似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98005" y="35194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95160" y="364569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08708" y="3645694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‖y⁽ᵏ⁺¹⁾ − y⁽ᵏ⁾‖∞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898005" y="1524000"/>
              <a:ext cx="476059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606790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2-callout-2"/>
          <p:cNvGrpSpPr/>
          <p:nvPr/>
        </p:nvGrpSpPr>
        <p:grpSpPr>
          <a:xfrm>
            <a:off x="6898005" y="4093845"/>
            <a:ext cx="4760595" cy="978218"/>
            <a:chOff x="6898005" y="4093845"/>
            <a:chExt cx="4760595" cy="978218"/>
          </a:xfrm>
        </p:grpSpPr>
        <p:sp>
          <p:nvSpPr>
            <p:cNvPr id="34" name="Rectangle 34"/>
            <p:cNvSpPr/>
            <p:nvPr/>
          </p:nvSpPr>
          <p:spPr>
            <a:xfrm>
              <a:off x="6898005" y="4093845"/>
              <a:ext cx="4760595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102793" y="4483418"/>
              <a:ext cx="200026" cy="200025"/>
              <a:chOff x="7102793" y="4483418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102793" y="44834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142531" y="45278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177247" y="46389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7405497" y="4240530"/>
              <a:ext cx="375989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[ele, label] = max(abs(u1)) 找的是绝对值最大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分量的位置，u1(label) 取回带符号的值，正好是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max(x) 的定义。</a:t>
              </a:r>
            </a:p>
          </p:txBody>
        </p:sp>
      </p:grpSp>
      <p:grpSp>
        <p:nvGrpSpPr>
          <p:cNvPr id="47" name="c2-callout-3"/>
          <p:cNvGrpSpPr/>
          <p:nvPr/>
        </p:nvGrpSpPr>
        <p:grpSpPr>
          <a:xfrm>
            <a:off x="6898005" y="5242560"/>
            <a:ext cx="4760595" cy="729615"/>
            <a:chOff x="6898005" y="5242560"/>
            <a:chExt cx="4760595" cy="729615"/>
          </a:xfrm>
        </p:grpSpPr>
        <p:sp>
          <p:nvSpPr>
            <p:cNvPr id="41" name="Rectangle 41"/>
            <p:cNvSpPr/>
            <p:nvPr/>
          </p:nvSpPr>
          <p:spPr>
            <a:xfrm>
              <a:off x="6898005" y="5242560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02793" y="5506403"/>
              <a:ext cx="200026" cy="200026"/>
              <a:chOff x="7102793" y="5506403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02793" y="55064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02805" y="55730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191693" y="56064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405497" y="5388292"/>
              <a:ext cx="37856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 Octave 的 endfunction 结尾，MATLAB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中写 end。程序以相邻两步 y 的差作终止判据。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59248" cy="909257"/>
            <a:chOff x="520446" y="342900"/>
            <a:chExt cx="73592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592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4.1 规范化乘幂法求主特征值：先手算前三步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65"/>
              <p:cNvSpPr txBox="1">
                <a:spLocks noGrp="1"/>
              </p:cNvSpPr>
              <p:nvPr/>
            </p:nvSpPr>
            <p:spPr>
              <a:xfrm>
                <a:off x="533400" y="1524000"/>
                <a:ext cx="4328160" cy="12258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13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6923" y="2961799"/>
            <a:ext cx="4085082" cy="500824"/>
            <a:chOff x="526923" y="2961799"/>
            <a:chExt cx="4085082" cy="500824"/>
          </a:xfrm>
        </p:grpSpPr>
        <p:sp>
          <p:nvSpPr>
            <p:cNvPr id="8" name="TextBox 8"/>
            <p:cNvSpPr txBox="1"/>
            <p:nvPr/>
          </p:nvSpPr>
          <p:spPr>
            <a:xfrm>
              <a:off x="526923" y="2961799"/>
              <a:ext cx="408508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精确特征值 λ₁ = 6，λ₂ = 3，λ₃ = 2；λ₁ 的特征向量 (1,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5/7, −1/4)ᵀ ≈ (1, 0.714286, −0.25)ᵀ。</a:t>
              </a:r>
            </a:p>
          </p:txBody>
        </p:sp>
      </p:grpSp>
      <p:grpSp>
        <p:nvGrpSpPr>
          <p:cNvPr id="21" name="c1-card-3"/>
          <p:cNvGrpSpPr/>
          <p:nvPr/>
        </p:nvGrpSpPr>
        <p:grpSpPr>
          <a:xfrm>
            <a:off x="533400" y="3602355"/>
            <a:ext cx="4328160" cy="2361248"/>
            <a:chOff x="533400" y="3602355"/>
            <a:chExt cx="4328160" cy="2361248"/>
          </a:xfrm>
        </p:grpSpPr>
        <p:sp>
          <p:nvSpPr>
            <p:cNvPr id="10" name="Rectangle 10"/>
            <p:cNvSpPr/>
            <p:nvPr/>
          </p:nvSpPr>
          <p:spPr>
            <a:xfrm>
              <a:off x="533400" y="3602355"/>
              <a:ext cx="4328160" cy="2361248"/>
            </a:xfrm>
            <a:prstGeom prst="roundRect">
              <a:avLst>
                <a:gd name="adj" fmla="val 56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3735705"/>
              <a:ext cx="47625" cy="209454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81050" y="3811905"/>
              <a:ext cx="1449705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33253" y="3847624"/>
              <a:ext cx="1345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手算 x⁽²⁾ = Ay⁽¹⁾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4189095"/>
              <a:ext cx="33571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y⁽¹⁾ = (1, 0.8, 0.1)ᵀ，逐行相乘：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58724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4524375"/>
              <a:ext cx="35490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行：−4×1 + 14×0.8 + 0×0.1 = 7.2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92252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4859655"/>
              <a:ext cx="35490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行：−5×1 + 13×0.8 + 0×0.1 = 5.4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525780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5194935"/>
              <a:ext cx="35490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行：−1×1 + 0×0.8 + 2×0.1 = −0.8</a:t>
              </a:r>
            </a:p>
          </p:txBody>
        </p:sp>
      </p:grpSp>
      <p:grpSp>
        <p:nvGrpSpPr>
          <p:cNvPr id="39" name="c2-steps-1"/>
          <p:cNvGrpSpPr/>
          <p:nvPr/>
        </p:nvGrpSpPr>
        <p:grpSpPr>
          <a:xfrm>
            <a:off x="5166360" y="1533525"/>
            <a:ext cx="6180201" cy="3468339"/>
            <a:chOff x="5166360" y="1533525"/>
            <a:chExt cx="6180201" cy="3468339"/>
          </a:xfrm>
        </p:grpSpPr>
        <p:sp>
          <p:nvSpPr>
            <p:cNvPr id="22" name="Rectangle 22"/>
            <p:cNvSpPr/>
            <p:nvPr/>
          </p:nvSpPr>
          <p:spPr>
            <a:xfrm>
              <a:off x="5299710" y="1676400"/>
              <a:ext cx="19050" cy="26565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16636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5998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166360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5998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166360" y="33042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5998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166360" y="419004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59984" y="42638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77840" y="1567815"/>
              <a:ext cx="1501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初始化（k = 0）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578983" y="1861661"/>
              <a:ext cx="5458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x⁽⁰⁾ = (1, 1, 1)ᵀ，max(x⁽⁰⁾) = 1，y⁽⁰⁾ = (1, 1, 1)ᵀ，x⁽¹⁾ = Ay⁽⁰⁾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(10, 8, 1)ᵀ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77840" y="2453640"/>
              <a:ext cx="492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78983" y="2746534"/>
              <a:ext cx="56944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max(x⁽¹⁾) = 10，y⁽¹⁾ = x⁽¹⁾/10 = (1, 0.8, 0.1)ᵀ，x⁽²⁾ = Ay⁽¹⁾ = (7.2,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5.4, −0.8)ᵀ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77840" y="3338512"/>
              <a:ext cx="492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578983" y="3632359"/>
              <a:ext cx="55968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max(x⁽²⁾) = 7.2，y⁽²⁾ = (1, 0.75, −0.111111)ᵀ，x⁽³⁾ = Ay⁽²⁾ = (6.5,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4.75, −1.222222)ᵀ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77840" y="4224338"/>
              <a:ext cx="492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578983" y="4518184"/>
              <a:ext cx="57675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max(x⁽³⁾) = 6.5，y⁽³⁾ = (1, 0.730769, −0.188034)ᵀ，x⁽⁴⁾ = (6.230769,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4.5, −1.376068)ᵀ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5166360" y="5180648"/>
            <a:ext cx="6492240" cy="782955"/>
            <a:chOff x="5166360" y="5180648"/>
            <a:chExt cx="6492240" cy="782955"/>
          </a:xfrm>
        </p:grpSpPr>
        <p:sp>
          <p:nvSpPr>
            <p:cNvPr id="40" name="Rectangle 40"/>
            <p:cNvSpPr/>
            <p:nvPr/>
          </p:nvSpPr>
          <p:spPr>
            <a:xfrm>
              <a:off x="5166360" y="5180648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371148" y="5472113"/>
              <a:ext cx="200026" cy="200026"/>
              <a:chOff x="5371148" y="5472113"/>
              <a:chExt cx="200026" cy="20002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371148" y="54721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471160" y="55387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460048" y="55721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5673090" y="5329238"/>
              <a:ext cx="5396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max(x⁽ᵏ⁾) 依次为 1、10、7.2、6.5、6.2308，逐步逼近 λ₁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16808" cy="909257"/>
            <a:chOff x="520446" y="342900"/>
            <a:chExt cx="93168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168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4.1 迭代 12 步：λ₁ ≈ 6.000837，相对误差约 1.4×10⁻⁴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c1-table-1"/>
          <p:cNvGrpSpPr/>
          <p:nvPr/>
        </p:nvGrpSpPr>
        <p:grpSpPr>
          <a:xfrm>
            <a:off x="533400" y="1524000"/>
            <a:ext cx="5410200" cy="3200400"/>
            <a:chOff x="533400" y="1524000"/>
            <a:chExt cx="5410200" cy="32004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0036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47776" y="1645444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58491" y="1645444"/>
              <a:ext cx="1792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 = x⁽ᵏ⁾/max(x⁽ᵏ⁾)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061567" y="1645444"/>
              <a:ext cx="5734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 − 6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0366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13970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13529" y="2045494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(1, 1, 1)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00366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72507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47678" y="2445544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(1, 0.8, 0.1)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01110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0366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31044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57437" y="2845594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0.75, −0.111111)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18184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0366" y="3245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31044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91585" y="324564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0.730769, −0.188034)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18184" y="32456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519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0366" y="36456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223729" y="36456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6.230769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91585" y="364569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0.722222, −0.220850)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093795" y="36456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0.2308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39243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0366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223729" y="40457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6.111111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491585" y="404574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0.718182, −0.235915)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93795" y="40457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0.1111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3195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00366" y="44457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223729" y="44457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6.054545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491585" y="444579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0.716216, −0.243095)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93795" y="44457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0.0545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1524000"/>
              <a:ext cx="5410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6107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2151698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474821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1-card-2"/>
          <p:cNvGrpSpPr/>
          <p:nvPr/>
        </p:nvGrpSpPr>
        <p:grpSpPr>
          <a:xfrm>
            <a:off x="533400" y="4893945"/>
            <a:ext cx="5410200" cy="1443038"/>
            <a:chOff x="533400" y="4893945"/>
            <a:chExt cx="5410200" cy="1443038"/>
          </a:xfrm>
        </p:grpSpPr>
        <p:sp>
          <p:nvSpPr>
            <p:cNvPr id="53" name="Rectangle 53"/>
            <p:cNvSpPr/>
            <p:nvPr/>
          </p:nvSpPr>
          <p:spPr>
            <a:xfrm>
              <a:off x="533400" y="4893945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42925" y="5027295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58190" y="50806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0862" y="51134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1332" y="5425440"/>
              <a:ext cx="467715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原课件表中 k = 3 行 max 印成 6.57（应为 6.5），y⁽³⁾ 第 3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 −0.203704 应为 −0.188034 并传到后续各行；k = 11 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−0.239792 应为 −0.249790。</a:t>
              </a:r>
            </a:p>
          </p:txBody>
        </p:sp>
      </p:grpSp>
      <p:grpSp>
        <p:nvGrpSpPr>
          <p:cNvPr id="102" name="c2-table-1"/>
          <p:cNvGrpSpPr/>
          <p:nvPr/>
        </p:nvGrpSpPr>
        <p:grpSpPr>
          <a:xfrm>
            <a:off x="6248400" y="1524000"/>
            <a:ext cx="5410200" cy="2800350"/>
            <a:chOff x="6248400" y="1524000"/>
            <a:chExt cx="5410200" cy="2800350"/>
          </a:xfrm>
        </p:grpSpPr>
        <p:sp>
          <p:nvSpPr>
            <p:cNvPr id="59" name="Rectangle 59"/>
            <p:cNvSpPr/>
            <p:nvPr/>
          </p:nvSpPr>
          <p:spPr>
            <a:xfrm>
              <a:off x="6248400" y="1524000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41536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62776" y="1645444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273491" y="1645444"/>
              <a:ext cx="1792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 = x⁽ᵏ⁾/max(x⁽ᵏ⁾)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776567" y="1645444"/>
              <a:ext cx="5734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 − 6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15366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38729" y="20454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6.027027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206585" y="204549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0.715247, −0.246588)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808795" y="20454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0.0270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248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6248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415366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938729" y="24455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6.013453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06585" y="244554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0.714765, −0.248306)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808795" y="24455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0.0135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415366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938729" y="28455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6.006711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206585" y="284559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0.714525, −0.249157)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808795" y="28455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0.0067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6248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6248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371830" y="324564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938729" y="32456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6.003352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206585" y="324564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0.714405, −0.249579)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0808795" y="32456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0.0034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6248400" y="3519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371830" y="364569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938729" y="36456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6.001675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8206585" y="364569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0.714346, −0.249790)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0808795" y="36456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0.0017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6248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248400" y="39243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371830" y="404574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6690360" y="3933825"/>
              <a:ext cx="117157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938729" y="40457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6.000837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7880985" y="3933825"/>
              <a:ext cx="257746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8206585" y="4045744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0.714316, −0.249895)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0808795" y="40457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0.0008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248400" y="1524000"/>
              <a:ext cx="541020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667607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786669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46321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1" name="c2-card-2"/>
          <p:cNvGrpSpPr/>
          <p:nvPr/>
        </p:nvGrpSpPr>
        <p:grpSpPr>
          <a:xfrm>
            <a:off x="6248400" y="4493895"/>
            <a:ext cx="5410200" cy="1843088"/>
            <a:chOff x="6248400" y="4493895"/>
            <a:chExt cx="5410200" cy="1843088"/>
          </a:xfrm>
        </p:grpSpPr>
        <p:sp>
          <p:nvSpPr>
            <p:cNvPr id="103" name="Rectangle 103"/>
            <p:cNvSpPr/>
            <p:nvPr/>
          </p:nvSpPr>
          <p:spPr>
            <a:xfrm>
              <a:off x="6248400" y="4493895"/>
              <a:ext cx="5410200" cy="1843088"/>
            </a:xfrm>
            <a:prstGeom prst="roundRect">
              <a:avLst>
                <a:gd name="adj" fmla="val 723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6435090" y="468058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527762" y="47134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06" name="Ellipse 106"/>
            <p:cNvSpPr/>
            <p:nvPr/>
          </p:nvSpPr>
          <p:spPr>
            <a:xfrm>
              <a:off x="6443662" y="508158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6599682" y="5025390"/>
              <a:ext cx="4411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λ₁ ≈ max(x⁽¹²⁾) = 6.000837，相对误差约 1.4×10⁻⁴</a:t>
              </a:r>
            </a:p>
          </p:txBody>
        </p:sp>
        <p:sp>
          <p:nvSpPr>
            <p:cNvPr id="108" name="Ellipse 108"/>
            <p:cNvSpPr/>
            <p:nvPr/>
          </p:nvSpPr>
          <p:spPr>
            <a:xfrm>
              <a:off x="6443662" y="538162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599682" y="5325428"/>
              <a:ext cx="3539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v₁ ≈ y⁽¹²⁾ = (1, 0.714316, −0.249895)ᵀ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429375" y="5622131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最后一列误差每步约减半，符合 r = |λ₂/λ₁| = 0.5。表中数值按脚本重算。</a:t>
              </a:r>
            </a:p>
          </p:txBody>
        </p:sp>
      </p:grpSp>
      <p:grpSp>
        <p:nvGrpSpPr>
          <p:cNvPr id="11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2" name="TextBox 11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40407" cy="909257"/>
            <a:chOff x="520446" y="342900"/>
            <a:chExt cx="71404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404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 1、2：α₁ = 0 或主特征值不唯一时会怎样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4090035"/>
            <a:chOff x="533400" y="1524000"/>
            <a:chExt cx="11125200" cy="40900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29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80833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83357" y="1655921"/>
              <a:ext cx="10897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 的表现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55443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怎样处理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4746" y="2373154"/>
              <a:ext cx="13205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 1：α₁ = 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26411" y="2119789"/>
              <a:ext cx="4559046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理论上 x⁽ᵏ⁾ 不含 v₁ 分量，会收敛到 λ₂ 及其特征向量。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实际计算中舍入误差会带进很小的 v₁ 分量，它被放大得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最快，多迭代一些步后仍趋于 λ₁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2751" y="2246471"/>
              <a:ext cx="380161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一般不必担心；怀疑时换一个初始向量重算，看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结果是否一致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9527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957512"/>
              <a:ext cx="11125200" cy="96964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4746" y="3089434"/>
              <a:ext cx="1550524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λ₂（重根，有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两个无关特征向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量，|λ₁| &gt; |λ₃|）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26411" y="3216116"/>
              <a:ext cx="4531995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≈ λ₁ᵏ(α₁v₁ + α₂v₂)。分量比值仍收敛到 λ₁，向量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收敛到 v₁、v₂ 的某个组合，仍是 λ₁ 的特征向量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2751" y="334279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照常使用；不同初始向量会得到不同的特征向量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922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4746" y="4185761"/>
              <a:ext cx="797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−λ₂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6411" y="4059079"/>
              <a:ext cx="4414774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≈ λ₁ᵏ(α₁v₁ + (−1)ᵏα₂v₂)，相邻两步的比值不收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敛，奇数步、偶数步各自稳定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2751" y="4059079"/>
              <a:ext cx="3666363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xᵢ⁽ᵏ⁺²⁾/xᵢ⁽ᵏ⁾ → λ₁²，开方得 ±λ₁；v₁ ∝ x⁽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ᵏ⁺¹⁾ + λ₁x⁽ᵏ⁾，v₂ ∝ x⁽ᵏ⁺¹⁾ − λ₁x⁽ᵏ⁾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396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644390"/>
              <a:ext cx="11125200" cy="96964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746" y="5029676"/>
              <a:ext cx="15925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与 λ₂ 共轭复数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26411" y="4902994"/>
              <a:ext cx="452297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实矩阵、实初始向量的迭代始终是实向量，不可能收敛到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复特征向量，分量无规律地摆动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2751" y="4776311"/>
              <a:ext cx="3675380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λ₁、λ₂ 是 λ² + pλ + q = 0 的根，由 x⁽ᵏ⁺²⁾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px⁽ᵏ⁺¹⁾ + qx⁽ᵏ⁾ ≈ 0 解出 p、q，再解二次方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11125200" cy="40900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420302" y="1524000"/>
              <a:ext cx="9525" cy="40900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426642" y="1524000"/>
              <a:ext cx="9525" cy="40900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2" name="Rectangle 3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6011704"/>
              <a:ext cx="94663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判断依据都来自展开式 x⁽ᵏ⁾ = Σ αⱼλⱼᵏvⱼ：看哪些项的 |λⱼ|ᵏ 增长最快，以及它们的比值在 k 变化时是否固定。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04512" cy="909257"/>
            <a:chOff x="520446" y="342900"/>
            <a:chExt cx="85045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045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4.2.2 反幂法：对 A⁻¹ 用乘幂法，求按模最小的特征值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096452"/>
            <a:chOff x="533400" y="1524000"/>
            <a:chExt cx="5410200" cy="20964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96452"/>
            </a:xfrm>
            <a:prstGeom prst="roundRect">
              <a:avLst>
                <a:gd name="adj" fmla="val 63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2975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2682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∈ Rⁿˣⁿ 可逆，Ax = λx（x ≠ 0），则 λ ≠ 0 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76"/>
                <p:cNvSpPr txBox="1">
                  <a:spLocks noGrp="1"/>
                </p:cNvSpPr>
                <p:nvPr/>
              </p:nvSpPr>
              <p:spPr>
                <a:xfrm>
                  <a:off x="769620" y="2377440"/>
                  <a:ext cx="4975860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2381" y="2928461"/>
              <a:ext cx="465823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λ⁻¹ 是 A⁻¹ 的特征值，特征向量相同。A 按模最小的 λₙ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 A⁻¹ 按模最大的 1/λₙ。</a:t>
              </a:r>
            </a:p>
          </p:txBody>
        </p:sp>
      </p:grpSp>
      <p:grpSp>
        <p:nvGrpSpPr>
          <p:cNvPr id="16" name="c1-text-2"/>
          <p:cNvGrpSpPr/>
          <p:nvPr/>
        </p:nvGrpSpPr>
        <p:grpSpPr>
          <a:xfrm>
            <a:off x="526161" y="3823811"/>
            <a:ext cx="2189378" cy="278702"/>
            <a:chOff x="526161" y="3823811"/>
            <a:chExt cx="2189378" cy="278702"/>
          </a:xfrm>
        </p:grpSpPr>
        <p:sp>
          <p:nvSpPr>
            <p:cNvPr id="15" name="TextBox 15"/>
            <p:cNvSpPr txBox="1"/>
            <p:nvPr/>
          </p:nvSpPr>
          <p:spPr>
            <a:xfrm>
              <a:off x="526161" y="3823811"/>
              <a:ext cx="21893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A⁻¹ 为乘幂矩阵迭代：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formula77"/>
              <p:cNvSpPr txBox="1">
                <a:spLocks noGrp="1"/>
              </p:cNvSpPr>
              <p:nvPr/>
            </p:nvSpPr>
            <p:spPr>
              <a:xfrm>
                <a:off x="533400" y="4227195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4.21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9" name="c1-text-4"/>
          <p:cNvGrpSpPr/>
          <p:nvPr/>
        </p:nvGrpSpPr>
        <p:grpSpPr>
          <a:xfrm>
            <a:off x="526161" y="4830604"/>
            <a:ext cx="4602328" cy="278702"/>
            <a:chOff x="526161" y="4830604"/>
            <a:chExt cx="4602328" cy="278702"/>
          </a:xfrm>
        </p:grpSpPr>
        <p:sp>
          <p:nvSpPr>
            <p:cNvPr id="18" name="TextBox 18"/>
            <p:cNvSpPr txBox="1"/>
            <p:nvPr/>
          </p:nvSpPr>
          <p:spPr>
            <a:xfrm>
              <a:off x="526161" y="4830604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求逆既麻烦，又会破坏稀疏性，所以改写成解方程组：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formula78"/>
              <p:cNvSpPr txBox="1">
                <a:spLocks noGrp="1"/>
              </p:cNvSpPr>
              <p:nvPr/>
            </p:nvSpPr>
            <p:spPr>
              <a:xfrm>
                <a:off x="533400" y="5233988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,⋯</m:t>
                          </m:r>
                        </m:e>
                      </m:d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4.22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5" name="c2-card-1"/>
          <p:cNvGrpSpPr/>
          <p:nvPr/>
        </p:nvGrpSpPr>
        <p:grpSpPr>
          <a:xfrm>
            <a:off x="6248400" y="1524000"/>
            <a:ext cx="5410200" cy="1471612"/>
            <a:chOff x="6248400" y="1524000"/>
            <a:chExt cx="5410200" cy="1471612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1471612"/>
            </a:xfrm>
            <a:prstGeom prst="roundRect">
              <a:avLst>
                <a:gd name="adj" fmla="val 9061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6520" y="172212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1958" y="175641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规范化反幂法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formula79"/>
                <p:cNvSpPr txBox="1">
                  <a:spLocks noGrp="1"/>
                </p:cNvSpPr>
                <p:nvPr/>
              </p:nvSpPr>
              <p:spPr>
                <a:xfrm>
                  <a:off x="6446520" y="2059305"/>
                  <a:ext cx="5013960" cy="7200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max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e>
                                            <m:r>
                                              <a:rPr lang="zh-CN" sz="158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580" dirty="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580" dirty="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k</m:t>
                                                </m:r>
                                              </m:e>
                                            </m:d>
                                          </m:sup>
                                        </m:sSup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eqArr>
                          </m:e>
                        </m:d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  <m:r>
                          <a:rPr lang="zh-CN" sz="15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4.23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6" name="c2-card-2"/>
          <p:cNvGrpSpPr/>
          <p:nvPr/>
        </p:nvGrpSpPr>
        <p:grpSpPr>
          <a:xfrm>
            <a:off x="6248400" y="3175635"/>
            <a:ext cx="5410200" cy="2458402"/>
            <a:chOff x="6248400" y="3175635"/>
            <a:chExt cx="5410200" cy="2458402"/>
          </a:xfrm>
        </p:grpSpPr>
        <p:sp>
          <p:nvSpPr>
            <p:cNvPr id="26" name="Rectangle 26"/>
            <p:cNvSpPr/>
            <p:nvPr/>
          </p:nvSpPr>
          <p:spPr>
            <a:xfrm>
              <a:off x="6248400" y="3175635"/>
              <a:ext cx="5410200" cy="2458402"/>
            </a:xfrm>
            <a:prstGeom prst="roundRect">
              <a:avLst>
                <a:gd name="adj" fmla="val 54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3308985"/>
              <a:ext cx="47625" cy="219170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84620" y="337375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8059" y="340804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收敛结论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77381" y="3734276"/>
              <a:ext cx="33311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|λ₁| ≥ |λ₂| ≥ … ≥ |λₙ₋₁| &gt; |λₙ| &gt; 0 时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formula80"/>
                <p:cNvSpPr txBox="1">
                  <a:spLocks noGrp="1"/>
                </p:cNvSpPr>
                <p:nvPr/>
              </p:nvSpPr>
              <p:spPr>
                <a:xfrm>
                  <a:off x="6484620" y="4029075"/>
                  <a:ext cx="4975860" cy="62007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fName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5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5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e>
                        </m:func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den>
                        </m:f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4.25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2" name="Ellipse 32"/>
            <p:cNvSpPr/>
            <p:nvPr/>
          </p:nvSpPr>
          <p:spPr>
            <a:xfrm>
              <a:off x="6492240" y="48215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48831" y="4762024"/>
              <a:ext cx="27289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y⁽ᵏ⁾ 是 λₙ 相应的近似特征向量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92240" y="51396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48831" y="5079206"/>
              <a:ext cx="22606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收敛速度取决于 |λₙ/λₙ₋₁|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7" name="Rectangle 3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511" y="6011704"/>
              <a:ext cx="72307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易错：迭代表里的 max(x⁽ᵏ⁾) 近似的是 1/λₙ，最后要取倒数，λₙ ≈ 1/max(x⁽ᵏ⁾)。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55374" cy="909257"/>
            <a:chOff x="520446" y="342900"/>
            <a:chExt cx="92553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553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反幂法每步都解同一个系数矩阵的方程组，先做一次 LU 分解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5109083" cy="558736"/>
            <a:chOff x="526161" y="1547336"/>
            <a:chExt cx="5109083" cy="558736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109083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系数矩阵 A 在迭代中不变，先分解 A = LU，每步化为两个三角方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程组：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83"/>
              <p:cNvSpPr txBox="1">
                <a:spLocks noGrp="1"/>
              </p:cNvSpPr>
              <p:nvPr/>
            </p:nvSpPr>
            <p:spPr>
              <a:xfrm>
                <a:off x="533400" y="2230755"/>
                <a:ext cx="5410200" cy="720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  <m:acc>
                                <m:accPr>
                                  <m:chr m:val="˜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</m:e>
                                  </m:d>
                                </m:sup>
                              </m:sSup>
                            </m:e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acc>
                                <m:accPr>
                                  <m:chr m:val="˜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acc>
                            </m:e>
                          </m:eqArr>
                        </m:e>
                      </m:d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,⋯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4.24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7" name="c1-card-3"/>
          <p:cNvGrpSpPr/>
          <p:nvPr/>
        </p:nvGrpSpPr>
        <p:grpSpPr>
          <a:xfrm>
            <a:off x="533400" y="3130868"/>
            <a:ext cx="5410200" cy="3229928"/>
            <a:chOff x="533400" y="3130868"/>
            <a:chExt cx="5410200" cy="3229928"/>
          </a:xfrm>
        </p:grpSpPr>
        <p:sp>
          <p:nvSpPr>
            <p:cNvPr id="10" name="Rectangle 10"/>
            <p:cNvSpPr/>
            <p:nvPr/>
          </p:nvSpPr>
          <p:spPr>
            <a:xfrm>
              <a:off x="533400" y="3130868"/>
              <a:ext cx="5410200" cy="3229928"/>
            </a:xfrm>
            <a:prstGeom prst="roundRect">
              <a:avLst>
                <a:gd name="adj" fmla="val 41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3264218"/>
              <a:ext cx="47625" cy="29632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9620" y="3328988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7037" y="336327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思考 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3690461"/>
              <a:ext cx="48754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 消元解 (4.22) 与用 (4.24) 求解，计算量差在哪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9620" y="4002405"/>
              <a:ext cx="4975860" cy="4629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616113" y="413432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19569" y="4134326"/>
              <a:ext cx="19657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 k 步的乘除法次数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0966" y="4597241"/>
              <a:ext cx="18414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每步重新 Gauss 消元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60751" y="4597241"/>
              <a:ext cx="8938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k·n³/3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9620" y="4924425"/>
              <a:ext cx="49758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9620" y="4929188"/>
              <a:ext cx="4975860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0966" y="5061109"/>
              <a:ext cx="175971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LU 分解一次 + 每步两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个三角方程组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60751" y="5187791"/>
              <a:ext cx="13239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n³/3 + k·n²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9620" y="4002405"/>
              <a:ext cx="4975860" cy="16430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854642" y="4002405"/>
              <a:ext cx="9525" cy="16430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3524" y="5755005"/>
              <a:ext cx="45689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100、k = 10：前者约 3.3×10⁶ 次，后者约 4.3×10⁵ 次。k 越大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差距越明显。</a:t>
              </a:r>
            </a:p>
          </p:txBody>
        </p:sp>
      </p:grpSp>
      <p:grpSp>
        <p:nvGrpSpPr>
          <p:cNvPr id="33" name="c2-code-1"/>
          <p:cNvGrpSpPr/>
          <p:nvPr/>
        </p:nvGrpSpPr>
        <p:grpSpPr>
          <a:xfrm>
            <a:off x="6248400" y="1524000"/>
            <a:ext cx="5410200" cy="3723322"/>
            <a:chOff x="6248400" y="1524000"/>
            <a:chExt cx="5410200" cy="3723322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3723322"/>
            </a:xfrm>
            <a:prstGeom prst="roundRect">
              <a:avLst>
                <a:gd name="adj" fmla="val 25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76797" y="1675924"/>
              <a:ext cx="21385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anti_eigen_pow.m（原课件程序）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67450" y="3223260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67450" y="4737735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76416" y="1937385"/>
              <a:ext cx="3971163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function [lamda, eigen_vec] = anti_eigen_pow(A, u, ep)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% 求 A 按模最小的特征值 lamda 及特征向量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err = 100;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u0 = u;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[ele, label] = max(abs(u0));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v0 = u0 / u0(label);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err &gt; ep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u1 = A \ v0;              % 解 A x(k+1) = y(k)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[ele, label] = max(abs(u1));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lamda = u1(label);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v1 = u1 / lamda;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err = max(abs(v1 - v0));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v0 = v1;  u0 = u1;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eigen_vec = v0;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lamda = 1 / lamda;          % 取倒数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6248400" y="5427345"/>
            <a:ext cx="5410200" cy="756285"/>
            <a:chOff x="6248400" y="5427345"/>
            <a:chExt cx="5410200" cy="756285"/>
          </a:xfrm>
        </p:grpSpPr>
        <p:sp>
          <p:nvSpPr>
            <p:cNvPr id="34" name="Rectangle 34"/>
            <p:cNvSpPr/>
            <p:nvPr/>
          </p:nvSpPr>
          <p:spPr>
            <a:xfrm>
              <a:off x="6248400" y="5427345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53188" y="5705475"/>
              <a:ext cx="200026" cy="200025"/>
              <a:chOff x="6453188" y="5705475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453188" y="57054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492926" y="57499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27642" y="58610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511" y="5574506"/>
              <a:ext cx="442379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\ v0 每次都重新分解 A。按 (4.24) 改进：循环前写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[L, U, P] = lu(A)，循环内写 u1 = U \ (L \ (P*v0))。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26250" cy="909257"/>
            <a:chOff x="520446" y="342900"/>
            <a:chExt cx="80262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262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 反幂法求按模最小特征值：A 需要选主元分解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86"/>
              <p:cNvSpPr txBox="1">
                <a:spLocks noGrp="1"/>
              </p:cNvSpPr>
              <p:nvPr/>
            </p:nvSpPr>
            <p:spPr>
              <a:xfrm>
                <a:off x="533400" y="1524000"/>
                <a:ext cx="4760595" cy="11315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0.25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0.25</m:t>
                                </m:r>
                              </m:e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4" name="c1-callout-2"/>
          <p:cNvGrpSpPr/>
          <p:nvPr/>
        </p:nvGrpSpPr>
        <p:grpSpPr>
          <a:xfrm>
            <a:off x="533400" y="2846070"/>
            <a:ext cx="4760595" cy="1059180"/>
            <a:chOff x="533400" y="2846070"/>
            <a:chExt cx="4760595" cy="1059180"/>
          </a:xfrm>
        </p:grpSpPr>
        <p:sp>
          <p:nvSpPr>
            <p:cNvPr id="8" name="Rectangle 8"/>
            <p:cNvSpPr/>
            <p:nvPr/>
          </p:nvSpPr>
          <p:spPr>
            <a:xfrm>
              <a:off x="533400" y="2846070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726129" y="3271956"/>
              <a:ext cx="224134" cy="192560"/>
              <a:chOff x="726129" y="3271956"/>
              <a:chExt cx="224134" cy="19256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838200" y="334232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726129" y="327195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38200" y="342011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040130" y="2994660"/>
              <a:ext cx="37585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二阶顺序主子式 1×1 − 1×1 = 0，不选主元的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Doolittle 分解在第 2 步遇到零主元，所以用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列主元分解 PA = LU（P 交换第 2、3 行）。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formula87"/>
              <p:cNvSpPr txBox="1">
                <a:spLocks noGrp="1"/>
              </p:cNvSpPr>
              <p:nvPr/>
            </p:nvSpPr>
            <p:spPr>
              <a:xfrm>
                <a:off x="533400" y="4095750"/>
                <a:ext cx="4760595" cy="10372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PA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0.25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1.75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0.25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7" name="c1-text-4"/>
          <p:cNvGrpSpPr/>
          <p:nvPr/>
        </p:nvGrpSpPr>
        <p:grpSpPr>
          <a:xfrm>
            <a:off x="526923" y="5344954"/>
            <a:ext cx="4572762" cy="752284"/>
            <a:chOff x="526923" y="5344954"/>
            <a:chExt cx="4572762" cy="752284"/>
          </a:xfrm>
        </p:grpSpPr>
        <p:sp>
          <p:nvSpPr>
            <p:cNvPr id="16" name="TextBox 16"/>
            <p:cNvSpPr txBox="1"/>
            <p:nvPr/>
          </p:nvSpPr>
          <p:spPr>
            <a:xfrm>
              <a:off x="526923" y="5344954"/>
              <a:ext cx="4572762" cy="7522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每步解 Lz = Py⁽ᵏ⁾，再解 Ux⁽ᵏ⁺¹⁾ = z。原课件第 50 页贴出的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MATLAB 输出 [L, U] = lu(A) 正是这组 U，那里的 L 是 PᵀL（行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已换回原顺序）。</a:t>
              </a:r>
            </a:p>
          </p:txBody>
        </p:sp>
      </p:grpSp>
      <p:grpSp>
        <p:nvGrpSpPr>
          <p:cNvPr id="35" name="c2-steps-1"/>
          <p:cNvGrpSpPr/>
          <p:nvPr/>
        </p:nvGrpSpPr>
        <p:grpSpPr>
          <a:xfrm>
            <a:off x="5598795" y="1533525"/>
            <a:ext cx="5562473" cy="3233071"/>
            <a:chOff x="5598795" y="1533525"/>
            <a:chExt cx="5562473" cy="3233071"/>
          </a:xfrm>
        </p:grpSpPr>
        <p:sp>
          <p:nvSpPr>
            <p:cNvPr id="18" name="Rectangle 18"/>
            <p:cNvSpPr/>
            <p:nvPr/>
          </p:nvSpPr>
          <p:spPr>
            <a:xfrm>
              <a:off x="5732145" y="1676400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598795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69241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598795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92419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598795" y="395573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92419" y="40295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0275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1418" y="1861661"/>
              <a:ext cx="3846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x⁽⁰⁾ = (1, 1, 1)ᵀ，max = 1，y⁽⁰⁾ = (1, 1, 1)ᵀ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0275" y="2218372"/>
              <a:ext cx="2449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步：解 Ax⁽¹⁾ = y⁽⁰⁾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11418" y="2512219"/>
              <a:ext cx="51498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Py⁽⁰⁾ = (1, 1, 1)ᵀ → z = (1, 0.5, 0)ᵀ → x⁽¹⁾ = (3, −2, 0)ᵀ；max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3，y⁽¹⁾ = (1, −2/3, 0)ᵀ，1/max = 0.333333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10275" y="3104198"/>
              <a:ext cx="2449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步：解 Ax⁽²⁾ = y⁽¹⁾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11418" y="3397091"/>
              <a:ext cx="47190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Py⁽¹⁾ = (1, 0, −2/3)ᵀ → z = (1, −0.5, −5/3)ᵀ → x⁽²⁾ = (−51,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48.666667, 6.666667)ᵀ；max = −51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10275" y="399002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11418" y="4282916"/>
              <a:ext cx="48003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y⁽²⁾ = x⁽²⁾/(−51) = (1, −0.954248, −0.130719)ᵀ，1/max = 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0.019608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5598795" y="4945380"/>
            <a:ext cx="6059805" cy="782955"/>
            <a:chOff x="5598795" y="4945380"/>
            <a:chExt cx="6059805" cy="782955"/>
          </a:xfrm>
        </p:grpSpPr>
        <p:sp>
          <p:nvSpPr>
            <p:cNvPr id="36" name="Rectangle 36"/>
            <p:cNvSpPr/>
            <p:nvPr/>
          </p:nvSpPr>
          <p:spPr>
            <a:xfrm>
              <a:off x="5598795" y="494538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5803583" y="5236845"/>
              <a:ext cx="200026" cy="200025"/>
              <a:chOff x="5803583" y="5236845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803583" y="52368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843321" y="52812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878037" y="53924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105525" y="5093970"/>
              <a:ext cx="5082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回代检验第 1 步：U x = z，x₃ = 0/(−0.25) = 0，x₂ = (0.5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− 1.75x₃)/(−0.25) = −2，x₁ = 1 − x₂ − 0.5x₃ = 3。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63031" cy="909257"/>
            <a:chOff x="520446" y="342900"/>
            <a:chExt cx="55630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630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 迭代 5 步：λ₃ ≈ −0.016647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0" name="c1-table-1"/>
          <p:cNvGrpSpPr/>
          <p:nvPr/>
        </p:nvGrpSpPr>
        <p:grpSpPr>
          <a:xfrm>
            <a:off x="528447" y="1524000"/>
            <a:ext cx="5956173" cy="3063906"/>
            <a:chOff x="528447" y="1524000"/>
            <a:chExt cx="5956173" cy="30639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9274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21119" y="1645444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731846" y="1645444"/>
              <a:ext cx="1792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 = x⁽ᵏ⁾/max(x⁽ᵏ⁾)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076180" y="1645444"/>
              <a:ext cx="1270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 ≈ 1/max(x⁽ᵏ⁾)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92746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8731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86884" y="2045494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(1, 1, 1)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1933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24100"/>
              <a:ext cx="595122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2746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87312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55181" y="2445544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−0.666667, 0)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73771" y="24455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0.333333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71938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2746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04386" y="284559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−51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23477" y="2845594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−0.954248, −0.130719)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32308" y="284559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−0.019608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11943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124200"/>
              <a:ext cx="595122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92746" y="3245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14145" y="324564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−60.150327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23477" y="3245644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−0.951646, −0.129958)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32308" y="324564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−0.016625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51948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92746" y="36456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214145" y="364569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−60.069217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623477" y="3645694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−0.951668, −0.129960)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32308" y="364569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−0.016647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91953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3924300"/>
              <a:ext cx="595122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2746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214145" y="404574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−60.069866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327910" y="3933825"/>
              <a:ext cx="259937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623477" y="4045744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−0.951667, −0.129960)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947285" y="3933825"/>
              <a:ext cx="1527810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332308" y="404574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−0.016647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1524000"/>
              <a:ext cx="595122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44880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31362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493299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8447" y="4397216"/>
              <a:ext cx="27074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每行先解 Ax⁽ᵏ⁾ = y⁽ᵏ⁻¹⁾ 得 x⁽ᵏ⁾，再规范化</a:t>
              </a:r>
            </a:p>
          </p:txBody>
        </p:sp>
      </p:grpSp>
      <p:grpSp>
        <p:nvGrpSpPr>
          <p:cNvPr id="58" name="c1-card-2"/>
          <p:cNvGrpSpPr/>
          <p:nvPr/>
        </p:nvGrpSpPr>
        <p:grpSpPr>
          <a:xfrm>
            <a:off x="533400" y="4719638"/>
            <a:ext cx="5951220" cy="1485900"/>
            <a:chOff x="533400" y="4719638"/>
            <a:chExt cx="5951220" cy="1485900"/>
          </a:xfrm>
        </p:grpSpPr>
        <p:sp>
          <p:nvSpPr>
            <p:cNvPr id="51" name="Rectangle 51"/>
            <p:cNvSpPr/>
            <p:nvPr/>
          </p:nvSpPr>
          <p:spPr>
            <a:xfrm>
              <a:off x="533400" y="4719638"/>
              <a:ext cx="5951220" cy="1485900"/>
            </a:xfrm>
            <a:prstGeom prst="roundRect">
              <a:avLst>
                <a:gd name="adj" fmla="val 897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20090" y="490632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12762" y="493918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28662" y="530733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84682" y="5251133"/>
              <a:ext cx="49771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λ₃ ≈ 1/max(x⁽⁵⁾) = −0.016647，与 numpy 算出的 −0.0166473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一致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28662" y="586454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84682" y="5808345"/>
              <a:ext cx="3539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v₃ ≈ y⁽⁵⁾ = (1, −0.951667, −0.129960)ᵀ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6789420" y="1524000"/>
            <a:ext cx="4869180" cy="2043112"/>
            <a:chOff x="6789420" y="1524000"/>
            <a:chExt cx="4869180" cy="2043112"/>
          </a:xfrm>
        </p:grpSpPr>
        <p:sp>
          <p:nvSpPr>
            <p:cNvPr id="59" name="Rectangle 59"/>
            <p:cNvSpPr/>
            <p:nvPr/>
          </p:nvSpPr>
          <p:spPr>
            <a:xfrm>
              <a:off x="6789420" y="1524000"/>
              <a:ext cx="4869180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798945" y="1657350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01421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10688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022782" y="211074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78802" y="2054542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原课件表 4.1 中 y⁽¹⁾ 写成 (1, 0.6667, 0)，第 2 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量应为 −0.6667（第 50 页推导里就是 −2/3）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022782" y="266890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178802" y="261270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y⁽²⁾ 写成 (0.7482, 0.6497, 1)，与例 4.3 表中数据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混淆；k = 2 起 y 列整体错后一行，应如左表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022782" y="322611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178802" y="3169920"/>
              <a:ext cx="44030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正文“迭代 x⁽²⁾ = Ay⁽¹⁾”应为解方程组 Ax⁽²⁾ = y⁽¹⁾</a:t>
              </a:r>
            </a:p>
          </p:txBody>
        </p:sp>
      </p:grpSp>
      <p:grpSp>
        <p:nvGrpSpPr>
          <p:cNvPr id="75" name="c2-card-2"/>
          <p:cNvGrpSpPr/>
          <p:nvPr/>
        </p:nvGrpSpPr>
        <p:grpSpPr>
          <a:xfrm>
            <a:off x="6789420" y="3737610"/>
            <a:ext cx="4869180" cy="2468880"/>
            <a:chOff x="6789420" y="3737610"/>
            <a:chExt cx="4869180" cy="2468880"/>
          </a:xfrm>
        </p:grpSpPr>
        <p:sp>
          <p:nvSpPr>
            <p:cNvPr id="70" name="Rectangle 70"/>
            <p:cNvSpPr/>
            <p:nvPr/>
          </p:nvSpPr>
          <p:spPr>
            <a:xfrm>
              <a:off x="6789420" y="3737610"/>
              <a:ext cx="4869180" cy="2468880"/>
            </a:xfrm>
            <a:prstGeom prst="roundRect">
              <a:avLst>
                <a:gd name="adj" fmla="val 54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6798945" y="3870960"/>
              <a:ext cx="47625" cy="220218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7014210" y="392430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091629" y="395716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为什么这么快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007352" y="4268152"/>
              <a:ext cx="423138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的三个特征值约为 2.5365、1.4801、−0.0166。收敛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因子 |λ₃/λ₂| = 0.0166/1.4801 ≈ 0.011，每步误差约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缩小到 1%。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90076" cy="909257"/>
            <a:chOff x="520446" y="342900"/>
            <a:chExt cx="89900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900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4.2.3 原点平移：对 B = A − λ₀I 用乘幂法，改变收敛因子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880360"/>
            <a:chOff x="533400" y="1524000"/>
            <a:chExt cx="5410200" cy="28803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880360"/>
            </a:xfrm>
            <a:prstGeom prst="roundRect">
              <a:avLst>
                <a:gd name="adj" fmla="val 46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1366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3057" y="175641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平移不改变特征向量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60413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Ax = λx，令 B = A − λ₀I，则 Bx = (λ − λ₀)x。设 μᵢ 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的特征值：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96"/>
                <p:cNvSpPr txBox="1">
                  <a:spLocks noGrp="1"/>
                </p:cNvSpPr>
                <p:nvPr/>
              </p:nvSpPr>
              <p:spPr>
                <a:xfrm>
                  <a:off x="769620" y="2648902"/>
                  <a:ext cx="497586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μ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2381" y="3161824"/>
              <a:ext cx="472135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相应于 λᵢ 的特征向量 vᵢ 也是 B 相应于 μᵢ 的特征向量。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B 代替 A 迭代，称为乘幂法的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原点平移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，求出 μ₁ 后 λ₁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μ₁ + λ₀。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3524" y="4018598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平移只改对角元，计算简单，不破坏稀疏性。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4584382"/>
            <a:ext cx="5410200" cy="1697355"/>
            <a:chOff x="533400" y="4584382"/>
            <a:chExt cx="5410200" cy="1697355"/>
          </a:xfrm>
        </p:grpSpPr>
        <p:sp>
          <p:nvSpPr>
            <p:cNvPr id="16" name="Rectangle 16"/>
            <p:cNvSpPr/>
            <p:nvPr/>
          </p:nvSpPr>
          <p:spPr>
            <a:xfrm>
              <a:off x="533400" y="4584382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76316" y="4712970"/>
              <a:ext cx="9543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 4.3 的 λᵢ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41384" y="4712970"/>
              <a:ext cx="1226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= A + 4I 的 μᵢ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50443" y="4712970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|μᵢ/μ₁|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67544" y="5136832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5.1248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82074" y="513683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9.1248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190134" y="51368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4282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5433060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0898" y="5561648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−2.4771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82074" y="5561648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1.5229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68011" y="5561648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0.1669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8531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20898" y="5986462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−4.6477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37649" y="598646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−0.6477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68011" y="598646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0.0710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584382"/>
              <a:ext cx="5410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367915" y="458438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531995" y="458438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2-text-1"/>
          <p:cNvGrpSpPr/>
          <p:nvPr/>
        </p:nvGrpSpPr>
        <p:grpSpPr>
          <a:xfrm>
            <a:off x="6241161" y="1547336"/>
            <a:ext cx="3474391" cy="278702"/>
            <a:chOff x="6241161" y="1547336"/>
            <a:chExt cx="3474391" cy="278702"/>
          </a:xfrm>
        </p:grpSpPr>
        <p:sp>
          <p:nvSpPr>
            <p:cNvPr id="36" name="TextBox 36"/>
            <p:cNvSpPr txBox="1"/>
            <p:nvPr/>
          </p:nvSpPr>
          <p:spPr>
            <a:xfrm>
              <a:off x="6241161" y="1547336"/>
              <a:ext cx="34743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对任何 x⁽⁰⁾ ∈ Rⁿ，关于 B 的乘幂公式为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97"/>
              <p:cNvSpPr txBox="1">
                <a:spLocks noGrp="1"/>
              </p:cNvSpPr>
              <p:nvPr/>
            </p:nvSpPr>
            <p:spPr>
              <a:xfrm>
                <a:off x="6248400" y="1950720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</m:sSup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</m:sSup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formula98"/>
              <p:cNvSpPr txBox="1">
                <a:spLocks noGrp="1"/>
              </p:cNvSpPr>
              <p:nvPr/>
            </p:nvSpPr>
            <p:spPr>
              <a:xfrm>
                <a:off x="6248400" y="2530792"/>
                <a:ext cx="5410200" cy="6200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e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λ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e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λ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e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λ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e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λ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6" name="c2-card-4"/>
          <p:cNvGrpSpPr/>
          <p:nvPr/>
        </p:nvGrpSpPr>
        <p:grpSpPr>
          <a:xfrm>
            <a:off x="6248400" y="3330892"/>
            <a:ext cx="5410200" cy="2950845"/>
            <a:chOff x="6248400" y="3330892"/>
            <a:chExt cx="5410200" cy="2950845"/>
          </a:xfrm>
        </p:grpSpPr>
        <p:sp>
          <p:nvSpPr>
            <p:cNvPr id="40" name="Rectangle 40"/>
            <p:cNvSpPr/>
            <p:nvPr/>
          </p:nvSpPr>
          <p:spPr>
            <a:xfrm>
              <a:off x="6248400" y="3330892"/>
              <a:ext cx="5410200" cy="2950845"/>
            </a:xfrm>
            <a:prstGeom prst="roundRect">
              <a:avLst>
                <a:gd name="adj" fmla="val 451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46520" y="3529012"/>
              <a:ext cx="981075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22866" y="3563302"/>
              <a:ext cx="8283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 λ₀ 的原则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39281" y="3889534"/>
              <a:ext cx="41053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为加快收敛，λ₀ 应使下面的收敛因子达到最小：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formula99"/>
                <p:cNvSpPr txBox="1">
                  <a:spLocks noGrp="1"/>
                </p:cNvSpPr>
                <p:nvPr/>
              </p:nvSpPr>
              <p:spPr>
                <a:xfrm>
                  <a:off x="6446520" y="4184332"/>
                  <a:ext cx="5013960" cy="5314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ω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4.1.29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5" name="TextBox 45"/>
            <p:cNvSpPr txBox="1"/>
            <p:nvPr/>
          </p:nvSpPr>
          <p:spPr>
            <a:xfrm>
              <a:off x="6440424" y="4824412"/>
              <a:ext cx="359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还要求 ω(λ₀) &lt; 1，否则迭代收敛到的不再是 λ₁。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32428" cy="909257"/>
            <a:chOff x="520446" y="342900"/>
            <a:chExt cx="62324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324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 4：|λ₂ − λ₀|/|λ₁ − λ₀| 越小越好吗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graph-1"/>
          <p:cNvGrpSpPr/>
          <p:nvPr/>
        </p:nvGrpSpPr>
        <p:grpSpPr>
          <a:xfrm>
            <a:off x="683895" y="1549241"/>
            <a:ext cx="5381625" cy="957263"/>
            <a:chOff x="683895" y="1549241"/>
            <a:chExt cx="5381625" cy="957263"/>
          </a:xfrm>
        </p:grpSpPr>
        <p:sp>
          <p:nvSpPr>
            <p:cNvPr id="7" name="Freeform 7"/>
            <p:cNvSpPr/>
            <p:nvPr/>
          </p:nvSpPr>
          <p:spPr>
            <a:xfrm>
              <a:off x="683895" y="2252662"/>
              <a:ext cx="5286375" cy="9525"/>
            </a:xfrm>
            <a:custGeom>
              <a:avLst/>
              <a:gdLst/>
              <a:ahLst/>
              <a:cxnLst/>
              <a:rect l="l" t="t" r="r" b="b"/>
              <a:pathLst>
                <a:path w="5286375" h="9525">
                  <a:moveTo>
                    <a:pt x="0" y="0"/>
                  </a:moveTo>
                  <a:lnTo>
                    <a:pt x="528637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970270" y="22050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039178" y="2195512"/>
              <a:ext cx="114300" cy="1143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610678" y="220503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2107882" y="2195512"/>
              <a:ext cx="114300" cy="1143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3430905" y="2224088"/>
              <a:ext cx="57150" cy="571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5539740" y="2195512"/>
              <a:ext cx="114300" cy="1143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85237" y="2344579"/>
              <a:ext cx="62218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λ₃ = −4.648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16855" y="2058829"/>
              <a:ext cx="6828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λ₀* = −3.562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53942" y="2344579"/>
              <a:ext cx="62218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λ₂ = −2.477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24361" y="231600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316156" y="2344579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λ₁ = 5.125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12434" y="1549241"/>
              <a:ext cx="14940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4.3 的特征值在数轴上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312795"/>
            <a:ext cx="5626418" cy="2849880"/>
            <a:chOff x="533400" y="3312795"/>
            <a:chExt cx="5626418" cy="2849880"/>
          </a:xfrm>
        </p:grpSpPr>
        <p:sp>
          <p:nvSpPr>
            <p:cNvPr id="21" name="Rectangle 21"/>
            <p:cNvSpPr/>
            <p:nvPr/>
          </p:nvSpPr>
          <p:spPr>
            <a:xfrm>
              <a:off x="533400" y="3312795"/>
              <a:ext cx="5626418" cy="2849880"/>
            </a:xfrm>
            <a:prstGeom prst="roundRect">
              <a:avLst>
                <a:gd name="adj" fmla="val 467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0090" y="349948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2762" y="35323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3232" y="3844290"/>
              <a:ext cx="49514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不是。收敛因子是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所有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j ≥ 2 里的最大比值。λ₀ 向 λ₂ 靠近时，λ₂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那一项变小，λₙ 那一项却变大。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3232" y="4401502"/>
              <a:ext cx="5084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特征值都是实数且 λ₁ &gt; λ₂ ≥ … ≥ λₙ 时，两端比值相等处最优：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103"/>
                <p:cNvSpPr txBox="1">
                  <a:spLocks noGrp="1"/>
                </p:cNvSpPr>
                <p:nvPr/>
              </p:nvSpPr>
              <p:spPr>
                <a:xfrm>
                  <a:off x="720090" y="4679632"/>
                  <a:ext cx="5253038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60" name="c2-table-1"/>
          <p:cNvGrpSpPr/>
          <p:nvPr/>
        </p:nvGrpSpPr>
        <p:grpSpPr>
          <a:xfrm>
            <a:off x="6459665" y="1524000"/>
            <a:ext cx="5198935" cy="3063906"/>
            <a:chOff x="6459665" y="1524000"/>
            <a:chExt cx="5198935" cy="3063906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90943" y="164544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99512" y="1645444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ω(λ₀)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4382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34479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68415" y="20454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0.9069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39175" y="204549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不平移，收敛很慢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23193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64618" y="23241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90943" y="244554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68415" y="24455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0.3716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27193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90943" y="284559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68415" y="28455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0.2028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31194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64618" y="31242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16798" y="3245644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−3.562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55976" y="3245644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0.1249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639175" y="3245644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 λ₀* = (λ₂ + λ₃)/2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35194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90943" y="364569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768415" y="36456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0.1669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39175" y="3645694"/>
              <a:ext cx="1707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4.3 的取法，已足够快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39195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464618" y="39243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934479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55976" y="4045744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1.3692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639175" y="4045744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|λ₃ − 1| &gt; |λ₁ − 1|，改为收敛到 λ₃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64618" y="1524000"/>
              <a:ext cx="5193982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499032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53725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59665" y="4397216"/>
              <a:ext cx="31563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 4.3 的特征值 5.1248、−2.4771、−4.6477 计算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464618" y="4719638"/>
            <a:ext cx="5193982" cy="1443038"/>
            <a:chOff x="6464618" y="4719638"/>
            <a:chExt cx="5193982" cy="1443038"/>
          </a:xfrm>
        </p:grpSpPr>
        <p:sp>
          <p:nvSpPr>
            <p:cNvPr id="61" name="Rectangle 61"/>
            <p:cNvSpPr/>
            <p:nvPr/>
          </p:nvSpPr>
          <p:spPr>
            <a:xfrm>
              <a:off x="6464618" y="4719638"/>
              <a:ext cx="5193982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74142" y="485298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689408" y="490632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774929" y="493918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实际困难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682549" y="5251133"/>
              <a:ext cx="45914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事先不知道特征值的分布，最优 λ₀ 算不出来。通常先对特征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值分布做大略估计，设定 λ₀ ∈ (λₙ, λ₂) 试算几步，确认有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明显加速效果后再正式计算。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58860" cy="909257"/>
            <a:chOff x="520446" y="342900"/>
            <a:chExt cx="93588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588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4.3 原点平移加速：λ₀ = −4 时 7 步收敛，不平移要 92 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455021" cy="512636"/>
            <a:chOff x="526542" y="1545907"/>
            <a:chExt cx="10455021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45502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(−3 1 0; 1 −3 −3; 0 −3 4)，B = A + 4I = (1 1 0; 1 1 −3; 0 −3 8)，都从 (1, 1, 1)ᵀ 出发，|max(x⁽ᵏ⁾) − max(x⁽ᵏ⁻¹⁾)| &lt; 10⁻³ 时停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止。</a:t>
              </a:r>
            </a:p>
          </p:txBody>
        </p:sp>
      </p:grpSp>
      <p:grpSp>
        <p:nvGrpSpPr>
          <p:cNvPr id="42" name="c1-table-1"/>
          <p:cNvGrpSpPr/>
          <p:nvPr/>
        </p:nvGrpSpPr>
        <p:grpSpPr>
          <a:xfrm>
            <a:off x="533400" y="2177415"/>
            <a:ext cx="5410200" cy="2800350"/>
            <a:chOff x="533400" y="2177415"/>
            <a:chExt cx="5410200" cy="2800350"/>
          </a:xfrm>
        </p:grpSpPr>
        <p:sp>
          <p:nvSpPr>
            <p:cNvPr id="9" name="Rectangle 9"/>
            <p:cNvSpPr/>
            <p:nvPr/>
          </p:nvSpPr>
          <p:spPr>
            <a:xfrm>
              <a:off x="533400" y="2177415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89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48498" y="2298859"/>
              <a:ext cx="1406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不平移，对 A：y⁽ᵏ⁾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18699" y="2298859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8951" y="26989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47177" y="2698909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(0.4000, 1.0000, −0.2000)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36114" y="269890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−5.0000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727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9775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8951" y="30989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88640" y="3098959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(0.0526, 0.5263, 1.0000)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36114" y="309895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−3.8000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728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8951" y="3499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47177" y="3499009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(−0.2874, 0.1573, 1.0000)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836114" y="349900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−6.0584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728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776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8951" y="38990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14" y="389905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(−0.2712, 1.0000, −0.9385)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36114" y="389905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−3.7593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1729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5415" y="429910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05714" y="429910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(−0.0461, −0.3751, 1.0000)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77577" y="429910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5.1243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5729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5777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5415" y="46991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05714" y="469915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(−0.0462, −0.3748, 1.0000)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77577" y="46991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5.1252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177415"/>
              <a:ext cx="541020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178242" y="2177415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315778" y="2177415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1-callout-2"/>
          <p:cNvGrpSpPr/>
          <p:nvPr/>
        </p:nvGrpSpPr>
        <p:grpSpPr>
          <a:xfrm>
            <a:off x="533400" y="5147310"/>
            <a:ext cx="5410200" cy="729615"/>
            <a:chOff x="533400" y="5147310"/>
            <a:chExt cx="5410200" cy="729615"/>
          </a:xfrm>
        </p:grpSpPr>
        <p:sp>
          <p:nvSpPr>
            <p:cNvPr id="43" name="Rectangle 43"/>
            <p:cNvSpPr/>
            <p:nvPr/>
          </p:nvSpPr>
          <p:spPr>
            <a:xfrm>
              <a:off x="533400" y="514731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412105"/>
              <a:ext cx="200026" cy="200026"/>
              <a:chOff x="738188" y="541210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4121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4787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51211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5293995"/>
              <a:ext cx="43942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省略了 k = 3～5、8～90 各行。前几步 max 的符号来回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变：λ₃ = −4.648 与 λ₁ 的模很接近，这一项衰减得很慢。</a:t>
              </a:r>
            </a:p>
          </p:txBody>
        </p:sp>
      </p:grpSp>
      <p:grpSp>
        <p:nvGrpSpPr>
          <p:cNvPr id="88" name="c2-table-1"/>
          <p:cNvGrpSpPr/>
          <p:nvPr/>
        </p:nvGrpSpPr>
        <p:grpSpPr>
          <a:xfrm>
            <a:off x="6248400" y="2177415"/>
            <a:ext cx="5410200" cy="3200400"/>
            <a:chOff x="6248400" y="2177415"/>
            <a:chExt cx="5410200" cy="3200400"/>
          </a:xfrm>
        </p:grpSpPr>
        <p:sp>
          <p:nvSpPr>
            <p:cNvPr id="50" name="Rectangle 50"/>
            <p:cNvSpPr/>
            <p:nvPr/>
          </p:nvSpPr>
          <p:spPr>
            <a:xfrm>
              <a:off x="6248400" y="2177415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239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24485" y="2298859"/>
              <a:ext cx="1484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λ₀ = −4，对 B：y⁽ᵏ⁾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33699" y="2298859"/>
              <a:ext cx="8267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max(x⁽ᵏ⁾)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23951" y="26989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462177" y="2698909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(0.4000, −0.2000, 1.0000)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592577" y="269890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5.0000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29727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48400" y="29775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23951" y="30989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462177" y="3098959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(0.0233, −0.3256, 1.0000)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592577" y="30989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8.6000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248400" y="33728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23951" y="3499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420714" y="349900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(−0.0337, −0.3679, 1.0000)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592577" y="349900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8.9767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37728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48400" y="37776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523951" y="38990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20714" y="389905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(−0.0441, −0.3736, 1.0000)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592577" y="38990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9.1036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248400" y="41729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523951" y="42991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420714" y="429910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(−0.0458, −0.3747, 1.0000)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592577" y="429910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9.1209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248400" y="45729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6248400" y="45777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523951" y="46991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420714" y="469915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(−0.0461, −0.3749, 1.0000)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592577" y="46991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9.1241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6248400" y="4973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523951" y="5099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420714" y="5099209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(−0.0461, −0.3749, 1.0000)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10045065" y="4987290"/>
              <a:ext cx="1604010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10592577" y="509920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9.1247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6248400" y="2177415"/>
              <a:ext cx="5410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6893242" y="2177415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10030778" y="2177415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4" name="c2-callout-2"/>
          <p:cNvGrpSpPr/>
          <p:nvPr/>
        </p:nvGrpSpPr>
        <p:grpSpPr>
          <a:xfrm>
            <a:off x="6248400" y="5547360"/>
            <a:ext cx="5410200" cy="729615"/>
            <a:chOff x="6248400" y="5547360"/>
            <a:chExt cx="5410200" cy="729615"/>
          </a:xfrm>
        </p:grpSpPr>
        <p:sp>
          <p:nvSpPr>
            <p:cNvPr id="89" name="Rectangle 89"/>
            <p:cNvSpPr/>
            <p:nvPr/>
          </p:nvSpPr>
          <p:spPr>
            <a:xfrm>
              <a:off x="6248400" y="554736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6453188" y="5812155"/>
              <a:ext cx="200026" cy="200026"/>
              <a:chOff x="6453188" y="5812155"/>
              <a:chExt cx="200026" cy="200026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6453188" y="58121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6519863" y="588994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6755892" y="5694045"/>
              <a:ext cx="420566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λ₁ = μ₁ + λ₀ ≈ 9.1247 − 4 = 5.1247 ≈ 5.125，v₁ ≈ (−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0.0461, −0.3749, 1)ᵀ。精确值 5.124763。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36254" cy="909257"/>
            <a:chOff x="520446" y="342900"/>
            <a:chExt cx="86362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362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4.3 为什么快这么多：收敛因子从 0.907 降到 0.167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5626418" cy="3726180"/>
            <a:chOff x="533400" y="1524000"/>
            <a:chExt cx="5626418" cy="37261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81125" y="16630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06713" y="1663065"/>
              <a:ext cx="11359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A（λ₀ = 0）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05780" y="1663065"/>
              <a:ext cx="12526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B（λ₀ = −4）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2840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05088" y="2150745"/>
              <a:ext cx="1539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5.1248,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2.4771, −4.6477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62462" y="2150745"/>
              <a:ext cx="1539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9.1248,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1.5229, −0.6477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5626418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29051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主特征值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33903" y="29051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5.1248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91278" y="29051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9.1248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2489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5261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收敛因子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86050" y="3392805"/>
              <a:ext cx="1377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4.6477/5.1248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0.9069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43425" y="3392805"/>
              <a:ext cx="1377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1.5229/9.1248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0.1669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033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008120"/>
              <a:ext cx="5626418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4147185"/>
              <a:ext cx="1467802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误差缩小到 10⁻³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约需步数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28900" y="4147185"/>
              <a:ext cx="14916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ln10⁻³/ln0.9069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71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86275" y="4147185"/>
              <a:ext cx="14916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ln10⁻³/ln0.1669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7577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0080" y="49015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实际停止步数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56026" y="490156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168932" y="490156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626418" cy="37261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441258" y="1524000"/>
              <a:ext cx="9525" cy="37261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298632" y="1524000"/>
              <a:ext cx="9525" cy="37261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1-callout-2"/>
          <p:cNvGrpSpPr/>
          <p:nvPr/>
        </p:nvGrpSpPr>
        <p:grpSpPr>
          <a:xfrm>
            <a:off x="533400" y="5440680"/>
            <a:ext cx="5626418" cy="782955"/>
            <a:chOff x="533400" y="5440680"/>
            <a:chExt cx="5626418" cy="782955"/>
          </a:xfrm>
        </p:grpSpPr>
        <p:sp>
          <p:nvSpPr>
            <p:cNvPr id="36" name="Rectangle 36"/>
            <p:cNvSpPr/>
            <p:nvPr/>
          </p:nvSpPr>
          <p:spPr>
            <a:xfrm>
              <a:off x="533400" y="544068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732145"/>
              <a:ext cx="200026" cy="200025"/>
              <a:chOff x="738188" y="5732145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7321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77926" y="57765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12642" y="58877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130" y="5589270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估计步数只看收敛因子，没有算上初始误差和停止判据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的差别，所以和实际步数差几步，但量级一致。</a:t>
              </a:r>
            </a:p>
          </p:txBody>
        </p:sp>
      </p:grpSp>
      <p:grpSp>
        <p:nvGrpSpPr>
          <p:cNvPr id="52" name="c2-card-1"/>
          <p:cNvGrpSpPr/>
          <p:nvPr/>
        </p:nvGrpSpPr>
        <p:grpSpPr>
          <a:xfrm>
            <a:off x="6464618" y="1524000"/>
            <a:ext cx="5193982" cy="2805112"/>
            <a:chOff x="6464618" y="1524000"/>
            <a:chExt cx="5193982" cy="2805112"/>
          </a:xfrm>
        </p:grpSpPr>
        <p:sp>
          <p:nvSpPr>
            <p:cNvPr id="43" name="Rectangle 43"/>
            <p:cNvSpPr/>
            <p:nvPr/>
          </p:nvSpPr>
          <p:spPr>
            <a:xfrm>
              <a:off x="6464618" y="1524000"/>
              <a:ext cx="5193982" cy="2805112"/>
            </a:xfrm>
            <a:prstGeom prst="roundRect">
              <a:avLst>
                <a:gd name="adj" fmla="val 47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4142" y="1657350"/>
              <a:ext cx="47625" cy="25384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717983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76098" y="2110740"/>
              <a:ext cx="43872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原课件表 4.2 中 B 的 k = 1 行写作 y = (0.7483,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0.6497, 1)、max = 1.7866587。按 x⁽¹⁾ = B(1,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1)ᵀ = (2, −1, 5)ᵀ，应为 y = (0.4, −0.2, 1)、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 = 5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717983" y="33661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876098" y="3303270"/>
              <a:ext cx="4320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的 k = 7 行 y 第 1 分量 −0.0462 按 4 位小数应为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−0.0461（精确值 −0.046136）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05791" y="392096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其余行与脚本复算一致。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464618" y="4519612"/>
            <a:ext cx="5193982" cy="1704022"/>
            <a:chOff x="6464618" y="4519612"/>
            <a:chExt cx="5193982" cy="1704022"/>
          </a:xfrm>
        </p:grpSpPr>
        <p:sp>
          <p:nvSpPr>
            <p:cNvPr id="53" name="Rectangle 53"/>
            <p:cNvSpPr/>
            <p:nvPr/>
          </p:nvSpPr>
          <p:spPr>
            <a:xfrm>
              <a:off x="6464618" y="4519612"/>
              <a:ext cx="5193982" cy="1704022"/>
            </a:xfrm>
            <a:prstGeom prst="roundRect">
              <a:avLst>
                <a:gd name="adj" fmla="val 7826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674168" y="472916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65328" y="47648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66548" y="5106352"/>
              <a:ext cx="4577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平移后 B 的特征值整体右移 4。λ₁ 离其余特征值的“相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对距离”变大，被放大得更突出，所以收敛快。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35883" cy="909257"/>
            <a:chOff x="520446" y="342900"/>
            <a:chExt cx="83358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358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 + 原点平移：已知近似特征值，求它的特征向量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801178"/>
            <a:chOff x="533400" y="1524000"/>
            <a:chExt cx="5626418" cy="18011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801178"/>
            </a:xfrm>
            <a:prstGeom prst="roundRect">
              <a:avLst>
                <a:gd name="adj" fmla="val 74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447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29437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(A − λ₀I)⁻¹ 存在，它的特征值为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13"/>
                <p:cNvSpPr txBox="1">
                  <a:spLocks noGrp="1"/>
                </p:cNvSpPr>
                <p:nvPr/>
              </p:nvSpPr>
              <p:spPr>
                <a:xfrm>
                  <a:off x="758190" y="2332672"/>
                  <a:ext cx="5214938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⋯,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1332" y="2927985"/>
              <a:ext cx="3048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对应的特征向量仍为 v₁, v₂, …, vₙ。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494722"/>
            <a:ext cx="5626418" cy="2371725"/>
            <a:chOff x="533400" y="3494722"/>
            <a:chExt cx="5626418" cy="2371725"/>
          </a:xfrm>
        </p:grpSpPr>
        <p:sp>
          <p:nvSpPr>
            <p:cNvPr id="15" name="Rectangle 15"/>
            <p:cNvSpPr/>
            <p:nvPr/>
          </p:nvSpPr>
          <p:spPr>
            <a:xfrm>
              <a:off x="533400" y="3494722"/>
              <a:ext cx="5626418" cy="2371725"/>
            </a:xfrm>
            <a:prstGeom prst="roundRect">
              <a:avLst>
                <a:gd name="adj" fmla="val 562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0090" y="368141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2762" y="371427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232" y="4026218"/>
              <a:ext cx="49600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λ₀ 是某个特征值 λⱼ 的近似时，1/(λⱼ − λ₀) 是 (A − λ₀I)⁻¹ 按模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最大的特征值 μ。以 (A − λ₀I)⁻¹ 为乘幂矩阵做反幂法：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114"/>
                <p:cNvSpPr txBox="1">
                  <a:spLocks noGrp="1"/>
                </p:cNvSpPr>
                <p:nvPr/>
              </p:nvSpPr>
              <p:spPr>
                <a:xfrm>
                  <a:off x="720090" y="4561522"/>
                  <a:ext cx="5253038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μ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即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μ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0" name="Ellipse 20"/>
            <p:cNvSpPr/>
            <p:nvPr/>
          </p:nvSpPr>
          <p:spPr>
            <a:xfrm>
              <a:off x="728662" y="521208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4682" y="5155883"/>
              <a:ext cx="46514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每步解 (A − λ₀I)x⁽ᵏ⁺¹⁾ = y⁽ᵏ⁾，LU 分解只做一次；y⁽ᵏ⁾ 即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λⱼ 的近似特征向量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464618" y="1524000"/>
            <a:ext cx="5193982" cy="1830705"/>
            <a:chOff x="6464618" y="1524000"/>
            <a:chExt cx="5193982" cy="1830705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1830705"/>
            </a:xfrm>
            <a:prstGeom prst="roundRect">
              <a:avLst>
                <a:gd name="adj" fmla="val 72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5640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89408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0878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收敛有多快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115"/>
                <p:cNvSpPr txBox="1">
                  <a:spLocks noGrp="1"/>
                </p:cNvSpPr>
                <p:nvPr/>
              </p:nvSpPr>
              <p:spPr>
                <a:xfrm>
                  <a:off x="6689408" y="2032635"/>
                  <a:ext cx="4782502" cy="5610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func>
                              <m:funcPr/>
                              <m:fName>
                                <m:limLow>
                                  <m:limLowPr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min</m:t>
                                    </m:r>
                                  </m:e>
                                  <m:lim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≠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lim>
                                </m:limLow>
                              </m:fName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λ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TextBox 28"/>
            <p:cNvSpPr txBox="1"/>
            <p:nvPr/>
          </p:nvSpPr>
          <p:spPr>
            <a:xfrm>
              <a:off x="6682549" y="2699385"/>
              <a:ext cx="45228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λ₀ 很接近 λⱼ，且 λⱼ 与其余特征值分离得较好（|λⱼ − λ₀| 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|λᵢ − λ₀|）时 r 很小，常常迭代 1～2 次就得到特征向量。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464618" y="3524250"/>
            <a:ext cx="5193982" cy="1443038"/>
            <a:chOff x="6464618" y="3524250"/>
            <a:chExt cx="5193982" cy="1443038"/>
          </a:xfrm>
        </p:grpSpPr>
        <p:sp>
          <p:nvSpPr>
            <p:cNvPr id="30" name="Rectangle 30"/>
            <p:cNvSpPr/>
            <p:nvPr/>
          </p:nvSpPr>
          <p:spPr>
            <a:xfrm>
              <a:off x="6464618" y="3524250"/>
              <a:ext cx="5193982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365760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689408" y="37109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82079" y="37438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82549" y="4055745"/>
              <a:ext cx="449713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原课件写“A − λ₀I 的最小特征值 μ = 1/(λⱼ − λ₀)”。A − λ₀I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按模最小的特征值是 λⱼ − λ₀；1/(λⱼ − λ₀) 是 (A − λ₀I)⁻¹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按模最大的特征值。</a:t>
              </a:r>
            </a:p>
          </p:txBody>
        </p:sp>
      </p:grpSp>
      <p:grpSp>
        <p:nvGrpSpPr>
          <p:cNvPr id="42" name="c2-callout-3"/>
          <p:cNvGrpSpPr/>
          <p:nvPr/>
        </p:nvGrpSpPr>
        <p:grpSpPr>
          <a:xfrm>
            <a:off x="6464618" y="5136832"/>
            <a:ext cx="5193982" cy="729615"/>
            <a:chOff x="6464618" y="5136832"/>
            <a:chExt cx="5193982" cy="729615"/>
          </a:xfrm>
        </p:grpSpPr>
        <p:sp>
          <p:nvSpPr>
            <p:cNvPr id="36" name="Rectangle 36"/>
            <p:cNvSpPr/>
            <p:nvPr/>
          </p:nvSpPr>
          <p:spPr>
            <a:xfrm>
              <a:off x="6464618" y="5136832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69405" y="5401628"/>
              <a:ext cx="200026" cy="200026"/>
              <a:chOff x="6669405" y="5401628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669405" y="54016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769418" y="54683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58305" y="55016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2110" y="5283518"/>
              <a:ext cx="428282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典型用法：先用 QR 等方法求出全部特征值的近似，再对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每个近似值做一两步反幂法补上特征向量。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196563" cy="909257"/>
            <a:chOff x="520446" y="342900"/>
            <a:chExt cx="101965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1965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4.4 反幂法求接近 2.93 的特征值：先对 A − 2.93I 做三角分解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18"/>
              <p:cNvSpPr txBox="1">
                <a:spLocks noGrp="1"/>
              </p:cNvSpPr>
              <p:nvPr/>
            </p:nvSpPr>
            <p:spPr>
              <a:xfrm>
                <a:off x="533400" y="1524000"/>
                <a:ext cx="5085398" cy="10372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6923" y="2773204"/>
            <a:ext cx="4873498" cy="500824"/>
            <a:chOff x="526923" y="2773204"/>
            <a:chExt cx="4873498" cy="500824"/>
          </a:xfrm>
        </p:grpSpPr>
        <p:sp>
          <p:nvSpPr>
            <p:cNvPr id="8" name="TextBox 8"/>
            <p:cNvSpPr txBox="1"/>
            <p:nvPr/>
          </p:nvSpPr>
          <p:spPr>
            <a:xfrm>
              <a:off x="526923" y="2773204"/>
              <a:ext cx="487349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精确特征值为 1、2、3（第 1 列只有 a₁₁ = 2；右下 2 阶块的特征值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 1、3），λ = 3 的特征向量为 (1, −1, 1)ᵀ。</a:t>
              </a:r>
            </a:p>
          </p:txBody>
        </p:sp>
      </p:grpSp>
      <p:grpSp>
        <p:nvGrpSpPr>
          <p:cNvPr id="11" name="c1-text-3"/>
          <p:cNvGrpSpPr/>
          <p:nvPr/>
        </p:nvGrpSpPr>
        <p:grpSpPr>
          <a:xfrm>
            <a:off x="525780" y="3438525"/>
            <a:ext cx="3782568" cy="293370"/>
            <a:chOff x="525780" y="3438525"/>
            <a:chExt cx="3782568" cy="293370"/>
          </a:xfrm>
        </p:grpSpPr>
        <p:sp>
          <p:nvSpPr>
            <p:cNvPr id="10" name="TextBox 10"/>
            <p:cNvSpPr txBox="1"/>
            <p:nvPr/>
          </p:nvSpPr>
          <p:spPr>
            <a:xfrm>
              <a:off x="525780" y="3438525"/>
              <a:ext cx="37825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= A − 2.93I 的 Doolittle 分解 B = LU：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119"/>
              <p:cNvSpPr txBox="1">
                <a:spLocks noGrp="1"/>
              </p:cNvSpPr>
              <p:nvPr/>
            </p:nvSpPr>
            <p:spPr>
              <a:xfrm>
                <a:off x="533400" y="3863340"/>
                <a:ext cx="5085398" cy="12153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0.93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0.93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0.93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0.93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0.93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4" name="c1-text-5"/>
          <p:cNvGrpSpPr/>
          <p:nvPr/>
        </p:nvGrpSpPr>
        <p:grpSpPr>
          <a:xfrm>
            <a:off x="526923" y="5289709"/>
            <a:ext cx="4467098" cy="500824"/>
            <a:chOff x="526923" y="5289709"/>
            <a:chExt cx="4467098" cy="500824"/>
          </a:xfrm>
        </p:grpSpPr>
        <p:sp>
          <p:nvSpPr>
            <p:cNvPr id="13" name="TextBox 13"/>
            <p:cNvSpPr txBox="1"/>
            <p:nvPr/>
          </p:nvSpPr>
          <p:spPr>
            <a:xfrm>
              <a:off x="526923" y="5289709"/>
              <a:ext cx="446709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l₃₂ = (−1)/(−0.93) ≈ 1.075269，u₃₃ = −0.93 − l₃₂·(−1) ≈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0.145269。</a:t>
              </a:r>
            </a:p>
          </p:txBody>
        </p:sp>
      </p:grpSp>
      <p:grpSp>
        <p:nvGrpSpPr>
          <p:cNvPr id="32" name="c2-steps-1"/>
          <p:cNvGrpSpPr/>
          <p:nvPr/>
        </p:nvGrpSpPr>
        <p:grpSpPr>
          <a:xfrm>
            <a:off x="5923598" y="1533525"/>
            <a:ext cx="5440552" cy="2764440"/>
            <a:chOff x="5923598" y="1533525"/>
            <a:chExt cx="5440552" cy="2764440"/>
          </a:xfrm>
        </p:grpSpPr>
        <p:sp>
          <p:nvSpPr>
            <p:cNvPr id="15" name="Rectangle 15"/>
            <p:cNvSpPr/>
            <p:nvPr/>
          </p:nvSpPr>
          <p:spPr>
            <a:xfrm>
              <a:off x="6056948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923598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1722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923598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1722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923598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017221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923598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17221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35078" y="1567815"/>
              <a:ext cx="2571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Lz = y⁽⁰⁾ = (0, 0, 1)ᵀ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36220" y="1861661"/>
              <a:ext cx="32438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z₁ = 0，z₂ = 0，z₃ = 1 − 1.075269×0 = 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35078" y="2218372"/>
              <a:ext cx="14452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回代 Ux⁽¹⁾ = z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36220" y="2512219"/>
              <a:ext cx="5027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 = 1/0.145269 = 6.883790；x₂ = −x₃/0.93 = −7.401925；x₁ = −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x₂/0.93 = 7.959059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35078" y="310419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36220" y="339709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max(x⁽¹⁾) = 7.959059，y⁽¹⁾ = (1, −0.93, 0.8649)ᵀ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35078" y="37547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估计特征值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36220" y="4048601"/>
              <a:ext cx="27872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≈ 2.93 + 1/7.959059 = 3.055643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5923598" y="4475798"/>
            <a:ext cx="5735002" cy="1059180"/>
            <a:chOff x="5923598" y="4475798"/>
            <a:chExt cx="5735002" cy="1059180"/>
          </a:xfrm>
        </p:grpSpPr>
        <p:sp>
          <p:nvSpPr>
            <p:cNvPr id="33" name="Rectangle 33"/>
            <p:cNvSpPr/>
            <p:nvPr/>
          </p:nvSpPr>
          <p:spPr>
            <a:xfrm>
              <a:off x="5923598" y="4475798"/>
              <a:ext cx="573500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128385" y="4905375"/>
              <a:ext cx="200026" cy="200025"/>
              <a:chOff x="6128385" y="490537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128385" y="49053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168124" y="49498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202839" y="50609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430328" y="4624388"/>
              <a:ext cx="47586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US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 = |3 − 2.93| / min(|2 − 2.93|, |1 − 2.93|)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0.07/0.93 ≈ 0.075，每步误差约乘 0.075，下一页只要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再迭代 2 次。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82303" cy="909257"/>
            <a:chOff x="520446" y="342900"/>
            <a:chExt cx="79823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823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4.4 迭代 3 次：λ ≈ 3.0000357，误差小于 10⁻⁴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33400" y="1524000"/>
            <a:ext cx="11125200" cy="1800225"/>
            <a:chOff x="533400" y="1524000"/>
            <a:chExt cx="11125200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60007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2279" y="17454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77849" y="1745456"/>
              <a:ext cx="149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z（解 Lz = y⁽ᵏ⁻¹⁾）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39189" y="1745456"/>
              <a:ext cx="1578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x⁽ᵏ⁾（解 Ux⁽ᵏ⁾ = z）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196426" y="174545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931184" y="1645444"/>
              <a:ext cx="1452677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λ ≈ 2.93 + 1/max(x⁽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ᵏ⁾)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279" y="22455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83877" y="2245519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(0, 0, 1)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74924" y="2245519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(7.959059, −7.401925, 6.883790)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61930" y="2245519"/>
              <a:ext cx="14287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−0.93, 0.8649)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78641" y="2245519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3.0556430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5193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524125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2279" y="26455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10710" y="2645569"/>
              <a:ext cx="14287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−0.93, 1.8649)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50535" y="2645569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(12.692311, −12.803849, 12.837580)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13153" y="2645569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(0.988684, −0.997373, 1)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278641" y="2645569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3.0078963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194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279" y="30456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71692" y="3045619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(0.988684, −0.997373, 2.072444)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50535" y="3045619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(14.278433, −14.267627, 14.266266)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106602" y="2933700"/>
              <a:ext cx="253936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13153" y="3045619"/>
              <a:ext cx="1926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−0.999243, 0.999148)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665970" y="2933700"/>
              <a:ext cx="198310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278641" y="3045619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3.0000357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11125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8489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75475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09231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651682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1-compare-2"/>
          <p:cNvGrpSpPr/>
          <p:nvPr/>
        </p:nvGrpSpPr>
        <p:grpSpPr>
          <a:xfrm>
            <a:off x="533400" y="3493770"/>
            <a:ext cx="11125200" cy="1781175"/>
            <a:chOff x="533400" y="3493770"/>
            <a:chExt cx="11125200" cy="1781175"/>
          </a:xfrm>
        </p:grpSpPr>
        <p:sp>
          <p:nvSpPr>
            <p:cNvPr id="39" name="Rectangle 39"/>
            <p:cNvSpPr/>
            <p:nvPr/>
          </p:nvSpPr>
          <p:spPr>
            <a:xfrm>
              <a:off x="533400" y="3493770"/>
              <a:ext cx="5391150" cy="1781175"/>
            </a:xfrm>
            <a:prstGeom prst="roundRect">
              <a:avLst>
                <a:gd name="adj" fmla="val 74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3627120"/>
              <a:ext cx="47625" cy="15144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1332" y="370332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66762" y="407670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782" y="4020502"/>
              <a:ext cx="4348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 ≈ 3.0000357，与准确值 3 的误差 3.6×10⁻⁵ &lt; 10⁻⁴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66762" y="437673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2782" y="4320540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≈ (1, −0.999243, 0.999148)ᵀ，与 (1, −1, 1)ᵀ 相差不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超过 8.6×10⁻⁴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66762" y="493395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22782" y="4877752"/>
              <a:ext cx="37039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残差 ‖Ay⁽³⁾ − λy⁽³⁾‖∞ = 7.9×10⁻⁴ &lt; 0.001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67450" y="3493770"/>
              <a:ext cx="5391150" cy="1781175"/>
            </a:xfrm>
            <a:prstGeom prst="roundRect">
              <a:avLst>
                <a:gd name="adj" fmla="val 74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76975" y="3627120"/>
              <a:ext cx="47625" cy="15144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85382" y="370332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500812" y="407670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56832" y="4020502"/>
              <a:ext cx="42828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原课件给 λ ≈ 3.0000954，相当于用 x⁽³⁾ 的第 3 个分量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14.266266 代替按模最大分量 14.278433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500812" y="463391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56832" y="4577715"/>
              <a:ext cx="4600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按规范化反幂法应为 3.0000357；两者误差都小于 10⁻⁴，特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征向量相同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5934075" y="422243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16457" y="4318635"/>
              <a:ext cx="1590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892" y="6028373"/>
              <a:ext cx="101546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注意第 2 步 max(x⁽²⁾) 取的是第 3 分量 12.837580，y⁽²⁾ 的第 1 分量因此不是 1。按模最大分量的位置可以在迭代中变化。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幂法及其变体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幂法家族对比：换一个迭代矩阵，就换了一个目标特征值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table-1"/>
          <p:cNvGrpSpPr/>
          <p:nvPr/>
        </p:nvGrpSpPr>
        <p:grpSpPr>
          <a:xfrm>
            <a:off x="533400" y="1524000"/>
            <a:ext cx="11125200" cy="2569845"/>
            <a:chOff x="533400" y="1524000"/>
            <a:chExt cx="11125200" cy="25698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29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24636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13698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迭代矩阵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38738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每步工作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89266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045078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收敛因子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4746" y="211978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14968" y="2119789"/>
              <a:ext cx="1255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95191" y="2119789"/>
              <a:ext cx="14168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x⁽ᵏ⁺¹⁾ = Ay⁽ᵏ⁾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65048" y="2119789"/>
              <a:ext cx="12379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按模最大的 λ₁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12021" y="2119789"/>
              <a:ext cx="6548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|λ₂/λ₁|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460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50782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4746" y="258270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原点平移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4968" y="2582704"/>
              <a:ext cx="629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− λ₀I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95191" y="2582704"/>
              <a:ext cx="2135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x⁽ᵏ⁺¹⁾ = (A − λ₀I)y⁽ᵏ⁾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65048" y="2582704"/>
              <a:ext cx="10849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μ₁ + λ₀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12021" y="2582704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maxⱼ |λⱼ − λ₀|/|λ₁ − λ₀|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0893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746" y="304561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14968" y="3045619"/>
              <a:ext cx="3477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A⁻¹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95191" y="3045619"/>
              <a:ext cx="25226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Ax⁽ᵏ⁺¹⁾ = y⁽ᵏ⁾（先 LU）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65048" y="3045619"/>
              <a:ext cx="20216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按模最小的 λₙ = 1/max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12021" y="3045619"/>
              <a:ext cx="8651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|λₙ/λₙ₋₁|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3728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377565"/>
              <a:ext cx="11125200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746" y="3636169"/>
              <a:ext cx="12011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 + 平移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14968" y="3636169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 − λ₀I)⁻¹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195191" y="3636169"/>
              <a:ext cx="23853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(A − λ₀I)x⁽ᵏ⁺¹⁾ = y⁽ᵏ⁾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65048" y="3509486"/>
              <a:ext cx="1853946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 λ₀ 最近的 λⱼ = λ₀ +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1/max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12021" y="3509486"/>
              <a:ext cx="1871980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|λⱼ − λ₀|/minᵢ≠ⱼ |λᵢ −</a:t>
              </a:r>
              <a:br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λ₀|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11125200" cy="25698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308860" y="1524000"/>
              <a:ext cx="9525" cy="25698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089082" y="1524000"/>
              <a:ext cx="9525" cy="25698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58940" y="1524000"/>
              <a:ext cx="9525" cy="25698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9205912" y="1524000"/>
              <a:ext cx="9525" cy="25698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1-compare-2"/>
          <p:cNvGrpSpPr/>
          <p:nvPr/>
        </p:nvGrpSpPr>
        <p:grpSpPr>
          <a:xfrm>
            <a:off x="533400" y="4273868"/>
            <a:ext cx="11125200" cy="1613535"/>
            <a:chOff x="533400" y="4273868"/>
            <a:chExt cx="11125200" cy="1613535"/>
          </a:xfrm>
        </p:grpSpPr>
        <p:sp>
          <p:nvSpPr>
            <p:cNvPr id="44" name="Rectangle 44"/>
            <p:cNvSpPr/>
            <p:nvPr/>
          </p:nvSpPr>
          <p:spPr>
            <a:xfrm>
              <a:off x="533400" y="4273868"/>
              <a:ext cx="5391150" cy="1613535"/>
            </a:xfrm>
            <a:prstGeom prst="roundRect">
              <a:avLst>
                <a:gd name="adj" fmla="val 82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42925" y="4407218"/>
              <a:ext cx="47625" cy="134683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381" y="44953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共同前提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7240" y="489108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33831" y="483155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迭代矩阵按模最大的特征值唯一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77240" y="5209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33831" y="5148739"/>
              <a:ext cx="36178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初始向量在相应特征向量方向的分量不为 0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77240" y="552735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3831" y="5466874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都要规范化，防止上溢或下溢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67450" y="4273868"/>
              <a:ext cx="5391150" cy="1613535"/>
            </a:xfrm>
            <a:prstGeom prst="roundRect">
              <a:avLst>
                <a:gd name="adj" fmla="val 82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276975" y="4407218"/>
              <a:ext cx="47625" cy="13468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96431" y="44953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各自用途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511290" y="489108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67881" y="4831556"/>
              <a:ext cx="4175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乘幂法：大型稀疏矩阵的主特征值，如 PageRank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511290" y="5209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667881" y="514873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反幂法：最小特征值，或已知近似值时求特征向量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511290" y="552735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667881" y="546687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原点平移：加快收敛，需要大致知道特征值分布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5934075" y="49187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004415" y="501491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023991" cy="2997517"/>
            <a:chOff x="667512" y="1835468"/>
            <a:chExt cx="602399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21124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实对称矩阵的全部特征值与特征向量，一次消去一对非对角元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54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4.3.1 平面旋转阵与元素变换公式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339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4.3.2 Jacobi 旋转法的算法与收敛性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23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与 Jacobi 过关法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基本思想：用一串正交相似变换把实对称矩阵化成近似对角阵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2165985"/>
            <a:chOff x="533400" y="1524000"/>
            <a:chExt cx="5842635" cy="21659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165985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9928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3896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= (aᵢⱼ) ∈ Rⁿˣⁿ 为实对称矩阵，则存在正交矩阵 P，使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21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538543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AP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AP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diag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2960370"/>
              <a:ext cx="5015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λ₁, …, λₙ 为 A 的 n 个特征值，P 的各列 P₁, …, Pₙ 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为相应的特征向量。</a:t>
              </a:r>
            </a:p>
          </p:txBody>
        </p:sp>
      </p:grpSp>
      <p:grpSp>
        <p:nvGrpSpPr>
          <p:cNvPr id="28" name="c1-steps-2"/>
          <p:cNvGrpSpPr/>
          <p:nvPr/>
        </p:nvGrpSpPr>
        <p:grpSpPr>
          <a:xfrm>
            <a:off x="533400" y="3890010"/>
            <a:ext cx="5371302" cy="1878615"/>
            <a:chOff x="533400" y="3890010"/>
            <a:chExt cx="5371302" cy="1878615"/>
          </a:xfrm>
        </p:grpSpPr>
        <p:sp>
          <p:nvSpPr>
            <p:cNvPr id="15" name="Rectangle 15"/>
            <p:cNvSpPr/>
            <p:nvPr/>
          </p:nvSpPr>
          <p:spPr>
            <a:xfrm>
              <a:off x="666750" y="403288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33400" y="389001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638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54056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6143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51911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52649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92430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构造正交矩阵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218146"/>
              <a:ext cx="46686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寻找一系列平面旋转阵 P₁, P₂, …，每个只消去一对非对角元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457485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正交相似变换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868704"/>
              <a:ext cx="40550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Aₖ₊₁ = PₖᵀAₖPₖ，特征值不变，非对角元逐渐趋于 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52254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读出结果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5519261"/>
              <a:ext cx="49586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对角元是特征值的近似；乘积 P₁P₂⋯Pₖ 的各列是特征向量的近似</a:t>
              </a:r>
            </a:p>
          </p:txBody>
        </p:sp>
      </p:grpSp>
      <p:grpSp>
        <p:nvGrpSpPr>
          <p:cNvPr id="31" name="c2-image-1"/>
          <p:cNvGrpSpPr/>
          <p:nvPr/>
        </p:nvGrpSpPr>
        <p:grpSpPr>
          <a:xfrm>
            <a:off x="6680835" y="1524000"/>
            <a:ext cx="4977765" cy="3338037"/>
            <a:chOff x="6680835" y="1524000"/>
            <a:chExt cx="4977765" cy="3338037"/>
          </a:xfrm>
        </p:grpSpPr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rcRect l="0" t="9510" r="0" b="9510"/>
            <a:stretch>
              <a:fillRect/>
            </a:stretch>
          </p:blipFill>
          <p:spPr>
            <a:xfrm>
              <a:off x="6680835" y="1524000"/>
              <a:ext cx="4977765" cy="3023235"/>
            </a:xfrm>
            <a:prstGeom prst="roundRect">
              <a:avLst>
                <a:gd name="adj" fmla="val 4410"/>
              </a:avLst>
            </a:prstGeom>
          </p:spPr>
        </p:pic>
        <p:sp>
          <p:nvSpPr>
            <p:cNvPr id="30" name="TextBox 30"/>
            <p:cNvSpPr txBox="1"/>
            <p:nvPr/>
          </p:nvSpPr>
          <p:spPr>
            <a:xfrm>
              <a:off x="8108582" y="4642009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转到主轴方向，交叉项就消失了</a:t>
              </a:r>
            </a:p>
          </p:txBody>
        </p:sp>
      </p:grpSp>
      <p:grpSp>
        <p:nvGrpSpPr>
          <p:cNvPr id="38" name="c2-callout-2"/>
          <p:cNvGrpSpPr/>
          <p:nvPr/>
        </p:nvGrpSpPr>
        <p:grpSpPr>
          <a:xfrm>
            <a:off x="6680835" y="5027295"/>
            <a:ext cx="4977765" cy="1335405"/>
            <a:chOff x="6680835" y="5027295"/>
            <a:chExt cx="4977765" cy="1335405"/>
          </a:xfrm>
        </p:grpSpPr>
        <p:sp>
          <p:nvSpPr>
            <p:cNvPr id="32" name="Rectangle 32"/>
            <p:cNvSpPr/>
            <p:nvPr/>
          </p:nvSpPr>
          <p:spPr>
            <a:xfrm>
              <a:off x="6680835" y="5027295"/>
              <a:ext cx="4977765" cy="1335405"/>
            </a:xfrm>
            <a:prstGeom prst="roundRect">
              <a:avLst>
                <a:gd name="adj" fmla="val 85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885623" y="5594985"/>
              <a:ext cx="200026" cy="200025"/>
              <a:chOff x="6885623" y="5594985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885623" y="55949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925361" y="56394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960077" y="57505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187565" y="5175885"/>
              <a:ext cx="408241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 阶时 xᵀAx = 1 是一个倾斜的椭圆，旋转坐标轴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让它与椭圆主轴对齐，二次型里的 xy 交叉项消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失，矩阵变成对角阵。Jacobi 法每次在一个 (i,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j) 坐标平面里做这件事。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80138" cy="909257"/>
            <a:chOff x="520446" y="342900"/>
            <a:chExt cx="80801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801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4.3.1 平面旋转阵：只在第 i、j 行列上与单位阵不同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32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18735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/>
                              <m:e/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≠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7685" y="3585686"/>
            <a:ext cx="5245862" cy="441008"/>
            <a:chOff x="527685" y="3585686"/>
            <a:chExt cx="5245862" cy="441008"/>
          </a:xfrm>
        </p:grpSpPr>
        <p:sp>
          <p:nvSpPr>
            <p:cNvPr id="8" name="TextBox 8"/>
            <p:cNvSpPr txBox="1"/>
            <p:nvPr/>
          </p:nvSpPr>
          <p:spPr>
            <a:xfrm>
              <a:off x="527685" y="3585686"/>
              <a:ext cx="5245862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i 行第 i 列、第 j 行第 j 列为 cos θ；第 i 行第 j 列为 sin θ，第 j 行第 i 列为 −sin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θ；其余对角元为 1，其余元素为 0。</a:t>
              </a:r>
            </a:p>
          </p:txBody>
        </p:sp>
      </p:grpSp>
      <p:grpSp>
        <p:nvGrpSpPr>
          <p:cNvPr id="17" name="c1-card-3"/>
          <p:cNvGrpSpPr/>
          <p:nvPr/>
        </p:nvGrpSpPr>
        <p:grpSpPr>
          <a:xfrm>
            <a:off x="533400" y="4152900"/>
            <a:ext cx="5626418" cy="1885950"/>
            <a:chOff x="533400" y="4152900"/>
            <a:chExt cx="5626418" cy="1885950"/>
          </a:xfrm>
        </p:grpSpPr>
        <p:sp>
          <p:nvSpPr>
            <p:cNvPr id="10" name="Rectangle 10"/>
            <p:cNvSpPr/>
            <p:nvPr/>
          </p:nvSpPr>
          <p:spPr>
            <a:xfrm>
              <a:off x="533400" y="4152900"/>
              <a:ext cx="5626418" cy="1885950"/>
            </a:xfrm>
            <a:prstGeom prst="roundRect">
              <a:avLst>
                <a:gd name="adj" fmla="val 70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4286250"/>
              <a:ext cx="47625" cy="16192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58190" y="43395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3961" y="43724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99960" y="4374832"/>
              <a:ext cx="15698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3，i = 1，j = 3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33"/>
                <p:cNvSpPr txBox="1">
                  <a:spLocks noGrp="1"/>
                </p:cNvSpPr>
                <p:nvPr/>
              </p:nvSpPr>
              <p:spPr>
                <a:xfrm>
                  <a:off x="758190" y="4677728"/>
                  <a:ext cx="5214938" cy="8963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52475" y="5676424"/>
              <a:ext cx="2905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4.5 第 2 次旋转用的 P₂ 就是这种形状。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464618" y="1524000"/>
            <a:ext cx="5193982" cy="1785938"/>
            <a:chOff x="6464618" y="1524000"/>
            <a:chExt cx="5193982" cy="1785938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74142" y="1657350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689408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82079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697980" y="211074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53999" y="2054542"/>
              <a:ext cx="42828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是正交矩阵：PᵀP = I，所以 PᵀAP 与 A 相似，特征值不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697980" y="266890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53999" y="2612708"/>
              <a:ext cx="2131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对称时 C = PᵀAP 仍对称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697980" y="296894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53999" y="2912745"/>
              <a:ext cx="4538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 只改变 A 的第 i、j 两列，Pᵀ(AP) 只改变第 i、j 两行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464618" y="3480435"/>
            <a:ext cx="5193982" cy="2558415"/>
            <a:chOff x="6464618" y="3480435"/>
            <a:chExt cx="5193982" cy="2558415"/>
          </a:xfrm>
        </p:grpSpPr>
        <p:sp>
          <p:nvSpPr>
            <p:cNvPr id="29" name="Rectangle 29"/>
            <p:cNvSpPr/>
            <p:nvPr/>
          </p:nvSpPr>
          <p:spPr>
            <a:xfrm>
              <a:off x="6464618" y="3480435"/>
              <a:ext cx="5193982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3613785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89408" y="3667125"/>
              <a:ext cx="69437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75353" y="3699986"/>
              <a:ext cx="523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 阶情形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134"/>
                <p:cNvSpPr txBox="1">
                  <a:spLocks noGrp="1"/>
                </p:cNvSpPr>
                <p:nvPr/>
              </p:nvSpPr>
              <p:spPr>
                <a:xfrm>
                  <a:off x="6689408" y="3989070"/>
                  <a:ext cx="4782502" cy="6515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zh-CN" sz="14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θ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4" name="TextBox 34"/>
            <p:cNvSpPr txBox="1"/>
            <p:nvPr/>
          </p:nvSpPr>
          <p:spPr>
            <a:xfrm>
              <a:off x="6682549" y="4746308"/>
              <a:ext cx="44628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这是平面上的旋转矩阵。令 x = Py，P 的两列就是旋转后的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新坐标轴方向，xᵀAx = yᵀ(PᵀAP)y。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75035" cy="909257"/>
            <a:chOff x="520446" y="342900"/>
            <a:chExt cx="86750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750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PᵀAP 与 A 的元素关系：只有第 i、j 行和列发生变化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482090"/>
            <a:chOff x="533400" y="1524000"/>
            <a:chExt cx="5626418" cy="14820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482090"/>
            </a:xfrm>
            <a:prstGeom prst="roundRect">
              <a:avLst>
                <a:gd name="adj" fmla="val 899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1805940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1956" y="1743551"/>
              <a:ext cx="17022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(1) 第 i 行 i 列、第 j 行 j 列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formula153"/>
                <p:cNvSpPr txBox="1">
                  <a:spLocks noGrp="1"/>
                </p:cNvSpPr>
                <p:nvPr/>
              </p:nvSpPr>
              <p:spPr>
                <a:xfrm>
                  <a:off x="720090" y="2032635"/>
                  <a:ext cx="525303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54"/>
                <p:cNvSpPr txBox="1">
                  <a:spLocks noGrp="1"/>
                </p:cNvSpPr>
                <p:nvPr/>
              </p:nvSpPr>
              <p:spPr>
                <a:xfrm>
                  <a:off x="720090" y="2459355"/>
                  <a:ext cx="525303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ii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jj</m:t>
                            </m:r>
                          </m:sub>
                        </m:sSub>
                        <m:func>
                          <m:funcPr/>
                          <m:fName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7" name="c1-card-2"/>
          <p:cNvGrpSpPr/>
          <p:nvPr/>
        </p:nvGrpSpPr>
        <p:grpSpPr>
          <a:xfrm>
            <a:off x="533400" y="3175635"/>
            <a:ext cx="5626418" cy="2752725"/>
            <a:chOff x="533400" y="3175635"/>
            <a:chExt cx="5626418" cy="2752725"/>
          </a:xfrm>
        </p:grpSpPr>
        <p:sp>
          <p:nvSpPr>
            <p:cNvPr id="13" name="Rectangle 13"/>
            <p:cNvSpPr/>
            <p:nvPr/>
          </p:nvSpPr>
          <p:spPr>
            <a:xfrm>
              <a:off x="533400" y="3175635"/>
              <a:ext cx="5626418" cy="2752725"/>
            </a:xfrm>
            <a:prstGeom prst="roundRect">
              <a:avLst>
                <a:gd name="adj" fmla="val 484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2325"/>
              <a:ext cx="1805940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1956" y="3395186"/>
              <a:ext cx="17022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(2) 第 i 行 j 列、第 j 行 i 列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155"/>
                <p:cNvSpPr txBox="1">
                  <a:spLocks noGrp="1"/>
                </p:cNvSpPr>
                <p:nvPr/>
              </p:nvSpPr>
              <p:spPr>
                <a:xfrm>
                  <a:off x="720090" y="3684270"/>
                  <a:ext cx="5253038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jj</m:t>
                                </m:r>
                              </m:sub>
                            </m:sSub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4.3.3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2-card-1"/>
          <p:cNvGrpSpPr/>
          <p:nvPr/>
        </p:nvGrpSpPr>
        <p:grpSpPr>
          <a:xfrm>
            <a:off x="6464618" y="1524000"/>
            <a:ext cx="5193982" cy="1055370"/>
            <a:chOff x="6464618" y="1524000"/>
            <a:chExt cx="5193982" cy="1055370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1055370"/>
            </a:xfrm>
            <a:prstGeom prst="roundRect">
              <a:avLst>
                <a:gd name="adj" fmla="val 1263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51308" y="1710690"/>
              <a:ext cx="252412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04907" y="1743551"/>
              <a:ext cx="24169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(3) 第 i 行、第 i 列其他元素（k ≠ i, j）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156"/>
                <p:cNvSpPr txBox="1">
                  <a:spLocks noGrp="1"/>
                </p:cNvSpPr>
                <p:nvPr/>
              </p:nvSpPr>
              <p:spPr>
                <a:xfrm>
                  <a:off x="6651308" y="2032635"/>
                  <a:ext cx="4820602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4.3.4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7" name="c2-card-2"/>
          <p:cNvGrpSpPr/>
          <p:nvPr/>
        </p:nvGrpSpPr>
        <p:grpSpPr>
          <a:xfrm>
            <a:off x="6464618" y="2748915"/>
            <a:ext cx="5193982" cy="1055370"/>
            <a:chOff x="6464618" y="2748915"/>
            <a:chExt cx="5193982" cy="1055370"/>
          </a:xfrm>
        </p:grpSpPr>
        <p:sp>
          <p:nvSpPr>
            <p:cNvPr id="23" name="Rectangle 23"/>
            <p:cNvSpPr/>
            <p:nvPr/>
          </p:nvSpPr>
          <p:spPr>
            <a:xfrm>
              <a:off x="6464618" y="2748915"/>
              <a:ext cx="5193982" cy="1055370"/>
            </a:xfrm>
            <a:prstGeom prst="roundRect">
              <a:avLst>
                <a:gd name="adj" fmla="val 1263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651308" y="2935605"/>
              <a:ext cx="252412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04907" y="2968466"/>
              <a:ext cx="24169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(4) 第 j 行、第 j 列其他元素（k ≠ i, j）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157"/>
                <p:cNvSpPr txBox="1">
                  <a:spLocks noGrp="1"/>
                </p:cNvSpPr>
                <p:nvPr/>
              </p:nvSpPr>
              <p:spPr>
                <a:xfrm>
                  <a:off x="6651308" y="3257550"/>
                  <a:ext cx="4820602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ik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4.3.5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2" name="c2-card-3"/>
          <p:cNvGrpSpPr/>
          <p:nvPr/>
        </p:nvGrpSpPr>
        <p:grpSpPr>
          <a:xfrm>
            <a:off x="6464618" y="3973830"/>
            <a:ext cx="5193982" cy="1055370"/>
            <a:chOff x="6464618" y="3973830"/>
            <a:chExt cx="5193982" cy="1055370"/>
          </a:xfrm>
        </p:grpSpPr>
        <p:sp>
          <p:nvSpPr>
            <p:cNvPr id="28" name="Rectangle 28"/>
            <p:cNvSpPr/>
            <p:nvPr/>
          </p:nvSpPr>
          <p:spPr>
            <a:xfrm>
              <a:off x="6464618" y="3973830"/>
              <a:ext cx="5193982" cy="1055370"/>
            </a:xfrm>
            <a:prstGeom prst="roundRect">
              <a:avLst>
                <a:gd name="adj" fmla="val 1263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51308" y="4160520"/>
              <a:ext cx="96202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28451" y="4193381"/>
              <a:ext cx="807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(5) 其他元素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formula158"/>
                <p:cNvSpPr txBox="1">
                  <a:spLocks noGrp="1"/>
                </p:cNvSpPr>
                <p:nvPr/>
              </p:nvSpPr>
              <p:spPr>
                <a:xfrm>
                  <a:off x="6651308" y="4482465"/>
                  <a:ext cx="4820602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lk</m:t>
                            </m:r>
                          </m:sub>
                        </m:sSub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≠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9" name="c2-callout-4"/>
          <p:cNvGrpSpPr/>
          <p:nvPr/>
        </p:nvGrpSpPr>
        <p:grpSpPr>
          <a:xfrm>
            <a:off x="6464618" y="5198745"/>
            <a:ext cx="5193982" cy="729615"/>
            <a:chOff x="6464618" y="5198745"/>
            <a:chExt cx="5193982" cy="729615"/>
          </a:xfrm>
        </p:grpSpPr>
        <p:sp>
          <p:nvSpPr>
            <p:cNvPr id="33" name="Rectangle 33"/>
            <p:cNvSpPr/>
            <p:nvPr/>
          </p:nvSpPr>
          <p:spPr>
            <a:xfrm>
              <a:off x="6464618" y="519874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669405" y="5463540"/>
              <a:ext cx="200026" cy="200025"/>
              <a:chOff x="6669405" y="5463540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69405" y="54635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709144" y="55079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743859" y="56191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972110" y="5344478"/>
              <a:ext cx="434282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推导：P 的第 i 列是 cosθ·eᵢ − sinθ·eⱼ，第 j 列是 sinθ</a:t>
              </a:r>
            </a:p>
            <a:p>
              <a:pPr algn="l" marL="145732" indent="-145732">
                <a:lnSpc>
                  <a:spcPts val="1958"/>
                </a:lnSpc>
                <a:buClr>
                  <a:srgbClr val="C2410C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eᵢ + cosθ·eⱼ，cᵢⱼ 就是这两列与 A 的乘积 Pᵢᵀ A Pⱼ。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789484" cy="909257"/>
            <a:chOff x="520446" y="342900"/>
            <a:chExt cx="107894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7894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旋转保持平方和不变，选 θ 让 cᵢⱼ = 0 就把非对角部分转移到对角线上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2712510" cy="264033"/>
            <a:chOff x="526542" y="1545907"/>
            <a:chExt cx="271251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27125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(4.3.1)–(4.3.5) 可以验证：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77"/>
              <p:cNvSpPr txBox="1">
                <a:spLocks noGrp="1"/>
              </p:cNvSpPr>
              <p:nvPr/>
            </p:nvSpPr>
            <p:spPr>
              <a:xfrm>
                <a:off x="533400" y="1926908"/>
                <a:ext cx="54102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≠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d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4.3.6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78"/>
              <p:cNvSpPr txBox="1">
                <a:spLocks noGrp="1"/>
              </p:cNvSpPr>
              <p:nvPr/>
            </p:nvSpPr>
            <p:spPr>
              <a:xfrm>
                <a:off x="533400" y="2440305"/>
                <a:ext cx="54102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4.3.7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2" name="c1-text-4"/>
          <p:cNvGrpSpPr/>
          <p:nvPr/>
        </p:nvGrpSpPr>
        <p:grpSpPr>
          <a:xfrm>
            <a:off x="526542" y="2974658"/>
            <a:ext cx="4011930" cy="264033"/>
            <a:chOff x="526542" y="2974658"/>
            <a:chExt cx="4011930" cy="264033"/>
          </a:xfrm>
        </p:grpSpPr>
        <p:sp>
          <p:nvSpPr>
            <p:cNvPr id="11" name="TextBox 11"/>
            <p:cNvSpPr txBox="1"/>
            <p:nvPr/>
          </p:nvSpPr>
          <p:spPr>
            <a:xfrm>
              <a:off x="526542" y="297465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引入记号（全部元素平方和、非对角元平方和）：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179"/>
              <p:cNvSpPr txBox="1">
                <a:spLocks noGrp="1"/>
              </p:cNvSpPr>
              <p:nvPr/>
            </p:nvSpPr>
            <p:spPr>
              <a:xfrm>
                <a:off x="533400" y="3355658"/>
                <a:ext cx="5410200" cy="5610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≠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sSub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  <m:sup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180"/>
              <p:cNvSpPr txBox="1">
                <a:spLocks noGrp="1"/>
              </p:cNvSpPr>
              <p:nvPr/>
            </p:nvSpPr>
            <p:spPr>
              <a:xfrm>
                <a:off x="533400" y="4087178"/>
                <a:ext cx="5410200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4.3.8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4" name="c1-card-7"/>
          <p:cNvGrpSpPr/>
          <p:nvPr/>
        </p:nvGrpSpPr>
        <p:grpSpPr>
          <a:xfrm>
            <a:off x="533400" y="4599622"/>
            <a:ext cx="5410200" cy="1503045"/>
            <a:chOff x="533400" y="4599622"/>
            <a:chExt cx="5410200" cy="1503045"/>
          </a:xfrm>
        </p:grpSpPr>
        <p:sp>
          <p:nvSpPr>
            <p:cNvPr id="15" name="Rectangle 15"/>
            <p:cNvSpPr/>
            <p:nvPr/>
          </p:nvSpPr>
          <p:spPr>
            <a:xfrm>
              <a:off x="533400" y="4599622"/>
              <a:ext cx="5410200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732972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478631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0862" y="481917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23784" y="4821555"/>
              <a:ext cx="2610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第 1 次旋转（A₁ → A₂）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6762" y="520350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2782" y="514731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σ(A₁) = 3×2² + 4×1² = 16，σ(A₂) = 1² + 3² + 2² + 4×½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16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66762" y="576072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2782" y="5704523"/>
              <a:ext cx="3736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τ(A₁) = 4，τ(A₂) = 4 − 2×(−1)² + 2×0² = 2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2038350"/>
            <a:chOff x="6248400" y="1524000"/>
            <a:chExt cx="5410200" cy="203835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2038350"/>
            </a:xfrm>
            <a:prstGeom prst="roundRect">
              <a:avLst>
                <a:gd name="adj" fmla="val 654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77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选角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00684" y="1745932"/>
              <a:ext cx="1771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令 (4.3.3) 右端为零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ormula181"/>
                <p:cNvSpPr txBox="1">
                  <a:spLocks noGrp="1"/>
                </p:cNvSpPr>
                <p:nvPr/>
              </p:nvSpPr>
              <p:spPr>
                <a:xfrm>
                  <a:off x="6435090" y="2049780"/>
                  <a:ext cx="5036820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jj</m:t>
                                </m:r>
                              </m:sub>
                            </m:sSub>
                          </m:e>
                        </m:d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ij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0" name="TextBox 30"/>
            <p:cNvSpPr txBox="1"/>
            <p:nvPr/>
          </p:nvSpPr>
          <p:spPr>
            <a:xfrm>
              <a:off x="6428232" y="261842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formula182"/>
                <p:cNvSpPr txBox="1">
                  <a:spLocks noGrp="1"/>
                </p:cNvSpPr>
                <p:nvPr/>
              </p:nvSpPr>
              <p:spPr>
                <a:xfrm>
                  <a:off x="6435090" y="2896552"/>
                  <a:ext cx="5036820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tan</m:t>
                            </m:r>
                          </m:fName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</m:num>
                          <m:den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≤</m:t>
                            </m:r>
                            <m:f>
                              <m:fPr>
                                <m:type m:val="bar"/>
                                <m:ctrlP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num>
                              <m:den>
                                <m:r>
                                  <a:rPr lang="zh-CN" sz="13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  <m:r>
                          <a:rPr lang="zh-CN" sz="13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4.3.9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8" name="c2-callout-2"/>
          <p:cNvGrpSpPr/>
          <p:nvPr/>
        </p:nvGrpSpPr>
        <p:grpSpPr>
          <a:xfrm>
            <a:off x="6248400" y="3732848"/>
            <a:ext cx="5410200" cy="729615"/>
            <a:chOff x="6248400" y="3732848"/>
            <a:chExt cx="5410200" cy="729615"/>
          </a:xfrm>
        </p:grpSpPr>
        <p:sp>
          <p:nvSpPr>
            <p:cNvPr id="33" name="Rectangle 33"/>
            <p:cNvSpPr/>
            <p:nvPr/>
          </p:nvSpPr>
          <p:spPr>
            <a:xfrm>
              <a:off x="6248400" y="373284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453188" y="3997643"/>
              <a:ext cx="200026" cy="200026"/>
              <a:chOff x="6453188" y="3997643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453188" y="3997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519863" y="407543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755892" y="3878580"/>
              <a:ext cx="447998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这样一次变换后 cᵢⱼ = cⱼᵢ = 0，τ(C) = τ(A) − 2aᵢⱼ²：非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对角元平方和减少 2aᵢⱼ²，这部分全部转移到了对角元上。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4632008"/>
            <a:ext cx="5410200" cy="1470660"/>
            <a:chOff x="6248400" y="4632008"/>
            <a:chExt cx="5410200" cy="1470660"/>
          </a:xfrm>
        </p:grpSpPr>
        <p:sp>
          <p:nvSpPr>
            <p:cNvPr id="39" name="Rectangle 39"/>
            <p:cNvSpPr/>
            <p:nvPr/>
          </p:nvSpPr>
          <p:spPr>
            <a:xfrm>
              <a:off x="6248400" y="4632008"/>
              <a:ext cx="5410200" cy="1470660"/>
            </a:xfrm>
            <a:prstGeom prst="roundRect">
              <a:avLst>
                <a:gd name="adj" fmla="val 9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4765358"/>
              <a:ext cx="47625" cy="120396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3190" y="4818698"/>
              <a:ext cx="954405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50481" y="4851559"/>
              <a:ext cx="7998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aᵢᵢ = aⱼⱼ 时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66332" y="5162550"/>
              <a:ext cx="45914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(4.3.3) 化为 aᵢⱼcos2θ = 0，取 θ = ±π/4（符号同 aᵢⱼ），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 cᵢᵢ = aᵢᵢ − |aᵢⱼ|，cⱼⱼ = aⱼⱼ + |aᵢⱼ|。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563420" cy="909257"/>
            <a:chOff x="520446" y="342900"/>
            <a:chExt cx="956342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56342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4.3.2 Jacobi 旋转法的算法：每次消去绝对值最大的非对角元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707708" y="1788795"/>
            <a:ext cx="4629150" cy="4405312"/>
            <a:chOff x="707708" y="1788795"/>
            <a:chExt cx="4629150" cy="4405312"/>
          </a:xfrm>
        </p:grpSpPr>
        <p:sp>
          <p:nvSpPr>
            <p:cNvPr id="7" name="Freeform 7"/>
            <p:cNvSpPr/>
            <p:nvPr/>
          </p:nvSpPr>
          <p:spPr>
            <a:xfrm>
              <a:off x="1777365" y="2226945"/>
              <a:ext cx="9525" cy="329565"/>
            </a:xfrm>
            <a:custGeom>
              <a:avLst/>
              <a:gdLst/>
              <a:ahLst/>
              <a:cxnLst/>
              <a:rect l="l" t="t" r="r" b="b"/>
              <a:pathLst>
                <a:path w="9525" h="329565">
                  <a:moveTo>
                    <a:pt x="0" y="0"/>
                  </a:moveTo>
                  <a:lnTo>
                    <a:pt x="0" y="3295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724978" y="25565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77365" y="328993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24978" y="35375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47975" y="3943350"/>
              <a:ext cx="243840" cy="9525"/>
            </a:xfrm>
            <a:custGeom>
              <a:avLst/>
              <a:gdLst/>
              <a:ahLst/>
              <a:cxnLst/>
              <a:rect l="l" t="t" r="r" b="b"/>
              <a:pathLst>
                <a:path w="243840" h="9525">
                  <a:moveTo>
                    <a:pt x="0" y="0"/>
                  </a:moveTo>
                  <a:lnTo>
                    <a:pt x="2438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91815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777365" y="4244340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724978" y="44919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777365" y="5225415"/>
              <a:ext cx="9525" cy="234315"/>
            </a:xfrm>
            <a:custGeom>
              <a:avLst/>
              <a:gdLst/>
              <a:ahLst/>
              <a:cxnLst/>
              <a:rect l="l" t="t" r="r" b="b"/>
              <a:pathLst>
                <a:path w="9525" h="234315">
                  <a:moveTo>
                    <a:pt x="0" y="0"/>
                  </a:moveTo>
                  <a:lnTo>
                    <a:pt x="0" y="2343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724978" y="54597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847975" y="2975610"/>
              <a:ext cx="1766888" cy="2903220"/>
            </a:xfrm>
            <a:custGeom>
              <a:avLst/>
              <a:gdLst/>
              <a:ahLst/>
              <a:cxnLst/>
              <a:rect l="l" t="t" r="r" b="b"/>
              <a:pathLst>
                <a:path w="1766888" h="2903220">
                  <a:moveTo>
                    <a:pt x="0" y="2903220"/>
                  </a:moveTo>
                  <a:lnTo>
                    <a:pt x="209550" y="2903220"/>
                  </a:lnTo>
                  <a:lnTo>
                    <a:pt x="1766888" y="2903220"/>
                  </a:lnTo>
                  <a:lnTo>
                    <a:pt x="1766888" y="0"/>
                  </a:lnTo>
                  <a:lnTo>
                    <a:pt x="20955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847975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7708" y="1788795"/>
              <a:ext cx="2140268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7708" y="2661285"/>
              <a:ext cx="214026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707708" y="3642360"/>
              <a:ext cx="2140268" cy="601980"/>
            </a:xfrm>
            <a:custGeom>
              <a:avLst/>
              <a:gdLst/>
              <a:ahLst/>
              <a:cxnLst/>
              <a:rect l="l" t="t" r="r" b="b"/>
              <a:pathLst>
                <a:path w="2140268" h="601980">
                  <a:moveTo>
                    <a:pt x="1069658" y="0"/>
                  </a:moveTo>
                  <a:lnTo>
                    <a:pt x="2140268" y="300990"/>
                  </a:lnTo>
                  <a:lnTo>
                    <a:pt x="1069658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07708" y="4596765"/>
              <a:ext cx="214026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7708" y="5564505"/>
              <a:ext cx="2140268" cy="629602"/>
            </a:xfrm>
            <a:prstGeom prst="roundRect">
              <a:avLst>
                <a:gd name="adj" fmla="val 1512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196590" y="3629025"/>
              <a:ext cx="2140268" cy="629602"/>
            </a:xfrm>
            <a:prstGeom prst="roundRect">
              <a:avLst>
                <a:gd name="adj" fmla="val 4992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3648" y="1918811"/>
              <a:ext cx="17874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A₁ = A，S₀ = I，k = 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2472" y="2777014"/>
              <a:ext cx="158978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Aₖ 的非对角元中选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|aᵢⱼ⁽ᵏ⁾| 最大者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02253" y="3854291"/>
              <a:ext cx="11502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|aᵢⱼ⁽ᵏ⁾| &lt; ε？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14984" y="4712494"/>
              <a:ext cx="152476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(4.3.9) 定 θ，得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Pₖ = Pᵢⱼ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5896" y="5680234"/>
              <a:ext cx="166293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Aₖ₊₁ = PₖᵀAₖPₖ，Sₖ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Sₖ₋₁Pₖ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498786" y="3744754"/>
              <a:ext cx="153492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对角元 ≈ 特征值，Sₖ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各列 ≈ 特征向量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907982" y="372713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46273" y="37538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805940" y="432816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829181" y="435483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643438" y="4334828"/>
              <a:ext cx="62198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66678" y="4361498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= k + 1</a:t>
              </a:r>
            </a:p>
          </p:txBody>
        </p:sp>
      </p:grpSp>
      <p:grpSp>
        <p:nvGrpSpPr>
          <p:cNvPr id="39" name="c2-text-1"/>
          <p:cNvGrpSpPr/>
          <p:nvPr/>
        </p:nvGrpSpPr>
        <p:grpSpPr>
          <a:xfrm>
            <a:off x="5808345" y="1548765"/>
            <a:ext cx="5605177" cy="293370"/>
            <a:chOff x="5808345" y="1548765"/>
            <a:chExt cx="5605177" cy="293370"/>
          </a:xfrm>
        </p:grpSpPr>
        <p:sp>
          <p:nvSpPr>
            <p:cNvPr id="38" name="TextBox 38"/>
            <p:cNvSpPr txBox="1"/>
            <p:nvPr/>
          </p:nvSpPr>
          <p:spPr>
            <a:xfrm>
              <a:off x="5808345" y="1548765"/>
              <a:ext cx="56051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这样得到一系列平面旋转阵 Pₖ = P_{iₖjₖ}（k = 1, 2, …），使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formula185"/>
              <p:cNvSpPr txBox="1">
                <a:spLocks noGrp="1"/>
              </p:cNvSpPr>
              <p:nvPr/>
            </p:nvSpPr>
            <p:spPr>
              <a:xfrm>
                <a:off x="5815965" y="1973580"/>
                <a:ext cx="584263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⋯</m:t>
                      </m:r>
                      <m:sSub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bSup>
                      <m:sSub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bSup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⋯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4.3.10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8" name="c2-card-3"/>
          <p:cNvGrpSpPr/>
          <p:nvPr/>
        </p:nvGrpSpPr>
        <p:grpSpPr>
          <a:xfrm>
            <a:off x="5815965" y="2583180"/>
            <a:ext cx="5842635" cy="2067878"/>
            <a:chOff x="5815965" y="2583180"/>
            <a:chExt cx="5842635" cy="2067878"/>
          </a:xfrm>
        </p:grpSpPr>
        <p:sp>
          <p:nvSpPr>
            <p:cNvPr id="41" name="Rectangle 41"/>
            <p:cNvSpPr/>
            <p:nvPr/>
          </p:nvSpPr>
          <p:spPr>
            <a:xfrm>
              <a:off x="5815965" y="2583180"/>
              <a:ext cx="5842635" cy="2067878"/>
            </a:xfrm>
            <a:prstGeom prst="roundRect">
              <a:avLst>
                <a:gd name="adj" fmla="val 64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25490" y="2716530"/>
              <a:ext cx="47625" cy="180117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63615" y="2792730"/>
              <a:ext cx="22440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01720" y="2828449"/>
              <a:ext cx="216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不用反三角函数求 cos θ、sin θ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55995" y="3169920"/>
              <a:ext cx="5006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d = |aⱼⱼ − aᵢᵢ|，m = sign(aⱼⱼ − aᵢᵢ)·2aᵢⱼ（原课件记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 λ、μ），则 tan2θ = m/d，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formula186"/>
                <p:cNvSpPr txBox="1">
                  <a:spLocks noGrp="1"/>
                </p:cNvSpPr>
                <p:nvPr/>
              </p:nvSpPr>
              <p:spPr>
                <a:xfrm>
                  <a:off x="6063615" y="3766185"/>
                  <a:ext cx="5385435" cy="3600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ω</m:t>
                        </m:r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</m:func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p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p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</m:t>
                                    </m:r>
                                  </m:e>
                                  <m:sup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cos</m:t>
                            </m:r>
                          </m:fName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type m:val="bar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ω</m:t>
                                </m:r>
                              </m:num>
                              <m:den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rad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sin</m:t>
                            </m:r>
                          </m:fName>
                          <m:e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func>
                        <m:r>
                          <m:rPr>
                            <m:sty m:val="p"/>
                          </m:rPr>
                          <a:rPr lang="zh-CN" sz="10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ω</m:t>
                            </m:r>
                          </m:num>
                          <m:den>
                            <m:r>
                              <a:rPr lang="zh-CN" sz="10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  <m:rad>
                              <m:radPr>
                                <m:degHide m:val="on"/>
                                <m:ctrlP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0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0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ω</m:t>
                                    </m:r>
                                  </m:e>
                                </m:d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7" name="TextBox 47"/>
            <p:cNvSpPr txBox="1"/>
            <p:nvPr/>
          </p:nvSpPr>
          <p:spPr>
            <a:xfrm>
              <a:off x="6057138" y="4242911"/>
              <a:ext cx="32438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 = 0 时公式失效，按上一页取 θ = ±π/4。</a:t>
              </a:r>
            </a:p>
          </p:txBody>
        </p:sp>
      </p:grpSp>
      <p:grpSp>
        <p:nvGrpSpPr>
          <p:cNvPr id="55" name="c2-callout-4"/>
          <p:cNvGrpSpPr/>
          <p:nvPr/>
        </p:nvGrpSpPr>
        <p:grpSpPr>
          <a:xfrm>
            <a:off x="5815965" y="4841558"/>
            <a:ext cx="5842635" cy="782955"/>
            <a:chOff x="5815965" y="4841558"/>
            <a:chExt cx="5842635" cy="782955"/>
          </a:xfrm>
        </p:grpSpPr>
        <p:sp>
          <p:nvSpPr>
            <p:cNvPr id="49" name="Rectangle 49"/>
            <p:cNvSpPr/>
            <p:nvPr/>
          </p:nvSpPr>
          <p:spPr>
            <a:xfrm>
              <a:off x="5815965" y="4841558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020753" y="5133023"/>
              <a:ext cx="200026" cy="200026"/>
              <a:chOff x="6020753" y="5133023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020753" y="51330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120765" y="51996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109653" y="52330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322695" y="4990148"/>
              <a:ext cx="4806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步消掉的元素在后面的旋转中可能重新变成非零，所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以一般不能有限步化成对角阵，只能逐步逼近。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79164" cy="909257"/>
            <a:chOff x="520446" y="342900"/>
            <a:chExt cx="86791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791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收敛性：每步 τ 至少按固定比例减小；特征向量逐步累积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ard-1"/>
          <p:cNvGrpSpPr/>
          <p:nvPr/>
        </p:nvGrpSpPr>
        <p:grpSpPr>
          <a:xfrm>
            <a:off x="533400" y="1524000"/>
            <a:ext cx="5626418" cy="1055370"/>
            <a:chOff x="533400" y="1524000"/>
            <a:chExt cx="5626418" cy="10553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055370"/>
            </a:xfrm>
            <a:prstGeom prst="roundRect">
              <a:avLst>
                <a:gd name="adj" fmla="val 1263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257841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8578" y="1743551"/>
              <a:ext cx="25204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① 每次变换消去的是 aᵢⱼ⁽ᵏ⁾，由 (4.3.8)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formula199"/>
                <p:cNvSpPr txBox="1">
                  <a:spLocks noGrp="1"/>
                </p:cNvSpPr>
                <p:nvPr/>
              </p:nvSpPr>
              <p:spPr>
                <a:xfrm>
                  <a:off x="720090" y="2032635"/>
                  <a:ext cx="525303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6" name="c1-card-2"/>
          <p:cNvGrpSpPr/>
          <p:nvPr/>
        </p:nvGrpSpPr>
        <p:grpSpPr>
          <a:xfrm>
            <a:off x="533400" y="2748915"/>
            <a:ext cx="5626418" cy="1175385"/>
            <a:chOff x="533400" y="2748915"/>
            <a:chExt cx="5626418" cy="1175385"/>
          </a:xfrm>
        </p:grpSpPr>
        <p:sp>
          <p:nvSpPr>
            <p:cNvPr id="12" name="Rectangle 12"/>
            <p:cNvSpPr/>
            <p:nvPr/>
          </p:nvSpPr>
          <p:spPr>
            <a:xfrm>
              <a:off x="533400" y="2748915"/>
              <a:ext cx="5626418" cy="1175385"/>
            </a:xfrm>
            <a:prstGeom prst="roundRect">
              <a:avLst>
                <a:gd name="adj" fmla="val 113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20090" y="2935605"/>
              <a:ext cx="277558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2921" y="2968466"/>
              <a:ext cx="27299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② 消去的是最大的，而非对角元共 n(n − 1) 个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200"/>
                <p:cNvSpPr txBox="1">
                  <a:spLocks noGrp="1"/>
                </p:cNvSpPr>
                <p:nvPr/>
              </p:nvSpPr>
              <p:spPr>
                <a:xfrm>
                  <a:off x="720090" y="3257550"/>
                  <a:ext cx="5253038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den>
                        </m:f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3"/>
          <p:cNvGrpSpPr/>
          <p:nvPr/>
        </p:nvGrpSpPr>
        <p:grpSpPr>
          <a:xfrm>
            <a:off x="533400" y="4093845"/>
            <a:ext cx="5626418" cy="1566862"/>
            <a:chOff x="533400" y="4093845"/>
            <a:chExt cx="5626418" cy="1566862"/>
          </a:xfrm>
        </p:grpSpPr>
        <p:sp>
          <p:nvSpPr>
            <p:cNvPr id="17" name="Rectangle 17"/>
            <p:cNvSpPr/>
            <p:nvPr/>
          </p:nvSpPr>
          <p:spPr>
            <a:xfrm>
              <a:off x="533400" y="4093845"/>
              <a:ext cx="5626418" cy="1566862"/>
            </a:xfrm>
            <a:prstGeom prst="roundRect">
              <a:avLst>
                <a:gd name="adj" fmla="val 8511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20090" y="4280535"/>
              <a:ext cx="694372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05083" y="4313396"/>
              <a:ext cx="523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③ 合起来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201"/>
                <p:cNvSpPr txBox="1">
                  <a:spLocks noGrp="1"/>
                </p:cNvSpPr>
                <p:nvPr/>
              </p:nvSpPr>
              <p:spPr>
                <a:xfrm>
                  <a:off x="720090" y="4602480"/>
                  <a:ext cx="5253038" cy="3857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f>
                              <m:fPr>
                                <m:type m:val="bar"/>
                                <m:ctrl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  <m: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≤⋯≤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zh-CN" sz="11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1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1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1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1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τ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1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1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→</m:t>
                        </m:r>
                        <m:r>
                          <a:rPr lang="zh-CN" sz="11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14375" y="5090636"/>
              <a:ext cx="486892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原课件末式写作 τ(Aₖ) ≤ (1 − 2/(n(n−1)))ᵏτ(A₁)，下标差 1；n = 2、k = 1</a:t>
              </a:r>
              <a:br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时右端为 0，不成立。已更正为 τ(Aₖ₊₁)。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464618" y="1524000"/>
            <a:ext cx="5193982" cy="4135755"/>
            <a:chOff x="6464618" y="1524000"/>
            <a:chExt cx="5193982" cy="4135755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4135755"/>
            </a:xfrm>
            <a:prstGeom prst="roundRect">
              <a:avLst>
                <a:gd name="adj" fmla="val 3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38690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89408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492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特征向量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82549" y="2054542"/>
              <a:ext cx="40685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Sₖ = P₁P₂⋯Pₖ 的各列为相应特征向量的近似。由 Sₖ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Sₖ₋₁Pₖ（Pₖ 作用在第 p、q 行列上）：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202"/>
                <p:cNvSpPr txBox="1">
                  <a:spLocks noGrp="1"/>
                </p:cNvSpPr>
                <p:nvPr/>
              </p:nvSpPr>
              <p:spPr>
                <a:xfrm>
                  <a:off x="6689408" y="2589848"/>
                  <a:ext cx="4782502" cy="84867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ip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ip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iq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iq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ip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iq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bSup>
                                  <m:e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 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≠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q</m:t>
                                </m:r>
                              </m:e>
                            </m:eqArr>
                          </m:e>
                        </m:d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682549" y="3545205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每步只改 S 的第 p、q 两列，不必保留各个 Pₖ，只存 Sₖ。算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法结束时 Sₖ 的列向量就是所求特征向量。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1" name="Rectangle 3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892" y="6028373"/>
              <a:ext cx="94458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 = 3 时每步 τ 至少乘 2/3。例 4.5 中 τ 依次为 4、2、1、0.211、0.058、5.7×10⁻⁴，实际比这个界下降得快得多。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80567" cy="909257"/>
            <a:chOff x="520446" y="342900"/>
            <a:chExt cx="70805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805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旋转法的程序（按原课件整理并修正）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276022" cy="4612005"/>
            <a:chOff x="533400" y="1524000"/>
            <a:chExt cx="6276022" cy="46120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612005"/>
            </a:xfrm>
            <a:prstGeom prst="roundRect">
              <a:avLst>
                <a:gd name="adj" fmla="val 206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778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jacobi.m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5826442"/>
              <a:ext cx="6237922" cy="1781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21" y="1936242"/>
              <a:ext cx="4020845" cy="4112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function [lamda, eigen_vec] = jacobi(A)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% 实对称矩阵 A 的全部特征值与特征向量（列）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ep = 1e-6;  UP = 1e9;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 = A;  eigen_vec = eye(size(B));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1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[colmax, rowidx] = max(abs(B - diag(diag(B))));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[bmax, j] = max(colmax);  i = rowidx(j);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bmax &lt; ep, break; end</a:t>
              </a:r>
              <a:br/>
              <a:r>
                <a:rPr lang="el-GR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 = 2*B(i,j) / (B(j,j) - B(i,i));   % tan 2θ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t &gt; UP</a:t>
              </a:r>
              <a:br/>
              <a:r>
                <a:rPr lang="el-GR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s = sqrt(2)/2;  c = s;             % θ = π/4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elseif t &lt; -UP</a:t>
              </a:r>
              <a:br/>
              <a:r>
                <a:rPr lang="el-GR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s = -sqrt(2)/2; c = -s;            % θ = −π/4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s = sin(atan(t)/2);  c = cos(atan(t)/2);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 = eye(size(B));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P(i,i) = c;  P(j,j) = c;  P(i,j) = s;  P(j,i) = -s;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eigen_vec = eigen_vec * P;           % S(k) = S(k-1) P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 = P' * B * P;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lamda = diag(B);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25" name="c2-steps-1"/>
          <p:cNvGrpSpPr/>
          <p:nvPr/>
        </p:nvGrpSpPr>
        <p:grpSpPr>
          <a:xfrm>
            <a:off x="7114222" y="1533525"/>
            <a:ext cx="4495725" cy="1685449"/>
            <a:chOff x="7114222" y="1533525"/>
            <a:chExt cx="4495725" cy="1685449"/>
          </a:xfrm>
        </p:grpSpPr>
        <p:sp>
          <p:nvSpPr>
            <p:cNvPr id="12" name="Rectangle 12"/>
            <p:cNvSpPr/>
            <p:nvPr/>
          </p:nvSpPr>
          <p:spPr>
            <a:xfrm>
              <a:off x="7247572" y="1676400"/>
              <a:ext cx="19050" cy="1165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7114222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0784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114222" y="21164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207846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114222" y="26993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07846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26464" y="1564957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找最大非对角元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27608" y="1833086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 按列求最大值，再在各列最大值中求最大，得位置 (i, j)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26464" y="21478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定角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27608" y="2416016"/>
              <a:ext cx="3691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 = tan2θ；分母为 0 时 t = ±Inf，落入 ±π/4 两个分支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26464" y="27308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旋转并累积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27608" y="2998946"/>
              <a:ext cx="25458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= PᵀBP，eigen_vec = eigen_vec·P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7114222" y="3382328"/>
            <a:ext cx="4544378" cy="2753678"/>
            <a:chOff x="7114222" y="3382328"/>
            <a:chExt cx="4544378" cy="2753678"/>
          </a:xfrm>
        </p:grpSpPr>
        <p:sp>
          <p:nvSpPr>
            <p:cNvPr id="26" name="Rectangle 26"/>
            <p:cNvSpPr/>
            <p:nvPr/>
          </p:nvSpPr>
          <p:spPr>
            <a:xfrm>
              <a:off x="7114222" y="3382328"/>
              <a:ext cx="4544378" cy="2753678"/>
            </a:xfrm>
            <a:prstGeom prst="roundRect">
              <a:avLst>
                <a:gd name="adj" fmla="val 4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123748" y="3515678"/>
              <a:ext cx="47625" cy="24869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39012" y="356901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30732" y="360187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347585" y="397002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03604" y="3913822"/>
              <a:ext cx="381133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原程序最后写 lamda = max(B)，取的是各列最大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元，特征值为负时会取到接近 0 的非对角元，应为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diag(B)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347585" y="478440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03604" y="4728210"/>
              <a:ext cx="377704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原程序另有分支 abs(t) &lt; ep 时令 s = 0、c = 1。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若此时 |B(i,j)| ≥ ep，矩阵不再变化，循环停不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下来，已删去（atan 对很小的 t 本来就能正确计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算）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15519" cy="909257"/>
            <a:chOff x="520446" y="342900"/>
            <a:chExt cx="71155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155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第 1 次旋转：a₁₁ = a₂₂，取 θ = −π/4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12"/>
              <p:cNvSpPr txBox="1">
                <a:spLocks noGrp="1"/>
              </p:cNvSpPr>
              <p:nvPr/>
            </p:nvSpPr>
            <p:spPr>
              <a:xfrm>
                <a:off x="533400" y="1524000"/>
                <a:ext cx="4977765" cy="99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1" name="c1-steps-2"/>
          <p:cNvGrpSpPr/>
          <p:nvPr/>
        </p:nvGrpSpPr>
        <p:grpSpPr>
          <a:xfrm>
            <a:off x="533400" y="2693670"/>
            <a:ext cx="4642231" cy="2307431"/>
            <a:chOff x="533400" y="2693670"/>
            <a:chExt cx="4642231" cy="2307431"/>
          </a:xfrm>
        </p:grpSpPr>
        <p:sp>
          <p:nvSpPr>
            <p:cNvPr id="8" name="Rectangle 8"/>
            <p:cNvSpPr/>
            <p:nvPr/>
          </p:nvSpPr>
          <p:spPr>
            <a:xfrm>
              <a:off x="666750" y="2836545"/>
              <a:ext cx="19050" cy="1580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533400" y="269367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27024" y="27674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348329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35571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427386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43476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5642" y="272510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785" y="2993231"/>
              <a:ext cx="422173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绝对值最大的非对角元是 a₁₂ = −1（与 a₂₃ 并列，取在前的），i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1，j =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5642" y="351567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定角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785" y="3782854"/>
              <a:ext cx="38874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a₁₁ = a₂₂，tan2θ 分母为 0；a₁₂ &lt; 0，取 θ = −π/4，cos θ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0.7071，sin θ = −0.7071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642" y="4305300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 τ 的变化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785" y="4573429"/>
              <a:ext cx="42288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τ(A₁) = 4，τ(A₂) = 4 − 2×1² = 2；a₁₃、a₂₃ 由 0、−1 变成两个 −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1/√2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5164455"/>
            <a:ext cx="4977765" cy="978218"/>
            <a:chOff x="533400" y="5164455"/>
            <a:chExt cx="4977765" cy="978218"/>
          </a:xfrm>
        </p:grpSpPr>
        <p:sp>
          <p:nvSpPr>
            <p:cNvPr id="22" name="Rectangle 22"/>
            <p:cNvSpPr/>
            <p:nvPr/>
          </p:nvSpPr>
          <p:spPr>
            <a:xfrm>
              <a:off x="533400" y="5164455"/>
              <a:ext cx="4977765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553075"/>
              <a:ext cx="200026" cy="200025"/>
              <a:chOff x="738188" y="5553075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5530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5975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7086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892" y="5310188"/>
              <a:ext cx="392277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 (4.3.1)、(4.3.3) 验算：c₁₁ = 2×½ + 2×½ − (−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1)×sin(−π/2) = 1，c₁₂ = 0 + (−1)×cos(−π/2) =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formula213"/>
              <p:cNvSpPr txBox="1">
                <a:spLocks noGrp="1"/>
              </p:cNvSpPr>
              <p:nvPr/>
            </p:nvSpPr>
            <p:spPr>
              <a:xfrm>
                <a:off x="5815965" y="1524000"/>
                <a:ext cx="5842635" cy="11401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formula214"/>
              <p:cNvSpPr txBox="1">
                <a:spLocks noGrp="1"/>
              </p:cNvSpPr>
              <p:nvPr/>
            </p:nvSpPr>
            <p:spPr>
              <a:xfrm>
                <a:off x="5815965" y="2833688"/>
                <a:ext cx="5842635" cy="12858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b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6" name="c2-card-3"/>
          <p:cNvGrpSpPr/>
          <p:nvPr/>
        </p:nvGrpSpPr>
        <p:grpSpPr>
          <a:xfrm>
            <a:off x="5815965" y="4290060"/>
            <a:ext cx="5842635" cy="1852612"/>
            <a:chOff x="5815965" y="4290060"/>
            <a:chExt cx="5842635" cy="1852612"/>
          </a:xfrm>
        </p:grpSpPr>
        <p:sp>
          <p:nvSpPr>
            <p:cNvPr id="31" name="Rectangle 31"/>
            <p:cNvSpPr/>
            <p:nvPr/>
          </p:nvSpPr>
          <p:spPr>
            <a:xfrm>
              <a:off x="5815965" y="4290060"/>
              <a:ext cx="5842635" cy="1852612"/>
            </a:xfrm>
            <a:prstGeom prst="roundRect">
              <a:avLst>
                <a:gd name="adj" fmla="val 71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825490" y="4423410"/>
              <a:ext cx="47625" cy="15859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40755" y="447675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132474" y="450961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33897" y="4820602"/>
              <a:ext cx="51657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P₁ 的第 2 行第 3 列写作 −1。P₁₂ 只在第 1、2 行列上与单位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阵不同，这个位置应为 0；按 −1 计算得不到 A₂。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24532" cy="909257"/>
            <a:chOff x="520446" y="342900"/>
            <a:chExt cx="93245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245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第 2 次旋转与全过程：7 次旋转后非对角元小于 10⁻⁴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steps-1"/>
          <p:cNvGrpSpPr/>
          <p:nvPr/>
        </p:nvGrpSpPr>
        <p:grpSpPr>
          <a:xfrm>
            <a:off x="533400" y="1533525"/>
            <a:ext cx="4656455" cy="1310163"/>
            <a:chOff x="533400" y="1533525"/>
            <a:chExt cx="4656455" cy="131016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5829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164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5642" y="156495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选元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785" y="1833086"/>
              <a:ext cx="37022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A₂ 中 |a₁₃| = |a₂₃| = 0.7071 并列最大，取 i = 1，j = 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21478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2416016"/>
              <a:ext cx="42430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tan2θ = 2×(−0.7071)/(2 − 1) = −1.4142，θ ≈ −27.37°，cos θ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0.8881，sin θ = −0.4597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3007042"/>
            <a:ext cx="4977765" cy="978218"/>
            <a:chOff x="533400" y="3007042"/>
            <a:chExt cx="4977765" cy="978218"/>
          </a:xfrm>
        </p:grpSpPr>
        <p:sp>
          <p:nvSpPr>
            <p:cNvPr id="17" name="Rectangle 17"/>
            <p:cNvSpPr/>
            <p:nvPr/>
          </p:nvSpPr>
          <p:spPr>
            <a:xfrm>
              <a:off x="533400" y="3007042"/>
              <a:ext cx="4977765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3395663"/>
              <a:ext cx="200026" cy="200025"/>
              <a:chOff x="738188" y="3395663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33956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77926" y="34401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12642" y="35512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892" y="3152775"/>
              <a:ext cx="399992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无三角函数公式核对：d = 1，m = −1.4142，ω =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0.5774，cos θ = 0.8881，sin θ = −0.4597；τ(A₃)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= 2 − 2×0.7071² = 1。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formula221"/>
              <p:cNvSpPr txBox="1">
                <a:spLocks noGrp="1"/>
              </p:cNvSpPr>
              <p:nvPr/>
            </p:nvSpPr>
            <p:spPr>
              <a:xfrm>
                <a:off x="533400" y="4154805"/>
                <a:ext cx="4977765" cy="8963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0.8881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0.4597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0.4597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0.8881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222"/>
              <p:cNvSpPr txBox="1">
                <a:spLocks noGrp="1"/>
              </p:cNvSpPr>
              <p:nvPr/>
            </p:nvSpPr>
            <p:spPr>
              <a:xfrm>
                <a:off x="533400" y="5220652"/>
                <a:ext cx="4977765" cy="8963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  <m:sup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</m:sSubSup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0.6340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0.3251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0.3251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0.6280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0.6280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2.3660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1" name="c2-table-1"/>
          <p:cNvGrpSpPr/>
          <p:nvPr/>
        </p:nvGrpSpPr>
        <p:grpSpPr>
          <a:xfrm>
            <a:off x="5811012" y="1524000"/>
            <a:ext cx="5847588" cy="3463956"/>
            <a:chOff x="5811012" y="1524000"/>
            <a:chExt cx="5847588" cy="3463956"/>
          </a:xfrm>
        </p:grpSpPr>
        <p:sp>
          <p:nvSpPr>
            <p:cNvPr id="26" name="Rectangle 26"/>
            <p:cNvSpPr/>
            <p:nvPr/>
          </p:nvSpPr>
          <p:spPr>
            <a:xfrm>
              <a:off x="5815965" y="1524000"/>
              <a:ext cx="5842635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70549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38016" y="1645444"/>
              <a:ext cx="4151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(i, j)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21858" y="1645444"/>
              <a:ext cx="367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|aᵢⱼ|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0319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768710" y="1645444"/>
              <a:ext cx="6381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τ(Aₖ₊₁)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403738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对角元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70549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32550" y="20454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58497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80881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−45°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4062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77353" y="2045494"/>
              <a:ext cx="516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1, 3, 2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23193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15965" y="23241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70549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32550" y="24455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(1,3)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51182" y="24455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0.7071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56492" y="244554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−27.37°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4062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962723" y="2445544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0.6340, 3, 2.3660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27193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970549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332550" y="28455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(2,3)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51182" y="28455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0.6280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97955" y="28455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31.61°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33310" y="28455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0.2113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755408" y="2845594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0.6340, 3.3864, 1.9796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31194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15965" y="31242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70549" y="32456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332550" y="32456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051182" y="32456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0.2768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897955" y="32456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−5.69°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33310" y="32456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0.0580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755408" y="3245644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0.6064, 3.4140, 1.9796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815965" y="35194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970549" y="36456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332550" y="36456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(1,3)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51182" y="36456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0.1695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97955" y="36456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−6.93°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750384" y="36456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5.7×10⁻⁴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755408" y="3645694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0.5858, 3.4140, 2.0002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815965" y="39195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815965" y="3924300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970549" y="4045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332550" y="40457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(2,3)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051182" y="40457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0.0168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897955" y="404574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−0.68°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750384" y="404574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8.3×10⁻⁶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755408" y="4045744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0.5858, 3.4142, 2.0000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815965" y="43195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970549" y="44457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332550" y="44457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051182" y="444579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0.0020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939418" y="44457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0.04°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750384" y="44457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1.2×10⁻⁹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755408" y="4445794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0.5858, 3.4142, 2.0000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5815965" y="1524000"/>
              <a:ext cx="5842635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6219825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686276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773906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8557260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9608820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5811012" y="4797266"/>
              <a:ext cx="42711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k 次旋转消去的位置、元素绝对值、旋转角，以及旋转后的 τ 与对角元</a:t>
              </a:r>
            </a:p>
          </p:txBody>
        </p:sp>
      </p:grpSp>
      <p:grpSp>
        <p:nvGrpSpPr>
          <p:cNvPr id="98" name="c2-callout-2"/>
          <p:cNvGrpSpPr/>
          <p:nvPr/>
        </p:nvGrpSpPr>
        <p:grpSpPr>
          <a:xfrm>
            <a:off x="5815965" y="5119688"/>
            <a:ext cx="5842635" cy="729615"/>
            <a:chOff x="5815965" y="5119688"/>
            <a:chExt cx="5842635" cy="729615"/>
          </a:xfrm>
        </p:grpSpPr>
        <p:sp>
          <p:nvSpPr>
            <p:cNvPr id="92" name="Rectangle 92"/>
            <p:cNvSpPr/>
            <p:nvPr/>
          </p:nvSpPr>
          <p:spPr>
            <a:xfrm>
              <a:off x="5815965" y="5119688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6020753" y="5384483"/>
              <a:ext cx="200026" cy="200026"/>
              <a:chOff x="6020753" y="5384483"/>
              <a:chExt cx="200026" cy="200026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6020753" y="53844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120765" y="54511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6109653" y="54844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6323457" y="5266373"/>
              <a:ext cx="49343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步消掉的 a₁₂ 到第 3 步又变成 −0.2768。原课件程序输出显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示第 8 次旋转后非对角元小于 10⁻⁶。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874025" cy="909257"/>
            <a:chOff x="520446" y="342900"/>
            <a:chExt cx="98740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8740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结果：特征值 2 − √2、2 + √2、2，S₇ 的各列为特征向量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25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10372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0.5858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3.4142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2.0000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226"/>
              <p:cNvSpPr txBox="1">
                <a:spLocks noGrp="1"/>
              </p:cNvSpPr>
              <p:nvPr/>
            </p:nvSpPr>
            <p:spPr>
              <a:xfrm>
                <a:off x="533400" y="2751772"/>
                <a:ext cx="5410200" cy="10372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⋯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0.7071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0.7071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0.7071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0.7071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4" name="c1-card-3"/>
          <p:cNvGrpSpPr/>
          <p:nvPr/>
        </p:nvGrpSpPr>
        <p:grpSpPr>
          <a:xfrm>
            <a:off x="533400" y="3979545"/>
            <a:ext cx="5410200" cy="2365058"/>
            <a:chOff x="533400" y="3979545"/>
            <a:chExt cx="5410200" cy="2365058"/>
          </a:xfrm>
        </p:grpSpPr>
        <p:sp>
          <p:nvSpPr>
            <p:cNvPr id="9" name="Rectangle 9"/>
            <p:cNvSpPr/>
            <p:nvPr/>
          </p:nvSpPr>
          <p:spPr>
            <a:xfrm>
              <a:off x="533400" y="3979545"/>
              <a:ext cx="5410200" cy="2365058"/>
            </a:xfrm>
            <a:prstGeom prst="roundRect">
              <a:avLst>
                <a:gd name="adj" fmla="val 56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4112895"/>
              <a:ext cx="47625" cy="20983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41890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42248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4566285"/>
              <a:ext cx="47586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 Pᵀ = P₁ᵀP₂ᵀ⋯P₁₀ᵀ，并把 0.7071 写成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0.7。特征向量矩阵应为 S₇ = P₁P₂⋯P₇（7 次旋转，列为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特征向量），0.7071 = √2/2。</a:t>
              </a:r>
            </a:p>
          </p:txBody>
        </p:sp>
      </p:grpSp>
      <p:grpSp>
        <p:nvGrpSpPr>
          <p:cNvPr id="39" name="c2-table-1"/>
          <p:cNvGrpSpPr/>
          <p:nvPr/>
        </p:nvGrpSpPr>
        <p:grpSpPr>
          <a:xfrm>
            <a:off x="6248400" y="1524000"/>
            <a:ext cx="5410200" cy="3017520"/>
            <a:chOff x="6248400" y="1524000"/>
            <a:chExt cx="5410200" cy="3017520"/>
          </a:xfrm>
        </p:grpSpPr>
        <p:sp>
          <p:nvSpPr>
            <p:cNvPr id="15" name="Rectangle 15"/>
            <p:cNvSpPr/>
            <p:nvPr/>
          </p:nvSpPr>
          <p:spPr>
            <a:xfrm>
              <a:off x="6248400" y="1524000"/>
              <a:ext cx="5410200" cy="7543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24613" y="17964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99020" y="17964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近似值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6288" y="1663065"/>
              <a:ext cx="143827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特征向量（S₇ 的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列）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35590" y="17964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精确形式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47473" y="2417445"/>
              <a:ext cx="57531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2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√2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68730" y="255079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0.5858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0580" y="2417445"/>
              <a:ext cx="13296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(0.5, 0.7071,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0.5)ᵀ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10812" y="2417445"/>
              <a:ext cx="10725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√2, 1)ᵀ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48400" y="30279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48400" y="3032760"/>
              <a:ext cx="5410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7473" y="3171825"/>
              <a:ext cx="57531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λ₂ = 2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√2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68730" y="330517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3.4142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98192" y="3171825"/>
              <a:ext cx="14344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(−0.5, 0.7071,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−0.5)ᵀ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258425" y="3171825"/>
              <a:ext cx="11772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(−1, √2, −1)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ᵀ/2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37823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30670" y="4059555"/>
              <a:ext cx="608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λ₃ = 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68730" y="405955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02968" y="3926205"/>
              <a:ext cx="12249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(−0.7071, 0,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0.7071)ᵀ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58425" y="3926205"/>
              <a:ext cx="11772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(−1, 0, 1)ᵀ/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30175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217092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191500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030778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2-card-2"/>
          <p:cNvGrpSpPr/>
          <p:nvPr/>
        </p:nvGrpSpPr>
        <p:grpSpPr>
          <a:xfrm>
            <a:off x="6248400" y="4732020"/>
            <a:ext cx="5410200" cy="1612582"/>
            <a:chOff x="6248400" y="4732020"/>
            <a:chExt cx="5410200" cy="1612582"/>
          </a:xfrm>
        </p:grpSpPr>
        <p:sp>
          <p:nvSpPr>
            <p:cNvPr id="40" name="Rectangle 40"/>
            <p:cNvSpPr/>
            <p:nvPr/>
          </p:nvSpPr>
          <p:spPr>
            <a:xfrm>
              <a:off x="6248400" y="4732020"/>
              <a:ext cx="5410200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486537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96050" y="494157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80214" y="497728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验算 λ₁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88430" y="5318760"/>
              <a:ext cx="4758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A(0.5, 0.7071, 0.5)ᵀ = (0.2929, 0.4142, 0.2929)ᵀ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0.5858×(0.5, 0.7071, 0.5)ᵀ 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89573" y="5936456"/>
              <a:ext cx="45756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S₇ 是正交矩阵：三个特征向量两两正交，且都是单位向量。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10410" cy="909257"/>
            <a:chOff x="520446" y="342900"/>
            <a:chExt cx="81104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879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0930" y="407194"/>
              <a:ext cx="23728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Jacobi 旋转法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104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过关法：设阈值逐轮扫描，免去每步找最大元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983272" cy="2764440"/>
            <a:chOff x="533400" y="1533525"/>
            <a:chExt cx="4983272" cy="2764440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预取阈值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0680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γ₀ = √(Σₗ≠ₛ aₗₛ²) = √τ(A)，第一轮阈值 γ₁ = γ₀/n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扫描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42070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按顺序扫描非对角元：|aᵢⱼ| ≥ γ₁ 的做旋转变换化为零，其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余视为“过关”，不作变换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1041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缩小阈值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397091"/>
              <a:ext cx="45706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所有非对角元绝对值都小于 γ₁ 后，令 γ₂ = γ₁/n，重复扫描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7547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04860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直到 γᵣ = γ₀/nʳ ≤ ε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475798"/>
            <a:ext cx="4977765" cy="782955"/>
            <a:chOff x="533400" y="4475798"/>
            <a:chExt cx="4977765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4475798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767263"/>
              <a:ext cx="200026" cy="200026"/>
              <a:chOff x="738188" y="4767263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7672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48339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48672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624388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更正：原课件停止条件写作 γₙ = γ₀/nʳ ≤ ε，下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标应为轮数 r。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5810250" y="1524000"/>
            <a:ext cx="5848350" cy="2734152"/>
            <a:chOff x="5810250" y="1524000"/>
            <a:chExt cx="5848350" cy="2734152"/>
          </a:xfrm>
        </p:grpSpPr>
        <p:sp>
          <p:nvSpPr>
            <p:cNvPr id="32" name="Rectangle 32"/>
            <p:cNvSpPr/>
            <p:nvPr/>
          </p:nvSpPr>
          <p:spPr>
            <a:xfrm>
              <a:off x="5815965" y="1524000"/>
              <a:ext cx="5842635" cy="48768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96364" y="1663065"/>
              <a:ext cx="397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轮 r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47125" y="166306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γᵣ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63852" y="16630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本轮旋转的位置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047237" y="1663065"/>
              <a:ext cx="13520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轮末 max|aᵢⱼ|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29133" y="215074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30556" y="215074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0.6667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14335" y="2150745"/>
              <a:ext cx="13277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(1,2)、(1,3)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82440" y="215074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0.6280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4945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249936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29133" y="26384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30556" y="26384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0.2222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14335" y="2638425"/>
              <a:ext cx="13277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(1,2)、(2,3)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82440" y="263842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0.0722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29822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29133" y="312610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30556" y="312610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0.0741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064818" y="312610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无，全部过关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382440" y="312610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0.0722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15965" y="34699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815965" y="347472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29133" y="361378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730556" y="361378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0.0247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14335" y="3613785"/>
              <a:ext cx="13277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(1,2)、(1,3)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82440" y="3613785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15965" y="1524000"/>
              <a:ext cx="5842635" cy="2438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570345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563802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784080" y="1524000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810250" y="4038124"/>
              <a:ext cx="23559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4.5 的矩阵，γ₀ = √4 = 2，n = 3</a:t>
              </a:r>
            </a:p>
          </p:txBody>
        </p:sp>
      </p:grpSp>
      <p:grpSp>
        <p:nvGrpSpPr>
          <p:cNvPr id="80" name="c2-compare-2"/>
          <p:cNvGrpSpPr/>
          <p:nvPr/>
        </p:nvGrpSpPr>
        <p:grpSpPr>
          <a:xfrm>
            <a:off x="5815965" y="4404360"/>
            <a:ext cx="5842635" cy="1939290"/>
            <a:chOff x="5815965" y="4404360"/>
            <a:chExt cx="5842635" cy="1939290"/>
          </a:xfrm>
        </p:grpSpPr>
        <p:sp>
          <p:nvSpPr>
            <p:cNvPr id="64" name="Rectangle 64"/>
            <p:cNvSpPr/>
            <p:nvPr/>
          </p:nvSpPr>
          <p:spPr>
            <a:xfrm>
              <a:off x="5815965" y="4404360"/>
              <a:ext cx="2749868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825490" y="453771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055995" y="4638675"/>
              <a:ext cx="1136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经典 Jacobi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069330" y="505587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227445" y="499300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每步搜索全部非对角元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找最大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069330" y="567690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227445" y="5614035"/>
              <a:ext cx="1977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搜索要比较 n(n − 1)/2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个元素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908732" y="4404360"/>
              <a:ext cx="2749868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8918258" y="453771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148762" y="463867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过关法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9162098" y="505587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9320212" y="499300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按固定顺序扫描，小元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素直接跳过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9162098" y="567690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20212" y="5614035"/>
              <a:ext cx="20042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较大时省去大量搜索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8575358" y="521208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645698" y="5308283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04609" cy="909257"/>
            <a:chOff x="520446" y="342900"/>
            <a:chExt cx="96046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补充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046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4.4–4.6 原课件只有标题：Householder 变换与 QR 方法速览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193982" cy="2449830"/>
            <a:chOff x="533400" y="1524000"/>
            <a:chExt cx="5193982" cy="24498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449830"/>
            </a:xfrm>
            <a:prstGeom prst="roundRect">
              <a:avLst>
                <a:gd name="adj" fmla="val 54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8313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151066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6214" y="1743551"/>
              <a:ext cx="13946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4.4 Householder 变换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33"/>
                <p:cNvSpPr txBox="1">
                  <a:spLocks noGrp="1"/>
                </p:cNvSpPr>
                <p:nvPr/>
              </p:nvSpPr>
              <p:spPr>
                <a:xfrm>
                  <a:off x="758190" y="2032635"/>
                  <a:ext cx="4782502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2w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</m:e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Ellipse 12"/>
            <p:cNvSpPr/>
            <p:nvPr/>
          </p:nvSpPr>
          <p:spPr>
            <a:xfrm>
              <a:off x="766762" y="255651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500312"/>
              <a:ext cx="43942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对称、正交，H² = I，几何上是关于超平面 wᵀx = 0 的镜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面反射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311467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3058477"/>
              <a:ext cx="41199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σ = sign(x₁)‖x‖₂，u = x + σe₁，H = I − 2uuᵀ/(uᵀ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u)，则 Hx = −σe₁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475" y="3611404"/>
              <a:ext cx="4485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例：x = (3, 4, 0)ᵀ，σ = 5，u = (8, 4, 0)ᵀ，Hx = (−5, 0, 0)ᵀ。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144328"/>
            <a:ext cx="5193982" cy="1226820"/>
            <a:chOff x="533400" y="4144328"/>
            <a:chExt cx="5193982" cy="1226820"/>
          </a:xfrm>
        </p:grpSpPr>
        <p:sp>
          <p:nvSpPr>
            <p:cNvPr id="18" name="Rectangle 18"/>
            <p:cNvSpPr/>
            <p:nvPr/>
          </p:nvSpPr>
          <p:spPr>
            <a:xfrm>
              <a:off x="533400" y="4144328"/>
              <a:ext cx="5193982" cy="1226820"/>
            </a:xfrm>
            <a:prstGeom prst="roundRect">
              <a:avLst>
                <a:gd name="adj" fmla="val 931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657725"/>
              <a:ext cx="200026" cy="200025"/>
              <a:chOff x="738188" y="4657725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6577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47021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48133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290060"/>
              <a:ext cx="4137088" cy="10098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一次 Householder 变换把一列中的多个元素同时化为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零，平面旋转一次只消一个。实对称矩阵经 n − 2 次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Householder 相似变换可化为三对角阵。原课件把 4.4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节标为选学（*）。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032182" y="1524000"/>
            <a:ext cx="5626418" cy="1612582"/>
            <a:chOff x="6032182" y="1524000"/>
            <a:chExt cx="5626418" cy="1612582"/>
          </a:xfrm>
        </p:grpSpPr>
        <p:sp>
          <p:nvSpPr>
            <p:cNvPr id="25" name="Rectangle 25"/>
            <p:cNvSpPr/>
            <p:nvPr/>
          </p:nvSpPr>
          <p:spPr>
            <a:xfrm>
              <a:off x="6032182" y="1524000"/>
              <a:ext cx="5626418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41708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6972" y="1710690"/>
              <a:ext cx="922020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21304" y="1743551"/>
              <a:ext cx="7933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4.5 QR 方法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ormula234"/>
                <p:cNvSpPr txBox="1">
                  <a:spLocks noGrp="1"/>
                </p:cNvSpPr>
                <p:nvPr/>
              </p:nvSpPr>
              <p:spPr>
                <a:xfrm>
                  <a:off x="6256972" y="2032635"/>
                  <a:ext cx="5214938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bSup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0" name="TextBox 30"/>
            <p:cNvSpPr txBox="1"/>
            <p:nvPr/>
          </p:nvSpPr>
          <p:spPr>
            <a:xfrm>
              <a:off x="6250114" y="2481262"/>
              <a:ext cx="49000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 Aₖ 相似，特征值不变。|λ₁| &gt; |λ₂| &gt; … &gt; |λₙ| 时，Aₖ 对角线以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下元素趋于 0，对角元趋于特征值（对称矩阵趋于对角阵）。</a:t>
              </a:r>
            </a:p>
          </p:txBody>
        </p:sp>
      </p:grpSp>
      <p:grpSp>
        <p:nvGrpSpPr>
          <p:cNvPr id="57" name="c2-table-2"/>
          <p:cNvGrpSpPr/>
          <p:nvPr/>
        </p:nvGrpSpPr>
        <p:grpSpPr>
          <a:xfrm>
            <a:off x="6027230" y="3306128"/>
            <a:ext cx="5631370" cy="2264758"/>
            <a:chOff x="6027230" y="3306128"/>
            <a:chExt cx="5631370" cy="2264758"/>
          </a:xfrm>
        </p:grpSpPr>
        <p:sp>
          <p:nvSpPr>
            <p:cNvPr id="32" name="Rectangle 32"/>
            <p:cNvSpPr/>
            <p:nvPr/>
          </p:nvSpPr>
          <p:spPr>
            <a:xfrm>
              <a:off x="6032182" y="3306128"/>
              <a:ext cx="5626418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63919" y="34275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10386" y="3427571"/>
              <a:ext cx="1032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Aₖ₊₁ 的对角元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225062" y="342757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对角线下最大元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63919" y="38276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46536" y="3827621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2.8000, 2.3429, 0.8571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45458" y="382762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0.748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41014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32182" y="4106228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63919" y="42276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46536" y="4227671"/>
              <a:ext cx="1760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3.4009, 2.0133, 0.5858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45458" y="422767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0.137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45015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20383" y="462772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22147" y="4627721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3.41415, 2.00006, 0.58579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503995" y="462772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0.0095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32182" y="49015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32182" y="4906328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220383" y="502777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97758" y="5027771"/>
              <a:ext cx="2257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3.414214, 2.000000, 0.585786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421069" y="502777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4.5×10⁻⁵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032182" y="3306128"/>
              <a:ext cx="5626418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590348" y="330612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853612" y="330612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27230" y="5380196"/>
              <a:ext cx="25834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对例 4.5 的矩阵做 QR 迭代（numpy 复算）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892" y="6028373"/>
              <a:ext cx="101849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4.6 应用：本章开头的 PageRank；原课件 4.1 还提到振动系统的频率与振幅、物理学中临界值的确定，都归结为特征值问题。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自测题（一）幂法及其变体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乘幂法收敛的前提是什么？收敛快慢由什么决定？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355532"/>
              <a:ext cx="47628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有完全特征向量系，主特征值唯一 |λ₁| &gt; |λ₂|，初始向量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α₁ ≠ 0；速度由 |λ₂/λ₁| 决定，越小越快。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485900"/>
            <a:chOff x="533400" y="3179445"/>
            <a:chExt cx="5410200" cy="1485900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3809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反幂法每步解什么方程？为什么先做 LU 分解？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010977"/>
              <a:ext cx="48400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Ax⁽ᵏ⁺¹⁾ = y⁽ᵏ⁾。A 不变，分解一次约 n³/3 次乘除，之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后每步只解两个三角方程组，约 n² 次。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835842"/>
            <a:ext cx="5410200" cy="1485900"/>
            <a:chOff x="533400" y="4835842"/>
            <a:chExt cx="5410200" cy="1485900"/>
          </a:xfrm>
        </p:grpSpPr>
        <p:sp>
          <p:nvSpPr>
            <p:cNvPr id="19" name="Rectangle 19"/>
            <p:cNvSpPr/>
            <p:nvPr/>
          </p:nvSpPr>
          <p:spPr>
            <a:xfrm>
              <a:off x="533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366385"/>
              <a:ext cx="48701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max(x⁽ᵏ⁾) 奇数步、偶数步趋于两个不同的值，说明什么？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7457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很可能 λ₁ = −λ₂。相邻两步 max 的乘积趋于 λ₁²，开方得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±λ₁。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48212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(2 1; 1 2)，x⁽⁰⁾ = (1, 0)ᵀ，做两步规范化乘幂法。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x⁽¹⁾ = (2, 1)ᵀ，y⁽¹⁾ = (1, 0.5)ᵀ；x⁽²⁾ = (2.5, 2)ᵀ，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y⁽²⁾ = (1, 0.8)ᵀ；max 趋于 λ₁ = 3。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743075"/>
            <a:chOff x="6248400" y="3179445"/>
            <a:chExt cx="5410200" cy="1743075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47028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4.1 的特征值为 6、3、2，用原点平移求 λ₁，λ₀ 取多少最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好？收敛因子变为多少？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268152"/>
              <a:ext cx="47285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λ₀* = (3 + 2)/2 = 2.5，ω = 0.5/3.5 ≈ 0.143，不平移时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0.5。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5093018"/>
            <a:ext cx="5410200" cy="1228725"/>
            <a:chOff x="6248400" y="5093018"/>
            <a:chExt cx="5410200" cy="1228725"/>
          </a:xfrm>
        </p:grpSpPr>
        <p:sp>
          <p:nvSpPr>
            <p:cNvPr id="37" name="Rectangle 37"/>
            <p:cNvSpPr/>
            <p:nvPr/>
          </p:nvSpPr>
          <p:spPr>
            <a:xfrm>
              <a:off x="6248400" y="5093018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52797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53125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623560"/>
              <a:ext cx="36834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反幂法迭代表里的 1/max(x⁽ᵏ⁾) 近似什么？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923598"/>
              <a:ext cx="4855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按模最小的特征值 λₙ；对 A − λ₀I 迭代时还要加回 λ₀。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68789" cy="909257"/>
            <a:chOff x="520446" y="342900"/>
            <a:chExt cx="77687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687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自测题（二）反幂法平移、Jacobi 法与 PageRank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69473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的特征值为 1、2、3，求离 2.9 最近的特征值，每步误差约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乘多少？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50660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用反幂法加原点平移（λ₀ = 2.9），r = 0.1/0.9 ≈ 0.11。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485900"/>
            <a:chOff x="533400" y="3179445"/>
            <a:chExt cx="5410200" cy="1485900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44797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法每次旋转后 τ(A) 怎样变？为什么一定收敛？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010977"/>
              <a:ext cx="46771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 减少 2aᵢⱼ²；aᵢⱼ² ≥ τ/(n(n − 1))，每步 τ 至少乘 1 −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2/(n(n − 1))。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835842"/>
            <a:ext cx="5410200" cy="1485900"/>
            <a:chOff x="533400" y="4835842"/>
            <a:chExt cx="5410200" cy="1485900"/>
          </a:xfrm>
        </p:grpSpPr>
        <p:sp>
          <p:nvSpPr>
            <p:cNvPr id="19" name="Rectangle 19"/>
            <p:cNvSpPr/>
            <p:nvPr/>
          </p:nvSpPr>
          <p:spPr>
            <a:xfrm>
              <a:off x="533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366385"/>
              <a:ext cx="51501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过关法中 n = 4、γ₀ = 2、ε = 10⁻³，要到第几轮阈值？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γᵣ = 2/4ʳ ≤ 10⁻³ 要求 4ʳ ≥ 2000，4⁵ = 1024 不够，第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轮。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3410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A = (1 2; 2 1) 做一次 Jacobi 旋转。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7543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a₁₁ = a₂₂，θ = π/4；PᵀAP = diag(−1, 3)，特征向量 (1,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−1)ᵀ/√2、(1, 1)ᵀ/√2。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485900"/>
            <a:chOff x="6248400" y="3179445"/>
            <a:chExt cx="5410200" cy="1485900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4992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PageRank 的 M 为什么有特征值 1，且没有模更大的特征值？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010977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每列和为 1，Mᵀe = e，M 与 Mᵀ 特征值相同；|λ| ≤ ‖M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‖₁ = 1。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835842"/>
            <a:ext cx="5410200" cy="1485900"/>
            <a:chOff x="6248400" y="4835842"/>
            <a:chExt cx="5410200" cy="1485900"/>
          </a:xfrm>
        </p:grpSpPr>
        <p:sp>
          <p:nvSpPr>
            <p:cNvPr id="37" name="Rectangle 37"/>
            <p:cNvSpPr/>
            <p:nvPr/>
          </p:nvSpPr>
          <p:spPr>
            <a:xfrm>
              <a:off x="6248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366385"/>
              <a:ext cx="4655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法结束时 Sₖ 的列与 Aₖ₊₁ 的对角元是什么关系？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666423"/>
              <a:ext cx="48592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Sₖ 的第 i 列是对角元 (Aₖ₊₁)ᵢᵢ 对应的近似特征向量。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858899" cy="909257"/>
            <a:chOff x="520446" y="342900"/>
            <a:chExt cx="18588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第4章 特征值计算 · 小结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6059805" cy="2973705"/>
            <a:chOff x="533400" y="1524000"/>
            <a:chExt cx="6059805" cy="29737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2299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9276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求得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02936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收敛快慢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乘幂法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50364" y="2076450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按模最大的 λ₁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74476" y="207645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|λ₂/λ₁|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6791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72678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原点平移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50364" y="2501265"/>
              <a:ext cx="916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λ₁ = μ₁ + λ₀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74476" y="2501265"/>
              <a:ext cx="17649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maxⱼ|λⱼ − λ₀|/|λ₁ − λ₀|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9273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29260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50364" y="2926080"/>
              <a:ext cx="18537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按模最小的 λₙ（取倒数）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4476" y="2926080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|λₙ/λₙ₋₁|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165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221355"/>
              <a:ext cx="605980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456622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 + 平移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50364" y="3456622"/>
              <a:ext cx="11591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 λ₀ 最近的 λⱼ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74476" y="3349942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|λⱼ − λ₀|/minᵢ≠ⱼ|λᵢ −</a:t>
              </a:r>
              <a:br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λ₀|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8547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4094798"/>
              <a:ext cx="10704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旋转法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150364" y="4094798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实对称阵的全部特征对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74476" y="3988118"/>
              <a:ext cx="16200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 每步乘 ≤ 1 − 2/(n(n−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6059805" cy="29737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043112" y="1524000"/>
              <a:ext cx="9525" cy="2973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467225" y="1524000"/>
              <a:ext cx="9525" cy="29737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bullets-2"/>
          <p:cNvGrpSpPr/>
          <p:nvPr/>
        </p:nvGrpSpPr>
        <p:grpSpPr>
          <a:xfrm>
            <a:off x="533400" y="4689158"/>
            <a:ext cx="6030445" cy="1215485"/>
            <a:chOff x="533400" y="4689158"/>
            <a:chExt cx="6030445" cy="1215485"/>
          </a:xfrm>
        </p:grpSpPr>
        <p:sp>
          <p:nvSpPr>
            <p:cNvPr id="36" name="Ellipse 36"/>
            <p:cNvSpPr/>
            <p:nvPr/>
          </p:nvSpPr>
          <p:spPr>
            <a:xfrm>
              <a:off x="533400" y="4689158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1745" y="472854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4293" y="4701064"/>
              <a:ext cx="57395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幂法类的分析都从 x⁽⁰⁾ = Σ αⱼvⱼ 展开出发，比较各项 |λⱼ|ᵏ 的增长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33400" y="5015865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1745" y="505525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4293" y="5027771"/>
              <a:ext cx="555091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规范化用带符号的按模最大分量；反幂法先 LU 分解，结果取倒数再加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 λ₀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33400" y="5614035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745" y="56534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4293" y="5625941"/>
              <a:ext cx="45800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法选 θ 使 cᵢⱼ = 0，特征向量是 P₁P₂⋯Pₖ 的列</a:t>
              </a:r>
            </a:p>
          </p:txBody>
        </p:sp>
      </p:grpSp>
      <p:grpSp>
        <p:nvGrpSpPr>
          <p:cNvPr id="66" name="c2-card-1"/>
          <p:cNvGrpSpPr/>
          <p:nvPr/>
        </p:nvGrpSpPr>
        <p:grpSpPr>
          <a:xfrm>
            <a:off x="6898005" y="1524000"/>
            <a:ext cx="4760595" cy="4324350"/>
            <a:chOff x="6898005" y="1524000"/>
            <a:chExt cx="4760595" cy="4324350"/>
          </a:xfrm>
        </p:grpSpPr>
        <p:sp>
          <p:nvSpPr>
            <p:cNvPr id="46" name="Rectangle 46"/>
            <p:cNvSpPr/>
            <p:nvPr/>
          </p:nvSpPr>
          <p:spPr>
            <a:xfrm>
              <a:off x="6898005" y="1524000"/>
              <a:ext cx="4760595" cy="4324350"/>
            </a:xfrm>
            <a:prstGeom prst="roundRect">
              <a:avLst>
                <a:gd name="adj" fmla="val 30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907530" y="1657350"/>
              <a:ext cx="47625" cy="40576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34225" y="172212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93661" y="17564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141845" y="214312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298436" y="2082641"/>
              <a:ext cx="376555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4.1 迭代表第 3 分量与 k = 3 行 max（第 40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41845" y="27317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98436" y="2672239"/>
              <a:ext cx="384670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 表 4.1 的 y 列与“x⁽²⁾ = Ay⁽¹⁾”（第 51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41845" y="332136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98436" y="3260884"/>
              <a:ext cx="36972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4.3 表 4.2 中 B 的 k = 1 行（第 61 页）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141845" y="363950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98436" y="3579019"/>
              <a:ext cx="41531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反幂法平移中“最小特征值 μ”的说法（第 63 页）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141845" y="395668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298436" y="3897154"/>
              <a:ext cx="27098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4.4 的 λ 近似值（第 66 页）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141845" y="427482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98436" y="4214336"/>
              <a:ext cx="38647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τ 递推式下标、过关法停止条件下标（第 83、94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141845" y="48634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298436" y="4803934"/>
              <a:ext cx="35942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程序的 max(B) 与死循环分支（第 87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141845" y="545306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298436" y="5392579"/>
              <a:ext cx="38118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4.5 的 P₁ 与 S = P₁⋯P₇（第 89、91 页）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第4章 矩阵特征值与特征向量的计算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numa_ch4">
  <a:themeElements>
    <a:clrScheme name="numa_ch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uma_ch4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uma_ch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2026-09-17T09:24:25Z</dcterms:created>
  <dcterms:modified xsi:type="dcterms:W3CDTF">2026-09-17T09:24:25Z</dcterms:modified>
  <cp:category/>
  <cp:contentStatus/>
</cp:coreProperties>
</file>