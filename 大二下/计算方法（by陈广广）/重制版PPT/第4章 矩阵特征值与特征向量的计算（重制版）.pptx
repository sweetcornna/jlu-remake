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numa_ch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numa_ch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8e1cfcf06b2330e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9e24bf8311b4046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d3e26bf49df5b66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8274" y="1619250"/>
            <a:ext cx="6072759" cy="3352038"/>
            <a:chOff x="668274" y="1619250"/>
            <a:chExt cx="6072759" cy="3352038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计算方法 · 第4章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8274" y="2403158"/>
              <a:ext cx="607275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矩阵特征值与特征向量的计算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061335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381375"/>
              <a:ext cx="47881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乘幂法、反幂法、原点平移与 Jacobi 旋转法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89096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835718"/>
              <a:ext cx="2025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PageRank 看特征向量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18147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12623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乘幂法与规范化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4719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4167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反幂法与原点平移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7625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07255"/>
              <a:ext cx="11734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Jacobi 旋转法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067442" cy="205359"/>
            <a:chOff x="680466" y="6192202"/>
            <a:chExt cx="406744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自学复习版｜据吉林大学《计算方法》第4章课件整理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15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引入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49698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特征值的定义与几何意义，PageRank 为什么是一个特征向量问题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 幂法及其变体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乘幂法与规范化，反幂法，原点平移，反幂法求指定特征值的特征向量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9309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 Jacobi 旋转法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51823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平面旋转阵、元素变换公式、选角、收敛性、特征向量累积、过关法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873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4.4–4.6 补充速览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42901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原课件只有标题页：Householder 变换、QR 方法与应用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自测与小结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 道自测题，方法对比与更正汇总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444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说出乘幂法收敛的前提，以及收敛速度由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|λ₂/λ₁| 决定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手算规范化乘幂法、反幂法的前几步，填出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迭代表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577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LU 分解实现反幂法，会选原点平移参数</a:t>
              </a:r>
              <a:br/>
              <a:r>
                <a:rPr lang="el-GR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320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手算一次 Jacobi 旋转：定 θ、写 P、求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PᵀAP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PageRank 向量为什么是特征值 1 的特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征向量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引入：特征值问题从哪里来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先弄清定义和几何意义，再看网页排名怎样变成求特征向量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4.1 特征值与特征向量的定义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153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几何直观：Av 与 v 共线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35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PageRank：链接矩阵的特征向量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8504" cy="909257"/>
            <a:chOff x="520446" y="342900"/>
            <a:chExt cx="68885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引入：特征值问题从哪里来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85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特征值问题：求数 λ，使 Ax = λx 有非零解 x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735002" cy="1937385"/>
            <a:chOff x="533400" y="1524000"/>
            <a:chExt cx="5735002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735002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特征值与特征向量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213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= (aᵢⱼ) ∈ Rⁿˣⁿ。若存在数 λ 和非零向量 x ∈ Rⁿ，使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formula5"/>
                <p:cNvSpPr txBox="1">
                  <a:spLocks noGrp="1"/>
                </p:cNvSpPr>
                <p:nvPr/>
              </p:nvSpPr>
              <p:spPr>
                <a:xfrm>
                  <a:off x="781050" y="2440305"/>
                  <a:ext cx="527780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Ax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λx</m:t>
                        </m:r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  <m:r>
                              <m:rPr>
                                <m:sty m:val="p"/>
                              </m:r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e>
                        </m:d>
                        <m:r>
                          <a:rPr lang="zh-CN" sz="18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8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4.1.1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4" name="TextBox 14"/>
            <p:cNvSpPr txBox="1"/>
            <p:nvPr/>
          </p:nvSpPr>
          <p:spPr>
            <a:xfrm>
              <a:off x="773430" y="3017520"/>
              <a:ext cx="4776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则称 λ 为 A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特征值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，x 为 A 相应于 λ 的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特征向量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651885"/>
            <a:ext cx="5735002" cy="2394585"/>
            <a:chOff x="533400" y="3651885"/>
            <a:chExt cx="5735002" cy="2394585"/>
          </a:xfrm>
        </p:grpSpPr>
        <p:sp>
          <p:nvSpPr>
            <p:cNvPr id="16" name="Rectangle 16"/>
            <p:cNvSpPr/>
            <p:nvPr/>
          </p:nvSpPr>
          <p:spPr>
            <a:xfrm>
              <a:off x="533400" y="3651885"/>
              <a:ext cx="5735002" cy="2394585"/>
            </a:xfrm>
            <a:prstGeom prst="roundRect">
              <a:avLst>
                <a:gd name="adj" fmla="val 556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42950" y="38614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0356" y="38971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求解分两步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42950" y="422529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4799" y="426758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3940" y="4238625"/>
              <a:ext cx="43567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求特征值：解特征方程（φ(λ) 称为特征多项式）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6"/>
                <p:cNvSpPr txBox="1">
                  <a:spLocks noGrp="1"/>
                </p:cNvSpPr>
                <p:nvPr/>
              </p:nvSpPr>
              <p:spPr>
                <a:xfrm>
                  <a:off x="742950" y="4549140"/>
                  <a:ext cx="531590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λI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4.1.2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3" name="Ellipse 23"/>
            <p:cNvSpPr/>
            <p:nvPr/>
          </p:nvSpPr>
          <p:spPr>
            <a:xfrm>
              <a:off x="742950" y="5074920"/>
              <a:ext cx="213360" cy="2133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4799" y="511721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3940" y="508825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求特征向量：对每个 λ 解齐次方程组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7"/>
                <p:cNvSpPr txBox="1">
                  <a:spLocks noGrp="1"/>
                </p:cNvSpPr>
                <p:nvPr/>
              </p:nvSpPr>
              <p:spPr>
                <a:xfrm>
                  <a:off x="742950" y="5398770"/>
                  <a:ext cx="5315902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λI</m:t>
                            </m:r>
                          </m:e>
                        </m:d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a:rPr lang="zh-CN" sz="16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4.1.3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rd-1"/>
          <p:cNvGrpSpPr/>
          <p:nvPr/>
        </p:nvGrpSpPr>
        <p:grpSpPr>
          <a:xfrm>
            <a:off x="6573202" y="1524000"/>
            <a:ext cx="5085398" cy="2195512"/>
            <a:chOff x="6573202" y="1524000"/>
            <a:chExt cx="5085398" cy="2195512"/>
          </a:xfrm>
        </p:grpSpPr>
        <p:sp>
          <p:nvSpPr>
            <p:cNvPr id="28" name="Rectangle 28"/>
            <p:cNvSpPr/>
            <p:nvPr/>
          </p:nvSpPr>
          <p:spPr>
            <a:xfrm>
              <a:off x="6573202" y="1524000"/>
              <a:ext cx="5085398" cy="2195512"/>
            </a:xfrm>
            <a:prstGeom prst="roundRect">
              <a:avLst>
                <a:gd name="adj" fmla="val 6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582728" y="1657350"/>
              <a:ext cx="47625" cy="19288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820852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1501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79005" y="1768792"/>
              <a:ext cx="14602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(2 1; 1 2)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8"/>
                <p:cNvSpPr txBox="1">
                  <a:spLocks noGrp="1"/>
                </p:cNvSpPr>
                <p:nvPr/>
              </p:nvSpPr>
              <p:spPr>
                <a:xfrm>
                  <a:off x="6820852" y="2105025"/>
                  <a:ext cx="4628198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φ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</m:d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Ellipse 34"/>
            <p:cNvSpPr/>
            <p:nvPr/>
          </p:nvSpPr>
          <p:spPr>
            <a:xfrm>
              <a:off x="6826568" y="27070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84683" y="2644140"/>
              <a:ext cx="33034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3：(A − 3I)x = 0 得 x = (1, 1)ᵀ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826568" y="304228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84683" y="2979420"/>
              <a:ext cx="3299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= 1：(A − I)x = 0 得 x = (1, −1)ᵀ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14376" y="331136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特征向量乘任意非零常数仍是特征向量。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6573202" y="3910012"/>
            <a:ext cx="5085398" cy="2136458"/>
            <a:chOff x="6573202" y="3910012"/>
            <a:chExt cx="5085398" cy="2136458"/>
          </a:xfrm>
        </p:grpSpPr>
        <p:sp>
          <p:nvSpPr>
            <p:cNvPr id="40" name="Rectangle 40"/>
            <p:cNvSpPr/>
            <p:nvPr/>
          </p:nvSpPr>
          <p:spPr>
            <a:xfrm>
              <a:off x="6573202" y="3910012"/>
              <a:ext cx="5085398" cy="2136458"/>
            </a:xfrm>
            <a:prstGeom prst="roundRect">
              <a:avLst>
                <a:gd name="adj" fmla="val 535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65932" y="4875013"/>
              <a:ext cx="224134" cy="192560"/>
              <a:chOff x="6765932" y="4875013"/>
              <a:chExt cx="224134" cy="19256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878003" y="494538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765932" y="487501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78003" y="50231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079933" y="4321492"/>
              <a:ext cx="4206240" cy="1398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 阶矩阵的 φ(λ) 是 n 次多项式。5 次及以上的方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程没有通用求根公式，展开行列式又很费事，高次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多项式的根对系数误差也很敏感，所以实际计算不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走“先求特征多项式”这条路，而是直接对矩阵迭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代或做相似变换。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16065" cy="909257"/>
            <a:chOff x="520446" y="342900"/>
            <a:chExt cx="80160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引入：特征值问题从哪里来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160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几何直观：特征向量被 A 作用后方向不变，只被拉伸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787718" y="1547336"/>
            <a:ext cx="5043208" cy="4500087"/>
            <a:chOff x="787718" y="1547336"/>
            <a:chExt cx="5043208" cy="4500087"/>
          </a:xfrm>
        </p:grpSpPr>
        <p:sp>
          <p:nvSpPr>
            <p:cNvPr id="7" name="Freeform 7"/>
            <p:cNvSpPr/>
            <p:nvPr/>
          </p:nvSpPr>
          <p:spPr>
            <a:xfrm>
              <a:off x="787718" y="4803458"/>
              <a:ext cx="4821555" cy="9525"/>
            </a:xfrm>
            <a:custGeom>
              <a:avLst/>
              <a:gdLst/>
              <a:ahLst/>
              <a:cxnLst/>
              <a:rect l="l" t="t" r="r" b="b"/>
              <a:pathLst>
                <a:path w="4821555" h="9525">
                  <a:moveTo>
                    <a:pt x="0" y="0"/>
                  </a:moveTo>
                  <a:lnTo>
                    <a:pt x="4821555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09272" y="4755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99222" y="1826895"/>
              <a:ext cx="9525" cy="4220528"/>
            </a:xfrm>
            <a:custGeom>
              <a:avLst/>
              <a:gdLst/>
              <a:ahLst/>
              <a:cxnLst/>
              <a:rect l="l" t="t" r="r" b="b"/>
              <a:pathLst>
                <a:path w="9525" h="4220528">
                  <a:moveTo>
                    <a:pt x="0" y="4220528"/>
                  </a:moveTo>
                  <a:lnTo>
                    <a:pt x="0" y="0"/>
                  </a:lnTo>
                </a:path>
              </a:pathLst>
            </a:custGeom>
            <a:noFill/>
            <a:ln w="1143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51598" y="17316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443038" y="3915728"/>
              <a:ext cx="2006918" cy="868680"/>
            </a:xfrm>
            <a:custGeom>
              <a:avLst/>
              <a:gdLst/>
              <a:ahLst/>
              <a:cxnLst/>
              <a:rect l="l" t="t" r="r" b="b"/>
              <a:pathLst>
                <a:path w="2006918" h="868680">
                  <a:moveTo>
                    <a:pt x="0" y="868680"/>
                  </a:moveTo>
                  <a:lnTo>
                    <a:pt x="2006918" y="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430905" y="3871912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5715"/>
                  </a:moveTo>
                  <a:lnTo>
                    <a:pt x="37148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46848" y="4803458"/>
              <a:ext cx="910590" cy="9525"/>
            </a:xfrm>
            <a:custGeom>
              <a:avLst/>
              <a:gdLst/>
              <a:ahLst/>
              <a:cxnLst/>
              <a:rect l="l" t="t" r="r" b="b"/>
              <a:pathLst>
                <a:path w="910590" h="9525">
                  <a:moveTo>
                    <a:pt x="0" y="0"/>
                  </a:moveTo>
                  <a:lnTo>
                    <a:pt x="91059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357438" y="47558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435418" y="2073592"/>
              <a:ext cx="3116580" cy="2698432"/>
            </a:xfrm>
            <a:custGeom>
              <a:avLst/>
              <a:gdLst/>
              <a:ahLst/>
              <a:cxnLst/>
              <a:rect l="l" t="t" r="r" b="b"/>
              <a:pathLst>
                <a:path w="3116580" h="2698432">
                  <a:moveTo>
                    <a:pt x="0" y="2698432"/>
                  </a:moveTo>
                  <a:lnTo>
                    <a:pt x="3116580" y="0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20565" y="2010728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1912" y="99060"/>
                  </a:lnTo>
                  <a:lnTo>
                    <a:pt x="0" y="2667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435418" y="3947160"/>
              <a:ext cx="952500" cy="824865"/>
            </a:xfrm>
            <a:custGeom>
              <a:avLst/>
              <a:gdLst/>
              <a:ahLst/>
              <a:cxnLst/>
              <a:rect l="l" t="t" r="r" b="b"/>
              <a:pathLst>
                <a:path w="952500" h="824865">
                  <a:moveTo>
                    <a:pt x="0" y="824865"/>
                  </a:moveTo>
                  <a:lnTo>
                    <a:pt x="9525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356485" y="3885248"/>
              <a:ext cx="102870" cy="98108"/>
            </a:xfrm>
            <a:custGeom>
              <a:avLst/>
              <a:gdLst/>
              <a:ahLst/>
              <a:cxnLst/>
              <a:rect l="l" t="t" r="r" b="b"/>
              <a:pathLst>
                <a:path w="102870" h="98108">
                  <a:moveTo>
                    <a:pt x="102870" y="0"/>
                  </a:moveTo>
                  <a:lnTo>
                    <a:pt x="61912" y="98108"/>
                  </a:lnTo>
                  <a:lnTo>
                    <a:pt x="0" y="2571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435418" y="4833938"/>
              <a:ext cx="952500" cy="824865"/>
            </a:xfrm>
            <a:custGeom>
              <a:avLst/>
              <a:gdLst/>
              <a:ahLst/>
              <a:cxnLst/>
              <a:rect l="l" t="t" r="r" b="b"/>
              <a:pathLst>
                <a:path w="952500" h="824865">
                  <a:moveTo>
                    <a:pt x="0" y="0"/>
                  </a:moveTo>
                  <a:lnTo>
                    <a:pt x="952500" y="824865"/>
                  </a:lnTo>
                </a:path>
              </a:pathLst>
            </a:custGeom>
            <a:noFill/>
            <a:ln w="24765">
              <a:solidFill>
                <a:srgbClr val="2E7D4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56485" y="5622608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99060"/>
                  </a:moveTo>
                  <a:lnTo>
                    <a:pt x="0" y="72390"/>
                  </a:lnTo>
                  <a:lnTo>
                    <a:pt x="61912" y="0"/>
                  </a:lnTo>
                  <a:close/>
                </a:path>
              </a:pathLst>
            </a:custGeom>
            <a:solidFill>
              <a:srgbClr val="2E7D4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361122" y="4765358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2462212" y="4784408"/>
              <a:ext cx="38100" cy="381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544252" y="3847148"/>
              <a:ext cx="38100" cy="381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2462212" y="3847148"/>
              <a:ext cx="38100" cy="381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4626292" y="1973580"/>
              <a:ext cx="38100" cy="381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2462212" y="5720715"/>
              <a:ext cx="38100" cy="381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32424" y="47334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49971" y="15473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03198" y="4747260"/>
              <a:ext cx="1055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06923" y="4858702"/>
              <a:ext cx="5486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v = (1,0)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34740" y="3810000"/>
              <a:ext cx="6324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Av = (2,1)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67115" y="3810000"/>
              <a:ext cx="3427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(1,1)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31438" y="1936432"/>
              <a:ext cx="114246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A(1,1)ᵀ = 3(1,1)ᵀ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52700" y="5684520"/>
              <a:ext cx="144924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(1,−1) 与 A(1,−1)ᵀ 重合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242685" y="1524000"/>
            <a:ext cx="5415915" cy="2446497"/>
            <a:chOff x="6242685" y="1524000"/>
            <a:chExt cx="5415915" cy="2446497"/>
          </a:xfrm>
        </p:grpSpPr>
        <p:sp>
          <p:nvSpPr>
            <p:cNvPr id="36" name="Rectangle 36"/>
            <p:cNvSpPr/>
            <p:nvPr/>
          </p:nvSpPr>
          <p:spPr>
            <a:xfrm>
              <a:off x="6248400" y="1524000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9097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931357" y="1655445"/>
              <a:ext cx="204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Av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595314" y="1655445"/>
              <a:ext cx="10976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Av 与 v 的关系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32298" y="208502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0)ᵀ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36510" y="2085022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1)ᵀ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34044" y="2085022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不共线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，方向被转动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248400" y="23793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48400" y="2384108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32298" y="251555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 1)ᵀ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36510" y="2515552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(5, 4)ᵀ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34044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不共线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28098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32298" y="2946082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1)ᵀ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36510" y="2946082"/>
              <a:ext cx="5937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 3)ᵀ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34044" y="2946082"/>
              <a:ext cx="1923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Av = 3v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，特征向量，λ = 3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3239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324421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85653" y="3375660"/>
              <a:ext cx="716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−1)ᵀ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92085" y="337566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−1)ᵀ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34044" y="3375660"/>
              <a:ext cx="2018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Av = 1·v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，特征向量，λ = 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1524000"/>
              <a:ext cx="5410200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434262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623935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42685" y="3750469"/>
              <a:ext cx="2546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(2 1; 1 2)，与上一页的例子相同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6248400" y="4111942"/>
            <a:ext cx="5410200" cy="2097405"/>
            <a:chOff x="6248400" y="4111942"/>
            <a:chExt cx="5410200" cy="2097405"/>
          </a:xfrm>
        </p:grpSpPr>
        <p:sp>
          <p:nvSpPr>
            <p:cNvPr id="62" name="Rectangle 62"/>
            <p:cNvSpPr/>
            <p:nvPr/>
          </p:nvSpPr>
          <p:spPr>
            <a:xfrm>
              <a:off x="6248400" y="4111942"/>
              <a:ext cx="5410200" cy="2097405"/>
            </a:xfrm>
            <a:prstGeom prst="roundRect">
              <a:avLst>
                <a:gd name="adj" fmla="val 63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4245292"/>
              <a:ext cx="47625" cy="18307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90335" y="431577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72644" y="4351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怎样看图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497955" y="474821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654546" y="4688681"/>
              <a:ext cx="29516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一般的 v 经 A 作用后既伸缩又转向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497955" y="506825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54546" y="5008721"/>
              <a:ext cx="444182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特征向量方向上 A 只做伸缩，伸缩倍数就是 λ；λ &lt; 0 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方向反过来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484239" y="5595938"/>
              <a:ext cx="46908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原课件用动画演示：拖动 v 的位置，Av 与 v 落在同一条过原点的直线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上时，v 就是特征向量。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1577" cy="909257"/>
            <a:chOff x="520446" y="342900"/>
            <a:chExt cx="75615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引入：特征值问题从哪里来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15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PageRank：4 个网页的得分向量满足 Pr = M·Pr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graph-1"/>
          <p:cNvGrpSpPr/>
          <p:nvPr/>
        </p:nvGrpSpPr>
        <p:grpSpPr>
          <a:xfrm>
            <a:off x="1169988" y="1672908"/>
            <a:ext cx="3151504" cy="1807908"/>
            <a:chOff x="1169988" y="1672908"/>
            <a:chExt cx="3151504" cy="1807908"/>
          </a:xfrm>
        </p:grpSpPr>
        <p:sp>
          <p:nvSpPr>
            <p:cNvPr id="7" name="Freeform 7"/>
            <p:cNvSpPr/>
            <p:nvPr/>
          </p:nvSpPr>
          <p:spPr>
            <a:xfrm>
              <a:off x="1586865" y="1990725"/>
              <a:ext cx="2351722" cy="420687"/>
            </a:xfrm>
            <a:custGeom>
              <a:avLst/>
              <a:gdLst/>
              <a:ahLst/>
              <a:cxnLst/>
              <a:rect l="l" t="t" r="r" b="b"/>
              <a:pathLst>
                <a:path w="2351722" h="420687">
                  <a:moveTo>
                    <a:pt x="0" y="0"/>
                  </a:moveTo>
                  <a:cubicBezTo>
                    <a:pt x="812800" y="406400"/>
                    <a:pt x="1596708" y="420687"/>
                    <a:pt x="2351722" y="42862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917632" y="1990725"/>
              <a:ext cx="106680" cy="84773"/>
            </a:xfrm>
            <a:custGeom>
              <a:avLst/>
              <a:gdLst/>
              <a:ahLst/>
              <a:cxnLst/>
              <a:rect l="l" t="t" r="r" b="b"/>
              <a:pathLst>
                <a:path w="106680" h="84773">
                  <a:moveTo>
                    <a:pt x="106680" y="0"/>
                  </a:moveTo>
                  <a:lnTo>
                    <a:pt x="42862" y="847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691640" y="1672908"/>
              <a:ext cx="2320290" cy="206375"/>
            </a:xfrm>
            <a:custGeom>
              <a:avLst/>
              <a:gdLst/>
              <a:ahLst/>
              <a:cxnLst/>
              <a:rect l="l" t="t" r="r" b="b"/>
              <a:pathLst>
                <a:path w="2320290" h="206375">
                  <a:moveTo>
                    <a:pt x="2320290" y="206375"/>
                  </a:moveTo>
                  <a:cubicBezTo>
                    <a:pt x="1516380" y="7620"/>
                    <a:pt x="742950" y="0"/>
                    <a:pt x="0" y="18351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9248" y="1810702"/>
              <a:ext cx="103823" cy="92393"/>
            </a:xfrm>
            <a:custGeom>
              <a:avLst/>
              <a:gdLst/>
              <a:ahLst/>
              <a:cxnLst/>
              <a:rect l="l" t="t" r="r" b="b"/>
              <a:pathLst>
                <a:path w="103823" h="92393">
                  <a:moveTo>
                    <a:pt x="0" y="68580"/>
                  </a:moveTo>
                  <a:lnTo>
                    <a:pt x="80962" y="0"/>
                  </a:lnTo>
                  <a:lnTo>
                    <a:pt x="103823" y="9239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169988" y="2063115"/>
              <a:ext cx="199708" cy="1027748"/>
            </a:xfrm>
            <a:custGeom>
              <a:avLst/>
              <a:gdLst/>
              <a:ahLst/>
              <a:cxnLst/>
              <a:rect l="l" t="t" r="r" b="b"/>
              <a:pathLst>
                <a:path w="199708" h="1027748">
                  <a:moveTo>
                    <a:pt x="199708" y="0"/>
                  </a:moveTo>
                  <a:cubicBezTo>
                    <a:pt x="14288" y="370840"/>
                    <a:pt x="0" y="713422"/>
                    <a:pt x="156845" y="102774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284922" y="3068955"/>
              <a:ext cx="84773" cy="106680"/>
            </a:xfrm>
            <a:custGeom>
              <a:avLst/>
              <a:gdLst/>
              <a:ahLst/>
              <a:cxnLst/>
              <a:rect l="l" t="t" r="r" b="b"/>
              <a:pathLst>
                <a:path w="84773" h="106680">
                  <a:moveTo>
                    <a:pt x="84773" y="106680"/>
                  </a:moveTo>
                  <a:lnTo>
                    <a:pt x="0" y="42862"/>
                  </a:lnTo>
                  <a:lnTo>
                    <a:pt x="8477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14475" y="2147888"/>
              <a:ext cx="199708" cy="1027747"/>
            </a:xfrm>
            <a:custGeom>
              <a:avLst/>
              <a:gdLst/>
              <a:ahLst/>
              <a:cxnLst/>
              <a:rect l="l" t="t" r="r" b="b"/>
              <a:pathLst>
                <a:path w="199708" h="1027747">
                  <a:moveTo>
                    <a:pt x="0" y="1027747"/>
                  </a:moveTo>
                  <a:cubicBezTo>
                    <a:pt x="185420" y="656907"/>
                    <a:pt x="199708" y="314325"/>
                    <a:pt x="4286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514475" y="2063115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0"/>
                  </a:moveTo>
                  <a:lnTo>
                    <a:pt x="85725" y="63818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585912" y="1992630"/>
              <a:ext cx="2354580" cy="1210628"/>
            </a:xfrm>
            <a:custGeom>
              <a:avLst/>
              <a:gdLst/>
              <a:ahLst/>
              <a:cxnLst/>
              <a:rect l="l" t="t" r="r" b="b"/>
              <a:pathLst>
                <a:path w="2354580" h="1210628">
                  <a:moveTo>
                    <a:pt x="0" y="0"/>
                  </a:moveTo>
                  <a:lnTo>
                    <a:pt x="2354580" y="12106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918585" y="316039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85725"/>
                  </a:moveTo>
                  <a:lnTo>
                    <a:pt x="0" y="84772"/>
                  </a:lnTo>
                  <a:lnTo>
                    <a:pt x="438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585912" y="2035492"/>
              <a:ext cx="2354580" cy="1210628"/>
            </a:xfrm>
            <a:custGeom>
              <a:avLst/>
              <a:gdLst/>
              <a:ahLst/>
              <a:cxnLst/>
              <a:rect l="l" t="t" r="r" b="b"/>
              <a:pathLst>
                <a:path w="2354580" h="1210628">
                  <a:moveTo>
                    <a:pt x="0" y="1210628"/>
                  </a:moveTo>
                  <a:lnTo>
                    <a:pt x="235458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918585" y="199263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106680" y="0"/>
                  </a:moveTo>
                  <a:lnTo>
                    <a:pt x="43815" y="8572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169092" y="2080260"/>
              <a:ext cx="9525" cy="982980"/>
            </a:xfrm>
            <a:custGeom>
              <a:avLst/>
              <a:gdLst/>
              <a:ahLst/>
              <a:cxnLst/>
              <a:rect l="l" t="t" r="r" b="b"/>
              <a:pathLst>
                <a:path w="9525" h="982980">
                  <a:moveTo>
                    <a:pt x="0" y="0"/>
                  </a:moveTo>
                  <a:lnTo>
                    <a:pt x="0" y="98298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121468" y="30632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699260" y="3320415"/>
              <a:ext cx="2307908" cy="9525"/>
            </a:xfrm>
            <a:custGeom>
              <a:avLst/>
              <a:gdLst/>
              <a:ahLst/>
              <a:cxnLst/>
              <a:rect l="l" t="t" r="r" b="b"/>
              <a:pathLst>
                <a:path w="2307908" h="9525">
                  <a:moveTo>
                    <a:pt x="230790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1604010" y="327279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1289685" y="17659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016692" y="176593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016692" y="316801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289685" y="316801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2E7D4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86703" y="184404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13710" y="184404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13710" y="324612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86703" y="324612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37" name="c1-kv-2"/>
          <p:cNvGrpSpPr/>
          <p:nvPr/>
        </p:nvGrpSpPr>
        <p:grpSpPr>
          <a:xfrm>
            <a:off x="525780" y="3930015"/>
            <a:ext cx="4551998" cy="1297305"/>
            <a:chOff x="525780" y="3930015"/>
            <a:chExt cx="4551998" cy="1297305"/>
          </a:xfrm>
        </p:grpSpPr>
        <p:sp>
          <p:nvSpPr>
            <p:cNvPr id="32" name="TextBox 32"/>
            <p:cNvSpPr txBox="1"/>
            <p:nvPr/>
          </p:nvSpPr>
          <p:spPr>
            <a:xfrm>
              <a:off x="525780" y="39300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投票规则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66862" y="3930015"/>
              <a:ext cx="324421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网页 T 有 L(T) 条链出，每个被它链向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的网页分到 Pr(T)/L(T)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53199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5780" y="46520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得分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66862" y="4652010"/>
              <a:ext cx="319659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一个网页的 Pr 值等于链向它的网页投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来的票之和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12"/>
              <p:cNvSpPr txBox="1">
                <a:spLocks noGrp="1"/>
              </p:cNvSpPr>
              <p:nvPr/>
            </p:nvSpPr>
            <p:spPr>
              <a:xfrm>
                <a:off x="5382578" y="1524000"/>
                <a:ext cx="6276022" cy="9848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Pr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B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sSub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6" name="c2-card-2"/>
          <p:cNvGrpSpPr/>
          <p:nvPr/>
        </p:nvGrpSpPr>
        <p:grpSpPr>
          <a:xfrm>
            <a:off x="5382578" y="2699385"/>
            <a:ext cx="6276022" cy="2762250"/>
            <a:chOff x="5382578" y="2699385"/>
            <a:chExt cx="6276022" cy="2762250"/>
          </a:xfrm>
        </p:grpSpPr>
        <p:sp>
          <p:nvSpPr>
            <p:cNvPr id="39" name="Rectangle 39"/>
            <p:cNvSpPr/>
            <p:nvPr/>
          </p:nvSpPr>
          <p:spPr>
            <a:xfrm>
              <a:off x="5382578" y="2699385"/>
              <a:ext cx="6276022" cy="2762250"/>
            </a:xfrm>
            <a:prstGeom prst="roundRect">
              <a:avLst>
                <a:gd name="adj" fmla="val 482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592128" y="290893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657685" y="294465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转化为特征值问题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84508" y="3286125"/>
              <a:ext cx="5511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mᵢⱼ = 1/Lⱼ 表示网页 j 链向网页 i，否则为 0。每个网页的得分由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链入网页投票决定，写在一起就是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formula13"/>
                <p:cNvSpPr txBox="1">
                  <a:spLocks noGrp="1"/>
                </p:cNvSpPr>
                <p:nvPr/>
              </p:nvSpPr>
              <p:spPr>
                <a:xfrm>
                  <a:off x="5592128" y="3882390"/>
                  <a:ext cx="5856922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⋅</m:t>
                        </m:r>
                        <m:r>
                          <a:rPr lang="zh-CN" sz="18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Pr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4" name="TextBox 44"/>
            <p:cNvSpPr txBox="1"/>
            <p:nvPr/>
          </p:nvSpPr>
          <p:spPr>
            <a:xfrm>
              <a:off x="5584508" y="4459605"/>
              <a:ext cx="56508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 是 M 相应于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特征值 1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的特征向量，归一化（分量和为 1）后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formula14"/>
                <p:cNvSpPr txBox="1">
                  <a:spLocks noGrp="1"/>
                </p:cNvSpPr>
                <p:nvPr/>
              </p:nvSpPr>
              <p:spPr>
                <a:xfrm>
                  <a:off x="5592128" y="4770120"/>
                  <a:ext cx="5856922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Pr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34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num>
                                  <m:den>
                                    <m:r>
                                      <a:rPr lang="zh-CN" sz="135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0.26471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0.23529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0.20588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 </m:t>
                                </m:r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0.29412</m:t>
                                </m:r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130" y="5991225"/>
              <a:ext cx="74260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第2章把它当作 4 阶线性方程组来解；本章换个角度，用迭代直接求这个特征向量。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21261" cy="909257"/>
            <a:chOff x="520446" y="342900"/>
            <a:chExt cx="8321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引入：特征值问题从哪里来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21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从均匀得分出发反复左乘 M，得分逐步稳定到特征向量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27685" y="1524000"/>
            <a:ext cx="6281737" cy="3886677"/>
            <a:chOff x="527685" y="1524000"/>
            <a:chExt cx="6281737" cy="388667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722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74871" y="1659731"/>
              <a:ext cx="426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Pr_A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3611" y="1659731"/>
              <a:ext cx="426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Pr_B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72351" y="1659731"/>
              <a:ext cx="426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Pr_C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22043" y="1659731"/>
              <a:ext cx="426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Pr_D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722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9699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98439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7179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96872" y="210835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22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49699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98439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0.20833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47179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0.20833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96872" y="255698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0.33333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22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49699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0.27083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98439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47179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0.18750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96872" y="300561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0.29167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22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49699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0.27083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098439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0.23611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47179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0.21528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96872" y="34542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0.27778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722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749699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0.26736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098439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0.23843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447179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0.20023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796872" y="390382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0.29398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7467" y="435244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749699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0.26415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098439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0.23476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47179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0.20621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96872" y="435244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0.29488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66058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67467" y="480107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423035" y="4674870"/>
              <a:ext cx="132969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749699" y="480107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0.26471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771775" y="4674870"/>
              <a:ext cx="132969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098439" y="480107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0.23529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120515" y="4674870"/>
              <a:ext cx="132969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447179" y="480107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0.20588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469255" y="4674870"/>
              <a:ext cx="1329690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796872" y="4801076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0.29412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1524000"/>
              <a:ext cx="6276022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140874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275748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410622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454968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7685" y="5190649"/>
              <a:ext cx="39604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Pr⁽⁰⁾ = (¼, ¼, ¼, ¼)ᵀ；k = 23 时相邻两步之差小于 10⁻⁵</a:t>
              </a:r>
            </a:p>
          </p:txBody>
        </p:sp>
      </p:grpSp>
      <p:grpSp>
        <p:nvGrpSpPr>
          <p:cNvPr id="70" name="c2-image-1"/>
          <p:cNvGrpSpPr/>
          <p:nvPr/>
        </p:nvGrpSpPr>
        <p:grpSpPr>
          <a:xfrm>
            <a:off x="7114222" y="1524000"/>
            <a:ext cx="4544378" cy="2886552"/>
            <a:chOff x="7114222" y="1524000"/>
            <a:chExt cx="4544378" cy="2886552"/>
          </a:xfrm>
        </p:grpSpPr>
        <p:pic>
          <p:nvPicPr>
            <p:cNvPr id="68" name="Image 68"/>
            <p:cNvPicPr>
              <a:picLocks noChangeAspect="1"/>
            </p:cNvPicPr>
            <p:nvPr/>
          </p:nvPicPr>
          <p:blipFill>
            <a:blip r:embed="rId2"/>
            <a:srcRect l="0" t="12272" r="0" b="12272"/>
            <a:stretch>
              <a:fillRect/>
            </a:stretch>
          </p:blipFill>
          <p:spPr>
            <a:xfrm>
              <a:off x="7114222" y="1524000"/>
              <a:ext cx="4544378" cy="2571750"/>
            </a:xfrm>
            <a:prstGeom prst="roundRect">
              <a:avLst>
                <a:gd name="adj" fmla="val 5185"/>
              </a:avLst>
            </a:prstGeom>
          </p:spPr>
        </p:pic>
        <p:sp>
          <p:nvSpPr>
            <p:cNvPr id="69" name="TextBox 69"/>
            <p:cNvSpPr txBox="1"/>
            <p:nvPr/>
          </p:nvSpPr>
          <p:spPr>
            <a:xfrm>
              <a:off x="7420153" y="4190524"/>
              <a:ext cx="3931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浏览者沿链接随机走动，各网页前的人数比例最后稳定下来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7114222" y="4575810"/>
            <a:ext cx="4544378" cy="1059180"/>
            <a:chOff x="7114222" y="4575810"/>
            <a:chExt cx="4544378" cy="1059180"/>
          </a:xfrm>
        </p:grpSpPr>
        <p:sp>
          <p:nvSpPr>
            <p:cNvPr id="71" name="Rectangle 71"/>
            <p:cNvSpPr/>
            <p:nvPr/>
          </p:nvSpPr>
          <p:spPr>
            <a:xfrm>
              <a:off x="7114222" y="4575810"/>
              <a:ext cx="4544378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19010" y="5005388"/>
              <a:ext cx="200026" cy="200025"/>
              <a:chOff x="7319010" y="5005388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19010" y="50053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358749" y="50498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393464" y="51609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620952" y="4724400"/>
              <a:ext cx="3634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读法：M 的第 1 行依次是 A、B、C、D 转到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的比例，乘当前得分向量就是 A 的新得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分，例如 Pr_A⁽¹⁾ = ½·¼ + ½·¼ = 0.25。</a:t>
              </a:r>
            </a:p>
          </p:txBody>
        </p:sp>
      </p:grpSp>
      <p:grpSp>
        <p:nvGrpSpPr>
          <p:cNvPr id="8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8" name="Rectangle 7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1040130" y="5991225"/>
              <a:ext cx="10088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Pr⁽ᵏ⁾ = M·Pr⁽ᵏ⁻¹⁾ = Mᵏ·Pr⁽⁰⁾ 就是 4.2 节的乘幂法，每步只做一次矩阵乘向量，适合几十亿个网页的规模。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55589" cy="909257"/>
            <a:chOff x="520446" y="342900"/>
            <a:chExt cx="83555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6802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0553" y="407194"/>
              <a:ext cx="31927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引入：特征值问题从哪里来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555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再思考：M 为什么一定有特征值 1，而且 1 是主特征值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373629" cy="2695098"/>
            <a:chOff x="533400" y="1533525"/>
            <a:chExt cx="5373629" cy="2695098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46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88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0139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75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18415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的每列元素之和为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4960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j 列是网页 j 把得分平分出去的比例，所以 Mᵀe = e，e = (1, 1, 1, 1)ᵀ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52650"/>
              <a:ext cx="13567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是 M 的特征值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9826"/>
              <a:ext cx="465556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是 Mᵀ 相应于 1 的特征向量；M 与 Mᵀ 的特征多项式相同，det(M − I)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det(Mᵀ − I) =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608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没有模更大的特征值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4211"/>
              <a:ext cx="4184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对任一特征值 λ，|λ| ≤ ‖M‖₁ = 最大列和 = 1（M 的元素非负）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532822"/>
              <a:ext cx="2356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是唯一的主特征值（本例）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800951"/>
              <a:ext cx="48973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数值计算得其余特征值为 −0.3884、−0.3058 ± 0.5793i，模分别为 0.3884、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0.6551，都小于 1</a:t>
              </a:r>
            </a:p>
          </p:txBody>
        </p:sp>
      </p:grpSp>
      <p:grpSp>
        <p:nvGrpSpPr>
          <p:cNvPr id="30" name="c1-card-2"/>
          <p:cNvGrpSpPr/>
          <p:nvPr/>
        </p:nvGrpSpPr>
        <p:grpSpPr>
          <a:xfrm>
            <a:off x="533400" y="4396740"/>
            <a:ext cx="5626418" cy="1147762"/>
            <a:chOff x="533400" y="4396740"/>
            <a:chExt cx="5626418" cy="1147762"/>
          </a:xfrm>
        </p:grpSpPr>
        <p:sp>
          <p:nvSpPr>
            <p:cNvPr id="25" name="Rectangle 25"/>
            <p:cNvSpPr/>
            <p:nvPr/>
          </p:nvSpPr>
          <p:spPr>
            <a:xfrm>
              <a:off x="533400" y="4396740"/>
              <a:ext cx="5626418" cy="1147762"/>
            </a:xfrm>
            <a:prstGeom prst="roundRect">
              <a:avLst>
                <a:gd name="adj" fmla="val 116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530090"/>
              <a:ext cx="47625" cy="8810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3905" y="4589145"/>
              <a:ext cx="290417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2958" y="4623435"/>
              <a:ext cx="28670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验算：三次因子的根就是第 4 步的其余特征值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21"/>
                <p:cNvSpPr txBox="1">
                  <a:spLocks noGrp="1"/>
                </p:cNvSpPr>
                <p:nvPr/>
              </p:nvSpPr>
              <p:spPr>
                <a:xfrm>
                  <a:off x="763905" y="4923472"/>
                  <a:ext cx="520350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λI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d>
                          </m:e>
                        </m:func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6</m:t>
                            </m:r>
                            <m:sSup>
                              <m:e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zh-CN" sz="12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4λ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2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1" name="c2-card-1"/>
          <p:cNvGrpSpPr/>
          <p:nvPr/>
        </p:nvGrpSpPr>
        <p:grpSpPr>
          <a:xfrm>
            <a:off x="6464618" y="1524000"/>
            <a:ext cx="5193982" cy="1557338"/>
            <a:chOff x="6464618" y="1524000"/>
            <a:chExt cx="5193982" cy="1557338"/>
          </a:xfrm>
        </p:grpSpPr>
        <p:sp>
          <p:nvSpPr>
            <p:cNvPr id="31" name="Rectangle 31"/>
            <p:cNvSpPr/>
            <p:nvPr/>
          </p:nvSpPr>
          <p:spPr>
            <a:xfrm>
              <a:off x="6464618" y="1524000"/>
              <a:ext cx="5193982" cy="1557338"/>
            </a:xfrm>
            <a:prstGeom prst="roundRect">
              <a:avLst>
                <a:gd name="adj" fmla="val 85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1657350"/>
              <a:ext cx="47625" cy="129063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695122" y="171640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4561" y="17506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用到的结论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703695" y="21288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859714" y="2072640"/>
              <a:ext cx="1957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Aᵀ 有相同的特征值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703695" y="243173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859714" y="2375535"/>
              <a:ext cx="4568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任一特征值的模不超过矩阵的任一种算子范数：|λ| ≤ ‖A‖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703695" y="2734627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59714" y="2678430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‖A‖₁ 是各列元素绝对值之和的最大值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3256598"/>
            <a:ext cx="5193982" cy="2288858"/>
            <a:chOff x="6464618" y="3256598"/>
            <a:chExt cx="5193982" cy="2288858"/>
          </a:xfrm>
        </p:grpSpPr>
        <p:sp>
          <p:nvSpPr>
            <p:cNvPr id="42" name="Rectangle 42"/>
            <p:cNvSpPr/>
            <p:nvPr/>
          </p:nvSpPr>
          <p:spPr>
            <a:xfrm>
              <a:off x="6464618" y="3256598"/>
              <a:ext cx="5193982" cy="2288858"/>
            </a:xfrm>
            <a:prstGeom prst="roundRect">
              <a:avLst>
                <a:gd name="adj" fmla="val 58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3389948"/>
              <a:ext cx="47625" cy="20221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5122" y="344900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70561" y="348329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一般的网页图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88264" y="3805238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若网页分成互不相连的几组，或链接成环形成周期，M 可能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有多个模为 1 的特征值，乘幂法不收敛到唯一结果。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88264" y="4365308"/>
              <a:ext cx="446284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实际的 PageRank 用 G = dM + (1 − d)/N·eeᵀ（d 为阻尼系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数，常取 0.85），G 的元素全为正，1 就是唯一的主特征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值。原课件提到的孤立页面、作弊页面也要另外处理。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9" name="Rectangle 49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6023610"/>
              <a:ext cx="84420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本例 M 的第二大特征值模为 0.6551，误差每步约乘 0.66，所以上一页迭代到 23 步才稳定到 5 位小数。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13170" cy="3675697"/>
            <a:chOff x="667512" y="1835468"/>
            <a:chExt cx="6313170" cy="367569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幂法及其变体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只做矩阵乘向量或解方程组，求按模最大、最小或某个指定值附近的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4.2.1 乘幂法与规范化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12369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4.2.2 反幂法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4.2.3 原点平移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527494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521779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反幂法求指定特征值的特征向量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9660" cy="909257"/>
            <a:chOff x="520446" y="342900"/>
            <a:chExt cx="6299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9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乘幂法：取非零初始向量，反复用 A 左乘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5780" y="1548765"/>
            <a:ext cx="4758690" cy="588645"/>
            <a:chOff x="525780" y="1548765"/>
            <a:chExt cx="4758690" cy="58864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7586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= (aᵢⱼ) ∈ Rⁿˣⁿ，任取初始向量 x⁽⁰⁾ ∈ Rⁿ，x⁽⁰⁾ 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0，令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4"/>
              <p:cNvSpPr txBox="1">
                <a:spLocks noGrp="1"/>
              </p:cNvSpPr>
              <p:nvPr/>
            </p:nvSpPr>
            <p:spPr>
              <a:xfrm>
                <a:off x="533400" y="2268855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4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4.8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1" name="c1-text-3"/>
          <p:cNvGrpSpPr/>
          <p:nvPr/>
        </p:nvGrpSpPr>
        <p:grpSpPr>
          <a:xfrm>
            <a:off x="525780" y="2846070"/>
            <a:ext cx="3639884" cy="293370"/>
            <a:chOff x="525780" y="2846070"/>
            <a:chExt cx="3639884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2846070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由此得到向量序列 {x⁽ᵏ⁾}。由 (4.8) 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25"/>
              <p:cNvSpPr txBox="1">
                <a:spLocks noGrp="1"/>
              </p:cNvSpPr>
              <p:nvPr/>
            </p:nvSpPr>
            <p:spPr>
              <a:xfrm>
                <a:off x="533400" y="3270885"/>
                <a:ext cx="54102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x</m:t>
                              </m:r>
                            </m:e>
                            <m:sup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p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=⋯=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4.9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2" name="c1-card-5"/>
          <p:cNvGrpSpPr/>
          <p:nvPr/>
        </p:nvGrpSpPr>
        <p:grpSpPr>
          <a:xfrm>
            <a:off x="533400" y="3880485"/>
            <a:ext cx="5410200" cy="2272665"/>
            <a:chOff x="533400" y="3880485"/>
            <a:chExt cx="5410200" cy="2272665"/>
          </a:xfrm>
        </p:grpSpPr>
        <p:sp>
          <p:nvSpPr>
            <p:cNvPr id="13" name="Rectangle 13"/>
            <p:cNvSpPr/>
            <p:nvPr/>
          </p:nvSpPr>
          <p:spPr>
            <a:xfrm>
              <a:off x="533400" y="3880485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40900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20356" y="41257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名称与特点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48665" y="453009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467225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 由 A 的 k 次幂左乘 x⁽⁰⁾ 得到，称为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乘幂法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(4.8)、(4.9) 称为乘幂公式，{x⁽ᵏ⁾} 称为乘幂序列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48665" y="515112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08825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用来求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按模最大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的特征值（主特征值）及其特征向量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48665" y="5486400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780" y="5423535"/>
              <a:ext cx="4558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每步只做一次矩阵乘向量，不改变 A，适合大型稀疏矩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阵</a:t>
              </a:r>
            </a:p>
          </p:txBody>
        </p:sp>
      </p:grpSp>
      <p:grpSp>
        <p:nvGrpSpPr>
          <p:cNvPr id="57" name="c2-table-1"/>
          <p:cNvGrpSpPr/>
          <p:nvPr/>
        </p:nvGrpSpPr>
        <p:grpSpPr>
          <a:xfrm>
            <a:off x="6242685" y="1524000"/>
            <a:ext cx="5415915" cy="3437097"/>
            <a:chOff x="6242685" y="1524000"/>
            <a:chExt cx="5415915" cy="3437097"/>
          </a:xfrm>
        </p:grpSpPr>
        <p:sp>
          <p:nvSpPr>
            <p:cNvPr id="23" name="Rectangle 23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2677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38770" y="1659731"/>
              <a:ext cx="12388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 = Aᵏx⁽⁰⁾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139478" y="1659731"/>
              <a:ext cx="13065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x₁⁽ᵏ⁾/x₁⁽ᵏ⁻¹⁾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2677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20926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(10, 8, 1)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91528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462677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26154" y="2556986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(72, 54, −8)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44142" y="255698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2677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83995" y="3005614"/>
              <a:ext cx="13483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(468, 342, −88)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44142" y="30056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62677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41837" y="3454241"/>
              <a:ext cx="16327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(2916, 2106, −644)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01983" y="345424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6.2308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48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62677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99678" y="3903821"/>
              <a:ext cx="1917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(17820, 12798, −4204)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01983" y="3903821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6.1111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248400" y="421195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48400" y="421671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462677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10133" y="4352449"/>
              <a:ext cx="2296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(650268, 465102, −160348)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01983" y="435244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6.0270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1524000"/>
              <a:ext cx="5410200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8465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92219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42685" y="4741069"/>
              <a:ext cx="4617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 的矩阵（特征值 6、3、2），x⁽⁰⁾ = (1, 1, 1)ᵀ，不做规范化</a:t>
              </a:r>
            </a:p>
          </p:txBody>
        </p:sp>
      </p:grpSp>
      <p:grpSp>
        <p:nvGrpSpPr>
          <p:cNvPr id="64" name="c2-callout-2"/>
          <p:cNvGrpSpPr/>
          <p:nvPr/>
        </p:nvGrpSpPr>
        <p:grpSpPr>
          <a:xfrm>
            <a:off x="6248400" y="5107305"/>
            <a:ext cx="5410200" cy="1045845"/>
            <a:chOff x="6248400" y="5107305"/>
            <a:chExt cx="5410200" cy="1045845"/>
          </a:xfrm>
        </p:grpSpPr>
        <p:sp>
          <p:nvSpPr>
            <p:cNvPr id="58" name="Rectangle 58"/>
            <p:cNvSpPr/>
            <p:nvPr/>
          </p:nvSpPr>
          <p:spPr>
            <a:xfrm>
              <a:off x="6248400" y="5107305"/>
              <a:ext cx="5410200" cy="1045845"/>
            </a:xfrm>
            <a:prstGeom prst="roundRect">
              <a:avLst>
                <a:gd name="adj" fmla="val 109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453188" y="5530215"/>
              <a:ext cx="200026" cy="200026"/>
              <a:chOff x="6453188" y="553021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453188" y="55302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553200" y="55968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542088" y="56302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755130" y="5387340"/>
              <a:ext cx="43681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先看现象：相邻两步分量之比趋于主特征值 6，而向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量本身约按 6ᵏ 增长。下面两页解释原因。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80752" cy="909257"/>
            <a:chOff x="520446" y="342900"/>
            <a:chExt cx="83807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807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收敛性分析：展开初始向量，Aᵏ 把 λ₁ 方向放大得最快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586865"/>
            <a:chOff x="533400" y="1524000"/>
            <a:chExt cx="5410200" cy="15868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8686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01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998" y="2045494"/>
              <a:ext cx="4767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有完全的特征向量系：v₁, v₂, …, vₙ 线性无关，构成 Rⁿ 的一组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基；且主特征值唯一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68"/>
                <p:cNvSpPr txBox="1">
                  <a:spLocks noGrp="1"/>
                </p:cNvSpPr>
                <p:nvPr/>
              </p:nvSpPr>
              <p:spPr>
                <a:xfrm>
                  <a:off x="752475" y="2551748"/>
                  <a:ext cx="50101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&gt;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≥⋯≥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4.10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8" name="c1-card-2"/>
          <p:cNvGrpSpPr/>
          <p:nvPr/>
        </p:nvGrpSpPr>
        <p:grpSpPr>
          <a:xfrm>
            <a:off x="533400" y="3275648"/>
            <a:ext cx="5410200" cy="1263015"/>
            <a:chOff x="533400" y="3275648"/>
            <a:chExt cx="5410200" cy="1263015"/>
          </a:xfrm>
        </p:grpSpPr>
        <p:sp>
          <p:nvSpPr>
            <p:cNvPr id="14" name="Rectangle 14"/>
            <p:cNvSpPr/>
            <p:nvPr/>
          </p:nvSpPr>
          <p:spPr>
            <a:xfrm>
              <a:off x="533400" y="3275648"/>
              <a:ext cx="5410200" cy="1263015"/>
            </a:xfrm>
            <a:prstGeom prst="roundRect">
              <a:avLst>
                <a:gd name="adj" fmla="val 1055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14375" y="3456622"/>
              <a:ext cx="1067752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8167" y="3489484"/>
              <a:ext cx="919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① 展开初始向量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formula69"/>
                <p:cNvSpPr txBox="1">
                  <a:spLocks noGrp="1"/>
                </p:cNvSpPr>
                <p:nvPr/>
              </p:nvSpPr>
              <p:spPr>
                <a:xfrm>
                  <a:off x="714375" y="3775710"/>
                  <a:ext cx="504825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+⋯+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  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4.11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3" name="c1-card-3"/>
          <p:cNvGrpSpPr/>
          <p:nvPr/>
        </p:nvGrpSpPr>
        <p:grpSpPr>
          <a:xfrm>
            <a:off x="533400" y="4703445"/>
            <a:ext cx="5410200" cy="1619250"/>
            <a:chOff x="533400" y="4703445"/>
            <a:chExt cx="5410200" cy="1619250"/>
          </a:xfrm>
        </p:grpSpPr>
        <p:sp>
          <p:nvSpPr>
            <p:cNvPr id="19" name="Rectangle 19"/>
            <p:cNvSpPr/>
            <p:nvPr/>
          </p:nvSpPr>
          <p:spPr>
            <a:xfrm>
              <a:off x="533400" y="4703445"/>
              <a:ext cx="5410200" cy="1619250"/>
            </a:xfrm>
            <a:prstGeom prst="roundRect">
              <a:avLst>
                <a:gd name="adj" fmla="val 823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" y="4884420"/>
              <a:ext cx="205359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2691" y="4917281"/>
              <a:ext cx="19769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② 代入 (4.9)，用 Aᵏvⱼ = λⱼᵏvⱼ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formula70"/>
                <p:cNvSpPr txBox="1">
                  <a:spLocks noGrp="1"/>
                </p:cNvSpPr>
                <p:nvPr/>
              </p:nvSpPr>
              <p:spPr>
                <a:xfrm>
                  <a:off x="714375" y="5203508"/>
                  <a:ext cx="5048250" cy="56578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sSubSup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  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4.12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8" name="c2-card-1"/>
          <p:cNvGrpSpPr/>
          <p:nvPr/>
        </p:nvGrpSpPr>
        <p:grpSpPr>
          <a:xfrm>
            <a:off x="6248400" y="1524000"/>
            <a:ext cx="5410200" cy="1297305"/>
            <a:chOff x="6248400" y="1524000"/>
            <a:chExt cx="5410200" cy="1297305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1297305"/>
            </a:xfrm>
            <a:prstGeom prst="roundRect">
              <a:avLst>
                <a:gd name="adj" fmla="val 1027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29375" y="1704975"/>
              <a:ext cx="228028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90014" y="1737836"/>
              <a:ext cx="21590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③ 提出 λ₁ᵏ（由 (4.10) 知 λ₁ ≠ 0）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71"/>
                <p:cNvSpPr txBox="1">
                  <a:spLocks noGrp="1"/>
                </p:cNvSpPr>
                <p:nvPr/>
              </p:nvSpPr>
              <p:spPr>
                <a:xfrm>
                  <a:off x="6429375" y="2024062"/>
                  <a:ext cx="5048250" cy="6000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ε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ε</m:t>
                            </m:r>
                          </m:e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ff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λ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j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e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λ</m:t>
                                            </m:r>
                                          </m:e>
                                          <m:sub>
                                            <m:r>
                                              <a:rPr lang="zh-CN" sz="135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  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4.13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3" name="c2-card-2"/>
          <p:cNvGrpSpPr/>
          <p:nvPr/>
        </p:nvGrpSpPr>
        <p:grpSpPr>
          <a:xfrm>
            <a:off x="6248400" y="2986088"/>
            <a:ext cx="5410200" cy="1059180"/>
            <a:chOff x="6248400" y="2986088"/>
            <a:chExt cx="5410200" cy="1059180"/>
          </a:xfrm>
        </p:grpSpPr>
        <p:sp>
          <p:nvSpPr>
            <p:cNvPr id="29" name="Rectangle 29"/>
            <p:cNvSpPr/>
            <p:nvPr/>
          </p:nvSpPr>
          <p:spPr>
            <a:xfrm>
              <a:off x="6248400" y="2986088"/>
              <a:ext cx="5410200" cy="1059180"/>
            </a:xfrm>
            <a:prstGeom prst="roundRect">
              <a:avLst>
                <a:gd name="adj" fmla="val 1259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29375" y="3167062"/>
              <a:ext cx="2651760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7947" y="3199924"/>
              <a:ext cx="2414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④ |λⱼ/λ₁| &lt; 1（j ≥ 2），k → ∞ 时 εₖ → 0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formula72"/>
                <p:cNvSpPr txBox="1">
                  <a:spLocks noGrp="1"/>
                </p:cNvSpPr>
                <p:nvPr/>
              </p:nvSpPr>
              <p:spPr>
                <a:xfrm>
                  <a:off x="6429375" y="3486150"/>
                  <a:ext cx="504825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e>
                          <m:sup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e>
                            </m:d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sSub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bSup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α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v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0" name="c2-card-3"/>
          <p:cNvGrpSpPr/>
          <p:nvPr/>
        </p:nvGrpSpPr>
        <p:grpSpPr>
          <a:xfrm>
            <a:off x="6248400" y="4210050"/>
            <a:ext cx="5410200" cy="2112645"/>
            <a:chOff x="6248400" y="4210050"/>
            <a:chExt cx="5410200" cy="2112645"/>
          </a:xfrm>
        </p:grpSpPr>
        <p:sp>
          <p:nvSpPr>
            <p:cNvPr id="34" name="Rectangle 34"/>
            <p:cNvSpPr/>
            <p:nvPr/>
          </p:nvSpPr>
          <p:spPr>
            <a:xfrm>
              <a:off x="6248400" y="4210050"/>
              <a:ext cx="5410200" cy="2112645"/>
            </a:xfrm>
            <a:prstGeom prst="roundRect">
              <a:avLst>
                <a:gd name="adj" fmla="val 631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29375" y="4391025"/>
              <a:ext cx="2379345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87103" y="4423886"/>
              <a:ext cx="226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⑤ 若 α₁ ≠ 0 且 v₁ 的第 i 个分量不为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22898" y="473154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计算相邻迭代向量对应分量的比值：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formula73"/>
                <p:cNvSpPr txBox="1">
                  <a:spLocks noGrp="1"/>
                </p:cNvSpPr>
                <p:nvPr/>
              </p:nvSpPr>
              <p:spPr>
                <a:xfrm>
                  <a:off x="6429375" y="4994910"/>
                  <a:ext cx="504825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sup>
                            </m:sSubSup>
                          </m:num>
                          <m:den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  <m:sup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k</m:t>
                                    </m:r>
                                  </m:e>
                                </m:d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≈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p>
                            </m:sSubSup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num>
                          <m:den>
                            <m:sSubSup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p>
                            </m:sSubSup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v</m:t>
                                        </m:r>
                                      </m:e>
                                      <m:sub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4.15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formula74"/>
                <p:cNvSpPr txBox="1">
                  <a:spLocks noGrp="1"/>
                </p:cNvSpPr>
                <p:nvPr/>
              </p:nvSpPr>
              <p:spPr>
                <a:xfrm>
                  <a:off x="6429375" y="5564505"/>
                  <a:ext cx="5048250" cy="5610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num>
                              <m:den>
                                <m:sSubSup>
                                  <m:e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b>
                                    <m:r>
                                      <a:rPr lang="zh-CN" sz="142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42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den>
                            </m:f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4.16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29837" cy="909257"/>
            <a:chOff x="520446" y="342900"/>
            <a:chExt cx="85298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298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结论：比值给出 λ₁，向量给出 v₁，速度取决于 |λ₂/λ₁|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5626418" cy="2018348"/>
            <a:chOff x="533400" y="1524000"/>
            <a:chExt cx="5626418" cy="20183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4481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10678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24362" y="165163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2270" y="2096452"/>
              <a:ext cx="18074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≈ xᵢ⁽ᵏ⁺¹⁾/xᵢ⁽ᵏ⁾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64014" y="2096452"/>
              <a:ext cx="139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(4.15)、(4.16)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088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13635"/>
              <a:ext cx="5626418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2270" y="2541270"/>
              <a:ext cx="2014966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v₁ ≈ x⁽ᵏ⁾（差一个常数因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64014" y="2661285"/>
              <a:ext cx="210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(4.14)：x⁽ᵏ⁾ ≈ λ₁ᵏα₁v₁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92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2270" y="3226118"/>
              <a:ext cx="1962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误差约按 |λ₂/λ₁|ᵏ 减小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64014" y="32261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εₖ 中衰减最慢的是 j = 2 这一项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626418" cy="20183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60382" y="1524000"/>
              <a:ext cx="9525" cy="20183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27" name="c1-card-2"/>
          <p:cNvGrpSpPr/>
          <p:nvPr/>
        </p:nvGrpSpPr>
        <p:grpSpPr>
          <a:xfrm>
            <a:off x="533400" y="3717608"/>
            <a:ext cx="5626418" cy="1810702"/>
            <a:chOff x="533400" y="3717608"/>
            <a:chExt cx="5626418" cy="1810702"/>
          </a:xfrm>
        </p:grpSpPr>
        <p:sp>
          <p:nvSpPr>
            <p:cNvPr id="22" name="Rectangle 22"/>
            <p:cNvSpPr/>
            <p:nvPr/>
          </p:nvSpPr>
          <p:spPr>
            <a:xfrm>
              <a:off x="533400" y="3717608"/>
              <a:ext cx="5626418" cy="1810702"/>
            </a:xfrm>
            <a:prstGeom prst="roundRect">
              <a:avLst>
                <a:gd name="adj" fmla="val 736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25805" y="391001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9244" y="39443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收敛速度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formula79"/>
                <p:cNvSpPr txBox="1">
                  <a:spLocks noGrp="1"/>
                </p:cNvSpPr>
                <p:nvPr/>
              </p:nvSpPr>
              <p:spPr>
                <a:xfrm>
                  <a:off x="725805" y="4244340"/>
                  <a:ext cx="5241608" cy="5143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 m:val="on"/>
                            <m:ctrl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zh-CN" sz="15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e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5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≪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nor m:val="on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时收敛快，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nor m:val="on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接近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nor m:val="on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时收敛慢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6" name="TextBox 26"/>
            <p:cNvSpPr txBox="1"/>
            <p:nvPr/>
          </p:nvSpPr>
          <p:spPr>
            <a:xfrm>
              <a:off x="718947" y="4867275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上一页例子 r = 3/6 = 0.5，比值误差 1.2、0.5、0.2308、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0.1111 大约每步减半。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464618" y="1524000"/>
            <a:ext cx="5193982" cy="1725930"/>
            <a:chOff x="6464618" y="1524000"/>
            <a:chExt cx="5193982" cy="1725930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1725930"/>
            </a:xfrm>
            <a:prstGeom prst="roundRect">
              <a:avLst>
                <a:gd name="adj" fmla="val 77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4142" y="1657350"/>
              <a:ext cx="47625" cy="145923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95122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66560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不规范化会溢出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703695" y="21288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59714" y="2072640"/>
              <a:ext cx="35757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|λ₁| &gt; 1：x⁽ᵏ⁾ 约按 |λ₁|ᵏ 增长，k 大时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上溢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703695" y="243173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59714" y="2375535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|λ₁| &lt; 1：x⁽ᵏ⁾ 趋于 0，k 大时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下溢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89408" y="2674144"/>
              <a:ext cx="45346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 的矩阵迭代 7 步分量已到 6.5×10⁵，迭代 400 步会超过双精度浮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点数的上限（约 1.8×10³⁰⁸）。</a:t>
              </a:r>
            </a:p>
          </p:txBody>
        </p:sp>
      </p:grpSp>
      <p:grpSp>
        <p:nvGrpSpPr>
          <p:cNvPr id="43" name="c2-card-2"/>
          <p:cNvGrpSpPr/>
          <p:nvPr/>
        </p:nvGrpSpPr>
        <p:grpSpPr>
          <a:xfrm>
            <a:off x="6464618" y="3425190"/>
            <a:ext cx="5193982" cy="2103120"/>
            <a:chOff x="6464618" y="3425190"/>
            <a:chExt cx="5193982" cy="2103120"/>
          </a:xfrm>
        </p:grpSpPr>
        <p:sp>
          <p:nvSpPr>
            <p:cNvPr id="38" name="Rectangle 38"/>
            <p:cNvSpPr/>
            <p:nvPr/>
          </p:nvSpPr>
          <p:spPr>
            <a:xfrm>
              <a:off x="6464618" y="3425190"/>
              <a:ext cx="5193982" cy="2103120"/>
            </a:xfrm>
            <a:prstGeom prst="roundRect">
              <a:avLst>
                <a:gd name="adj" fmla="val 63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74142" y="3558540"/>
              <a:ext cx="47625" cy="183642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95122" y="361759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86562" y="36509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办法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88264" y="397383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每步把向量除以一个数，让它的最大分量保持为 1。向量方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向不变，比值信息也不丢，这就是下一页的规范化乘幂法。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4" name="Rectangle 44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6014203"/>
              <a:ext cx="224134" cy="192560"/>
              <a:chOff x="726129" y="601420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601420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61623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6023610"/>
              <a:ext cx="941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前提不能省：主特征值唯一（|λ₁| &gt; |λ₂|），且初始向量在 v₁ 方向的分量 α₁ ≠ 0。前提不成立时的情况见思考 1、2。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规范化乘幂法：每步用按模最大分量去除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73518"/>
            <a:chOff x="533400" y="1524000"/>
            <a:chExt cx="5410200" cy="1473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73518"/>
            </a:xfrm>
            <a:prstGeom prst="roundRect">
              <a:avLst>
                <a:gd name="adj" fmla="val 90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06818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00869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097" y="1750695"/>
              <a:ext cx="8573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记号 max(x)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6257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若某个 i₀ 使 |x_{i₀}| = max |xᵢ|（1 ≤ i ≤ n），则令 max(x)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x_{i₀}，即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带符号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的按模最大分量。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8190" y="2629376"/>
              <a:ext cx="20845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例：max((1, −5, 3)ᵀ) = −5。</a:t>
              </a:r>
            </a:p>
          </p:txBody>
        </p:sp>
      </p:grpSp>
      <p:grpSp>
        <p:nvGrpSpPr>
          <p:cNvPr id="15" name="c1-text-2"/>
          <p:cNvGrpSpPr/>
          <p:nvPr/>
        </p:nvGrpSpPr>
        <p:grpSpPr>
          <a:xfrm>
            <a:off x="526542" y="3194685"/>
            <a:ext cx="2285429" cy="264033"/>
            <a:chOff x="526542" y="3194685"/>
            <a:chExt cx="2285429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526542" y="3194685"/>
              <a:ext cx="2285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对任取的初始向量 x⁽⁰⁾，记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ormula88"/>
              <p:cNvSpPr txBox="1">
                <a:spLocks noGrp="1"/>
              </p:cNvSpPr>
              <p:nvPr/>
            </p:nvSpPr>
            <p:spPr>
              <a:xfrm>
                <a:off x="533400" y="3580448"/>
                <a:ext cx="541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/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d>
                        </m:e>
                      </m:func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4.18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8" name="c1-text-4"/>
          <p:cNvGrpSpPr/>
          <p:nvPr/>
        </p:nvGrpSpPr>
        <p:grpSpPr>
          <a:xfrm>
            <a:off x="526542" y="4158615"/>
            <a:ext cx="558927" cy="264033"/>
            <a:chOff x="526542" y="4158615"/>
            <a:chExt cx="558927" cy="264033"/>
          </a:xfrm>
        </p:grpSpPr>
        <p:sp>
          <p:nvSpPr>
            <p:cNvPr id="17" name="TextBox 17"/>
            <p:cNvSpPr txBox="1"/>
            <p:nvPr/>
          </p:nvSpPr>
          <p:spPr>
            <a:xfrm>
              <a:off x="526542" y="415861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并定义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89"/>
              <p:cNvSpPr txBox="1">
                <a:spLocks noGrp="1"/>
              </p:cNvSpPr>
              <p:nvPr/>
            </p:nvSpPr>
            <p:spPr>
              <a:xfrm>
                <a:off x="533400" y="4544378"/>
                <a:ext cx="5410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y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4.19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6" name="c1-callout-6"/>
          <p:cNvGrpSpPr/>
          <p:nvPr/>
        </p:nvGrpSpPr>
        <p:grpSpPr>
          <a:xfrm>
            <a:off x="533400" y="5100638"/>
            <a:ext cx="5410200" cy="1226820"/>
            <a:chOff x="533400" y="5100638"/>
            <a:chExt cx="5410200" cy="1226820"/>
          </a:xfrm>
        </p:grpSpPr>
        <p:sp>
          <p:nvSpPr>
            <p:cNvPr id="20" name="Rectangle 20"/>
            <p:cNvSpPr/>
            <p:nvPr/>
          </p:nvSpPr>
          <p:spPr>
            <a:xfrm>
              <a:off x="533400" y="5100638"/>
              <a:ext cx="5410200" cy="1226820"/>
            </a:xfrm>
            <a:prstGeom prst="roundRect">
              <a:avLst>
                <a:gd name="adj" fmla="val 931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614035"/>
              <a:ext cx="200026" cy="200025"/>
              <a:chOff x="738188" y="5614035"/>
              <a:chExt cx="200026" cy="20002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61403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777926" y="565848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12642" y="576961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892" y="5247323"/>
              <a:ext cx="4325684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 max(x⁽ᵏ⁾) → λ₁：max(cx) = c·max(x)，所以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y⁽ᵏ⁾ = Aᵏx⁽⁰⁾/max(Aᵏx⁽⁰⁾) → v₁/max(v₁)，于是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x⁽ᵏ⁺¹⁾ = Ay⁽ᵏ⁾ → λ₁v₁/max(v₁)，其按模最大分量趋于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λ₁。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6248400" y="1533525"/>
            <a:ext cx="4669114" cy="2279809"/>
            <a:chOff x="6248400" y="1533525"/>
            <a:chExt cx="4669114" cy="2279809"/>
          </a:xfrm>
        </p:grpSpPr>
        <p:sp>
          <p:nvSpPr>
            <p:cNvPr id="27" name="Rectangle 27"/>
            <p:cNvSpPr/>
            <p:nvPr/>
          </p:nvSpPr>
          <p:spPr>
            <a:xfrm>
              <a:off x="6381750" y="1676400"/>
              <a:ext cx="19050" cy="176117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248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21202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27070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329469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33685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60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取初始向量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785" y="1833086"/>
              <a:ext cx="4218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维非零向量 x⁽⁰⁾，一般取 ‖x⁽⁰⁾‖∞ = 1，例如 (1, 1, …, 1)ᵀ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0642" y="2152650"/>
              <a:ext cx="1971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迭代（k = 0, 1, 2, …）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785" y="2419826"/>
              <a:ext cx="29644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y⁽ᵏ⁾ = x⁽ᵏ⁾/max(x⁽ᵏ⁾)，x⁽ᵏ⁺¹⁾ = Ay⁽ᵏ⁾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642" y="273939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终止条件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785" y="3006566"/>
              <a:ext cx="42557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 ‖x⁽ᵏ⁾‖∞ − ‖x⁽ᵏ⁻¹⁾‖∞ | &lt; ε（也可用 ‖y⁽ᵏ⁾ − y⁽ᵏ⁻¹⁾‖∞ &lt; ε）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642" y="332613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785" y="3593306"/>
              <a:ext cx="1948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≈ max(x⁽ᵏ⁾)，v₁ ≈ y⁽ᵏ⁾</a:t>
              </a:r>
            </a:p>
          </p:txBody>
        </p:sp>
      </p:grpSp>
      <p:grpSp>
        <p:nvGrpSpPr>
          <p:cNvPr id="65" name="c2-table-2"/>
          <p:cNvGrpSpPr/>
          <p:nvPr/>
        </p:nvGrpSpPr>
        <p:grpSpPr>
          <a:xfrm>
            <a:off x="6243066" y="3982402"/>
            <a:ext cx="5415534" cy="1902715"/>
            <a:chOff x="6243066" y="3982402"/>
            <a:chExt cx="5415534" cy="1902715"/>
          </a:xfrm>
        </p:grpSpPr>
        <p:sp>
          <p:nvSpPr>
            <p:cNvPr id="45" name="Rectangle 45"/>
            <p:cNvSpPr/>
            <p:nvPr/>
          </p:nvSpPr>
          <p:spPr>
            <a:xfrm>
              <a:off x="6248400" y="3982402"/>
              <a:ext cx="541020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69659" y="41067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80067" y="4106704"/>
              <a:ext cx="14532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Aᵏx⁽⁰⁾（不规范化）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84510" y="4106704"/>
              <a:ext cx="11135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y⁽ᵏ⁾（规范化）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9659" y="45124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24064" y="45124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(10, 8, 1)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34265" y="4512469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(1, 0.8, 0.1)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248400" y="478917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48400" y="4793932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469659" y="49182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41138" y="4918234"/>
              <a:ext cx="931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(72, 54, −8)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44024" y="4918234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0.75, −0.111111)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51949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469659" y="53239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16749" y="5323999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(468, 342, −88)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78173" y="5323999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0.730769, −0.188034)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248400" y="3982402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784658" y="39824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9219248" y="3982402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3066" y="5679758"/>
              <a:ext cx="42173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4.1 的矩阵：y⁽ᵏ⁾ 就是 Aᵏx⁽⁰⁾ 除以其按模最大分量，不会溢出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36623" cy="909257"/>
            <a:chOff x="520446" y="342900"/>
            <a:chExt cx="68366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366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规范化乘幂法的程序（MATLAB / Octave）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059805" cy="4057650"/>
            <a:chOff x="533400" y="1524000"/>
            <a:chExt cx="6059805" cy="40576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0"/>
            </a:xfrm>
            <a:prstGeom prst="roundRect">
              <a:avLst>
                <a:gd name="adj" fmla="val 234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687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eigen_pow.m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987165"/>
              <a:ext cx="6021705" cy="2095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0844" y="1938576"/>
              <a:ext cx="4063111" cy="35801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function [maxEig, eigen_vec] = eigen_pow(A, u, ep)</a:t>
              </a:r>
              <a:br/>
              <a:r>
                <a:rPr lang="zh-CN" sz="11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% 求 A 的主特征值 maxEig 及特征向量 eigen_vec</a:t>
              </a:r>
              <a:br/>
              <a:r>
                <a:rPr lang="zh-CN" sz="116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% u 为初始向量，ep 为误差限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err = 100;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u0 = u;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[ele, label] = max(abs(u0));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v0 = u0 / u0(label);          % y(0)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err &gt; ep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u1 = A * v0;                % x(k+1) = A y(k)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[ele, label] = max(abs(u1));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maxEig = u1(label);         % max(x(k+1))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v1 = u1 / maxEig;           % y(k+1)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err = max(abs(v1 - v0));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v0 = v1;  u0 = u1;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eigen_vec = v0;</a:t>
              </a:r>
              <a:br/>
              <a:r>
                <a:rPr lang="en-US" sz="11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33" name="c2-table-1"/>
          <p:cNvGrpSpPr/>
          <p:nvPr/>
        </p:nvGrpSpPr>
        <p:grpSpPr>
          <a:xfrm>
            <a:off x="6898005" y="1524000"/>
            <a:ext cx="4760595" cy="2434590"/>
            <a:chOff x="6898005" y="1524000"/>
            <a:chExt cx="4760595" cy="2434590"/>
          </a:xfrm>
        </p:grpSpPr>
        <p:sp>
          <p:nvSpPr>
            <p:cNvPr id="12" name="Rectangle 12"/>
            <p:cNvSpPr/>
            <p:nvPr/>
          </p:nvSpPr>
          <p:spPr>
            <a:xfrm>
              <a:off x="6898005" y="1524000"/>
              <a:ext cx="4760595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47039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程序变量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02127" y="16483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对应公式里的量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98017" y="2054066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u0、u1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11565" y="2054066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x⁽ᵏ⁾、x⁽ᵏ⁺¹⁾（规范化前）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98005" y="2330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898005" y="233553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998017" y="2459831"/>
              <a:ext cx="510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v0、v1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11565" y="2459831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y⁽ᵏ⁾、y⁽ᵏ⁺¹⁾（规范化后）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898005" y="27365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98017" y="2865596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label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11565" y="286559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按模最大分量的下标 i₀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8005" y="31422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98005" y="3147060"/>
              <a:ext cx="476059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8017" y="3271361"/>
              <a:ext cx="530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maxEig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11565" y="3271361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max(x⁽ᵏ⁺¹⁾)，主特征值的近似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898005" y="354806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98017" y="367712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err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11565" y="3677126"/>
              <a:ext cx="12628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‖y⁽ᵏ⁺¹⁾ − y⁽ᵏ⁾‖∞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898005" y="1524000"/>
              <a:ext cx="4760595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606790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2-callout-2"/>
          <p:cNvGrpSpPr/>
          <p:nvPr/>
        </p:nvGrpSpPr>
        <p:grpSpPr>
          <a:xfrm>
            <a:off x="6898005" y="4133850"/>
            <a:ext cx="4760595" cy="978218"/>
            <a:chOff x="6898005" y="4133850"/>
            <a:chExt cx="4760595" cy="978218"/>
          </a:xfrm>
        </p:grpSpPr>
        <p:sp>
          <p:nvSpPr>
            <p:cNvPr id="34" name="Rectangle 34"/>
            <p:cNvSpPr/>
            <p:nvPr/>
          </p:nvSpPr>
          <p:spPr>
            <a:xfrm>
              <a:off x="6898005" y="4133850"/>
              <a:ext cx="476059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102793" y="4522470"/>
              <a:ext cx="200026" cy="200025"/>
              <a:chOff x="7102793" y="4522470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102793" y="452247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42531" y="456692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177247" y="467804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405497" y="4279582"/>
              <a:ext cx="375989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[ele, label] = max(abs(u1)) 找的是绝对值最大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分量的位置，u1(label) 取回带符号的值，正好是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max(x) 的定义。</a:t>
              </a:r>
            </a:p>
          </p:txBody>
        </p:sp>
      </p:grpSp>
      <p:grpSp>
        <p:nvGrpSpPr>
          <p:cNvPr id="47" name="c2-callout-3"/>
          <p:cNvGrpSpPr/>
          <p:nvPr/>
        </p:nvGrpSpPr>
        <p:grpSpPr>
          <a:xfrm>
            <a:off x="6898005" y="5286375"/>
            <a:ext cx="4760595" cy="729615"/>
            <a:chOff x="6898005" y="5286375"/>
            <a:chExt cx="4760595" cy="729615"/>
          </a:xfrm>
        </p:grpSpPr>
        <p:sp>
          <p:nvSpPr>
            <p:cNvPr id="41" name="Rectangle 41"/>
            <p:cNvSpPr/>
            <p:nvPr/>
          </p:nvSpPr>
          <p:spPr>
            <a:xfrm>
              <a:off x="6898005" y="5286375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102793" y="5551170"/>
              <a:ext cx="200026" cy="200026"/>
              <a:chOff x="7102793" y="5551170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102793" y="55511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202805" y="56178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191693" y="56511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405497" y="5433060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原课件用 Octave 的 endfunction 结尾，MATLAB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中写 end。程序以相邻两步 y 的差作终止判据。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59248" cy="909257"/>
            <a:chOff x="520446" y="342900"/>
            <a:chExt cx="73592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592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4.1 规范化乘幂法求主特征值：先手算前三步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91"/>
              <p:cNvSpPr txBox="1">
                <a:spLocks noGrp="1"/>
              </p:cNvSpPr>
              <p:nvPr/>
            </p:nvSpPr>
            <p:spPr>
              <a:xfrm>
                <a:off x="533400" y="1524000"/>
                <a:ext cx="4328160" cy="903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14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13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9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923" y="2639854"/>
            <a:ext cx="4085082" cy="500824"/>
            <a:chOff x="526923" y="2639854"/>
            <a:chExt cx="4085082" cy="500824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2639854"/>
              <a:ext cx="408508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精确特征值 λ₁ = 6，λ₂ = 3，λ₃ = 2；λ₁ 的特征向量 (1,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5/7, −1/4)ᵀ ≈ (1, 0.714286, −0.25)ᵀ。</a:t>
              </a:r>
            </a:p>
          </p:txBody>
        </p:sp>
      </p:grpSp>
      <p:grpSp>
        <p:nvGrpSpPr>
          <p:cNvPr id="21" name="c1-card-3"/>
          <p:cNvGrpSpPr/>
          <p:nvPr/>
        </p:nvGrpSpPr>
        <p:grpSpPr>
          <a:xfrm>
            <a:off x="533400" y="3280410"/>
            <a:ext cx="4328160" cy="2683192"/>
            <a:chOff x="533400" y="3280410"/>
            <a:chExt cx="4328160" cy="2683192"/>
          </a:xfrm>
        </p:grpSpPr>
        <p:sp>
          <p:nvSpPr>
            <p:cNvPr id="10" name="Rectangle 10"/>
            <p:cNvSpPr/>
            <p:nvPr/>
          </p:nvSpPr>
          <p:spPr>
            <a:xfrm>
              <a:off x="533400" y="3280410"/>
              <a:ext cx="4328160" cy="2683192"/>
            </a:xfrm>
            <a:prstGeom prst="roundRect">
              <a:avLst>
                <a:gd name="adj" fmla="val 49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413760"/>
              <a:ext cx="47625" cy="24164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3489960"/>
              <a:ext cx="1449705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33253" y="3525679"/>
              <a:ext cx="13453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手算 x⁽²⁾ = Ay⁽¹⁾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867150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y⁽¹⁾ = (1, 0.8, 0.1)ᵀ，逐行相乘：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426529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4202430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行：−4×1 + 14×0.8 + 0×0.1 = 7.2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460057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4537710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行：−5×1 + 13×0.8 + 0×0.1 = 5.4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6765" y="493585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4880" y="4872990"/>
              <a:ext cx="35490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行：−1×1 + 0×0.8 + 2×0.1 = −0.8</a:t>
              </a:r>
            </a:p>
          </p:txBody>
        </p:sp>
      </p:grpSp>
      <p:grpSp>
        <p:nvGrpSpPr>
          <p:cNvPr id="39" name="c2-steps-1"/>
          <p:cNvGrpSpPr/>
          <p:nvPr/>
        </p:nvGrpSpPr>
        <p:grpSpPr>
          <a:xfrm>
            <a:off x="5166360" y="1533525"/>
            <a:ext cx="6180201" cy="3468339"/>
            <a:chOff x="5166360" y="1533525"/>
            <a:chExt cx="6180201" cy="3468339"/>
          </a:xfrm>
        </p:grpSpPr>
        <p:sp>
          <p:nvSpPr>
            <p:cNvPr id="22" name="Rectangle 22"/>
            <p:cNvSpPr/>
            <p:nvPr/>
          </p:nvSpPr>
          <p:spPr>
            <a:xfrm>
              <a:off x="5299710" y="1676400"/>
              <a:ext cx="19050" cy="265652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166360" y="241935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5998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5166360" y="330422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59984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5166360" y="419004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9984" y="42638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77840" y="1567815"/>
              <a:ext cx="15019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初始化（k = 0）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78983" y="1861661"/>
              <a:ext cx="5458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x⁽⁰⁾ = (1, 1, 1)ᵀ，max(x⁽⁰⁾) = 1，y⁽⁰⁾ = (1, 1, 1)ᵀ，x⁽¹⁾ = Ay⁽⁰⁾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(10, 8, 1)ᵀ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77840" y="2453640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78983" y="2746534"/>
              <a:ext cx="56944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max(x⁽¹⁾) = 10，y⁽¹⁾ = x⁽¹⁾/10 = (1, 0.8, 0.1)ᵀ，x⁽²⁾ = Ay⁽¹⁾ = (7.2,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5.4, −0.8)ᵀ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77840" y="3338512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78983" y="3632359"/>
              <a:ext cx="55968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max(x⁽²⁾) = 7.2，y⁽²⁾ = (1, 0.75, −0.111111)ᵀ，x⁽³⁾ = Ay⁽²⁾ = (6.5,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4.75, −1.222222)ᵀ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77840" y="4224338"/>
              <a:ext cx="492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578983" y="4518184"/>
              <a:ext cx="57675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max(x⁽³⁾) = 6.5，y⁽³⁾ = (1, 0.730769, −0.188034)ᵀ，x⁽⁴⁾ = (6.230769,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4.5, −1.376068)ᵀ</a:t>
              </a:r>
            </a:p>
          </p:txBody>
        </p:sp>
      </p:grpSp>
      <p:grpSp>
        <p:nvGrpSpPr>
          <p:cNvPr id="46" name="c2-callout-2"/>
          <p:cNvGrpSpPr/>
          <p:nvPr/>
        </p:nvGrpSpPr>
        <p:grpSpPr>
          <a:xfrm>
            <a:off x="5166360" y="5180648"/>
            <a:ext cx="6492240" cy="782955"/>
            <a:chOff x="5166360" y="5180648"/>
            <a:chExt cx="6492240" cy="782955"/>
          </a:xfrm>
        </p:grpSpPr>
        <p:sp>
          <p:nvSpPr>
            <p:cNvPr id="40" name="Rectangle 40"/>
            <p:cNvSpPr/>
            <p:nvPr/>
          </p:nvSpPr>
          <p:spPr>
            <a:xfrm>
              <a:off x="5166360" y="5180648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371148" y="5472113"/>
              <a:ext cx="200026" cy="200026"/>
              <a:chOff x="5371148" y="5472113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5371148" y="54721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471160" y="55387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460048" y="55721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673090" y="5329238"/>
              <a:ext cx="5396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max(x⁽ᵏ⁾) 依次为 1、10、7.2、6.5、6.2308，逐步逼近 λ₁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16808" cy="909257"/>
            <a:chOff x="520446" y="342900"/>
            <a:chExt cx="93168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168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4.1 迭代 12 步：λ₁ ≈ 6.000837，相对误差约 1.4×10⁻⁴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table-1"/>
          <p:cNvGrpSpPr/>
          <p:nvPr/>
        </p:nvGrpSpPr>
        <p:grpSpPr>
          <a:xfrm>
            <a:off x="533400" y="1524000"/>
            <a:ext cx="5410200" cy="3200400"/>
            <a:chOff x="533400" y="1524000"/>
            <a:chExt cx="5410200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036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47776" y="1645444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max(x⁽ᵏ⁾)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58491" y="1645444"/>
              <a:ext cx="1792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 = x⁽ᵏ⁾/max(x⁽ᵏ⁾)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61567" y="1645444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 − 6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036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397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13529" y="204549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(1, 1, 1)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036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72507" y="244554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47678" y="2445544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(1, 0.8, 0.1)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0111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0036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3104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7.2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57437" y="2845594"/>
              <a:ext cx="1594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0.75, −0.111111)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18184" y="28455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0366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31044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91585" y="324564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0.730769, −0.188034)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18184" y="32456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0366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23729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6.230769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491585" y="364569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0.722222, −0.220850)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093795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0.2308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0366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23729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6.111111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491585" y="404574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0.718182, −0.235915)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093795" y="40457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0.1111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3195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0366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223729" y="44457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6.054545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91585" y="444579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0.716216, −0.243095)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093795" y="44457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0.0545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1524000"/>
              <a:ext cx="541020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107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2151698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74821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card-2"/>
          <p:cNvGrpSpPr/>
          <p:nvPr/>
        </p:nvGrpSpPr>
        <p:grpSpPr>
          <a:xfrm>
            <a:off x="533400" y="4893945"/>
            <a:ext cx="5410200" cy="1443038"/>
            <a:chOff x="533400" y="4893945"/>
            <a:chExt cx="5410200" cy="1443038"/>
          </a:xfrm>
        </p:grpSpPr>
        <p:sp>
          <p:nvSpPr>
            <p:cNvPr id="53" name="Rectangle 53"/>
            <p:cNvSpPr/>
            <p:nvPr/>
          </p:nvSpPr>
          <p:spPr>
            <a:xfrm>
              <a:off x="533400" y="4893945"/>
              <a:ext cx="541020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42925" y="502729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8190" y="5080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0862" y="5113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1332" y="5425440"/>
              <a:ext cx="46771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 k = 3 行 max 印成 6.57（应为 6.5），y⁽³⁾ 第 3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分量 −0.203704 应为 −0.188034 并传到后续各行；k = 11 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−0.239792 应为 −0.249790。</a:t>
              </a:r>
            </a:p>
          </p:txBody>
        </p:sp>
      </p:grpSp>
      <p:grpSp>
        <p:nvGrpSpPr>
          <p:cNvPr id="102" name="c2-table-1"/>
          <p:cNvGrpSpPr/>
          <p:nvPr/>
        </p:nvGrpSpPr>
        <p:grpSpPr>
          <a:xfrm>
            <a:off x="6248400" y="1524000"/>
            <a:ext cx="5410200" cy="2800350"/>
            <a:chOff x="6248400" y="1524000"/>
            <a:chExt cx="5410200" cy="2800350"/>
          </a:xfrm>
        </p:grpSpPr>
        <p:sp>
          <p:nvSpPr>
            <p:cNvPr id="59" name="Rectangle 59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15366" y="16454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62776" y="1645444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max(x⁽ᵏ⁾)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273491" y="1645444"/>
              <a:ext cx="1792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 = x⁽ᵏ⁾/max(x⁽ᵏ⁾)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776567" y="1645444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 − 6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1536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38729" y="20454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6.027027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06585" y="204549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0.715247, −0.246588)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08795" y="20454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0.0270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415366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38729" y="24455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6.013453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206585" y="244554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0.714765, −0.248306)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808795" y="24455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0.0135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415366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38729" y="28455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6.006711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06585" y="284559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0.714525, −0.249157)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808795" y="28455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0.0067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248400" y="31194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248400" y="31242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371830" y="32456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938729" y="32456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6.003352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206585" y="324564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0.714405, −0.249579)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808795" y="32456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0.0034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35194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371830" y="364569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938729" y="364569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6.001675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06585" y="364569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0.714346, −0.249790)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808795" y="364569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0.0017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39195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248400" y="39243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371830" y="404574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690360" y="3933825"/>
              <a:ext cx="117157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938729" y="404574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6.000837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880985" y="3933825"/>
              <a:ext cx="257746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206585" y="404574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0.714316, −0.249895)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808795" y="404574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0.0008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248400" y="1524000"/>
              <a:ext cx="5410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67607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866698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046321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1" name="c2-card-2"/>
          <p:cNvGrpSpPr/>
          <p:nvPr/>
        </p:nvGrpSpPr>
        <p:grpSpPr>
          <a:xfrm>
            <a:off x="6248400" y="4493895"/>
            <a:ext cx="5410200" cy="1843088"/>
            <a:chOff x="6248400" y="4493895"/>
            <a:chExt cx="5410200" cy="1843088"/>
          </a:xfrm>
        </p:grpSpPr>
        <p:sp>
          <p:nvSpPr>
            <p:cNvPr id="103" name="Rectangle 103"/>
            <p:cNvSpPr/>
            <p:nvPr/>
          </p:nvSpPr>
          <p:spPr>
            <a:xfrm>
              <a:off x="6248400" y="4493895"/>
              <a:ext cx="5410200" cy="1843088"/>
            </a:xfrm>
            <a:prstGeom prst="roundRect">
              <a:avLst>
                <a:gd name="adj" fmla="val 723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435090" y="46805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527762" y="47134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443662" y="508158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599682" y="5025390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λ₁ ≈ max(x⁽¹²⁾) = 6.000837，相对误差约 1.4×10⁻⁴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6443662" y="538162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599682" y="5325428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v₁ ≈ y⁽¹²⁾ = (1, 0.714316, −0.249895)ᵀ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429375" y="5622131"/>
              <a:ext cx="50096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最后一列误差每步约减半，符合 r = |λ₂/λ₁| = 0.5。表中数值按脚本重算。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40407" cy="909257"/>
            <a:chOff x="520446" y="342900"/>
            <a:chExt cx="71404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404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 1、2：α₁ = 0 或主特征值不唯一时会怎样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4118610"/>
            <a:chOff x="533400" y="1524000"/>
            <a:chExt cx="11125200" cy="41186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0833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383357" y="1658779"/>
              <a:ext cx="10897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 的表现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55443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381726"/>
              <a:ext cx="13205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 1：α₁ = 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29268" y="2128361"/>
              <a:ext cx="4559046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理论上 x⁽ᵏ⁾ 不含 v₁ 分量，会收敛到 λ₂ 及其特征向量。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实际计算中舍入误差会带进很小的 v₁ 分量，它被放大得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最快，多迭代一些步后仍趋于 λ₁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5608" y="2255044"/>
              <a:ext cx="38016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一般不必担心；怀疑时换一个初始向量重算，看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结果是否一致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9641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968942"/>
              <a:ext cx="11125200" cy="975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3103721"/>
              <a:ext cx="1550524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λ₂（重根，有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两个无关特征向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量，|λ₁| &gt; |λ₃|）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9268" y="3230404"/>
              <a:ext cx="453199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x⁽ᵏ⁾ ≈ λ₁ᵏ(α₁v₁ + α₂v₂)。分量比值仍收敛到 λ₁，向量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收敛到 v₁、v₂ 的某个组合，仍是 λ₁ 的特征向量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35608" y="335708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照常使用；不同初始向量会得到不同的特征向量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93954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4205764"/>
              <a:ext cx="797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−λ₂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9268" y="4079081"/>
              <a:ext cx="441477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x⁽ᵏ⁾ ≈ λ₁ᵏ(α₁v₁ + (−1)ᵏα₂v₂)，相邻两步的比值不收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敛，奇数步、偶数步各自稳定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35608" y="4079081"/>
              <a:ext cx="3413887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xᵢ⁽ᵏ⁺²⁾/xᵢ⁽ᵏ⁾ → λ₁²，开方得 ±λ₁；v₁ ∝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x⁽ᵏ⁺¹⁾ + λ₁x⁽ᵏ⁾，v₂ ∝ x⁽ᵏ⁺¹⁾ − λ₁x⁽ᵏ⁾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6624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4667250"/>
              <a:ext cx="11125200" cy="97536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5055394"/>
              <a:ext cx="15925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与 λ₂ 共轭复数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29268" y="4928711"/>
              <a:ext cx="45229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实矩阵、实初始向量的迭代始终是实向量，不可能收敛到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复特征向量，分量无规律地摆动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35608" y="4802029"/>
              <a:ext cx="3675380" cy="785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λ₁、λ₂ 是 λ² + pλ + q = 0 的根，由 x⁽ᵏ⁺²⁾ +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px⁽ᵏ⁺¹⁾ + qx⁽ᵏ⁾ ≈ 0 解出 p、q，再解二次方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11125200" cy="41186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420302" y="1524000"/>
              <a:ext cx="9525" cy="41186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426642" y="1524000"/>
              <a:ext cx="9525" cy="41186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32" name="Rectangle 32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2E7D4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6004084"/>
              <a:ext cx="94663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判断依据都来自展开式 x⁽ᵏ⁾ = Σ αⱼλⱼᵏvⱼ：看哪些项的 |λⱼ|ᵏ 增长最快，以及它们的比值在 k 变化时是否固定。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04512" cy="909257"/>
            <a:chOff x="520446" y="342900"/>
            <a:chExt cx="85045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045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4.2.2 反幂法：对 A⁻¹ 用乘幂法，求按模最小的特征值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096452"/>
            <a:chOff x="533400" y="1524000"/>
            <a:chExt cx="5410200" cy="20964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96452"/>
            </a:xfrm>
            <a:prstGeom prst="roundRect">
              <a:avLst>
                <a:gd name="adj" fmla="val 6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97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2682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∈ Rⁿˣⁿ 可逆，Ax = λx（x ≠ 0），则 λ ≠ 0 且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07"/>
                <p:cNvSpPr txBox="1">
                  <a:spLocks noGrp="1"/>
                </p:cNvSpPr>
                <p:nvPr/>
              </p:nvSpPr>
              <p:spPr>
                <a:xfrm>
                  <a:off x="769620" y="2377440"/>
                  <a:ext cx="4975860" cy="438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  <m:r>
                          <m:rPr>
                            <m:sty m:val="p"/>
                          </m:rP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7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7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x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2381" y="2928461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即 λ⁻¹ 是 A⁻¹ 的特征值，特征向量相同。A 按模最小的 λₙ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 A⁻¹ 按模最大的 1/λₙ。</a:t>
              </a:r>
            </a:p>
          </p:txBody>
        </p:sp>
      </p:grpSp>
      <p:grpSp>
        <p:nvGrpSpPr>
          <p:cNvPr id="16" name="c1-text-2"/>
          <p:cNvGrpSpPr/>
          <p:nvPr/>
        </p:nvGrpSpPr>
        <p:grpSpPr>
          <a:xfrm>
            <a:off x="526161" y="3823811"/>
            <a:ext cx="2189378" cy="278702"/>
            <a:chOff x="526161" y="3823811"/>
            <a:chExt cx="2189378" cy="278702"/>
          </a:xfrm>
        </p:grpSpPr>
        <p:sp>
          <p:nvSpPr>
            <p:cNvPr id="15" name="TextBox 15"/>
            <p:cNvSpPr txBox="1"/>
            <p:nvPr/>
          </p:nvSpPr>
          <p:spPr>
            <a:xfrm>
              <a:off x="526161" y="3823811"/>
              <a:ext cx="21893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A⁻¹ 为乘幂矩阵迭代：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108"/>
              <p:cNvSpPr txBox="1">
                <a:spLocks noGrp="1"/>
              </p:cNvSpPr>
              <p:nvPr/>
            </p:nvSpPr>
            <p:spPr>
              <a:xfrm>
                <a:off x="533400" y="4227195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4.21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9" name="c1-text-4"/>
          <p:cNvGrpSpPr/>
          <p:nvPr/>
        </p:nvGrpSpPr>
        <p:grpSpPr>
          <a:xfrm>
            <a:off x="526161" y="4830604"/>
            <a:ext cx="4602328" cy="278702"/>
            <a:chOff x="526161" y="4830604"/>
            <a:chExt cx="4602328" cy="278702"/>
          </a:xfrm>
        </p:grpSpPr>
        <p:sp>
          <p:nvSpPr>
            <p:cNvPr id="18" name="TextBox 18"/>
            <p:cNvSpPr txBox="1"/>
            <p:nvPr/>
          </p:nvSpPr>
          <p:spPr>
            <a:xfrm>
              <a:off x="526161" y="4830604"/>
              <a:ext cx="46023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求逆既麻烦，又会破坏稀疏性，所以改写成解方程组：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109"/>
              <p:cNvSpPr txBox="1">
                <a:spLocks noGrp="1"/>
              </p:cNvSpPr>
              <p:nvPr/>
            </p:nvSpPr>
            <p:spPr>
              <a:xfrm>
                <a:off x="533400" y="5233988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,⋯</m:t>
                          </m:r>
                        </m:e>
                      </m:d>
                      <m: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4.22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2-card-1"/>
          <p:cNvGrpSpPr/>
          <p:nvPr/>
        </p:nvGrpSpPr>
        <p:grpSpPr>
          <a:xfrm>
            <a:off x="6248400" y="1524000"/>
            <a:ext cx="5410200" cy="1511618"/>
            <a:chOff x="6248400" y="1524000"/>
            <a:chExt cx="5410200" cy="1511618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6520" y="172212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1958" y="17564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规范化反幂法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formula110"/>
                <p:cNvSpPr txBox="1">
                  <a:spLocks noGrp="1"/>
                </p:cNvSpPr>
                <p:nvPr/>
              </p:nvSpPr>
              <p:spPr>
                <a:xfrm>
                  <a:off x="6446520" y="2059305"/>
                  <a:ext cx="5013960" cy="76009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/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max</m:t>
                                    </m:r>
                                  </m:fName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FFFFFF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x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begChr m:val="("/>
                                                <m:sepChr m:val=""/>
                                                <m:endChr m:val=")"/>
                                                <m:grow m:val="on"/>
                                                <m:ctrlPr>
                                                  <a:rPr lang="zh-CN" sz="158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zh-CN" sz="1580" dirty="0">
                                                    <a:solidFill>
                                                      <a:srgbClr val="FFFFFF"/>
                                                    </a:solidFill>
                                                    <a:latin typeface="Cambria Math"/>
                                                    <a:ea typeface="Cambria Math"/>
                                                    <a:cs typeface="Cambria Math"/>
                                                  </a:rPr>
                                                  <m:t>k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x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+</m:t>
                                        </m:r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p>
                                  <m:e>
                                    <m: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y</m:t>
                                    </m:r>
                                  </m:e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eqArr>
                          </m:e>
                        </m:d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4.23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rd-2"/>
          <p:cNvGrpSpPr/>
          <p:nvPr/>
        </p:nvGrpSpPr>
        <p:grpSpPr>
          <a:xfrm>
            <a:off x="6248400" y="3215640"/>
            <a:ext cx="5410200" cy="2418398"/>
            <a:chOff x="6248400" y="3215640"/>
            <a:chExt cx="5410200" cy="2418398"/>
          </a:xfrm>
        </p:grpSpPr>
        <p:sp>
          <p:nvSpPr>
            <p:cNvPr id="26" name="Rectangle 26"/>
            <p:cNvSpPr/>
            <p:nvPr/>
          </p:nvSpPr>
          <p:spPr>
            <a:xfrm>
              <a:off x="6248400" y="3215640"/>
              <a:ext cx="5410200" cy="2418398"/>
            </a:xfrm>
            <a:prstGeom prst="roundRect">
              <a:avLst>
                <a:gd name="adj" fmla="val 55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3348990"/>
              <a:ext cx="47625" cy="215169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84620" y="341376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8059" y="34480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收敛结论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77381" y="3774281"/>
              <a:ext cx="33311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|λ₁| ≥ |λ₂| ≥ … ≥ |λₙ₋₁| &gt; |λₙ| &gt; 0 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111"/>
                <p:cNvSpPr txBox="1">
                  <a:spLocks noGrp="1"/>
                </p:cNvSpPr>
                <p:nvPr/>
              </p:nvSpPr>
              <p:spPr>
                <a:xfrm>
                  <a:off x="6484620" y="4069080"/>
                  <a:ext cx="4975860" cy="62007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x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begChr m:val="("/>
                                            <m:sepChr m:val=""/>
                                            <m:endChr m:val=")"/>
                                            <m:grow m:val="on"/>
                                            <m:ctrlP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zh-CN" sz="1580" dirty="0">
                                                <a:solidFill>
                                                  <a:srgbClr val="1F2937"/>
                                                </a:solidFill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k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e>
                        </m:func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4.25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2" name="Ellipse 32"/>
            <p:cNvSpPr/>
            <p:nvPr/>
          </p:nvSpPr>
          <p:spPr>
            <a:xfrm>
              <a:off x="6492240" y="486156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8831" y="4802029"/>
              <a:ext cx="27289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y⁽ᵏ⁾ 是 λₙ 相应的近似特征向量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492240" y="517969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48831" y="5119211"/>
              <a:ext cx="22606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收敛速度取决于 |λₙ/λₙ₋₁|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7" name="Rectangle 37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511" y="6011704"/>
              <a:ext cx="72307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易错：迭代表里的 max(x⁽ᵏ⁾) 近似的是 1/λₙ，最后要取倒数，λₙ ≈ 1/max(x⁽ᵏ⁾)。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55374" cy="909257"/>
            <a:chOff x="520446" y="342900"/>
            <a:chExt cx="92553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553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反幂法每步都解同一个系数矩阵的方程组，先做一次 LU 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5028629" cy="529780"/>
            <a:chOff x="526542" y="1545907"/>
            <a:chExt cx="5028629" cy="529780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28629" cy="5297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92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系数矩阵 A 在迭代中不变，先分解 A = LU，每步化为两个三角方程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116"/>
              <p:cNvSpPr txBox="1">
                <a:spLocks noGrp="1"/>
              </p:cNvSpPr>
              <p:nvPr/>
            </p:nvSpPr>
            <p:spPr>
              <a:xfrm>
                <a:off x="533400" y="2198370"/>
                <a:ext cx="54102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</m:t>
                              </m:r>
                              <m:acc>
                                <m:accPr>
                                  <m:chr m:val="˜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acc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y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</m:e>
                                  </m:d>
                                </m:sup>
                              </m:sSup>
                            </m:e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U</m:t>
                              </m:r>
                              <m:sSup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  <m:sup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+</m:t>
                                      </m:r>
                                      <m:r>
                                        <a:rPr lang="zh-CN" sz="15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acc>
                                <m:accPr>
                                  <m:chr m:val="˜"/>
                                  <m:ctrlP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zh-CN" sz="15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x</m:t>
                                  </m:r>
                                </m:e>
                              </m:acc>
                            </m:e>
                          </m:eqArr>
                        </m:e>
                      </m:d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,⋯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4.24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7" name="c1-card-3"/>
          <p:cNvGrpSpPr/>
          <p:nvPr/>
        </p:nvGrpSpPr>
        <p:grpSpPr>
          <a:xfrm>
            <a:off x="533400" y="3096578"/>
            <a:ext cx="5410200" cy="3101340"/>
            <a:chOff x="533400" y="3096578"/>
            <a:chExt cx="5410200" cy="3101340"/>
          </a:xfrm>
        </p:grpSpPr>
        <p:sp>
          <p:nvSpPr>
            <p:cNvPr id="10" name="Rectangle 10"/>
            <p:cNvSpPr/>
            <p:nvPr/>
          </p:nvSpPr>
          <p:spPr>
            <a:xfrm>
              <a:off x="533400" y="3096578"/>
              <a:ext cx="5410200" cy="3101340"/>
            </a:xfrm>
            <a:prstGeom prst="roundRect">
              <a:avLst>
                <a:gd name="adj" fmla="val 43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3229928"/>
              <a:ext cx="47625" cy="283464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3905" y="3288982"/>
              <a:ext cx="595312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322" y="3323273"/>
              <a:ext cx="4195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思考 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646170"/>
              <a:ext cx="4635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Gauss 消元解 (4.22) 与用 (4.24) 求解，计算量差在哪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3905" y="3943350"/>
              <a:ext cx="4987290" cy="444818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23060" y="407193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0902" y="4071938"/>
              <a:ext cx="1868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 k 步的乘除法次数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774" y="4515802"/>
              <a:ext cx="17506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每步重新 Gauss 消元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57322" y="4515802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k·n³/3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3905" y="4828222"/>
              <a:ext cx="498729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3905" y="4832985"/>
              <a:ext cx="4987290" cy="68484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2774" y="4960620"/>
              <a:ext cx="1672923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LU 分解一次 + 每步两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个三角方程组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57322" y="5080635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n³/3 + k·n²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3905" y="3943350"/>
              <a:ext cx="4987290" cy="1573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53690" y="3943350"/>
              <a:ext cx="9525" cy="1573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8190" y="5623084"/>
              <a:ext cx="46911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100、k = 10：前者约 3.3×10⁶ 次，后者约 4.3×10⁵ 次。k 越大差距越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明显。</a:t>
              </a:r>
            </a:p>
          </p:txBody>
        </p:sp>
      </p:grpSp>
      <p:grpSp>
        <p:nvGrpSpPr>
          <p:cNvPr id="33" name="c2-code-1"/>
          <p:cNvGrpSpPr/>
          <p:nvPr/>
        </p:nvGrpSpPr>
        <p:grpSpPr>
          <a:xfrm>
            <a:off x="6248400" y="1524000"/>
            <a:ext cx="5410200" cy="3723322"/>
            <a:chOff x="6248400" y="1524000"/>
            <a:chExt cx="5410200" cy="3723322"/>
          </a:xfrm>
        </p:grpSpPr>
        <p:sp>
          <p:nvSpPr>
            <p:cNvPr id="28" name="Rectangle 28"/>
            <p:cNvSpPr/>
            <p:nvPr/>
          </p:nvSpPr>
          <p:spPr>
            <a:xfrm>
              <a:off x="6248400" y="1524000"/>
              <a:ext cx="5410200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797" y="1675924"/>
              <a:ext cx="21385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anti_eigen_pow.m（原课件程序）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67450" y="322326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267450" y="473773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76416" y="1937385"/>
              <a:ext cx="3971163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function [lamda, eigen_vec] = anti_eigen_pow(A, u, ep)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% 求 A 按模最小的特征值 lamda 及特征向量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err = 100;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u0 = u;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[ele, label] = max(abs(u0));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v0 = u0 / u0(label);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err &gt; ep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u1 = A \ v0;              % 解 A x(k+1) = y(k)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[ele, label] = max(abs(u1));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lamda = u1(label);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v1 = u1 / lamda;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err = max(abs(v1 - v0));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v0 = v1;  u0 = u1;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eigen_vec = v0;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lamda = 1 / lamda;          % 取倒数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40" name="c2-callout-2"/>
          <p:cNvGrpSpPr/>
          <p:nvPr/>
        </p:nvGrpSpPr>
        <p:grpSpPr>
          <a:xfrm>
            <a:off x="6248400" y="5422582"/>
            <a:ext cx="5410200" cy="776288"/>
            <a:chOff x="6248400" y="5422582"/>
            <a:chExt cx="5410200" cy="776288"/>
          </a:xfrm>
        </p:grpSpPr>
        <p:sp>
          <p:nvSpPr>
            <p:cNvPr id="34" name="Rectangle 34"/>
            <p:cNvSpPr/>
            <p:nvPr/>
          </p:nvSpPr>
          <p:spPr>
            <a:xfrm>
              <a:off x="6248400" y="5422582"/>
              <a:ext cx="5410200" cy="776288"/>
            </a:xfrm>
            <a:prstGeom prst="roundRect">
              <a:avLst>
                <a:gd name="adj" fmla="val 1472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453188" y="5710238"/>
              <a:ext cx="200026" cy="200025"/>
              <a:chOff x="6453188" y="5710238"/>
              <a:chExt cx="200026" cy="200025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453188" y="57102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492926" y="575468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27642" y="586581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755892" y="5591175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 \ v0 每次都重新分解 A。按 (4.24) 改进：循环前写 [L,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U, P] = lu(A)，循环内写 u1 = U \ (L \ (P*v0))。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26250" cy="909257"/>
            <a:chOff x="520446" y="342900"/>
            <a:chExt cx="802625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2625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 反幂法求按模最小特征值：A 需要选主元分解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19"/>
              <p:cNvSpPr txBox="1">
                <a:spLocks noGrp="1"/>
              </p:cNvSpPr>
              <p:nvPr/>
            </p:nvSpPr>
            <p:spPr>
              <a:xfrm>
                <a:off x="533400" y="1524000"/>
                <a:ext cx="4760595" cy="8343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zh-CN" sz="18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llout-2"/>
          <p:cNvGrpSpPr/>
          <p:nvPr/>
        </p:nvGrpSpPr>
        <p:grpSpPr>
          <a:xfrm>
            <a:off x="533400" y="2548890"/>
            <a:ext cx="4760595" cy="1059180"/>
            <a:chOff x="533400" y="2548890"/>
            <a:chExt cx="4760595" cy="1059180"/>
          </a:xfrm>
        </p:grpSpPr>
        <p:sp>
          <p:nvSpPr>
            <p:cNvPr id="8" name="Rectangle 8"/>
            <p:cNvSpPr/>
            <p:nvPr/>
          </p:nvSpPr>
          <p:spPr>
            <a:xfrm>
              <a:off x="533400" y="254889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726129" y="2974776"/>
              <a:ext cx="224134" cy="192560"/>
              <a:chOff x="726129" y="2974776"/>
              <a:chExt cx="224134" cy="19256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38200" y="304514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26129" y="297477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38200" y="31229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40130" y="2697480"/>
              <a:ext cx="3758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二阶顺序主子式 1×1 − 1×1 = 0，不选主元的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Doolittle 分解在第 2 步遇到零主元，所以用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列主元分解 PA = LU（P 交换第 2、3 行）。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formula120"/>
              <p:cNvSpPr txBox="1">
                <a:spLocks noGrp="1"/>
              </p:cNvSpPr>
              <p:nvPr/>
            </p:nvSpPr>
            <p:spPr>
              <a:xfrm>
                <a:off x="533400" y="3798570"/>
                <a:ext cx="4760595" cy="764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1.75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0.25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7" name="c1-text-4"/>
          <p:cNvGrpSpPr/>
          <p:nvPr/>
        </p:nvGrpSpPr>
        <p:grpSpPr>
          <a:xfrm>
            <a:off x="526923" y="4775359"/>
            <a:ext cx="4572762" cy="752284"/>
            <a:chOff x="526923" y="4775359"/>
            <a:chExt cx="4572762" cy="752284"/>
          </a:xfrm>
        </p:grpSpPr>
        <p:sp>
          <p:nvSpPr>
            <p:cNvPr id="16" name="TextBox 16"/>
            <p:cNvSpPr txBox="1"/>
            <p:nvPr/>
          </p:nvSpPr>
          <p:spPr>
            <a:xfrm>
              <a:off x="526923" y="4775359"/>
              <a:ext cx="4572762" cy="7522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每步解 Lz = Py⁽ᵏ⁾，再解 Ux⁽ᵏ⁺¹⁾ = z。原课件第 50 页贴出的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MATLAB 输出 [L, U] = lu(A) 正是这组 U，那里的 L 是 PᵀL（行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已换回原顺序）。</a:t>
              </a:r>
            </a:p>
          </p:txBody>
        </p:sp>
      </p:grpSp>
      <p:grpSp>
        <p:nvGrpSpPr>
          <p:cNvPr id="35" name="c2-steps-1"/>
          <p:cNvGrpSpPr/>
          <p:nvPr/>
        </p:nvGrpSpPr>
        <p:grpSpPr>
          <a:xfrm>
            <a:off x="5598795" y="1533525"/>
            <a:ext cx="5562473" cy="3233071"/>
            <a:chOff x="5598795" y="1533525"/>
            <a:chExt cx="5562473" cy="3233071"/>
          </a:xfrm>
        </p:grpSpPr>
        <p:sp>
          <p:nvSpPr>
            <p:cNvPr id="18" name="Rectangle 18"/>
            <p:cNvSpPr/>
            <p:nvPr/>
          </p:nvSpPr>
          <p:spPr>
            <a:xfrm>
              <a:off x="5732145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598795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241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5598795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69241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598795" y="395573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92419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0275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1418" y="1861661"/>
              <a:ext cx="3846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x⁽⁰⁾ = (1, 1, 1)ᵀ，max = 1，y⁽⁰⁾ = (1, 1, 1)ᵀ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0275" y="2218372"/>
              <a:ext cx="2449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步：解 Ax⁽¹⁾ = y⁽⁰⁾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1418" y="2512219"/>
              <a:ext cx="51498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Py⁽⁰⁾ = (1, 1, 1)ᵀ → z = (1, 0.5, 0)ᵀ → x⁽¹⁾ = (3, −2, 0)ᵀ；max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3，y⁽¹⁾ = (1, −2/3, 0)ᵀ，1/max = 0.333333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0275" y="3104198"/>
              <a:ext cx="2449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步：解 Ax⁽²⁾ = y⁽¹⁾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1418" y="3397091"/>
              <a:ext cx="47190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Py⁽¹⁾ = (1, 0, −2/3)ᵀ → z = (1, −0.5, −5/3)ᵀ → x⁽²⁾ = (−51,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48.666667, 6.666667)ᵀ；max = −51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0275" y="399002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1418" y="4282916"/>
              <a:ext cx="466217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y⁽²⁾ = x⁽²⁾/(−51) = (1, −0.954248, −0.130719)ᵀ，1/max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−0.019608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5598795" y="4945380"/>
            <a:ext cx="6059805" cy="782955"/>
            <a:chOff x="5598795" y="4945380"/>
            <a:chExt cx="6059805" cy="782955"/>
          </a:xfrm>
        </p:grpSpPr>
        <p:sp>
          <p:nvSpPr>
            <p:cNvPr id="36" name="Rectangle 36"/>
            <p:cNvSpPr/>
            <p:nvPr/>
          </p:nvSpPr>
          <p:spPr>
            <a:xfrm>
              <a:off x="5598795" y="494538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803583" y="5236845"/>
              <a:ext cx="200026" cy="200025"/>
              <a:chOff x="5803583" y="5236845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803583" y="52368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843321" y="52812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878037" y="53924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105525" y="5093970"/>
              <a:ext cx="50825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回代检验第 1 步：U x = z，x₃ = 0/(−0.25) = 0，x₂ = (0.5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− 1.75x₃)/(−0.25) = −2，x₁ = 1 − x₂ − 0.5x₃ = 3。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63031" cy="909257"/>
            <a:chOff x="520446" y="342900"/>
            <a:chExt cx="55630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630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 迭代 5 步：λ₃ ≈ −0.016647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0" name="c1-table-1"/>
          <p:cNvGrpSpPr/>
          <p:nvPr/>
        </p:nvGrpSpPr>
        <p:grpSpPr>
          <a:xfrm>
            <a:off x="528066" y="1524000"/>
            <a:ext cx="5956554" cy="3120009"/>
            <a:chOff x="528066" y="1524000"/>
            <a:chExt cx="5956554" cy="312000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2746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1119" y="1648301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max(x⁽ᵏ⁾)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31846" y="1648301"/>
              <a:ext cx="1792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 = x⁽ᵏ⁾/max(x⁽ᵏ⁾)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076180" y="1648301"/>
              <a:ext cx="1270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 ≈ 1/max(x⁽ᵏ⁾)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2746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8731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86884" y="205406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(1, 1, 1)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33076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33553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2746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8731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55181" y="2459831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−0.666667, 0)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73771" y="245983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0.333333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7365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2746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04386" y="286559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23477" y="286559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−0.954248, −0.130719)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32308" y="286559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−0.019608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14229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14706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2746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14145" y="327136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−60.150327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23477" y="327136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−0.951646, −0.129958)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32308" y="327136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−0.016625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54806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2746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14145" y="3677126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−60.069217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23477" y="367712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−0.951668, −0.129960)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32308" y="367712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−0.016647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395382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395859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2746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14145" y="4082891"/>
              <a:ext cx="8406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−60.069866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27910" y="3968115"/>
              <a:ext cx="259937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623477" y="408289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−0.951667, −0.129960)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947285" y="3968115"/>
              <a:ext cx="152781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32308" y="408289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−0.016647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524000"/>
              <a:ext cx="595122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4488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31362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93299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8066" y="4438650"/>
              <a:ext cx="29008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每行先解 Ax⁽ᵏ⁾ = y⁽ᵏ⁻¹⁾ 得 x⁽ᵏ⁾，再规范化</a:t>
              </a:r>
            </a:p>
          </p:txBody>
        </p:sp>
      </p:grpSp>
      <p:grpSp>
        <p:nvGrpSpPr>
          <p:cNvPr id="58" name="c1-card-2"/>
          <p:cNvGrpSpPr/>
          <p:nvPr/>
        </p:nvGrpSpPr>
        <p:grpSpPr>
          <a:xfrm>
            <a:off x="533400" y="4777740"/>
            <a:ext cx="5951220" cy="1511618"/>
            <a:chOff x="533400" y="4777740"/>
            <a:chExt cx="5951220" cy="1511618"/>
          </a:xfrm>
        </p:grpSpPr>
        <p:sp>
          <p:nvSpPr>
            <p:cNvPr id="51" name="Rectangle 51"/>
            <p:cNvSpPr/>
            <p:nvPr/>
          </p:nvSpPr>
          <p:spPr>
            <a:xfrm>
              <a:off x="533400" y="4777740"/>
              <a:ext cx="5951220" cy="1511618"/>
            </a:xfrm>
            <a:prstGeom prst="roundRect">
              <a:avLst>
                <a:gd name="adj" fmla="val 8822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5805" y="497014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17245" y="500443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34378" y="538353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90397" y="5327333"/>
              <a:ext cx="49771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λ₃ ≈ 1/max(x⁽⁵⁾) = −0.016647，与 numpy 算出的 −0.0166473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一致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34378" y="594264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90397" y="5886450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v₃ ≈ y⁽⁵⁾ = (1, −0.951667, −0.129960)ᵀ</a:t>
              </a:r>
            </a:p>
          </p:txBody>
        </p:sp>
      </p:grpSp>
      <p:grpSp>
        <p:nvGrpSpPr>
          <p:cNvPr id="69" name="c2-card-1"/>
          <p:cNvGrpSpPr/>
          <p:nvPr/>
        </p:nvGrpSpPr>
        <p:grpSpPr>
          <a:xfrm>
            <a:off x="6789420" y="1524000"/>
            <a:ext cx="4869180" cy="2071688"/>
            <a:chOff x="6789420" y="1524000"/>
            <a:chExt cx="4869180" cy="2071688"/>
          </a:xfrm>
        </p:grpSpPr>
        <p:sp>
          <p:nvSpPr>
            <p:cNvPr id="59" name="Rectangle 59"/>
            <p:cNvSpPr/>
            <p:nvPr/>
          </p:nvSpPr>
          <p:spPr>
            <a:xfrm>
              <a:off x="6789420" y="1524000"/>
              <a:ext cx="4869180" cy="2071688"/>
            </a:xfrm>
            <a:prstGeom prst="roundRect">
              <a:avLst>
                <a:gd name="adj" fmla="val 643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798945" y="1657350"/>
              <a:ext cx="47625" cy="18049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01992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1136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028498" y="2128838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84517" y="2072640"/>
              <a:ext cx="4077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 4.1 中 y⁽¹⁾ 写成 (1, 0.6667, 0)，第 2 分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量应为 −0.6667（第 50 页推导里就是 −2/3）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028498" y="2688907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184517" y="2632710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y⁽²⁾ 写成 (0.7482, 0.6497, 1)，与例 4.3 表中数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据混淆；k = 2 起 y 列整体错后一行，应如左表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028498" y="3248977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184517" y="3192780"/>
              <a:ext cx="4403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正文“迭代 x⁽²⁾ = Ay⁽¹⁾”应为解方程组 Ax⁽²⁾ = y⁽¹⁾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789420" y="3770948"/>
            <a:ext cx="4869180" cy="2519362"/>
            <a:chOff x="6789420" y="3770948"/>
            <a:chExt cx="4869180" cy="2519362"/>
          </a:xfrm>
        </p:grpSpPr>
        <p:sp>
          <p:nvSpPr>
            <p:cNvPr id="70" name="Rectangle 70"/>
            <p:cNvSpPr/>
            <p:nvPr/>
          </p:nvSpPr>
          <p:spPr>
            <a:xfrm>
              <a:off x="6789420" y="3770948"/>
              <a:ext cx="4869180" cy="2519362"/>
            </a:xfrm>
            <a:prstGeom prst="roundRect">
              <a:avLst>
                <a:gd name="adj" fmla="val 52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6798945" y="3904298"/>
              <a:ext cx="47625" cy="22526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019925" y="3963352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95363" y="399764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为什么这么快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013067" y="4319588"/>
              <a:ext cx="423138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的三个特征值约为 2.5365、1.4801、−0.0166。收敛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因子 |λ₃/λ₂| = 0.0166/1.4801 ≈ 0.011，每步误差约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缩小到 1%。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90076" cy="909257"/>
            <a:chOff x="520446" y="342900"/>
            <a:chExt cx="89900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90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4.2.3 原点平移：对 B = A − λ₀I 用乘幂法，改变收敛因子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2911792"/>
            <a:chOff x="533400" y="1524000"/>
            <a:chExt cx="5410200" cy="2911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11792"/>
            </a:xfrm>
            <a:prstGeom prst="roundRect">
              <a:avLst>
                <a:gd name="adj" fmla="val 45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4509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990" y="1763554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平移不改变特征向量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60413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Ax = λx，令 B = A − λ₀I，则 Bx = (λ − λ₀)x。设 μᵢ 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的特征值：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29"/>
                <p:cNvSpPr txBox="1">
                  <a:spLocks noGrp="1"/>
                </p:cNvSpPr>
                <p:nvPr/>
              </p:nvSpPr>
              <p:spPr>
                <a:xfrm>
                  <a:off x="775335" y="2668905"/>
                  <a:ext cx="496443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=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3184684"/>
              <a:ext cx="4721352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相应于 λᵢ 的特征向量 vᵢ 也是 B 相应于 μᵢ 的特征向量。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B 代替 A 迭代，称为乘幂法的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原点平移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，求出 μ₁ 后 λ₁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μ₁ + λ₀。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9239" y="4044315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平移只改对角元，计算简单，不破坏稀疏性。</a:t>
              </a:r>
            </a:p>
          </p:txBody>
        </p:sp>
      </p:grpSp>
      <p:grpSp>
        <p:nvGrpSpPr>
          <p:cNvPr id="35" name="c1-table-2"/>
          <p:cNvGrpSpPr/>
          <p:nvPr/>
        </p:nvGrpSpPr>
        <p:grpSpPr>
          <a:xfrm>
            <a:off x="533400" y="4620578"/>
            <a:ext cx="5410200" cy="1720215"/>
            <a:chOff x="533400" y="4620578"/>
            <a:chExt cx="5410200" cy="1720215"/>
          </a:xfrm>
        </p:grpSpPr>
        <p:sp>
          <p:nvSpPr>
            <p:cNvPr id="16" name="Rectangle 16"/>
            <p:cNvSpPr/>
            <p:nvPr/>
          </p:nvSpPr>
          <p:spPr>
            <a:xfrm>
              <a:off x="533400" y="4620578"/>
              <a:ext cx="5410200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76316" y="4752022"/>
              <a:ext cx="954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 4.3 的 λᵢ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41384" y="4752022"/>
              <a:ext cx="1226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= A + 4I 的 μᵢ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50443" y="4752022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|μᵢ/μ₁|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67544" y="5182552"/>
              <a:ext cx="571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5.1248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82074" y="5182552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9.1248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90134" y="5182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4759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480685"/>
              <a:ext cx="5410200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0898" y="561213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−2.4771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82074" y="561213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1.5229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68011" y="561213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0.1669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9064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0898" y="6042660"/>
              <a:ext cx="665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−4.6477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37649" y="60426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−0.6477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68011" y="6042660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0.0710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620578"/>
              <a:ext cx="5410200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67915" y="462057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531995" y="4620578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2-text-1"/>
          <p:cNvGrpSpPr/>
          <p:nvPr/>
        </p:nvGrpSpPr>
        <p:grpSpPr>
          <a:xfrm>
            <a:off x="6241161" y="1547336"/>
            <a:ext cx="3474391" cy="278702"/>
            <a:chOff x="6241161" y="1547336"/>
            <a:chExt cx="3474391" cy="278702"/>
          </a:xfrm>
        </p:grpSpPr>
        <p:sp>
          <p:nvSpPr>
            <p:cNvPr id="36" name="TextBox 36"/>
            <p:cNvSpPr txBox="1"/>
            <p:nvPr/>
          </p:nvSpPr>
          <p:spPr>
            <a:xfrm>
              <a:off x="6241161" y="1547336"/>
              <a:ext cx="34743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对任何 x⁽⁰⁾ ∈ Rⁿ，关于 B 的乘幂公式为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formula130"/>
              <p:cNvSpPr txBox="1">
                <a:spLocks noGrp="1"/>
              </p:cNvSpPr>
              <p:nvPr/>
            </p:nvSpPr>
            <p:spPr>
              <a:xfrm>
                <a:off x="6248400" y="1955482"/>
                <a:ext cx="541020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</m:t>
                              </m:r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sSup>
                        <m:e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formula131"/>
              <p:cNvSpPr txBox="1">
                <a:spLocks noGrp="1"/>
              </p:cNvSpPr>
              <p:nvPr/>
            </p:nvSpPr>
            <p:spPr>
              <a:xfrm>
                <a:off x="6248400" y="2541270"/>
                <a:ext cx="5410200" cy="700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zh-CN" sz="15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λ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p>
                      </m:sSup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e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v</m:t>
                              </m:r>
                            </m:e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sz="15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  <m:grow m:val="off"/>
                              <m:subHide m:val="off"/>
                              <m:supHide m:val="off"/>
                              <m:ctrl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naryPr>
                            <m:sub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sz="15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sup>
                            <m:e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  <m:sSup>
                                <m:e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58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type m:val="bar"/>
                                          <m:ctrl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λ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j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λ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λ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58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e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λ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58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0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p>
                              </m:sSup>
                              <m:sSub>
                                <m:e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v</m:t>
                                  </m:r>
                                </m:e>
                                <m:sub>
                                  <m:r>
                                    <a:rPr lang="zh-CN" sz="158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6" name="c2-card-4"/>
          <p:cNvGrpSpPr/>
          <p:nvPr/>
        </p:nvGrpSpPr>
        <p:grpSpPr>
          <a:xfrm>
            <a:off x="6248400" y="3426142"/>
            <a:ext cx="5410200" cy="2914650"/>
            <a:chOff x="6248400" y="3426142"/>
            <a:chExt cx="5410200" cy="2914650"/>
          </a:xfrm>
        </p:grpSpPr>
        <p:sp>
          <p:nvSpPr>
            <p:cNvPr id="40" name="Rectangle 40"/>
            <p:cNvSpPr/>
            <p:nvPr/>
          </p:nvSpPr>
          <p:spPr>
            <a:xfrm>
              <a:off x="6248400" y="3426142"/>
              <a:ext cx="5410200" cy="2914650"/>
            </a:xfrm>
            <a:prstGeom prst="roundRect">
              <a:avLst>
                <a:gd name="adj" fmla="val 457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52235" y="3629978"/>
              <a:ext cx="1032510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26660" y="3665696"/>
              <a:ext cx="883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 λ₀ 的原则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4996" y="4002881"/>
              <a:ext cx="41053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为加快收敛，λ₀ 应使下面的收敛因子达到最小：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132"/>
                <p:cNvSpPr txBox="1">
                  <a:spLocks noGrp="1"/>
                </p:cNvSpPr>
                <p:nvPr/>
              </p:nvSpPr>
              <p:spPr>
                <a:xfrm>
                  <a:off x="6452235" y="4299585"/>
                  <a:ext cx="5002530" cy="520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ω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limLow>
                              <m:limLowPr/>
                              <m:e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≤</m:t>
                                </m:r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j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4.1.29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5" name="TextBox 45"/>
            <p:cNvSpPr txBox="1"/>
            <p:nvPr/>
          </p:nvSpPr>
          <p:spPr>
            <a:xfrm>
              <a:off x="6446139" y="4932045"/>
              <a:ext cx="3590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还要求 ω(λ₀) &lt; 1，否则迭代收敛到的不再是 λ₁。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32428" cy="909257"/>
            <a:chOff x="520446" y="342900"/>
            <a:chExt cx="62324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324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思考 4：|λ₂ − λ₀|/|λ₁ − λ₀| 越小越好吗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graph-1"/>
          <p:cNvGrpSpPr/>
          <p:nvPr/>
        </p:nvGrpSpPr>
        <p:grpSpPr>
          <a:xfrm>
            <a:off x="683895" y="1550670"/>
            <a:ext cx="5381625" cy="890111"/>
            <a:chOff x="683895" y="1550670"/>
            <a:chExt cx="5381625" cy="890111"/>
          </a:xfrm>
        </p:grpSpPr>
        <p:sp>
          <p:nvSpPr>
            <p:cNvPr id="7" name="Freeform 7"/>
            <p:cNvSpPr/>
            <p:nvPr/>
          </p:nvSpPr>
          <p:spPr>
            <a:xfrm>
              <a:off x="683895" y="2186940"/>
              <a:ext cx="5286375" cy="9525"/>
            </a:xfrm>
            <a:custGeom>
              <a:avLst/>
              <a:gdLst/>
              <a:ahLst/>
              <a:cxnLst/>
              <a:rect l="l" t="t" r="r" b="b"/>
              <a:pathLst>
                <a:path w="5286375" h="9525">
                  <a:moveTo>
                    <a:pt x="0" y="0"/>
                  </a:moveTo>
                  <a:lnTo>
                    <a:pt x="5286375" y="0"/>
                  </a:lnTo>
                </a:path>
              </a:pathLst>
            </a:custGeom>
            <a:noFill/>
            <a:ln w="13335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970270" y="213931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039178" y="2129790"/>
              <a:ext cx="114300" cy="1143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610678" y="213931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107882" y="2129790"/>
              <a:ext cx="114300" cy="1143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3430905" y="2158365"/>
              <a:ext cx="57150" cy="571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539740" y="2129790"/>
              <a:ext cx="114300" cy="1143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85237" y="2278856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λ₃ = −4.648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6855" y="1993106"/>
              <a:ext cx="6828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λ₀* = −3.562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53942" y="2278856"/>
              <a:ext cx="6221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λ₂ = −2.477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24361" y="22502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16156" y="2278856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λ₁ = 5.125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59047" y="1550670"/>
              <a:ext cx="1600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4.3 的特征值在数轴上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3172778"/>
            <a:ext cx="5626418" cy="3071812"/>
            <a:chOff x="533400" y="3172778"/>
            <a:chExt cx="5626418" cy="3071812"/>
          </a:xfrm>
        </p:grpSpPr>
        <p:sp>
          <p:nvSpPr>
            <p:cNvPr id="21" name="Rectangle 21"/>
            <p:cNvSpPr/>
            <p:nvPr/>
          </p:nvSpPr>
          <p:spPr>
            <a:xfrm>
              <a:off x="533400" y="3172778"/>
              <a:ext cx="5626418" cy="3071812"/>
            </a:xfrm>
            <a:prstGeom prst="roundRect">
              <a:avLst>
                <a:gd name="adj" fmla="val 4341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25805" y="336518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7245" y="3399473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8947" y="3721418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不是。收敛因子是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所有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j ≥ 2 里的最大比值。λ₀ 向 λ₂ 靠近时，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λ₂ 那一项变小，λₙ 那一项却变大。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8947" y="4281488"/>
              <a:ext cx="5084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特征值都是实数且 λ₁ &gt; λ₂ ≥ … ≥ λₙ 时，两端比值相等处最优：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37"/>
                <p:cNvSpPr txBox="1">
                  <a:spLocks noGrp="1"/>
                </p:cNvSpPr>
                <p:nvPr/>
              </p:nvSpPr>
              <p:spPr>
                <a:xfrm>
                  <a:off x="725805" y="4561522"/>
                  <a:ext cx="524160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p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*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60" name="c2-table-1"/>
          <p:cNvGrpSpPr/>
          <p:nvPr/>
        </p:nvGrpSpPr>
        <p:grpSpPr>
          <a:xfrm>
            <a:off x="6459284" y="1524000"/>
            <a:ext cx="5199316" cy="3120009"/>
            <a:chOff x="6459284" y="1524000"/>
            <a:chExt cx="5199316" cy="3120009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890943" y="16483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99512" y="1648301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ω(λ₀)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4382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934479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68415" y="205406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0.9069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42032" y="205406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不平移，收敛很慢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3307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233553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90943" y="245983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68415" y="24598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0.3716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64618" y="27365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90943" y="28655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68415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0.2028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464618" y="314229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64618" y="314706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16798" y="327136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−3.562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55976" y="327136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0.1249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642032" y="3271361"/>
              <a:ext cx="16171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最优 λ₀* = (λ₂ + λ₃)/2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35480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90943" y="367712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68415" y="36771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0.1669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642032" y="367712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4.3 的取法，已足够快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64618" y="3953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64618" y="3958590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34479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55976" y="408289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1.3692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42032" y="4082891"/>
              <a:ext cx="2325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|λ₃ − 1| &gt; |λ₁ − 1|，改为收敛到 λ₃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464618" y="1524000"/>
              <a:ext cx="5193982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49903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37258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59284" y="4438650"/>
              <a:ext cx="33818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用例 4.3 的特征值 5.1248、−2.4771、−4.6477 计算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6464618" y="4777740"/>
            <a:ext cx="5193982" cy="1466850"/>
            <a:chOff x="6464618" y="4777740"/>
            <a:chExt cx="5193982" cy="1466850"/>
          </a:xfrm>
        </p:grpSpPr>
        <p:sp>
          <p:nvSpPr>
            <p:cNvPr id="61" name="Rectangle 61"/>
            <p:cNvSpPr/>
            <p:nvPr/>
          </p:nvSpPr>
          <p:spPr>
            <a:xfrm>
              <a:off x="6464618" y="4777740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74142" y="491109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95122" y="497014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778562" y="500443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实际困难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88264" y="5327333"/>
              <a:ext cx="459143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事先不知道特征值的分布，最优 λ₀ 算不出来。通常先对特征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值分布做大略估计，设定 λ₀ ∈ (λₙ, λ₂) 试算几步，确认有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明显加速效果后再正式计算。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58860" cy="909257"/>
            <a:chOff x="520446" y="342900"/>
            <a:chExt cx="93588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588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4.3 原点平移加速：λ₀ = −4 时 7 步收敛，不平移要 92 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82402" cy="541592"/>
            <a:chOff x="526161" y="1547336"/>
            <a:chExt cx="10582402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82402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(−3 1 0; 1 −3 −3; 0 −3 4)，B = A + 4I = (1 1 0; 1 1 −3; 0 −3 8)，都从 (1, 1, 1)ᵀ 出发，|max(x⁽ᵏ⁾) − max(x⁽ᵏ⁻¹⁾)| &lt; 10⁻³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时停止。</a:t>
              </a:r>
            </a:p>
          </p:txBody>
        </p:sp>
      </p:grpSp>
      <p:grpSp>
        <p:nvGrpSpPr>
          <p:cNvPr id="42" name="c1-table-1"/>
          <p:cNvGrpSpPr/>
          <p:nvPr/>
        </p:nvGrpSpPr>
        <p:grpSpPr>
          <a:xfrm>
            <a:off x="533400" y="2204085"/>
            <a:ext cx="5410200" cy="2840355"/>
            <a:chOff x="533400" y="2204085"/>
            <a:chExt cx="5410200" cy="2840355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541020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8951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48498" y="2328386"/>
              <a:ext cx="14065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不平移，对 A：y⁽ᵏ⁾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18699" y="2328386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max(x⁽ᵏ⁾)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951" y="2734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47177" y="273415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(0.4000, 1.0000, −0.2000)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6114" y="273415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−5.0000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10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1561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8951" y="3139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88640" y="3139916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(0.0526, 0.5263, 1.0000)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36114" y="313991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−3.8000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166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8951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47177" y="354568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(−0.2874, 0.1573, 1.0000)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36114" y="354568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−6.0584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22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82714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08951" y="3951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5714" y="395144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(−0.2712, 1.0000, −0.9385)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36114" y="3951446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−3.7593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228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5415" y="435721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05714" y="4357211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(−0.0461, −0.3751, 1.0000)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77577" y="435721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5.1243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6339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63867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5415" y="47629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05714" y="476297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(−0.0462, −0.3748, 1.0000)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877577" y="476297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5.1252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2204085"/>
              <a:ext cx="5410200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178242" y="220408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315778" y="2204085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allout-2"/>
          <p:cNvGrpSpPr/>
          <p:nvPr/>
        </p:nvGrpSpPr>
        <p:grpSpPr>
          <a:xfrm>
            <a:off x="533400" y="5219700"/>
            <a:ext cx="5410200" cy="1135380"/>
            <a:chOff x="533400" y="5219700"/>
            <a:chExt cx="5410200" cy="1135380"/>
          </a:xfrm>
        </p:grpSpPr>
        <p:sp>
          <p:nvSpPr>
            <p:cNvPr id="43" name="Rectangle 43"/>
            <p:cNvSpPr/>
            <p:nvPr/>
          </p:nvSpPr>
          <p:spPr>
            <a:xfrm>
              <a:off x="533400" y="5219700"/>
              <a:ext cx="5410200" cy="1135380"/>
            </a:xfrm>
            <a:prstGeom prst="roundRect">
              <a:avLst>
                <a:gd name="adj" fmla="val 1006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5687378"/>
              <a:ext cx="200026" cy="200026"/>
              <a:chOff x="738188" y="5687378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6873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57540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57873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5568315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省略了 k = 3～5、8～90 各行。前几步 max 的符号来回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变：λ₃ = −4.648 与 λ₁ 的模很接近，这一项衰减得很慢。</a:t>
              </a:r>
            </a:p>
          </p:txBody>
        </p:sp>
      </p:grpSp>
      <p:grpSp>
        <p:nvGrpSpPr>
          <p:cNvPr id="88" name="c2-table-1"/>
          <p:cNvGrpSpPr/>
          <p:nvPr/>
        </p:nvGrpSpPr>
        <p:grpSpPr>
          <a:xfrm>
            <a:off x="6248400" y="2204085"/>
            <a:ext cx="5410200" cy="3246120"/>
            <a:chOff x="6248400" y="2204085"/>
            <a:chExt cx="5410200" cy="3246120"/>
          </a:xfrm>
        </p:grpSpPr>
        <p:sp>
          <p:nvSpPr>
            <p:cNvPr id="50" name="Rectangle 50"/>
            <p:cNvSpPr/>
            <p:nvPr/>
          </p:nvSpPr>
          <p:spPr>
            <a:xfrm>
              <a:off x="6248400" y="2204085"/>
              <a:ext cx="5410200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23951" y="2328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24485" y="2328386"/>
              <a:ext cx="1484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λ₀ = −4，对 B：y⁽ᵏ⁾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33699" y="2328386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max(x⁽ᵏ⁾)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23951" y="27341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462177" y="2734151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(0.4000, −0.2000, 1.0000)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592577" y="273415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5.0000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248400" y="301085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248400" y="301561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23951" y="31399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62177" y="3139916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(0.0233, −0.3256, 1.0000)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592577" y="313991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8.6000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41661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23951" y="35456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420714" y="3545681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(−0.0337, −0.3679, 1.0000)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92577" y="354568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8.9767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248400" y="382238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48400" y="382714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23951" y="3951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20714" y="395144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(−0.0441, −0.3736, 1.0000)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92577" y="395144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9.1036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248400" y="42281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23951" y="43572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20714" y="4357211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(−0.0458, −0.3747, 1.0000)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92577" y="435721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9.1209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248400" y="46339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48400" y="463867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523951" y="47629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420714" y="476297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(−0.0461, −0.3749, 1.0000)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592577" y="476297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9.1241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50396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23951" y="5168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420714" y="5168741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(−0.0461, −0.3749, 1.0000)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0045065" y="5053965"/>
              <a:ext cx="1604010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592577" y="516874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9.1247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48400" y="2204085"/>
              <a:ext cx="5410200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893242" y="220408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0030778" y="2204085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c2-callout-2"/>
          <p:cNvGrpSpPr/>
          <p:nvPr/>
        </p:nvGrpSpPr>
        <p:grpSpPr>
          <a:xfrm>
            <a:off x="6248400" y="5625465"/>
            <a:ext cx="5410200" cy="729615"/>
            <a:chOff x="6248400" y="5625465"/>
            <a:chExt cx="5410200" cy="729615"/>
          </a:xfrm>
        </p:grpSpPr>
        <p:sp>
          <p:nvSpPr>
            <p:cNvPr id="89" name="Rectangle 89"/>
            <p:cNvSpPr/>
            <p:nvPr/>
          </p:nvSpPr>
          <p:spPr>
            <a:xfrm>
              <a:off x="6248400" y="562546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6453188" y="5890260"/>
              <a:ext cx="200026" cy="200026"/>
              <a:chOff x="6453188" y="5890260"/>
              <a:chExt cx="200026" cy="200026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6453188" y="58902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6519863" y="59680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6755892" y="5771198"/>
              <a:ext cx="396563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λ₁ = μ₁ + λ₀ ≈ 9.1247 − 4 = 5.1247 ≈ 5.125，v₁ ≈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(−0.0461, −0.3749, 1)ᵀ。精确值 5.124763。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36254" cy="909257"/>
            <a:chOff x="520446" y="342900"/>
            <a:chExt cx="86362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362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4.3 为什么快这么多：收敛因子从 0.907 降到 0.167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5626418" cy="3573780"/>
            <a:chOff x="533400" y="1524000"/>
            <a:chExt cx="5626418" cy="35737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86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86891" y="1658779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36980" y="1658779"/>
              <a:ext cx="1075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A（λ₀ = 0）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39158" y="1658779"/>
              <a:ext cx="11858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B（λ₀ = −4）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255044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96515" y="2128361"/>
              <a:ext cx="1556385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5.1248,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−2.4771, −4.6477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03483" y="2128361"/>
              <a:ext cx="14571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9.1248, 1.5229,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−0.6477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1081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15578"/>
              <a:ext cx="5626418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8503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主特征值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52054" y="2850356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5.1248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09429" y="2850356"/>
              <a:ext cx="645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9.1248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7944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4456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收敛因子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6108" y="3318986"/>
              <a:ext cx="14571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4.6477/5.1248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0.9069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03483" y="3318986"/>
              <a:ext cx="14571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1.5229/9.1248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0.1669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0239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907155"/>
              <a:ext cx="5626418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4041934"/>
              <a:ext cx="1389571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误差缩小到 10⁻³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约需步数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68651" y="4041934"/>
              <a:ext cx="141211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ln10⁻³/ln0.9069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71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6026" y="4041934"/>
              <a:ext cx="1412113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ln10⁻³/ln0.1669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624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7604" y="4763929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实际停止步数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62330" y="476392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72274" y="4763929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5626418" cy="35737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441258" y="1524000"/>
              <a:ext cx="9525" cy="3573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298632" y="1524000"/>
              <a:ext cx="9525" cy="35737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1-callout-2"/>
          <p:cNvGrpSpPr/>
          <p:nvPr/>
        </p:nvGrpSpPr>
        <p:grpSpPr>
          <a:xfrm>
            <a:off x="533400" y="5283518"/>
            <a:ext cx="5626418" cy="756285"/>
            <a:chOff x="533400" y="5283518"/>
            <a:chExt cx="5626418" cy="756285"/>
          </a:xfrm>
        </p:grpSpPr>
        <p:sp>
          <p:nvSpPr>
            <p:cNvPr id="36" name="Rectangle 36"/>
            <p:cNvSpPr/>
            <p:nvPr/>
          </p:nvSpPr>
          <p:spPr>
            <a:xfrm>
              <a:off x="533400" y="5283518"/>
              <a:ext cx="5626418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561648"/>
              <a:ext cx="200026" cy="200025"/>
              <a:chOff x="738188" y="5561648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5616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6060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7172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511" y="5430679"/>
              <a:ext cx="470331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估计步数只看收敛因子，没有算上初始误差和停止判据的差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别，所以和实际步数差几步，但量级一致。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464618" y="1524000"/>
            <a:ext cx="5193982" cy="2690812"/>
            <a:chOff x="6464618" y="1524000"/>
            <a:chExt cx="5193982" cy="2690812"/>
          </a:xfrm>
        </p:grpSpPr>
        <p:sp>
          <p:nvSpPr>
            <p:cNvPr id="43" name="Rectangle 43"/>
            <p:cNvSpPr/>
            <p:nvPr/>
          </p:nvSpPr>
          <p:spPr>
            <a:xfrm>
              <a:off x="6464618" y="1524000"/>
              <a:ext cx="5193982" cy="2690812"/>
            </a:xfrm>
            <a:prstGeom prst="roundRect">
              <a:avLst>
                <a:gd name="adj" fmla="val 49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4142" y="1657350"/>
              <a:ext cx="47625" cy="242411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06552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9771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4172" y="216122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0764" y="2100739"/>
              <a:ext cx="4243451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 4.2 中 B 的 k = 1 行写作 y = (0.7483,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0.6497, 1)、max = 1.7866587。按 x⁽¹⁾ = B(1, 1,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1)ᵀ = (2, −1, 5)ᵀ，应为 y = (0.4, −0.2, 1)、max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5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14172" y="329565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0764" y="3235166"/>
              <a:ext cx="409016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 k = 7 行 y 第 1 分量 −0.0462 按 4 位小数应为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−0.0461（精确值 −0.046136）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00456" y="382333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其余行与脚本复算一致。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464618" y="4399598"/>
            <a:ext cx="5193982" cy="1640205"/>
            <a:chOff x="6464618" y="4399598"/>
            <a:chExt cx="5193982" cy="1640205"/>
          </a:xfrm>
        </p:grpSpPr>
        <p:sp>
          <p:nvSpPr>
            <p:cNvPr id="53" name="Rectangle 53"/>
            <p:cNvSpPr/>
            <p:nvPr/>
          </p:nvSpPr>
          <p:spPr>
            <a:xfrm>
              <a:off x="6464618" y="4399598"/>
              <a:ext cx="5193982" cy="1640205"/>
            </a:xfrm>
            <a:prstGeom prst="roundRect">
              <a:avLst>
                <a:gd name="adj" fmla="val 813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68452" y="46034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59613" y="4639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1214" y="4976336"/>
              <a:ext cx="45139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平移后 B 的特征值整体右移 4。λ₁ 离其余特征值的“相对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距离”变大，被放大得更突出，所以收敛快。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35883" cy="909257"/>
            <a:chOff x="520446" y="342900"/>
            <a:chExt cx="833588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358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 + 原点平移：已知近似特征值，求它的特征向量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626418" cy="1955482"/>
            <a:chOff x="533400" y="1524000"/>
            <a:chExt cx="5626418" cy="19554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55482"/>
            </a:xfrm>
            <a:prstGeom prst="roundRect">
              <a:avLst>
                <a:gd name="adj" fmla="val 6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887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30964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(A − λ₀I)⁻¹ 存在，它的特征值为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44"/>
                <p:cNvSpPr txBox="1">
                  <a:spLocks noGrp="1"/>
                </p:cNvSpPr>
                <p:nvPr/>
              </p:nvSpPr>
              <p:spPr>
                <a:xfrm>
                  <a:off x="775335" y="2397442"/>
                  <a:ext cx="5180648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⋯,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 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68096" y="3053239"/>
              <a:ext cx="32068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对应的特征向量仍为 v₁, v₂, …, vₙ。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3665220"/>
            <a:ext cx="5626418" cy="2690812"/>
            <a:chOff x="533400" y="3665220"/>
            <a:chExt cx="5626418" cy="2690812"/>
          </a:xfrm>
        </p:grpSpPr>
        <p:sp>
          <p:nvSpPr>
            <p:cNvPr id="15" name="Rectangle 15"/>
            <p:cNvSpPr/>
            <p:nvPr/>
          </p:nvSpPr>
          <p:spPr>
            <a:xfrm>
              <a:off x="533400" y="3665220"/>
              <a:ext cx="5626418" cy="2690812"/>
            </a:xfrm>
            <a:prstGeom prst="roundRect">
              <a:avLst>
                <a:gd name="adj" fmla="val 4956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37235" y="386905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7443" y="39047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996" y="4241959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λ₀ 是某个特征值 λⱼ 的近似时，1/(λⱼ − λ₀) 是 (A − λ₀I)⁻¹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按模最大的特征值 μ。以 (A − λ₀I)⁻¹ 为乘幂矩阵做反幂法：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formula145"/>
                <p:cNvSpPr txBox="1">
                  <a:spLocks noGrp="1"/>
                </p:cNvSpPr>
                <p:nvPr/>
              </p:nvSpPr>
              <p:spPr>
                <a:xfrm>
                  <a:off x="737235" y="4810125"/>
                  <a:ext cx="5218748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μ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58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m:rPr>
                            <m:nor m:val="on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即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λ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μ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0" name="Ellipse 20"/>
            <p:cNvSpPr/>
            <p:nvPr/>
          </p:nvSpPr>
          <p:spPr>
            <a:xfrm>
              <a:off x="744855" y="55264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1446" y="5465921"/>
              <a:ext cx="465823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每步解 (A − λ₀I)x⁽ᵏ⁺¹⁾ = y⁽ᵏ⁾，LU 分解只做一次；y⁽ᵏ⁾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即 λⱼ 的近似特征向量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464618" y="1524000"/>
            <a:ext cx="5193982" cy="2158365"/>
            <a:chOff x="6464618" y="1524000"/>
            <a:chExt cx="5193982" cy="2158365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06552" y="17278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84911" y="1763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收敛有多快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46"/>
                <p:cNvSpPr txBox="1">
                  <a:spLocks noGrp="1"/>
                </p:cNvSpPr>
                <p:nvPr/>
              </p:nvSpPr>
              <p:spPr>
                <a:xfrm>
                  <a:off x="6706552" y="2077402"/>
                  <a:ext cx="4748212" cy="5200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zh-CN" sz="15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λ</m:t>
                                    </m:r>
                                  </m:e>
                                  <m:sub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func>
                              <m:funcPr/>
                              <m:fName>
                                <m:limLow>
                                  <m:limLowPr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≠</m:t>
                                    </m:r>
                                    <m: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j</m:t>
                                    </m:r>
                                  </m:lim>
                                </m:limLow>
                              </m:fName>
                              <m:e>
                                <m:d>
                                  <m:dPr>
                                    <m:begChr m:val="|"/>
                                    <m:sepChr m:val=""/>
                                    <m:endChr m:val="|"/>
                                    <m:grow m:val="on"/>
                                    <m:ctrl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zh-CN" sz="15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sSub>
                                      <m:e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λ</m:t>
                                        </m:r>
                                      </m:e>
                                      <m:sub>
                                        <m:r>
                                          <a:rPr lang="zh-CN" sz="158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func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TextBox 28"/>
            <p:cNvSpPr txBox="1"/>
            <p:nvPr/>
          </p:nvSpPr>
          <p:spPr>
            <a:xfrm>
              <a:off x="6699314" y="2713196"/>
              <a:ext cx="440575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 很接近 λⱼ，且 λⱼ 与其余特征值分离得较好（|λⱼ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λ₀| ≪ |λᵢ − λ₀|）时 r 很小，常常迭代 1～2 次就得到特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征向量。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868102"/>
            <a:ext cx="5193982" cy="1545908"/>
            <a:chOff x="6464618" y="3868102"/>
            <a:chExt cx="5193982" cy="1545908"/>
          </a:xfrm>
        </p:grpSpPr>
        <p:sp>
          <p:nvSpPr>
            <p:cNvPr id="30" name="Rectangle 30"/>
            <p:cNvSpPr/>
            <p:nvPr/>
          </p:nvSpPr>
          <p:spPr>
            <a:xfrm>
              <a:off x="6464618" y="3868102"/>
              <a:ext cx="5193982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74142" y="4001452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706552" y="407193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97713" y="4107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99314" y="4444841"/>
              <a:ext cx="442379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原课件写“A − λ₀I 的最小特征值 μ = 1/(λⱼ − λ₀)”。A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λ₀I 按模最小的特征值是 λⱼ − λ₀；1/(λⱼ − λ₀) 是 (A −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λ₀I)⁻¹ 按模最大的特征值。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464618" y="5599748"/>
            <a:ext cx="5193982" cy="756285"/>
            <a:chOff x="6464618" y="5599748"/>
            <a:chExt cx="5193982" cy="756285"/>
          </a:xfrm>
        </p:grpSpPr>
        <p:sp>
          <p:nvSpPr>
            <p:cNvPr id="36" name="Rectangle 36"/>
            <p:cNvSpPr/>
            <p:nvPr/>
          </p:nvSpPr>
          <p:spPr>
            <a:xfrm>
              <a:off x="6464618" y="559974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5877878"/>
              <a:ext cx="200026" cy="200026"/>
              <a:chOff x="6669405" y="5877878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669405" y="587787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769418" y="594455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58305" y="597789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729" y="5746909"/>
              <a:ext cx="432460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典型用法：先用 QR 等方法求出全部特征值的近似，再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对每个近似值做一两步反幂法补上特征向量。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96563" cy="909257"/>
            <a:chOff x="520446" y="342900"/>
            <a:chExt cx="101965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965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4.4 反幂法求接近 2.93 的特征值：先对 A − 2.93I 做三角分解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49"/>
              <p:cNvSpPr txBox="1">
                <a:spLocks noGrp="1"/>
              </p:cNvSpPr>
              <p:nvPr/>
            </p:nvSpPr>
            <p:spPr>
              <a:xfrm>
                <a:off x="533400" y="1524000"/>
                <a:ext cx="5085398" cy="764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x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923" y="2500789"/>
            <a:ext cx="4873498" cy="500824"/>
            <a:chOff x="526923" y="2500789"/>
            <a:chExt cx="4873498" cy="500824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2500789"/>
              <a:ext cx="487349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精确特征值为 1、2、3（第 1 列只有 a₁₁ = 2；右下 2 阶块的特征值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 1、3），λ = 3 的特征向量为 (1, −1, 1)ᵀ。</a:t>
              </a:r>
            </a:p>
          </p:txBody>
        </p:sp>
      </p:grpSp>
      <p:grpSp>
        <p:nvGrpSpPr>
          <p:cNvPr id="11" name="c1-text-3"/>
          <p:cNvGrpSpPr/>
          <p:nvPr/>
        </p:nvGrpSpPr>
        <p:grpSpPr>
          <a:xfrm>
            <a:off x="525780" y="3166110"/>
            <a:ext cx="3782568" cy="293370"/>
            <a:chOff x="525780" y="3166110"/>
            <a:chExt cx="3782568" cy="293370"/>
          </a:xfrm>
        </p:grpSpPr>
        <p:sp>
          <p:nvSpPr>
            <p:cNvPr id="10" name="TextBox 10"/>
            <p:cNvSpPr txBox="1"/>
            <p:nvPr/>
          </p:nvSpPr>
          <p:spPr>
            <a:xfrm>
              <a:off x="525780" y="3166110"/>
              <a:ext cx="37825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A − 2.93I 的 Doolittle 分解 B = LU：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150"/>
              <p:cNvSpPr txBox="1">
                <a:spLocks noGrp="1"/>
              </p:cNvSpPr>
              <p:nvPr/>
            </p:nvSpPr>
            <p:spPr>
              <a:xfrm>
                <a:off x="533400" y="3590925"/>
                <a:ext cx="5085398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0.93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0.93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0.93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text-5"/>
          <p:cNvGrpSpPr/>
          <p:nvPr/>
        </p:nvGrpSpPr>
        <p:grpSpPr>
          <a:xfrm>
            <a:off x="526923" y="4735354"/>
            <a:ext cx="4467098" cy="500824"/>
            <a:chOff x="526923" y="4735354"/>
            <a:chExt cx="4467098" cy="500824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4735354"/>
              <a:ext cx="446709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l₃₂ = (−1)/(−0.93) ≈ 1.075269，u₃₃ = −0.93 − l₃₂·(−1) ≈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0.145269。</a:t>
              </a:r>
            </a:p>
          </p:txBody>
        </p:sp>
      </p:grpSp>
      <p:grpSp>
        <p:nvGrpSpPr>
          <p:cNvPr id="32" name="c2-steps-1"/>
          <p:cNvGrpSpPr/>
          <p:nvPr/>
        </p:nvGrpSpPr>
        <p:grpSpPr>
          <a:xfrm>
            <a:off x="5923598" y="1533525"/>
            <a:ext cx="5302376" cy="2764440"/>
            <a:chOff x="5923598" y="1533525"/>
            <a:chExt cx="5302376" cy="2764440"/>
          </a:xfrm>
        </p:grpSpPr>
        <p:sp>
          <p:nvSpPr>
            <p:cNvPr id="15" name="Rectangle 15"/>
            <p:cNvSpPr/>
            <p:nvPr/>
          </p:nvSpPr>
          <p:spPr>
            <a:xfrm>
              <a:off x="6056948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923598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1722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923598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17221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923598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17221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923598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7221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35078" y="1567815"/>
              <a:ext cx="2571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Lz = y⁽⁰⁾ = (0, 0, 1)ᵀ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36220" y="1861661"/>
              <a:ext cx="32438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z₁ = 0，z₂ = 0，z₃ = 1 − 1.075269×0 =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35078" y="2218372"/>
              <a:ext cx="14452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回代 Ux⁽¹⁾ = z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36220" y="2512219"/>
              <a:ext cx="48897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x₃ = 1/0.145269 = 6.883790；x₂ = −x₃/0.93 = −7.401925；x₁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−x₂/0.93 = 7.959059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35078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36220" y="339709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max(x⁽¹⁾) = 7.959059，y⁽¹⁾ = (1, −0.93, 0.8649)ᵀ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35078" y="37547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估计特征值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36220" y="4048601"/>
              <a:ext cx="27872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≈ 2.93 + 1/7.959059 = 3.055643</a:t>
              </a:r>
            </a:p>
          </p:txBody>
        </p:sp>
      </p:grpSp>
      <p:grpSp>
        <p:nvGrpSpPr>
          <p:cNvPr id="39" name="c2-callout-2"/>
          <p:cNvGrpSpPr/>
          <p:nvPr/>
        </p:nvGrpSpPr>
        <p:grpSpPr>
          <a:xfrm>
            <a:off x="5923598" y="4475798"/>
            <a:ext cx="5735002" cy="1059180"/>
            <a:chOff x="5923598" y="4475798"/>
            <a:chExt cx="5735002" cy="1059180"/>
          </a:xfrm>
        </p:grpSpPr>
        <p:sp>
          <p:nvSpPr>
            <p:cNvPr id="33" name="Rectangle 33"/>
            <p:cNvSpPr/>
            <p:nvPr/>
          </p:nvSpPr>
          <p:spPr>
            <a:xfrm>
              <a:off x="5923598" y="4475798"/>
              <a:ext cx="5735002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128385" y="4905375"/>
              <a:ext cx="200026" cy="200025"/>
              <a:chOff x="6128385" y="490537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128385" y="49053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168124" y="49498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02839" y="50609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430328" y="4624388"/>
              <a:ext cx="47586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en-US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r = |3 − 2.93| / min(|2 − 2.93|, |1 − 2.93|) =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0.07/0.93 ≈ 0.075，每步误差约乘 0.075，下一页只要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再迭代 2 次。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82303" cy="909257"/>
            <a:chOff x="520446" y="342900"/>
            <a:chExt cx="798230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8230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4.4 迭代 3 次：λ ≈ 3.0000357，误差小于 10⁻⁴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11125200" cy="2023110"/>
            <a:chOff x="533400" y="1524000"/>
            <a:chExt cx="11125200" cy="20231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60579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279" y="17483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77849" y="1748314"/>
              <a:ext cx="1494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z（解 Lz = y⁽ᵏ⁻¹⁾）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39189" y="1748314"/>
              <a:ext cx="1578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x⁽ᵏ⁾（解 Ux⁽ᵏ⁾ = z）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96426" y="1748314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y⁽ᵏ⁾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85083" y="1648301"/>
              <a:ext cx="94488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λ ≈ 2.93 +</a:t>
              </a:r>
              <a:br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1/max(x⁽ᵏ⁾)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279" y="22540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83877" y="225409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(0, 0, 1)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74924" y="2254091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(7.959059, −7.401925, 6.883790)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61930" y="2254091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−0.93, 0.8649)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78641" y="2254091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3.0556430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53079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535555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279" y="26598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10710" y="2659856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−0.93, 1.8649)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50535" y="2659856"/>
              <a:ext cx="2755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(12.692311, −12.803849, 12.837580)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13153" y="2659856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(0.988684, −0.997373, 1)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78641" y="2659856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3.0078963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365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279" y="31656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5694" y="3065621"/>
              <a:ext cx="161874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(0.988684, −0.997373,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2.072444)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50535" y="3165634"/>
              <a:ext cx="2755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(14.278433, −14.267627, 14.266266)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06602" y="2950845"/>
              <a:ext cx="2539365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13153" y="3165634"/>
              <a:ext cx="1926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−0.999243, 0.999148)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665970" y="2950845"/>
              <a:ext cx="1983105" cy="5867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278641" y="3165634"/>
              <a:ext cx="7577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3.0000357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11125200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84898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754755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092315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651682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1-compare-2"/>
          <p:cNvGrpSpPr/>
          <p:nvPr/>
        </p:nvGrpSpPr>
        <p:grpSpPr>
          <a:xfrm>
            <a:off x="533400" y="3722370"/>
            <a:ext cx="11125200" cy="1980248"/>
            <a:chOff x="533400" y="3722370"/>
            <a:chExt cx="11125200" cy="1980248"/>
          </a:xfrm>
        </p:grpSpPr>
        <p:sp>
          <p:nvSpPr>
            <p:cNvPr id="39" name="Rectangle 39"/>
            <p:cNvSpPr/>
            <p:nvPr/>
          </p:nvSpPr>
          <p:spPr>
            <a:xfrm>
              <a:off x="533400" y="3722370"/>
              <a:ext cx="5353050" cy="1980248"/>
            </a:xfrm>
            <a:prstGeom prst="roundRect">
              <a:avLst>
                <a:gd name="adj" fmla="val 67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42925" y="3855720"/>
              <a:ext cx="47625" cy="17135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7047" y="39366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72478" y="431292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8497" y="4256722"/>
              <a:ext cx="4348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 ≈ 3.0000357，与准确值 3 的误差 3.6×10⁻⁵ &lt; 10⁻⁴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72478" y="46158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8497" y="4559618"/>
              <a:ext cx="44885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 ≈ (1, −0.999243, 0.999148)ᵀ，与 (1, −1, 1)ᵀ 相差不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 8.6×10⁻⁴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72478" y="5174932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8497" y="5118735"/>
              <a:ext cx="3703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残差 ‖Ay⁽³⁾ − λy⁽³⁾‖∞ = 7.9×10⁻⁴ &lt; 0.001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305550" y="3722370"/>
              <a:ext cx="5353050" cy="1980248"/>
            </a:xfrm>
            <a:prstGeom prst="roundRect">
              <a:avLst>
                <a:gd name="adj" fmla="val 67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15075" y="3855720"/>
              <a:ext cx="47625" cy="17135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9197" y="393668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544628" y="431292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00647" y="4256722"/>
              <a:ext cx="42828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原课件给 λ ≈ 3.0000954，相当于用 x⁽³⁾ 的第 3 个分量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14.266266 代替按模最大分量 14.278433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544628" y="487299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00647" y="4816792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按规范化反幂法应为 3.0000357；两者误差都小于 10⁻⁴，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特征向量相同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934075" y="455009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21785" y="4651534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101546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注意第 2 步 max(x⁽²⁾) 取的是第 3 分量 12.837580，y⁽²⁾ 的第 1 分量因此不是 1。按模最大分量的位置可以在迭代中变化。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幂法及其变体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幂法家族对比：换一个迭代矩阵，就换了一个目标特征值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11125200" cy="2598420"/>
            <a:chOff x="533400" y="1524000"/>
            <a:chExt cx="11125200" cy="25984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686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463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1369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迭代矩阵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3873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每步工作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89266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045078" y="165877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收敛因子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7604" y="212836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17826" y="2128361"/>
              <a:ext cx="1255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8048" y="2128361"/>
              <a:ext cx="14168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x⁽ᵏ⁺¹⁾ = Ay⁽ᵏ⁾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67906" y="2128361"/>
              <a:ext cx="12379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按模最大的 λ₁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4878" y="2128361"/>
              <a:ext cx="6548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|λ₂/λ₁|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57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62212"/>
              <a:ext cx="11125200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259699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原点平移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7826" y="2596991"/>
              <a:ext cx="6294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− λ₀I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98048" y="2596991"/>
              <a:ext cx="2135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x⁽ᵏ⁺¹⁾ = (A − λ₀I)y⁽ᵏ⁾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67906" y="2596991"/>
              <a:ext cx="10849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μ₁ + λ₀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4878" y="2596991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maxⱼ |λⱼ − λ₀|/|λ₁ − λ₀|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260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04" y="30656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7826" y="3065621"/>
              <a:ext cx="3477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A⁻¹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98048" y="3065621"/>
              <a:ext cx="25226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Ax⁽ᵏ⁺¹⁾ = y⁽ᵏ⁾（先 LU）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67906" y="3065621"/>
              <a:ext cx="2021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按模最小的 λₙ = 1/max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14878" y="3065621"/>
              <a:ext cx="865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|λₙ/λₙ₋₁|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3956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400425"/>
              <a:ext cx="11125200" cy="72199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7604" y="3661886"/>
              <a:ext cx="12011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 + 平移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17826" y="3661886"/>
              <a:ext cx="10658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 − λ₀I)⁻¹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98048" y="3661886"/>
              <a:ext cx="23853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(A − λ₀I)x⁽ᵏ⁺¹⁾ = y⁽ᵏ⁾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67906" y="3535204"/>
              <a:ext cx="185394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 λ₀ 最近的 λⱼ = λ₀ +</a:t>
              </a:r>
              <a:br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1/max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14878" y="3535204"/>
              <a:ext cx="1871980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|λⱼ − λ₀|/minᵢ≠ⱼ |λᵢ −</a:t>
              </a:r>
              <a:br/>
              <a:r>
                <a:rPr lang="el-GR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λ₀|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25984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308860" y="1524000"/>
              <a:ext cx="9525" cy="2598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089082" y="1524000"/>
              <a:ext cx="9525" cy="2598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58940" y="1524000"/>
              <a:ext cx="9525" cy="2598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205912" y="1524000"/>
              <a:ext cx="9525" cy="25984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compare-2"/>
          <p:cNvGrpSpPr/>
          <p:nvPr/>
        </p:nvGrpSpPr>
        <p:grpSpPr>
          <a:xfrm>
            <a:off x="533400" y="4308158"/>
            <a:ext cx="11125200" cy="2054542"/>
            <a:chOff x="533400" y="4308158"/>
            <a:chExt cx="11125200" cy="2054542"/>
          </a:xfrm>
        </p:grpSpPr>
        <p:sp>
          <p:nvSpPr>
            <p:cNvPr id="44" name="Rectangle 44"/>
            <p:cNvSpPr/>
            <p:nvPr/>
          </p:nvSpPr>
          <p:spPr>
            <a:xfrm>
              <a:off x="533400" y="4308158"/>
              <a:ext cx="5353050" cy="2054542"/>
            </a:xfrm>
            <a:prstGeom prst="roundRect">
              <a:avLst>
                <a:gd name="adj" fmla="val 64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542925" y="4441508"/>
              <a:ext cx="47625" cy="178784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8096" y="453532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共同前提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2955" y="493395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9546" y="487346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迭代矩阵按模最大的特征值唯一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82955" y="525399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39546" y="5193506"/>
              <a:ext cx="36178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初始向量在相应特征向量方向的分量不为 0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2955" y="557403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39546" y="5513546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都要规范化，防止上溢或下溢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305550" y="4308158"/>
              <a:ext cx="5353050" cy="2054542"/>
            </a:xfrm>
            <a:prstGeom prst="roundRect">
              <a:avLst>
                <a:gd name="adj" fmla="val 64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315075" y="4441508"/>
              <a:ext cx="47625" cy="178784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40246" y="453532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各自用途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555105" y="493395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11696" y="4873466"/>
              <a:ext cx="41753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乘幂法：大型稀疏矩阵的主特征值，如 PageRank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555105" y="525399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11696" y="519350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反幂法：最小特征值，或已知近似值时求特征向量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555105" y="557403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11696" y="551354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原点平移：加快收敛，需要大致知道特征值分布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934075" y="517302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004415" y="527018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5F2EA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23991" cy="2997517"/>
            <a:chOff x="667512" y="1835468"/>
            <a:chExt cx="602399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21124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旋转法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实对称矩阵的全部特征值与特征向量，一次消去一对非对角元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0542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4.3.1 平面旋转阵与元素变换公式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339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4.3.2 Jacobi 旋转法的算法与收敛性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232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4.5 与 Jacobi 过关法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基本思想：用一串正交相似变换把实对称矩阵化成近似对角阵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842635" cy="2165985"/>
            <a:chOff x="533400" y="1524000"/>
            <a:chExt cx="5842635" cy="21659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165985"/>
            </a:xfrm>
            <a:prstGeom prst="roundRect">
              <a:avLst>
                <a:gd name="adj" fmla="val 61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92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依据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896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A = (aᵢⱼ) ∈ Rⁿˣⁿ 为实对称矩阵，则存在正交矩阵 P，使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2"/>
                <p:cNvSpPr txBox="1">
                  <a:spLocks noGrp="1"/>
                </p:cNvSpPr>
                <p:nvPr/>
              </p:nvSpPr>
              <p:spPr>
                <a:xfrm>
                  <a:off x="781050" y="2421255"/>
                  <a:ext cx="5385435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AP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p>
                        </m:sSup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AP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diag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,⋯,</m:t>
                            </m:r>
                            <m:sSub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λ</m:t>
                                </m:r>
                              </m:e>
                              <m:sub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TextBox 13"/>
            <p:cNvSpPr txBox="1"/>
            <p:nvPr/>
          </p:nvSpPr>
          <p:spPr>
            <a:xfrm>
              <a:off x="773430" y="2960370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 λ₁, …, λₙ 为 A 的 n 个特征值，P 的各列 P₁, …, Pₙ 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为相应的特征向量。</a:t>
              </a:r>
            </a:p>
          </p:txBody>
        </p:sp>
      </p:grpSp>
      <p:grpSp>
        <p:nvGrpSpPr>
          <p:cNvPr id="28" name="c1-steps-2"/>
          <p:cNvGrpSpPr/>
          <p:nvPr/>
        </p:nvGrpSpPr>
        <p:grpSpPr>
          <a:xfrm>
            <a:off x="533400" y="3890010"/>
            <a:ext cx="5371302" cy="1878615"/>
            <a:chOff x="533400" y="3890010"/>
            <a:chExt cx="5371302" cy="1878615"/>
          </a:xfrm>
        </p:grpSpPr>
        <p:sp>
          <p:nvSpPr>
            <p:cNvPr id="15" name="Rectangle 15"/>
            <p:cNvSpPr/>
            <p:nvPr/>
          </p:nvSpPr>
          <p:spPr>
            <a:xfrm>
              <a:off x="666750" y="403288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33400" y="38900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9638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4056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6143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51911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52649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243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构造正交矩阵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18146"/>
              <a:ext cx="46686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寻找一系列平面旋转阵 P₁, P₂, …，每个只消去一对非对角元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574858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正交相似变换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868704"/>
              <a:ext cx="4055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Aₖ₊₁ = PₖᵀAₖPₖ，特征值不变，非对角元逐渐趋于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4880" y="5225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读出结果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023" y="5519261"/>
              <a:ext cx="4958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对角元是特征值的近似；乘积 P₁P₂⋯Pₖ 的各列是特征向量的近似</a:t>
              </a:r>
            </a:p>
          </p:txBody>
        </p:sp>
      </p:grpSp>
      <p:grpSp>
        <p:nvGrpSpPr>
          <p:cNvPr id="31" name="c2-image-1"/>
          <p:cNvGrpSpPr/>
          <p:nvPr/>
        </p:nvGrpSpPr>
        <p:grpSpPr>
          <a:xfrm>
            <a:off x="6680835" y="1524000"/>
            <a:ext cx="4977765" cy="3338037"/>
            <a:chOff x="6680835" y="1524000"/>
            <a:chExt cx="4977765" cy="3338037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rcRect l="0" t="9510" r="0" b="9510"/>
            <a:stretch>
              <a:fillRect/>
            </a:stretch>
          </p:blipFill>
          <p:spPr>
            <a:xfrm>
              <a:off x="6680835" y="1524000"/>
              <a:ext cx="4977765" cy="3023235"/>
            </a:xfrm>
            <a:prstGeom prst="roundRect">
              <a:avLst>
                <a:gd name="adj" fmla="val 4410"/>
              </a:avLst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8108582" y="464200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转到主轴方向，交叉项就消失了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680835" y="5027295"/>
            <a:ext cx="4977765" cy="1335405"/>
            <a:chOff x="6680835" y="5027295"/>
            <a:chExt cx="4977765" cy="1335405"/>
          </a:xfrm>
        </p:grpSpPr>
        <p:sp>
          <p:nvSpPr>
            <p:cNvPr id="32" name="Rectangle 32"/>
            <p:cNvSpPr/>
            <p:nvPr/>
          </p:nvSpPr>
          <p:spPr>
            <a:xfrm>
              <a:off x="6680835" y="5027295"/>
              <a:ext cx="4977765" cy="1335405"/>
            </a:xfrm>
            <a:prstGeom prst="roundRect">
              <a:avLst>
                <a:gd name="adj" fmla="val 855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885623" y="5594985"/>
              <a:ext cx="200026" cy="200025"/>
              <a:chOff x="6885623" y="5594985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885623" y="5594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25361" y="5639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960077" y="5750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187565" y="5175885"/>
              <a:ext cx="4082415" cy="11220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阶时 xᵀAx = 1 是一个倾斜的椭圆，旋转坐标轴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让它与椭圆主轴对齐，二次型里的 xy 交叉项消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失，矩阵变成对角阵。Jacobi 法每次在一个 (i,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j) 坐标平面里做这件事。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80138" cy="909257"/>
            <a:chOff x="520446" y="342900"/>
            <a:chExt cx="80801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801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4.3.1 平面旋转阵：只在第 i、j 行列上与单位阵不同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157"/>
              <p:cNvSpPr txBox="1">
                <a:spLocks noGrp="1"/>
              </p:cNvSpPr>
              <p:nvPr/>
            </p:nvSpPr>
            <p:spPr>
              <a:xfrm>
                <a:off x="533400" y="1524000"/>
                <a:ext cx="5626418" cy="16449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P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  <m:e/>
                              <m:e/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⋮</m:t>
                                </m:r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⋯</m:t>
                                </m:r>
                              </m:e>
                              <m:e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sz="16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/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⋱</m:t>
                                </m:r>
                              </m:e>
                              <m:e/>
                            </m:mr>
                            <m:mr>
                              <m:e/>
                              <m:e/>
                              <m:e/>
                              <m:e/>
                              <m:e/>
                              <m:e/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" name="c1-text-2"/>
          <p:cNvGrpSpPr/>
          <p:nvPr/>
        </p:nvGrpSpPr>
        <p:grpSpPr>
          <a:xfrm>
            <a:off x="526923" y="3380899"/>
            <a:ext cx="5255514" cy="500824"/>
            <a:chOff x="526923" y="3380899"/>
            <a:chExt cx="5255514" cy="500824"/>
          </a:xfrm>
        </p:grpSpPr>
        <p:sp>
          <p:nvSpPr>
            <p:cNvPr id="8" name="TextBox 8"/>
            <p:cNvSpPr txBox="1"/>
            <p:nvPr/>
          </p:nvSpPr>
          <p:spPr>
            <a:xfrm>
              <a:off x="526923" y="3380899"/>
              <a:ext cx="525551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i 行第 i 列、第 j 行第 j 列为 cos θ；第 i 行第 j 列为 sin θ，第 j 行第 i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列为 −sin θ；其余对角元为 1，其余元素为 0。</a:t>
              </a:r>
            </a:p>
          </p:txBody>
        </p:sp>
      </p:grpSp>
      <p:grpSp>
        <p:nvGrpSpPr>
          <p:cNvPr id="17" name="c1-card-3"/>
          <p:cNvGrpSpPr/>
          <p:nvPr/>
        </p:nvGrpSpPr>
        <p:grpSpPr>
          <a:xfrm>
            <a:off x="533400" y="4021455"/>
            <a:ext cx="5626418" cy="1922145"/>
            <a:chOff x="533400" y="4021455"/>
            <a:chExt cx="5626418" cy="1922145"/>
          </a:xfrm>
        </p:grpSpPr>
        <p:sp>
          <p:nvSpPr>
            <p:cNvPr id="10" name="Rectangle 10"/>
            <p:cNvSpPr/>
            <p:nvPr/>
          </p:nvSpPr>
          <p:spPr>
            <a:xfrm>
              <a:off x="533400" y="4021455"/>
              <a:ext cx="5626418" cy="1922145"/>
            </a:xfrm>
            <a:prstGeom prst="roundRect">
              <a:avLst>
                <a:gd name="adj" fmla="val 69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42925" y="4154805"/>
              <a:ext cx="47625" cy="1655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81050" y="423100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76160" y="426672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9202" y="4266248"/>
              <a:ext cx="174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3，i = 1，j = 3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158"/>
                <p:cNvSpPr txBox="1">
                  <a:spLocks noGrp="1"/>
                </p:cNvSpPr>
                <p:nvPr/>
              </p:nvSpPr>
              <p:spPr>
                <a:xfrm>
                  <a:off x="781050" y="4602480"/>
                  <a:ext cx="5169218" cy="76485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0</m:t>
                                  </m:r>
                                </m:e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6" name="TextBox 16"/>
            <p:cNvSpPr txBox="1"/>
            <p:nvPr/>
          </p:nvSpPr>
          <p:spPr>
            <a:xfrm>
              <a:off x="774573" y="5483066"/>
              <a:ext cx="3320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4.5 第 2 次旋转用的 P₂ 就是这种形状。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2272665"/>
            <a:chOff x="6464618" y="1524000"/>
            <a:chExt cx="5193982" cy="2272665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74142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712268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342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性质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717983" y="217360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76098" y="2110740"/>
              <a:ext cx="43776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是正交矩阵：PᵀP = I，所以 PᵀAP 与 A 相似，特征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值不变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717983" y="279463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76098" y="2731770"/>
              <a:ext cx="2368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对称时 C = PᵀAP 仍对称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717983" y="3129915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76098" y="3067050"/>
              <a:ext cx="4253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AP 只改变 A 的第 i、j 两列，Pᵀ(AP) 只改变第 i、j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两行</a:t>
              </a:r>
            </a:p>
          </p:txBody>
        </p:sp>
      </p:grpSp>
      <p:grpSp>
        <p:nvGrpSpPr>
          <p:cNvPr id="35" name="c2-card-2"/>
          <p:cNvGrpSpPr/>
          <p:nvPr/>
        </p:nvGrpSpPr>
        <p:grpSpPr>
          <a:xfrm>
            <a:off x="6464618" y="3987165"/>
            <a:ext cx="5193982" cy="1956435"/>
            <a:chOff x="6464618" y="3987165"/>
            <a:chExt cx="5193982" cy="1956435"/>
          </a:xfrm>
        </p:grpSpPr>
        <p:sp>
          <p:nvSpPr>
            <p:cNvPr id="29" name="Rectangle 29"/>
            <p:cNvSpPr/>
            <p:nvPr/>
          </p:nvSpPr>
          <p:spPr>
            <a:xfrm>
              <a:off x="6464618" y="3987165"/>
              <a:ext cx="519398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4142" y="41205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712268" y="4196715"/>
              <a:ext cx="76295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95060" y="4232434"/>
              <a:ext cx="598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 阶情形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formula159"/>
                <p:cNvSpPr txBox="1">
                  <a:spLocks noGrp="1"/>
                </p:cNvSpPr>
                <p:nvPr/>
              </p:nvSpPr>
              <p:spPr>
                <a:xfrm>
                  <a:off x="6712268" y="4549140"/>
                  <a:ext cx="4736782" cy="5448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r>
                          <m:rPr>
                            <m:sty m:val="p"/>
                          </m:rPr>
                          <a:rPr lang="zh-CN" sz="16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 m:val="on"/>
                            <m:ctrlPr>
                              <a:rPr lang="zh-CN" sz="16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plcHide m:val="on"/>
                                <m:mcs>
                                  <m:mc>
                                    <m:mcPr>
                                      <m:count m:val="1"/>
                                    </m:mcPr>
                                  </m:mc>
                                  <m:mc>
                                    <m:mcPr>
                                      <m:count m:val="1"/>
                                    </m:mcPr>
                                  </m:mc>
                                </m:mcs>
                              </m:mPr>
                              <m:mr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  <m:e>
                                  <m:func>
                                    <m:funcPr/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zh-CN" sz="16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θ</m:t>
                                      </m:r>
                                    </m:e>
                                  </m:func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4" name="TextBox 34"/>
            <p:cNvSpPr txBox="1"/>
            <p:nvPr/>
          </p:nvSpPr>
          <p:spPr>
            <a:xfrm>
              <a:off x="6704648" y="5213985"/>
              <a:ext cx="4387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这是平面上的旋转矩阵。令 x = Py，P 的两列就是旋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转后的新坐标轴方向，xᵀAx = yᵀ(PᵀAP)y。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6" name="TextBox 3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75035" cy="909257"/>
            <a:chOff x="520446" y="342900"/>
            <a:chExt cx="86750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750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PᵀAP 与 A 的元素关系：只有第 i、j 行和列发生变化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546860"/>
            <a:chOff x="533400" y="1524000"/>
            <a:chExt cx="5626418" cy="15468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46860"/>
            </a:xfrm>
            <a:prstGeom prst="roundRect">
              <a:avLst>
                <a:gd name="adj" fmla="val 862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1920240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74001" y="1750695"/>
              <a:ext cx="1823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(1) 第 i 行 i 列、第 j 行 j 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184"/>
                <p:cNvSpPr txBox="1">
                  <a:spLocks noGrp="1"/>
                </p:cNvSpPr>
                <p:nvPr/>
              </p:nvSpPr>
              <p:spPr>
                <a:xfrm>
                  <a:off x="725805" y="2050732"/>
                  <a:ext cx="524160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4.3.1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185"/>
                <p:cNvSpPr txBox="1">
                  <a:spLocks noGrp="1"/>
                </p:cNvSpPr>
                <p:nvPr/>
              </p:nvSpPr>
              <p:spPr>
                <a:xfrm>
                  <a:off x="725805" y="2499360"/>
                  <a:ext cx="524160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ii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jj</m:t>
                            </m:r>
                          </m:sub>
                        </m:sSub>
                        <m:func>
                          <m:funcPr/>
                          <m:fNam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4.3.2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7" name="c1-card-2"/>
          <p:cNvGrpSpPr/>
          <p:nvPr/>
        </p:nvGrpSpPr>
        <p:grpSpPr>
          <a:xfrm>
            <a:off x="533400" y="3246120"/>
            <a:ext cx="5626418" cy="2827972"/>
            <a:chOff x="533400" y="3246120"/>
            <a:chExt cx="5626418" cy="2827972"/>
          </a:xfrm>
        </p:grpSpPr>
        <p:sp>
          <p:nvSpPr>
            <p:cNvPr id="13" name="Rectangle 13"/>
            <p:cNvSpPr/>
            <p:nvPr/>
          </p:nvSpPr>
          <p:spPr>
            <a:xfrm>
              <a:off x="533400" y="3246120"/>
              <a:ext cx="5626418" cy="2827972"/>
            </a:xfrm>
            <a:prstGeom prst="roundRect">
              <a:avLst>
                <a:gd name="adj" fmla="val 4715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438525"/>
              <a:ext cx="192024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74001" y="3472815"/>
              <a:ext cx="1823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(2) 第 i 行 j 列、第 j 行 i 列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formula186"/>
                <p:cNvSpPr txBox="1">
                  <a:spLocks noGrp="1"/>
                </p:cNvSpPr>
                <p:nvPr/>
              </p:nvSpPr>
              <p:spPr>
                <a:xfrm>
                  <a:off x="725805" y="3772852"/>
                  <a:ext cx="5241608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jj</m:t>
                                </m:r>
                              </m:sub>
                            </m:sSub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4.3.3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2-card-1"/>
          <p:cNvGrpSpPr/>
          <p:nvPr/>
        </p:nvGrpSpPr>
        <p:grpSpPr>
          <a:xfrm>
            <a:off x="6464618" y="1524000"/>
            <a:ext cx="5193982" cy="1098232"/>
            <a:chOff x="6464618" y="1524000"/>
            <a:chExt cx="5193982" cy="1098232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1098232"/>
            </a:xfrm>
            <a:prstGeom prst="roundRect">
              <a:avLst>
                <a:gd name="adj" fmla="val 1214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57022" y="1716405"/>
              <a:ext cx="268890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707144" y="1750695"/>
              <a:ext cx="2589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(3) 第 i 行、第 i 列其他元素（k ≠ i, j）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formula187"/>
                <p:cNvSpPr txBox="1">
                  <a:spLocks noGrp="1"/>
                </p:cNvSpPr>
                <p:nvPr/>
              </p:nvSpPr>
              <p:spPr>
                <a:xfrm>
                  <a:off x="6657022" y="2050732"/>
                  <a:ext cx="480917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4.3.4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7" name="c2-card-2"/>
          <p:cNvGrpSpPr/>
          <p:nvPr/>
        </p:nvGrpSpPr>
        <p:grpSpPr>
          <a:xfrm>
            <a:off x="6464618" y="2797492"/>
            <a:ext cx="5193982" cy="1098232"/>
            <a:chOff x="6464618" y="2797492"/>
            <a:chExt cx="5193982" cy="1098232"/>
          </a:xfrm>
        </p:grpSpPr>
        <p:sp>
          <p:nvSpPr>
            <p:cNvPr id="23" name="Rectangle 23"/>
            <p:cNvSpPr/>
            <p:nvPr/>
          </p:nvSpPr>
          <p:spPr>
            <a:xfrm>
              <a:off x="6464618" y="2797492"/>
              <a:ext cx="5193982" cy="1098232"/>
            </a:xfrm>
            <a:prstGeom prst="roundRect">
              <a:avLst>
                <a:gd name="adj" fmla="val 1214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57022" y="2989898"/>
              <a:ext cx="268890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07144" y="3024188"/>
              <a:ext cx="2589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(4) 第 j 行、第 j 列其他元素（k ≠ i, j）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188"/>
                <p:cNvSpPr txBox="1">
                  <a:spLocks noGrp="1"/>
                </p:cNvSpPr>
                <p:nvPr/>
              </p:nvSpPr>
              <p:spPr>
                <a:xfrm>
                  <a:off x="6657022" y="3324225"/>
                  <a:ext cx="480917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kj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ik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4.3.5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2" name="c2-card-3"/>
          <p:cNvGrpSpPr/>
          <p:nvPr/>
        </p:nvGrpSpPr>
        <p:grpSpPr>
          <a:xfrm>
            <a:off x="6464618" y="4070985"/>
            <a:ext cx="5193982" cy="1098232"/>
            <a:chOff x="6464618" y="4070985"/>
            <a:chExt cx="5193982" cy="1098232"/>
          </a:xfrm>
        </p:grpSpPr>
        <p:sp>
          <p:nvSpPr>
            <p:cNvPr id="28" name="Rectangle 28"/>
            <p:cNvSpPr/>
            <p:nvPr/>
          </p:nvSpPr>
          <p:spPr>
            <a:xfrm>
              <a:off x="6464618" y="4070985"/>
              <a:ext cx="5193982" cy="1098232"/>
            </a:xfrm>
            <a:prstGeom prst="roundRect">
              <a:avLst>
                <a:gd name="adj" fmla="val 1214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57022" y="4263390"/>
              <a:ext cx="101631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32913" y="4297680"/>
              <a:ext cx="865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(5) 其他元素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189"/>
                <p:cNvSpPr txBox="1">
                  <a:spLocks noGrp="1"/>
                </p:cNvSpPr>
                <p:nvPr/>
              </p:nvSpPr>
              <p:spPr>
                <a:xfrm>
                  <a:off x="6657022" y="4597718"/>
                  <a:ext cx="4809172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lk</m:t>
                            </m:r>
                          </m:sub>
                        </m:sSub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l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≠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,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9" name="c2-callout-4"/>
          <p:cNvGrpSpPr/>
          <p:nvPr/>
        </p:nvGrpSpPr>
        <p:grpSpPr>
          <a:xfrm>
            <a:off x="6464618" y="5344478"/>
            <a:ext cx="5193982" cy="729615"/>
            <a:chOff x="6464618" y="5344478"/>
            <a:chExt cx="5193982" cy="729615"/>
          </a:xfrm>
        </p:grpSpPr>
        <p:sp>
          <p:nvSpPr>
            <p:cNvPr id="33" name="Rectangle 33"/>
            <p:cNvSpPr/>
            <p:nvPr/>
          </p:nvSpPr>
          <p:spPr>
            <a:xfrm>
              <a:off x="6464618" y="534447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669405" y="5609273"/>
              <a:ext cx="200026" cy="200025"/>
              <a:chOff x="6669405" y="5609273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669405" y="56092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09144" y="56537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743859" y="57648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972110" y="5490210"/>
              <a:ext cx="43428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推导：P 的第 i 列是 cosθ·eᵢ − sinθ·eⱼ，第 j 列是 sinθ</a:t>
              </a:r>
            </a:p>
            <a:p>
              <a:pPr algn="l" marL="145732" indent="-145732">
                <a:lnSpc>
                  <a:spcPts val="1958"/>
                </a:lnSpc>
                <a:buClr>
                  <a:srgbClr val="C2410C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eᵢ + cosθ·eⱼ，cᵢⱼ 就是这两列与 A 的乘积 Pᵢᵀ A Pⱼ。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789484" cy="909257"/>
            <a:chOff x="520446" y="342900"/>
            <a:chExt cx="107894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7894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旋转保持平方和不变，选 θ 让 cᵢⱼ = 0 就把非对角部分转移到对角线上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c1-text-1"/>
          <p:cNvGrpSpPr/>
          <p:nvPr/>
        </p:nvGrpSpPr>
        <p:grpSpPr>
          <a:xfrm>
            <a:off x="526542" y="1545907"/>
            <a:ext cx="2712510" cy="264033"/>
            <a:chOff x="526542" y="1545907"/>
            <a:chExt cx="27125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7125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(4.3.1)–(4.3.5) 可以验证：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214"/>
              <p:cNvSpPr txBox="1">
                <a:spLocks noGrp="1"/>
              </p:cNvSpPr>
              <p:nvPr/>
            </p:nvSpPr>
            <p:spPr>
              <a:xfrm>
                <a:off x="533400" y="1932622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jl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il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jl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4.3.6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215"/>
              <p:cNvSpPr txBox="1">
                <a:spLocks noGrp="1"/>
              </p:cNvSpPr>
              <p:nvPr/>
            </p:nvSpPr>
            <p:spPr>
              <a:xfrm>
                <a:off x="533400" y="2468880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ii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jj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ii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jj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4.3.7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2" name="c1-text-4"/>
          <p:cNvGrpSpPr/>
          <p:nvPr/>
        </p:nvGrpSpPr>
        <p:grpSpPr>
          <a:xfrm>
            <a:off x="526542" y="3028950"/>
            <a:ext cx="4011930" cy="264033"/>
            <a:chOff x="526542" y="3028950"/>
            <a:chExt cx="4011930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526542" y="30289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引入记号（全部元素平方和、非对角元平方和）：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formula216"/>
              <p:cNvSpPr txBox="1">
                <a:spLocks noGrp="1"/>
              </p:cNvSpPr>
              <p:nvPr/>
            </p:nvSpPr>
            <p:spPr>
              <a:xfrm>
                <a:off x="533400" y="3414712"/>
                <a:ext cx="5410200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p>
                        <m:e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≠</m:t>
                          </m:r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  <m:sup/>
                        <m:e>
                          <m:sSubSup>
                            <m:e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ij</m:t>
                              </m:r>
                            </m:sub>
                            <m:sup>
                              <m:r>
                                <a:rPr lang="zh-CN" sz="15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217"/>
              <p:cNvSpPr txBox="1">
                <a:spLocks noGrp="1"/>
              </p:cNvSpPr>
              <p:nvPr/>
            </p:nvSpPr>
            <p:spPr>
              <a:xfrm>
                <a:off x="533400" y="4218622"/>
                <a:ext cx="54102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τ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sSubSup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ij</m:t>
                          </m:r>
                        </m:sub>
                        <m:sup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p>
                      </m:sSubSup>
                      <m:r>
                        <a:rPr lang="zh-CN" sz="14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4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4.3.8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4" name="c1-card-7"/>
          <p:cNvGrpSpPr/>
          <p:nvPr/>
        </p:nvGrpSpPr>
        <p:grpSpPr>
          <a:xfrm>
            <a:off x="533400" y="4754880"/>
            <a:ext cx="5410200" cy="1529715"/>
            <a:chOff x="533400" y="4754880"/>
            <a:chExt cx="5410200" cy="1529715"/>
          </a:xfrm>
        </p:grpSpPr>
        <p:sp>
          <p:nvSpPr>
            <p:cNvPr id="15" name="Rectangle 15"/>
            <p:cNvSpPr/>
            <p:nvPr/>
          </p:nvSpPr>
          <p:spPr>
            <a:xfrm>
              <a:off x="533400" y="4754880"/>
              <a:ext cx="5410200" cy="1529715"/>
            </a:xfrm>
            <a:prstGeom prst="roundRect">
              <a:avLst>
                <a:gd name="adj" fmla="val 87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888230"/>
              <a:ext cx="47625" cy="1263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9472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345" y="49815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47597" y="4987290"/>
              <a:ext cx="2610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4.5 第 1 次旋转（A₁ → A₂）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2478" y="53778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8497" y="5321618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σ(A₁) = 3×2² + 4×1² = 16，σ(A₂) = 1² + 3² + 2² + 4×½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16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72478" y="59378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497" y="5881688"/>
              <a:ext cx="3736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τ(A₁) = 4，τ(A₂) = 4 − 2×(−1)² + 2×0² = 2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2120265"/>
            <a:chOff x="6248400" y="1524000"/>
            <a:chExt cx="5410200" cy="2120265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2120265"/>
            </a:xfrm>
            <a:prstGeom prst="roundRect">
              <a:avLst>
                <a:gd name="adj" fmla="val 6289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322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4497" y="1756410"/>
              <a:ext cx="1771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 (4.3.3) 右端为零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218"/>
                <p:cNvSpPr txBox="1">
                  <a:spLocks noGrp="1"/>
                </p:cNvSpPr>
                <p:nvPr/>
              </p:nvSpPr>
              <p:spPr>
                <a:xfrm>
                  <a:off x="6440805" y="2067878"/>
                  <a:ext cx="502539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jj</m:t>
                                </m:r>
                              </m:sub>
                            </m:sSub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ij</m:t>
                            </m:r>
                          </m:sub>
                        </m:sSub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6433947" y="266604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即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formula219"/>
                <p:cNvSpPr txBox="1">
                  <a:spLocks noGrp="1"/>
                </p:cNvSpPr>
                <p:nvPr/>
              </p:nvSpPr>
              <p:spPr>
                <a:xfrm>
                  <a:off x="6440805" y="2946082"/>
                  <a:ext cx="5025390" cy="4886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tan</m:t>
                            </m:r>
                          </m:fName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jj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ii</m:t>
                                </m:r>
                              </m:sub>
                            </m:sSub>
                          </m:den>
                        </m:f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sepChr m:val=""/>
                                <m:endChr m:val="|"/>
                                <m:grow m:val="on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θ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≤</m:t>
                            </m:r>
                            <m:f>
                              <m:fPr>
                                <m:type m:val="bar"/>
                                <m:ctrlP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zh-CN" sz="142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4.3.9</m:t>
                            </m:r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8" name="c2-callout-2"/>
          <p:cNvGrpSpPr/>
          <p:nvPr/>
        </p:nvGrpSpPr>
        <p:grpSpPr>
          <a:xfrm>
            <a:off x="6248400" y="3819525"/>
            <a:ext cx="5410200" cy="729615"/>
            <a:chOff x="6248400" y="3819525"/>
            <a:chExt cx="5410200" cy="729615"/>
          </a:xfrm>
        </p:grpSpPr>
        <p:sp>
          <p:nvSpPr>
            <p:cNvPr id="33" name="Rectangle 33"/>
            <p:cNvSpPr/>
            <p:nvPr/>
          </p:nvSpPr>
          <p:spPr>
            <a:xfrm>
              <a:off x="6248400" y="381952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4084320"/>
              <a:ext cx="200026" cy="200026"/>
              <a:chOff x="6453188" y="4084320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453188" y="4084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19863" y="416210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892" y="3965258"/>
              <a:ext cx="44799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这样一次变换后 cᵢⱼ = cⱼᵢ = 0，τ(C) = τ(A) − 2aᵢⱼ²：非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对角元平方和减少 2aᵢⱼ²，这部分全部转移到了对角元上。</a:t>
              </a:r>
            </a:p>
          </p:txBody>
        </p:sp>
      </p:grpSp>
      <p:grpSp>
        <p:nvGrpSpPr>
          <p:cNvPr id="44" name="c2-card-3"/>
          <p:cNvGrpSpPr/>
          <p:nvPr/>
        </p:nvGrpSpPr>
        <p:grpSpPr>
          <a:xfrm>
            <a:off x="6248400" y="4723448"/>
            <a:ext cx="5410200" cy="1561148"/>
            <a:chOff x="6248400" y="4723448"/>
            <a:chExt cx="5410200" cy="1561148"/>
          </a:xfrm>
        </p:grpSpPr>
        <p:sp>
          <p:nvSpPr>
            <p:cNvPr id="39" name="Rectangle 39"/>
            <p:cNvSpPr/>
            <p:nvPr/>
          </p:nvSpPr>
          <p:spPr>
            <a:xfrm>
              <a:off x="6248400" y="4723448"/>
              <a:ext cx="5410200" cy="1561148"/>
            </a:xfrm>
            <a:prstGeom prst="roundRect">
              <a:avLst>
                <a:gd name="adj" fmla="val 85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57925" y="4856798"/>
              <a:ext cx="47625" cy="129444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478905" y="4915852"/>
              <a:ext cx="1007745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54274" y="4950142"/>
              <a:ext cx="8570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aᵢᵢ = aⱼⱼ 时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2047" y="5273040"/>
              <a:ext cx="45914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(4.3.3) 化为 aᵢⱼcos2θ = 0，取 θ = ±π/4（符号同 aᵢⱼ），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cᵢᵢ = aᵢᵢ − |aᵢⱼ|，cⱼⱼ = aⱼⱼ + |aᵢⱼ|。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63420" cy="909257"/>
            <a:chOff x="520446" y="342900"/>
            <a:chExt cx="95634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634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4.3.2 Jacobi 旋转法的算法：每次消去绝对值最大的非对角元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707708" y="1788795"/>
            <a:ext cx="4629150" cy="4405312"/>
            <a:chOff x="707708" y="1788795"/>
            <a:chExt cx="4629150" cy="4405312"/>
          </a:xfrm>
        </p:grpSpPr>
        <p:sp>
          <p:nvSpPr>
            <p:cNvPr id="7" name="Freeform 7"/>
            <p:cNvSpPr/>
            <p:nvPr/>
          </p:nvSpPr>
          <p:spPr>
            <a:xfrm>
              <a:off x="1777365" y="2226945"/>
              <a:ext cx="9525" cy="329565"/>
            </a:xfrm>
            <a:custGeom>
              <a:avLst/>
              <a:gdLst/>
              <a:ahLst/>
              <a:cxnLst/>
              <a:rect l="l" t="t" r="r" b="b"/>
              <a:pathLst>
                <a:path w="9525" h="329565">
                  <a:moveTo>
                    <a:pt x="0" y="0"/>
                  </a:moveTo>
                  <a:lnTo>
                    <a:pt x="0" y="3295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724978" y="25565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777365" y="3289935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24978" y="35375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47975" y="394335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0" y="0"/>
                  </a:moveTo>
                  <a:lnTo>
                    <a:pt x="2438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091815" y="389096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777365" y="424434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24978" y="44919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5225415"/>
              <a:ext cx="9525" cy="234315"/>
            </a:xfrm>
            <a:custGeom>
              <a:avLst/>
              <a:gdLst/>
              <a:ahLst/>
              <a:cxnLst/>
              <a:rect l="l" t="t" r="r" b="b"/>
              <a:pathLst>
                <a:path w="9525" h="234315">
                  <a:moveTo>
                    <a:pt x="0" y="0"/>
                  </a:moveTo>
                  <a:lnTo>
                    <a:pt x="0" y="2343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724978" y="5459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47975" y="2975610"/>
              <a:ext cx="1766888" cy="2903220"/>
            </a:xfrm>
            <a:custGeom>
              <a:avLst/>
              <a:gdLst/>
              <a:ahLst/>
              <a:cxnLst/>
              <a:rect l="l" t="t" r="r" b="b"/>
              <a:pathLst>
                <a:path w="1766888" h="2903220">
                  <a:moveTo>
                    <a:pt x="0" y="2903220"/>
                  </a:moveTo>
                  <a:lnTo>
                    <a:pt x="209550" y="2903220"/>
                  </a:lnTo>
                  <a:lnTo>
                    <a:pt x="1766888" y="2903220"/>
                  </a:lnTo>
                  <a:lnTo>
                    <a:pt x="1766888" y="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47975" y="29232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07708" y="1788795"/>
              <a:ext cx="2140268" cy="43815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07708" y="2661285"/>
              <a:ext cx="214026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07708" y="3642360"/>
              <a:ext cx="2140268" cy="601980"/>
            </a:xfrm>
            <a:custGeom>
              <a:avLst/>
              <a:gdLst/>
              <a:ahLst/>
              <a:cxnLst/>
              <a:rect l="l" t="t" r="r" b="b"/>
              <a:pathLst>
                <a:path w="2140268" h="601980">
                  <a:moveTo>
                    <a:pt x="1069658" y="0"/>
                  </a:moveTo>
                  <a:lnTo>
                    <a:pt x="2140268" y="300990"/>
                  </a:lnTo>
                  <a:lnTo>
                    <a:pt x="1069658" y="601980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7708" y="4596765"/>
              <a:ext cx="2140268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2E7D4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7708" y="5564505"/>
              <a:ext cx="2140268" cy="629602"/>
            </a:xfrm>
            <a:prstGeom prst="roundRect">
              <a:avLst>
                <a:gd name="adj" fmla="val 15129"/>
              </a:avLst>
            </a:prstGeom>
            <a:solidFill>
              <a:srgbClr val="E5F2EA"/>
            </a:solidFill>
            <a:ln w="19050">
              <a:solidFill>
                <a:srgbClr val="2E7D4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196590" y="3629025"/>
              <a:ext cx="2140268" cy="629602"/>
            </a:xfrm>
            <a:prstGeom prst="roundRect">
              <a:avLst>
                <a:gd name="adj" fmla="val 49924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3648" y="1918811"/>
              <a:ext cx="17874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A₁ = A，S₀ = I，k =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2472" y="2777014"/>
              <a:ext cx="158978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Aₖ 的非对角元中选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|aᵢⱼ⁽ᵏ⁾| 最大者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02253" y="3854291"/>
              <a:ext cx="1150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|aᵢⱼ⁽ᵏ⁾| &lt; ε？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4984" y="4712494"/>
              <a:ext cx="152476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(4.3.9) 定 θ，得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Pₖ = Pᵢⱼ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896" y="5680234"/>
              <a:ext cx="166293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Aₖ₊₁ = PₖᵀAₖPₖ，Sₖ =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Sₖ₋₁Pₖ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98786" y="3744754"/>
              <a:ext cx="1534922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对角元 ≈ 特征值，Sₖ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各列 ≈ 特征向量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907982" y="372713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946273" y="375380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805940" y="432816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829181" y="435483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643438" y="4334828"/>
              <a:ext cx="62198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66678" y="4361498"/>
              <a:ext cx="5690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 = k + 1</a:t>
              </a:r>
            </a:p>
          </p:txBody>
        </p:sp>
      </p:grpSp>
      <p:grpSp>
        <p:nvGrpSpPr>
          <p:cNvPr id="39" name="c2-text-1"/>
          <p:cNvGrpSpPr/>
          <p:nvPr/>
        </p:nvGrpSpPr>
        <p:grpSpPr>
          <a:xfrm>
            <a:off x="5808345" y="1548765"/>
            <a:ext cx="5605177" cy="293370"/>
            <a:chOff x="5808345" y="1548765"/>
            <a:chExt cx="5605177" cy="293370"/>
          </a:xfrm>
        </p:grpSpPr>
        <p:sp>
          <p:nvSpPr>
            <p:cNvPr id="38" name="TextBox 38"/>
            <p:cNvSpPr txBox="1"/>
            <p:nvPr/>
          </p:nvSpPr>
          <p:spPr>
            <a:xfrm>
              <a:off x="5808345" y="1548765"/>
              <a:ext cx="56051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这样得到一系列平面旋转阵 Pₖ = P_{iₖjₖ}（k = 1, 2, …），使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formula222"/>
              <p:cNvSpPr txBox="1">
                <a:spLocks noGrp="1"/>
              </p:cNvSpPr>
              <p:nvPr/>
            </p:nvSpPr>
            <p:spPr>
              <a:xfrm>
                <a:off x="5815965" y="1973580"/>
                <a:ext cx="584263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sSubSup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4.3.10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8" name="c2-card-3"/>
          <p:cNvGrpSpPr/>
          <p:nvPr/>
        </p:nvGrpSpPr>
        <p:grpSpPr>
          <a:xfrm>
            <a:off x="5815965" y="2583180"/>
            <a:ext cx="5842635" cy="2145030"/>
            <a:chOff x="5815965" y="2583180"/>
            <a:chExt cx="5842635" cy="2145030"/>
          </a:xfrm>
        </p:grpSpPr>
        <p:sp>
          <p:nvSpPr>
            <p:cNvPr id="41" name="Rectangle 41"/>
            <p:cNvSpPr/>
            <p:nvPr/>
          </p:nvSpPr>
          <p:spPr>
            <a:xfrm>
              <a:off x="5815965" y="2583180"/>
              <a:ext cx="5842635" cy="2145030"/>
            </a:xfrm>
            <a:prstGeom prst="roundRect">
              <a:avLst>
                <a:gd name="adj" fmla="val 62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25490" y="2716530"/>
              <a:ext cx="47625" cy="18783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63615" y="2792730"/>
              <a:ext cx="224409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101720" y="2828449"/>
              <a:ext cx="21678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不用反三角函数求 cos θ、sin θ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055995" y="3169920"/>
              <a:ext cx="5006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 d = |aⱼⱼ − aᵢᵢ|，m = sign(aⱼⱼ − aᵢᵢ)·2aᵢⱼ（原课件记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 λ、μ），则 tan2θ = m/d，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formula223"/>
                <p:cNvSpPr txBox="1">
                  <a:spLocks noGrp="1"/>
                </p:cNvSpPr>
                <p:nvPr/>
              </p:nvSpPr>
              <p:spPr>
                <a:xfrm>
                  <a:off x="6063615" y="3766185"/>
                  <a:ext cx="5385435" cy="4371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ω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e>
                        </m:func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d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m</m:t>
                                    </m:r>
                                  </m:e>
                                  <m:sup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cos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ω</m:t>
                                </m:r>
                              </m:num>
                              <m:den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sin</m:t>
                            </m:r>
                          </m:fName>
                          <m:e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θ</m:t>
                            </m:r>
                          </m:e>
                        </m:func>
                        <m:r>
                          <m:rPr>
                            <m:sty m:val="p"/>
                          </m:rPr>
                          <a:rPr lang="zh-CN" sz="12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 xml:space="preserve"> </m:t>
                            </m:r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ω</m:t>
                            </m:r>
                          </m:num>
                          <m:den>
                            <m:r>
                              <a:rPr lang="zh-CN" sz="12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d</m:t>
                            </m:r>
                            <m:rad>
                              <m:radPr>
                                <m:degHide m:val="on"/>
                                <m:ctrlP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zh-CN" sz="128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+</m:t>
                                    </m:r>
                                    <m:r>
                                      <a:rPr lang="zh-CN" sz="128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ω</m:t>
                                    </m:r>
                                  </m:e>
                                </m:d>
                              </m:e>
                            </m:rad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7" name="TextBox 47"/>
            <p:cNvSpPr txBox="1"/>
            <p:nvPr/>
          </p:nvSpPr>
          <p:spPr>
            <a:xfrm>
              <a:off x="6057138" y="4320064"/>
              <a:ext cx="32438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= 0 时公式失效，按上一页取 θ = ±π/4。</a:t>
              </a:r>
            </a:p>
          </p:txBody>
        </p:sp>
      </p:grpSp>
      <p:grpSp>
        <p:nvGrpSpPr>
          <p:cNvPr id="55" name="c2-callout-4"/>
          <p:cNvGrpSpPr/>
          <p:nvPr/>
        </p:nvGrpSpPr>
        <p:grpSpPr>
          <a:xfrm>
            <a:off x="5815965" y="4918710"/>
            <a:ext cx="5842635" cy="782955"/>
            <a:chOff x="5815965" y="4918710"/>
            <a:chExt cx="5842635" cy="782955"/>
          </a:xfrm>
        </p:grpSpPr>
        <p:sp>
          <p:nvSpPr>
            <p:cNvPr id="49" name="Rectangle 49"/>
            <p:cNvSpPr/>
            <p:nvPr/>
          </p:nvSpPr>
          <p:spPr>
            <a:xfrm>
              <a:off x="5815965" y="491871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20753" y="5210175"/>
              <a:ext cx="200026" cy="200026"/>
              <a:chOff x="6020753" y="5210175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020753" y="52101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120765" y="5276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109653" y="53101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322695" y="5067300"/>
              <a:ext cx="4806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步消掉的元素在后面的旋转中可能重新变成非零，所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以一般不能有限步化成对角阵，只能逐步逼近。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79164" cy="909257"/>
            <a:chOff x="520446" y="342900"/>
            <a:chExt cx="86791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791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收敛性：每步 τ 至少按固定比例减小；特征向量逐步累积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ard-1"/>
          <p:cNvGrpSpPr/>
          <p:nvPr/>
        </p:nvGrpSpPr>
        <p:grpSpPr>
          <a:xfrm>
            <a:off x="533400" y="1524000"/>
            <a:ext cx="5626418" cy="1055370"/>
            <a:chOff x="533400" y="1524000"/>
            <a:chExt cx="5626418" cy="10553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055370"/>
            </a:xfrm>
            <a:prstGeom prst="roundRect">
              <a:avLst>
                <a:gd name="adj" fmla="val 1263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257841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8578" y="1743551"/>
              <a:ext cx="25204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① 每次变换消去的是 aᵢⱼ⁽ᵏ⁾，由 (4.3.8)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formula244"/>
                <p:cNvSpPr txBox="1">
                  <a:spLocks noGrp="1"/>
                </p:cNvSpPr>
                <p:nvPr/>
              </p:nvSpPr>
              <p:spPr>
                <a:xfrm>
                  <a:off x="720090" y="2032635"/>
                  <a:ext cx="5253038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6" name="c1-card-2"/>
          <p:cNvGrpSpPr/>
          <p:nvPr/>
        </p:nvGrpSpPr>
        <p:grpSpPr>
          <a:xfrm>
            <a:off x="533400" y="2748915"/>
            <a:ext cx="5626418" cy="1175385"/>
            <a:chOff x="533400" y="2748915"/>
            <a:chExt cx="5626418" cy="1175385"/>
          </a:xfrm>
        </p:grpSpPr>
        <p:sp>
          <p:nvSpPr>
            <p:cNvPr id="12" name="Rectangle 12"/>
            <p:cNvSpPr/>
            <p:nvPr/>
          </p:nvSpPr>
          <p:spPr>
            <a:xfrm>
              <a:off x="533400" y="2748915"/>
              <a:ext cx="5626418" cy="1175385"/>
            </a:xfrm>
            <a:prstGeom prst="roundRect">
              <a:avLst>
                <a:gd name="adj" fmla="val 1134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20090" y="2935605"/>
              <a:ext cx="277558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921" y="2968466"/>
              <a:ext cx="272992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② 消去的是最大的，而非对角元共 n(n − 1) 个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formula245"/>
                <p:cNvSpPr txBox="1">
                  <a:spLocks noGrp="1"/>
                </p:cNvSpPr>
                <p:nvPr/>
              </p:nvSpPr>
              <p:spPr>
                <a:xfrm>
                  <a:off x="720090" y="3257550"/>
                  <a:ext cx="5253038" cy="46291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≥</m:t>
                        </m:r>
                        <m:f>
                          <m:fPr>
                            <m:type m:val="bar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d>
                          </m:den>
                        </m:f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2" name="c1-card-3"/>
          <p:cNvGrpSpPr/>
          <p:nvPr/>
        </p:nvGrpSpPr>
        <p:grpSpPr>
          <a:xfrm>
            <a:off x="533400" y="4093845"/>
            <a:ext cx="5626418" cy="1592580"/>
            <a:chOff x="533400" y="4093845"/>
            <a:chExt cx="5626418" cy="1592580"/>
          </a:xfrm>
        </p:grpSpPr>
        <p:sp>
          <p:nvSpPr>
            <p:cNvPr id="17" name="Rectangle 17"/>
            <p:cNvSpPr/>
            <p:nvPr/>
          </p:nvSpPr>
          <p:spPr>
            <a:xfrm>
              <a:off x="533400" y="4093845"/>
              <a:ext cx="5626418" cy="1592580"/>
            </a:xfrm>
            <a:prstGeom prst="roundRect">
              <a:avLst>
                <a:gd name="adj" fmla="val 8373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0090" y="4280535"/>
              <a:ext cx="694372" cy="238125"/>
            </a:xfrm>
            <a:prstGeom prst="roundRect">
              <a:avLst>
                <a:gd name="adj" fmla="val 50000"/>
              </a:avLst>
            </a:prstGeom>
            <a:solidFill>
              <a:srgbClr val="23613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5083" y="4313396"/>
              <a:ext cx="5234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合起来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formula246"/>
                <p:cNvSpPr txBox="1">
                  <a:spLocks noGrp="1"/>
                </p:cNvSpPr>
                <p:nvPr/>
              </p:nvSpPr>
              <p:spPr>
                <a:xfrm>
                  <a:off x="720090" y="4602480"/>
                  <a:ext cx="5253038" cy="4114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n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 m:val="on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−</m:t>
                                    </m:r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k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≤⋯≤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zh-CN" sz="1200" dirty="0">
                                        <a:solidFill>
                                          <a:srgbClr val="FFFFFF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n</m:t>
                                    </m:r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n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200" dirty="0">
                                            <a:solidFill>
                                              <a:srgbClr val="FFFFFF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p>
                        </m:sSup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τ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2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2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→</m:t>
                        </m:r>
                        <m:r>
                          <a:rPr lang="zh-CN" sz="12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0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1" name="TextBox 21"/>
            <p:cNvSpPr txBox="1"/>
            <p:nvPr/>
          </p:nvSpPr>
          <p:spPr>
            <a:xfrm>
              <a:off x="714375" y="5116354"/>
              <a:ext cx="486892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原课件末式写作 τ(Aₖ) ≤ (1 − 2/(n(n−1)))ᵏτ(A₁)，下标差 1；n = 2、k = 1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时右端为 0，不成立。已更正为 τ(Aₖ₊₁)。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1524000"/>
            <a:ext cx="5193982" cy="4161472"/>
            <a:chOff x="6464618" y="1524000"/>
            <a:chExt cx="5193982" cy="4161472"/>
          </a:xfrm>
        </p:grpSpPr>
        <p:sp>
          <p:nvSpPr>
            <p:cNvPr id="23" name="Rectangle 23"/>
            <p:cNvSpPr/>
            <p:nvPr/>
          </p:nvSpPr>
          <p:spPr>
            <a:xfrm>
              <a:off x="6464618" y="1524000"/>
              <a:ext cx="5193982" cy="4161472"/>
            </a:xfrm>
            <a:prstGeom prst="roundRect">
              <a:avLst>
                <a:gd name="adj" fmla="val 3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74142" y="1657350"/>
              <a:ext cx="47625" cy="389477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89408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92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特征向量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82549" y="2054542"/>
              <a:ext cx="40685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 = P₁P₂⋯Pₖ 的各列为相应特征向量的近似。由 Sₖ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Sₖ₋₁Pₖ（Pₖ 作用在第 p、q 行列上）：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247"/>
                <p:cNvSpPr txBox="1">
                  <a:spLocks noGrp="1"/>
                </p:cNvSpPr>
                <p:nvPr/>
              </p:nvSpPr>
              <p:spPr>
                <a:xfrm>
                  <a:off x="6689408" y="2589848"/>
                  <a:ext cx="4782502" cy="9001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d>
                          <m:dPr>
                            <m:begChr m:val="{"/>
                            <m:sepChr m:val=""/>
                            <m:endChr m:val=""/>
                            <m:grow m:val="on"/>
                            <m:ctrlPr>
                              <a:rPr lang="zh-CN" sz="135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eqArr>
                              <m:eqArrPr>
                                <m:baseJc m:val="center"/>
                              </m:eqArrPr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ip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ip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iq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iq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ip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+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iq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func>
                                  <m:funcPr/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θ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&amp;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sSubSup>
                                  <m:e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a:rPr lang="zh-CN" sz="135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ij</m:t>
                                    </m:r>
                                  </m:sub>
                                  <m:sup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 m:val="on"/>
                                        <m:ctrl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k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zh-CN" sz="135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 xml:space="preserve"> 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≠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p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,</m:t>
                                </m:r>
                                <m:r>
                                  <a:rPr lang="zh-CN" sz="13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q</m:t>
                                </m:r>
                              </m:e>
                            </m:eqArr>
                          </m:e>
                        </m:d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,⋯,</m:t>
                        </m:r>
                        <m:r>
                          <a:rPr lang="zh-CN" sz="135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9" name="TextBox 29"/>
            <p:cNvSpPr txBox="1"/>
            <p:nvPr/>
          </p:nvSpPr>
          <p:spPr>
            <a:xfrm>
              <a:off x="6682549" y="3596640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每步只改 S 的第 p、q 两列，不必保留各个 Pₖ，只存 Sₖ。算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法结束时 Sₖ 的列向量就是所求特征向量。</a:t>
              </a:r>
            </a:p>
          </p:txBody>
        </p:sp>
      </p:grpSp>
      <p:grpSp>
        <p:nvGrpSpPr>
          <p:cNvPr id="37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31" name="Rectangle 3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892" y="6028373"/>
              <a:ext cx="94458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= 3 时每步 τ 至少乘 2/3。例 4.5 中 τ 依次为 4、2、1、0.211、0.058、5.7×10⁻⁴，实际比这个界下降得快得多。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80567" cy="909257"/>
            <a:chOff x="520446" y="342900"/>
            <a:chExt cx="70805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805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旋转法的程序（按原课件整理并修正）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4751070"/>
            <a:chOff x="533400" y="1524000"/>
            <a:chExt cx="6276022" cy="47510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751070"/>
            </a:xfrm>
            <a:prstGeom prst="roundRect">
              <a:avLst>
                <a:gd name="adj" fmla="val 20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77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jacobi.m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5959792"/>
              <a:ext cx="6237922" cy="18478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530" y="1936956"/>
              <a:ext cx="4183278" cy="42662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55"/>
                </a:lnSpc>
              </a:pPr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function [lamda, eigen_vec] = jacobi(A)</a:t>
              </a:r>
              <a:br/>
              <a:r>
                <a:rPr lang="zh-CN" sz="103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% 实对称矩阵 A 的全部特征值与特征向量（列）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ep = 1e-6;  UP = 1e9;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 = A;  eigen_vec = eye(size(B));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while 1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[colmax, rowidx] = max(abs(B - diag(diag(B))));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[bmax, j] = max(colmax);  i = rowidx(j);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bmax &lt; ep, break; end</a:t>
              </a:r>
              <a:br/>
              <a:r>
                <a:rPr lang="el-GR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 = 2*B(i,j) / (B(j,j) - B(i,i));   % tan 2θ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t &gt; UP</a:t>
              </a:r>
              <a:br/>
              <a:r>
                <a:rPr lang="el-GR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 = sqrt(2)/2;  c = s;             % θ = π/4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elseif t &lt; -UP</a:t>
              </a:r>
              <a:br/>
              <a:r>
                <a:rPr lang="el-GR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 = -sqrt(2)/2; c = -s;            % θ = −π/4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s = sin(atan(t)/2);  c = cos(atan(t)/2);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 = eye(size(B));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P(i,i) = c;  P(j,j) = c;  P(i,j) = s;  P(j,i) = -s;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eigen_vec = eigen_vec * P;           % S(k) = S(k-1) P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 = P' * B * P;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lamda = diag(B);</a:t>
              </a:r>
              <a:br/>
              <a:r>
                <a:rPr lang="en-US" sz="103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25" name="c2-steps-1"/>
          <p:cNvGrpSpPr/>
          <p:nvPr/>
        </p:nvGrpSpPr>
        <p:grpSpPr>
          <a:xfrm>
            <a:off x="7114222" y="1533525"/>
            <a:ext cx="4495725" cy="1693069"/>
            <a:chOff x="7114222" y="1533525"/>
            <a:chExt cx="4495725" cy="1693069"/>
          </a:xfrm>
        </p:grpSpPr>
        <p:sp>
          <p:nvSpPr>
            <p:cNvPr id="12" name="Rectangle 12"/>
            <p:cNvSpPr/>
            <p:nvPr/>
          </p:nvSpPr>
          <p:spPr>
            <a:xfrm>
              <a:off x="7247572" y="1676400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7114222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0784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114222" y="21202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20784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114222" y="270700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207846" y="27808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6464" y="156495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找最大非对角元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27608" y="183308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按列求最大值，再在各列最大值中求最大，得位置 (i, j)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6464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7608" y="2419826"/>
              <a:ext cx="3691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= tan2θ；分母为 0 时 t = ±Inf，落入 ±π/4 两个分支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6464" y="27393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旋转并累积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7608" y="3006566"/>
              <a:ext cx="2545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PᵀBP，eigen_vec = eigen_vec·P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7114222" y="3395662"/>
            <a:ext cx="4544378" cy="2879408"/>
            <a:chOff x="7114222" y="3395662"/>
            <a:chExt cx="4544378" cy="2879408"/>
          </a:xfrm>
        </p:grpSpPr>
        <p:sp>
          <p:nvSpPr>
            <p:cNvPr id="26" name="Rectangle 26"/>
            <p:cNvSpPr/>
            <p:nvPr/>
          </p:nvSpPr>
          <p:spPr>
            <a:xfrm>
              <a:off x="7114222" y="3395662"/>
              <a:ext cx="4544378" cy="2879408"/>
            </a:xfrm>
            <a:prstGeom prst="roundRect">
              <a:avLst>
                <a:gd name="adj" fmla="val 46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23748" y="3529012"/>
              <a:ext cx="47625" cy="261270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344728" y="358806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36168" y="362235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53300" y="4000500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09320" y="3944302"/>
              <a:ext cx="372560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原程序最后写 lamda = max(B)，取的是各列最大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元，特征值为负时会取到接近 0 的非对角元，应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diag(B)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353300" y="481774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09320" y="4761548"/>
              <a:ext cx="377704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原程序另有分支 abs(t) &lt; ep 时令 s = 0、c = 1。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若此时 |B(i,j)| ≥ ep，矩阵不再变化，循环停不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下来，已删去（atan 对很小的 t 本来就能正确计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算）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15519" cy="909257"/>
            <a:chOff x="520446" y="342900"/>
            <a:chExt cx="71155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155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4.5 第 1 次旋转：a₁₁ = a₂₂，取 θ = −π/4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54"/>
              <p:cNvSpPr txBox="1">
                <a:spLocks noGrp="1"/>
              </p:cNvSpPr>
              <p:nvPr/>
            </p:nvSpPr>
            <p:spPr>
              <a:xfrm>
                <a:off x="533400" y="1524000"/>
                <a:ext cx="4977765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7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7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7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1" name="c1-steps-2"/>
          <p:cNvGrpSpPr/>
          <p:nvPr/>
        </p:nvGrpSpPr>
        <p:grpSpPr>
          <a:xfrm>
            <a:off x="533400" y="2518410"/>
            <a:ext cx="4760976" cy="2453068"/>
            <a:chOff x="533400" y="2518410"/>
            <a:chExt cx="4760976" cy="2453068"/>
          </a:xfrm>
        </p:grpSpPr>
        <p:sp>
          <p:nvSpPr>
            <p:cNvPr id="8" name="Rectangle 8"/>
            <p:cNvSpPr/>
            <p:nvPr/>
          </p:nvSpPr>
          <p:spPr>
            <a:xfrm>
              <a:off x="666750" y="2661285"/>
              <a:ext cx="19050" cy="16840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533400" y="251841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27024" y="25922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533400" y="336042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27024" y="3434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4202430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7024" y="42762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5261" y="25512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2831782"/>
              <a:ext cx="434797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绝对值最大的非对角元是 a₁₂ = −1（与 a₂₃ 并列，取在前的），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1，j =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5261" y="339328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404" y="3673792"/>
              <a:ext cx="41650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a₁₁ = a₂₂，tan2θ 分母为 0；a₁₂ &lt; 0，取 θ = −π/4，cos θ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0.7071，sin θ = −0.7071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5261" y="4235291"/>
              <a:ext cx="1009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τ 的变化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4515802"/>
              <a:ext cx="4248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τ(A₁) = 4，τ(A₂) = 4 − 2×1² = 2；a₁₃、a₂₃ 由 0、−1 变成两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−1/√2</a:t>
              </a:r>
            </a:p>
          </p:txBody>
        </p:sp>
      </p:grpSp>
      <p:grpSp>
        <p:nvGrpSpPr>
          <p:cNvPr id="28" name="c1-callout-3"/>
          <p:cNvGrpSpPr/>
          <p:nvPr/>
        </p:nvGrpSpPr>
        <p:grpSpPr>
          <a:xfrm>
            <a:off x="533400" y="5147310"/>
            <a:ext cx="4977765" cy="1018222"/>
            <a:chOff x="533400" y="5147310"/>
            <a:chExt cx="4977765" cy="1018222"/>
          </a:xfrm>
        </p:grpSpPr>
        <p:sp>
          <p:nvSpPr>
            <p:cNvPr id="22" name="Rectangle 22"/>
            <p:cNvSpPr/>
            <p:nvPr/>
          </p:nvSpPr>
          <p:spPr>
            <a:xfrm>
              <a:off x="533400" y="5147310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5556885"/>
              <a:ext cx="200026" cy="200025"/>
              <a:chOff x="738188" y="555688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55568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77926" y="56013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12642" y="57124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511" y="5295424"/>
              <a:ext cx="3873754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(4.3.1)、(4.3.3) 验算：c₁₁ = 2×½ + 2×½ −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(−1)×sin(−π/2) = 1，c₁₂ = 0 +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(−1)×cos(−π/2) = 0。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ormula255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1171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formula256"/>
              <p:cNvSpPr txBox="1">
                <a:spLocks noGrp="1"/>
              </p:cNvSpPr>
              <p:nvPr/>
            </p:nvSpPr>
            <p:spPr>
              <a:xfrm>
                <a:off x="5815965" y="2881312"/>
                <a:ext cx="5842635" cy="14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A</m:t>
                      </m:r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zh-CN" sz="1500" dirty="0">
                                        <a:solidFill>
                                          <a:srgbClr val="1F2937"/>
                                        </a:solidFill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zh-CN" sz="1500" dirty="0">
                                            <a:solidFill>
                                              <a:srgbClr val="1F2937"/>
                                            </a:solidFill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2</m:t>
                                        </m:r>
                                      </m:e>
                                    </m:rad>
                                  </m:den>
                                </m:f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36" name="c2-card-3"/>
          <p:cNvGrpSpPr/>
          <p:nvPr/>
        </p:nvGrpSpPr>
        <p:grpSpPr>
          <a:xfrm>
            <a:off x="5815965" y="4475798"/>
            <a:ext cx="5842635" cy="1690688"/>
            <a:chOff x="5815965" y="4475798"/>
            <a:chExt cx="5842635" cy="1690688"/>
          </a:xfrm>
        </p:grpSpPr>
        <p:sp>
          <p:nvSpPr>
            <p:cNvPr id="31" name="Rectangle 31"/>
            <p:cNvSpPr/>
            <p:nvPr/>
          </p:nvSpPr>
          <p:spPr>
            <a:xfrm>
              <a:off x="5815965" y="4475798"/>
              <a:ext cx="5842635" cy="1690688"/>
            </a:xfrm>
            <a:prstGeom prst="roundRect">
              <a:avLst>
                <a:gd name="adj" fmla="val 78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25490" y="4609148"/>
              <a:ext cx="47625" cy="14239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57900" y="467963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148108" y="47153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50661" y="5052536"/>
              <a:ext cx="507301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P₁ 的第 2 行第 3 列写作 −1。P₁₂ 只在第 1、2 行列上与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单位阵不同，这个位置应为 0；按 −1 计算得不到 A₂。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24532" cy="909257"/>
            <a:chOff x="520446" y="342900"/>
            <a:chExt cx="93245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245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4.5 第 2 次旋转与全过程：7 次旋转后非对角元小于 10⁻⁴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steps-1"/>
          <p:cNvGrpSpPr/>
          <p:nvPr/>
        </p:nvGrpSpPr>
        <p:grpSpPr>
          <a:xfrm>
            <a:off x="533400" y="1533525"/>
            <a:ext cx="4656455" cy="1313973"/>
            <a:chOff x="533400" y="1533525"/>
            <a:chExt cx="4656455" cy="13139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202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5642" y="1564957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785" y="1833086"/>
              <a:ext cx="37022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 中 |a₁₃| = |a₂₃| = 0.7071 并列最大，取 i = 1，j = 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5642" y="215265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定角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785" y="2419826"/>
              <a:ext cx="424307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tan2θ = 2×(−0.7071)/(2 − 1) = −1.4142，θ ≈ −27.37°，cos θ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0.8881，sin θ = −0.4597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015615"/>
            <a:ext cx="4977765" cy="978218"/>
            <a:chOff x="533400" y="3015615"/>
            <a:chExt cx="4977765" cy="978218"/>
          </a:xfrm>
        </p:grpSpPr>
        <p:sp>
          <p:nvSpPr>
            <p:cNvPr id="17" name="Rectangle 17"/>
            <p:cNvSpPr/>
            <p:nvPr/>
          </p:nvSpPr>
          <p:spPr>
            <a:xfrm>
              <a:off x="533400" y="3015615"/>
              <a:ext cx="4977765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3405188"/>
              <a:ext cx="200026" cy="200025"/>
              <a:chOff x="738188" y="3405188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34051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3449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35607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3162300"/>
              <a:ext cx="399992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无三角函数公式核对：d = 1，m = −1.4142，ω =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0.5774，cos θ = 0.8881，sin θ = −0.4597；τ(A₃)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= 2 − 2×0.7071² = 1。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formula265"/>
              <p:cNvSpPr txBox="1">
                <a:spLocks noGrp="1"/>
              </p:cNvSpPr>
              <p:nvPr/>
            </p:nvSpPr>
            <p:spPr>
              <a:xfrm>
                <a:off x="533400" y="4169092"/>
                <a:ext cx="4977765" cy="695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0.8881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0.4597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0.4597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0.8881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formula266"/>
              <p:cNvSpPr txBox="1">
                <a:spLocks noGrp="1"/>
              </p:cNvSpPr>
              <p:nvPr/>
            </p:nvSpPr>
            <p:spPr>
              <a:xfrm>
                <a:off x="533400" y="5039678"/>
                <a:ext cx="4977765" cy="695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Sup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  <m:sup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p>
                      </m:sSubSup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b>
                        <m:e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5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5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0.6340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0.3251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0.3251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0.6280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0.6280</m:t>
                                </m:r>
                              </m:e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2.3660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91" name="c2-table-1"/>
          <p:cNvGrpSpPr/>
          <p:nvPr/>
        </p:nvGrpSpPr>
        <p:grpSpPr>
          <a:xfrm>
            <a:off x="5810631" y="1524000"/>
            <a:ext cx="5847969" cy="3525774"/>
            <a:chOff x="5810631" y="1524000"/>
            <a:chExt cx="5847969" cy="3525774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970549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38016" y="1648301"/>
              <a:ext cx="415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(i, j)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21858" y="1648301"/>
              <a:ext cx="367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|aᵢⱼ|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3196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68710" y="1648301"/>
              <a:ext cx="6381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τ(Aₖ₊₁)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03738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对角元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70549" y="2054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32550" y="205406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5849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80881" y="205406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−45°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4062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377353" y="205406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1, 3, 2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70549" y="2459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32550" y="245983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051182" y="24598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56492" y="2459831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−27.37°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4062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62723" y="2459831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0.6340, 3, 2.3660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70549" y="28655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32550" y="286559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(2,3)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51182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0.6280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97955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31.61°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33310" y="286559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0.2113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55408" y="286559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0.6340, 3.3864, 1.9796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815965" y="314706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70549" y="32713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32550" y="327136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51182" y="32713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0.2768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97955" y="32713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−5.69°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833310" y="327136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0.0580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755408" y="3271361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0.6064, 3.4140, 1.9796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815965" y="35480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970549" y="36771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332550" y="367712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051182" y="36771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0.1695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897955" y="367712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−6.93°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50384" y="367712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5.7×10⁻⁴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55408" y="367712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0.5858, 3.4140, 2.0002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3953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15965" y="395859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970549" y="4082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32550" y="40828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(2,3)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51182" y="40828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0.0168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97955" y="408289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−0.68°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750384" y="408289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8.3×10⁻⁶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55408" y="4082891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0.5858, 3.4142, 2.0000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815965" y="4359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70549" y="4488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332550" y="44886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51182" y="44886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0.0020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39418" y="448865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0.04°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750384" y="448865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1.2×10⁻⁹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755408" y="448865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0.5858, 3.4142, 2.0000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15965" y="1524000"/>
              <a:ext cx="5842635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219825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86276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73906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557260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9608820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5810631" y="4844415"/>
              <a:ext cx="4576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k 次旋转消去的位置、元素绝对值、旋转角，以及旋转后的 τ 与对角元</a:t>
              </a:r>
            </a:p>
          </p:txBody>
        </p:sp>
      </p:grpSp>
      <p:grpSp>
        <p:nvGrpSpPr>
          <p:cNvPr id="98" name="c2-callout-2"/>
          <p:cNvGrpSpPr/>
          <p:nvPr/>
        </p:nvGrpSpPr>
        <p:grpSpPr>
          <a:xfrm>
            <a:off x="5815965" y="5183505"/>
            <a:ext cx="5842635" cy="729615"/>
            <a:chOff x="5815965" y="5183505"/>
            <a:chExt cx="5842635" cy="729615"/>
          </a:xfrm>
        </p:grpSpPr>
        <p:sp>
          <p:nvSpPr>
            <p:cNvPr id="92" name="Rectangle 92"/>
            <p:cNvSpPr/>
            <p:nvPr/>
          </p:nvSpPr>
          <p:spPr>
            <a:xfrm>
              <a:off x="5815965" y="518350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020753" y="5448300"/>
              <a:ext cx="200026" cy="200026"/>
              <a:chOff x="6020753" y="5448300"/>
              <a:chExt cx="200026" cy="200026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020753" y="54483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120765" y="55149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109653" y="55483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323457" y="5330190"/>
              <a:ext cx="49343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步消掉的 a₁₂ 到第 3 步又变成 −0.2768。原课件程序输出显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示第 8 次旋转后非对角元小于 10⁻⁶。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74025" cy="909257"/>
            <a:chOff x="520446" y="342900"/>
            <a:chExt cx="98740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740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4.5 结果：特征值 2 − √2、2 + √2、2，S₇ 的各列为特征向量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269"/>
              <p:cNvSpPr txBox="1">
                <a:spLocks noGrp="1"/>
              </p:cNvSpPr>
              <p:nvPr/>
            </p:nvSpPr>
            <p:spPr>
              <a:xfrm>
                <a:off x="533400" y="1524000"/>
                <a:ext cx="5410200" cy="764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8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0.5858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3.4142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2.0000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formula270"/>
              <p:cNvSpPr txBox="1">
                <a:spLocks noGrp="1"/>
              </p:cNvSpPr>
              <p:nvPr/>
            </p:nvSpPr>
            <p:spPr>
              <a:xfrm>
                <a:off x="533400" y="2479358"/>
                <a:ext cx="5410200" cy="7648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7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m>
                            <m:mPr>
                              <m:baseJc m:val="center"/>
                              <m:plcHide m:val="on"/>
                              <m:mcs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  <m:mc>
                                  <m:mcPr>
                                    <m:count m:val="1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0.7071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0.7071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−</m:t>
                                </m:r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0.5</m:t>
                                </m:r>
                              </m:e>
                              <m:e>
                                <m:r>
                                  <a:rPr lang="zh-CN" sz="165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0.7071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4" name="c1-card-3"/>
          <p:cNvGrpSpPr/>
          <p:nvPr/>
        </p:nvGrpSpPr>
        <p:grpSpPr>
          <a:xfrm>
            <a:off x="533400" y="3434715"/>
            <a:ext cx="5410200" cy="2909888"/>
            <a:chOff x="533400" y="3434715"/>
            <a:chExt cx="5410200" cy="2909888"/>
          </a:xfrm>
        </p:grpSpPr>
        <p:sp>
          <p:nvSpPr>
            <p:cNvPr id="9" name="Rectangle 9"/>
            <p:cNvSpPr/>
            <p:nvPr/>
          </p:nvSpPr>
          <p:spPr>
            <a:xfrm>
              <a:off x="533400" y="3434715"/>
              <a:ext cx="5410200" cy="2909888"/>
            </a:xfrm>
            <a:prstGeom prst="roundRect">
              <a:avLst>
                <a:gd name="adj" fmla="val 45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3568065"/>
              <a:ext cx="47625" cy="26431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364426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36799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4021455"/>
              <a:ext cx="47586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原课件写作 Pᵀ = P₁ᵀP₂ᵀ⋯P₁₀ᵀ，并把 0.7071 写成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0.7。特征向量矩阵应为 S₇ = P₁P₂⋯P₇（7 次旋转，列为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特征向量），0.7071 = √2/2。</a:t>
              </a:r>
            </a:p>
          </p:txBody>
        </p:sp>
      </p:grpSp>
      <p:grpSp>
        <p:nvGrpSpPr>
          <p:cNvPr id="39" name="c2-table-1"/>
          <p:cNvGrpSpPr/>
          <p:nvPr/>
        </p:nvGrpSpPr>
        <p:grpSpPr>
          <a:xfrm>
            <a:off x="6248400" y="1524000"/>
            <a:ext cx="5410200" cy="3017520"/>
            <a:chOff x="6248400" y="1524000"/>
            <a:chExt cx="5410200" cy="3017520"/>
          </a:xfrm>
        </p:grpSpPr>
        <p:sp>
          <p:nvSpPr>
            <p:cNvPr id="15" name="Rectangle 15"/>
            <p:cNvSpPr/>
            <p:nvPr/>
          </p:nvSpPr>
          <p:spPr>
            <a:xfrm>
              <a:off x="6248400" y="1524000"/>
              <a:ext cx="5410200" cy="7543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24613" y="17964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99020" y="17964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近似值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96288" y="1663065"/>
              <a:ext cx="143827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特征向量（S₇ 的</a:t>
              </a:r>
              <a:br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列）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35590" y="17964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精确形式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7473" y="2417445"/>
              <a:ext cx="57531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2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√2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68730" y="255079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0.5858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50580" y="2417445"/>
              <a:ext cx="1329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(0.5, 0.7071,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0.5)ᵀ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96550" y="2417445"/>
              <a:ext cx="7010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√2,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1)ᵀ/2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48400" y="30279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48400" y="3032760"/>
              <a:ext cx="5410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47473" y="3171825"/>
              <a:ext cx="57531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λ₂ = 2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√2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8730" y="330517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3.4142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98192" y="3171825"/>
              <a:ext cx="1434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(−0.5, 0.7071,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−0.5)ᵀ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44162" y="3171825"/>
              <a:ext cx="8058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√2,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−1)ᵀ/2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248400" y="37823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30670" y="4059555"/>
              <a:ext cx="6089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λ₃ = 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730" y="405955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2.0000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02968" y="3926205"/>
              <a:ext cx="122491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(−0.7071, 0,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0.7071)ᵀ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58425" y="3926205"/>
              <a:ext cx="1177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(−1, 0, 1)ᵀ/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30175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217092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91500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030778" y="1524000"/>
              <a:ext cx="9525" cy="30175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2-card-2"/>
          <p:cNvGrpSpPr/>
          <p:nvPr/>
        </p:nvGrpSpPr>
        <p:grpSpPr>
          <a:xfrm>
            <a:off x="6248400" y="4732020"/>
            <a:ext cx="5410200" cy="1612582"/>
            <a:chOff x="6248400" y="4732020"/>
            <a:chExt cx="5410200" cy="1612582"/>
          </a:xfrm>
        </p:grpSpPr>
        <p:sp>
          <p:nvSpPr>
            <p:cNvPr id="40" name="Rectangle 40"/>
            <p:cNvSpPr/>
            <p:nvPr/>
          </p:nvSpPr>
          <p:spPr>
            <a:xfrm>
              <a:off x="6248400" y="4732020"/>
              <a:ext cx="5410200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57925" y="4865370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496050" y="4941570"/>
              <a:ext cx="702945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80214" y="4977289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验算 λ₁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88430" y="5318760"/>
              <a:ext cx="3949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A(0.5, 0.7071, 0.5)ᵀ = (0.2929, 0.4142,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0.2929)ᵀ = 0.5858×(0.5, 0.7071, 0.5)ᵀ 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89573" y="5936456"/>
              <a:ext cx="45756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S₇ 是正交矩阵：三个特征向量两两正交，且都是单位向量。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7" name="TextBox 4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10410" cy="909257"/>
            <a:chOff x="520446" y="342900"/>
            <a:chExt cx="811041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87930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0930" y="407194"/>
              <a:ext cx="23728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Jacobi 旋转法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1041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过关法：设阈值逐轮扫描，免去每步找最大元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983272" cy="2764440"/>
            <a:chOff x="533400" y="1533525"/>
            <a:chExt cx="4983272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预取阈值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0680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γ₀ = √(Σₗ≠ₛ aₗₛ²) = √τ(A)，第一轮阈值 γ₁ = γ₀/n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4207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按顺序扫描非对角元：|aᵢⱼ| ≥ γ₁ 的做旋转变换化为零，其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余视为“过关”，不作变换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缩小阈值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45706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所有非对角元绝对值都小于 γ₁ 后，令 γ₂ = γ₁/n，重复扫描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停止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 γᵣ = γ₀/nʳ ≤ ε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4977765" cy="1867852"/>
            <a:chOff x="533400" y="4475798"/>
            <a:chExt cx="4977765" cy="1867852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4977765" cy="1867852"/>
            </a:xfrm>
            <a:prstGeom prst="roundRect">
              <a:avLst>
                <a:gd name="adj" fmla="val 611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5310188"/>
              <a:ext cx="200026" cy="200026"/>
              <a:chOff x="738188" y="531018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3101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5376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4102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516731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更正：原课件停止条件写作 γₙ = γ₀/nʳ ≤ ε，下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标应为轮数 r。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810250" y="1524000"/>
            <a:ext cx="5848350" cy="2734152"/>
            <a:chOff x="5810250" y="1524000"/>
            <a:chExt cx="5848350" cy="2734152"/>
          </a:xfrm>
        </p:grpSpPr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48768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96364" y="1663065"/>
              <a:ext cx="397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 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47125" y="166306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γᵣ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63852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本轮旋转的位置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047237" y="1663065"/>
              <a:ext cx="13520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轮末 max|aᵢⱼ|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29133" y="215074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30556" y="215074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0.6667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14335" y="215074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(1,2)、(1,3)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382440" y="215074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0.6280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815965" y="24945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15965" y="249936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9133" y="2638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30556" y="26384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0.2222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14335" y="26384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(1,2)、(2,3)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82440" y="26384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0.0722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298227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129133" y="312610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30556" y="312610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0.0741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064818" y="312610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无，全部过关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82440" y="312610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0.0722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346995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15965" y="3474720"/>
              <a:ext cx="584263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29133" y="361378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30556" y="361378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0.0247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14335" y="361378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(1,2)、(1,3)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382440" y="361378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0.0011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815965" y="1524000"/>
              <a:ext cx="5842635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570345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6380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78408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810250" y="4038124"/>
              <a:ext cx="23559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4.5 的矩阵，γ₀ = √4 = 2，n = 3</a:t>
              </a:r>
            </a:p>
          </p:txBody>
        </p:sp>
      </p:grpSp>
      <p:grpSp>
        <p:nvGrpSpPr>
          <p:cNvPr id="80" name="c2-compare-2"/>
          <p:cNvGrpSpPr/>
          <p:nvPr/>
        </p:nvGrpSpPr>
        <p:grpSpPr>
          <a:xfrm>
            <a:off x="5815965" y="4404360"/>
            <a:ext cx="5842635" cy="1939290"/>
            <a:chOff x="5815965" y="4404360"/>
            <a:chExt cx="5842635" cy="1939290"/>
          </a:xfrm>
        </p:grpSpPr>
        <p:sp>
          <p:nvSpPr>
            <p:cNvPr id="64" name="Rectangle 64"/>
            <p:cNvSpPr/>
            <p:nvPr/>
          </p:nvSpPr>
          <p:spPr>
            <a:xfrm>
              <a:off x="5815965" y="4404360"/>
              <a:ext cx="2711768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25490" y="453771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55995" y="4638675"/>
              <a:ext cx="11360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经典 Jacobi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069330" y="50558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227445" y="499300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每步搜索全部非对角元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找最大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069330" y="56769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227445" y="5614035"/>
              <a:ext cx="1501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搜索要比较 n(n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1)/2 个元素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946832" y="4404360"/>
              <a:ext cx="2711768" cy="1939290"/>
            </a:xfrm>
            <a:prstGeom prst="roundRect">
              <a:avLst>
                <a:gd name="adj" fmla="val 68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956358" y="4537710"/>
              <a:ext cx="47625" cy="167259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86862" y="46386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过关法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9200198" y="505587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358312" y="499300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按固定顺序扫描，小元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素直接跳过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9200198" y="5676900"/>
              <a:ext cx="64770" cy="6477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358312" y="5614035"/>
              <a:ext cx="2004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较大时省去大量搜索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8575358" y="521208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645698" y="5308283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04609" cy="909257"/>
            <a:chOff x="520446" y="342900"/>
            <a:chExt cx="96046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补充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046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4.4–4.6 原课件只有标题：Householder 变换与 QR 方法速览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193982" cy="2500312"/>
            <a:chOff x="533400" y="1524000"/>
            <a:chExt cx="5193982" cy="25003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00312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3361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603058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8766" y="1750695"/>
              <a:ext cx="14942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4.4 Householder 变换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formula279"/>
                <p:cNvSpPr txBox="1">
                  <a:spLocks noGrp="1"/>
                </p:cNvSpPr>
                <p:nvPr/>
              </p:nvSpPr>
              <p:spPr>
                <a:xfrm>
                  <a:off x="763905" y="2050732"/>
                  <a:ext cx="477107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2w</m:t>
                        </m:r>
                        <m:sSup>
                          <m:e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w</m:t>
                            </m:r>
                          </m:e>
                          <m:sup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  </m:t>
                        </m:r>
                        <m:sSub>
                          <m:e>
                            <m:d>
                              <m:dPr>
                                <m:begChr m:val="‖"/>
                                <m:sepChr m:val=""/>
                                <m:endChr m:val="‖"/>
                                <m:grow m:val="on"/>
                                <m:ctrlP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150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w</m:t>
                                </m:r>
                              </m:e>
                            </m:d>
                          </m:e>
                          <m:sub>
                            <m:r>
                              <a:rPr lang="zh-CN" sz="150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2" name="Ellipse 12"/>
            <p:cNvSpPr/>
            <p:nvPr/>
          </p:nvSpPr>
          <p:spPr>
            <a:xfrm>
              <a:off x="772478" y="259651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540318"/>
              <a:ext cx="43942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对称、正交，H² = I，几何上是关于超平面 wᵀx = 0 的镜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面反射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3156585"/>
              <a:ext cx="59055" cy="59055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3100388"/>
              <a:ext cx="33141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σ = sign(x₁)‖x‖₂，u = x + σe₁，H = I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2uuᵀ/(uᵀu)，则 Hx = −σe₁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3656171"/>
              <a:ext cx="4485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例：x = (3, 4, 0)ᵀ，σ = 5，u = (8, 4, 0)ᵀ，Hx = (−5, 0, 0)ᵀ。</a:t>
              </a:r>
            </a:p>
          </p:txBody>
        </p:sp>
      </p:grpSp>
      <p:grpSp>
        <p:nvGrpSpPr>
          <p:cNvPr id="24" name="c1-callout-2"/>
          <p:cNvGrpSpPr/>
          <p:nvPr/>
        </p:nvGrpSpPr>
        <p:grpSpPr>
          <a:xfrm>
            <a:off x="533400" y="4199572"/>
            <a:ext cx="5193982" cy="1424940"/>
            <a:chOff x="533400" y="4199572"/>
            <a:chExt cx="5193982" cy="1424940"/>
          </a:xfrm>
        </p:grpSpPr>
        <p:sp>
          <p:nvSpPr>
            <p:cNvPr id="18" name="Rectangle 18"/>
            <p:cNvSpPr/>
            <p:nvPr/>
          </p:nvSpPr>
          <p:spPr>
            <a:xfrm>
              <a:off x="533400" y="4199572"/>
              <a:ext cx="5193982" cy="1424940"/>
            </a:xfrm>
            <a:prstGeom prst="roundRect">
              <a:avLst>
                <a:gd name="adj" fmla="val 802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738188" y="4812030"/>
              <a:ext cx="200026" cy="200025"/>
              <a:chOff x="738188" y="4812030"/>
              <a:chExt cx="200026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8120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77926" y="48564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12642" y="49676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1040892" y="4444365"/>
              <a:ext cx="4137088" cy="10098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 Householder 变换把一列中的多个元素同时化为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零，平面旋转一次只消一个。实对称矩阵经 n − 2 次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Householder 相似变换可化为三对角阵。原课件把 4.4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节标为选学（*）。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032182" y="1524000"/>
            <a:ext cx="5626418" cy="1658302"/>
            <a:chOff x="6032182" y="1524000"/>
            <a:chExt cx="5626418" cy="1658302"/>
          </a:xfrm>
        </p:grpSpPr>
        <p:sp>
          <p:nvSpPr>
            <p:cNvPr id="25" name="Rectangle 25"/>
            <p:cNvSpPr/>
            <p:nvPr/>
          </p:nvSpPr>
          <p:spPr>
            <a:xfrm>
              <a:off x="6032182" y="1524000"/>
              <a:ext cx="5626418" cy="1658302"/>
            </a:xfrm>
            <a:prstGeom prst="roundRect">
              <a:avLst>
                <a:gd name="adj" fmla="val 80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1708" y="1657350"/>
              <a:ext cx="47625" cy="1391602"/>
            </a:xfrm>
            <a:prstGeom prst="roundRect">
              <a:avLst>
                <a:gd name="adj" fmla="val 50000"/>
              </a:avLst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62688" y="1716405"/>
              <a:ext cx="973455" cy="24765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24375" y="1750695"/>
              <a:ext cx="8500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4.5 QR 方法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formula280"/>
                <p:cNvSpPr txBox="1">
                  <a:spLocks noGrp="1"/>
                </p:cNvSpPr>
                <p:nvPr/>
              </p:nvSpPr>
              <p:spPr>
                <a:xfrm>
                  <a:off x="6262688" y="2050732"/>
                  <a:ext cx="520350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Sup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  <m:sup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p>
                        </m:sSubSup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Q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k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30" name="TextBox 30"/>
            <p:cNvSpPr txBox="1"/>
            <p:nvPr/>
          </p:nvSpPr>
          <p:spPr>
            <a:xfrm>
              <a:off x="6255830" y="2521268"/>
              <a:ext cx="49000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 Aₖ 相似，特征值不变。|λ₁| &gt; |λ₂| &gt; … &gt; |λₙ| 时，Aₖ 对角线以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下元素趋于 0，对角元趋于特征值（对称矩阵趋于对角阵）。</a:t>
              </a:r>
            </a:p>
          </p:txBody>
        </p:sp>
      </p:grpSp>
      <p:grpSp>
        <p:nvGrpSpPr>
          <p:cNvPr id="57" name="c2-table-2"/>
          <p:cNvGrpSpPr/>
          <p:nvPr/>
        </p:nvGrpSpPr>
        <p:grpSpPr>
          <a:xfrm>
            <a:off x="6026848" y="3357562"/>
            <a:ext cx="5631752" cy="2308480"/>
            <a:chOff x="6026848" y="3357562"/>
            <a:chExt cx="5631752" cy="2308480"/>
          </a:xfrm>
        </p:grpSpPr>
        <p:sp>
          <p:nvSpPr>
            <p:cNvPr id="32" name="Rectangle 32"/>
            <p:cNvSpPr/>
            <p:nvPr/>
          </p:nvSpPr>
          <p:spPr>
            <a:xfrm>
              <a:off x="6032182" y="3357562"/>
              <a:ext cx="5626418" cy="405765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63919" y="34818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10386" y="3481864"/>
              <a:ext cx="1032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Aₖ₊₁ 的对角元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225062" y="348186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对角线下最大元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63919" y="3887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46536" y="3887629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2.8000, 2.3429, 0.8571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45458" y="3887629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0.748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32182" y="416433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32182" y="4169092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63919" y="42933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46536" y="4293394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3.4009, 2.0133, 0.5858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545458" y="4293394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0.137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32182" y="45700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220383" y="469915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22147" y="4699159"/>
              <a:ext cx="2009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3.41415, 2.00006, 0.58579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503995" y="4699159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0.0095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32182" y="49758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32182" y="4980622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20383" y="5104924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97758" y="5104924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3.414214, 2.000000, 0.585786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421069" y="5104924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4.5×10⁻⁵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032182" y="3357562"/>
              <a:ext cx="5626418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590348" y="335756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853612" y="3357562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026848" y="5460683"/>
              <a:ext cx="2768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对例 4.5 的矩阵做 QR 迭代（numpy 复算）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10184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4.6 应用：本章开头的 PageRank；原课件 4.1 还提到振动系统的频率与振幅、物理学中临界值的确定，都归结为特征值问题。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自测题（一）幂法及其变体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乘幂法收敛的前提是什么？收敛快慢由什么决定？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355532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有完全特征向量系，主特征值唯一 |λ₁| &gt; |λ₂|，初始向量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α₁ ≠ 0；速度由 |λ₂/λ₁| 决定，越小越快。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485900"/>
            <a:chOff x="533400" y="3179445"/>
            <a:chExt cx="54102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3809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反幂法每步解什么方程？为什么先做 LU 分解？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 Ax⁽ᵏ⁺¹⁾ = y⁽ᵏ⁾。A 不变，分解一次约 n³/3 次乘除，之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后每步只解两个三角方程组，约 n² 次。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35842"/>
            <a:ext cx="5410200" cy="1485900"/>
            <a:chOff x="533400" y="4835842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366385"/>
              <a:ext cx="4870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max(x⁽ᵏ⁾) 奇数步、偶数步趋于两个不同的值，说明什么？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很可能 λ₁ = −λ₂。相邻两步 max 的乘积趋于 λ₁²，开方得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±λ₁。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4821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= (2 1; 1 2)，x⁽⁰⁾ = (1, 0)ᵀ，做两步规范化乘幂法。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x⁽¹⁾ = (2, 1)ᵀ，y⁽¹⁾ = (1, 0.5)ᵀ；x⁽²⁾ = (2.5, 2)ᵀ，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y⁽²⁾ = (1, 0.8)ᵀ；max 趋于 λ₁ = 3。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743075"/>
            <a:chOff x="6248400" y="3179445"/>
            <a:chExt cx="5410200" cy="1743075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4.1 的特征值为 6、3、2，用原点平移求 λ₁，λ₀ 取多少最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好？收敛因子变为多少？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268152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λ₀* = (3 + 2)/2 = 2.5，ω = 0.5/3.5 ≈ 0.143，不平移时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0.5。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5093018"/>
            <a:ext cx="5410200" cy="1228725"/>
            <a:chOff x="6248400" y="5093018"/>
            <a:chExt cx="5410200" cy="1228725"/>
          </a:xfrm>
        </p:grpSpPr>
        <p:sp>
          <p:nvSpPr>
            <p:cNvPr id="37" name="Rectangle 37"/>
            <p:cNvSpPr/>
            <p:nvPr/>
          </p:nvSpPr>
          <p:spPr>
            <a:xfrm>
              <a:off x="6248400" y="5093018"/>
              <a:ext cx="5410200" cy="1228725"/>
            </a:xfrm>
            <a:prstGeom prst="roundRect">
              <a:avLst>
                <a:gd name="adj" fmla="val 1085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27970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31256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623560"/>
              <a:ext cx="36834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反幂法迭代表里的 1/max(x⁽ᵏ⁾) 近似什么？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923598"/>
              <a:ext cx="4855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按模最小的特征值 λₙ；对 A − λ₀I 迭代时还要加回 λ₀。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68789" cy="909257"/>
            <a:chOff x="520446" y="342900"/>
            <a:chExt cx="77687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687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自测题（二）反幂法平移、Jacobi 法与 PageRank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485900"/>
            <a:chOff x="533400" y="1524000"/>
            <a:chExt cx="5410200" cy="14859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469473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的特征值为 1、2、3，求离 2.9 最近的特征值，每步误差约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乘多少？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612708"/>
              <a:ext cx="50660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用反幂法加原点平移（λ₀ = 2.9），r = 0.1/0.9 ≈ 0.11。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179445"/>
            <a:ext cx="5410200" cy="1485900"/>
            <a:chOff x="533400" y="3179445"/>
            <a:chExt cx="5410200" cy="1485900"/>
          </a:xfrm>
        </p:grpSpPr>
        <p:sp>
          <p:nvSpPr>
            <p:cNvPr id="13" name="Rectangle 13"/>
            <p:cNvSpPr/>
            <p:nvPr/>
          </p:nvSpPr>
          <p:spPr>
            <a:xfrm>
              <a:off x="533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3710940"/>
              <a:ext cx="4479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法每次旋转后 τ(A) 怎样变？为什么一定收敛？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4010977"/>
              <a:ext cx="46771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τ 减少 2aᵢⱼ²；aᵢⱼ² ≥ τ/(n(n − 1))，每步 τ 至少乘 1 −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2/(n(n − 1))。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835842"/>
            <a:ext cx="5410200" cy="1485900"/>
            <a:chOff x="533400" y="4835842"/>
            <a:chExt cx="5410200" cy="1485900"/>
          </a:xfrm>
        </p:grpSpPr>
        <p:sp>
          <p:nvSpPr>
            <p:cNvPr id="19" name="Rectangle 19"/>
            <p:cNvSpPr/>
            <p:nvPr/>
          </p:nvSpPr>
          <p:spPr>
            <a:xfrm>
              <a:off x="533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0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9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3232" y="5366385"/>
              <a:ext cx="51501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过关法中 n = 4、γ₀ = 2、ε = 10⁻³，要到第几轮阈值？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232" y="5666423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γᵣ = 2/4ʳ ≤ 10⁻³ 要求 4ʳ ≥ 2000，4⁵ = 1024 不够，第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轮。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485900"/>
            <a:chOff x="6248400" y="1524000"/>
            <a:chExt cx="5410200" cy="1485900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35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4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28232" y="2054542"/>
              <a:ext cx="3410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A = (1 2; 2 1) 做一次 Jacobi 旋转。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28232" y="2355532"/>
              <a:ext cx="47543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a₁₁ = a₂₂，θ = π/4；PᵀAP = diag(−1, 3)，特征向量 (1,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−1)ᵀ/√2、(1, 1)ᵀ/√2。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3179445"/>
            <a:ext cx="5410200" cy="1485900"/>
            <a:chOff x="6248400" y="3179445"/>
            <a:chExt cx="5410200" cy="1485900"/>
          </a:xfrm>
        </p:grpSpPr>
        <p:sp>
          <p:nvSpPr>
            <p:cNvPr id="31" name="Rectangle 31"/>
            <p:cNvSpPr/>
            <p:nvPr/>
          </p:nvSpPr>
          <p:spPr>
            <a:xfrm>
              <a:off x="6248400" y="3179445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35090" y="33661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4547" y="33989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28232" y="3710940"/>
              <a:ext cx="4992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PageRank 的 M 为什么有特征值 1，且没有模更大的特征值？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28232" y="4010977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每列和为 1，Mᵀe = e，M 与 Mᵀ 特征值相同；|λ| ≤ ‖M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‖₁ = 1。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835842"/>
            <a:ext cx="5410200" cy="1485900"/>
            <a:chOff x="6248400" y="4835842"/>
            <a:chExt cx="5410200" cy="1485900"/>
          </a:xfrm>
        </p:grpSpPr>
        <p:sp>
          <p:nvSpPr>
            <p:cNvPr id="37" name="Rectangle 37"/>
            <p:cNvSpPr/>
            <p:nvPr/>
          </p:nvSpPr>
          <p:spPr>
            <a:xfrm>
              <a:off x="6248400" y="4835842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35090" y="502253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4547" y="505539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8232" y="5366385"/>
              <a:ext cx="4655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法结束时 Sₖ 的列与 Aₖ₊₁ 的对角元是什么关系？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28232" y="5666423"/>
              <a:ext cx="4859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Sₖ 的第 i 列是对角元 (Aₖ₊₁)ᵢᵢ 对应的近似特征向量。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858899" cy="909257"/>
            <a:chOff x="520446" y="342900"/>
            <a:chExt cx="18588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845945" cy="266700"/>
            </a:xfrm>
            <a:prstGeom prst="roundRect">
              <a:avLst>
                <a:gd name="adj" fmla="val 50000"/>
              </a:avLst>
            </a:prstGeom>
            <a:solidFill>
              <a:srgbClr val="E5F2EA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3860" y="4071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E7D4F"/>
                  </a:solidFill>
                  <a:latin typeface="+mn-lt"/>
                  <a:ea typeface="+mn-ea"/>
                  <a:cs typeface="+mn-cs"/>
                </a:rPr>
                <a:t>第4章 特征值计算 · 小结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E7D4F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059805" cy="3007995"/>
            <a:chOff x="533400" y="1524000"/>
            <a:chExt cx="6059805" cy="30079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0530"/>
            </a:xfrm>
            <a:prstGeom prst="rect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299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9276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0293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收敛快慢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8746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乘幂法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53222" y="2085022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按模最大的 λ₁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77334" y="2085022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|λ₂/λ₁|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8746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原点平移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53222" y="2515552"/>
              <a:ext cx="916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λ₁ = μ₁ + λ₀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77334" y="2515552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maxⱼ|λⱼ − λ₀|/|λ₁ − λ₀|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8746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53222" y="2946082"/>
              <a:ext cx="1853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按模最小的 λₙ（取倒数）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77334" y="2946082"/>
              <a:ext cx="731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|λₙ/λₙ₋₁|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94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4421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8746" y="3482340"/>
              <a:ext cx="101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 + 平移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53222" y="3482340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 λ₀ 最近的 λⱼ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77334" y="3375660"/>
              <a:ext cx="1536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|λⱼ − λ₀|/minᵢ≠ⱼ|λᵢ −</a:t>
              </a:r>
              <a:br/>
              <a:r>
                <a:rPr lang="el-GR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λ₀|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8334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8746" y="4126230"/>
              <a:ext cx="10704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旋转法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53222" y="412623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实对称阵的全部特征对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77334" y="4019550"/>
              <a:ext cx="9875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τ 每步乘 ≤ 1 −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2/(n(n−1))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059805" cy="30079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43112" y="1524000"/>
              <a:ext cx="9525" cy="30079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67225" y="1524000"/>
              <a:ext cx="9525" cy="30079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bullets-2"/>
          <p:cNvGrpSpPr/>
          <p:nvPr/>
        </p:nvGrpSpPr>
        <p:grpSpPr>
          <a:xfrm>
            <a:off x="533400" y="4728210"/>
            <a:ext cx="6030445" cy="1221201"/>
            <a:chOff x="533400" y="4728210"/>
            <a:chExt cx="6030445" cy="1221201"/>
          </a:xfrm>
        </p:grpSpPr>
        <p:sp>
          <p:nvSpPr>
            <p:cNvPr id="36" name="Ellipse 36"/>
            <p:cNvSpPr/>
            <p:nvPr/>
          </p:nvSpPr>
          <p:spPr>
            <a:xfrm>
              <a:off x="533400" y="472821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745" y="476854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4293" y="4740116"/>
              <a:ext cx="57395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幂法类的分析都从 x⁽⁰⁾ = Σ αⱼvⱼ 展开出发，比较各项 |λⱼ|ᵏ 的增长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33400" y="5057775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1745" y="509716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4293" y="5069681"/>
              <a:ext cx="55509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规范化用带符号的按模最大分量；反幂法先 LU 分解，结果取倒数再加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 λ₀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33400" y="5657850"/>
              <a:ext cx="201930" cy="20193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1745" y="569818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4293" y="5670709"/>
              <a:ext cx="4580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法选 θ 使 cᵢⱼ = 0，特征向量是 P₁P₂⋯Pₖ 的列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898005" y="1524000"/>
            <a:ext cx="4760595" cy="4369118"/>
            <a:chOff x="6898005" y="1524000"/>
            <a:chExt cx="4760595" cy="4369118"/>
          </a:xfrm>
        </p:grpSpPr>
        <p:sp>
          <p:nvSpPr>
            <p:cNvPr id="46" name="Rectangle 46"/>
            <p:cNvSpPr/>
            <p:nvPr/>
          </p:nvSpPr>
          <p:spPr>
            <a:xfrm>
              <a:off x="6898005" y="1524000"/>
              <a:ext cx="4760595" cy="4369118"/>
            </a:xfrm>
            <a:prstGeom prst="roundRect">
              <a:avLst>
                <a:gd name="adj" fmla="val 30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07530" y="1657350"/>
              <a:ext cx="47625" cy="41024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139940" y="172783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95693" y="176355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47560" y="216122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04151" y="2100739"/>
              <a:ext cx="376555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4.1 迭代表第 3 分量与 k = 3 行 max（第 40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47560" y="2752725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04151" y="2692241"/>
              <a:ext cx="38467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4.2 表 4.1 的 y 列与“x⁽²⁾ = Ay⁽¹⁾”（第 51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147560" y="334422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304151" y="3283744"/>
              <a:ext cx="36972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4.3 表 4.2 中 B 的 k = 1 行（第 61 页）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7147560" y="366426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304151" y="3603784"/>
              <a:ext cx="41531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反幂法平移中“最小特征值 μ”的说法（第 63 页）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47560" y="398430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304151" y="3923824"/>
              <a:ext cx="27098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4.4 的 λ 近似值（第 66 页）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47560" y="4304348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304151" y="4243864"/>
              <a:ext cx="38647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τ 递推式下标、过关法停止条件下标（第 83、94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47560" y="4895850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04151" y="4835366"/>
              <a:ext cx="35942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Jacobi 程序的 max(B) 与死循环分支（第 87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47560" y="5487352"/>
              <a:ext cx="60960" cy="60960"/>
            </a:xfrm>
            <a:prstGeom prst="ellipse">
              <a:avLst/>
            </a:prstGeom>
            <a:solidFill>
              <a:srgbClr val="2E7D4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04151" y="5426869"/>
              <a:ext cx="38118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4.5 的 P₁ 与 S = P₁⋯P₇（第 89、91 页）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计算方法 · 第4章 矩阵特征值与特征向量的计算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numa_ch4">
  <a:themeElements>
    <a:clrScheme name="numa_ch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uma_ch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numa_ch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2026-09-23T06:10:57Z</dcterms:created>
  <dcterms:modified xsi:type="dcterms:W3CDTF">2026-09-23T06:10:57Z</dcterms:modified>
  <cp:category/>
  <cp:contentStatus/>
</cp:coreProperties>
</file>