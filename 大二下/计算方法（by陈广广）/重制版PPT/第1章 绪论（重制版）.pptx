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numa_ch1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numa_ch1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3a15e8c01185837b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a4f68fab3e6c7f3.png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a49bad832ca32d75.png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3905250" cy="3437763"/>
            <a:chOff x="666750" y="1619250"/>
            <a:chExt cx="3905250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529715" cy="3429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15751" y="1718310"/>
              <a:ext cx="12698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计算方法 · 第1章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116890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绪论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3895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科学计算的过程，误差的来源与控制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科学计算与计算方法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浮点表示与浮点运算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绝对误差、相对误差、有效数字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误差传播与算法稳定性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067442" cy="205359"/>
            <a:chOff x="680466" y="6192202"/>
            <a:chExt cx="4067442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0674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自学复习版｜据吉林大学《计算方法》第1章课件整理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96297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9866" y="407194"/>
              <a:ext cx="749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绪论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agenda-1"/>
          <p:cNvGrpSpPr/>
          <p:nvPr/>
        </p:nvGrpSpPr>
        <p:grpSpPr>
          <a:xfrm>
            <a:off x="521970" y="1515428"/>
            <a:ext cx="6287453" cy="3856006"/>
            <a:chOff x="521970" y="1515428"/>
            <a:chExt cx="6287453" cy="3856006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8042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 计算方法概述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53774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五个应用实例分别对应后面哪一章；科学计算的六个环节；为什么数学公式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不能直接拿去编程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41649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52126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557462"/>
              <a:ext cx="22829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1.2.1 浮点表示与运算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875121"/>
              <a:ext cx="53774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尾数与阶码，机器数集是有限不等距点集，对阶、舍入与四则运算的五个例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子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342328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52806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564255"/>
              <a:ext cx="34968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1.2.2—1.2.3 误差来源与基本概念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881914"/>
              <a:ext cx="53774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模型、观测、方法、舍入四类误差；绝对误差、相对误差、误差限与有效数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字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443007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45348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4571048"/>
              <a:ext cx="16166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1.2.4 误差分析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887754"/>
              <a:ext cx="53774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误差传播公式，病态问题与条件数，算法稳定性，避免误差放大的原则，习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题与数值实验</a:t>
              </a:r>
            </a:p>
          </p:txBody>
        </p:sp>
      </p:grpSp>
      <p:grpSp>
        <p:nvGrpSpPr>
          <p:cNvPr id="35" name="c2-card-1"/>
          <p:cNvGrpSpPr/>
          <p:nvPr/>
        </p:nvGrpSpPr>
        <p:grpSpPr>
          <a:xfrm>
            <a:off x="7114222" y="1524000"/>
            <a:ext cx="4544378" cy="3798570"/>
            <a:chOff x="7114222" y="1524000"/>
            <a:chExt cx="4544378" cy="3798570"/>
          </a:xfrm>
        </p:grpSpPr>
        <p:sp>
          <p:nvSpPr>
            <p:cNvPr id="23" name="Rectangle 23"/>
            <p:cNvSpPr/>
            <p:nvPr/>
          </p:nvSpPr>
          <p:spPr>
            <a:xfrm>
              <a:off x="7114222" y="1524000"/>
              <a:ext cx="4544378" cy="3798570"/>
            </a:xfrm>
            <a:prstGeom prst="roundRect">
              <a:avLst>
                <a:gd name="adj" fmla="val 35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7123748" y="1657350"/>
              <a:ext cx="47625" cy="353187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指出模型误差、观测误差、方法误差、舍入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误差各产生在科学计算的哪一环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525702" y="273177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由误差限判断有效位数，或由有效位数反求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绝对误差限与相对误差限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25702" y="335280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用微分法写出四则运算与函数值的误差传播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式，指出哪一步放大了误差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25702" y="397383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区分病态问题与不稳定算法，会改写公式避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开相近数相减和绝对值很小的除数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6" name="TextBox 36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第1章 绪论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5F2EA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6437376" cy="3569017"/>
            <a:chOff x="667512" y="1835468"/>
            <a:chExt cx="6437376" cy="35690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567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1.1 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437376" cy="12755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500"/>
                </a:lnSpc>
              </a:pPr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计算方法概述：从实际问题到数</a:t>
              </a:r>
              <a:br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值解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6128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949065"/>
              <a:ext cx="60140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计算机只会做四则运算和逻辑判断，数学公式要先改造成算法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45960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40245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五个应用实例对应后面五章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81393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7567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科学计算的六个环节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516826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511111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运算量决定一个公式能不能用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第1章 绪论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0995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6603" y="407194"/>
              <a:ext cx="3343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绪论 · 计算方法概述：从实际问题到数值解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应用举例一：两千年前的线性方程组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6678930" cy="293370"/>
            <a:chOff x="525780" y="1548765"/>
            <a:chExt cx="667893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6678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《九章算术》方程章的这道题，用今天的话说就是解一个三元一次方程组。</a:t>
              </a:r>
            </a:p>
          </p:txBody>
        </p:sp>
      </p:grpSp>
      <p:grpSp>
        <p:nvGrpSpPr>
          <p:cNvPr id="16" name="c1-card-1"/>
          <p:cNvGrpSpPr/>
          <p:nvPr/>
        </p:nvGrpSpPr>
        <p:grpSpPr>
          <a:xfrm>
            <a:off x="533400" y="1954530"/>
            <a:ext cx="5735002" cy="2040255"/>
            <a:chOff x="533400" y="1954530"/>
            <a:chExt cx="5735002" cy="2040255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735002" cy="2040255"/>
            </a:xfrm>
            <a:prstGeom prst="roundRect">
              <a:avLst>
                <a:gd name="adj" fmla="val 653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87880"/>
              <a:ext cx="47625" cy="17735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9620" y="215265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1060" y="218694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原题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52931" y="2187416"/>
              <a:ext cx="38376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上禾三秉，中禾二秉，下禾一秉，实三十九斗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381" y="2531269"/>
              <a:ext cx="506399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上禾三秉，中禾二秉，下禾一秉，实三十九斗；上禾二秉，中禾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三秉，下禾一秉，实三十四斗；上禾一秉，中禾二秉，下禾三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秉，实二十六斗。问上、中、下禾实一秉各几何？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3524" y="3388042"/>
              <a:ext cx="51023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秉是一捆，实是打下的谷子（单位：斗）。设上、中、下禾每秉出谷 x、y、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z 斗。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formula7"/>
              <p:cNvSpPr txBox="1">
                <a:spLocks noGrp="1"/>
              </p:cNvSpPr>
              <p:nvPr/>
            </p:nvSpPr>
            <p:spPr>
              <a:xfrm>
                <a:off x="533400" y="4174808"/>
                <a:ext cx="5735002" cy="10496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{"/>
                          <m:sepChr m:val=""/>
                          <m:endChr m:val="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eqArr>
                            <m:eqArrPr>
                              <m:baseJc m:val="center"/>
                            </m:eqArr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3x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2y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z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39</m:t>
                              </m:r>
                            </m:e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2x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3y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z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34</m:t>
                              </m:r>
                            </m:e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2y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3z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26</m:t>
                              </m:r>
                            </m:e>
                          </m:eqAr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1" name="c1-card-3"/>
          <p:cNvGrpSpPr/>
          <p:nvPr/>
        </p:nvGrpSpPr>
        <p:grpSpPr>
          <a:xfrm>
            <a:off x="533400" y="5405438"/>
            <a:ext cx="5735002" cy="913448"/>
            <a:chOff x="533400" y="5405438"/>
            <a:chExt cx="5735002" cy="913448"/>
          </a:xfrm>
        </p:grpSpPr>
        <p:sp>
          <p:nvSpPr>
            <p:cNvPr id="18" name="Rectangle 18"/>
            <p:cNvSpPr/>
            <p:nvPr/>
          </p:nvSpPr>
          <p:spPr>
            <a:xfrm>
              <a:off x="533400" y="5405438"/>
              <a:ext cx="5735002" cy="913448"/>
            </a:xfrm>
            <a:prstGeom prst="roundRect">
              <a:avLst>
                <a:gd name="adj" fmla="val 1459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42925" y="5538788"/>
              <a:ext cx="47625" cy="64674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381" y="5626894"/>
              <a:ext cx="507301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消元解得 x = 37/4 = 9.25，y = 17/4 = 4.25，z = 11/4 = 2.75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（本讲义用分数精确消元复算，并代回三式逐一验证）。</a:t>
              </a:r>
            </a:p>
          </p:txBody>
        </p:sp>
      </p:grpSp>
      <p:grpSp>
        <p:nvGrpSpPr>
          <p:cNvPr id="23" name="c2-text-1"/>
          <p:cNvGrpSpPr/>
          <p:nvPr/>
        </p:nvGrpSpPr>
        <p:grpSpPr>
          <a:xfrm>
            <a:off x="6565964" y="1977866"/>
            <a:ext cx="4086195" cy="278702"/>
            <a:chOff x="6565964" y="1977866"/>
            <a:chExt cx="4086195" cy="278702"/>
          </a:xfrm>
        </p:grpSpPr>
        <p:sp>
          <p:nvSpPr>
            <p:cNvPr id="22" name="TextBox 22"/>
            <p:cNvSpPr txBox="1"/>
            <p:nvPr/>
          </p:nvSpPr>
          <p:spPr>
            <a:xfrm>
              <a:off x="6565964" y="1977866"/>
              <a:ext cx="408619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写成 n 元的一般形式，就是第 2 章的研究对象：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formula8"/>
              <p:cNvSpPr txBox="1">
                <a:spLocks noGrp="1"/>
              </p:cNvSpPr>
              <p:nvPr/>
            </p:nvSpPr>
            <p:spPr>
              <a:xfrm>
                <a:off x="6573202" y="2381250"/>
                <a:ext cx="5085398" cy="5972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ij</m:t>
                              </m:r>
                            </m:sub>
                          </m:sSub>
                          <m:sSub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b>
                          </m:sSub>
                        </m:e>
                      </m:nary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,…,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d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⟺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Ax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36" name="c2-card-3"/>
          <p:cNvGrpSpPr/>
          <p:nvPr/>
        </p:nvGrpSpPr>
        <p:grpSpPr>
          <a:xfrm>
            <a:off x="6573202" y="3158490"/>
            <a:ext cx="5085398" cy="3161348"/>
            <a:chOff x="6573202" y="3158490"/>
            <a:chExt cx="5085398" cy="3161348"/>
          </a:xfrm>
        </p:grpSpPr>
        <p:sp>
          <p:nvSpPr>
            <p:cNvPr id="25" name="Rectangle 25"/>
            <p:cNvSpPr/>
            <p:nvPr/>
          </p:nvSpPr>
          <p:spPr>
            <a:xfrm>
              <a:off x="6573202" y="3158490"/>
              <a:ext cx="5085398" cy="3161348"/>
            </a:xfrm>
            <a:prstGeom prst="roundRect">
              <a:avLst>
                <a:gd name="adj" fmla="val 421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582728" y="3291840"/>
              <a:ext cx="47625" cy="289464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809422" y="335661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92862" y="33909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由此引出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59434" y="3391376"/>
              <a:ext cx="259944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章 线性方程组的数值解法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02184" y="3735229"/>
              <a:ext cx="434263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只有 3 时随手消元就行。n 是几千、几万时，要考虑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两件事：消元过程中的舍入误差会不会把解毁掉，以及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运算量是否算得完。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817042" y="4655820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973634" y="4595336"/>
              <a:ext cx="4136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直接法：Gauss 消去、选主元、LU 分解、追赶法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817042" y="4973955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973634" y="4913471"/>
              <a:ext cx="3301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迭代法：Jacobi、Gauss-Seidel、SOR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803326" y="5227320"/>
              <a:ext cx="41257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三维地图、有限元、最小二乘拟合最后都落到 Ax = b 上。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第1章 绪论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0995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6603" y="407194"/>
              <a:ext cx="3343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绪论 · 计算方法概述：从实际问题到数值解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应用举例二：手里只有一张数表，怎么预测人口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656203" cy="264033"/>
            <a:chOff x="526542" y="1545907"/>
            <a:chExt cx="6656203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6562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表中是我国 1950—2005 年的人口数（《中国统计年鉴》），试预测未来的人口数。</a:t>
              </a:r>
            </a:p>
          </p:txBody>
        </p:sp>
      </p:grpSp>
      <p:grpSp>
        <p:nvGrpSpPr>
          <p:cNvPr id="59" name="c1-cells-1"/>
          <p:cNvGrpSpPr/>
          <p:nvPr/>
        </p:nvGrpSpPr>
        <p:grpSpPr>
          <a:xfrm>
            <a:off x="528638" y="1928812"/>
            <a:ext cx="8271510" cy="887731"/>
            <a:chOff x="528638" y="1928812"/>
            <a:chExt cx="8271510" cy="887731"/>
          </a:xfrm>
        </p:grpSpPr>
        <p:sp>
          <p:nvSpPr>
            <p:cNvPr id="9" name="TextBox 9"/>
            <p:cNvSpPr txBox="1"/>
            <p:nvPr/>
          </p:nvSpPr>
          <p:spPr>
            <a:xfrm>
              <a:off x="528638" y="205740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年份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5372" y="1928812"/>
              <a:ext cx="51149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86895" y="2057400"/>
              <a:ext cx="2894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1950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587818" y="1928812"/>
              <a:ext cx="51149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698388" y="2057400"/>
              <a:ext cx="2894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1955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099310" y="1928812"/>
              <a:ext cx="51149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209880" y="2057400"/>
              <a:ext cx="2894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1960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610802" y="1928812"/>
              <a:ext cx="51149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722325" y="2057400"/>
              <a:ext cx="2894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1965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122295" y="1928812"/>
              <a:ext cx="51149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233818" y="2057400"/>
              <a:ext cx="2894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1970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633788" y="1928812"/>
              <a:ext cx="51149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745310" y="2057400"/>
              <a:ext cx="2894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1975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146232" y="1928812"/>
              <a:ext cx="51149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256803" y="2057400"/>
              <a:ext cx="2894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1980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657725" y="1928812"/>
              <a:ext cx="51149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768295" y="2057400"/>
              <a:ext cx="2894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1985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169218" y="1928812"/>
              <a:ext cx="51149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80740" y="2057400"/>
              <a:ext cx="2894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1990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680710" y="1928812"/>
              <a:ext cx="51149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792233" y="2057400"/>
              <a:ext cx="2894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1995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192202" y="1928812"/>
              <a:ext cx="51149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03725" y="2057400"/>
              <a:ext cx="2894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2000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704648" y="1928812"/>
              <a:ext cx="511492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815218" y="2057400"/>
              <a:ext cx="2894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2005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28638" y="2576512"/>
              <a:ext cx="44296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人口/万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075372" y="2447925"/>
              <a:ext cx="64389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217633" y="2576512"/>
              <a:ext cx="3593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55196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719262" y="2447925"/>
              <a:ext cx="64389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861523" y="2576512"/>
              <a:ext cx="3593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61465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2363152" y="2447925"/>
              <a:ext cx="64389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505413" y="2576512"/>
              <a:ext cx="3593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66207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3007042" y="2447925"/>
              <a:ext cx="64389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149303" y="2576512"/>
              <a:ext cx="3593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72538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3650932" y="2447925"/>
              <a:ext cx="64389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792241" y="2576512"/>
              <a:ext cx="3593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82992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4293870" y="2447925"/>
              <a:ext cx="64389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436131" y="2576512"/>
              <a:ext cx="3593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92420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4937760" y="2447925"/>
              <a:ext cx="64389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080021" y="2576512"/>
              <a:ext cx="3593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98705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581650" y="2447925"/>
              <a:ext cx="64389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688926" y="2576512"/>
              <a:ext cx="4293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105851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225540" y="2447925"/>
              <a:ext cx="643890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332816" y="2576512"/>
              <a:ext cx="4293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114333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869430" y="2447925"/>
              <a:ext cx="64389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975754" y="2576512"/>
              <a:ext cx="4293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121121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7512368" y="2447925"/>
              <a:ext cx="64389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619644" y="2576512"/>
              <a:ext cx="4293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126743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8156258" y="2447925"/>
              <a:ext cx="64389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263534" y="2576512"/>
              <a:ext cx="4293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130756</a:t>
              </a:r>
            </a:p>
          </p:txBody>
        </p:sp>
      </p:grpSp>
      <p:grpSp>
        <p:nvGrpSpPr>
          <p:cNvPr id="80" name="c1-compare-2"/>
          <p:cNvGrpSpPr/>
          <p:nvPr/>
        </p:nvGrpSpPr>
        <p:grpSpPr>
          <a:xfrm>
            <a:off x="533400" y="2987040"/>
            <a:ext cx="11125200" cy="1524000"/>
            <a:chOff x="533400" y="2987040"/>
            <a:chExt cx="11125200" cy="1524000"/>
          </a:xfrm>
        </p:grpSpPr>
        <p:sp>
          <p:nvSpPr>
            <p:cNvPr id="60" name="Rectangle 60"/>
            <p:cNvSpPr/>
            <p:nvPr/>
          </p:nvSpPr>
          <p:spPr>
            <a:xfrm>
              <a:off x="533400" y="2987040"/>
              <a:ext cx="5353050" cy="1524000"/>
            </a:xfrm>
            <a:prstGeom prst="roundRect">
              <a:avLst>
                <a:gd name="adj" fmla="val 87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542925" y="3120390"/>
              <a:ext cx="47625" cy="125730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51332" y="319563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插值：曲线穿过每一个数据点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766762" y="3569018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22782" y="3512820"/>
              <a:ext cx="37574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假定数据本身准确，要求 p(xᵢ) = yᵢ 全部成立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766762" y="386905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22782" y="3812858"/>
              <a:ext cx="33031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用来“加密”表格：求表中没有的年份的值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766762" y="417004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922782" y="4113848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数据点多时次数高，两端容易剧烈振荡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6305550" y="2987040"/>
              <a:ext cx="5353050" cy="1524000"/>
            </a:xfrm>
            <a:prstGeom prst="roundRect">
              <a:avLst>
                <a:gd name="adj" fmla="val 87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6315075" y="3120390"/>
              <a:ext cx="47625" cy="125730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523482" y="3195638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拟合：曲线不必过点，只求总偏差最小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6538912" y="3569018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694932" y="3512820"/>
              <a:ext cx="37586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承认数据带观测误差，最小化 Σ(p(xᵢ) − yᵢ)²</a:t>
              </a:r>
            </a:p>
          </p:txBody>
        </p:sp>
        <p:sp>
          <p:nvSpPr>
            <p:cNvPr id="74" name="Ellipse 74"/>
            <p:cNvSpPr/>
            <p:nvPr/>
          </p:nvSpPr>
          <p:spPr>
            <a:xfrm>
              <a:off x="6538912" y="386905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694932" y="3812858"/>
              <a:ext cx="31214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用来“看趋势”：人口、销量、实验曲线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6538912" y="417004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694932" y="4113848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归结为解一个超定方程组的最小二乘解</a:t>
              </a:r>
            </a:p>
          </p:txBody>
        </p:sp>
        <p:sp>
          <p:nvSpPr>
            <p:cNvPr id="78" name="Ellipse 78"/>
            <p:cNvSpPr/>
            <p:nvPr/>
          </p:nvSpPr>
          <p:spPr>
            <a:xfrm>
              <a:off x="5934075" y="3587115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017308" y="3692842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86" name="c1-card-3"/>
          <p:cNvGrpSpPr/>
          <p:nvPr/>
        </p:nvGrpSpPr>
        <p:grpSpPr>
          <a:xfrm>
            <a:off x="533400" y="4680585"/>
            <a:ext cx="11125200" cy="1029652"/>
            <a:chOff x="533400" y="4680585"/>
            <a:chExt cx="11125200" cy="1029652"/>
          </a:xfrm>
        </p:grpSpPr>
        <p:sp>
          <p:nvSpPr>
            <p:cNvPr id="81" name="Rectangle 81"/>
            <p:cNvSpPr/>
            <p:nvPr/>
          </p:nvSpPr>
          <p:spPr>
            <a:xfrm>
              <a:off x="533400" y="4680585"/>
              <a:ext cx="11125200" cy="1029652"/>
            </a:xfrm>
            <a:prstGeom prst="roundRect">
              <a:avLst>
                <a:gd name="adj" fmla="val 1295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2" name="Rectangle 82"/>
            <p:cNvSpPr/>
            <p:nvPr/>
          </p:nvSpPr>
          <p:spPr>
            <a:xfrm>
              <a:off x="542925" y="4813935"/>
              <a:ext cx="47625" cy="76295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758190" y="48672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850862" y="49001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51332" y="5212080"/>
              <a:ext cx="106298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原课件表中 1990 年写作 11433 万，与相邻年份（1985 年 105851、1995 年 121121）明显不符，应为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114333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万，原表漏了一位。</a:t>
              </a:r>
            </a:p>
          </p:txBody>
        </p:sp>
      </p:grpSp>
      <p:grpSp>
        <p:nvGrpSpPr>
          <p:cNvPr id="92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87" name="Rectangle 87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90" name="Group 90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88" name="Freeform 88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91" name="TextBox 91"/>
            <p:cNvSpPr txBox="1"/>
            <p:nvPr/>
          </p:nvSpPr>
          <p:spPr>
            <a:xfrm>
              <a:off x="1040892" y="6028373"/>
              <a:ext cx="67652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这类问题在第 5 章解决：函数插值与曲线拟合。数据准就插值，数据带噪声就拟合。</a:t>
              </a:r>
            </a:p>
          </p:txBody>
        </p:sp>
      </p:grpSp>
      <p:grpSp>
        <p:nvGrpSpPr>
          <p:cNvPr id="9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3" name="TextBox 93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第1章 绪论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0995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6603" y="407194"/>
              <a:ext cx="3343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绪论 · 计算方法概述：从实际问题到数值解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应用举例三：两个写得出式子、却算不出解析解的问题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410200" cy="2152650"/>
            <a:chOff x="533400" y="1524000"/>
            <a:chExt cx="5410200" cy="21526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152650"/>
            </a:xfrm>
            <a:prstGeom prst="roundRect">
              <a:avLst>
                <a:gd name="adj" fmla="val 619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859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4507" y="176926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波纹瓦的长度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50720" y="1768792"/>
              <a:ext cx="34899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要多长的铝板才能压出 4 英尺的波纹瓦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587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铝制波纹瓦由机器把平整铝板压制而成。要求波纹瓦长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英尺，每个波纹（从中心线算起）高 1 英寸，每个波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纹以近似 2π 英寸为一个周期。求所需铝板的长度 L。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4573" y="3033236"/>
              <a:ext cx="458901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 英尺 = 12 英寸，问题就是求曲线 f(x) = sin x 从 x = 0 到 x =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 英寸的弧长。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formula11"/>
              <p:cNvSpPr txBox="1">
                <a:spLocks noGrp="1"/>
              </p:cNvSpPr>
              <p:nvPr/>
            </p:nvSpPr>
            <p:spPr>
              <a:xfrm>
                <a:off x="533400" y="3867150"/>
                <a:ext cx="5410200" cy="5600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L</m:t>
                      </m:r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  <m:sup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48</m:t>
                          </m:r>
                        </m:sup>
                        <m:e>
                          <m:rad>
                            <m:radPr>
                              <m:degHide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sSup>
                                <m:e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e>
                                          <m:r>
                                            <a:rPr lang="zh-CN" sz="15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f</m:t>
                                          </m:r>
                                        </m:e>
                                        <m:sup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5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5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sz="15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x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dx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  <m:sup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48</m:t>
                          </m:r>
                        </m:sup>
                        <m:e>
                          <m:rad>
                            <m:radPr>
                              <m:degHide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func>
                                <m:funcPr/>
                                <m:fName>
                                  <m:sSup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cos</m:t>
                                      </m:r>
                                    </m:e>
                                    <m:sup>
                                      <m: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</m:func>
                            </m:e>
                          </m:rad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dx</m:t>
                          </m:r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22" name="c1-callout-3"/>
          <p:cNvGrpSpPr/>
          <p:nvPr/>
        </p:nvGrpSpPr>
        <p:grpSpPr>
          <a:xfrm>
            <a:off x="533400" y="4617720"/>
            <a:ext cx="5410200" cy="1358265"/>
            <a:chOff x="533400" y="4617720"/>
            <a:chExt cx="5410200" cy="1358265"/>
          </a:xfrm>
        </p:grpSpPr>
        <p:sp>
          <p:nvSpPr>
            <p:cNvPr id="16" name="Rectangle 16"/>
            <p:cNvSpPr/>
            <p:nvPr/>
          </p:nvSpPr>
          <p:spPr>
            <a:xfrm>
              <a:off x="533400" y="4617720"/>
              <a:ext cx="5410200" cy="1358265"/>
            </a:xfrm>
            <a:prstGeom prst="roundRect">
              <a:avLst>
                <a:gd name="adj" fmla="val 841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26129" y="5193148"/>
              <a:ext cx="224134" cy="192560"/>
              <a:chOff x="726129" y="5193148"/>
              <a:chExt cx="224134" cy="19256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838200" y="526351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726129" y="519314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38200" y="53413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040130" y="4915852"/>
              <a:ext cx="45300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这是第二类椭圆积分，被积函数的原函数不能用初等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函数写出，Newton-Leibniz 公式无从下手。只能数值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积分，见第 6 章。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3202305"/>
            <a:chOff x="6248400" y="1524000"/>
            <a:chExt cx="5410200" cy="3202305"/>
          </a:xfrm>
        </p:grpSpPr>
        <p:sp>
          <p:nvSpPr>
            <p:cNvPr id="23" name="Rectangle 23"/>
            <p:cNvSpPr/>
            <p:nvPr/>
          </p:nvSpPr>
          <p:spPr>
            <a:xfrm>
              <a:off x="6248400" y="1524000"/>
              <a:ext cx="5410200" cy="3202305"/>
            </a:xfrm>
            <a:prstGeom prst="roundRect">
              <a:avLst>
                <a:gd name="adj" fmla="val 41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57925" y="1657350"/>
              <a:ext cx="47625" cy="293560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496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78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蝴蝶效应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80923" y="1768792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洛伦兹方程：解存在，却写不出公式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88430" y="2129790"/>
              <a:ext cx="46634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1963 年 MIT 气象学家 Edward Lorenz 把大气流体动力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学模型简化成下面三个常微分方程，由此给出第一个混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沌现象。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formula12"/>
                <p:cNvSpPr txBox="1">
                  <a:spLocks noGrp="1"/>
                </p:cNvSpPr>
                <p:nvPr/>
              </p:nvSpPr>
              <p:spPr>
                <a:xfrm>
                  <a:off x="6496050" y="3011805"/>
                  <a:ext cx="4953000" cy="1485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{"/>
                            <m:sepChr m:val=""/>
                            <m:endChr m:val="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eqArr>
                              <m:eqArrPr>
                                <m:baseJc m:val="center"/>
                              </m:eqArrP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dx</m:t>
                                    </m:r>
                                  </m:num>
                                  <m:den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dt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=−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σy</m:t>
                                </m:r>
                              </m:e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dy</m:t>
                                    </m:r>
                                  </m:num>
                                  <m:den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dt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xz</m:t>
                                </m:r>
                              </m:e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dz</m:t>
                                    </m:r>
                                  </m:num>
                                  <m:den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dt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=−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bz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xy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6" name="c2-callout-2"/>
          <p:cNvGrpSpPr/>
          <p:nvPr/>
        </p:nvGrpSpPr>
        <p:grpSpPr>
          <a:xfrm>
            <a:off x="6248400" y="4916805"/>
            <a:ext cx="5410200" cy="1059180"/>
            <a:chOff x="6248400" y="4916805"/>
            <a:chExt cx="5410200" cy="1059180"/>
          </a:xfrm>
        </p:grpSpPr>
        <p:sp>
          <p:nvSpPr>
            <p:cNvPr id="31" name="Rectangle 31"/>
            <p:cNvSpPr/>
            <p:nvPr/>
          </p:nvSpPr>
          <p:spPr>
            <a:xfrm>
              <a:off x="6248400" y="4916805"/>
              <a:ext cx="5410200" cy="1059180"/>
            </a:xfrm>
            <a:prstGeom prst="roundRect">
              <a:avLst>
                <a:gd name="adj" fmla="val 10791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6453188" y="5346385"/>
              <a:ext cx="200023" cy="200023"/>
              <a:chOff x="6453188" y="5346385"/>
              <a:chExt cx="200023" cy="200023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6453188" y="534638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586538" y="54130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6755130" y="5065395"/>
              <a:ext cx="44253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这个方程组没有初等解析解，只能一步一步数值推进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（第 7 章）；而且初值差一点点，长时间后的解就完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全不同，这正是 1.2.4 节要讲的病态问题。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第1章 绪论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62801" cy="909257"/>
            <a:chOff x="520446" y="342900"/>
            <a:chExt cx="866280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0995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6603" y="407194"/>
              <a:ext cx="3343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绪论 · 计算方法概述：从实际问题到数值解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6280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应用举例四：PageRank 把“重要性”写成一个特征值问题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7870323" cy="278702"/>
            <a:chOff x="526161" y="1547336"/>
            <a:chExt cx="7870323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787032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1998 年 Larry Page 与 Sergey Brin 创立 Google，用 PageRank 对搜索结果按重要性排序。</a:t>
              </a:r>
            </a:p>
          </p:txBody>
        </p:sp>
      </p:grpSp>
      <p:grpSp>
        <p:nvGrpSpPr>
          <p:cNvPr id="17" name="c1-card-1"/>
          <p:cNvGrpSpPr/>
          <p:nvPr/>
        </p:nvGrpSpPr>
        <p:grpSpPr>
          <a:xfrm>
            <a:off x="533400" y="1941195"/>
            <a:ext cx="4977765" cy="2556510"/>
            <a:chOff x="533400" y="1941195"/>
            <a:chExt cx="4977765" cy="2556510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4977765" cy="2556510"/>
            </a:xfrm>
            <a:prstGeom prst="roundRect">
              <a:avLst>
                <a:gd name="adj" fmla="val 52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74545"/>
              <a:ext cx="47625" cy="228981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3905" y="213360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7344" y="216789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基本原理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7047" y="2490788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从优质网页链接过来的网页，多半也是优质网页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7047" y="2810827"/>
              <a:ext cx="400850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超链接 A → B 相当于 A 给 B 投一票；如果 A 本身质量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高，这一票的分数就高。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7047" y="3369945"/>
              <a:ext cx="424853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于是每个网页的 Pr 值，等于所有链向它的网页的重要性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按出链数分摊后加和。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formula21"/>
                <p:cNvSpPr txBox="1">
                  <a:spLocks noGrp="1"/>
                </p:cNvSpPr>
                <p:nvPr/>
              </p:nvSpPr>
              <p:spPr>
                <a:xfrm>
                  <a:off x="763905" y="3907155"/>
                  <a:ext cx="4554855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M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Pr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Pr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⟺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Pr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4" name="c1-callout-2"/>
          <p:cNvGrpSpPr/>
          <p:nvPr/>
        </p:nvGrpSpPr>
        <p:grpSpPr>
          <a:xfrm>
            <a:off x="533400" y="4672965"/>
            <a:ext cx="4977765" cy="1518285"/>
            <a:chOff x="533400" y="4672965"/>
            <a:chExt cx="4977765" cy="1518285"/>
          </a:xfrm>
        </p:grpSpPr>
        <p:sp>
          <p:nvSpPr>
            <p:cNvPr id="18" name="Rectangle 18"/>
            <p:cNvSpPr/>
            <p:nvPr/>
          </p:nvSpPr>
          <p:spPr>
            <a:xfrm>
              <a:off x="533400" y="4672965"/>
              <a:ext cx="4977765" cy="1518285"/>
            </a:xfrm>
            <a:prstGeom prst="roundRect">
              <a:avLst>
                <a:gd name="adj" fmla="val 7528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38188" y="5332095"/>
              <a:ext cx="200026" cy="200025"/>
              <a:chOff x="738188" y="5332095"/>
              <a:chExt cx="200026" cy="200025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38188" y="53320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77926" y="53765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12642" y="54876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0892" y="5089208"/>
              <a:ext cx="3982784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左式是求 M 的特征值 1 所对应的特征向量（第 4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章）；右式是解一个齐次线性方程组（第 2 章）。同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一个问题，两种算法。</a:t>
              </a:r>
            </a:p>
          </p:txBody>
        </p:sp>
      </p:grpSp>
      <p:grpSp>
        <p:nvGrpSpPr>
          <p:cNvPr id="48" name="c2-graph-1"/>
          <p:cNvGrpSpPr/>
          <p:nvPr/>
        </p:nvGrpSpPr>
        <p:grpSpPr>
          <a:xfrm>
            <a:off x="6715125" y="2150745"/>
            <a:ext cx="4044315" cy="1840229"/>
            <a:chOff x="6715125" y="2150745"/>
            <a:chExt cx="4044315" cy="1840229"/>
          </a:xfrm>
        </p:grpSpPr>
        <p:sp>
          <p:nvSpPr>
            <p:cNvPr id="25" name="Freeform 25"/>
            <p:cNvSpPr/>
            <p:nvPr/>
          </p:nvSpPr>
          <p:spPr>
            <a:xfrm>
              <a:off x="7124700" y="2303145"/>
              <a:ext cx="3225165" cy="9525"/>
            </a:xfrm>
            <a:custGeom>
              <a:avLst/>
              <a:gdLst/>
              <a:ahLst/>
              <a:cxnLst/>
              <a:rect l="l" t="t" r="r" b="b"/>
              <a:pathLst>
                <a:path w="3225165" h="9525">
                  <a:moveTo>
                    <a:pt x="0" y="0"/>
                  </a:moveTo>
                  <a:lnTo>
                    <a:pt x="322516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10349865" y="225552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7029450" y="225552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6867525" y="2560320"/>
              <a:ext cx="9525" cy="692467"/>
            </a:xfrm>
            <a:custGeom>
              <a:avLst/>
              <a:gdLst/>
              <a:ahLst/>
              <a:cxnLst/>
              <a:rect l="l" t="t" r="r" b="b"/>
              <a:pathLst>
                <a:path w="9525" h="692467">
                  <a:moveTo>
                    <a:pt x="0" y="0"/>
                  </a:moveTo>
                  <a:lnTo>
                    <a:pt x="0" y="69246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6819900" y="325278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6819900" y="246507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7021830" y="2353628"/>
              <a:ext cx="3340418" cy="1077278"/>
            </a:xfrm>
            <a:custGeom>
              <a:avLst/>
              <a:gdLst/>
              <a:ahLst/>
              <a:cxnLst/>
              <a:rect l="l" t="t" r="r" b="b"/>
              <a:pathLst>
                <a:path w="3340418" h="1077278">
                  <a:moveTo>
                    <a:pt x="0" y="0"/>
                  </a:moveTo>
                  <a:lnTo>
                    <a:pt x="3340418" y="107727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10347008" y="3386138"/>
              <a:ext cx="105728" cy="90488"/>
            </a:xfrm>
            <a:custGeom>
              <a:avLst/>
              <a:gdLst/>
              <a:ahLst/>
              <a:cxnLst/>
              <a:rect l="l" t="t" r="r" b="b"/>
              <a:pathLst>
                <a:path w="105728" h="90488">
                  <a:moveTo>
                    <a:pt x="105728" y="74295"/>
                  </a:moveTo>
                  <a:lnTo>
                    <a:pt x="0" y="90488"/>
                  </a:lnTo>
                  <a:lnTo>
                    <a:pt x="2952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7021830" y="2382202"/>
              <a:ext cx="3340418" cy="1078230"/>
            </a:xfrm>
            <a:custGeom>
              <a:avLst/>
              <a:gdLst/>
              <a:ahLst/>
              <a:cxnLst/>
              <a:rect l="l" t="t" r="r" b="b"/>
              <a:pathLst>
                <a:path w="3340418" h="1078230">
                  <a:moveTo>
                    <a:pt x="0" y="1078230"/>
                  </a:moveTo>
                  <a:lnTo>
                    <a:pt x="334041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10347008" y="2337435"/>
              <a:ext cx="105728" cy="90488"/>
            </a:xfrm>
            <a:custGeom>
              <a:avLst/>
              <a:gdLst/>
              <a:ahLst/>
              <a:cxnLst/>
              <a:rect l="l" t="t" r="r" b="b"/>
              <a:pathLst>
                <a:path w="105728" h="90488">
                  <a:moveTo>
                    <a:pt x="105728" y="16192"/>
                  </a:moveTo>
                  <a:lnTo>
                    <a:pt x="29528" y="904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10607040" y="2465070"/>
              <a:ext cx="9525" cy="787717"/>
            </a:xfrm>
            <a:custGeom>
              <a:avLst/>
              <a:gdLst/>
              <a:ahLst/>
              <a:cxnLst/>
              <a:rect l="l" t="t" r="r" b="b"/>
              <a:pathLst>
                <a:path w="9525" h="787717">
                  <a:moveTo>
                    <a:pt x="0" y="0"/>
                  </a:moveTo>
                  <a:lnTo>
                    <a:pt x="0" y="78771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10559415" y="325278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7124700" y="3509962"/>
              <a:ext cx="3320415" cy="9525"/>
            </a:xfrm>
            <a:custGeom>
              <a:avLst/>
              <a:gdLst/>
              <a:ahLst/>
              <a:cxnLst/>
              <a:rect l="l" t="t" r="r" b="b"/>
              <a:pathLst>
                <a:path w="3320415" h="9525">
                  <a:moveTo>
                    <a:pt x="3320415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7029450" y="346233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6715125" y="215074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E7D4F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10454640" y="215074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E7D4F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6715125" y="335756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E7D4F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10454640" y="335756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E7D4F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819066" y="223837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558581" y="223837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819066" y="3445193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558581" y="3445193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944993" y="3814762"/>
              <a:ext cx="15845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双箭头表示两个方向都有链接</a:t>
              </a:r>
            </a:p>
          </p:txBody>
        </p:sp>
      </p:grpSp>
      <p:grpSp>
        <p:nvGrpSpPr>
          <p:cNvPr id="56" name="c2-card-2"/>
          <p:cNvGrpSpPr/>
          <p:nvPr/>
        </p:nvGrpSpPr>
        <p:grpSpPr>
          <a:xfrm>
            <a:off x="5815965" y="4127182"/>
            <a:ext cx="5842635" cy="2064068"/>
            <a:chOff x="5815965" y="4127182"/>
            <a:chExt cx="5842635" cy="2064068"/>
          </a:xfrm>
        </p:grpSpPr>
        <p:sp>
          <p:nvSpPr>
            <p:cNvPr id="49" name="Rectangle 49"/>
            <p:cNvSpPr/>
            <p:nvPr/>
          </p:nvSpPr>
          <p:spPr>
            <a:xfrm>
              <a:off x="5815965" y="4127182"/>
              <a:ext cx="5842635" cy="2064068"/>
            </a:xfrm>
            <a:prstGeom prst="roundRect">
              <a:avLst>
                <a:gd name="adj" fmla="val 64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5825490" y="4260532"/>
              <a:ext cx="47625" cy="179736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046470" y="4319588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129909" y="43538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转移矩阵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039612" y="4676775"/>
              <a:ext cx="4896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A、B、C、D 排列，M 的第 j 列记录网页 j 把票分给了谁：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4" name="formula22"/>
                <p:cNvSpPr txBox="1">
                  <a:spLocks noGrp="1"/>
                </p:cNvSpPr>
                <p:nvPr/>
              </p:nvSpPr>
              <p:spPr>
                <a:xfrm>
                  <a:off x="6046470" y="4956810"/>
                  <a:ext cx="5419725" cy="76104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M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/</m:t>
                                  </m:r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/</m:t>
                                  </m:r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/</m:t>
                                  </m:r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/</m:t>
                                  </m:r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/</m:t>
                                  </m:r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/</m:t>
                                  </m:r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/</m:t>
                                  </m:r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2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55" name="TextBox 55"/>
            <p:cNvSpPr txBox="1"/>
            <p:nvPr/>
          </p:nvSpPr>
          <p:spPr>
            <a:xfrm>
              <a:off x="6040755" y="5823109"/>
              <a:ext cx="42521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每列之和为 1，所以 M 必有特征值 1，且没有模更大的特征值。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第1章 绪论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0995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6603" y="407194"/>
              <a:ext cx="3343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绪论 · 计算方法概述：从实际问题到数值解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科学计算的六个环节：数值方法夹在模型和程序之间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9" name="c1-flow-1"/>
          <p:cNvGrpSpPr/>
          <p:nvPr/>
        </p:nvGrpSpPr>
        <p:grpSpPr>
          <a:xfrm>
            <a:off x="666750" y="1789748"/>
            <a:ext cx="10858500" cy="578168"/>
            <a:chOff x="666750" y="1789748"/>
            <a:chExt cx="10858500" cy="578168"/>
          </a:xfrm>
        </p:grpSpPr>
        <p:sp>
          <p:nvSpPr>
            <p:cNvPr id="7" name="Freeform 7"/>
            <p:cNvSpPr/>
            <p:nvPr/>
          </p:nvSpPr>
          <p:spPr>
            <a:xfrm>
              <a:off x="2254568" y="207835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416492" y="202596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4108132" y="207835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270058" y="202596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5962650" y="207835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6124575" y="202596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7817168" y="207835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7979092" y="202596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9670732" y="207835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9832658" y="202596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66750" y="1879282"/>
              <a:ext cx="1587818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2521268" y="1879282"/>
              <a:ext cx="1587818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4374832" y="1879282"/>
              <a:ext cx="1587818" cy="399098"/>
            </a:xfrm>
            <a:prstGeom prst="roundRect">
              <a:avLst>
                <a:gd name="adj" fmla="val 23866"/>
              </a:avLst>
            </a:prstGeom>
            <a:solidFill>
              <a:srgbClr val="E5F2EA"/>
            </a:solidFill>
            <a:ln w="19050">
              <a:solidFill>
                <a:srgbClr val="2E7D4F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229350" y="1879282"/>
              <a:ext cx="1587818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8083868" y="1789748"/>
              <a:ext cx="1587818" cy="578168"/>
            </a:xfrm>
            <a:prstGeom prst="roundRect">
              <a:avLst>
                <a:gd name="adj" fmla="val 16474"/>
              </a:avLst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9937432" y="1879282"/>
              <a:ext cx="1587818" cy="399098"/>
            </a:xfrm>
            <a:prstGeom prst="roundRect">
              <a:avLst>
                <a:gd name="adj" fmla="val 49881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152919" y="199977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实际问题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007436" y="199977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数学模型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861954" y="199977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数值方法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15519" y="199977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程序设计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658225" y="1903571"/>
              <a:ext cx="438150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计算机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575328" y="199977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解答</a:t>
              </a:r>
            </a:p>
          </p:txBody>
        </p:sp>
      </p:grpSp>
      <p:grpSp>
        <p:nvGrpSpPr>
          <p:cNvPr id="64" name="c1-compare-2"/>
          <p:cNvGrpSpPr/>
          <p:nvPr/>
        </p:nvGrpSpPr>
        <p:grpSpPr>
          <a:xfrm>
            <a:off x="533400" y="2808922"/>
            <a:ext cx="11125200" cy="2893695"/>
            <a:chOff x="533400" y="2808922"/>
            <a:chExt cx="11125200" cy="2893695"/>
          </a:xfrm>
        </p:grpSpPr>
        <p:sp>
          <p:nvSpPr>
            <p:cNvPr id="30" name="Rectangle 30"/>
            <p:cNvSpPr/>
            <p:nvPr/>
          </p:nvSpPr>
          <p:spPr>
            <a:xfrm>
              <a:off x="533400" y="2808922"/>
              <a:ext cx="5353050" cy="2893695"/>
            </a:xfrm>
            <a:prstGeom prst="roundRect">
              <a:avLst>
                <a:gd name="adj" fmla="val 460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542925" y="2942272"/>
              <a:ext cx="47625" cy="262699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7047" y="3023235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走一遍：用空中航测构建某地三维地形图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72478" y="3399472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28497" y="3343275"/>
              <a:ext cx="47116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① 实际问题：空中航测（连续拍照），要出一张三维地形图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72478" y="370141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28497" y="3645218"/>
              <a:ext cx="34394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② 数学模型：建立一个大型超定线性方程组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72478" y="4004310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28497" y="3948112"/>
              <a:ext cx="43481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③ 数值方法：用最小二乘方法求该方程组的最小二乘解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72478" y="430720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28497" y="4251008"/>
              <a:ext cx="23490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④ 程序设计：任何语言都可以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72478" y="4609148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28497" y="4552950"/>
              <a:ext cx="19855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⑤ 计算机计算：跑出结果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72478" y="4912042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28497" y="4855845"/>
              <a:ext cx="32577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⑥ 解答与解释：给出地形图，并说明精度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305550" y="2808922"/>
              <a:ext cx="5353050" cy="2893695"/>
            </a:xfrm>
            <a:prstGeom prst="roundRect">
              <a:avLst>
                <a:gd name="adj" fmla="val 460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315075" y="2942272"/>
              <a:ext cx="47625" cy="262699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29197" y="302323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数值计算方法研究什么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544628" y="3399472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00647" y="3343275"/>
              <a:ext cx="24035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线性方程组的解法（第 2 章）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544628" y="370141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00647" y="3645218"/>
              <a:ext cx="33122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矩阵特征值与特征向量的计算（第 4 章）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544628" y="4004310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700647" y="3948112"/>
              <a:ext cx="36757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非线性方程（组）的解法与最优化（第 3 章）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544628" y="430720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700647" y="4251008"/>
              <a:ext cx="25852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函数插值与曲线拟合（第 5 章）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544628" y="4609148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700647" y="4552950"/>
              <a:ext cx="25852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数值微分与数值积分（第 6 章）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544628" y="4912042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700647" y="4855845"/>
              <a:ext cx="34939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常微分与偏微分方程的数值解法（第 7 章）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6544628" y="521398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700647" y="5157788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方法的收敛性、稳定性分析与误差估计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5934075" y="4093845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010546" y="4195286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71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5" name="Rectangle 65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1040892" y="6023610"/>
              <a:ext cx="94913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计算机只能做加减乘除和一些逻辑运算，第 3 步要把数学公式改造成只含四则运算的有限步骤，这正是本课程的内容。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第1章 绪论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0995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6603" y="407194"/>
              <a:ext cx="3343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绪论 · 计算方法概述：从实际问题到数值解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知道了数学模型，为什么不能直接编程算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8827550" cy="293370"/>
            <a:chOff x="525780" y="1548765"/>
            <a:chExt cx="882755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8275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以定积分为例。微积分告诉我们，只要找到被积函数的原函数 F(x)，就有 Newton-Leibniz 公式。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29"/>
              <p:cNvSpPr txBox="1">
                <a:spLocks noGrp="1"/>
              </p:cNvSpPr>
              <p:nvPr/>
            </p:nvSpPr>
            <p:spPr>
              <a:xfrm>
                <a:off x="533400" y="1954530"/>
                <a:ext cx="4544378" cy="6134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I</m:t>
                      </m:r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sub>
                        <m:sup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sup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7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</m:d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dx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7" name="c1-card-2"/>
          <p:cNvGrpSpPr/>
          <p:nvPr/>
        </p:nvGrpSpPr>
        <p:grpSpPr>
          <a:xfrm>
            <a:off x="533400" y="2753678"/>
            <a:ext cx="4544378" cy="2873692"/>
            <a:chOff x="533400" y="2753678"/>
            <a:chExt cx="4544378" cy="2873692"/>
          </a:xfrm>
        </p:grpSpPr>
        <p:sp>
          <p:nvSpPr>
            <p:cNvPr id="10" name="Rectangle 10"/>
            <p:cNvSpPr/>
            <p:nvPr/>
          </p:nvSpPr>
          <p:spPr>
            <a:xfrm>
              <a:off x="533400" y="2753678"/>
              <a:ext cx="4544378" cy="2873692"/>
            </a:xfrm>
            <a:prstGeom prst="roundRect">
              <a:avLst>
                <a:gd name="adj" fmla="val 464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542925" y="2887028"/>
              <a:ext cx="47625" cy="260699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75335" y="2957512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61593" y="299323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原因一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18666" y="2997041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原函数不能用初等函数表示成有限形式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30"/>
                <p:cNvSpPr txBox="1">
                  <a:spLocks noGrp="1"/>
                </p:cNvSpPr>
                <p:nvPr/>
              </p:nvSpPr>
              <p:spPr>
                <a:xfrm>
                  <a:off x="775335" y="3325178"/>
                  <a:ext cx="4098608" cy="533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sub>
                          <m:sup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sup>
                          <m:e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sin</m:t>
                                </m:r>
                              </m:fName>
                              <m:e>
                                <m:sSup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func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dx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nary>
                          <m:naryPr>
                            <m:chr m:val="∫"/>
                            <m:limLoc m:val="subSup"/>
                            <m:grow m:val="off"/>
                            <m:subHide m:val="off"/>
                            <m:supHide m:val="off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sub>
                          <m:sup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sup>
                          <m:e>
                            <m:f>
                              <m:fPr>
                                <m:type m:val="bar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func>
                                  <m:funcPr/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</m:func>
                              </m:num>
                              <m:den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den>
                            </m:f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dx</m:t>
                            </m:r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6" name="TextBox 16"/>
            <p:cNvSpPr txBox="1"/>
            <p:nvPr/>
          </p:nvSpPr>
          <p:spPr>
            <a:xfrm>
              <a:off x="769239" y="3970972"/>
              <a:ext cx="33561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前面波纹瓦里的 √(1 + cos²x) 也属于这一类。</a:t>
              </a:r>
            </a:p>
          </p:txBody>
        </p:sp>
      </p:grpSp>
      <p:grpSp>
        <p:nvGrpSpPr>
          <p:cNvPr id="25" name="c2-card-1"/>
          <p:cNvGrpSpPr/>
          <p:nvPr/>
        </p:nvGrpSpPr>
        <p:grpSpPr>
          <a:xfrm>
            <a:off x="5382578" y="1954530"/>
            <a:ext cx="6276022" cy="1551622"/>
            <a:chOff x="5382578" y="1954530"/>
            <a:chExt cx="6276022" cy="1551622"/>
          </a:xfrm>
        </p:grpSpPr>
        <p:sp>
          <p:nvSpPr>
            <p:cNvPr id="18" name="Rectangle 18"/>
            <p:cNvSpPr/>
            <p:nvPr/>
          </p:nvSpPr>
          <p:spPr>
            <a:xfrm>
              <a:off x="5382578" y="1954530"/>
              <a:ext cx="6276022" cy="1551622"/>
            </a:xfrm>
            <a:prstGeom prst="roundRect">
              <a:avLst>
                <a:gd name="adj" fmla="val 85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92102" y="2087880"/>
              <a:ext cx="47625" cy="128492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624512" y="215836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710771" y="219408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原因二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67844" y="2197894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原函数写得出来，但复杂到不便计算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617274" y="2550319"/>
              <a:ext cx="493685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被积函数只是 f(x) = x²√(2x² + 3)，它的一个原函数却是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formula31"/>
                <p:cNvSpPr txBox="1">
                  <a:spLocks noGrp="1"/>
                </p:cNvSpPr>
                <p:nvPr/>
              </p:nvSpPr>
              <p:spPr>
                <a:xfrm>
                  <a:off x="5624512" y="2846070"/>
                  <a:ext cx="5830252" cy="43719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sup>
                            </m:sSup>
                            <m:rad>
                              <m:radPr>
                                <m:degHide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  <m:sSup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3x</m:t>
                            </m:r>
                            <m:rad>
                              <m:radPr>
                                <m:degHide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  <m:sSup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9</m:t>
                            </m:r>
                          </m:num>
                          <m:den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16</m:t>
                            </m:r>
                            <m:rad>
                              <m:radPr>
                                <m:degHide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ln</m:t>
                            </m:r>
                          </m:fName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​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ad>
                                  <m:radPr>
                                    <m:degHide m:val="on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e>
                                </m:rad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  <m:sSup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p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</m:t>
                                    </m:r>
                                  </m:e>
                                </m:rad>
                              </m:e>
                            </m:d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48" name="c2-card-2"/>
          <p:cNvGrpSpPr/>
          <p:nvPr/>
        </p:nvGrpSpPr>
        <p:grpSpPr>
          <a:xfrm>
            <a:off x="5382578" y="3690938"/>
            <a:ext cx="6276022" cy="1935480"/>
            <a:chOff x="5382578" y="3690938"/>
            <a:chExt cx="6276022" cy="1935480"/>
          </a:xfrm>
        </p:grpSpPr>
        <p:sp>
          <p:nvSpPr>
            <p:cNvPr id="26" name="Rectangle 26"/>
            <p:cNvSpPr/>
            <p:nvPr/>
          </p:nvSpPr>
          <p:spPr>
            <a:xfrm>
              <a:off x="5382578" y="3690938"/>
              <a:ext cx="6276022" cy="1935480"/>
            </a:xfrm>
            <a:prstGeom prst="roundRect">
              <a:avLst>
                <a:gd name="adj" fmla="val 689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92102" y="3824288"/>
              <a:ext cx="47625" cy="166878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624512" y="3894772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710771" y="393049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原因三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67844" y="3935254"/>
              <a:ext cx="37660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 根本没有表达式，只有一张离散数据表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624512" y="4263390"/>
              <a:ext cx="5830252" cy="43053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67135" y="439483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xᵢ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737782" y="439483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x₀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796010" y="439483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x₁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858021" y="43948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825787" y="439483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xₙ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036374" y="4824412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yᵢ = f(xᵢ)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742225" y="482441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y₀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800452" y="482441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y₁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860242" y="482441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830230" y="482441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yₙ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624512" y="4263390"/>
              <a:ext cx="5830252" cy="86010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7302818" y="4263390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8361998" y="4263390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9420225" y="4263390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10390822" y="4263390"/>
              <a:ext cx="9525" cy="860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618416" y="5235892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连被积函数都不知道，更谈不上原函数。</a:t>
              </a:r>
            </a:p>
          </p:txBody>
        </p:sp>
      </p:grpSp>
      <p:grpSp>
        <p:nvGrpSpPr>
          <p:cNvPr id="54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49" name="Rectangle 49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040511" y="6004084"/>
              <a:ext cx="806233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有了数学模型并不等于能直接求解。计算方法要做的，是构造或选择那些“好”的数值计算方法。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第1章 绪论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000132" cy="909257"/>
            <a:chOff x="520446" y="342900"/>
            <a:chExt cx="90001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0995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6603" y="407194"/>
              <a:ext cx="3343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绪论 · 计算方法概述：从实际问题到数值解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0001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秦九韶算法：同一个多项式，乘法次数从 n(n+1)/2 降到 n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6161" y="1547336"/>
            <a:ext cx="3837686" cy="278702"/>
            <a:chOff x="526161" y="1547336"/>
            <a:chExt cx="3837686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38376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对任意给定的 x，计算 n 次代数多项式的值：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38"/>
              <p:cNvSpPr txBox="1">
                <a:spLocks noGrp="1"/>
              </p:cNvSpPr>
              <p:nvPr/>
            </p:nvSpPr>
            <p:spPr>
              <a:xfrm>
                <a:off x="533400" y="1955482"/>
                <a:ext cx="5410200" cy="5657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sSup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p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sSup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p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+⋯+</m:t>
                      </m:r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  <m:sup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sSub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b>
                          </m:sSub>
                          <m:sSup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p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</a:p>
            </p:txBody>
          </p:sp>
        </mc:Choice>
      </mc:AlternateContent>
      <p:grpSp>
        <p:nvGrpSpPr>
          <p:cNvPr id="11" name="c1-text-3"/>
          <p:cNvGrpSpPr/>
          <p:nvPr/>
        </p:nvGrpSpPr>
        <p:grpSpPr>
          <a:xfrm>
            <a:off x="526161" y="2730341"/>
            <a:ext cx="3617852" cy="278702"/>
            <a:chOff x="526161" y="2730341"/>
            <a:chExt cx="3617852" cy="278702"/>
          </a:xfrm>
        </p:grpSpPr>
        <p:sp>
          <p:nvSpPr>
            <p:cNvPr id="10" name="TextBox 10"/>
            <p:cNvSpPr txBox="1"/>
            <p:nvPr/>
          </p:nvSpPr>
          <p:spPr>
            <a:xfrm>
              <a:off x="526161" y="2730341"/>
              <a:ext cx="36178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逐层提出公因子 x，上式等价于嵌套形式：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formula39"/>
              <p:cNvSpPr txBox="1">
                <a:spLocks noGrp="1"/>
              </p:cNvSpPr>
              <p:nvPr/>
            </p:nvSpPr>
            <p:spPr>
              <a:xfrm>
                <a:off x="533400" y="3138488"/>
                <a:ext cx="5410200" cy="34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⋯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sSub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sSub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+⋯+</m:t>
                          </m:r>
                          <m:sSub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  <p:grpSp>
        <p:nvGrpSpPr>
          <p:cNvPr id="19" name="c1-card-5"/>
          <p:cNvGrpSpPr/>
          <p:nvPr/>
        </p:nvGrpSpPr>
        <p:grpSpPr>
          <a:xfrm>
            <a:off x="533400" y="3666172"/>
            <a:ext cx="5410200" cy="1638300"/>
            <a:chOff x="533400" y="3666172"/>
            <a:chExt cx="5410200" cy="1638300"/>
          </a:xfrm>
        </p:grpSpPr>
        <p:sp>
          <p:nvSpPr>
            <p:cNvPr id="13" name="Rectangle 13"/>
            <p:cNvSpPr/>
            <p:nvPr/>
          </p:nvSpPr>
          <p:spPr>
            <a:xfrm>
              <a:off x="533400" y="3666172"/>
              <a:ext cx="5410200" cy="1638300"/>
            </a:xfrm>
            <a:prstGeom prst="roundRect">
              <a:avLst>
                <a:gd name="adj" fmla="val 814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3799522"/>
              <a:ext cx="47625" cy="137160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75335" y="3870008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57644" y="390572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递推格式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formula40"/>
                <p:cNvSpPr txBox="1">
                  <a:spLocks noGrp="1"/>
                </p:cNvSpPr>
                <p:nvPr/>
              </p:nvSpPr>
              <p:spPr>
                <a:xfrm>
                  <a:off x="775335" y="4219575"/>
                  <a:ext cx="4964430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u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u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u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b>
                        </m:sSub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,…,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u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</m:sSub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8" name="TextBox 18"/>
            <p:cNvSpPr txBox="1"/>
            <p:nvPr/>
          </p:nvSpPr>
          <p:spPr>
            <a:xfrm>
              <a:off x="768096" y="4678204"/>
              <a:ext cx="50133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一共 n 次乘法、n 次加法，而且只用一个变量 u 滚动存储。</a:t>
              </a:r>
            </a:p>
          </p:txBody>
        </p:sp>
      </p:grpSp>
      <p:grpSp>
        <p:nvGrpSpPr>
          <p:cNvPr id="32" name="c2-card-1"/>
          <p:cNvGrpSpPr/>
          <p:nvPr/>
        </p:nvGrpSpPr>
        <p:grpSpPr>
          <a:xfrm>
            <a:off x="6248400" y="1524000"/>
            <a:ext cx="5410200" cy="1623060"/>
            <a:chOff x="6248400" y="1524000"/>
            <a:chExt cx="5410200" cy="1623060"/>
          </a:xfrm>
        </p:grpSpPr>
        <p:sp>
          <p:nvSpPr>
            <p:cNvPr id="20" name="Rectangle 20"/>
            <p:cNvSpPr/>
            <p:nvPr/>
          </p:nvSpPr>
          <p:spPr>
            <a:xfrm>
              <a:off x="6248400" y="1524000"/>
              <a:ext cx="5410200" cy="1623060"/>
            </a:xfrm>
            <a:prstGeom prst="roundRect">
              <a:avLst>
                <a:gd name="adj" fmla="val 82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257925" y="1657350"/>
              <a:ext cx="47625" cy="135636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90335" y="1727835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85445" y="176355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948868" y="1767364"/>
              <a:ext cx="43520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 P₃(x) = 2x³ − 3x² + 5x − 4 在 x = 3 处的值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490335" y="2106930"/>
              <a:ext cx="201930" cy="2019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48680" y="214726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81229" y="2119789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u₀ = a₀ = 2；u₁ = 2×3 + (−3) = 3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490335" y="2426970"/>
              <a:ext cx="201930" cy="2019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48680" y="246730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81229" y="2439829"/>
              <a:ext cx="363792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u₂ = 3×3 + 5 = 14；u₃ = 14×3 + (−4) = </a:t>
              </a: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84239" y="2755582"/>
              <a:ext cx="36873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直接代入：2×27 − 3×9 + 5×3 − 4 = 38，结果一致。</a:t>
              </a:r>
            </a:p>
          </p:txBody>
        </p:sp>
      </p:grpSp>
      <p:grpSp>
        <p:nvGrpSpPr>
          <p:cNvPr id="59" name="c2-table-2"/>
          <p:cNvGrpSpPr/>
          <p:nvPr/>
        </p:nvGrpSpPr>
        <p:grpSpPr>
          <a:xfrm>
            <a:off x="6242685" y="3332798"/>
            <a:ext cx="5415915" cy="2015966"/>
            <a:chOff x="6242685" y="3332798"/>
            <a:chExt cx="5415915" cy="2015966"/>
          </a:xfrm>
        </p:grpSpPr>
        <p:sp>
          <p:nvSpPr>
            <p:cNvPr id="33" name="Rectangle 33"/>
            <p:cNvSpPr/>
            <p:nvPr/>
          </p:nvSpPr>
          <p:spPr>
            <a:xfrm>
              <a:off x="6248400" y="3332798"/>
              <a:ext cx="5410200" cy="43053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628093" y="34632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35024" y="346329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逐项从头求幂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084564" y="346329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累乘保存幂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707243" y="346329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秦九韶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581447" y="389382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830807" y="389382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399575" y="389382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860710" y="389382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248400" y="41881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248400" y="4192905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81447" y="432435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786383" y="432435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210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399575" y="432435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860710" y="432435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248400" y="461772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534802" y="4753928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741958" y="4753928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5050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355150" y="4753928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10261282" y="4632008"/>
              <a:ext cx="1387792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0816285" y="4753928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248400" y="3332798"/>
              <a:ext cx="5410200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7109460" y="3332798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8732520" y="3332798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10246995" y="3332798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242685" y="5128736"/>
              <a:ext cx="21893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计算一次 Pₙ(x) 所需的乘法次数</a:t>
              </a:r>
            </a:p>
          </p:txBody>
        </p:sp>
      </p:grpSp>
      <p:grpSp>
        <p:nvGrpSpPr>
          <p:cNvPr id="66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60" name="Rectangle 60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738188" y="6003608"/>
              <a:ext cx="200026" cy="200025"/>
              <a:chOff x="738188" y="6003608"/>
              <a:chExt cx="200026" cy="200025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738188" y="60036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777926" y="60480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12642" y="61591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1040511" y="6004084"/>
              <a:ext cx="836818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同一个数学表达式换一种运算次序，运算量可以差一个数量级。后面第 5、6 章反复用到这个想法。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第1章 绪论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00335" cy="909257"/>
            <a:chOff x="520446" y="342900"/>
            <a:chExt cx="820033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0995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6603" y="407194"/>
              <a:ext cx="3343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绪论 · 计算方法概述：从实际问题到数值解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0033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Cramer 法则解不了大方程组：21! 次乘法要算十几年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9224947" cy="278702"/>
            <a:chOff x="526161" y="1547336"/>
            <a:chExt cx="9224947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922494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设 A 为 n 阶方阵，D = det(A) ≠ 0，Cramer 法则给出 xᵢ = Dᵢ/D（i = 1,…,n），要算 n + 1 个 n 阶行列式。</a:t>
              </a:r>
            </a:p>
          </p:txBody>
        </p:sp>
      </p:grpSp>
      <p:grpSp>
        <p:nvGrpSpPr>
          <p:cNvPr id="18" name="c1-card-1"/>
          <p:cNvGrpSpPr/>
          <p:nvPr/>
        </p:nvGrpSpPr>
        <p:grpSpPr>
          <a:xfrm>
            <a:off x="533400" y="1941195"/>
            <a:ext cx="5410200" cy="3480435"/>
            <a:chOff x="533400" y="1941195"/>
            <a:chExt cx="5410200" cy="3480435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410200" cy="3480435"/>
            </a:xfrm>
            <a:prstGeom prst="roundRect">
              <a:avLst>
                <a:gd name="adj" fmla="val 383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74545"/>
              <a:ext cx="47625" cy="321373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3905" y="213360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5345" y="21678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推导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47597" y="2173605"/>
              <a:ext cx="33226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按定义展开一个 n 阶行列式要多少次乘法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7047" y="2507932"/>
              <a:ext cx="472859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 Sₙ 为按第一行展开计算 n 阶行列式所需的乘法次数。每个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− 1 阶余子式要算 Sₙ₋₁ 次乘法，再乘上对应元素算 1 次，共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项：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49"/>
                <p:cNvSpPr txBox="1">
                  <a:spLocks noGrp="1"/>
                </p:cNvSpPr>
                <p:nvPr/>
              </p:nvSpPr>
              <p:spPr>
                <a:xfrm>
                  <a:off x="763905" y="3302318"/>
                  <a:ext cx="4987290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6" name="TextBox 16"/>
            <p:cNvSpPr txBox="1"/>
            <p:nvPr/>
          </p:nvSpPr>
          <p:spPr>
            <a:xfrm>
              <a:off x="757047" y="3773805"/>
              <a:ext cx="450570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两边同除 n!，得 Sₙ/n! = Sₙ₋₁/(n−1)! + 1/(n−1)!，逐项累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formula50"/>
                <p:cNvSpPr txBox="1">
                  <a:spLocks noGrp="1"/>
                </p:cNvSpPr>
                <p:nvPr/>
              </p:nvSpPr>
              <p:spPr>
                <a:xfrm>
                  <a:off x="763905" y="4311015"/>
                  <a:ext cx="4987290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!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  <m:e>
                            <m:f>
                              <m:fPr>
                                <m:type m:val="bar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!</m:t>
                                </m:r>
                              </m:den>
                            </m:f>
                          </m:e>
                        </m:nary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→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!≈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1.718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!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0" name="c2-card-1"/>
          <p:cNvGrpSpPr/>
          <p:nvPr/>
        </p:nvGrpSpPr>
        <p:grpSpPr>
          <a:xfrm>
            <a:off x="6248400" y="1941195"/>
            <a:ext cx="5410200" cy="2095500"/>
            <a:chOff x="6248400" y="1941195"/>
            <a:chExt cx="5410200" cy="2095500"/>
          </a:xfrm>
        </p:grpSpPr>
        <p:sp>
          <p:nvSpPr>
            <p:cNvPr id="19" name="Rectangle 19"/>
            <p:cNvSpPr/>
            <p:nvPr/>
          </p:nvSpPr>
          <p:spPr>
            <a:xfrm>
              <a:off x="6248400" y="1941195"/>
              <a:ext cx="5410200" cy="2095500"/>
            </a:xfrm>
            <a:prstGeom prst="roundRect">
              <a:avLst>
                <a:gd name="adj" fmla="val 63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257925" y="2074545"/>
              <a:ext cx="47625" cy="182880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478905" y="2133600"/>
              <a:ext cx="91059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57466" y="2167890"/>
              <a:ext cx="7534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代入 n = 20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96937" y="2173605"/>
              <a:ext cx="28592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大约 (n + 1)·n! = (n + 1)! 次乘法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72047" y="2507932"/>
              <a:ext cx="473716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Cramer 法则要算 n + 1 个行列式，总乘法次数约 (n + 1)·n!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(n + 1)!。取 n = 20：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487478" y="3124200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643497" y="3068002"/>
              <a:ext cx="4229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21! = 51090942171709440000 ≈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5.11×10¹⁹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次乘法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487478" y="3426142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643497" y="3369945"/>
              <a:ext cx="36984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每秒 10¹¹ 次的机器：5.11×10⁸ 秒 ≈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16.2 年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73190" y="3668554"/>
              <a:ext cx="47207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Gauss 消去法解同一个方程组只要约 n³/3 ≈ 2700 次乘除，瞬间完成。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4211955"/>
            <a:ext cx="5410200" cy="1209675"/>
            <a:chOff x="6248400" y="4211955"/>
            <a:chExt cx="5410200" cy="1209675"/>
          </a:xfrm>
        </p:grpSpPr>
        <p:sp>
          <p:nvSpPr>
            <p:cNvPr id="31" name="Rectangle 31"/>
            <p:cNvSpPr/>
            <p:nvPr/>
          </p:nvSpPr>
          <p:spPr>
            <a:xfrm>
              <a:off x="6248400" y="4211955"/>
              <a:ext cx="5410200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57925" y="4345305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478905" y="440436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70345" y="443865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72047" y="4761548"/>
              <a:ext cx="471144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原课件手写页把 10¹¹ 标注为“百亿次”。百亿是 10¹⁰，千亿才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 10¹¹；按 10¹⁰ 算要 162 年。</a:t>
              </a:r>
            </a:p>
          </p:txBody>
        </p:sp>
      </p:grpSp>
      <p:grpSp>
        <p:nvGrpSpPr>
          <p:cNvPr id="42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37" name="Rectangle 37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0892" y="6023610"/>
              <a:ext cx="80101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数学上正确的公式，未必是计算机上能用的算法。判断一个公式能不能用，先估运算量，再看误差。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第1章 绪论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87918" cy="909257"/>
            <a:chOff x="520446" y="342900"/>
            <a:chExt cx="55879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0995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6603" y="407194"/>
              <a:ext cx="3343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绪论 · 计算方法概述：从实际问题到数值解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879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1.1.3 这门课的特点，以及该怎么学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card-1"/>
          <p:cNvGrpSpPr/>
          <p:nvPr/>
        </p:nvGrpSpPr>
        <p:grpSpPr>
          <a:xfrm>
            <a:off x="533400" y="1524000"/>
            <a:ext cx="5626418" cy="2962275"/>
            <a:chOff x="533400" y="1524000"/>
            <a:chExt cx="5626418" cy="29622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962275"/>
            </a:xfrm>
            <a:prstGeom prst="roundRect">
              <a:avLst>
                <a:gd name="adj" fmla="val 450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69557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3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课程特点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65922" y="1768792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既有数学的概括，又讲究实用和技巧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计算方法是一门与计算机应用紧密结合、实用性很强的数学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课程，涉及的数学问题面很广，内容丰富，自成体系。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1050" y="2737485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42899" y="27797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82040" y="2750820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面向计算机：算法最终只能包含四则运算和逻辑运算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1050" y="3072765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42899" y="311505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82040" y="308610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要有可靠的理论分析：算法的收敛性、稳定性及误差分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析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81050" y="3693795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42899" y="373608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82040" y="3707130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要注重算法的效率：计算时间与存储空间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81050" y="4029075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42899" y="407136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82040" y="4042410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要重视数值实验：结论最终要用算例检验</a:t>
              </a:r>
            </a:p>
          </p:txBody>
        </p:sp>
      </p:grpSp>
      <p:grpSp>
        <p:nvGrpSpPr>
          <p:cNvPr id="32" name="c1-callout-2"/>
          <p:cNvGrpSpPr/>
          <p:nvPr/>
        </p:nvGrpSpPr>
        <p:grpSpPr>
          <a:xfrm>
            <a:off x="533400" y="4676775"/>
            <a:ext cx="5626418" cy="1217295"/>
            <a:chOff x="533400" y="4676775"/>
            <a:chExt cx="5626418" cy="1217295"/>
          </a:xfrm>
        </p:grpSpPr>
        <p:sp>
          <p:nvSpPr>
            <p:cNvPr id="26" name="Rectangle 26"/>
            <p:cNvSpPr/>
            <p:nvPr/>
          </p:nvSpPr>
          <p:spPr>
            <a:xfrm>
              <a:off x="533400" y="4676775"/>
              <a:ext cx="5626418" cy="1217295"/>
            </a:xfrm>
            <a:prstGeom prst="roundRect">
              <a:avLst>
                <a:gd name="adj" fmla="val 939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38188" y="5185410"/>
              <a:ext cx="200026" cy="200025"/>
              <a:chOff x="738188" y="5185410"/>
              <a:chExt cx="200026" cy="200025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738188" y="518541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77926" y="522986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12642" y="534098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040130" y="5042535"/>
              <a:ext cx="46158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这四条正好对应本章后半部分：误差分析回答第 2 条，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运算量估计回答第 3 条。</a:t>
              </a:r>
            </a:p>
          </p:txBody>
        </p:sp>
      </p:grpSp>
      <p:grpSp>
        <p:nvGrpSpPr>
          <p:cNvPr id="46" name="c2-card-1"/>
          <p:cNvGrpSpPr/>
          <p:nvPr/>
        </p:nvGrpSpPr>
        <p:grpSpPr>
          <a:xfrm>
            <a:off x="6464618" y="1524000"/>
            <a:ext cx="5193982" cy="2577465"/>
            <a:chOff x="6464618" y="1524000"/>
            <a:chExt cx="5193982" cy="2577465"/>
          </a:xfrm>
        </p:grpSpPr>
        <p:sp>
          <p:nvSpPr>
            <p:cNvPr id="33" name="Rectangle 33"/>
            <p:cNvSpPr/>
            <p:nvPr/>
          </p:nvSpPr>
          <p:spPr>
            <a:xfrm>
              <a:off x="6464618" y="1524000"/>
              <a:ext cx="5193982" cy="2577465"/>
            </a:xfrm>
            <a:prstGeom prst="roundRect">
              <a:avLst>
                <a:gd name="adj" fmla="val 5174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674168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56476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学习方法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59992" y="1768792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三件事按顺序做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674167" y="2116455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36017" y="215874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975158" y="2129790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掌握构造方法的原理和思想，理解算法，会分析算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法精度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674167" y="2737485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36017" y="27797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975158" y="2750820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注重算法的效率和适用范围，针对不同情况学会选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择和设计算法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674167" y="3358515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36017" y="34008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975158" y="3371850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重视实践，通过算例和动手计算，学会在计算机上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解决各类数学计算问题</a:t>
              </a:r>
            </a:p>
          </p:txBody>
        </p:sp>
      </p:grpSp>
      <p:grpSp>
        <p:nvGrpSpPr>
          <p:cNvPr id="52" name="c2-card-2"/>
          <p:cNvGrpSpPr/>
          <p:nvPr/>
        </p:nvGrpSpPr>
        <p:grpSpPr>
          <a:xfrm>
            <a:off x="6464618" y="4291965"/>
            <a:ext cx="5193982" cy="1602105"/>
            <a:chOff x="6464618" y="4291965"/>
            <a:chExt cx="5193982" cy="1602105"/>
          </a:xfrm>
        </p:grpSpPr>
        <p:sp>
          <p:nvSpPr>
            <p:cNvPr id="47" name="Rectangle 47"/>
            <p:cNvSpPr/>
            <p:nvPr/>
          </p:nvSpPr>
          <p:spPr>
            <a:xfrm>
              <a:off x="6464618" y="4291965"/>
              <a:ext cx="5193982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474142" y="4425315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712268" y="450151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794576" y="453723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复习建议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704648" y="4878705"/>
              <a:ext cx="4396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每学一个公式，问自己三个问题：它的推导前提是什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么？误差有多大？运算量是多少？本章的误差工具就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是用来回答第二问的。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第1章 绪论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5F2EA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6336792" cy="2997517"/>
            <a:chOff x="667512" y="1835468"/>
            <a:chExt cx="6336792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774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1.2.1 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33679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计算机的浮点表示及算术运算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1255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机器里的数只有有限多个，而且在数轴上是不等距的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尾数与阶码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065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有限点集 S(k, m, M)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对阶、舍入与四条计算陷阱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第1章 绪论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绪论 · 计算机的浮点表示及算术运算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计算机里的实数：尾数加阶码，总共只有有限多个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410200" cy="2586038"/>
            <a:chOff x="533400" y="1524000"/>
            <a:chExt cx="5410200" cy="258603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586038"/>
            </a:xfrm>
            <a:prstGeom prst="roundRect">
              <a:avLst>
                <a:gd name="adj" fmla="val 51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319338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47597" y="175641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二进制规范化浮点表示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22218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实数 x 在计算机中被表示为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63"/>
                <p:cNvSpPr txBox="1">
                  <a:spLocks noGrp="1"/>
                </p:cNvSpPr>
                <p:nvPr/>
              </p:nvSpPr>
              <p:spPr>
                <a:xfrm>
                  <a:off x="763905" y="2370772"/>
                  <a:ext cx="4987290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=±</m:t>
                        </m:r>
                        <m: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0.</m:t>
                        </m:r>
                        <m:sSub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</m:e>
                          <m:sub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</m:e>
                          <m:sub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⋯</m:t>
                        </m:r>
                        <m:sSub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</m:e>
                          <m:sub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sSup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e>
                          <m:sup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57047" y="2917508"/>
              <a:ext cx="49384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其中 d₁ = 1，dᵢ 取 0 或 1（i = 2,3,…,k），且 −m ≤ p ≤ M。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7047" y="322040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零单独约定为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formula64"/>
                <p:cNvSpPr txBox="1">
                  <a:spLocks noGrp="1"/>
                </p:cNvSpPr>
                <p:nvPr/>
              </p:nvSpPr>
              <p:spPr>
                <a:xfrm>
                  <a:off x="763905" y="3500438"/>
                  <a:ext cx="498729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=±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0.00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⋯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sSup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9" name="c1-kv-2"/>
          <p:cNvGrpSpPr/>
          <p:nvPr/>
        </p:nvGrpSpPr>
        <p:grpSpPr>
          <a:xfrm>
            <a:off x="526542" y="4307205"/>
            <a:ext cx="5417058" cy="1965198"/>
            <a:chOff x="526542" y="4307205"/>
            <a:chExt cx="5417058" cy="1965198"/>
          </a:xfrm>
        </p:grpSpPr>
        <p:sp>
          <p:nvSpPr>
            <p:cNvPr id="18" name="TextBox 18"/>
            <p:cNvSpPr txBox="1"/>
            <p:nvPr/>
          </p:nvSpPr>
          <p:spPr>
            <a:xfrm>
              <a:off x="526542" y="4307205"/>
              <a:ext cx="13790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尾数 0.d₁d₂…dₖ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116264" y="4307205"/>
              <a:ext cx="32577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位二进制，决定有效位数，也就是精度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459676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26542" y="4705350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阶码 p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116264" y="4705350"/>
              <a:ext cx="2920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−m ≤ p ≤ M，决定能表示的数的范围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99395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6542" y="510349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规范化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116264" y="5103495"/>
              <a:ext cx="3459861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要求 d₁ = 1，既让每个非零数的表示唯一，又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让 k 位尾数全部用在有效数字上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564642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6542" y="5755005"/>
              <a:ext cx="9120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机器数集 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116264" y="5755005"/>
              <a:ext cx="3537013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全体可表示的数构成有限集 S(k, m, M)；k 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精度，m 与 M 定范围</a:t>
              </a:r>
            </a:p>
          </p:txBody>
        </p:sp>
      </p:grpSp>
      <p:grpSp>
        <p:nvGrpSpPr>
          <p:cNvPr id="44" name="c2-card-1"/>
          <p:cNvGrpSpPr/>
          <p:nvPr/>
        </p:nvGrpSpPr>
        <p:grpSpPr>
          <a:xfrm>
            <a:off x="6248400" y="1524000"/>
            <a:ext cx="5410200" cy="2603182"/>
            <a:chOff x="6248400" y="1524000"/>
            <a:chExt cx="5410200" cy="2603182"/>
          </a:xfrm>
        </p:grpSpPr>
        <p:sp>
          <p:nvSpPr>
            <p:cNvPr id="30" name="Rectangle 30"/>
            <p:cNvSpPr/>
            <p:nvPr/>
          </p:nvSpPr>
          <p:spPr>
            <a:xfrm>
              <a:off x="6248400" y="1524000"/>
              <a:ext cx="5410200" cy="2603182"/>
            </a:xfrm>
            <a:prstGeom prst="roundRect">
              <a:avLst>
                <a:gd name="adj" fmla="val 51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57925" y="1657350"/>
              <a:ext cx="47625" cy="233648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78905" y="171640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62344" y="175069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三个后果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29297" y="175641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有限位数带来的三件事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478905" y="2078355"/>
              <a:ext cx="192405" cy="1924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34583" y="211674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59702" y="2090738"/>
              <a:ext cx="446284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尾数只有 k 位：能表示的数只有有限个，记作 S = S(k, m,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M)。不在 S 中的数一律按四舍五入归到最近的机器数，这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就是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舍入误差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的来源。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478905" y="2894648"/>
              <a:ext cx="192405" cy="1924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34583" y="293398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59702" y="2907030"/>
              <a:ext cx="451427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阶码只有 −m 到 M：绝对值太大会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上溢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（超出表示范围），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太小会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下溢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（被当作 0）。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478905" y="3454718"/>
              <a:ext cx="192405" cy="19240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34583" y="349310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759702" y="3467100"/>
              <a:ext cx="437711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S 在实数轴上是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不等距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的有限点集：相对精度大致不变，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但相邻两个机器数的绝对间距随数值增大而成倍变大。</a:t>
              </a:r>
            </a:p>
          </p:txBody>
        </p:sp>
      </p:grpSp>
      <p:grpSp>
        <p:nvGrpSpPr>
          <p:cNvPr id="53" name="c2-card-2"/>
          <p:cNvGrpSpPr/>
          <p:nvPr/>
        </p:nvGrpSpPr>
        <p:grpSpPr>
          <a:xfrm>
            <a:off x="6248400" y="4302442"/>
            <a:ext cx="5410200" cy="1917382"/>
            <a:chOff x="6248400" y="4302442"/>
            <a:chExt cx="5410200" cy="1917382"/>
          </a:xfrm>
        </p:grpSpPr>
        <p:sp>
          <p:nvSpPr>
            <p:cNvPr id="45" name="Rectangle 45"/>
            <p:cNvSpPr/>
            <p:nvPr/>
          </p:nvSpPr>
          <p:spPr>
            <a:xfrm>
              <a:off x="6248400" y="4302442"/>
              <a:ext cx="5410200" cy="1917382"/>
            </a:xfrm>
            <a:prstGeom prst="roundRect">
              <a:avLst>
                <a:gd name="adj" fmla="val 69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57925" y="4435792"/>
              <a:ext cx="47625" cy="165068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78905" y="4494848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66345" y="452913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单精度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195947" y="4534852"/>
              <a:ext cx="15530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 位二进制的分配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472047" y="4869180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符号位 1 位，尾数 23 位，阶数 8 位：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formula65"/>
                <p:cNvSpPr txBox="1">
                  <a:spLocks noGrp="1"/>
                </p:cNvSpPr>
                <p:nvPr/>
              </p:nvSpPr>
              <p:spPr>
                <a:xfrm>
                  <a:off x="6478905" y="5149215"/>
                  <a:ext cx="4987290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=±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0.</m:t>
                        </m:r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⋯</m:t>
                        </m:r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sSup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e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sSup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e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7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52" name="TextBox 52"/>
            <p:cNvSpPr txBox="1"/>
            <p:nvPr/>
          </p:nvSpPr>
          <p:spPr>
            <a:xfrm>
              <a:off x="6473190" y="5597366"/>
              <a:ext cx="48965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 位阶数中须有 1 位表示阶的符号，所以阶数值只占 7 位，故 |p| ≤ 127。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第1章 绪论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19810" cy="909257"/>
            <a:chOff x="520446" y="342900"/>
            <a:chExt cx="711981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绪论 · 计算机的浮点表示及算术运算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1981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一个袖珍机器数集：S(3, 1, 2) 只有 33 个点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9372410" cy="293370"/>
            <a:chOff x="525780" y="1548765"/>
            <a:chExt cx="937241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93724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取 k = 3，m = 1，M = 2，即尾数 3 位、−1 ≤ p ≤ 2。把它们全部列出来，就能看清“不等距”是什么意思。</a:t>
              </a:r>
            </a:p>
          </p:txBody>
        </p:sp>
      </p:grpSp>
      <p:grpSp>
        <p:nvGrpSpPr>
          <p:cNvPr id="46" name="c1-table-1"/>
          <p:cNvGrpSpPr/>
          <p:nvPr/>
        </p:nvGrpSpPr>
        <p:grpSpPr>
          <a:xfrm>
            <a:off x="528066" y="1954530"/>
            <a:ext cx="5956554" cy="2401824"/>
            <a:chOff x="528066" y="1954530"/>
            <a:chExt cx="5956554" cy="2401824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951220" cy="42481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1078" y="208311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尾数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29528" y="2083118"/>
              <a:ext cx="38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×2⁻¹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468704" y="2083118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×2⁰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616467" y="2083118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×2¹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764229" y="2083118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×2²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29392" y="2506980"/>
              <a:ext cx="478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0.100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282838" y="250698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1/4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475368" y="250698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11979" y="250698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859742" y="250698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79844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803208"/>
              <a:ext cx="595122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29392" y="2931795"/>
              <a:ext cx="478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0.101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238413" y="2931795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5/16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475368" y="2931795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5/8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23130" y="2931795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5/4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770893" y="2931795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5/2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22326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29392" y="3356610"/>
              <a:ext cx="478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0.110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282838" y="335661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3/8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475368" y="335661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3/4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23130" y="335661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3/2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859742" y="33566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64712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3651885"/>
              <a:ext cx="595122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29392" y="3780472"/>
              <a:ext cx="478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0.111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238413" y="378047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7/16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475368" y="378047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7/8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623130" y="378047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7/4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770893" y="378047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7/2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1954530"/>
              <a:ext cx="5951220" cy="21221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1799272" y="195453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3035618" y="195453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4183380" y="195453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332095" y="195453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28066" y="4150995"/>
              <a:ext cx="41875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 个正的机器数，连同它们的相反数与 0，共 4×4×2 + 1 = 33 个点</a:t>
              </a:r>
            </a:p>
          </p:txBody>
        </p:sp>
      </p:grpSp>
      <p:grpSp>
        <p:nvGrpSpPr>
          <p:cNvPr id="52" name="c1-card-2"/>
          <p:cNvGrpSpPr/>
          <p:nvPr/>
        </p:nvGrpSpPr>
        <p:grpSpPr>
          <a:xfrm>
            <a:off x="533400" y="4495800"/>
            <a:ext cx="5951220" cy="1840230"/>
            <a:chOff x="533400" y="4495800"/>
            <a:chExt cx="5951220" cy="1840230"/>
          </a:xfrm>
        </p:grpSpPr>
        <p:sp>
          <p:nvSpPr>
            <p:cNvPr id="47" name="Rectangle 47"/>
            <p:cNvSpPr/>
            <p:nvPr/>
          </p:nvSpPr>
          <p:spPr>
            <a:xfrm>
              <a:off x="533400" y="4495800"/>
              <a:ext cx="5951220" cy="1840230"/>
            </a:xfrm>
            <a:prstGeom prst="roundRect">
              <a:avLst>
                <a:gd name="adj" fmla="val 7246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731520" y="469392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18959" y="47282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两件事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24281" y="5054441"/>
              <a:ext cx="528040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每提高一档阶码，这一段内相邻两点的间距就 </a:t>
              </a:r>
              <a:r>
                <a:rPr lang="zh-CN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翻一倍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：1/4 到 1/2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之间间距 1/16，2 到 7/2 之间间距 1/2。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24281" y="5643086"/>
              <a:ext cx="520827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最小正数是 1/4，最大数是 7/2。区间 (0, 1/4) 里除了 0 一个数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也没有，大于 7/2 的数一律上溢。</a:t>
              </a:r>
            </a:p>
          </p:txBody>
        </p:sp>
      </p:grpSp>
      <p:grpSp>
        <p:nvGrpSpPr>
          <p:cNvPr id="55" name="c2-image-1"/>
          <p:cNvGrpSpPr/>
          <p:nvPr/>
        </p:nvGrpSpPr>
        <p:grpSpPr>
          <a:xfrm>
            <a:off x="6789420" y="1954530"/>
            <a:ext cx="4869180" cy="2727579"/>
            <a:chOff x="6789420" y="1954530"/>
            <a:chExt cx="4869180" cy="2727579"/>
          </a:xfrm>
        </p:grpSpPr>
        <p:pic>
          <p:nvPicPr>
            <p:cNvPr id="53" name="Image 53"/>
            <p:cNvPicPr>
              <a:picLocks noChangeAspect="1"/>
            </p:cNvPicPr>
            <p:nvPr/>
          </p:nvPicPr>
          <p:blipFill>
            <a:blip r:embed="rId2"/>
            <a:srcRect l="0" t="16745" r="0" b="16745"/>
            <a:stretch>
              <a:fillRect/>
            </a:stretch>
          </p:blipFill>
          <p:spPr>
            <a:xfrm>
              <a:off x="6789420" y="1954530"/>
              <a:ext cx="4869180" cy="2428875"/>
            </a:xfrm>
            <a:prstGeom prst="roundRect">
              <a:avLst>
                <a:gd name="adj" fmla="val 5490"/>
              </a:avLst>
            </a:prstGeom>
          </p:spPr>
        </p:pic>
        <p:sp>
          <p:nvSpPr>
            <p:cNvPr id="54" name="TextBox 54"/>
            <p:cNvSpPr txBox="1"/>
            <p:nvPr/>
          </p:nvSpPr>
          <p:spPr>
            <a:xfrm>
              <a:off x="8158544" y="4476750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机器数就像刻度越往右越稀的尺子</a:t>
              </a:r>
            </a:p>
          </p:txBody>
        </p:sp>
      </p:grpSp>
      <p:grpSp>
        <p:nvGrpSpPr>
          <p:cNvPr id="61" name="c2-card-2"/>
          <p:cNvGrpSpPr/>
          <p:nvPr/>
        </p:nvGrpSpPr>
        <p:grpSpPr>
          <a:xfrm>
            <a:off x="6789420" y="4840605"/>
            <a:ext cx="4869180" cy="1522095"/>
            <a:chOff x="6789420" y="4840605"/>
            <a:chExt cx="4869180" cy="1522095"/>
          </a:xfrm>
        </p:grpSpPr>
        <p:sp>
          <p:nvSpPr>
            <p:cNvPr id="56" name="Rectangle 56"/>
            <p:cNvSpPr/>
            <p:nvPr/>
          </p:nvSpPr>
          <p:spPr>
            <a:xfrm>
              <a:off x="6789420" y="4840605"/>
              <a:ext cx="4869180" cy="1522095"/>
            </a:xfrm>
            <a:prstGeom prst="roundRect">
              <a:avLst>
                <a:gd name="adj" fmla="val 87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6798945" y="4973955"/>
              <a:ext cx="47625" cy="125539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7025640" y="503872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109079" y="507301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由此推出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018401" y="5399246"/>
              <a:ext cx="4216400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任意实数进机器都先被"吸"到最近的刻度上。刻度越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稀，这一次舍入丢掉的绝对量越大，所以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大数上的舍</a:t>
              </a:r>
              <a:br/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入误差绝对值更大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，但相对误差大体相当。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第1章 绪论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绪论 · 计算机的浮点表示及算术运算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浮点四则运算：先对阶，再计算，最后舍入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9593303" cy="308039"/>
            <a:chOff x="525399" y="1550194"/>
            <a:chExt cx="9593303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959330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设 S₁₀ 是全体形如 ±0.d₁d₂d₃d₄ × 10ᵖ 的 4 位十进制浮点数，1 ≤ d₁ ≤ 9，0 ≤ dᵢ ≤ 9，−9 ≤ p ≤ 10。</a:t>
              </a:r>
            </a:p>
          </p:txBody>
        </p:sp>
      </p:grpSp>
      <p:grpSp>
        <p:nvGrpSpPr>
          <p:cNvPr id="24" name="c1-card-1"/>
          <p:cNvGrpSpPr/>
          <p:nvPr/>
        </p:nvGrpSpPr>
        <p:grpSpPr>
          <a:xfrm>
            <a:off x="533400" y="1967865"/>
            <a:ext cx="4544378" cy="2823210"/>
            <a:chOff x="533400" y="1967865"/>
            <a:chExt cx="4544378" cy="2823210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4544378" cy="2823210"/>
            </a:xfrm>
            <a:prstGeom prst="roundRect">
              <a:avLst>
                <a:gd name="adj" fmla="val 47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101215"/>
              <a:ext cx="47625" cy="255651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81050" y="217741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3359" y="221313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运算规则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65922" y="221265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三条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1050" y="2560320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2899" y="260261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82040" y="2573655"/>
              <a:ext cx="35013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加减法先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对阶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（把阶码统一为较大者），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再计算，再舍入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1050" y="3181350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2899" y="322364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82040" y="3194685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乘除法直接运算（阶码相加或相减），结果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再舍入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81050" y="3802380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42899" y="384467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82040" y="381571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不在机器数系中的数一律作四舍五入处理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4573" y="4146709"/>
              <a:ext cx="361365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结果尾数首位为 0 或溢出一位时，还要做一次规范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化。</a:t>
              </a:r>
            </a:p>
          </p:txBody>
        </p:sp>
      </p:grpSp>
      <p:grpSp>
        <p:nvGrpSpPr>
          <p:cNvPr id="31" name="c1-callout-2"/>
          <p:cNvGrpSpPr/>
          <p:nvPr/>
        </p:nvGrpSpPr>
        <p:grpSpPr>
          <a:xfrm>
            <a:off x="533400" y="4980622"/>
            <a:ext cx="4544378" cy="1059180"/>
            <a:chOff x="533400" y="4980622"/>
            <a:chExt cx="4544378" cy="1059180"/>
          </a:xfrm>
        </p:grpSpPr>
        <p:sp>
          <p:nvSpPr>
            <p:cNvPr id="25" name="Rectangle 25"/>
            <p:cNvSpPr/>
            <p:nvPr/>
          </p:nvSpPr>
          <p:spPr>
            <a:xfrm>
              <a:off x="533400" y="4980622"/>
              <a:ext cx="4544378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38188" y="5410200"/>
              <a:ext cx="200026" cy="200026"/>
              <a:chOff x="738188" y="5410200"/>
              <a:chExt cx="200026" cy="20002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38188" y="541020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38200" y="54768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27088" y="551021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040130" y="5129212"/>
              <a:ext cx="36347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对阶时要把小数的阶码抬高，尾数右移，右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移出去的位就直接丢掉了，这是加减法唯一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的误差来源。</a:t>
              </a:r>
            </a:p>
          </p:txBody>
        </p:sp>
      </p:grpSp>
      <p:grpSp>
        <p:nvGrpSpPr>
          <p:cNvPr id="43" name="c2-card-1"/>
          <p:cNvGrpSpPr/>
          <p:nvPr/>
        </p:nvGrpSpPr>
        <p:grpSpPr>
          <a:xfrm>
            <a:off x="5382578" y="1967865"/>
            <a:ext cx="6276022" cy="4072890"/>
            <a:chOff x="5382578" y="1967865"/>
            <a:chExt cx="6276022" cy="4072890"/>
          </a:xfrm>
        </p:grpSpPr>
        <p:sp>
          <p:nvSpPr>
            <p:cNvPr id="32" name="Rectangle 32"/>
            <p:cNvSpPr/>
            <p:nvPr/>
          </p:nvSpPr>
          <p:spPr>
            <a:xfrm>
              <a:off x="5382578" y="1967865"/>
              <a:ext cx="6276022" cy="4072890"/>
            </a:xfrm>
            <a:prstGeom prst="roundRect">
              <a:avLst>
                <a:gd name="adj" fmla="val 32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92102" y="2101215"/>
              <a:ext cx="47625" cy="380619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630228" y="2177415"/>
              <a:ext cx="106965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703913" y="2213134"/>
              <a:ext cx="9232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1.1（一）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06565" y="2212658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加减法的三种典型情形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622608" y="2573655"/>
              <a:ext cx="28791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0.2015×10⁴ + 0.1911×10²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623751" y="2904649"/>
              <a:ext cx="499541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对阶：0.1911×10² = 0.001911×10⁴ ，舍入成 0.0019×10⁴ ；相加得</a:t>
              </a:r>
              <a:br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0.2034×10⁴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622608" y="3439478"/>
              <a:ext cx="29901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0.2015×10⁴ + 0.1911×10⁻¹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623751" y="3771424"/>
              <a:ext cx="535305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对阶：0.1911×10⁻¹ = 0.000001911×10⁴ ，舍入成 0.0000×10⁴ ；结果仍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是 </a:t>
              </a:r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0.2015×10⁴</a:t>
              </a: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 ，小数被整个吃掉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622608" y="4306252"/>
              <a:ext cx="28791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0.2015×10⁴ − 0.2008×10⁴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623751" y="4638199"/>
              <a:ext cx="54790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直接相减得 0.0007×10⁴ ，规范化为 </a:t>
              </a: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0.7000×10¹</a:t>
              </a: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 。原来两个数各有 4 位有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效数字，差只剩 </a:t>
              </a:r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 位</a:t>
              </a: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 ，后面三个 0 是补出来的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第1章 绪论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37677" cy="909257"/>
            <a:chOff x="520446" y="342900"/>
            <a:chExt cx="793767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绪论 · 计算机的浮点表示及算术运算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3767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1.1（二）：乘除法的阶码是相加相减，不是对阶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card-1"/>
          <p:cNvGrpSpPr/>
          <p:nvPr/>
        </p:nvGrpSpPr>
        <p:grpSpPr>
          <a:xfrm>
            <a:off x="533400" y="1524000"/>
            <a:ext cx="5626418" cy="2005965"/>
            <a:chOff x="533400" y="1524000"/>
            <a:chExt cx="5626418" cy="20059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005965"/>
            </a:xfrm>
            <a:prstGeom prst="roundRect">
              <a:avLst>
                <a:gd name="adj" fmla="val 66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3926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8486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2635" y="1769269"/>
              <a:ext cx="621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(4) 乘法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72590" y="1768792"/>
              <a:ext cx="31744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(0.2015×10⁴) × (0.1911×10⁻⁵)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1050" y="2116455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42899" y="215874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2040" y="2129790"/>
              <a:ext cx="39326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尾数相乘：0.2015 × 0.1911 = 0.03850665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1050" y="2451735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2899" y="24940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82040" y="2465070"/>
              <a:ext cx="2266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阶码相加：4 + (−5) = −1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1050" y="2787015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42899" y="28293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82040" y="280035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舍入并规范化：0.03850665 = 0.3851×10⁻¹ ，故结果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为 </a:t>
              </a: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0.3851×10⁻²</a:t>
              </a:r>
            </a:p>
          </p:txBody>
        </p:sp>
      </p:grpSp>
      <p:grpSp>
        <p:nvGrpSpPr>
          <p:cNvPr id="36" name="c1-card-2"/>
          <p:cNvGrpSpPr/>
          <p:nvPr/>
        </p:nvGrpSpPr>
        <p:grpSpPr>
          <a:xfrm>
            <a:off x="533400" y="3720465"/>
            <a:ext cx="5626418" cy="2005965"/>
            <a:chOff x="533400" y="3720465"/>
            <a:chExt cx="5626418" cy="2005965"/>
          </a:xfrm>
        </p:grpSpPr>
        <p:sp>
          <p:nvSpPr>
            <p:cNvPr id="22" name="Rectangle 22"/>
            <p:cNvSpPr/>
            <p:nvPr/>
          </p:nvSpPr>
          <p:spPr>
            <a:xfrm>
              <a:off x="533400" y="3720465"/>
              <a:ext cx="5626418" cy="2005965"/>
            </a:xfrm>
            <a:prstGeom prst="roundRect">
              <a:avLst>
                <a:gd name="adj" fmla="val 66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42925" y="3853815"/>
              <a:ext cx="47625" cy="173926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81050" y="3930015"/>
              <a:ext cx="78486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62635" y="3965734"/>
              <a:ext cx="621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(5) 除法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672590" y="3965258"/>
              <a:ext cx="31744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(0.2015×10⁴) ÷ (0.1911×10⁻⁵)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81050" y="4312920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2899" y="435521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82040" y="4326255"/>
              <a:ext cx="39326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尾数相除：0.2015 ÷ 0.1911 = 1.05442177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781050" y="4648200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42899" y="469049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82040" y="4661535"/>
              <a:ext cx="21556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阶码相减：4 − (−5) = 9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81050" y="4983480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42899" y="502577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82040" y="4996815"/>
              <a:ext cx="42538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舍入并规范化：1.0544 = 0.1054×10¹ ，故结果为</a:t>
              </a:r>
              <a:br/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0.1054×10¹⁰</a:t>
              </a:r>
            </a:p>
          </p:txBody>
        </p:sp>
      </p:grpSp>
      <p:grpSp>
        <p:nvGrpSpPr>
          <p:cNvPr id="44" name="c2-card-1"/>
          <p:cNvGrpSpPr/>
          <p:nvPr/>
        </p:nvGrpSpPr>
        <p:grpSpPr>
          <a:xfrm>
            <a:off x="6464618" y="1524000"/>
            <a:ext cx="5193982" cy="2203132"/>
            <a:chOff x="6464618" y="1524000"/>
            <a:chExt cx="5193982" cy="2203132"/>
          </a:xfrm>
        </p:grpSpPr>
        <p:sp>
          <p:nvSpPr>
            <p:cNvPr id="37" name="Rectangle 37"/>
            <p:cNvSpPr/>
            <p:nvPr/>
          </p:nvSpPr>
          <p:spPr>
            <a:xfrm>
              <a:off x="6464618" y="1524000"/>
              <a:ext cx="5193982" cy="2203132"/>
            </a:xfrm>
            <a:prstGeom prst="roundRect">
              <a:avLst>
                <a:gd name="adj" fmla="val 605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74142" y="1657350"/>
              <a:ext cx="47625" cy="19364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712268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80342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13295" y="1768792"/>
              <a:ext cx="34793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原课件把乘除法的第一步也写成“对阶”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704648" y="2129790"/>
              <a:ext cx="45491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58 页在 (4)(5) 两步后都标注“……对阶”。对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阶是加减法专有的步骤，目的是让两个尾数的小数点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对齐；乘除法不需要对阶，阶码直接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相加或相减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，尾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数直接相乘或相除。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705791" y="3318986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本讲义按正确写法给出三步，计算结果与原课件一致。</a:t>
              </a:r>
            </a:p>
          </p:txBody>
        </p:sp>
      </p:grpSp>
      <p:grpSp>
        <p:nvGrpSpPr>
          <p:cNvPr id="50" name="c2-callout-2"/>
          <p:cNvGrpSpPr/>
          <p:nvPr/>
        </p:nvGrpSpPr>
        <p:grpSpPr>
          <a:xfrm>
            <a:off x="6464618" y="3917632"/>
            <a:ext cx="5193982" cy="1808798"/>
            <a:chOff x="6464618" y="3917632"/>
            <a:chExt cx="5193982" cy="1808798"/>
          </a:xfrm>
        </p:grpSpPr>
        <p:sp>
          <p:nvSpPr>
            <p:cNvPr id="45" name="Rectangle 45"/>
            <p:cNvSpPr/>
            <p:nvPr/>
          </p:nvSpPr>
          <p:spPr>
            <a:xfrm>
              <a:off x="6464618" y="3917632"/>
              <a:ext cx="5193982" cy="1808798"/>
            </a:xfrm>
            <a:prstGeom prst="roundRect">
              <a:avLst>
                <a:gd name="adj" fmla="val 6319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669405" y="4722497"/>
              <a:ext cx="200023" cy="200023"/>
              <a:chOff x="6669405" y="4722497"/>
              <a:chExt cx="200023" cy="200023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6669405" y="47224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802755" y="47891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6971348" y="4441508"/>
              <a:ext cx="42062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乘除法只在最后舍入一次，相对误差不超过半个单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位末位；加减法在对阶时就已经丢位，所以加减法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反而是浮点运算里更危险的一步。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第1章 绪论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绪论 · 计算机的浮点表示及算术运算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浮点运算的四条陷阱：每一条都能让结果全错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410200" cy="1793558"/>
            <a:chOff x="533400" y="1524000"/>
            <a:chExt cx="5410200" cy="17935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793558"/>
            </a:xfrm>
            <a:prstGeom prst="roundRect">
              <a:avLst>
                <a:gd name="adj" fmla="val 74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2685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1096" y="173783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陷阱一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43228" y="174450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大数吃小数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061686"/>
              <a:ext cx="45646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绝对值相差悬殊的两个数相加减，小数在对阶时被整个舍掉（例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 的 (2)）。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7141" y="2585085"/>
              <a:ext cx="4731258" cy="5920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双精度里 1×10¹⁶ + 1 = 1×10¹⁶（已验算）。把 10 个 1 逐个加到 10¹⁶ 上，结果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仍是 10¹⁶ ；先把 10 个 1 加成 10 再加上去，结果就是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1.000000000000001×10¹⁶ 。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3482340"/>
            <a:ext cx="5410200" cy="2654618"/>
            <a:chOff x="533400" y="3482340"/>
            <a:chExt cx="5410200" cy="2654618"/>
          </a:xfrm>
        </p:grpSpPr>
        <p:sp>
          <p:nvSpPr>
            <p:cNvPr id="15" name="Rectangle 15"/>
            <p:cNvSpPr/>
            <p:nvPr/>
          </p:nvSpPr>
          <p:spPr>
            <a:xfrm>
              <a:off x="533400" y="3482340"/>
              <a:ext cx="5410200" cy="2654618"/>
            </a:xfrm>
            <a:prstGeom prst="roundRect">
              <a:avLst>
                <a:gd name="adj" fmla="val 50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615690"/>
              <a:ext cx="47625" cy="238791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52475" y="3663315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1096" y="369617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陷阱二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43228" y="3702844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相近的数相减，有效数字大量损失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5998" y="4019074"/>
              <a:ext cx="475970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两个前几位相同的数相减，相同的部分互相抵消，结果的有效位数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骤降（例 1.1 的 (3)）。绝对误差没变，相对误差被放大若干倍。</a:t>
              </a:r>
            </a:p>
          </p:txBody>
        </p:sp>
      </p:grpSp>
      <p:grpSp>
        <p:nvGrpSpPr>
          <p:cNvPr id="28" name="c2-card-1"/>
          <p:cNvGrpSpPr/>
          <p:nvPr/>
        </p:nvGrpSpPr>
        <p:grpSpPr>
          <a:xfrm>
            <a:off x="6248400" y="1524000"/>
            <a:ext cx="5410200" cy="1403032"/>
            <a:chOff x="6248400" y="1524000"/>
            <a:chExt cx="5410200" cy="1403032"/>
          </a:xfrm>
        </p:grpSpPr>
        <p:sp>
          <p:nvSpPr>
            <p:cNvPr id="22" name="Rectangle 22"/>
            <p:cNvSpPr/>
            <p:nvPr/>
          </p:nvSpPr>
          <p:spPr>
            <a:xfrm>
              <a:off x="6248400" y="1524000"/>
              <a:ext cx="5410200" cy="1403032"/>
            </a:xfrm>
            <a:prstGeom prst="roundRect">
              <a:avLst>
                <a:gd name="adj" fmla="val 95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57925" y="1657350"/>
              <a:ext cx="47625" cy="113633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467475" y="1704975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56096" y="173783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陷阱三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158228" y="174450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用绝对值很小的数作除数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60998" y="2061686"/>
              <a:ext cx="472719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相对被除数而言绝对值很小的数作除数，会产生绝对值很大的数，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甚至上溢；同时除数自身的误差被放大 1/y² 倍（例 1.1 的 (5)，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商到了 10¹⁰ 量级）。</a:t>
              </a:r>
            </a:p>
          </p:txBody>
        </p:sp>
      </p:grpSp>
      <p:grpSp>
        <p:nvGrpSpPr>
          <p:cNvPr id="37" name="c2-card-2"/>
          <p:cNvGrpSpPr/>
          <p:nvPr/>
        </p:nvGrpSpPr>
        <p:grpSpPr>
          <a:xfrm>
            <a:off x="6248400" y="3091815"/>
            <a:ext cx="5410200" cy="2177415"/>
            <a:chOff x="6248400" y="3091815"/>
            <a:chExt cx="5410200" cy="2177415"/>
          </a:xfrm>
        </p:grpSpPr>
        <p:sp>
          <p:nvSpPr>
            <p:cNvPr id="29" name="Rectangle 29"/>
            <p:cNvSpPr/>
            <p:nvPr/>
          </p:nvSpPr>
          <p:spPr>
            <a:xfrm>
              <a:off x="6248400" y="3091815"/>
              <a:ext cx="5410200" cy="2177415"/>
            </a:xfrm>
            <a:prstGeom prst="roundRect">
              <a:avLst>
                <a:gd name="adj" fmla="val 61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257925" y="3225165"/>
              <a:ext cx="47625" cy="191071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467475" y="3272790"/>
              <a:ext cx="56959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56519" y="3305651"/>
              <a:ext cx="3915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实验 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144893" y="3312319"/>
              <a:ext cx="30443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 1 − 0.2 − 0.2 − 0.2 − 0.2 − 0.2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60998" y="3629501"/>
              <a:ext cx="4634941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数学上答案是 0，双精度实际算出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5.551115123125783×10⁻¹⁷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，不等于 0。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60998" y="4157186"/>
              <a:ext cx="481660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原因：0.2 化成二进制是无限循环小数，存进机器时已被舍入成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0.200000000000000011…，五次相减把这点偏差累积下来，最后又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碰上相近数相减，结果只剩下纯误差。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62141" y="4924425"/>
              <a:ext cx="37494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所以浮点数之间 </a:t>
              </a:r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不要用等号判断</a:t>
              </a: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，要改成判断 |a − b| &lt; ε 。</a:t>
              </a:r>
            </a:p>
          </p:txBody>
        </p:sp>
      </p:grpSp>
      <p:grpSp>
        <p:nvGrpSpPr>
          <p:cNvPr id="43" name="c2-callout-3"/>
          <p:cNvGrpSpPr/>
          <p:nvPr/>
        </p:nvGrpSpPr>
        <p:grpSpPr>
          <a:xfrm>
            <a:off x="6248400" y="5434012"/>
            <a:ext cx="5410200" cy="702945"/>
            <a:chOff x="6248400" y="5434012"/>
            <a:chExt cx="5410200" cy="702945"/>
          </a:xfrm>
        </p:grpSpPr>
        <p:sp>
          <p:nvSpPr>
            <p:cNvPr id="38" name="Rectangle 38"/>
            <p:cNvSpPr/>
            <p:nvPr/>
          </p:nvSpPr>
          <p:spPr>
            <a:xfrm>
              <a:off x="6248400" y="5434012"/>
              <a:ext cx="5410200" cy="702945"/>
            </a:xfrm>
            <a:prstGeom prst="roundRect">
              <a:avLst>
                <a:gd name="adj" fmla="val 16260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6453188" y="5685475"/>
              <a:ext cx="200023" cy="200023"/>
              <a:chOff x="6453188" y="5685475"/>
              <a:chExt cx="200023" cy="200023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6453188" y="56854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586538" y="57521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6756273" y="5579269"/>
              <a:ext cx="44020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第四条是总的原则：合理安排运算顺序，以提高精度或保护重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要的参数。求和时从小到大加，就是这条原则最常见的用法。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第1章 绪论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0361" cy="909257"/>
            <a:chOff x="520446" y="342900"/>
            <a:chExt cx="82603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绪论 · 计算机的浮点表示及算术运算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03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1.2：同一个求根公式，换一种写法精度差 2000 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249628" cy="264033"/>
            <a:chOff x="526542" y="1545907"/>
            <a:chExt cx="5249628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2496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在前述 4 位十进制浮点机（数集 S₁₀）上求解 x² − 24x + 1 = 0。</a:t>
              </a:r>
            </a:p>
          </p:txBody>
        </p:sp>
      </p:grpSp>
      <p:grpSp>
        <p:nvGrpSpPr>
          <p:cNvPr id="23" name="c1-card-1"/>
          <p:cNvGrpSpPr/>
          <p:nvPr/>
        </p:nvGrpSpPr>
        <p:grpSpPr>
          <a:xfrm>
            <a:off x="533400" y="1928812"/>
            <a:ext cx="5626418" cy="1999298"/>
            <a:chOff x="533400" y="1928812"/>
            <a:chExt cx="5626418" cy="199929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626418" cy="1999298"/>
            </a:xfrm>
            <a:prstGeom prst="roundRect">
              <a:avLst>
                <a:gd name="adj" fmla="val 66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173259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2475" y="2109788"/>
              <a:ext cx="120491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22744" y="214264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按求根公式直接算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5998" y="2449354"/>
              <a:ext cx="37521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求根公式给出 x₁ = 12 + √143，x₂ = 12 − √143。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52475" y="2723198"/>
              <a:ext cx="180975" cy="18097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4382" y="275882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22223" y="2735104"/>
              <a:ext cx="48980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√143 = 11.958260743…，机器上取 4 位得 0.1196×10² = 11.96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52475" y="3008948"/>
              <a:ext cx="180975" cy="18097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4382" y="304361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22223" y="3019901"/>
              <a:ext cx="24081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x₁ = 12 + 11.96 = 0.2396×10²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52475" y="3293745"/>
              <a:ext cx="180975" cy="18097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04382" y="332936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22223" y="3304699"/>
              <a:ext cx="465444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x₂ = 12 − 11.96 = </a:t>
              </a:r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0.4000×10⁻¹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（精确解 0.0417393…，只对了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位）</a:t>
              </a:r>
            </a:p>
          </p:txBody>
        </p:sp>
      </p:grpSp>
      <p:grpSp>
        <p:nvGrpSpPr>
          <p:cNvPr id="30" name="c1-card-2"/>
          <p:cNvGrpSpPr/>
          <p:nvPr/>
        </p:nvGrpSpPr>
        <p:grpSpPr>
          <a:xfrm>
            <a:off x="533400" y="4092892"/>
            <a:ext cx="5626418" cy="1610678"/>
            <a:chOff x="533400" y="4092892"/>
            <a:chExt cx="5626418" cy="1610678"/>
          </a:xfrm>
        </p:grpSpPr>
        <p:sp>
          <p:nvSpPr>
            <p:cNvPr id="24" name="Rectangle 24"/>
            <p:cNvSpPr/>
            <p:nvPr/>
          </p:nvSpPr>
          <p:spPr>
            <a:xfrm>
              <a:off x="533400" y="4092892"/>
              <a:ext cx="5626418" cy="1610678"/>
            </a:xfrm>
            <a:prstGeom prst="roundRect">
              <a:avLst>
                <a:gd name="adj" fmla="val 82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42925" y="4226242"/>
              <a:ext cx="47625" cy="134397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52475" y="4273868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33946" y="430672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换一种算法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45998" y="4613434"/>
              <a:ext cx="406069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由韦达定理 x₁x₂ = 1，把 x₂ 改写成不含相减的形式，得</a:t>
              </a:r>
              <a:br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0.4174×10⁻¹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formula73"/>
                <p:cNvSpPr txBox="1">
                  <a:spLocks noGrp="1"/>
                </p:cNvSpPr>
                <p:nvPr/>
              </p:nvSpPr>
              <p:spPr>
                <a:xfrm>
                  <a:off x="752475" y="5120640"/>
                  <a:ext cx="5226368" cy="38576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b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radPr>
                          <m:deg/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143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12</m:t>
                            </m:r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143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23.96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0.04173622</m:t>
                        </m:r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⋯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58" name="c2-table-1"/>
          <p:cNvGrpSpPr/>
          <p:nvPr/>
        </p:nvGrpSpPr>
        <p:grpSpPr>
          <a:xfrm>
            <a:off x="6459665" y="1928812"/>
            <a:ext cx="5198935" cy="1976152"/>
            <a:chOff x="6459665" y="1928812"/>
            <a:chExt cx="5198935" cy="1976152"/>
          </a:xfrm>
        </p:grpSpPr>
        <p:sp>
          <p:nvSpPr>
            <p:cNvPr id="31" name="Rectangle 31"/>
            <p:cNvSpPr/>
            <p:nvPr/>
          </p:nvSpPr>
          <p:spPr>
            <a:xfrm>
              <a:off x="6464618" y="1928812"/>
              <a:ext cx="5193982" cy="38100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012496" y="204597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量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220837" y="204597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精确值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500807" y="204597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机器算得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747629" y="204597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相对误差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59296" y="2426970"/>
              <a:ext cx="1005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x₁ = 12 + √143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044148" y="2426970"/>
              <a:ext cx="788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23.9582607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589151" y="242697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23.96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719359" y="2426970"/>
              <a:ext cx="632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7.3×10⁻⁵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464618" y="268700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464618" y="2691765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59296" y="2808923"/>
              <a:ext cx="1005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x₂ = 12 − √143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044148" y="2808923"/>
              <a:ext cx="788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0.04173926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511408" y="2808923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0.04000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0421302" y="2701290"/>
              <a:ext cx="1227772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680487" y="2808923"/>
              <a:ext cx="710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4.17×10⁻²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464618" y="306800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59296" y="3189923"/>
              <a:ext cx="948785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x₂ = 1/(12 + √</a:t>
              </a:r>
              <a:br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143)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044148" y="3283268"/>
              <a:ext cx="788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0.04173926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511408" y="3283268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0.04174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10421302" y="3082290"/>
              <a:ext cx="1227772" cy="54864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0719359" y="3283268"/>
              <a:ext cx="632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1.8×10⁻⁵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464618" y="1928812"/>
              <a:ext cx="5193982" cy="17125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7706678" y="1928812"/>
              <a:ext cx="9525" cy="1712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9161145" y="1928812"/>
              <a:ext cx="9525" cy="1712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10407015" y="1928812"/>
              <a:ext cx="9525" cy="1712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459665" y="3714274"/>
              <a:ext cx="28199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三行都用 √143 的同一个 4 位近似值 11.96 算出</a:t>
              </a:r>
            </a:p>
          </p:txBody>
        </p:sp>
      </p:grpSp>
      <p:grpSp>
        <p:nvGrpSpPr>
          <p:cNvPr id="64" name="c2-card-2"/>
          <p:cNvGrpSpPr/>
          <p:nvPr/>
        </p:nvGrpSpPr>
        <p:grpSpPr>
          <a:xfrm>
            <a:off x="6464618" y="4030980"/>
            <a:ext cx="5193982" cy="1672590"/>
            <a:chOff x="6464618" y="4030980"/>
            <a:chExt cx="5193982" cy="1672590"/>
          </a:xfrm>
        </p:grpSpPr>
        <p:sp>
          <p:nvSpPr>
            <p:cNvPr id="59" name="Rectangle 59"/>
            <p:cNvSpPr/>
            <p:nvPr/>
          </p:nvSpPr>
          <p:spPr>
            <a:xfrm>
              <a:off x="6464618" y="4030980"/>
              <a:ext cx="5193982" cy="1672590"/>
            </a:xfrm>
            <a:prstGeom prst="roundRect">
              <a:avLst>
                <a:gd name="adj" fmla="val 7973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645592" y="421195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738264" y="424481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原因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639116" y="4552474"/>
              <a:ext cx="459714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12 与 11.96 相近，相减后整数位全部抵消，√143 的舍入误差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（约 0.0017）成了结果的全部误差；分母 12 + 11.96 是同号数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相加，不抵消，误差按相对误差原样传下去。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640259" y="5319712"/>
              <a:ext cx="35444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判断依据：看这一步里两个数是否接近，接近就换写法。</a:t>
              </a:r>
            </a:p>
          </p:txBody>
        </p:sp>
      </p:grpSp>
      <p:grpSp>
        <p:nvGrpSpPr>
          <p:cNvPr id="71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5" name="Rectangle 65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1041273" y="6039326"/>
              <a:ext cx="68365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一元二次方程求根的通用做法：先算绝对值较大的那个根，另一个根用 x₁x₂ = c/a 得到。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第1章 绪论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5F2EA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801868" cy="2997517"/>
            <a:chOff x="667512" y="1835468"/>
            <a:chExt cx="5801868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774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1.2.2 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误差从哪里来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7919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科学计算的每一个环节都会引入误差，对应四种不同的名字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模型误差与观测误差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方法误差（截断误差）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舍入误差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第1章 绪论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绪论 · 误差从哪里来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四类误差，分别产生在科学计算的哪一环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5" name="c1-flow-1"/>
          <p:cNvGrpSpPr/>
          <p:nvPr/>
        </p:nvGrpSpPr>
        <p:grpSpPr>
          <a:xfrm>
            <a:off x="666750" y="1638300"/>
            <a:ext cx="10858500" cy="1771650"/>
            <a:chOff x="666750" y="1638300"/>
            <a:chExt cx="10858500" cy="1771650"/>
          </a:xfrm>
        </p:grpSpPr>
        <p:sp>
          <p:nvSpPr>
            <p:cNvPr id="7" name="Freeform 7"/>
            <p:cNvSpPr/>
            <p:nvPr/>
          </p:nvSpPr>
          <p:spPr>
            <a:xfrm>
              <a:off x="2254568" y="252412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416492" y="24717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4108132" y="252412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270058" y="24717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5962650" y="252412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6124575" y="24717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7817168" y="252412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7979092" y="24717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9670732" y="252412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9832658" y="24717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3314700" y="2076450"/>
              <a:ext cx="9525" cy="123825"/>
            </a:xfrm>
            <a:custGeom>
              <a:avLst/>
              <a:gdLst/>
              <a:ahLst/>
              <a:cxnLst/>
              <a:rect l="l" t="t" r="r" b="b"/>
              <a:pathLst>
                <a:path w="9525" h="123825">
                  <a:moveTo>
                    <a:pt x="0" y="0"/>
                  </a:moveTo>
                  <a:lnTo>
                    <a:pt x="0" y="123825"/>
                  </a:lnTo>
                </a:path>
              </a:pathLst>
            </a:custGeom>
            <a:noFill/>
            <a:ln w="15240">
              <a:solidFill>
                <a:srgbClr val="5B6475"/>
              </a:solidFill>
              <a:custDash>
                <a:ds d="375000" sp="250000"/>
              </a:custDash>
            </a:ln>
          </p:spPr>
        </p:sp>
        <p:sp>
          <p:nvSpPr>
            <p:cNvPr id="18" name="Freeform 18"/>
            <p:cNvSpPr/>
            <p:nvPr/>
          </p:nvSpPr>
          <p:spPr>
            <a:xfrm>
              <a:off x="3262312" y="22002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5169218" y="2076450"/>
              <a:ext cx="9525" cy="123825"/>
            </a:xfrm>
            <a:custGeom>
              <a:avLst/>
              <a:gdLst/>
              <a:ahLst/>
              <a:cxnLst/>
              <a:rect l="l" t="t" r="r" b="b"/>
              <a:pathLst>
                <a:path w="9525" h="123825">
                  <a:moveTo>
                    <a:pt x="0" y="0"/>
                  </a:moveTo>
                  <a:lnTo>
                    <a:pt x="0" y="123825"/>
                  </a:lnTo>
                </a:path>
              </a:pathLst>
            </a:custGeom>
            <a:noFill/>
            <a:ln w="15240">
              <a:solidFill>
                <a:srgbClr val="5B6475"/>
              </a:solidFill>
              <a:custDash>
                <a:ds d="375000" sp="250000"/>
              </a:custDash>
            </a:ln>
          </p:spPr>
        </p:sp>
        <p:sp>
          <p:nvSpPr>
            <p:cNvPr id="20" name="Freeform 20"/>
            <p:cNvSpPr/>
            <p:nvPr/>
          </p:nvSpPr>
          <p:spPr>
            <a:xfrm>
              <a:off x="5116830" y="22002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8877300" y="2076450"/>
              <a:ext cx="9525" cy="28575"/>
            </a:xfrm>
            <a:custGeom>
              <a:avLst/>
              <a:gdLst/>
              <a:ahLst/>
              <a:cxnLst/>
              <a:rect l="l" t="t" r="r" b="b"/>
              <a:pathLst>
                <a:path w="9525" h="28575">
                  <a:moveTo>
                    <a:pt x="0" y="0"/>
                  </a:moveTo>
                  <a:lnTo>
                    <a:pt x="0" y="28575"/>
                  </a:lnTo>
                </a:path>
              </a:pathLst>
            </a:custGeom>
            <a:noFill/>
            <a:ln w="15240">
              <a:solidFill>
                <a:srgbClr val="5B6475"/>
              </a:solidFill>
              <a:custDash>
                <a:ds d="375000" sp="250000"/>
              </a:custDash>
            </a:ln>
          </p:spPr>
        </p:sp>
        <p:sp>
          <p:nvSpPr>
            <p:cNvPr id="22" name="Freeform 22"/>
            <p:cNvSpPr/>
            <p:nvPr/>
          </p:nvSpPr>
          <p:spPr>
            <a:xfrm>
              <a:off x="8824912" y="21050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1460182" y="2847975"/>
              <a:ext cx="9525" cy="123825"/>
            </a:xfrm>
            <a:custGeom>
              <a:avLst/>
              <a:gdLst/>
              <a:ahLst/>
              <a:cxnLst/>
              <a:rect l="l" t="t" r="r" b="b"/>
              <a:pathLst>
                <a:path w="9525" h="123825">
                  <a:moveTo>
                    <a:pt x="0" y="12382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  <a:custDash>
                <a:ds d="375000" sp="250000"/>
              </a:custDash>
            </a:ln>
          </p:spPr>
        </p:sp>
        <p:sp>
          <p:nvSpPr>
            <p:cNvPr id="24" name="Freeform 24"/>
            <p:cNvSpPr/>
            <p:nvPr/>
          </p:nvSpPr>
          <p:spPr>
            <a:xfrm>
              <a:off x="1407795" y="27432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2521268" y="1638300"/>
              <a:ext cx="1587818" cy="438150"/>
            </a:xfrm>
            <a:prstGeom prst="roundRect">
              <a:avLst>
                <a:gd name="adj" fmla="val 17391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374832" y="1638300"/>
              <a:ext cx="1587818" cy="438150"/>
            </a:xfrm>
            <a:prstGeom prst="roundRect">
              <a:avLst>
                <a:gd name="adj" fmla="val 17391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8083868" y="1638300"/>
              <a:ext cx="1587818" cy="438150"/>
            </a:xfrm>
            <a:prstGeom prst="roundRect">
              <a:avLst>
                <a:gd name="adj" fmla="val 17391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66750" y="2305050"/>
              <a:ext cx="1587818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2521268" y="2305050"/>
              <a:ext cx="1587818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374832" y="2305050"/>
              <a:ext cx="1587818" cy="438150"/>
            </a:xfrm>
            <a:prstGeom prst="roundRect">
              <a:avLst>
                <a:gd name="adj" fmla="val 21739"/>
              </a:avLst>
            </a:prstGeom>
            <a:solidFill>
              <a:srgbClr val="E5F2EA"/>
            </a:solidFill>
            <a:ln w="19050">
              <a:solidFill>
                <a:srgbClr val="2E7D4F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29350" y="2305050"/>
              <a:ext cx="1587818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8083868" y="2209800"/>
              <a:ext cx="1587818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9937432" y="2305050"/>
              <a:ext cx="1587818" cy="43815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66750" y="2971800"/>
              <a:ext cx="1587818" cy="438150"/>
            </a:xfrm>
            <a:prstGeom prst="roundRect">
              <a:avLst>
                <a:gd name="adj" fmla="val 17391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963596" y="176831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模型误差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818113" y="176831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方法误差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526196" y="176831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舍入误差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09078" y="243506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实际问题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963596" y="243506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数学模型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818113" y="243506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数值方法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71678" y="243506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程序设计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626983" y="2325529"/>
              <a:ext cx="50063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553027" y="243506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解答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09078" y="310181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观测误差</a:t>
              </a:r>
            </a:p>
          </p:txBody>
        </p:sp>
      </p:grpSp>
      <p:grpSp>
        <p:nvGrpSpPr>
          <p:cNvPr id="57" name="c1-kv-2"/>
          <p:cNvGrpSpPr/>
          <p:nvPr/>
        </p:nvGrpSpPr>
        <p:grpSpPr>
          <a:xfrm>
            <a:off x="525780" y="3739515"/>
            <a:ext cx="11132820" cy="1895475"/>
            <a:chOff x="525780" y="3739515"/>
            <a:chExt cx="11132820" cy="1895475"/>
          </a:xfrm>
        </p:grpSpPr>
        <p:sp>
          <p:nvSpPr>
            <p:cNvPr id="46" name="TextBox 46"/>
            <p:cNvSpPr txBox="1"/>
            <p:nvPr/>
          </p:nvSpPr>
          <p:spPr>
            <a:xfrm>
              <a:off x="525780" y="37395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模型误差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566862" y="3739515"/>
              <a:ext cx="97078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把实际问题抽象成数学模型时，忽略次要因素造成的偏差。模型一旦定下来，这部分误差再怎么精算也消不掉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3400" y="405955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25780" y="417957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观测误差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566862" y="4179570"/>
              <a:ext cx="95059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模型中的参数、初值往往由测量得到，仪器精度带来的偏差；它和模型误差一样，在动手计算之前就已存在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3400" y="449961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25780" y="46196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方法误差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566862" y="4619625"/>
              <a:ext cx="941641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用有限步的数值方法代替无穷过程或精确公式产生的偏差，也叫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截断误差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，例如用 Taylor 多项式代替 eˣ、用折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线代替曲线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33400" y="522160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25780" y="534162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舍入误差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566862" y="5341620"/>
              <a:ext cx="70827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机器字长有限，每一步运算的结果都要舍入到最近的机器数，一步一步累积起来</a:t>
              </a:r>
            </a:p>
          </p:txBody>
        </p:sp>
      </p:grpSp>
      <p:grpSp>
        <p:nvGrpSpPr>
          <p:cNvPr id="63" name="c1-callout-3"/>
          <p:cNvGrpSpPr/>
          <p:nvPr/>
        </p:nvGrpSpPr>
        <p:grpSpPr>
          <a:xfrm>
            <a:off x="533400" y="5766435"/>
            <a:ext cx="11125200" cy="596265"/>
            <a:chOff x="533400" y="5766435"/>
            <a:chExt cx="11125200" cy="596265"/>
          </a:xfrm>
        </p:grpSpPr>
        <p:sp>
          <p:nvSpPr>
            <p:cNvPr id="58" name="Rectangle 58"/>
            <p:cNvSpPr/>
            <p:nvPr/>
          </p:nvSpPr>
          <p:spPr>
            <a:xfrm>
              <a:off x="533400" y="5766435"/>
              <a:ext cx="11125200" cy="596265"/>
            </a:xfrm>
            <a:prstGeom prst="roundRect">
              <a:avLst>
                <a:gd name="adj" fmla="val 19169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38188" y="5964557"/>
              <a:ext cx="200023" cy="200023"/>
              <a:chOff x="738188" y="5964557"/>
              <a:chExt cx="200023" cy="200023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38188" y="596455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71538" y="603123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040130" y="5959792"/>
              <a:ext cx="103136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计算方法这门课只能管住后两类：方法误差靠余项公式估计并据此选步长，舍入误差靠选择数值稳定的算法来抑制。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第1章 绪论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绪论 · 误差从哪里来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算地球表面积：四类误差一次看全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5243998" cy="308039"/>
            <a:chOff x="525399" y="1550194"/>
            <a:chExt cx="5243998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524399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用公式 A = 4πR² 计算地球的表面积，取 R = 6371 km。</a:t>
              </a:r>
            </a:p>
          </p:txBody>
        </p:sp>
      </p:grpSp>
      <p:grpSp>
        <p:nvGrpSpPr>
          <p:cNvPr id="26" name="c1-card-1"/>
          <p:cNvGrpSpPr/>
          <p:nvPr/>
        </p:nvGrpSpPr>
        <p:grpSpPr>
          <a:xfrm>
            <a:off x="533400" y="1967865"/>
            <a:ext cx="5410200" cy="4339590"/>
            <a:chOff x="533400" y="1967865"/>
            <a:chExt cx="5410200" cy="4339590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410200" cy="4339590"/>
            </a:xfrm>
            <a:prstGeom prst="roundRect">
              <a:avLst>
                <a:gd name="adj" fmla="val 30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101215"/>
              <a:ext cx="47625" cy="407289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81050" y="217741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3359" y="221313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逐条对号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65922" y="2212658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这一个公式里四类误差都有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1050" y="2560320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2899" y="260261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82040" y="2573655"/>
              <a:ext cx="4396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模型误差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：地球并不是球，是两极略扁的旋转椭球，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还有山脉和海沟。把它当成球，这一步的偏差与后面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算得多准无关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1050" y="3467100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2899" y="350939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82040" y="3480435"/>
              <a:ext cx="47030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观测误差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：半径 R = 6371 km 是测量值，本身带误差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81050" y="3802380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42899" y="384467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82040" y="3815715"/>
              <a:ext cx="43681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方法误差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：π 是无理数，计算时只能取有限位，例如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3.14 或 3.1416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81050" y="4423410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42899" y="446570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82040" y="4436745"/>
              <a:ext cx="44062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舍入误差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：4、π、R、R² 每一次乘法的结果在机器里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都要舍入</a:t>
              </a:r>
            </a:p>
          </p:txBody>
        </p:sp>
      </p:grpSp>
      <p:grpSp>
        <p:nvGrpSpPr>
          <p:cNvPr id="38" name="c2-card-1"/>
          <p:cNvGrpSpPr/>
          <p:nvPr/>
        </p:nvGrpSpPr>
        <p:grpSpPr>
          <a:xfrm>
            <a:off x="6248400" y="1967865"/>
            <a:ext cx="5410200" cy="3089910"/>
            <a:chOff x="6248400" y="1967865"/>
            <a:chExt cx="5410200" cy="3089910"/>
          </a:xfrm>
        </p:grpSpPr>
        <p:sp>
          <p:nvSpPr>
            <p:cNvPr id="27" name="Rectangle 27"/>
            <p:cNvSpPr/>
            <p:nvPr/>
          </p:nvSpPr>
          <p:spPr>
            <a:xfrm>
              <a:off x="6248400" y="1967865"/>
              <a:ext cx="5410200" cy="3089910"/>
            </a:xfrm>
            <a:prstGeom prst="roundRect">
              <a:avLst>
                <a:gd name="adj" fmla="val 43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57925" y="2101215"/>
              <a:ext cx="47625" cy="282321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496050" y="2177415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65557" y="221313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量一量各占多少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501765" y="261747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59880" y="2554605"/>
              <a:ext cx="3282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精确值（R = 6371，π 取双精度）：A ≈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5.10064×10⁸ km²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501765" y="323850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659880" y="3175635"/>
              <a:ext cx="43110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差 1 km：dA = 8πR·dR ≈ 1.60×10⁵ km²，相对误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差 2·(1/6371) ≈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0.031%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501765" y="385953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659880" y="3796665"/>
              <a:ext cx="38728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π 取 3.14：A ≈ 5.09806×10⁸ km²，相对误差</a:t>
              </a:r>
              <a:br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−0.051%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89573" y="4413409"/>
              <a:ext cx="475157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半径的相对误差在结果里被放大 2 倍（因为 R 是平方），π 的相对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误差则原样传过来。这正是 1.2.4 节误差传播公式的结论。</a:t>
              </a:r>
            </a:p>
          </p:txBody>
        </p:sp>
      </p:grpSp>
      <p:grpSp>
        <p:nvGrpSpPr>
          <p:cNvPr id="45" name="c2-callout-2"/>
          <p:cNvGrpSpPr/>
          <p:nvPr/>
        </p:nvGrpSpPr>
        <p:grpSpPr>
          <a:xfrm>
            <a:off x="6248400" y="5247322"/>
            <a:ext cx="5410200" cy="1059180"/>
            <a:chOff x="6248400" y="5247322"/>
            <a:chExt cx="5410200" cy="1059180"/>
          </a:xfrm>
        </p:grpSpPr>
        <p:sp>
          <p:nvSpPr>
            <p:cNvPr id="39" name="Rectangle 39"/>
            <p:cNvSpPr/>
            <p:nvPr/>
          </p:nvSpPr>
          <p:spPr>
            <a:xfrm>
              <a:off x="6248400" y="5247322"/>
              <a:ext cx="5410200" cy="1059180"/>
            </a:xfrm>
            <a:prstGeom prst="roundRect">
              <a:avLst>
                <a:gd name="adj" fmla="val 10791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6441129" y="5673208"/>
              <a:ext cx="224134" cy="192560"/>
              <a:chOff x="6441129" y="5673208"/>
              <a:chExt cx="224134" cy="19256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6553200" y="574357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441129" y="567320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553200" y="58213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6755130" y="5395912"/>
              <a:ext cx="45300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这里 π 取 3.14 造成的误差，比半径差 1 km 还大。精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度不够时，先找最大的那一项，而不是把每一项都往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细里算。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第1章 绪论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34710" cy="909257"/>
            <a:chOff x="520446" y="342900"/>
            <a:chExt cx="553471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绪论 · 误差从哪里来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3471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1.3：方法误差可以事先算出上界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716486" cy="264033"/>
            <a:chOff x="526542" y="1545907"/>
            <a:chExt cx="5716486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7164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为了计算函数值 eˣ（|x| &lt; 1），用 Taylor 多项式 Pₙ(x) 近似代替它。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92"/>
              <p:cNvSpPr txBox="1">
                <a:spLocks noGrp="1"/>
              </p:cNvSpPr>
              <p:nvPr/>
            </p:nvSpPr>
            <p:spPr>
              <a:xfrm>
                <a:off x="533400" y="1928812"/>
                <a:ext cx="4544378" cy="4886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p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!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+⋯+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p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p>
                          </m:sSup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18" name="c1-card-2"/>
          <p:cNvGrpSpPr/>
          <p:nvPr/>
        </p:nvGrpSpPr>
        <p:grpSpPr>
          <a:xfrm>
            <a:off x="533400" y="2582228"/>
            <a:ext cx="4544378" cy="3114675"/>
            <a:chOff x="533400" y="2582228"/>
            <a:chExt cx="4544378" cy="3114675"/>
          </a:xfrm>
        </p:grpSpPr>
        <p:sp>
          <p:nvSpPr>
            <p:cNvPr id="10" name="Rectangle 10"/>
            <p:cNvSpPr/>
            <p:nvPr/>
          </p:nvSpPr>
          <p:spPr>
            <a:xfrm>
              <a:off x="533400" y="2582228"/>
              <a:ext cx="4544378" cy="3114675"/>
            </a:xfrm>
            <a:prstGeom prst="roundRect">
              <a:avLst>
                <a:gd name="adj" fmla="val 428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542925" y="2715578"/>
              <a:ext cx="47625" cy="284797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52475" y="2763202"/>
              <a:ext cx="1454468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14642" y="2796064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方法误差（截断误差）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5998" y="3102769"/>
              <a:ext cx="18540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Taylor 定理，余项为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93"/>
                <p:cNvSpPr txBox="1">
                  <a:spLocks noGrp="1"/>
                </p:cNvSpPr>
                <p:nvPr/>
              </p:nvSpPr>
              <p:spPr>
                <a:xfrm>
                  <a:off x="752475" y="3367088"/>
                  <a:ext cx="4144328" cy="411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e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p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sSub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b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p>
                            </m:sSup>
                            <m:sSup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ξ</m:t>
                                </m:r>
                              </m:sup>
                            </m:sSup>
                          </m:num>
                          <m:den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!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ξ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&lt;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6" name="TextBox 16"/>
            <p:cNvSpPr txBox="1"/>
            <p:nvPr/>
          </p:nvSpPr>
          <p:spPr>
            <a:xfrm>
              <a:off x="745998" y="3880961"/>
              <a:ext cx="384124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ξ 介于 0 与 x 之间，具体取值未知，但 |x| &lt; 1 时 e^ξ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 e，于是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formula94"/>
                <p:cNvSpPr txBox="1">
                  <a:spLocks noGrp="1"/>
                </p:cNvSpPr>
                <p:nvPr/>
              </p:nvSpPr>
              <p:spPr>
                <a:xfrm>
                  <a:off x="752475" y="4387215"/>
                  <a:ext cx="4144328" cy="4629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&lt;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num>
                          <m:den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!</m:t>
                            </m:r>
                          </m:den>
                        </m:f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sSup>
                          <m:e>
                            <m:d>
                              <m:dPr>
                                <m:begChr m:val="|"/>
                                <m:sepChr m:val=""/>
                                <m:endChr m:val="|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</m:e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50" name="c2-table-1"/>
          <p:cNvGrpSpPr/>
          <p:nvPr/>
        </p:nvGrpSpPr>
        <p:grpSpPr>
          <a:xfrm>
            <a:off x="5377624" y="1928812"/>
            <a:ext cx="6280976" cy="2170462"/>
            <a:chOff x="5377624" y="1928812"/>
            <a:chExt cx="6280976" cy="2170462"/>
          </a:xfrm>
        </p:grpSpPr>
        <p:sp>
          <p:nvSpPr>
            <p:cNvPr id="19" name="Rectangle 19"/>
            <p:cNvSpPr/>
            <p:nvPr/>
          </p:nvSpPr>
          <p:spPr>
            <a:xfrm>
              <a:off x="5382578" y="1928812"/>
              <a:ext cx="6276022" cy="38100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650753" y="2045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769863" y="2045970"/>
              <a:ext cx="614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Pₙ(0.5)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25223" y="2045970"/>
              <a:ext cx="7956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真实误差 Rₙ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358606" y="2045970"/>
              <a:ext cx="8435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上界（用 e）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650753" y="2426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05283" y="2426970"/>
              <a:ext cx="9435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1.6458333333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667855" y="2426970"/>
              <a:ext cx="710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2.89×10⁻³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425217" y="2426970"/>
              <a:ext cx="710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7.08×10⁻³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82578" y="268700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82578" y="2691765"/>
              <a:ext cx="627602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650753" y="280892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05283" y="2808923"/>
              <a:ext cx="9435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1.6484375000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667855" y="2808923"/>
              <a:ext cx="710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2.84×10⁻⁴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425217" y="2808923"/>
              <a:ext cx="710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7.08×10⁻⁴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82578" y="306800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650753" y="318992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05283" y="3189923"/>
              <a:ext cx="9435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1.6486979167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667855" y="3189923"/>
              <a:ext cx="710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2.34×10⁻⁵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425217" y="3189923"/>
              <a:ext cx="710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5.90×10⁻⁵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82578" y="344900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382578" y="3453765"/>
              <a:ext cx="627602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650753" y="3571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05283" y="3571875"/>
              <a:ext cx="9435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1.6487196181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667855" y="3571875"/>
              <a:ext cx="710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1.65×10⁻⁶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425217" y="3571875"/>
              <a:ext cx="710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4.21×10⁻⁶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82578" y="1928812"/>
              <a:ext cx="6276022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005512" y="192881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8139112" y="192881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9896475" y="1928812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377624" y="3908584"/>
              <a:ext cx="58826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取 x = 0.5，真值 e⁰·⁵ = 1.6487212707；n = 2 时 P₂ = 1.6250，误差 2.37×10⁻²（Python 复算）</a:t>
              </a:r>
            </a:p>
          </p:txBody>
        </p:sp>
      </p:grpSp>
      <p:grpSp>
        <p:nvGrpSpPr>
          <p:cNvPr id="57" name="c2-card-2"/>
          <p:cNvGrpSpPr/>
          <p:nvPr/>
        </p:nvGrpSpPr>
        <p:grpSpPr>
          <a:xfrm>
            <a:off x="5382578" y="4226242"/>
            <a:ext cx="6276022" cy="1471612"/>
            <a:chOff x="5382578" y="4226242"/>
            <a:chExt cx="6276022" cy="1471612"/>
          </a:xfrm>
        </p:grpSpPr>
        <p:sp>
          <p:nvSpPr>
            <p:cNvPr id="51" name="Rectangle 51"/>
            <p:cNvSpPr/>
            <p:nvPr/>
          </p:nvSpPr>
          <p:spPr>
            <a:xfrm>
              <a:off x="5382578" y="4226242"/>
              <a:ext cx="6276022" cy="1471612"/>
            </a:xfrm>
            <a:prstGeom prst="roundRect">
              <a:avLst>
                <a:gd name="adj" fmla="val 9061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5563552" y="440721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649074" y="444007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三点结论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557076" y="4746784"/>
              <a:ext cx="55269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真实误差始终小于上界，且同在一个数量级，说明这个余项估计不保守。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557076" y="5031581"/>
              <a:ext cx="58543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每加一项误差缩小一个数量级以上；但 |x| 接近 1 时要取到 n = 9 才够 6 位。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557076" y="5317331"/>
              <a:ext cx="58716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方法误差在写下公式时就已确定，与机器字长无关，可靠增加项数任意减小。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第1章 绪论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5F2EA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6246114" cy="2997517"/>
            <a:chOff x="667512" y="1835468"/>
            <a:chExt cx="6246114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774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1.2.3 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误差的基本概念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2362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绝对误差、相对误差、误差限、有效数字，以及它们之间的换算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8220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四个定义按 e、ε、eᵣ、εᵣ 排开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有效数字的两种判定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0946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定理 1.1 沟通有效位数与相对误差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第1章 绪论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07933" cy="909257"/>
            <a:chOff x="520446" y="342900"/>
            <a:chExt cx="86079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绪论 · 误差的基本概念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079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绝对误差与相对误差：一个说差多少，一个说差百分之几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5410200" cy="4364355"/>
            <a:chOff x="533400" y="1524000"/>
            <a:chExt cx="5410200" cy="43643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364355"/>
            </a:xfrm>
            <a:prstGeom prst="roundRect">
              <a:avLst>
                <a:gd name="adj" fmla="val 30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409765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203008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547" y="1769269"/>
              <a:ext cx="10649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定义 1.1 / 1.2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90738" y="1768792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绝对误差与绝对误差限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379133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x 为准确值，x* 是 x 的一个近似值，称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99"/>
                <p:cNvSpPr txBox="1">
                  <a:spLocks noGrp="1"/>
                </p:cNvSpPr>
                <p:nvPr/>
              </p:nvSpPr>
              <p:spPr>
                <a:xfrm>
                  <a:off x="781050" y="2440305"/>
                  <a:ext cx="4953000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*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*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73430" y="3017520"/>
              <a:ext cx="46798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为近似值 x* 的绝对误差，简称误差。若 ε* &gt; 0 满足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100"/>
                <p:cNvSpPr txBox="1">
                  <a:spLocks noGrp="1"/>
                </p:cNvSpPr>
                <p:nvPr/>
              </p:nvSpPr>
              <p:spPr>
                <a:xfrm>
                  <a:off x="781050" y="3328035"/>
                  <a:ext cx="4953000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sSup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ε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*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6" name="TextBox 16"/>
            <p:cNvSpPr txBox="1"/>
            <p:nvPr/>
          </p:nvSpPr>
          <p:spPr>
            <a:xfrm>
              <a:off x="773430" y="3886200"/>
              <a:ext cx="39326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则称 ε* 为 x* 的绝对误差限，简称误差限。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4573" y="4218146"/>
              <a:ext cx="462965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准确值 x 通常不知道，所以真正能掌握的是误差限 ε*，常写成 x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= x* ± ε*。</a:t>
              </a:r>
            </a:p>
          </p:txBody>
        </p:sp>
      </p:grpSp>
      <p:grpSp>
        <p:nvGrpSpPr>
          <p:cNvPr id="28" name="c2-card-1"/>
          <p:cNvGrpSpPr/>
          <p:nvPr/>
        </p:nvGrpSpPr>
        <p:grpSpPr>
          <a:xfrm>
            <a:off x="6248400" y="1524000"/>
            <a:ext cx="5410200" cy="2838450"/>
            <a:chOff x="6248400" y="1524000"/>
            <a:chExt cx="5410200" cy="2838450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2838450"/>
            </a:xfrm>
            <a:prstGeom prst="roundRect">
              <a:avLst>
                <a:gd name="adj" fmla="val 469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257925" y="1657350"/>
              <a:ext cx="47625" cy="257175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496050" y="1733550"/>
              <a:ext cx="1203008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65547" y="1769269"/>
              <a:ext cx="10649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定义 1.3 / 1.4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05738" y="1768792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相对误差与相对误差限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formula101"/>
                <p:cNvSpPr txBox="1">
                  <a:spLocks noGrp="1"/>
                </p:cNvSpPr>
                <p:nvPr/>
              </p:nvSpPr>
              <p:spPr>
                <a:xfrm>
                  <a:off x="6496050" y="2105025"/>
                  <a:ext cx="4953000" cy="5143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Sup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*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p>
                          </m:num>
                          <m:den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num>
                          <m:den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f>
                          <m:fPr>
                            <m:type m:val="bar"/>
                            <m:ctrl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num>
                          <m:den>
                            <m:sSup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5" name="TextBox 25"/>
            <p:cNvSpPr txBox="1"/>
            <p:nvPr/>
          </p:nvSpPr>
          <p:spPr>
            <a:xfrm>
              <a:off x="6488430" y="2739390"/>
              <a:ext cx="46634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实际应用时 x 未知，常用 x* 代替分母中的 x。设 ε* 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x* 的误差限，则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formula102"/>
                <p:cNvSpPr txBox="1">
                  <a:spLocks noGrp="1"/>
                </p:cNvSpPr>
                <p:nvPr/>
              </p:nvSpPr>
              <p:spPr>
                <a:xfrm>
                  <a:off x="6496050" y="3335655"/>
                  <a:ext cx="4953000" cy="4629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Sup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ε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*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ε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p>
                          </m:num>
                          <m:den>
                            <m:d>
                              <m:dPr>
                                <m:begChr m:val="|"/>
                                <m:sepChr m:val=""/>
                                <m:endChr m:val="|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*</m:t>
                                    </m:r>
                                  </m:sup>
                                </m:sSup>
                              </m:e>
                            </m:d>
                          </m:den>
                        </m:f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*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*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ε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p>
                          </m:num>
                          <m:den>
                            <m:d>
                              <m:dPr>
                                <m:begChr m:val="|"/>
                                <m:sepChr m:val=""/>
                                <m:endChr m:val="|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*</m:t>
                                    </m:r>
                                  </m:sup>
                                </m:sSup>
                              </m:e>
                            </m:d>
                          </m:den>
                        </m:f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Sup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ε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*</m:t>
                            </m:r>
                          </m:sup>
                        </m:sSub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7" name="TextBox 27"/>
            <p:cNvSpPr txBox="1"/>
            <p:nvPr/>
          </p:nvSpPr>
          <p:spPr>
            <a:xfrm>
              <a:off x="6488430" y="3918585"/>
              <a:ext cx="26302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称 εᵣ* 为 x* 的相对误差限。</a:t>
              </a:r>
            </a:p>
          </p:txBody>
        </p:sp>
      </p:grpSp>
      <p:grpSp>
        <p:nvGrpSpPr>
          <p:cNvPr id="34" name="c2-callout-2"/>
          <p:cNvGrpSpPr/>
          <p:nvPr/>
        </p:nvGrpSpPr>
        <p:grpSpPr>
          <a:xfrm>
            <a:off x="6248400" y="4552950"/>
            <a:ext cx="5410200" cy="1335405"/>
            <a:chOff x="6248400" y="4552950"/>
            <a:chExt cx="5410200" cy="1335405"/>
          </a:xfrm>
        </p:grpSpPr>
        <p:sp>
          <p:nvSpPr>
            <p:cNvPr id="29" name="Rectangle 29"/>
            <p:cNvSpPr/>
            <p:nvPr/>
          </p:nvSpPr>
          <p:spPr>
            <a:xfrm>
              <a:off x="6248400" y="4552950"/>
              <a:ext cx="5410200" cy="1335405"/>
            </a:xfrm>
            <a:prstGeom prst="roundRect">
              <a:avLst>
                <a:gd name="adj" fmla="val 8559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6453188" y="5120642"/>
              <a:ext cx="200023" cy="200023"/>
              <a:chOff x="6453188" y="5120642"/>
              <a:chExt cx="200023" cy="200023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6453188" y="512064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586538" y="518731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6755130" y="4701540"/>
              <a:ext cx="4396740" cy="11220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绝对误差带量纲，只在同一量级上比较才有意义；相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对误差无量纲，用来比较精度高低。测 100 km 差 1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 和测 1 m 差 1 m，绝对误差相同，相对误差差 10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万倍。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5" name="TextBox 35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第1章 绪论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绪论 · 误差的基本概念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有效数字：误差限不超过末位的半个单位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4977765" cy="1932622"/>
            <a:chOff x="533400" y="1524000"/>
            <a:chExt cx="4977765" cy="193262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932622"/>
            </a:xfrm>
            <a:prstGeom prst="roundRect">
              <a:avLst>
                <a:gd name="adj" fmla="val 69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65922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749618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6844" y="1750695"/>
              <a:ext cx="5827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定义 1.5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20964" y="175641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按小数位说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11"/>
                <p:cNvSpPr txBox="1">
                  <a:spLocks noGrp="1"/>
                </p:cNvSpPr>
                <p:nvPr/>
              </p:nvSpPr>
              <p:spPr>
                <a:xfrm>
                  <a:off x="763905" y="2067878"/>
                  <a:ext cx="4554855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0.5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sSup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57047" y="2539365"/>
              <a:ext cx="42999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则说 x* 近似表示 x 准确到 10⁻ⁿ 位（小数点后第 n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位），并从此位起直到最左边的非零数字之间的一切数字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都称为有效数字，有效数字的个数称为有效位数。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3631882"/>
            <a:ext cx="4977765" cy="2093595"/>
            <a:chOff x="533400" y="3631882"/>
            <a:chExt cx="4977765" cy="2093595"/>
          </a:xfrm>
        </p:grpSpPr>
        <p:sp>
          <p:nvSpPr>
            <p:cNvPr id="15" name="Rectangle 15"/>
            <p:cNvSpPr/>
            <p:nvPr/>
          </p:nvSpPr>
          <p:spPr>
            <a:xfrm>
              <a:off x="533400" y="3631882"/>
              <a:ext cx="4977765" cy="2093595"/>
            </a:xfrm>
            <a:prstGeom prst="roundRect">
              <a:avLst>
                <a:gd name="adj" fmla="val 63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765232"/>
              <a:ext cx="47625" cy="182689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3905" y="3824288"/>
              <a:ext cx="749618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6844" y="3858578"/>
              <a:ext cx="5827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定义 1.6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620964" y="386429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按标准形式说（更常用）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7047" y="4197668"/>
              <a:ext cx="28669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x* 写成十进制浮点数的标准形式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formula112"/>
                <p:cNvSpPr txBox="1">
                  <a:spLocks noGrp="1"/>
                </p:cNvSpPr>
                <p:nvPr/>
              </p:nvSpPr>
              <p:spPr>
                <a:xfrm>
                  <a:off x="763905" y="4478655"/>
                  <a:ext cx="4554855" cy="3238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*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=±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0.</m:t>
                        </m:r>
                        <m:sSub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α</m:t>
                            </m:r>
                          </m:e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α</m:t>
                            </m:r>
                          </m:e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⋯</m:t>
                        </m:r>
                        <m:sSub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α</m:t>
                            </m:r>
                          </m:e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sSup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e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</m:sup>
                        </m:sSup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≠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2" name="TextBox 22"/>
            <p:cNvSpPr txBox="1"/>
            <p:nvPr/>
          </p:nvSpPr>
          <p:spPr>
            <a:xfrm>
              <a:off x="757047" y="4911090"/>
              <a:ext cx="426567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如果 |e*| = |x* − x| ≤ 0.5×10ᵐ⁻ⁿ ，则说 x* 具有 n 位有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效数字（n 为正整数，m 为整数）。</a:t>
              </a:r>
            </a:p>
          </p:txBody>
        </p:sp>
      </p:grpSp>
      <p:grpSp>
        <p:nvGrpSpPr>
          <p:cNvPr id="32" name="c2-card-1"/>
          <p:cNvGrpSpPr/>
          <p:nvPr/>
        </p:nvGrpSpPr>
        <p:grpSpPr>
          <a:xfrm>
            <a:off x="5815965" y="1524000"/>
            <a:ext cx="5842635" cy="2257425"/>
            <a:chOff x="5815965" y="1524000"/>
            <a:chExt cx="5842635" cy="2257425"/>
          </a:xfrm>
        </p:grpSpPr>
        <p:sp>
          <p:nvSpPr>
            <p:cNvPr id="24" name="Rectangle 24"/>
            <p:cNvSpPr/>
            <p:nvPr/>
          </p:nvSpPr>
          <p:spPr>
            <a:xfrm>
              <a:off x="5815965" y="1524000"/>
              <a:ext cx="5842635" cy="2257425"/>
            </a:xfrm>
            <a:prstGeom prst="roundRect">
              <a:avLst>
                <a:gd name="adj" fmla="val 59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825490" y="1657350"/>
              <a:ext cx="47625" cy="199072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046470" y="1716405"/>
              <a:ext cx="616268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133410" y="1750695"/>
              <a:ext cx="4414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1.4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769227" y="1756410"/>
              <a:ext cx="30600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= 2.718281828459… 的两个近似值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039612" y="2090738"/>
              <a:ext cx="4972907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近似值 2.72：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|2.72 − e| = 0.0017181… ≤ 0.5×10⁻² ，即准确到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10⁻² 位，因此具有 </a:t>
              </a: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 位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有效数字。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039612" y="2649855"/>
              <a:ext cx="5038487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近似值 2.71828：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|2.71828 − e| = 0.0000018… ≤ 0.5×10⁻⁵ ，即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准确到 10⁻⁵ 位，因此具有 </a:t>
              </a: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6 位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有效数字。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040755" y="3205639"/>
              <a:ext cx="503961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用定义 1.6 核对：x* = 0.272×10¹，m = 1，0.5×10^(1−3) = 0.5×10⁻² ，与上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面一致。</a:t>
              </a:r>
            </a:p>
          </p:txBody>
        </p:sp>
      </p:grpSp>
      <p:grpSp>
        <p:nvGrpSpPr>
          <p:cNvPr id="39" name="c2-card-2"/>
          <p:cNvGrpSpPr/>
          <p:nvPr/>
        </p:nvGrpSpPr>
        <p:grpSpPr>
          <a:xfrm>
            <a:off x="5815965" y="3956685"/>
            <a:ext cx="5842635" cy="1768792"/>
            <a:chOff x="5815965" y="3956685"/>
            <a:chExt cx="5842635" cy="1768792"/>
          </a:xfrm>
        </p:grpSpPr>
        <p:sp>
          <p:nvSpPr>
            <p:cNvPr id="33" name="Rectangle 33"/>
            <p:cNvSpPr/>
            <p:nvPr/>
          </p:nvSpPr>
          <p:spPr>
            <a:xfrm>
              <a:off x="5815965" y="3956685"/>
              <a:ext cx="5842635" cy="1768792"/>
            </a:xfrm>
            <a:prstGeom prst="roundRect">
              <a:avLst>
                <a:gd name="adj" fmla="val 75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5825490" y="4090035"/>
              <a:ext cx="47625" cy="150209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046470" y="4149090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125908" y="418338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两个易错点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039612" y="4505325"/>
              <a:ext cx="499433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末尾的 0 要算进有效数字：1.250 是 4 位（误差限 0.5×10⁻³），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1.25 是 3 位（误差限 0.5×10⁻²），二者精度不同。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039612" y="5065395"/>
              <a:ext cx="512292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有效位数由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误差限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决定，不是看写了几个数字。3.141 写了 4 位，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但 |3.141 − π| = 0.00059 &gt; 0.5×10⁻³ ，所以只有 3 位有效数字。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第1章 绪论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绪论 · 误差的基本概念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反过来用：知道有效位数，求误差限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c1-card-1"/>
          <p:cNvGrpSpPr/>
          <p:nvPr/>
        </p:nvGrpSpPr>
        <p:grpSpPr>
          <a:xfrm>
            <a:off x="533400" y="1524000"/>
            <a:ext cx="4977765" cy="3145155"/>
            <a:chOff x="533400" y="1524000"/>
            <a:chExt cx="4977765" cy="31451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3145155"/>
            </a:xfrm>
            <a:prstGeom prst="roundRect">
              <a:avLst>
                <a:gd name="adj" fmla="val 424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8784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0445" y="176355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4063111" cy="523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2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x* = 3578.64 是 x 的具有 6 位有效数字的近似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值，求 x* 的误差限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75335" y="2671762"/>
              <a:ext cx="201930" cy="2019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33680" y="271114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66228" y="2683669"/>
              <a:ext cx="40097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化成标准形式：x* = 0.357864×10⁴ ，故 m = 4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75335" y="2991802"/>
              <a:ext cx="201930" cy="2019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33680" y="303118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228" y="3003709"/>
              <a:ext cx="88425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 n = 6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75335" y="3311842"/>
              <a:ext cx="201930" cy="2019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3680" y="335122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6228" y="3323749"/>
              <a:ext cx="134304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代入定义 1.6：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formula115"/>
                <p:cNvSpPr txBox="1">
                  <a:spLocks noGrp="1"/>
                </p:cNvSpPr>
                <p:nvPr/>
              </p:nvSpPr>
              <p:spPr>
                <a:xfrm>
                  <a:off x="775335" y="3620452"/>
                  <a:ext cx="4531995" cy="3238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0.5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sSup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e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0.5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sSup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e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0.5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sSup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0.005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2" name="TextBox 22"/>
            <p:cNvSpPr txBox="1"/>
            <p:nvPr/>
          </p:nvSpPr>
          <p:spPr>
            <a:xfrm>
              <a:off x="769239" y="4056698"/>
              <a:ext cx="39669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即 x 落在 3578.635 与 3578.645 之间。相对误差限 εᵣ* =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0.005/3578.64 ≈ 1.4×10⁻⁶ 。</a:t>
              </a:r>
            </a:p>
          </p:txBody>
        </p:sp>
      </p:grpSp>
      <p:grpSp>
        <p:nvGrpSpPr>
          <p:cNvPr id="30" name="c1-callout-2"/>
          <p:cNvGrpSpPr/>
          <p:nvPr/>
        </p:nvGrpSpPr>
        <p:grpSpPr>
          <a:xfrm>
            <a:off x="533400" y="4853940"/>
            <a:ext cx="4977765" cy="1503998"/>
            <a:chOff x="533400" y="4853940"/>
            <a:chExt cx="4977765" cy="1503998"/>
          </a:xfrm>
        </p:grpSpPr>
        <p:sp>
          <p:nvSpPr>
            <p:cNvPr id="24" name="Rectangle 24"/>
            <p:cNvSpPr/>
            <p:nvPr/>
          </p:nvSpPr>
          <p:spPr>
            <a:xfrm>
              <a:off x="533400" y="4853940"/>
              <a:ext cx="4977765" cy="1503998"/>
            </a:xfrm>
            <a:prstGeom prst="roundRect">
              <a:avLst>
                <a:gd name="adj" fmla="val 760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738188" y="5505450"/>
              <a:ext cx="200026" cy="200025"/>
              <a:chOff x="738188" y="5505450"/>
              <a:chExt cx="200026" cy="200025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738188" y="550545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777926" y="554990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12642" y="566102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040511" y="5375434"/>
              <a:ext cx="3864737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定位 m 的口诀：把小数点移到第一个非零数字前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面，移了几位 m 就是几（向右移记负）。</a:t>
              </a:r>
            </a:p>
          </p:txBody>
        </p:sp>
      </p:grpSp>
      <p:grpSp>
        <p:nvGrpSpPr>
          <p:cNvPr id="75" name="c2-card-1"/>
          <p:cNvGrpSpPr/>
          <p:nvPr/>
        </p:nvGrpSpPr>
        <p:grpSpPr>
          <a:xfrm>
            <a:off x="5815965" y="1524000"/>
            <a:ext cx="5842635" cy="4833938"/>
            <a:chOff x="5815965" y="1524000"/>
            <a:chExt cx="5842635" cy="4833938"/>
          </a:xfrm>
        </p:grpSpPr>
        <p:sp>
          <p:nvSpPr>
            <p:cNvPr id="31" name="Rectangle 31"/>
            <p:cNvSpPr/>
            <p:nvPr/>
          </p:nvSpPr>
          <p:spPr>
            <a:xfrm>
              <a:off x="5815965" y="1524000"/>
              <a:ext cx="5842635" cy="4833938"/>
            </a:xfrm>
            <a:prstGeom prst="roundRect">
              <a:avLst>
                <a:gd name="adj" fmla="val 27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5825490" y="1657350"/>
              <a:ext cx="47625" cy="456723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057900" y="1727835"/>
              <a:ext cx="62103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144643" y="1763554"/>
              <a:ext cx="4475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习题 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050661" y="2100739"/>
              <a:ext cx="5063998" cy="5234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2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下列各数都是经过四舍五入得到的，指出有效位数并给出相对误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差限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050661" y="2683669"/>
              <a:ext cx="44111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四舍五入得到，意味着误差限就是末位的半个单位。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057900" y="2980372"/>
              <a:ext cx="5396865" cy="43053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51920" y="311181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x*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445521" y="3111818"/>
              <a:ext cx="1394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224510" y="311181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ε*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080781" y="311181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901241" y="3111818"/>
              <a:ext cx="10553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εᵣ* = ε*/|x*|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163247" y="3541395"/>
              <a:ext cx="5719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3.1416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464704" y="354139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962405" y="3541395"/>
              <a:ext cx="722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0.5×10⁻⁴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083002" y="354139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023005" y="3541395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1.59×10⁻⁵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057900" y="3835718"/>
              <a:ext cx="53968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057900" y="3840480"/>
              <a:ext cx="539686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163247" y="3971925"/>
              <a:ext cx="478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0.028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420280" y="397192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962405" y="3971925"/>
              <a:ext cx="722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0.5×10⁻³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083002" y="397192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023005" y="3971925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1.79×10⁻²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057900" y="4266248"/>
              <a:ext cx="53968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163247" y="4402455"/>
              <a:ext cx="478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1.250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464704" y="440245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962405" y="4402455"/>
              <a:ext cx="722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0.5×10⁻³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083002" y="440245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023005" y="4402455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4.00×10⁻⁴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057900" y="4695825"/>
              <a:ext cx="53968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057900" y="4700588"/>
              <a:ext cx="539686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163247" y="4832032"/>
              <a:ext cx="478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3×10⁴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464704" y="483203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006829" y="4832032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0.5×10⁴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083002" y="483203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023005" y="4832032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1.67×10⁻¹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057900" y="2980372"/>
              <a:ext cx="5396865" cy="21507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7239952" y="2980372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7780020" y="2980372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8859202" y="2980372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9399270" y="2980372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051804" y="5243512"/>
              <a:ext cx="50185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判 n 的办法：由 ε* = 0.5×10ᵐ⁻ⁿ 反解 n = m − lg(2ε*)。例如 0.028 有 m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= −1，ε* = 0.5×10⁻³ ，得 n = 2。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051804" y="5745480"/>
              <a:ext cx="50566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注意 3×10⁴ 只有 1 位有效数字，相对误差限高达 16.7%，写成 30000 容易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误以为有 5 位。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第1章 绪论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07834" cy="909257"/>
            <a:chOff x="520446" y="342900"/>
            <a:chExt cx="690783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绪论 · 误差的基本概念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0783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定理 1.1：有效位数与相对误差可以互相换算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842635" cy="2170748"/>
            <a:chOff x="533400" y="1524000"/>
            <a:chExt cx="5842635" cy="217074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2170748"/>
            </a:xfrm>
            <a:prstGeom prst="roundRect">
              <a:avLst>
                <a:gd name="adj" fmla="val 614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90404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713422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6769" y="1737836"/>
              <a:ext cx="5438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定理 1.1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42174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x* = ±0.α₁α₂…αₖ×10ᵐ 。若 x* 有 n 位有效数字，则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28"/>
                <p:cNvSpPr txBox="1">
                  <a:spLocks noGrp="1"/>
                </p:cNvSpPr>
                <p:nvPr/>
              </p:nvSpPr>
              <p:spPr>
                <a:xfrm>
                  <a:off x="752475" y="2308860"/>
                  <a:ext cx="5442585" cy="411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Sup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bSup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sSup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45998" y="2822734"/>
              <a:ext cx="51048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反之，若 x* 的相对误差满足下式，则 x* 至少具有 n 位有效数字。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129"/>
                <p:cNvSpPr txBox="1">
                  <a:spLocks noGrp="1"/>
                </p:cNvSpPr>
                <p:nvPr/>
              </p:nvSpPr>
              <p:spPr>
                <a:xfrm>
                  <a:off x="752475" y="3086100"/>
                  <a:ext cx="5442585" cy="411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Sup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r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bSup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α</m:t>
                                    </m:r>
                                  </m:e>
                                  <m:sub>
                                    <m:r>
                                      <a:rPr lang="zh-CN" sz="12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</m:den>
                        </m:f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sSup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2" name="c1-card-2"/>
          <p:cNvGrpSpPr/>
          <p:nvPr/>
        </p:nvGrpSpPr>
        <p:grpSpPr>
          <a:xfrm>
            <a:off x="533400" y="3859530"/>
            <a:ext cx="5842635" cy="1723072"/>
            <a:chOff x="533400" y="3859530"/>
            <a:chExt cx="5842635" cy="1723072"/>
          </a:xfrm>
        </p:grpSpPr>
        <p:sp>
          <p:nvSpPr>
            <p:cNvPr id="16" name="Rectangle 16"/>
            <p:cNvSpPr/>
            <p:nvPr/>
          </p:nvSpPr>
          <p:spPr>
            <a:xfrm>
              <a:off x="533400" y="3859530"/>
              <a:ext cx="5842635" cy="1723072"/>
            </a:xfrm>
            <a:prstGeom prst="roundRect">
              <a:avLst>
                <a:gd name="adj" fmla="val 77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3992880"/>
              <a:ext cx="47625" cy="145637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52475" y="4040505"/>
              <a:ext cx="10677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26267" y="4073366"/>
              <a:ext cx="9192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证明（习题 3）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5998" y="4381024"/>
              <a:ext cx="39072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由标准形式知 α₁×10ᵐ⁻¹ ≤ |x*| ≤ (α₁+1)×10ᵐ⁻¹ 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5998" y="4665821"/>
              <a:ext cx="504418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正向：|eᵣ*| = |e*|/|x*| ≤ 0.5×10ᵐ⁻ⁿ/(α₁×10ᵐ⁻¹)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10⁻⁽ⁿ⁻¹⁾/(2α₁)；反向：|e*| = |eᵣ*|·|x*| ≤ 10⁻⁽ⁿ⁻¹⁾/(2(α₁+1)) 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(α₁+1)×10ᵐ⁻¹ = 0.5×10ᵐ⁻ⁿ 。</a:t>
              </a:r>
            </a:p>
          </p:txBody>
        </p:sp>
      </p:grpSp>
      <p:grpSp>
        <p:nvGrpSpPr>
          <p:cNvPr id="61" name="c2-card-1"/>
          <p:cNvGrpSpPr/>
          <p:nvPr/>
        </p:nvGrpSpPr>
        <p:grpSpPr>
          <a:xfrm>
            <a:off x="6680835" y="1524000"/>
            <a:ext cx="4977765" cy="4059555"/>
            <a:chOff x="6680835" y="1524000"/>
            <a:chExt cx="4977765" cy="4059555"/>
          </a:xfrm>
        </p:grpSpPr>
        <p:sp>
          <p:nvSpPr>
            <p:cNvPr id="23" name="Rectangle 23"/>
            <p:cNvSpPr/>
            <p:nvPr/>
          </p:nvSpPr>
          <p:spPr>
            <a:xfrm>
              <a:off x="6680835" y="1524000"/>
              <a:ext cx="4977765" cy="4059555"/>
            </a:xfrm>
            <a:prstGeom prst="roundRect">
              <a:avLst>
                <a:gd name="adj" fmla="val 328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690360" y="1657350"/>
              <a:ext cx="47625" cy="37928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899910" y="1704975"/>
              <a:ext cx="56959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988954" y="1737836"/>
              <a:ext cx="3915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习题 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893433" y="2045494"/>
              <a:ext cx="40890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3.141、3.14、3.15、22/7 分别作为 π 的近似值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893433" y="2346484"/>
              <a:ext cx="415010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π = 3.1415926535…，m = 1。先算 |e*|，再找最大的 n 使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|e*| ≤ 0.5×10¹⁻ⁿ 。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899910" y="2852738"/>
              <a:ext cx="4577715" cy="38100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08258" y="297084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x*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600078" y="2970848"/>
              <a:ext cx="2629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|e*|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600771" y="297084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244426" y="2970848"/>
              <a:ext cx="9100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定理 1.1 上界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994588" y="3351848"/>
              <a:ext cx="4188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3.141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76390" y="3351848"/>
              <a:ext cx="710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5.93×10⁻⁴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602714" y="335184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344255" y="3351848"/>
              <a:ext cx="710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1.67×10⁻³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899910" y="3610928"/>
              <a:ext cx="457771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899910" y="3615690"/>
              <a:ext cx="457771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994588" y="3732848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76390" y="3732848"/>
              <a:ext cx="710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1.59×10⁻³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602714" y="373284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344255" y="3732848"/>
              <a:ext cx="710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1.67×10⁻³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899910" y="3992880"/>
              <a:ext cx="457771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994588" y="4114800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3.15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376390" y="4114800"/>
              <a:ext cx="710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8.41×10⁻³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9381172" y="4007168"/>
              <a:ext cx="530542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602714" y="411480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344255" y="4114800"/>
              <a:ext cx="710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1.67×10⁻²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899910" y="4373880"/>
              <a:ext cx="457771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899910" y="4378642"/>
              <a:ext cx="4577715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994588" y="4495800"/>
              <a:ext cx="703755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22/7 =</a:t>
              </a:r>
              <a:br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3.142857…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376390" y="4589145"/>
              <a:ext cx="710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1.26×10⁻³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602714" y="458914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344255" y="4589145"/>
              <a:ext cx="710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1.67×10⁻³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899910" y="2852738"/>
              <a:ext cx="4577715" cy="20935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8085772" y="2852738"/>
              <a:ext cx="9525" cy="2093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9366885" y="2852738"/>
              <a:ext cx="9525" cy="2093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9916478" y="2852738"/>
              <a:ext cx="9525" cy="2093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894576" y="5045392"/>
              <a:ext cx="4257866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3.141 写了 4 位，误差却超过 0.5×10⁻³ ，只能算 3 位；3.15 更差，只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有 2 位。</a:t>
              </a:r>
            </a:p>
          </p:txBody>
        </p:sp>
      </p:grpSp>
      <p:grpSp>
        <p:nvGrpSpPr>
          <p:cNvPr id="67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2" name="Rectangle 62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041273" y="6039326"/>
              <a:ext cx="102742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定理 1.1 说明：首位数字 α₁ 越大，同样的有效位数对应的相对误差越小。这就是为什么测量数据常写成 0.9… 而不是 0.1… 这种量级。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第1章 绪论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5F2EA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6437376" cy="3569017"/>
            <a:chOff x="667512" y="1835468"/>
            <a:chExt cx="6437376" cy="35690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774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1.2.4 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437376" cy="12755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500"/>
                </a:lnSpc>
              </a:pPr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误差分析：误差怎样在运算中传</a:t>
              </a:r>
              <a:br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播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6128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949065"/>
              <a:ext cx="55698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把误差看作微分，四则运算和函数值的误差就都能写出来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45960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402455"/>
              <a:ext cx="19739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e* = dx，eᵣ* = d ln x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81393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75678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四则运算与函数值的传播公式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516826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511111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病态问题、算法稳定性与避免放大的原则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第1章 绪论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绪论 · 误差分析：误差怎样在运算中传播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把误差看作微分：两个式子生出全部传播公式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193982" cy="3169920"/>
            <a:chOff x="533400" y="1524000"/>
            <a:chExt cx="5193982" cy="31699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3169920"/>
            </a:xfrm>
            <a:prstGeom prst="roundRect">
              <a:avLst>
                <a:gd name="adj" fmla="val 42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90322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7308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出发点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24000" y="1768792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误差是一个小增量，可以当微分处理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5586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精确值 x 与近似值 x* 一般都比较接近，其误差可以看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作一个小的增量，于是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136"/>
                <p:cNvSpPr txBox="1">
                  <a:spLocks noGrp="1"/>
                </p:cNvSpPr>
                <p:nvPr/>
              </p:nvSpPr>
              <p:spPr>
                <a:xfrm>
                  <a:off x="781050" y="2726055"/>
                  <a:ext cx="4736782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*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*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137"/>
                <p:cNvSpPr txBox="1">
                  <a:spLocks noGrp="1"/>
                </p:cNvSpPr>
                <p:nvPr/>
              </p:nvSpPr>
              <p:spPr>
                <a:xfrm>
                  <a:off x="781050" y="3278505"/>
                  <a:ext cx="4736782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Sup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*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p>
                          </m:num>
                          <m:den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num>
                          <m:den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ln</m:t>
                            </m:r>
                          </m:fName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5" name="TextBox 15"/>
            <p:cNvSpPr txBox="1"/>
            <p:nvPr/>
          </p:nvSpPr>
          <p:spPr>
            <a:xfrm>
              <a:off x="773430" y="3964305"/>
              <a:ext cx="44348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也就是说：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x 的微分表示 x 的绝对误差，ln x 的微分</a:t>
              </a:r>
              <a:br/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表示 x 的相对误差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23" name="c1-callout-2"/>
          <p:cNvGrpSpPr/>
          <p:nvPr/>
        </p:nvGrpSpPr>
        <p:grpSpPr>
          <a:xfrm>
            <a:off x="533400" y="4884420"/>
            <a:ext cx="5193982" cy="1059180"/>
            <a:chOff x="533400" y="4884420"/>
            <a:chExt cx="5193982" cy="1059180"/>
          </a:xfrm>
        </p:grpSpPr>
        <p:sp>
          <p:nvSpPr>
            <p:cNvPr id="17" name="Rectangle 17"/>
            <p:cNvSpPr/>
            <p:nvPr/>
          </p:nvSpPr>
          <p:spPr>
            <a:xfrm>
              <a:off x="533400" y="4884420"/>
              <a:ext cx="5193982" cy="1059180"/>
            </a:xfrm>
            <a:prstGeom prst="roundRect">
              <a:avLst>
                <a:gd name="adj" fmla="val 10791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26129" y="5310306"/>
              <a:ext cx="224134" cy="192560"/>
              <a:chOff x="726129" y="5310306"/>
              <a:chExt cx="224134" cy="19256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838200" y="538067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26129" y="531030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38200" y="545846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40130" y="5033010"/>
              <a:ext cx="41395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这套做法的前提是误差足够小，能丢掉 Taylor 展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开的二阶项。误差很大时（例如相近数相减之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后），一阶估计会失真。</a:t>
              </a:r>
            </a:p>
          </p:txBody>
        </p:sp>
      </p:grpSp>
      <p:grpSp>
        <p:nvGrpSpPr>
          <p:cNvPr id="32" name="c2-card-1"/>
          <p:cNvGrpSpPr/>
          <p:nvPr/>
        </p:nvGrpSpPr>
        <p:grpSpPr>
          <a:xfrm>
            <a:off x="6032182" y="1524000"/>
            <a:ext cx="5626418" cy="4419600"/>
            <a:chOff x="6032182" y="1524000"/>
            <a:chExt cx="5626418" cy="4419600"/>
          </a:xfrm>
        </p:grpSpPr>
        <p:sp>
          <p:nvSpPr>
            <p:cNvPr id="24" name="Rectangle 24"/>
            <p:cNvSpPr/>
            <p:nvPr/>
          </p:nvSpPr>
          <p:spPr>
            <a:xfrm>
              <a:off x="6032182" y="1524000"/>
              <a:ext cx="5626418" cy="4419600"/>
            </a:xfrm>
            <a:prstGeom prst="roundRect">
              <a:avLst>
                <a:gd name="adj" fmla="val 3017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41732" y="1733550"/>
              <a:ext cx="1489710" cy="25717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02388" y="1769269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四则运算的误差传播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formula138"/>
                <p:cNvSpPr txBox="1">
                  <a:spLocks noGrp="1"/>
                </p:cNvSpPr>
                <p:nvPr/>
              </p:nvSpPr>
              <p:spPr>
                <a:xfrm>
                  <a:off x="6241732" y="2085975"/>
                  <a:ext cx="5207318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*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±</m:t>
                            </m:r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±</m:t>
                            </m:r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*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±</m:t>
                        </m:r>
                        <m:sSup>
                          <m:e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*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formula139"/>
                <p:cNvSpPr txBox="1">
                  <a:spLocks noGrp="1"/>
                </p:cNvSpPr>
                <p:nvPr/>
              </p:nvSpPr>
              <p:spPr>
                <a:xfrm>
                  <a:off x="6241732" y="2562225"/>
                  <a:ext cx="5207318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*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y</m:t>
                        </m:r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y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y</m:t>
                        </m:r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sSup>
                          <m:e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*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sSup>
                          <m:e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*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formula140"/>
                <p:cNvSpPr txBox="1">
                  <a:spLocks noGrp="1"/>
                </p:cNvSpPr>
                <p:nvPr/>
              </p:nvSpPr>
              <p:spPr>
                <a:xfrm>
                  <a:off x="6241732" y="3038475"/>
                  <a:ext cx="5207318" cy="4886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*</m:t>
                            </m:r>
                          </m:sup>
                        </m:sSup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​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num>
                              <m:den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sSup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sSup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</m:d>
                          </m:num>
                          <m:den>
                            <m:sSup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e>
                              <m:sup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≠</m:t>
                            </m:r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formula141"/>
                <p:cNvSpPr txBox="1">
                  <a:spLocks noGrp="1"/>
                </p:cNvSpPr>
                <p:nvPr/>
              </p:nvSpPr>
              <p:spPr>
                <a:xfrm>
                  <a:off x="6241732" y="3622358"/>
                  <a:ext cx="5207318" cy="4629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Sup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*</m:t>
                            </m:r>
                          </m:sup>
                        </m:sSub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Sup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*</m:t>
                            </m:r>
                          </m:sup>
                        </m:sSub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bSup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*</m:t>
                            </m:r>
                          </m:sup>
                        </m:sSub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bSup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*</m:t>
                            </m:r>
                          </m:sup>
                        </m:sSubSup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​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num>
                              <m:den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Sup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*</m:t>
                            </m:r>
                          </m:sup>
                        </m:sSub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sSubSup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*</m:t>
                            </m:r>
                          </m:sup>
                        </m:sSub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1" name="TextBox 31"/>
            <p:cNvSpPr txBox="1"/>
            <p:nvPr/>
          </p:nvSpPr>
          <p:spPr>
            <a:xfrm>
              <a:off x="6235256" y="4201954"/>
              <a:ext cx="494665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后两式由 d ln(xy) = d ln x + d ln y 与 d ln(x/y) = d ln x − d ln y 直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接得到。</a:t>
              </a:r>
            </a:p>
          </p:txBody>
        </p:sp>
      </p:grpSp>
      <p:grpSp>
        <p:nvGrpSpPr>
          <p:cNvPr id="3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3" name="TextBox 33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第1章 绪论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绪论 · 误差分析：误差怎样在运算中传播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读懂传播公式：哪一步会把误差放大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kv-1"/>
          <p:cNvGrpSpPr/>
          <p:nvPr/>
        </p:nvGrpSpPr>
        <p:grpSpPr>
          <a:xfrm>
            <a:off x="526923" y="1545431"/>
            <a:ext cx="5632895" cy="1610487"/>
            <a:chOff x="526923" y="1545431"/>
            <a:chExt cx="5632895" cy="1610487"/>
          </a:xfrm>
        </p:grpSpPr>
        <p:sp>
          <p:nvSpPr>
            <p:cNvPr id="7" name="TextBox 7"/>
            <p:cNvSpPr txBox="1"/>
            <p:nvPr/>
          </p:nvSpPr>
          <p:spPr>
            <a:xfrm>
              <a:off x="526923" y="15454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乘除法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765173" y="1545431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相对误差相加减，量级不变，所以乘除是比较安全的运算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181737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6923" y="191881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加法（同号）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65173" y="1918811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绝对误差相加，而结果变大，相对误差反而变小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19075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6923" y="2293144"/>
              <a:ext cx="82575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减法（相近</a:t>
              </a:r>
              <a:br/>
              <a:r>
                <a:rPr lang="zh-CN" sz="12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数）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65173" y="2293144"/>
              <a:ext cx="3727450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绝对误差照样相加，而结果趋于 0，相对误差被放大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|x|/|x − y| 倍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280511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6923" y="290655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除以小数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65173" y="2906554"/>
              <a:ext cx="40106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分母 y 很小时 x/y² 很大，y 的误差被放大 |x|/y² 倍</a:t>
              </a:r>
            </a:p>
          </p:txBody>
        </p:sp>
      </p:grpSp>
      <p:grpSp>
        <p:nvGrpSpPr>
          <p:cNvPr id="35" name="c1-card-2"/>
          <p:cNvGrpSpPr/>
          <p:nvPr/>
        </p:nvGrpSpPr>
        <p:grpSpPr>
          <a:xfrm>
            <a:off x="533400" y="3270885"/>
            <a:ext cx="5626418" cy="2947035"/>
            <a:chOff x="533400" y="3270885"/>
            <a:chExt cx="5626418" cy="2947035"/>
          </a:xfrm>
        </p:grpSpPr>
        <p:sp>
          <p:nvSpPr>
            <p:cNvPr id="19" name="Rectangle 19"/>
            <p:cNvSpPr/>
            <p:nvPr/>
          </p:nvSpPr>
          <p:spPr>
            <a:xfrm>
              <a:off x="533400" y="3270885"/>
              <a:ext cx="5626418" cy="2947035"/>
            </a:xfrm>
            <a:prstGeom prst="roundRect">
              <a:avLst>
                <a:gd name="adj" fmla="val 452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3404235"/>
              <a:ext cx="47625" cy="268033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52475" y="3451860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41096" y="3484721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小算例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43228" y="3491389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相减放大了多少倍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5998" y="3807619"/>
              <a:ext cx="51995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x* = 2.10，y* = 1.90，两者都准确到 0.005（3 位有效数字）。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52475" y="4082415"/>
              <a:ext cx="180975" cy="18097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04382" y="411708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22223" y="4093369"/>
              <a:ext cx="42001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差 x* − y* = 0.20，绝对误差限 0.005 + 0.005 = 0.01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52475" y="4367212"/>
              <a:ext cx="180975" cy="18097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04382" y="440283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22223" y="4378166"/>
              <a:ext cx="27036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差的相对误差限 = 0.01/0.20 =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5%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52475" y="4652010"/>
              <a:ext cx="180975" cy="18097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04382" y="468763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22223" y="4662964"/>
              <a:ext cx="35626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而 x* 的相对误差限只有 0.005/2.10 ≈ 0.24%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47141" y="4944428"/>
              <a:ext cx="39571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一次减法把相对误差放大了约 </a:t>
              </a:r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21 倍</a:t>
              </a: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，结果只剩 1 位有效数字。</a:t>
              </a:r>
            </a:p>
          </p:txBody>
        </p:sp>
      </p:grpSp>
      <p:grpSp>
        <p:nvGrpSpPr>
          <p:cNvPr id="46" name="c2-card-1"/>
          <p:cNvGrpSpPr/>
          <p:nvPr/>
        </p:nvGrpSpPr>
        <p:grpSpPr>
          <a:xfrm>
            <a:off x="6464618" y="1524000"/>
            <a:ext cx="5193982" cy="2683192"/>
            <a:chOff x="6464618" y="1524000"/>
            <a:chExt cx="5193982" cy="2683192"/>
          </a:xfrm>
        </p:grpSpPr>
        <p:sp>
          <p:nvSpPr>
            <p:cNvPr id="36" name="Rectangle 36"/>
            <p:cNvSpPr/>
            <p:nvPr/>
          </p:nvSpPr>
          <p:spPr>
            <a:xfrm>
              <a:off x="6464618" y="1524000"/>
              <a:ext cx="5193982" cy="2683192"/>
            </a:xfrm>
            <a:prstGeom prst="roundRect">
              <a:avLst>
                <a:gd name="adj" fmla="val 49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74142" y="1657350"/>
              <a:ext cx="47625" cy="2416492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683692" y="1704975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61112" y="1737836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函数值的误差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747826" y="1744504"/>
              <a:ext cx="15411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Taylor 展开估计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formula160"/>
                <p:cNvSpPr txBox="1">
                  <a:spLocks noGrp="1"/>
                </p:cNvSpPr>
                <p:nvPr/>
              </p:nvSpPr>
              <p:spPr>
                <a:xfrm>
                  <a:off x="6683692" y="2040255"/>
                  <a:ext cx="4793932" cy="38576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f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p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′′</m:t>
                                </m:r>
                              </m:sup>
                            </m:s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ξ</m:t>
                                </m:r>
                              </m:e>
                            </m:d>
                          </m:num>
                          <m:den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*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</m:e>
                          <m:sup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2" name="TextBox 42"/>
            <p:cNvSpPr txBox="1"/>
            <p:nvPr/>
          </p:nvSpPr>
          <p:spPr>
            <a:xfrm>
              <a:off x="6677216" y="2528411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丢掉二阶项，得到常用的一阶估计：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" name="formula161"/>
                <p:cNvSpPr txBox="1">
                  <a:spLocks noGrp="1"/>
                </p:cNvSpPr>
                <p:nvPr/>
              </p:nvSpPr>
              <p:spPr>
                <a:xfrm>
                  <a:off x="6683692" y="2791778"/>
                  <a:ext cx="4793932" cy="2857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*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*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*</m:t>
                                    </m:r>
                                  </m:sup>
                                </m:sSup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′</m:t>
                                </m:r>
                              </m:sup>
                            </m:s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*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  <m:r>
                          <m:rPr>
                            <m:sty m:val="p"/>
                          </m:rPr>
                          <a:rPr lang="zh-CN" sz="11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1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1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12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*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4" name="TextBox 44"/>
            <p:cNvSpPr txBox="1"/>
            <p:nvPr/>
          </p:nvSpPr>
          <p:spPr>
            <a:xfrm>
              <a:off x="6677216" y="3179921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多元时按各偏导数加权求和：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5" name="formula162"/>
                <p:cNvSpPr txBox="1">
                  <a:spLocks noGrp="1"/>
                </p:cNvSpPr>
                <p:nvPr/>
              </p:nvSpPr>
              <p:spPr>
                <a:xfrm>
                  <a:off x="6683692" y="3443288"/>
                  <a:ext cx="4793932" cy="5667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*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d>
                              <m:dPr>
                                <m:begChr m:val="|"/>
                                <m:sepChr m:val=""/>
                                <m:endChr m:val="|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∂</m:t>
                                    </m:r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f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∂</m:t>
                                    </m:r>
                                    <m:sSub>
                                      <m:e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zh-CN" sz="12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sSup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*</m:t>
                                </m:r>
                              </m:sup>
                            </m:s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55" name="c2-card-2"/>
          <p:cNvGrpSpPr/>
          <p:nvPr/>
        </p:nvGrpSpPr>
        <p:grpSpPr>
          <a:xfrm>
            <a:off x="6464618" y="4371975"/>
            <a:ext cx="5193982" cy="1845945"/>
            <a:chOff x="6464618" y="4371975"/>
            <a:chExt cx="5193982" cy="1845945"/>
          </a:xfrm>
        </p:grpSpPr>
        <p:sp>
          <p:nvSpPr>
            <p:cNvPr id="47" name="Rectangle 47"/>
            <p:cNvSpPr/>
            <p:nvPr/>
          </p:nvSpPr>
          <p:spPr>
            <a:xfrm>
              <a:off x="6464618" y="4371975"/>
              <a:ext cx="5193982" cy="1845945"/>
            </a:xfrm>
            <a:prstGeom prst="roundRect">
              <a:avLst>
                <a:gd name="adj" fmla="val 72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474142" y="4505325"/>
              <a:ext cx="47625" cy="15792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683692" y="4552950"/>
              <a:ext cx="56959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772737" y="4585811"/>
              <a:ext cx="3915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习题 5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361111" y="4593431"/>
              <a:ext cx="37439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x = 10 ± 0.05，求 f(x) = ⁿ√x 的相对误差限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677216" y="4909661"/>
              <a:ext cx="453212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 = x^(1/n)，f′(x) = (1/n)x^(1/n−1)，代入一阶估计后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分母约掉：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678359" y="5434012"/>
              <a:ext cx="41593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eᵣ*(f) = |f′(x)·e*(x)/f(x)| = (1/n)·e*(x)/x = (1/n)×0.005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678359" y="5679758"/>
              <a:ext cx="4297870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n = 2 时 0.25%，n = 3 时 0.167%。开方把相对误差 </a:t>
              </a:r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缩小</a:t>
              </a: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 n 倍（验算：√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10.05 − √10 = 0.0078958，相对 0.2497%）。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第1章 绪论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94396" cy="909257"/>
            <a:chOff x="520446" y="342900"/>
            <a:chExt cx="759439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绪论 · 误差分析：误差怎样在运算中传播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9439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1.5：三个恒等的表达式，精度相差四个数量级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9727559" cy="264033"/>
            <a:chOff x="526542" y="1545907"/>
            <a:chExt cx="9727559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97275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已知 (√2 − 1)⁶ = 99 − 70√2 = 1/(99 + 70√2)。由于 √2 的精确值未知，取 √2 ≈ 1.414 计算，问用哪个表达式精度最高？</a:t>
              </a:r>
            </a:p>
          </p:txBody>
        </p:sp>
      </p:grpSp>
      <p:grpSp>
        <p:nvGrpSpPr>
          <p:cNvPr id="18" name="c1-card-1"/>
          <p:cNvGrpSpPr/>
          <p:nvPr/>
        </p:nvGrpSpPr>
        <p:grpSpPr>
          <a:xfrm>
            <a:off x="533400" y="1928812"/>
            <a:ext cx="5410200" cy="2874645"/>
            <a:chOff x="533400" y="1928812"/>
            <a:chExt cx="5410200" cy="287464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410200" cy="2874645"/>
            </a:xfrm>
            <a:prstGeom prst="roundRect">
              <a:avLst>
                <a:gd name="adj" fmla="val 46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260794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58190" y="211550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0862" y="214836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解法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23784" y="2150745"/>
              <a:ext cx="39783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对每个表达式用一阶估计 |f′(1.414)|·|e*(√2)|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1332" y="2476500"/>
              <a:ext cx="452285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先记住输入的误差：|e*(√2)| = |√2 − 1.414| = 0.00021356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≤ 0.5×10⁻³ 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1332" y="3033712"/>
              <a:ext cx="4562713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f₁(x) = (x − 1)⁶ :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f₁′(x) = 6(x − 1)⁵ ，|f₁′(1.414)|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6×0.414⁵ = 0.073，误差 ≤ 0.073·|e*(√2)|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1332" y="3590925"/>
              <a:ext cx="45903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f₂(x) = 99 − 70x :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f₂′(x) = −70，误差 ≤ 70·|e*(√2)|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1332" y="3890962"/>
              <a:ext cx="466858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f₃(x) = 1/(99 + 70x) :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f₃′(x) = −70/(99 + 70x)² 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|f₃′(1.414)| = 70/197.98² = 0.0018，误差 ≤ 0.002·|e*(√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2)|</a:t>
              </a:r>
            </a:p>
          </p:txBody>
        </p:sp>
      </p:grpSp>
      <p:grpSp>
        <p:nvGrpSpPr>
          <p:cNvPr id="24" name="c1-callout-2"/>
          <p:cNvGrpSpPr/>
          <p:nvPr/>
        </p:nvGrpSpPr>
        <p:grpSpPr>
          <a:xfrm>
            <a:off x="533400" y="4973002"/>
            <a:ext cx="5410200" cy="1363028"/>
            <a:chOff x="533400" y="4973002"/>
            <a:chExt cx="5410200" cy="1363028"/>
          </a:xfrm>
        </p:grpSpPr>
        <p:sp>
          <p:nvSpPr>
            <p:cNvPr id="19" name="Rectangle 19"/>
            <p:cNvSpPr/>
            <p:nvPr/>
          </p:nvSpPr>
          <p:spPr>
            <a:xfrm>
              <a:off x="533400" y="4973002"/>
              <a:ext cx="5410200" cy="1363028"/>
            </a:xfrm>
            <a:prstGeom prst="roundRect">
              <a:avLst>
                <a:gd name="adj" fmla="val 8386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38188" y="5554982"/>
              <a:ext cx="200023" cy="200023"/>
              <a:chOff x="738188" y="5554982"/>
              <a:chExt cx="200023" cy="200023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38188" y="555498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71538" y="56216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0892" y="5435918"/>
              <a:ext cx="434282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放大因子 |f′| 分别是 0.002、0.073、70，相差约 1︓36︓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35000。第 3 个表达式精度最高，第 2 个最差。</a:t>
              </a:r>
            </a:p>
          </p:txBody>
        </p:sp>
      </p:grpSp>
      <p:grpSp>
        <p:nvGrpSpPr>
          <p:cNvPr id="52" name="c2-table-1"/>
          <p:cNvGrpSpPr/>
          <p:nvPr/>
        </p:nvGrpSpPr>
        <p:grpSpPr>
          <a:xfrm>
            <a:off x="6243447" y="1928812"/>
            <a:ext cx="5415153" cy="2063782"/>
            <a:chOff x="6243447" y="1928812"/>
            <a:chExt cx="5415153" cy="2063782"/>
          </a:xfrm>
        </p:grpSpPr>
        <p:sp>
          <p:nvSpPr>
            <p:cNvPr id="25" name="Rectangle 25"/>
            <p:cNvSpPr/>
            <p:nvPr/>
          </p:nvSpPr>
          <p:spPr>
            <a:xfrm>
              <a:off x="6248400" y="1928812"/>
              <a:ext cx="5410200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19468" y="205025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表达式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840042" y="2050256"/>
              <a:ext cx="11448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代入 1.414 的值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57766" y="20502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实际误差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701731" y="20502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相对误差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45555" y="2450306"/>
              <a:ext cx="985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f₁ = (x − 1)⁶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909209" y="2450306"/>
              <a:ext cx="10065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0.0050350298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386148" y="2450306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1.56×10⁻⁵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780888" y="2450306"/>
              <a:ext cx="4562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0.31%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248400" y="272415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248400" y="2728912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45555" y="2850356"/>
              <a:ext cx="985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f₂ = 99 − 70x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909209" y="2850356"/>
              <a:ext cx="10065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0.0200000000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386148" y="2850356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1.50×10⁻²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0369868" y="2738438"/>
              <a:ext cx="1279208" cy="38100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822351" y="2850356"/>
              <a:ext cx="3732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296%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248400" y="31242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45555" y="3250406"/>
              <a:ext cx="885139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f₃ = 1/(99 +</a:t>
              </a:r>
              <a:br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70x)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909209" y="3350419"/>
              <a:ext cx="10065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0.0050510153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386148" y="3350419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3.81×10⁻⁷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0369868" y="3138488"/>
              <a:ext cx="1279208" cy="58102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697962" y="3350419"/>
              <a:ext cx="6220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0.0076%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248400" y="1928812"/>
              <a:ext cx="5410200" cy="18002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7650480" y="1928812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9164955" y="1928812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10355580" y="1928812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243447" y="3801904"/>
              <a:ext cx="30751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真值 (√2 − 1)⁶ = 0.005050633883（Python 复算）</a:t>
              </a:r>
            </a:p>
          </p:txBody>
        </p:sp>
      </p:grpSp>
      <p:grpSp>
        <p:nvGrpSpPr>
          <p:cNvPr id="60" name="c2-card-2"/>
          <p:cNvGrpSpPr/>
          <p:nvPr/>
        </p:nvGrpSpPr>
        <p:grpSpPr>
          <a:xfrm>
            <a:off x="6248400" y="4124325"/>
            <a:ext cx="5410200" cy="2211705"/>
            <a:chOff x="6248400" y="4124325"/>
            <a:chExt cx="5410200" cy="2211705"/>
          </a:xfrm>
        </p:grpSpPr>
        <p:sp>
          <p:nvSpPr>
            <p:cNvPr id="53" name="Rectangle 53"/>
            <p:cNvSpPr/>
            <p:nvPr/>
          </p:nvSpPr>
          <p:spPr>
            <a:xfrm>
              <a:off x="6248400" y="4124325"/>
              <a:ext cx="5410200" cy="2211705"/>
            </a:xfrm>
            <a:prstGeom prst="roundRect">
              <a:avLst>
                <a:gd name="adj" fmla="val 6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257925" y="4257675"/>
              <a:ext cx="47625" cy="194500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473190" y="431101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557759" y="434387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看清病根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466332" y="4654868"/>
              <a:ext cx="44714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f₂ 的问题就是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相近数相减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：99 与 70×1.414 = 98.98 只差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0.02，相减后 √2 的误差被放大 70 倍，而结果本身只有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0.005 量级，相对误差冲到 296%，一位有效数字都没剩。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466332" y="5470208"/>
              <a:ext cx="50478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f₃ 把同一个差改写成分母上的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加法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，不发生抵消，因此最稳。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467475" y="5765959"/>
              <a:ext cx="462711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套路：先写 f′，再看 |f′| 与 |f| 的比值（下页的条件数），比值大就换写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法。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第1章 绪论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绪论 · 误差分析：误差怎样在运算中传播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病态问题：误差被放大，责任在问题本身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card-1"/>
          <p:cNvGrpSpPr/>
          <p:nvPr/>
        </p:nvGrpSpPr>
        <p:grpSpPr>
          <a:xfrm>
            <a:off x="533400" y="1524000"/>
            <a:ext cx="5626418" cy="3430905"/>
            <a:chOff x="533400" y="1524000"/>
            <a:chExt cx="5626418" cy="34309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3430905"/>
            </a:xfrm>
            <a:prstGeom prst="roundRect">
              <a:avLst>
                <a:gd name="adj" fmla="val 388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16420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4507" y="176926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定义（补充）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50720" y="1768792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函数的条件数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把一阶估计写成相对误差的形式，输入的相对误差前面的放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大因子就是条件数：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165"/>
                <p:cNvSpPr txBox="1">
                  <a:spLocks noGrp="1"/>
                </p:cNvSpPr>
                <p:nvPr/>
              </p:nvSpPr>
              <p:spPr>
                <a:xfrm>
                  <a:off x="781050" y="2726055"/>
                  <a:ext cx="5169218" cy="4629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Sup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*</m:t>
                            </m:r>
                          </m:sup>
                        </m:sSub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 </m:t>
                                </m:r>
                                <m:sSup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f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′</m:t>
                                    </m:r>
                                  </m:sup>
                                </m:s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sSubSup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*</m:t>
                            </m:r>
                          </m:sup>
                        </m:sSub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≜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sSubSup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e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*</m:t>
                            </m:r>
                          </m:sup>
                        </m:sSub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Ellipse 14"/>
            <p:cNvSpPr/>
            <p:nvPr/>
          </p:nvSpPr>
          <p:spPr>
            <a:xfrm>
              <a:off x="786765" y="337185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3308985"/>
              <a:ext cx="44316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 = √x ：Cₚ = 1/2，输入误差还被压缩，良态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6765" y="370713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4880" y="3644265"/>
              <a:ext cx="45123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 = 1/(1 − x) 在 x = 0.999 ：Cₚ = 999，病态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6765" y="404241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4880" y="3979545"/>
              <a:ext cx="40744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 = ln x 在 x = 1.001 ：Cₚ = 1000，病态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4573" y="4311491"/>
              <a:ext cx="470281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Cₚ 远大于 1 就叫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病态</a:t>
              </a: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（ill-conditioned）。病态是问题固有的性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质，换算法也躲不掉。</a:t>
              </a:r>
            </a:p>
          </p:txBody>
        </p:sp>
      </p:grpSp>
      <p:grpSp>
        <p:nvGrpSpPr>
          <p:cNvPr id="28" name="c1-callout-2"/>
          <p:cNvGrpSpPr/>
          <p:nvPr/>
        </p:nvGrpSpPr>
        <p:grpSpPr>
          <a:xfrm>
            <a:off x="533400" y="5145405"/>
            <a:ext cx="5626418" cy="1059180"/>
            <a:chOff x="533400" y="5145405"/>
            <a:chExt cx="5626418" cy="1059180"/>
          </a:xfrm>
        </p:grpSpPr>
        <p:sp>
          <p:nvSpPr>
            <p:cNvPr id="22" name="Rectangle 22"/>
            <p:cNvSpPr/>
            <p:nvPr/>
          </p:nvSpPr>
          <p:spPr>
            <a:xfrm>
              <a:off x="533400" y="5145405"/>
              <a:ext cx="5626418" cy="1059180"/>
            </a:xfrm>
            <a:prstGeom prst="roundRect">
              <a:avLst>
                <a:gd name="adj" fmla="val 10791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26129" y="5571291"/>
              <a:ext cx="224134" cy="192560"/>
              <a:chOff x="726129" y="5571291"/>
              <a:chExt cx="224134" cy="19256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838200" y="564165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26129" y="557129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38200" y="571944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040130" y="5293995"/>
              <a:ext cx="45300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例 1.5 里 f₂ 的条件数 |x f₂′/f₂| =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1.414×70/0.00505 ≈ 19600，所以它一定算不准，这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不是写法巧不巧的问题。</a:t>
              </a:r>
            </a:p>
          </p:txBody>
        </p:sp>
      </p:grpSp>
      <p:grpSp>
        <p:nvGrpSpPr>
          <p:cNvPr id="31" name="c2-image-1"/>
          <p:cNvGrpSpPr/>
          <p:nvPr/>
        </p:nvGrpSpPr>
        <p:grpSpPr>
          <a:xfrm>
            <a:off x="6464618" y="1524000"/>
            <a:ext cx="5193982" cy="2095977"/>
            <a:chOff x="6464618" y="1524000"/>
            <a:chExt cx="5193982" cy="2095977"/>
          </a:xfrm>
        </p:grpSpPr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rcRect l="0" t="27138" r="0" b="27138"/>
            <a:stretch>
              <a:fillRect/>
            </a:stretch>
          </p:blipFill>
          <p:spPr>
            <a:xfrm>
              <a:off x="6464618" y="1524000"/>
              <a:ext cx="5193982" cy="1781175"/>
            </a:xfrm>
            <a:prstGeom prst="roundRect">
              <a:avLst>
                <a:gd name="adj" fmla="val 7486"/>
              </a:avLst>
            </a:prstGeom>
          </p:spPr>
        </p:pic>
        <p:sp>
          <p:nvSpPr>
            <p:cNvPr id="30" name="TextBox 30"/>
            <p:cNvSpPr txBox="1"/>
            <p:nvPr/>
          </p:nvSpPr>
          <p:spPr>
            <a:xfrm>
              <a:off x="7322464" y="3399949"/>
              <a:ext cx="3479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支点离一端越近，那一端动一点，另一端就抬得越高</a:t>
              </a:r>
            </a:p>
          </p:txBody>
        </p:sp>
      </p:grpSp>
      <p:grpSp>
        <p:nvGrpSpPr>
          <p:cNvPr id="40" name="c2-card-2"/>
          <p:cNvGrpSpPr/>
          <p:nvPr/>
        </p:nvGrpSpPr>
        <p:grpSpPr>
          <a:xfrm>
            <a:off x="6464618" y="3785235"/>
            <a:ext cx="5193982" cy="2577465"/>
            <a:chOff x="6464618" y="3785235"/>
            <a:chExt cx="5193982" cy="2577465"/>
          </a:xfrm>
        </p:grpSpPr>
        <p:sp>
          <p:nvSpPr>
            <p:cNvPr id="32" name="Rectangle 32"/>
            <p:cNvSpPr/>
            <p:nvPr/>
          </p:nvSpPr>
          <p:spPr>
            <a:xfrm>
              <a:off x="6464618" y="3785235"/>
              <a:ext cx="5193982" cy="2577465"/>
            </a:xfrm>
            <a:prstGeom prst="roundRect">
              <a:avLst>
                <a:gd name="adj" fmla="val 51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474142" y="3918585"/>
              <a:ext cx="47625" cy="231076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712268" y="399478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90626" y="403050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例（补充）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740015" y="4030028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病态方程组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formula167"/>
                <p:cNvSpPr txBox="1">
                  <a:spLocks noGrp="1"/>
                </p:cNvSpPr>
                <p:nvPr/>
              </p:nvSpPr>
              <p:spPr>
                <a:xfrm>
                  <a:off x="6712268" y="4366260"/>
                  <a:ext cx="4736782" cy="6153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{"/>
                            <m:sepChr m:val=""/>
                            <m:endChr m:val="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eqArr>
                              <m:eqArrPr>
                                <m:baseJc m:val="center"/>
                              </m:eqArr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y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1.0001y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2.0001</m:t>
                                </m:r>
                              </m:e>
                            </m:eqAr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⇒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y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8" name="TextBox 38"/>
            <p:cNvSpPr txBox="1"/>
            <p:nvPr/>
          </p:nvSpPr>
          <p:spPr>
            <a:xfrm>
              <a:off x="6704648" y="5101590"/>
              <a:ext cx="4206716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把右端第二个数改成 2.0000（相对扰动只有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5×10⁻⁵），解变成 (x, y) =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(2, 0)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，面目全非。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705791" y="5719286"/>
              <a:ext cx="410133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cond∞(A) = ‖A‖∞·‖A⁻¹‖∞ = 2.0001 × 20001 ≈ 4×10⁴ ，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与放大倍数吻合。第 2 章会系统讲条件数与矩阵范数。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第1章 绪论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17080" cy="909257"/>
            <a:chOff x="520446" y="342900"/>
            <a:chExt cx="79170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绪论 · 误差分析：误差怎样在运算中传播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170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1.6：同一个递推式正着用，误差被放大 5040 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057225" cy="264033"/>
            <a:chOff x="526542" y="1545907"/>
            <a:chExt cx="7057225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0572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考虑积分 Iₙ = ∫₀¹ xⁿe^(x−1)dx 的近似计算。分部积分给出递推关系 Iₙ = 1 − nIₙ₋₁ 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180"/>
              <p:cNvSpPr txBox="1">
                <a:spLocks noGrp="1"/>
              </p:cNvSpPr>
              <p:nvPr/>
            </p:nvSpPr>
            <p:spPr>
              <a:xfrm>
                <a:off x="533400" y="1928812"/>
                <a:ext cx="4869180" cy="4800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  <m:sup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  <m:e>
                          <m:sSup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p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p>
                          </m:sSup>
                          <m:sSup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</m:t>
                              </m:r>
                            </m:e>
                            <m:sup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p>
                          </m:sSup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dx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  <p:grpSp>
        <p:nvGrpSpPr>
          <p:cNvPr id="27" name="c1-card-2"/>
          <p:cNvGrpSpPr/>
          <p:nvPr/>
        </p:nvGrpSpPr>
        <p:grpSpPr>
          <a:xfrm>
            <a:off x="533400" y="2573655"/>
            <a:ext cx="4869180" cy="2015490"/>
            <a:chOff x="533400" y="2573655"/>
            <a:chExt cx="4869180" cy="2015490"/>
          </a:xfrm>
        </p:grpSpPr>
        <p:sp>
          <p:nvSpPr>
            <p:cNvPr id="10" name="Rectangle 10"/>
            <p:cNvSpPr/>
            <p:nvPr/>
          </p:nvSpPr>
          <p:spPr>
            <a:xfrm>
              <a:off x="533400" y="2573655"/>
              <a:ext cx="4869180" cy="2015490"/>
            </a:xfrm>
            <a:prstGeom prst="roundRect">
              <a:avLst>
                <a:gd name="adj" fmla="val 66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542925" y="2707005"/>
              <a:ext cx="47625" cy="174879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52475" y="275463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37044" y="278749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正向递推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68006" y="2794159"/>
              <a:ext cx="23936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I₀ 出发，保留 3 位有效数字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52475" y="3099435"/>
              <a:ext cx="180975" cy="18097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04382" y="313505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22223" y="3110389"/>
              <a:ext cx="382498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I₀ = ∫₀¹e^(x−1)dx = 1 − e⁻¹ = 0.6321205… ，取 Ī₀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0.632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52475" y="3627120"/>
              <a:ext cx="180975" cy="18097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04382" y="3662743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22223" y="3639026"/>
              <a:ext cx="21431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Ī₁ = 1 − 1×0.632 = 0.368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52475" y="3912870"/>
              <a:ext cx="180975" cy="18097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04382" y="394754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22223" y="3923824"/>
              <a:ext cx="3162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Ī₂ = 1 − 2×0.368 = 1 − 0.736 = 0.264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52475" y="4197668"/>
              <a:ext cx="180975" cy="18097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04382" y="423329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22223" y="4208621"/>
              <a:ext cx="41447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…… 一直算到 Ī₇ = 1 − 7×0.040 = 1 − 0.280 = </a:t>
              </a:r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0.720</a:t>
              </a:r>
            </a:p>
          </p:txBody>
        </p:sp>
      </p:grpSp>
      <p:grpSp>
        <p:nvGrpSpPr>
          <p:cNvPr id="33" name="c1-card-3"/>
          <p:cNvGrpSpPr/>
          <p:nvPr/>
        </p:nvGrpSpPr>
        <p:grpSpPr>
          <a:xfrm>
            <a:off x="533400" y="4753928"/>
            <a:ext cx="4869180" cy="1386840"/>
            <a:chOff x="533400" y="4753928"/>
            <a:chExt cx="4869180" cy="1386840"/>
          </a:xfrm>
        </p:grpSpPr>
        <p:sp>
          <p:nvSpPr>
            <p:cNvPr id="28" name="Rectangle 28"/>
            <p:cNvSpPr/>
            <p:nvPr/>
          </p:nvSpPr>
          <p:spPr>
            <a:xfrm>
              <a:off x="533400" y="4753928"/>
              <a:ext cx="4869180" cy="1386840"/>
            </a:xfrm>
            <a:prstGeom prst="roundRect">
              <a:avLst>
                <a:gd name="adj" fmla="val 96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42925" y="4887278"/>
              <a:ext cx="47625" cy="112014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52475" y="4934902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33946" y="496776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结果不合理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45998" y="5274469"/>
              <a:ext cx="419074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0 &lt; x &lt; 1 可知 0 &lt; xⁿ⁺¹e^(x−1) &lt; xⁿe^(x−1)，两边积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分得 Iₙ₊₁ &lt; Iₙ ，即 Iₙ 严格递减且恒为正。算出的 Ī₇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0.720 &gt; Ī₆ = 0.040，这两条都违反了。</a:t>
              </a:r>
            </a:p>
          </p:txBody>
        </p:sp>
      </p:grpSp>
      <p:grpSp>
        <p:nvGrpSpPr>
          <p:cNvPr id="85" name="c2-table-1"/>
          <p:cNvGrpSpPr/>
          <p:nvPr/>
        </p:nvGrpSpPr>
        <p:grpSpPr>
          <a:xfrm>
            <a:off x="5702427" y="1928812"/>
            <a:ext cx="5956173" cy="1789462"/>
            <a:chOff x="5702427" y="1928812"/>
            <a:chExt cx="5956173" cy="1789462"/>
          </a:xfrm>
        </p:grpSpPr>
        <p:sp>
          <p:nvSpPr>
            <p:cNvPr id="34" name="Rectangle 34"/>
            <p:cNvSpPr/>
            <p:nvPr/>
          </p:nvSpPr>
          <p:spPr>
            <a:xfrm>
              <a:off x="5707380" y="1928812"/>
              <a:ext cx="5951220" cy="38100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137481" y="2045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926151" y="2045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50991" y="2045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75831" y="2045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800671" y="2045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425511" y="2045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050351" y="2045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675191" y="2045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300031" y="2045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802059" y="2426970"/>
              <a:ext cx="5129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Īₙ 算得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772608" y="242697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0.632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397448" y="242697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0.368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022288" y="242697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0.264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647128" y="242697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0.208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271968" y="242697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0.168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896808" y="242697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0.160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521648" y="242697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0.040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146488" y="242697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0.720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707380" y="268700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5707380" y="2691765"/>
              <a:ext cx="595122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802059" y="2808923"/>
              <a:ext cx="4737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Iₙ 真值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772608" y="2808923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0.632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397448" y="2808923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0.368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022288" y="2808923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0.264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647128" y="2808923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0.207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271968" y="2808923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0.171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896808" y="2808923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0.146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521648" y="2808923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0.127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146488" y="2808923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0.112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707380" y="306800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802059" y="3189923"/>
              <a:ext cx="6198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误差×10⁴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811480" y="3189923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−1.2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436320" y="3189923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+1.2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061160" y="3189923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−2.4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686000" y="3189923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+7.2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271968" y="3189923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−28.9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935680" y="3189923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+145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560520" y="3189923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−868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11043285" y="3082290"/>
              <a:ext cx="605790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1146488" y="3189923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+6076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5707380" y="1928812"/>
              <a:ext cx="5951220" cy="1525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6655118" y="1928812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7279958" y="1928812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7904798" y="1928812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8529638" y="1928812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9154478" y="1928812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9779318" y="1928812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10404158" y="1928812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11028998" y="1928812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5702427" y="3527584"/>
              <a:ext cx="33370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真值用高阶复化 Simpson 公式算到 6 位（Python 复算）</a:t>
              </a:r>
            </a:p>
          </p:txBody>
        </p:sp>
      </p:grpSp>
      <p:grpSp>
        <p:nvGrpSpPr>
          <p:cNvPr id="93" name="c2-card-2"/>
          <p:cNvGrpSpPr/>
          <p:nvPr/>
        </p:nvGrpSpPr>
        <p:grpSpPr>
          <a:xfrm>
            <a:off x="5707380" y="3844290"/>
            <a:ext cx="5951220" cy="2296478"/>
            <a:chOff x="5707380" y="3844290"/>
            <a:chExt cx="5951220" cy="2296478"/>
          </a:xfrm>
        </p:grpSpPr>
        <p:sp>
          <p:nvSpPr>
            <p:cNvPr id="86" name="Rectangle 86"/>
            <p:cNvSpPr/>
            <p:nvPr/>
          </p:nvSpPr>
          <p:spPr>
            <a:xfrm>
              <a:off x="5707380" y="3844290"/>
              <a:ext cx="5951220" cy="2296478"/>
            </a:xfrm>
            <a:prstGeom prst="roundRect">
              <a:avLst>
                <a:gd name="adj" fmla="val 5807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5888355" y="4025265"/>
              <a:ext cx="1204912" cy="23812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5958624" y="4058126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误差是怎么长大的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5881878" y="4365784"/>
              <a:ext cx="31188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 ēₙ = Īₙ − Iₙ 。两式相减，1 被消去：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0" name="formula181"/>
                <p:cNvSpPr txBox="1">
                  <a:spLocks noGrp="1"/>
                </p:cNvSpPr>
                <p:nvPr/>
              </p:nvSpPr>
              <p:spPr>
                <a:xfrm>
                  <a:off x="5888355" y="4629150"/>
                  <a:ext cx="5589270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acc>
                              <m:accPr>
                                <m:chr m:val="̅"/>
                                <m:ctrl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</m:acc>
                          </m:e>
                          <m:sub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=−</m:t>
                        </m:r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sSub>
                          <m:e>
                            <m:acc>
                              <m:accPr>
                                <m:chr m:val="̅"/>
                                <m:ctrl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</m:acc>
                          </m:e>
                          <m:sub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⟹</m:t>
                        </m:r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sSub>
                          <m:e>
                            <m:acc>
                              <m:accPr>
                                <m:chr m:val="̅"/>
                                <m:ctrl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</m:acc>
                          </m:e>
                          <m:sub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</m:sSup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!</m:t>
                        </m:r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 </m:t>
                        </m:r>
                        <m:sSub>
                          <m:e>
                            <m:acc>
                              <m:accPr>
                                <m:chr m:val="̅"/>
                                <m:ctrl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</m:acc>
                          </m:e>
                          <m:sub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91" name="TextBox 91"/>
            <p:cNvSpPr txBox="1"/>
            <p:nvPr/>
          </p:nvSpPr>
          <p:spPr>
            <a:xfrm>
              <a:off x="5881878" y="5036344"/>
              <a:ext cx="501330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ē₀ = 0.632 − 0.6321206 = −1.206×10⁻⁴ ，放大 7! = 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5040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倍后 ē₇ =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+0.6076，恰好把真值 0.1124 顶成 0.720（验算相符）。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5883021" y="5560695"/>
              <a:ext cx="52678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每一步都只做一次减法和一次乘法，本身完全合法；毁掉结果的是 </a:t>
              </a:r>
              <a:r>
                <a:rPr lang="zh-CN" sz="10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n 这个放大因子</a:t>
              </a:r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9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4" name="TextBox 94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第1章 绪论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025214" cy="909257"/>
            <a:chOff x="520446" y="342900"/>
            <a:chExt cx="80252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绪论 · 误差分析：误差怎样在运算中传播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0252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1.6 续：同一个式子反着用，误差被压缩 5040 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410200" cy="2313622"/>
            <a:chOff x="533400" y="1524000"/>
            <a:chExt cx="5410200" cy="231362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313622"/>
            </a:xfrm>
            <a:prstGeom prst="roundRect">
              <a:avLst>
                <a:gd name="adj" fmla="val 57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4692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2759" y="174355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反向递推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73340" y="1745932"/>
              <a:ext cx="19385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(1.26) 式解出 Iₙ₋₁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92"/>
                <p:cNvSpPr txBox="1">
                  <a:spLocks noGrp="1"/>
                </p:cNvSpPr>
                <p:nvPr/>
              </p:nvSpPr>
              <p:spPr>
                <a:xfrm>
                  <a:off x="758190" y="2049780"/>
                  <a:ext cx="4998720" cy="4629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</m:num>
                          <m:den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den>
                        </m:f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7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6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,…,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51332" y="261842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误差递推随之反过来：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formula193"/>
                <p:cNvSpPr txBox="1">
                  <a:spLocks noGrp="1"/>
                </p:cNvSpPr>
                <p:nvPr/>
              </p:nvSpPr>
              <p:spPr>
                <a:xfrm>
                  <a:off x="758190" y="2896552"/>
                  <a:ext cx="4998720" cy="43719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acc>
                              <m:accPr>
                                <m:chr m:val="̅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</m:acc>
                          </m:e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=−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>
                              <m:e>
                                <m:acc>
                                  <m:accPr>
                                    <m:chr m:val="̅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</m:num>
                          <m:den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den>
                        </m:f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⟹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sSub>
                          <m:e>
                            <m:acc>
                              <m:accPr>
                                <m:chr m:val="̅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accPr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e</m:t>
                                </m:r>
                              </m:e>
                            </m:acc>
                          </m:e>
                          <m:sub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7</m:t>
                                </m:r>
                              </m:sup>
                            </m:sSup>
                            <m:sSub>
                              <m:e>
                                <m:acc>
                                  <m:accPr>
                                    <m:chr m:val="̅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e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7</m:t>
                                </m:r>
                              </m:sub>
                            </m:sSub>
                          </m:num>
                          <m:den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7</m:t>
                            </m:r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!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5" name="TextBox 15"/>
            <p:cNvSpPr txBox="1"/>
            <p:nvPr/>
          </p:nvSpPr>
          <p:spPr>
            <a:xfrm>
              <a:off x="751332" y="3439477"/>
              <a:ext cx="38847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每退一步误差除以 n，7 步之后缩小到 1/5040。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4007168"/>
            <a:ext cx="5410200" cy="1655445"/>
            <a:chOff x="533400" y="4007168"/>
            <a:chExt cx="5410200" cy="1655445"/>
          </a:xfrm>
        </p:grpSpPr>
        <p:sp>
          <p:nvSpPr>
            <p:cNvPr id="17" name="Rectangle 17"/>
            <p:cNvSpPr/>
            <p:nvPr/>
          </p:nvSpPr>
          <p:spPr>
            <a:xfrm>
              <a:off x="533400" y="4007168"/>
              <a:ext cx="5410200" cy="1655445"/>
            </a:xfrm>
            <a:prstGeom prst="roundRect">
              <a:avLst>
                <a:gd name="adj" fmla="val 80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4140518"/>
              <a:ext cx="47625" cy="13887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58190" y="4193858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9660" y="422671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起点怎么定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1332" y="4537710"/>
              <a:ext cx="430853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e⁻¹ ≤ e^(x−1) ≤ 1（0 ≤ x ≤ 1）两边积分得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1/(e(n+1)) ≤ Iₙ ≤ 1/(n+1)。n = 7 时 I₇ ∈ [0.046,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0.125]，区间内任取一个数当 Ī₇ 都行，这里取 0.112。</a:t>
              </a:r>
            </a:p>
          </p:txBody>
        </p:sp>
      </p:grpSp>
      <p:grpSp>
        <p:nvGrpSpPr>
          <p:cNvPr id="79" name="c2-table-1"/>
          <p:cNvGrpSpPr/>
          <p:nvPr/>
        </p:nvGrpSpPr>
        <p:grpSpPr>
          <a:xfrm>
            <a:off x="6243447" y="1524000"/>
            <a:ext cx="5415153" cy="2263806"/>
            <a:chOff x="6243447" y="1524000"/>
            <a:chExt cx="5415153" cy="2263806"/>
          </a:xfrm>
        </p:grpSpPr>
        <p:sp>
          <p:nvSpPr>
            <p:cNvPr id="23" name="Rectangle 23"/>
            <p:cNvSpPr/>
            <p:nvPr/>
          </p:nvSpPr>
          <p:spPr>
            <a:xfrm>
              <a:off x="6248400" y="1524000"/>
              <a:ext cx="5410200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49151" y="1645444"/>
              <a:ext cx="5471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起点 Ī₇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232724" y="1645444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Ī₆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98522" y="1645444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Ī₅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564319" y="1645444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Ī₄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230117" y="1645444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Ī₃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895914" y="1645444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Ī₂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561712" y="1645444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Ī₁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227509" y="1645444"/>
              <a:ext cx="195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Ī₀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99337" y="2045494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0.112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117410" y="204549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0.127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783208" y="204549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0.146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449005" y="204549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0.171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114803" y="204549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0.207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780600" y="204549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0.264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446398" y="204549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0.368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112195" y="204549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0.632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248400" y="23193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48400" y="232410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99337" y="2445544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117410" y="244554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0.143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783208" y="244554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0.143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449005" y="244554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0.171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114803" y="244554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0.207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780600" y="244554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0.264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446398" y="244554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0.368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112195" y="244554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0.632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248400" y="27193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99337" y="2845594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0.125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117410" y="284559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0.125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783208" y="284559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0.146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449005" y="284559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0.171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114803" y="284559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0.207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780600" y="284559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0.264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446398" y="284559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0.368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112195" y="284559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0.632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248400" y="31194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248400" y="312420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466243" y="32456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真值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117410" y="324564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0.127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783208" y="324564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0.146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449005" y="324564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0.171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114803" y="324564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0.207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780600" y="324564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0.264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446398" y="324564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0.368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11002328" y="3133725"/>
              <a:ext cx="646748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1112195" y="324564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0.632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248400" y="1524000"/>
              <a:ext cx="5410200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6992302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7658100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8323898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8989695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9656445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10322242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10988040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243447" y="3597116"/>
              <a:ext cx="40244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三个差别很大的起点，退到 Ī₃ 就已经并成同一串数（Python 复算）</a:t>
              </a:r>
            </a:p>
          </p:txBody>
        </p:sp>
      </p:grpSp>
      <p:grpSp>
        <p:nvGrpSpPr>
          <p:cNvPr id="85" name="c2-card-2"/>
          <p:cNvGrpSpPr/>
          <p:nvPr/>
        </p:nvGrpSpPr>
        <p:grpSpPr>
          <a:xfrm>
            <a:off x="6248400" y="3919538"/>
            <a:ext cx="5410200" cy="1743075"/>
            <a:chOff x="6248400" y="3919538"/>
            <a:chExt cx="5410200" cy="1743075"/>
          </a:xfrm>
        </p:grpSpPr>
        <p:sp>
          <p:nvSpPr>
            <p:cNvPr id="80" name="Rectangle 80"/>
            <p:cNvSpPr/>
            <p:nvPr/>
          </p:nvSpPr>
          <p:spPr>
            <a:xfrm>
              <a:off x="6248400" y="3919538"/>
              <a:ext cx="5410200" cy="1743075"/>
            </a:xfrm>
            <a:prstGeom prst="roundRect">
              <a:avLst>
                <a:gd name="adj" fmla="val 765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6435090" y="410622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6527762" y="413908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428232" y="4451032"/>
              <a:ext cx="478859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起点故意取成 0 或 0.125，误差高达 0.11，退 4 步后就看不出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来了，Ī₀ 一律得到 </a:t>
              </a:r>
              <a:r>
                <a:rPr lang="zh-CN" sz="135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0.632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，与真值 0.6321 吻合到 3 位。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428232" y="5008245"/>
              <a:ext cx="484860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正向递推叫 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数值不稳定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的算法，反向递推叫 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数值稳定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的算法。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问题本身（求 Iₙ）是良态的，毁掉结果的是算法而不是问题。</a:t>
              </a:r>
            </a:p>
          </p:txBody>
        </p:sp>
      </p:grpSp>
      <p:grpSp>
        <p:nvGrpSpPr>
          <p:cNvPr id="91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86" name="Rectangle 86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89" name="Group 89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90" name="TextBox 90"/>
            <p:cNvSpPr txBox="1"/>
            <p:nvPr/>
          </p:nvSpPr>
          <p:spPr>
            <a:xfrm>
              <a:off x="1040892" y="6028373"/>
              <a:ext cx="93095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判断稳定性的办法：写出误差的递推式，看放大因子的模是大于 1 还是小于 1。大于 1 就换一个方向或换一个公式。</a:t>
              </a:r>
            </a:p>
          </p:txBody>
        </p:sp>
      </p:grpSp>
      <p:grpSp>
        <p:nvGrpSpPr>
          <p:cNvPr id="9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2" name="TextBox 92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第1章 绪论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绪论 · 误差分析：误差怎样在运算中传播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避免误差放大的五条原则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5410200" cy="2347912"/>
            <a:chOff x="533400" y="1524000"/>
            <a:chExt cx="5410200" cy="23479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347912"/>
            </a:xfrm>
            <a:prstGeom prst="roundRect">
              <a:avLst>
                <a:gd name="adj" fmla="val 568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3244" y="175069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原则一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42847" y="175641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避免两个相近的数相减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2090738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改写成等价的、不含抵消的形式。常用的三种改写：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34378" y="2448877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90397" y="2392680"/>
              <a:ext cx="33667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有理化：√(x+1) − √x = 1/(√(x+1) + √x)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34378" y="2751772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90397" y="2695575"/>
              <a:ext cx="30305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三角恒等式：1 − cos x = 2sin²(x/2)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34378" y="3053715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90397" y="2997518"/>
              <a:ext cx="37302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韦达定理换根：例 1.2 的 x₂ = 1/(12 + √143)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20090" y="3297079"/>
              <a:ext cx="4712462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 很小时 ln(1+x) − ln(1) 改成 ln(1+x)；eˣ − 1 改成 Taylor 展开首项 x +</a:t>
              </a:r>
              <a:br/>
              <a:r>
                <a:rPr lang="en-US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x²/2 + …</a:t>
              </a:r>
            </a:p>
          </p:txBody>
        </p:sp>
      </p:grpSp>
      <p:grpSp>
        <p:nvGrpSpPr>
          <p:cNvPr id="25" name="c1-card-2"/>
          <p:cNvGrpSpPr/>
          <p:nvPr/>
        </p:nvGrpSpPr>
        <p:grpSpPr>
          <a:xfrm>
            <a:off x="533400" y="4047172"/>
            <a:ext cx="5410200" cy="1507808"/>
            <a:chOff x="533400" y="4047172"/>
            <a:chExt cx="5410200" cy="1507808"/>
          </a:xfrm>
        </p:grpSpPr>
        <p:sp>
          <p:nvSpPr>
            <p:cNvPr id="20" name="Rectangle 20"/>
            <p:cNvSpPr/>
            <p:nvPr/>
          </p:nvSpPr>
          <p:spPr>
            <a:xfrm>
              <a:off x="533400" y="4047172"/>
              <a:ext cx="5410200" cy="1507808"/>
            </a:xfrm>
            <a:prstGeom prst="roundRect">
              <a:avLst>
                <a:gd name="adj" fmla="val 8844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25805" y="4239578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13244" y="427386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原则二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42847" y="427958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防止大数吃小数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18947" y="4612958"/>
              <a:ext cx="474573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求和时按 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绝对值从小到大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相加；方程组消元时选绝对值大的元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素作主元（第 2 章的选主元技术就是这条）。</a:t>
              </a:r>
            </a:p>
          </p:txBody>
        </p:sp>
      </p:grpSp>
      <p:grpSp>
        <p:nvGrpSpPr>
          <p:cNvPr id="31" name="c2-card-1"/>
          <p:cNvGrpSpPr/>
          <p:nvPr/>
        </p:nvGrpSpPr>
        <p:grpSpPr>
          <a:xfrm>
            <a:off x="6248400" y="1524000"/>
            <a:ext cx="5410200" cy="1226820"/>
            <a:chOff x="6248400" y="1524000"/>
            <a:chExt cx="5410200" cy="1226820"/>
          </a:xfrm>
        </p:grpSpPr>
        <p:sp>
          <p:nvSpPr>
            <p:cNvPr id="26" name="Rectangle 26"/>
            <p:cNvSpPr/>
            <p:nvPr/>
          </p:nvSpPr>
          <p:spPr>
            <a:xfrm>
              <a:off x="6248400" y="1524000"/>
              <a:ext cx="5410200" cy="1226820"/>
            </a:xfrm>
            <a:prstGeom prst="roundRect">
              <a:avLst>
                <a:gd name="adj" fmla="val 1087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440805" y="1716405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28245" y="175069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原则三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157847" y="175641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避免用绝对值很小的数作除数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33947" y="2090738"/>
              <a:ext cx="473716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除数 y 的误差会被放大 |x|/y² 倍。能通分、能约分就先化简，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或者把式子改写成乘法。</a:t>
              </a:r>
            </a:p>
          </p:txBody>
        </p:sp>
      </p:grpSp>
      <p:grpSp>
        <p:nvGrpSpPr>
          <p:cNvPr id="37" name="c2-card-2"/>
          <p:cNvGrpSpPr/>
          <p:nvPr/>
        </p:nvGrpSpPr>
        <p:grpSpPr>
          <a:xfrm>
            <a:off x="6248400" y="2926080"/>
            <a:ext cx="5410200" cy="1226820"/>
            <a:chOff x="6248400" y="2926080"/>
            <a:chExt cx="5410200" cy="1226820"/>
          </a:xfrm>
        </p:grpSpPr>
        <p:sp>
          <p:nvSpPr>
            <p:cNvPr id="32" name="Rectangle 32"/>
            <p:cNvSpPr/>
            <p:nvPr/>
          </p:nvSpPr>
          <p:spPr>
            <a:xfrm>
              <a:off x="6248400" y="2926080"/>
              <a:ext cx="5410200" cy="1226820"/>
            </a:xfrm>
            <a:prstGeom prst="roundRect">
              <a:avLst>
                <a:gd name="adj" fmla="val 1087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440805" y="3118485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28245" y="315277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原则四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157847" y="315849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减少运算次数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33947" y="3491865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运算次数少，一则快，二则累积的舍入误差也少。秦九韶算法把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n(n+1)/2 次乘法降到 n 次，是本章的样板。</a:t>
              </a:r>
            </a:p>
          </p:txBody>
        </p:sp>
      </p:grpSp>
      <p:grpSp>
        <p:nvGrpSpPr>
          <p:cNvPr id="43" name="c2-card-3"/>
          <p:cNvGrpSpPr/>
          <p:nvPr/>
        </p:nvGrpSpPr>
        <p:grpSpPr>
          <a:xfrm>
            <a:off x="6248400" y="4328160"/>
            <a:ext cx="5410200" cy="1226820"/>
            <a:chOff x="6248400" y="4328160"/>
            <a:chExt cx="5410200" cy="1226820"/>
          </a:xfrm>
        </p:grpSpPr>
        <p:sp>
          <p:nvSpPr>
            <p:cNvPr id="38" name="Rectangle 38"/>
            <p:cNvSpPr/>
            <p:nvPr/>
          </p:nvSpPr>
          <p:spPr>
            <a:xfrm>
              <a:off x="6248400" y="4328160"/>
              <a:ext cx="5410200" cy="1226820"/>
            </a:xfrm>
            <a:prstGeom prst="roundRect">
              <a:avLst>
                <a:gd name="adj" fmla="val 1087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440805" y="4520565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28245" y="455485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原则五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157847" y="45596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选用数值稳定的算法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33947" y="4893945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先写出误差的递推关系，看放大因子。例 1.6 的正向递推放大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倍，反向递推缩小 n 倍，一正一反就是不稳定与稳定的分界。</a:t>
              </a:r>
            </a:p>
          </p:txBody>
        </p:sp>
      </p:grpSp>
      <p:grpSp>
        <p:nvGrpSpPr>
          <p:cNvPr id="50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4" name="Rectangle 44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26129" y="6014203"/>
              <a:ext cx="224134" cy="192560"/>
              <a:chOff x="726129" y="6014203"/>
              <a:chExt cx="224134" cy="19256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838200" y="60845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26129" y="60142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38200" y="6162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40892" y="6023610"/>
              <a:ext cx="80101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病态问题不在这五条的管辖范围内：条件数大是问题自带的，只能提高输入数据的精度或改换模型。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第1章 绪论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18055" cy="909257"/>
            <a:chOff x="520446" y="342900"/>
            <a:chExt cx="731805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绪论 · 误差分析：误差怎样在运算中传播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1805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习题 2：三种写法算 1 − cos2°，误差差 600 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8702718" cy="278702"/>
            <a:chOff x="526161" y="1547336"/>
            <a:chExt cx="8702718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87027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利用四位数学用表求 1 − cos2° 的近似值。表中 cos2° = 0.9994，sin2° = 0.0349，sin1° = 0.0175。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198"/>
              <p:cNvSpPr txBox="1">
                <a:spLocks noGrp="1"/>
              </p:cNvSpPr>
              <p:nvPr/>
            </p:nvSpPr>
            <p:spPr>
              <a:xfrm>
                <a:off x="533400" y="1941195"/>
                <a:ext cx="5193982" cy="4886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cos</m:t>
                          </m:r>
                        </m:fName>
                        <m:e>
                          <m:sSup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∘</m:t>
                              </m:r>
                            </m:sup>
                          </m:sSup>
                        </m:e>
                      </m:func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func>
                            <m:funcPr/>
                            <m:fName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sSup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∘</m:t>
                                  </m:r>
                                </m:sup>
                              </m:sSup>
                            </m:e>
                          </m:func>
                        </m:num>
                        <m:den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cos</m:t>
                              </m:r>
                            </m:fName>
                            <m:e>
                              <m:sSup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∘</m:t>
                                  </m:r>
                                </m:sup>
                              </m:sSup>
                            </m:e>
                          </m:func>
                        </m:den>
                      </m:f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func>
                        <m:funcPr/>
                        <m:fName>
                          <m:sSup>
                            <m:e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sSup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∘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</a:p>
            </p:txBody>
          </p:sp>
        </mc:Choice>
      </mc:AlternateContent>
      <p:grpSp>
        <p:nvGrpSpPr>
          <p:cNvPr id="17" name="c1-card-2"/>
          <p:cNvGrpSpPr/>
          <p:nvPr/>
        </p:nvGrpSpPr>
        <p:grpSpPr>
          <a:xfrm>
            <a:off x="533400" y="2605088"/>
            <a:ext cx="5193982" cy="3612832"/>
            <a:chOff x="533400" y="2605088"/>
            <a:chExt cx="5193982" cy="3612832"/>
          </a:xfrm>
        </p:grpSpPr>
        <p:sp>
          <p:nvSpPr>
            <p:cNvPr id="10" name="Rectangle 10"/>
            <p:cNvSpPr/>
            <p:nvPr/>
          </p:nvSpPr>
          <p:spPr>
            <a:xfrm>
              <a:off x="533400" y="2605088"/>
              <a:ext cx="5193982" cy="3612832"/>
            </a:xfrm>
            <a:prstGeom prst="roundRect">
              <a:avLst>
                <a:gd name="adj" fmla="val 36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542925" y="2738438"/>
              <a:ext cx="47625" cy="334613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63905" y="2797492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51344" y="283178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逐个算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7047" y="3154680"/>
              <a:ext cx="4238673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① 直接相减：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1 − 0.9994 = 0.0006。两个数前三位都是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0.999，相减后只剩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 位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有效数字。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7047" y="3713798"/>
              <a:ext cx="454856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② 用 sin²2°/(1 + cos2°)：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0.0349²/(1 + 0.9994)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0.00121801/1.9994 = 0.0006092。分母是加法，不抵消。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7047" y="4273868"/>
              <a:ext cx="458285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③ 用 2sin²1°：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2×0.0175² = 2×0.00030625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0.0006125。也没有相减，但 sin1° = 0.0175 本身只有 3 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有效数字，查表误差偏大。</a:t>
              </a:r>
            </a:p>
          </p:txBody>
        </p:sp>
      </p:grpSp>
      <p:grpSp>
        <p:nvGrpSpPr>
          <p:cNvPr id="45" name="c2-table-1"/>
          <p:cNvGrpSpPr/>
          <p:nvPr/>
        </p:nvGrpSpPr>
        <p:grpSpPr>
          <a:xfrm>
            <a:off x="6026848" y="1941195"/>
            <a:ext cx="5631752" cy="1903666"/>
            <a:chOff x="6026848" y="1941195"/>
            <a:chExt cx="5631752" cy="1903666"/>
          </a:xfrm>
        </p:grpSpPr>
        <p:sp>
          <p:nvSpPr>
            <p:cNvPr id="18" name="Rectangle 18"/>
            <p:cNvSpPr/>
            <p:nvPr/>
          </p:nvSpPr>
          <p:spPr>
            <a:xfrm>
              <a:off x="6032182" y="1941195"/>
              <a:ext cx="5626418" cy="40576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719608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算法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238846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381566" y="20654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绝对误差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676014" y="20654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相对误差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132195" y="2471261"/>
              <a:ext cx="8504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① 1 − cos2°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016453" y="2471261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0.0006000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309948" y="2471261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−9.2×10⁻⁶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317480" y="2356485"/>
              <a:ext cx="1331595" cy="38671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713707" y="2471261"/>
              <a:ext cx="5391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−1.51%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032182" y="274796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032182" y="2752725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132195" y="2877026"/>
              <a:ext cx="14995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② sin²2°/(1+cos2°)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016453" y="2877026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0.0006092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309948" y="2877026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+1.5×10⁻⁸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0317480" y="2762250"/>
              <a:ext cx="1331595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630781" y="2877026"/>
              <a:ext cx="7049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+0.0024%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032182" y="315372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132195" y="3282791"/>
              <a:ext cx="7159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③ 2sin²1°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016453" y="3282791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0.0006125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309948" y="3282791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+3.3×10⁻⁶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713707" y="3282791"/>
              <a:ext cx="5391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+0.55%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032182" y="1941195"/>
              <a:ext cx="5626418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7715250" y="194119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9065895" y="194119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10303192" y="194119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026848" y="3639502"/>
              <a:ext cx="32170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真值 1 − cos2° = 0.00060917298（Python 复算）</a:t>
              </a:r>
            </a:p>
          </p:txBody>
        </p:sp>
      </p:grpSp>
      <p:grpSp>
        <p:nvGrpSpPr>
          <p:cNvPr id="52" name="c2-card-2"/>
          <p:cNvGrpSpPr/>
          <p:nvPr/>
        </p:nvGrpSpPr>
        <p:grpSpPr>
          <a:xfrm>
            <a:off x="6032182" y="3978592"/>
            <a:ext cx="5626418" cy="2240280"/>
            <a:chOff x="6032182" y="3978592"/>
            <a:chExt cx="5626418" cy="2240280"/>
          </a:xfrm>
        </p:grpSpPr>
        <p:sp>
          <p:nvSpPr>
            <p:cNvPr id="46" name="Rectangle 46"/>
            <p:cNvSpPr/>
            <p:nvPr/>
          </p:nvSpPr>
          <p:spPr>
            <a:xfrm>
              <a:off x="6032182" y="3978592"/>
              <a:ext cx="5626418" cy="2240280"/>
            </a:xfrm>
            <a:prstGeom prst="roundRect">
              <a:avLst>
                <a:gd name="adj" fmla="val 5952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224588" y="4170998"/>
              <a:ext cx="1037272" cy="247650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298695" y="4205288"/>
              <a:ext cx="8881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 ② 最好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217730" y="4527232"/>
              <a:ext cx="488289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② 用到的 sin2° = 0.0349 相对误差 1.4×10⁻⁴ ，平方后翻倍，除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以 1.9994 几乎不变，结果的相对误差仍在 10⁻⁴ 量级。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217730" y="5087302"/>
              <a:ext cx="488289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③ 也没有相减，但 sin1° = 0.0175 的相对误差是 2.7×10⁻³ ，平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方后 5.5×10⁻³ ，落后 ② 两个数量级。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218872" y="5643086"/>
              <a:ext cx="489737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思考题（原课件第 89 页）：对 x₂ = 1/(12 + √143) 作同样分析，得 eᵣ*(x₂)</a:t>
              </a:r>
              <a:br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= −eᵣ*(12 + √143)，放大因子只有 0.5。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第1章 绪论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绪论 · 误差分析：误差怎样在运算中传播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数值实验：步长取得越小，导数反而越不准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647117" cy="264033"/>
            <a:chOff x="526542" y="1545907"/>
            <a:chExt cx="6647117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6471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实验 3：函数 f(x) 的导数定义为 h → 0 时差商的极限，于是有下面两种计算方法。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211"/>
              <p:cNvSpPr txBox="1">
                <a:spLocks noGrp="1"/>
              </p:cNvSpPr>
              <p:nvPr/>
            </p:nvSpPr>
            <p:spPr>
              <a:xfrm>
                <a:off x="533400" y="1928812"/>
                <a:ext cx="4544378" cy="4629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′</m:t>
                          </m:r>
                        </m:sup>
                      </m:sSup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</m:t>
                      </m:r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formula212"/>
              <p:cNvSpPr txBox="1">
                <a:spLocks noGrp="1"/>
              </p:cNvSpPr>
              <p:nvPr/>
            </p:nvSpPr>
            <p:spPr>
              <a:xfrm>
                <a:off x="533400" y="2556510"/>
                <a:ext cx="4544378" cy="4629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′</m:t>
                          </m:r>
                        </m:sup>
                      </m:sSup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</m:t>
                      </m:r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h</m:t>
                              </m:r>
                            </m:e>
                          </m:d>
                        </m:num>
                        <m:den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2h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20" name="c1-card-3"/>
          <p:cNvGrpSpPr/>
          <p:nvPr/>
        </p:nvGrpSpPr>
        <p:grpSpPr>
          <a:xfrm>
            <a:off x="533400" y="3184208"/>
            <a:ext cx="4544378" cy="2987040"/>
            <a:chOff x="533400" y="3184208"/>
            <a:chExt cx="4544378" cy="2987040"/>
          </a:xfrm>
        </p:grpSpPr>
        <p:sp>
          <p:nvSpPr>
            <p:cNvPr id="11" name="Rectangle 11"/>
            <p:cNvSpPr/>
            <p:nvPr/>
          </p:nvSpPr>
          <p:spPr>
            <a:xfrm>
              <a:off x="533400" y="3184208"/>
              <a:ext cx="4544378" cy="2987040"/>
            </a:xfrm>
            <a:prstGeom prst="roundRect">
              <a:avLst>
                <a:gd name="adj" fmla="val 44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3317558"/>
              <a:ext cx="47625" cy="272034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52475" y="3365182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25843" y="339804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两项误差在打架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2000" y="3757612"/>
              <a:ext cx="57150" cy="571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17448" y="3704749"/>
              <a:ext cx="370306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方法误差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：前差公式的余项是 O(h)，中心差公式是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O(h²)，h 越小越好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62000" y="4285298"/>
              <a:ext cx="57150" cy="571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17448" y="4233386"/>
              <a:ext cx="375183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舍入误差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：分子是两个相近数相减，绝对误差约为机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器精度 ε ≈ 2.2×10⁻¹⁶ ，除以 h 后变成 ε/h，h 越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小越糟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7141" y="4999672"/>
              <a:ext cx="382447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总误差 ≈ C·hᵏ + ε/h，在 h = (ε)^(1/(k+1)) 附近取到最小：前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差约 1.5×10⁻⁸ ，中心差约 6×10⁻⁶ 。</a:t>
              </a:r>
            </a:p>
          </p:txBody>
        </p:sp>
      </p:grpSp>
      <p:grpSp>
        <p:nvGrpSpPr>
          <p:cNvPr id="50" name="c2-table-1"/>
          <p:cNvGrpSpPr/>
          <p:nvPr/>
        </p:nvGrpSpPr>
        <p:grpSpPr>
          <a:xfrm>
            <a:off x="5377624" y="1928812"/>
            <a:ext cx="6280976" cy="2725770"/>
            <a:chOff x="5377624" y="1928812"/>
            <a:chExt cx="6280976" cy="2725770"/>
          </a:xfrm>
        </p:grpSpPr>
        <p:sp>
          <p:nvSpPr>
            <p:cNvPr id="21" name="Rectangle 21"/>
            <p:cNvSpPr/>
            <p:nvPr/>
          </p:nvSpPr>
          <p:spPr>
            <a:xfrm>
              <a:off x="5382578" y="1928812"/>
              <a:ext cx="6276022" cy="38100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026991" y="2045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58278" y="204597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前差公式误差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934575" y="204597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中心差公式误差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904546" y="2426970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10⁻²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32487" y="2426970"/>
              <a:ext cx="710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1.36×10⁻²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079460" y="2426970"/>
              <a:ext cx="710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4.53×10⁻⁵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82578" y="268700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82578" y="2691765"/>
              <a:ext cx="627602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904546" y="2808923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10⁻⁴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32487" y="2808923"/>
              <a:ext cx="710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1.36×10⁻⁴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079460" y="2808923"/>
              <a:ext cx="710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4.53×10⁻⁹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82578" y="306800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904546" y="3189923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10⁻⁶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632487" y="3189923"/>
              <a:ext cx="710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1.36×10⁻⁶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040588" y="3189923"/>
              <a:ext cx="788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1.64×10⁻¹⁰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82578" y="344900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382578" y="3453765"/>
              <a:ext cx="627602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904546" y="3571875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10⁻⁸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632487" y="3571875"/>
              <a:ext cx="710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6.60×10⁻⁹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079460" y="3571875"/>
              <a:ext cx="710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6.60×10⁻⁹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82578" y="383095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863730" y="3952875"/>
              <a:ext cx="4188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10⁻¹⁰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632487" y="3952875"/>
              <a:ext cx="710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1.55×10⁻⁶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079460" y="3952875"/>
              <a:ext cx="7103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6.73×10⁻⁷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82578" y="1928812"/>
              <a:ext cx="6276022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758940" y="1928812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9205912" y="1928812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377624" y="4290536"/>
              <a:ext cx="5766181" cy="3640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65"/>
                </a:lnSpc>
              </a:pPr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f(x) = eˣ，x₀ = 1，f′(1) = 2.71828182846；h 减到 10⁻¹² 误差回涨到 4.3×10⁻⁴，10⁻¹⁴ 时两者都到</a:t>
              </a:r>
              <a:br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9.3×10⁻³</a:t>
              </a:r>
            </a:p>
          </p:txBody>
        </p:sp>
      </p:grpSp>
      <p:grpSp>
        <p:nvGrpSpPr>
          <p:cNvPr id="56" name="c2-card-2"/>
          <p:cNvGrpSpPr/>
          <p:nvPr/>
        </p:nvGrpSpPr>
        <p:grpSpPr>
          <a:xfrm>
            <a:off x="5382578" y="4780598"/>
            <a:ext cx="6276022" cy="1390650"/>
            <a:chOff x="5382578" y="4780598"/>
            <a:chExt cx="6276022" cy="1390650"/>
          </a:xfrm>
        </p:grpSpPr>
        <p:sp>
          <p:nvSpPr>
            <p:cNvPr id="51" name="Rectangle 51"/>
            <p:cNvSpPr/>
            <p:nvPr/>
          </p:nvSpPr>
          <p:spPr>
            <a:xfrm>
              <a:off x="5382578" y="4780598"/>
              <a:ext cx="6276022" cy="1390650"/>
            </a:xfrm>
            <a:prstGeom prst="roundRect">
              <a:avLst>
                <a:gd name="adj" fmla="val 9589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5563552" y="496157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656224" y="499443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读表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557076" y="5302091"/>
              <a:ext cx="56212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误差先随 h 变小而下降，过了最优点又掉头上升，曲线呈 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V 形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。中心差公式在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同样的 h 下精度高得多（h = 10⁻⁴ 时领先 5 个数量级），最优步长反而更大。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558219" y="5825490"/>
              <a:ext cx="59615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这说明“取极限”在计算机上不能照搬：h 不是越小越好。第 6 章的数值微分会再用到这条结论。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第1章 绪论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1922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6661" y="407194"/>
              <a:ext cx="12327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绪论 · 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自测题（一）概述、浮点表示与误差来源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428750"/>
            <a:chOff x="533400" y="1524000"/>
            <a:chExt cx="5410200" cy="14287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428750"/>
            </a:xfrm>
            <a:prstGeom prst="roundRect">
              <a:avLst>
                <a:gd name="adj" fmla="val 933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14375" y="170497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3832" y="173783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07898" y="2045494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方法误差和舍入误差分别产生在六个环节的哪一步？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07898" y="2330291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方法误差产生在由数学模型转向数值方法这一步（用有限步代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替无穷过程）；舍入误差产生在计算机计算这一步（字长有限）。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117532"/>
            <a:ext cx="5410200" cy="1185862"/>
            <a:chOff x="533400" y="3117532"/>
            <a:chExt cx="5410200" cy="1185862"/>
          </a:xfrm>
        </p:grpSpPr>
        <p:sp>
          <p:nvSpPr>
            <p:cNvPr id="13" name="Rectangle 13"/>
            <p:cNvSpPr/>
            <p:nvPr/>
          </p:nvSpPr>
          <p:spPr>
            <a:xfrm>
              <a:off x="533400" y="3117532"/>
              <a:ext cx="5410200" cy="1185862"/>
            </a:xfrm>
            <a:prstGeom prst="roundRect">
              <a:avLst>
                <a:gd name="adj" fmla="val 1124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14375" y="329850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3832" y="333136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07898" y="3639026"/>
              <a:ext cx="48561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用秦九韶算法算 P₃(x) = x³ + 2x² − 3x + 1 在 x = 2 处的值。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7898" y="3923824"/>
              <a:ext cx="43638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u₀=1；u₁=1×2+2=4；u₂=4×2−3=5；u₃=5×2+1=11。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469130"/>
            <a:ext cx="5410200" cy="1671638"/>
            <a:chOff x="533400" y="4469130"/>
            <a:chExt cx="5410200" cy="1671638"/>
          </a:xfrm>
        </p:grpSpPr>
        <p:sp>
          <p:nvSpPr>
            <p:cNvPr id="19" name="Rectangle 19"/>
            <p:cNvSpPr/>
            <p:nvPr/>
          </p:nvSpPr>
          <p:spPr>
            <a:xfrm>
              <a:off x="533400" y="4469130"/>
              <a:ext cx="5410200" cy="1671638"/>
            </a:xfrm>
            <a:prstGeom prst="roundRect">
              <a:avLst>
                <a:gd name="adj" fmla="val 797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14375" y="465010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03832" y="468296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07898" y="4989671"/>
              <a:ext cx="472150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位十进制浮点机上算 0.2015×10⁴ − 0.2008×10⁴，结果有几位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有效数字？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7898" y="5518309"/>
              <a:ext cx="471906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算得 0.7000×10¹，但只有首位是真的，后三位 0 是规范化补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出来的，实际 1 位。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671638"/>
            <a:chOff x="6248400" y="1524000"/>
            <a:chExt cx="5410200" cy="1671638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671638"/>
            </a:xfrm>
            <a:prstGeom prst="roundRect">
              <a:avLst>
                <a:gd name="adj" fmla="val 797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29375" y="170497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18832" y="173783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22898" y="2045494"/>
              <a:ext cx="4732071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Cramer 法则解 20 阶方程组约需多少次乘法？每秒 10¹¹ 次要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算多久？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22898" y="2573179"/>
              <a:ext cx="446709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21! ≈ 5.11×10¹⁹ 次，约 5.11×10⁸ 秒 ≈ 16 年。Gauss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消去法只要约 2700 次乘除。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3360420"/>
            <a:ext cx="5410200" cy="1185862"/>
            <a:chOff x="6248400" y="3360420"/>
            <a:chExt cx="5410200" cy="1185862"/>
          </a:xfrm>
        </p:grpSpPr>
        <p:sp>
          <p:nvSpPr>
            <p:cNvPr id="31" name="Rectangle 31"/>
            <p:cNvSpPr/>
            <p:nvPr/>
          </p:nvSpPr>
          <p:spPr>
            <a:xfrm>
              <a:off x="6248400" y="3360420"/>
              <a:ext cx="5410200" cy="1185862"/>
            </a:xfrm>
            <a:prstGeom prst="roundRect">
              <a:avLst>
                <a:gd name="adj" fmla="val 1124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29375" y="354139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18832" y="357425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22898" y="3881914"/>
              <a:ext cx="48744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机器数集 S(3, 1, 2) 有多少个数？最小正数、最大数是多少？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22898" y="4166711"/>
              <a:ext cx="43552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 4×4×2 + 1 = 33 个；最小正数 1/4，最大数 7/2。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712018"/>
            <a:ext cx="5410200" cy="1428750"/>
            <a:chOff x="6248400" y="4712018"/>
            <a:chExt cx="5410200" cy="1428750"/>
          </a:xfrm>
        </p:grpSpPr>
        <p:sp>
          <p:nvSpPr>
            <p:cNvPr id="37" name="Rectangle 37"/>
            <p:cNvSpPr/>
            <p:nvPr/>
          </p:nvSpPr>
          <p:spPr>
            <a:xfrm>
              <a:off x="6248400" y="4712018"/>
              <a:ext cx="5410200" cy="1428750"/>
            </a:xfrm>
            <a:prstGeom prst="roundRect">
              <a:avLst>
                <a:gd name="adj" fmla="val 933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29375" y="489299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18832" y="492585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22898" y="5232559"/>
              <a:ext cx="48032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双精度下 1 − 0.2 − 0.2 − 0.2 − 0.2 − 0.2 为什么不等于 0？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22898" y="5518309"/>
              <a:ext cx="46865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 存入时已被舍入，五次相减把偏差累积成 5.55×10⁻¹⁷，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故不能用等号比较浮点数。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第1章 绪论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1922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6661" y="407194"/>
              <a:ext cx="12327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绪论 · 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自测题（二）有效数字、误差传播与稳定性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743075"/>
            <a:chOff x="533400" y="1524000"/>
            <a:chExt cx="5410200" cy="17430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743075"/>
            </a:xfrm>
            <a:prstGeom prst="roundRect">
              <a:avLst>
                <a:gd name="adj" fmla="val 765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0090" y="171069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9547" y="174355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3232" y="2054542"/>
              <a:ext cx="463043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x* = 0.03400 作为 x 的近似值，写出标准形式并判断有效位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3232" y="2612708"/>
              <a:ext cx="411994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x* = 0.3400×10⁻¹，m = −1，ε* = 0.5×10⁻⁵。由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0.5×10ᵐ⁻ⁿ = 0.5×10⁻⁵ 得 n = 4 位。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436620"/>
            <a:ext cx="5410200" cy="1485900"/>
            <a:chOff x="533400" y="3436620"/>
            <a:chExt cx="5410200" cy="1485900"/>
          </a:xfrm>
        </p:grpSpPr>
        <p:sp>
          <p:nvSpPr>
            <p:cNvPr id="13" name="Rectangle 13"/>
            <p:cNvSpPr/>
            <p:nvPr/>
          </p:nvSpPr>
          <p:spPr>
            <a:xfrm>
              <a:off x="533400" y="3436620"/>
              <a:ext cx="5410200" cy="1485900"/>
            </a:xfrm>
            <a:prstGeom prst="roundRect">
              <a:avLst>
                <a:gd name="adj" fmla="val 89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0090" y="362331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9547" y="365617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3232" y="3968115"/>
              <a:ext cx="47461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3.15 作为 π 的近似值有几位有效数字？为什么不是 3 位？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3232" y="4268152"/>
              <a:ext cx="465143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|3.15 − π| = 0.0084 &gt; 0.5×10⁻²，只满足 ≤ 0.5×10⁻¹，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故 m = 1、n = 2，只有 2 位。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5093018"/>
            <a:ext cx="5410200" cy="1228725"/>
            <a:chOff x="533400" y="5093018"/>
            <a:chExt cx="5410200" cy="1228725"/>
          </a:xfrm>
        </p:grpSpPr>
        <p:sp>
          <p:nvSpPr>
            <p:cNvPr id="19" name="Rectangle 19"/>
            <p:cNvSpPr/>
            <p:nvPr/>
          </p:nvSpPr>
          <p:spPr>
            <a:xfrm>
              <a:off x="533400" y="5093018"/>
              <a:ext cx="5410200" cy="1228725"/>
            </a:xfrm>
            <a:prstGeom prst="roundRect">
              <a:avLst>
                <a:gd name="adj" fmla="val 1085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0090" y="527970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09547" y="531256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3232" y="5623560"/>
              <a:ext cx="43731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f(x) = xⁿ 的条件数是多少？对相对误差起什么作用？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3232" y="5923598"/>
              <a:ext cx="4247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Cₚ = |x·nxⁿ⁻¹/xⁿ| = n，相对误差被放大 n 倍。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743075"/>
            <a:chOff x="6248400" y="1524000"/>
            <a:chExt cx="5410200" cy="1743075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743075"/>
            </a:xfrm>
            <a:prstGeom prst="roundRect">
              <a:avLst>
                <a:gd name="adj" fmla="val 765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35090" y="171069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4547" y="174355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28232" y="2054542"/>
              <a:ext cx="4684443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x* = 3578.64 具有 6 位有效数字，求它的绝对误差限与相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对误差限。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28232" y="2612708"/>
              <a:ext cx="401707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= 4，n = 6，|e*| ≤ 0.5×10⁻² = 0.005；εᵣ*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0.005/3578.64 ≈ 1.4×10⁻⁶。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3436620"/>
            <a:ext cx="5410200" cy="1228725"/>
            <a:chOff x="6248400" y="3436620"/>
            <a:chExt cx="5410200" cy="1228725"/>
          </a:xfrm>
        </p:grpSpPr>
        <p:sp>
          <p:nvSpPr>
            <p:cNvPr id="31" name="Rectangle 31"/>
            <p:cNvSpPr/>
            <p:nvPr/>
          </p:nvSpPr>
          <p:spPr>
            <a:xfrm>
              <a:off x="6248400" y="3436620"/>
              <a:ext cx="5410200" cy="1228725"/>
            </a:xfrm>
            <a:prstGeom prst="roundRect">
              <a:avLst>
                <a:gd name="adj" fmla="val 1085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35090" y="362331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4547" y="365617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28232" y="3968115"/>
              <a:ext cx="46425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x、y 相除，结果的相对误差与两者的相对误差什么关系？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28232" y="4268152"/>
              <a:ext cx="38847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eᵣ*(x/y) = eᵣ*(x) − eᵣ*(y)，量级不变。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835842"/>
            <a:ext cx="5410200" cy="1485900"/>
            <a:chOff x="6248400" y="4835842"/>
            <a:chExt cx="5410200" cy="1485900"/>
          </a:xfrm>
        </p:grpSpPr>
        <p:sp>
          <p:nvSpPr>
            <p:cNvPr id="37" name="Rectangle 37"/>
            <p:cNvSpPr/>
            <p:nvPr/>
          </p:nvSpPr>
          <p:spPr>
            <a:xfrm>
              <a:off x="6248400" y="4835842"/>
              <a:ext cx="5410200" cy="1485900"/>
            </a:xfrm>
            <a:prstGeom prst="roundRect">
              <a:avLst>
                <a:gd name="adj" fmla="val 89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35090" y="502253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24547" y="505539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28232" y="5366385"/>
              <a:ext cx="47538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Iₙ = 1 − nIₙ₋₁ 正着用和反着用，误差放大因子各是多少？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28232" y="5666423"/>
              <a:ext cx="472859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正着用 ēₙ = −nēₙ₋₁，7 步放大 5040 倍，不稳定；反着用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每步缩小 n 倍，稳定。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第1章 绪论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432179" cy="909257"/>
            <a:chOff x="520446" y="342900"/>
            <a:chExt cx="143217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1922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6661" y="407194"/>
              <a:ext cx="12327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第1章 绪论 · 小结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kv-1"/>
          <p:cNvGrpSpPr/>
          <p:nvPr/>
        </p:nvGrpSpPr>
        <p:grpSpPr>
          <a:xfrm>
            <a:off x="526923" y="1545431"/>
            <a:ext cx="5957697" cy="3317367"/>
            <a:chOff x="526923" y="1545431"/>
            <a:chExt cx="5957697" cy="3317367"/>
          </a:xfrm>
        </p:grpSpPr>
        <p:sp>
          <p:nvSpPr>
            <p:cNvPr id="7" name="TextBox 7"/>
            <p:cNvSpPr txBox="1"/>
            <p:nvPr/>
          </p:nvSpPr>
          <p:spPr>
            <a:xfrm>
              <a:off x="526923" y="15454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四类误差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923288" y="1545431"/>
              <a:ext cx="423951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模型、观测（进不了计算方法的管辖）；方法、舍入（本课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程能控制）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205644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6923" y="215884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四个基本量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23288" y="2158841"/>
              <a:ext cx="379247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e* = x* − x；ε* 是 |e*| 的上界；eᵣ* = e*/x；εᵣ* =</a:t>
              </a:r>
              <a:br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ε*/|x*|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67081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6923" y="277225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有效数字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923288" y="2772251"/>
              <a:ext cx="4093210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x* = ±0.α₁…αₖ×10ᵐ，|e*| ≤ 0.5×10ᵐ⁻ⁿ 就是 n 位有效数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328422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6923" y="3386614"/>
              <a:ext cx="7103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定理 1.1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23288" y="3386614"/>
              <a:ext cx="415823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位有效数字 ⟹ |eᵣ*| ≤ 10⁻⁽ⁿ⁻¹⁾/(2α₁)；反向条件把 α₁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换成 α₁+1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89763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6923" y="400002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误差传播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923288" y="4000024"/>
              <a:ext cx="407695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加减看绝对误差相加，乘除看相对误差相加减；函数值按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|f′(x*)|·|e*| 估计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451199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26923" y="4613434"/>
              <a:ext cx="11821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病态 vs 不稳定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23288" y="4613434"/>
              <a:ext cx="41743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条件数大是问题的毛病；放大因子大于 1 是算法的毛病</a:t>
              </a:r>
            </a:p>
          </p:txBody>
        </p:sp>
      </p:grpSp>
      <p:grpSp>
        <p:nvGrpSpPr>
          <p:cNvPr id="34" name="c1-bullets-2"/>
          <p:cNvGrpSpPr/>
          <p:nvPr/>
        </p:nvGrpSpPr>
        <p:grpSpPr>
          <a:xfrm>
            <a:off x="533400" y="4987290"/>
            <a:ext cx="5423825" cy="847058"/>
            <a:chOff x="533400" y="4987290"/>
            <a:chExt cx="5423825" cy="847058"/>
          </a:xfrm>
        </p:grpSpPr>
        <p:sp>
          <p:nvSpPr>
            <p:cNvPr id="25" name="Ellipse 25"/>
            <p:cNvSpPr/>
            <p:nvPr/>
          </p:nvSpPr>
          <p:spPr>
            <a:xfrm>
              <a:off x="533400" y="4987290"/>
              <a:ext cx="180975" cy="18097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85307" y="502291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03148" y="4998244"/>
              <a:ext cx="48377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看到相减先问两个数是否接近，接近就有理化、用恒等式或换根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533400" y="5280660"/>
              <a:ext cx="180975" cy="18097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85307" y="531628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03148" y="5291614"/>
              <a:ext cx="43466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看到递推先写误差递推式，放大因子大于 1 就掉头反着算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533400" y="5574030"/>
              <a:ext cx="180975" cy="18097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85307" y="560870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03148" y="5584984"/>
              <a:ext cx="51540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看到公式先估运算量，Cramer 法则和秦九韶算法是两个极端的例子</a:t>
              </a:r>
            </a:p>
          </p:txBody>
        </p:sp>
      </p:grpSp>
      <p:grpSp>
        <p:nvGrpSpPr>
          <p:cNvPr id="49" name="c2-card-1"/>
          <p:cNvGrpSpPr/>
          <p:nvPr/>
        </p:nvGrpSpPr>
        <p:grpSpPr>
          <a:xfrm>
            <a:off x="6789420" y="1524000"/>
            <a:ext cx="4869180" cy="3255645"/>
            <a:chOff x="6789420" y="1524000"/>
            <a:chExt cx="4869180" cy="3255645"/>
          </a:xfrm>
        </p:grpSpPr>
        <p:sp>
          <p:nvSpPr>
            <p:cNvPr id="35" name="Rectangle 35"/>
            <p:cNvSpPr/>
            <p:nvPr/>
          </p:nvSpPr>
          <p:spPr>
            <a:xfrm>
              <a:off x="6789420" y="1524000"/>
              <a:ext cx="4869180" cy="3255645"/>
            </a:xfrm>
            <a:prstGeom prst="roundRect">
              <a:avLst>
                <a:gd name="adj" fmla="val 409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798945" y="1657350"/>
              <a:ext cx="47625" cy="29889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008495" y="1704975"/>
              <a:ext cx="145446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070662" y="1737836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本讲义对原课件的更正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018020" y="2097405"/>
              <a:ext cx="57150" cy="571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173468" y="2045494"/>
              <a:ext cx="41175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1.1 的 (4)(5) 把乘除法的第一步标成“对阶”，应为阶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码相加、相减（第 58 页）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018020" y="2625090"/>
              <a:ext cx="57150" cy="571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173468" y="2573179"/>
              <a:ext cx="406069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人口数表 1990 年写作 11433 万，应为 114333 万（第 5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页）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018020" y="3153728"/>
              <a:ext cx="57150" cy="571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173468" y="3100864"/>
              <a:ext cx="388188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手写页把 10¹¹ 标注为“百亿次”，百亿是 10¹⁰（第 38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页）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018020" y="3681412"/>
              <a:ext cx="57150" cy="571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173468" y="3628549"/>
              <a:ext cx="384124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1.5 解答里写作“令 f₂′(x) = 99 − 70x”，应为“令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f₂(x) = 99 − 70x”（第 84 页）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7018020" y="4209098"/>
              <a:ext cx="57150" cy="571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173468" y="4156234"/>
              <a:ext cx="397129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习题 1 第四个数按幻灯片原图是 3×10⁴，只有 1 位有效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数字（第 90 页）</a:t>
              </a:r>
            </a:p>
          </p:txBody>
        </p:sp>
      </p:grpSp>
      <p:grpSp>
        <p:nvGrpSpPr>
          <p:cNvPr id="54" name="c2-card-2"/>
          <p:cNvGrpSpPr/>
          <p:nvPr/>
        </p:nvGrpSpPr>
        <p:grpSpPr>
          <a:xfrm>
            <a:off x="6789420" y="4944428"/>
            <a:ext cx="4869180" cy="1386840"/>
            <a:chOff x="6789420" y="4944428"/>
            <a:chExt cx="4869180" cy="1386840"/>
          </a:xfrm>
        </p:grpSpPr>
        <p:sp>
          <p:nvSpPr>
            <p:cNvPr id="50" name="Rectangle 50"/>
            <p:cNvSpPr/>
            <p:nvPr/>
          </p:nvSpPr>
          <p:spPr>
            <a:xfrm>
              <a:off x="6789420" y="4944428"/>
              <a:ext cx="4869180" cy="1386840"/>
            </a:xfrm>
            <a:prstGeom prst="roundRect">
              <a:avLst>
                <a:gd name="adj" fmla="val 9615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970395" y="5125402"/>
              <a:ext cx="1204912" cy="23812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040664" y="5158264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与后面各章的接口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963918" y="5465921"/>
              <a:ext cx="426389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2 章的矩阵条件数与选主元，是本章病态问题和大数吃小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数的展开；第 6 章数值微分、数值积分选步长，用的是本章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方法误差与舍入误差相互制约的结论。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第1章 绪论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numa_ch1">
  <a:themeElements>
    <a:clrScheme name="numa_ch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numa_ch1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numa_ch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2026-09-19T13:53:37Z</dcterms:created>
  <dcterms:modified xsi:type="dcterms:W3CDTF">2026-09-19T13:53:37Z</dcterms:modified>
  <cp:category/>
  <cp:contentStatus/>
</cp:coreProperties>
</file>