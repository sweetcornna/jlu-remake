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uma_ch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uma_ch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9de2f340581dfd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6a062e2760777bb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4f70d1fd974049d.png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14183" cy="3437763"/>
            <a:chOff x="666750" y="1619250"/>
            <a:chExt cx="4314183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· 第6章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数值积分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042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插值型求积、复合公式与 Romberg 外推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插值型求积与代数精度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360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梯形、Simpson、Cotes 公式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37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复合梯形与复合 Simpson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901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Romberg 外推（补充）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078101" cy="205359"/>
            <a:chOff x="680466" y="6192202"/>
            <a:chExt cx="507810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078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自学复习版｜据吉林大学《计算方法》第6章课件（6.1–6.3 节）整理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agenda-1"/>
          <p:cNvGrpSpPr/>
          <p:nvPr/>
        </p:nvGrpSpPr>
        <p:grpSpPr>
          <a:xfrm>
            <a:off x="521970" y="1515428"/>
            <a:ext cx="6376497" cy="3387375"/>
            <a:chOff x="521970" y="1515428"/>
            <a:chExt cx="6376497" cy="338737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15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 引入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8314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波纹瓦弧长等实例，Newton-Leibniz 公式用不上的三种情形，积分中值定理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3037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 Newton-Cotes 求积公式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3530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机械求积，插值型求积公式与代数精度，梯形、Simpson、Cotes 公式及余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项，Cotes 系数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31197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 复合求积与 Romberg 公式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49629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Runge 现象，复合梯形与复合 Simpson 公式及余项，变步长梯形法与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Romberg 外推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19481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30053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3367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习题与数值实验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653439"/>
              <a:ext cx="4475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道课后习题的完整解答，trapz 步长实验与抛物线法实验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7114222" y="1524000"/>
            <a:ext cx="4544378" cy="3328988"/>
            <a:chOff x="7114222" y="1524000"/>
            <a:chExt cx="4544378" cy="3328988"/>
          </a:xfrm>
        </p:grpSpPr>
        <p:sp>
          <p:nvSpPr>
            <p:cNvPr id="23" name="Rectangle 23"/>
            <p:cNvSpPr/>
            <p:nvPr/>
          </p:nvSpPr>
          <p:spPr>
            <a:xfrm>
              <a:off x="7114222" y="1524000"/>
              <a:ext cx="4544378" cy="3328988"/>
            </a:xfrm>
            <a:prstGeom prst="roundRect">
              <a:avLst>
                <a:gd name="adj" fmla="val 40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3748" y="1657350"/>
              <a:ext cx="47625" cy="306228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25702" y="211074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用代入 1, x, x², … 的方法求求积公式的代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数精度，或定出待定系数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Lagrange 插值推出插值型求积系数，写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出梯形、Simpson、Cotes 公式及余项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335280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用复合梯形、复合 Simpson 公式计算积分，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按余项估计误差或所需步长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397383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说明高阶 Newton-Cotes 公式不宜使用的原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因，会用 Romberg 表外推加速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6.1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引入：为什么需要数值积分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40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Newton-Leibniz 公式要先求原函数，很多实际问题做不到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波纹瓦材料长度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原函数求不出、太复杂，或 f 只有数表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积分中值定理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引入：为什么需要数值积分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波纹瓦要用多长的铝板：一个求不出原函数的弧长积分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735002" cy="2629852"/>
            <a:chOff x="533400" y="1524000"/>
            <a:chExt cx="5735002" cy="2629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2629852"/>
            </a:xfrm>
            <a:prstGeom prst="roundRect">
              <a:avLst>
                <a:gd name="adj" fmla="val 50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631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实际问题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9631" y="17568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波纹瓦材料长度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建筑上用的一种铝制波纹瓦，是用机器把一块平整的铝板压制而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成的。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2690336"/>
              <a:ext cx="500989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要求波纹瓦长 4 英尺，每个波纹的高度（从中心线算起）为 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英寸，且每个波纹以近似 2π 英寸为一个周期。求制作一块波纹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瓦所需铝板的长度 L。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524" y="3547110"/>
              <a:ext cx="50185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英尺 = 12 英寸，问题就是求曲线 f(x) = sin x 从 x = 0 到 x = 48 英寸之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间的弧长。</a:t>
              </a:r>
            </a:p>
          </p:txBody>
        </p:sp>
      </p:grpSp>
      <p:grpSp>
        <p:nvGrpSpPr>
          <p:cNvPr id="17" name="c1-text-2"/>
          <p:cNvGrpSpPr/>
          <p:nvPr/>
        </p:nvGrpSpPr>
        <p:grpSpPr>
          <a:xfrm>
            <a:off x="526161" y="4357211"/>
            <a:ext cx="1926082" cy="278702"/>
            <a:chOff x="526161" y="4357211"/>
            <a:chExt cx="1926082" cy="278702"/>
          </a:xfrm>
        </p:grpSpPr>
        <p:sp>
          <p:nvSpPr>
            <p:cNvPr id="16" name="TextBox 16"/>
            <p:cNvSpPr txBox="1"/>
            <p:nvPr/>
          </p:nvSpPr>
          <p:spPr>
            <a:xfrm>
              <a:off x="526161" y="435721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由微积分的弧长公式：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3"/>
              <p:cNvSpPr txBox="1">
                <a:spLocks noGrp="1"/>
              </p:cNvSpPr>
              <p:nvPr/>
            </p:nvSpPr>
            <p:spPr>
              <a:xfrm>
                <a:off x="533400" y="4759642"/>
                <a:ext cx="5735002" cy="613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48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48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unc>
                                <m:funcPr/>
                                <m:fName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func>
                            </m:e>
                          </m:ra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5" name="c1-callout-4"/>
          <p:cNvGrpSpPr/>
          <p:nvPr/>
        </p:nvGrpSpPr>
        <p:grpSpPr>
          <a:xfrm>
            <a:off x="533400" y="5554028"/>
            <a:ext cx="5735002" cy="756285"/>
            <a:chOff x="533400" y="5554028"/>
            <a:chExt cx="5735002" cy="756285"/>
          </a:xfrm>
        </p:grpSpPr>
        <p:sp>
          <p:nvSpPr>
            <p:cNvPr id="19" name="Rectangle 19"/>
            <p:cNvSpPr/>
            <p:nvPr/>
          </p:nvSpPr>
          <p:spPr>
            <a:xfrm>
              <a:off x="533400" y="5554028"/>
              <a:ext cx="573500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828466"/>
              <a:ext cx="224134" cy="192560"/>
              <a:chOff x="726129" y="5828466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8988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8284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9766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5701189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这个积分称为第二类椭圆积分，被积函数的原函数不能用初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等函数表示，Newton-Leibniz 公式无从下手。</a:t>
              </a:r>
            </a:p>
          </p:txBody>
        </p:sp>
      </p:grpSp>
      <p:grpSp>
        <p:nvGrpSpPr>
          <p:cNvPr id="28" name="c2-image-1"/>
          <p:cNvGrpSpPr/>
          <p:nvPr/>
        </p:nvGrpSpPr>
        <p:grpSpPr>
          <a:xfrm>
            <a:off x="6573202" y="1524000"/>
            <a:ext cx="5085398" cy="3661981"/>
            <a:chOff x="6573202" y="1524000"/>
            <a:chExt cx="5085398" cy="3661981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0" t="5910" r="0" b="5909"/>
            <a:stretch>
              <a:fillRect/>
            </a:stretch>
          </p:blipFill>
          <p:spPr>
            <a:xfrm>
              <a:off x="6573202" y="1524000"/>
              <a:ext cx="5085398" cy="3363278"/>
            </a:xfrm>
            <a:prstGeom prst="roundRect">
              <a:avLst>
                <a:gd name="adj" fmla="val 3964"/>
              </a:avLst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7625906" y="498062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平板压成波纹板，所需板长等于波形曲线的弧长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573202" y="5344478"/>
            <a:ext cx="5085398" cy="1018222"/>
            <a:chOff x="6573202" y="5344478"/>
            <a:chExt cx="5085398" cy="1018222"/>
          </a:xfrm>
        </p:grpSpPr>
        <p:sp>
          <p:nvSpPr>
            <p:cNvPr id="29" name="Rectangle 29"/>
            <p:cNvSpPr/>
            <p:nvPr/>
          </p:nvSpPr>
          <p:spPr>
            <a:xfrm>
              <a:off x="6573202" y="5344478"/>
              <a:ext cx="5085398" cy="1018222"/>
            </a:xfrm>
            <a:prstGeom prst="roundRect">
              <a:avLst>
                <a:gd name="adj" fmla="val 112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777990" y="5753100"/>
              <a:ext cx="200026" cy="200026"/>
              <a:chOff x="6777990" y="5753100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777990" y="57531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844665" y="58308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080314" y="5491639"/>
              <a:ext cx="421640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补充：用 6.3 节的复合 Simpson 公式取 h = 0.5，算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得 L ≈ 58.47 英寸（约 4.87 英尺），比成品长约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22%。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4562" cy="909257"/>
            <a:chOff x="520446" y="342900"/>
            <a:chExt cx="90045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引入：为什么需要数值积分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45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Newton-Leibniz 公式的局限：原函数求不出，或者太复杂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092990" cy="308039"/>
            <a:chOff x="525399" y="1550194"/>
            <a:chExt cx="60929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0929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公式要求先找到原函数 F(x)，实际计算中常遇到下面两种情况。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0"/>
              <p:cNvSpPr txBox="1">
                <a:spLocks noGrp="1"/>
              </p:cNvSpPr>
              <p:nvPr/>
            </p:nvSpPr>
            <p:spPr>
              <a:xfrm>
                <a:off x="533400" y="1967865"/>
                <a:ext cx="4869180" cy="6934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2"/>
          <p:cNvGrpSpPr/>
          <p:nvPr/>
        </p:nvGrpSpPr>
        <p:grpSpPr>
          <a:xfrm>
            <a:off x="533400" y="2851785"/>
            <a:ext cx="4869180" cy="3304222"/>
            <a:chOff x="533400" y="2851785"/>
            <a:chExt cx="4869180" cy="3304222"/>
          </a:xfrm>
        </p:grpSpPr>
        <p:sp>
          <p:nvSpPr>
            <p:cNvPr id="10" name="Rectangle 10"/>
            <p:cNvSpPr/>
            <p:nvPr/>
          </p:nvSpPr>
          <p:spPr>
            <a:xfrm>
              <a:off x="533400" y="2851785"/>
              <a:ext cx="4869180" cy="3304222"/>
            </a:xfrm>
            <a:prstGeom prst="roundRect">
              <a:avLst>
                <a:gd name="adj" fmla="val 40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2985135"/>
              <a:ext cx="47625" cy="303752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30613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7793" y="30970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情形 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08760" y="309657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原函数不能用初等函数表示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1"/>
                <p:cNvSpPr txBox="1">
                  <a:spLocks noGrp="1"/>
                </p:cNvSpPr>
                <p:nvPr/>
              </p:nvSpPr>
              <p:spPr>
                <a:xfrm>
                  <a:off x="781050" y="3432810"/>
                  <a:ext cx="4411980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func>
                          </m:num>
                          <m:den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2"/>
                <p:cNvSpPr txBox="1">
                  <a:spLocks noGrp="1"/>
                </p:cNvSpPr>
                <p:nvPr/>
              </p:nvSpPr>
              <p:spPr>
                <a:xfrm>
                  <a:off x="781050" y="4196715"/>
                  <a:ext cx="4411980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func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ad>
                          <m:radPr>
                            <m:degHide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p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74573" y="4981099"/>
              <a:ext cx="4190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波纹瓦中的 √(1 + cos²x) 也属于这一类。这些函数的积分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只能近似计算。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5512594"/>
              <a:ext cx="42070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概率统计中的标准正态分布函数 Φ(x) 也是这样，只能查表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或数值计算。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5707380" y="1967865"/>
            <a:ext cx="5951220" cy="2372678"/>
            <a:chOff x="5707380" y="1967865"/>
            <a:chExt cx="5951220" cy="2372678"/>
          </a:xfrm>
        </p:grpSpPr>
        <p:sp>
          <p:nvSpPr>
            <p:cNvPr id="20" name="Rectangle 20"/>
            <p:cNvSpPr/>
            <p:nvPr/>
          </p:nvSpPr>
          <p:spPr>
            <a:xfrm>
              <a:off x="5707380" y="1967865"/>
              <a:ext cx="5951220" cy="2372678"/>
            </a:xfrm>
            <a:prstGeom prst="roundRect">
              <a:avLst>
                <a:gd name="adj" fmla="val 56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6905" y="2101215"/>
              <a:ext cx="47625" cy="21059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55030" y="217741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1773" y="221313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情形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82740" y="221265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原函数能写出，但表达式十分复杂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47410" y="2573655"/>
              <a:ext cx="4871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 f(x) = x²√(2x² + 3) 并不复杂，它的原函数却是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3"/>
                <p:cNvSpPr txBox="1">
                  <a:spLocks noGrp="1"/>
                </p:cNvSpPr>
                <p:nvPr/>
              </p:nvSpPr>
              <p:spPr>
                <a:xfrm>
                  <a:off x="5955030" y="2884170"/>
                  <a:ext cx="549402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5947410" y="3441382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又如 f(x) = 1/(1 + x⁶)：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4"/>
                <p:cNvSpPr txBox="1">
                  <a:spLocks noGrp="1"/>
                </p:cNvSpPr>
                <p:nvPr/>
              </p:nvSpPr>
              <p:spPr>
                <a:xfrm>
                  <a:off x="5955030" y="3751898"/>
                  <a:ext cx="5494020" cy="3600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arctan</m:t>
                            </m:r>
                          </m:fName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arctan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arctan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den>
                            </m:f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llout-2"/>
          <p:cNvGrpSpPr/>
          <p:nvPr/>
        </p:nvGrpSpPr>
        <p:grpSpPr>
          <a:xfrm>
            <a:off x="5707380" y="4531042"/>
            <a:ext cx="5951220" cy="1059180"/>
            <a:chOff x="5707380" y="4531042"/>
            <a:chExt cx="5951220" cy="1059180"/>
          </a:xfrm>
        </p:grpSpPr>
        <p:sp>
          <p:nvSpPr>
            <p:cNvPr id="30" name="Rectangle 30"/>
            <p:cNvSpPr/>
            <p:nvPr/>
          </p:nvSpPr>
          <p:spPr>
            <a:xfrm>
              <a:off x="5707380" y="4531042"/>
              <a:ext cx="595122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912168" y="4960620"/>
              <a:ext cx="200026" cy="200026"/>
              <a:chOff x="5912168" y="4960620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912168" y="49606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12180" y="50272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001068" y="50606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214110" y="4679632"/>
              <a:ext cx="4825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更正：原课件第一个原函数的首项写作 (1/4)x²√(2x²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3)，求导验算应为 (1/4)x³√(2x² + 3)。两个原函数都已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sympy 求导验证 F′(x) = f(x)。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74580" cy="909257"/>
            <a:chOff x="520446" y="342900"/>
            <a:chExt cx="79745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引入：为什么需要数值积分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745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只有数表时怎么办：积分等于区间长度乘“平均高度”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card-1"/>
          <p:cNvGrpSpPr/>
          <p:nvPr/>
        </p:nvGrpSpPr>
        <p:grpSpPr>
          <a:xfrm>
            <a:off x="533400" y="1524000"/>
            <a:ext cx="5193982" cy="1997392"/>
            <a:chOff x="533400" y="1524000"/>
            <a:chExt cx="5193982" cy="19973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97392"/>
            </a:xfrm>
            <a:prstGeom prst="roundRect">
              <a:avLst>
                <a:gd name="adj" fmla="val 66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06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234" y="174355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情形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35227" y="1745932"/>
              <a:ext cx="4125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没有解析表达式，只有测量或实验得来的数表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58190" y="2049780"/>
              <a:ext cx="478250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82331" y="2171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07196" y="2171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90151" y="2171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74059" y="2171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75099" y="2171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58054" y="2171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1723" y="257127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09270" y="25712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09299" y="257127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76132" y="25712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77172" y="25712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77201" y="257127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8190" y="2049780"/>
              <a:ext cx="4782502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01165" y="204978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02205" y="204978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268028" y="204978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969068" y="204978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70108" y="204978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2475" y="2952274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被积函数本身都不知道，更谈不上原函数。这组数据的积分在习题部分用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复合公式计算。</a:t>
              </a:r>
            </a:p>
          </p:txBody>
        </p:sp>
      </p:grpSp>
      <p:grpSp>
        <p:nvGrpSpPr>
          <p:cNvPr id="178" name="c1-graph-2"/>
          <p:cNvGrpSpPr/>
          <p:nvPr/>
        </p:nvGrpSpPr>
        <p:grpSpPr>
          <a:xfrm>
            <a:off x="693420" y="3789998"/>
            <a:ext cx="4827270" cy="1835466"/>
            <a:chOff x="693420" y="3789998"/>
            <a:chExt cx="4827270" cy="1835466"/>
          </a:xfrm>
        </p:grpSpPr>
        <p:sp>
          <p:nvSpPr>
            <p:cNvPr id="33" name="Freeform 33"/>
            <p:cNvSpPr/>
            <p:nvPr/>
          </p:nvSpPr>
          <p:spPr>
            <a:xfrm>
              <a:off x="751522" y="5410200"/>
              <a:ext cx="4662488" cy="9525"/>
            </a:xfrm>
            <a:custGeom>
              <a:avLst/>
              <a:gdLst/>
              <a:ahLst/>
              <a:cxnLst/>
              <a:rect l="l" t="t" r="r" b="b"/>
              <a:pathLst>
                <a:path w="4662488" h="9525">
                  <a:moveTo>
                    <a:pt x="0" y="0"/>
                  </a:moveTo>
                  <a:lnTo>
                    <a:pt x="4662488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414010" y="53625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41045" y="3914775"/>
              <a:ext cx="9525" cy="1484947"/>
            </a:xfrm>
            <a:custGeom>
              <a:avLst/>
              <a:gdLst/>
              <a:ahLst/>
              <a:cxnLst/>
              <a:rect l="l" t="t" r="r" b="b"/>
              <a:pathLst>
                <a:path w="9525" h="1484947">
                  <a:moveTo>
                    <a:pt x="0" y="1484947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93420" y="38195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29159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38588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48018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57448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66878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76307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85737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95167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04597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14026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223456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232886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242316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251745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261175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270605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280035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289464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298894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308324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317754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327183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336613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346043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355473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364902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374332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383762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393192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402621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412051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421481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430911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440340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449770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459200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4686300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4780598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4874895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496919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1243965" y="4398645"/>
              <a:ext cx="3772852" cy="1001077"/>
            </a:xfrm>
            <a:custGeom>
              <a:avLst/>
              <a:gdLst/>
              <a:ahLst/>
              <a:cxnLst/>
              <a:rect l="l" t="t" r="r" b="b"/>
              <a:pathLst>
                <a:path w="3772852" h="1001077">
                  <a:moveTo>
                    <a:pt x="0" y="1001077"/>
                  </a:moveTo>
                  <a:lnTo>
                    <a:pt x="0" y="0"/>
                  </a:lnTo>
                  <a:lnTo>
                    <a:pt x="3772852" y="0"/>
                  </a:lnTo>
                  <a:lnTo>
                    <a:pt x="3772852" y="1001077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1064895" y="4191000"/>
              <a:ext cx="4193858" cy="456247"/>
            </a:xfrm>
            <a:custGeom>
              <a:avLst/>
              <a:gdLst/>
              <a:ahLst/>
              <a:cxnLst/>
              <a:rect l="l" t="t" r="r" b="b"/>
              <a:pathLst>
                <a:path w="4193858" h="456247">
                  <a:moveTo>
                    <a:pt x="0" y="456247"/>
                  </a:moveTo>
                  <a:lnTo>
                    <a:pt x="86678" y="409575"/>
                  </a:lnTo>
                  <a:lnTo>
                    <a:pt x="181928" y="360045"/>
                  </a:lnTo>
                  <a:lnTo>
                    <a:pt x="278130" y="313372"/>
                  </a:lnTo>
                  <a:lnTo>
                    <a:pt x="373380" y="269558"/>
                  </a:lnTo>
                  <a:lnTo>
                    <a:pt x="469582" y="229553"/>
                  </a:lnTo>
                  <a:lnTo>
                    <a:pt x="564832" y="194310"/>
                  </a:lnTo>
                  <a:lnTo>
                    <a:pt x="661035" y="162878"/>
                  </a:lnTo>
                  <a:lnTo>
                    <a:pt x="756285" y="135255"/>
                  </a:lnTo>
                  <a:lnTo>
                    <a:pt x="852488" y="113347"/>
                  </a:lnTo>
                  <a:lnTo>
                    <a:pt x="948690" y="96203"/>
                  </a:lnTo>
                  <a:lnTo>
                    <a:pt x="1043940" y="82867"/>
                  </a:lnTo>
                  <a:lnTo>
                    <a:pt x="1139190" y="74295"/>
                  </a:lnTo>
                  <a:lnTo>
                    <a:pt x="1235392" y="71438"/>
                  </a:lnTo>
                  <a:lnTo>
                    <a:pt x="1330642" y="71438"/>
                  </a:lnTo>
                  <a:lnTo>
                    <a:pt x="1426845" y="76200"/>
                  </a:lnTo>
                  <a:lnTo>
                    <a:pt x="1523047" y="84772"/>
                  </a:lnTo>
                  <a:lnTo>
                    <a:pt x="1618297" y="97155"/>
                  </a:lnTo>
                  <a:lnTo>
                    <a:pt x="1713547" y="112395"/>
                  </a:lnTo>
                  <a:lnTo>
                    <a:pt x="1809750" y="129540"/>
                  </a:lnTo>
                  <a:lnTo>
                    <a:pt x="1905000" y="148590"/>
                  </a:lnTo>
                  <a:lnTo>
                    <a:pt x="2001202" y="169545"/>
                  </a:lnTo>
                  <a:lnTo>
                    <a:pt x="2097405" y="191453"/>
                  </a:lnTo>
                  <a:lnTo>
                    <a:pt x="2192655" y="213360"/>
                  </a:lnTo>
                  <a:lnTo>
                    <a:pt x="2287905" y="234315"/>
                  </a:lnTo>
                  <a:lnTo>
                    <a:pt x="2384108" y="255270"/>
                  </a:lnTo>
                  <a:lnTo>
                    <a:pt x="2480310" y="275272"/>
                  </a:lnTo>
                  <a:lnTo>
                    <a:pt x="2575560" y="292417"/>
                  </a:lnTo>
                  <a:lnTo>
                    <a:pt x="2671762" y="306705"/>
                  </a:lnTo>
                  <a:lnTo>
                    <a:pt x="2767012" y="319088"/>
                  </a:lnTo>
                  <a:lnTo>
                    <a:pt x="2862262" y="327660"/>
                  </a:lnTo>
                  <a:lnTo>
                    <a:pt x="2958465" y="332422"/>
                  </a:lnTo>
                  <a:lnTo>
                    <a:pt x="3054668" y="333375"/>
                  </a:lnTo>
                  <a:lnTo>
                    <a:pt x="3149918" y="329565"/>
                  </a:lnTo>
                  <a:lnTo>
                    <a:pt x="3245168" y="321945"/>
                  </a:lnTo>
                  <a:lnTo>
                    <a:pt x="3341370" y="308610"/>
                  </a:lnTo>
                  <a:lnTo>
                    <a:pt x="3436620" y="291465"/>
                  </a:lnTo>
                  <a:lnTo>
                    <a:pt x="3532822" y="268605"/>
                  </a:lnTo>
                  <a:lnTo>
                    <a:pt x="3629025" y="241935"/>
                  </a:lnTo>
                  <a:lnTo>
                    <a:pt x="3724275" y="210503"/>
                  </a:lnTo>
                  <a:lnTo>
                    <a:pt x="3819525" y="175260"/>
                  </a:lnTo>
                  <a:lnTo>
                    <a:pt x="3915727" y="135255"/>
                  </a:lnTo>
                  <a:lnTo>
                    <a:pt x="4011930" y="91440"/>
                  </a:lnTo>
                  <a:lnTo>
                    <a:pt x="4107180" y="44767"/>
                  </a:lnTo>
                  <a:lnTo>
                    <a:pt x="4193858" y="0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597342" y="4409122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99060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F26B3A"/>
              </a:solidFill>
              <a:custDash>
                <a:ds d="500000" sp="333333"/>
              </a:custDash>
            </a:ln>
          </p:spPr>
        </p:sp>
        <p:sp>
          <p:nvSpPr>
            <p:cNvPr id="80" name="Ellipse 80"/>
            <p:cNvSpPr/>
            <p:nvPr/>
          </p:nvSpPr>
          <p:spPr>
            <a:xfrm>
              <a:off x="74009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551878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74009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740092" y="38080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1290638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290638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38493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38493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147923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147923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157353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157353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1667828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1667828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176212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176212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185642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185642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195072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195072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2045018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2045018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213931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213931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223361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223361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232791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232791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2422208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2422208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251650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251650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261080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261080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270510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270510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2799398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2799398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289369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289369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298799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298799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308229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308229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3176588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3176588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327088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327088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336518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336518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345948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345948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3553777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3553777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364807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364807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374237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374237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383667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383667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3930968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3930968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402526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3" name="Ellipse 143"/>
            <p:cNvSpPr/>
            <p:nvPr/>
          </p:nvSpPr>
          <p:spPr>
            <a:xfrm>
              <a:off x="402526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4" name="Ellipse 144"/>
            <p:cNvSpPr/>
            <p:nvPr/>
          </p:nvSpPr>
          <p:spPr>
            <a:xfrm>
              <a:off x="411956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5" name="Ellipse 145"/>
            <p:cNvSpPr/>
            <p:nvPr/>
          </p:nvSpPr>
          <p:spPr>
            <a:xfrm>
              <a:off x="411956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6" name="Ellipse 146"/>
            <p:cNvSpPr/>
            <p:nvPr/>
          </p:nvSpPr>
          <p:spPr>
            <a:xfrm>
              <a:off x="421386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7" name="Ellipse 147"/>
            <p:cNvSpPr/>
            <p:nvPr/>
          </p:nvSpPr>
          <p:spPr>
            <a:xfrm>
              <a:off x="421386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8" name="Ellipse 148"/>
            <p:cNvSpPr/>
            <p:nvPr/>
          </p:nvSpPr>
          <p:spPr>
            <a:xfrm>
              <a:off x="4308158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9" name="Ellipse 149"/>
            <p:cNvSpPr/>
            <p:nvPr/>
          </p:nvSpPr>
          <p:spPr>
            <a:xfrm>
              <a:off x="4308158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0" name="Ellipse 150"/>
            <p:cNvSpPr/>
            <p:nvPr/>
          </p:nvSpPr>
          <p:spPr>
            <a:xfrm>
              <a:off x="440245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440245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2" name="Ellipse 152"/>
            <p:cNvSpPr/>
            <p:nvPr/>
          </p:nvSpPr>
          <p:spPr>
            <a:xfrm>
              <a:off x="449675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449675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4" name="Ellipse 154"/>
            <p:cNvSpPr/>
            <p:nvPr/>
          </p:nvSpPr>
          <p:spPr>
            <a:xfrm>
              <a:off x="459105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5" name="Ellipse 155"/>
            <p:cNvSpPr/>
            <p:nvPr/>
          </p:nvSpPr>
          <p:spPr>
            <a:xfrm>
              <a:off x="459105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6" name="Ellipse 156"/>
            <p:cNvSpPr/>
            <p:nvPr/>
          </p:nvSpPr>
          <p:spPr>
            <a:xfrm>
              <a:off x="4685348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7" name="Ellipse 157"/>
            <p:cNvSpPr/>
            <p:nvPr/>
          </p:nvSpPr>
          <p:spPr>
            <a:xfrm>
              <a:off x="4685348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8" name="Ellipse 158"/>
            <p:cNvSpPr/>
            <p:nvPr/>
          </p:nvSpPr>
          <p:spPr>
            <a:xfrm>
              <a:off x="477964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9" name="Ellipse 159"/>
            <p:cNvSpPr/>
            <p:nvPr/>
          </p:nvSpPr>
          <p:spPr>
            <a:xfrm>
              <a:off x="4779645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0" name="Ellipse 160"/>
            <p:cNvSpPr/>
            <p:nvPr/>
          </p:nvSpPr>
          <p:spPr>
            <a:xfrm>
              <a:off x="487394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1" name="Ellipse 161"/>
            <p:cNvSpPr/>
            <p:nvPr/>
          </p:nvSpPr>
          <p:spPr>
            <a:xfrm>
              <a:off x="4873942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2" name="Ellipse 162"/>
            <p:cNvSpPr/>
            <p:nvPr/>
          </p:nvSpPr>
          <p:spPr>
            <a:xfrm>
              <a:off x="496824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3" name="Ellipse 163"/>
            <p:cNvSpPr/>
            <p:nvPr/>
          </p:nvSpPr>
          <p:spPr>
            <a:xfrm>
              <a:off x="496824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4" name="Ellipse 164"/>
            <p:cNvSpPr/>
            <p:nvPr/>
          </p:nvSpPr>
          <p:spPr>
            <a:xfrm>
              <a:off x="1243012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5" name="Ellipse 165"/>
            <p:cNvSpPr/>
            <p:nvPr/>
          </p:nvSpPr>
          <p:spPr>
            <a:xfrm>
              <a:off x="5015865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6" name="Ellipse 166"/>
            <p:cNvSpPr/>
            <p:nvPr/>
          </p:nvSpPr>
          <p:spPr>
            <a:xfrm>
              <a:off x="1054418" y="46520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7" name="Ellipse 167"/>
            <p:cNvSpPr/>
            <p:nvPr/>
          </p:nvSpPr>
          <p:spPr>
            <a:xfrm>
              <a:off x="5267325" y="41852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8" name="Ellipse 168"/>
            <p:cNvSpPr/>
            <p:nvPr/>
          </p:nvSpPr>
          <p:spPr>
            <a:xfrm>
              <a:off x="1596390" y="54092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9" name="Ellipse 169"/>
            <p:cNvSpPr/>
            <p:nvPr/>
          </p:nvSpPr>
          <p:spPr>
            <a:xfrm>
              <a:off x="1596390" y="4397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0" name="Ellipse 170"/>
            <p:cNvSpPr/>
            <p:nvPr/>
          </p:nvSpPr>
          <p:spPr>
            <a:xfrm>
              <a:off x="1549718" y="435102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1" name="TextBox 171"/>
            <p:cNvSpPr txBox="1"/>
            <p:nvPr/>
          </p:nvSpPr>
          <p:spPr>
            <a:xfrm>
              <a:off x="5370233" y="5234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865822" y="378999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204218" y="5449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4977071" y="5449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557596" y="5449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ξ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897415" y="4330065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f(ξ)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4714985" y="4010978"/>
              <a:ext cx="5056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</p:grpSp>
      <p:grpSp>
        <p:nvGrpSpPr>
          <p:cNvPr id="187" name="c2-card-1"/>
          <p:cNvGrpSpPr/>
          <p:nvPr/>
        </p:nvGrpSpPr>
        <p:grpSpPr>
          <a:xfrm>
            <a:off x="6032182" y="1524000"/>
            <a:ext cx="5626418" cy="2773680"/>
            <a:chOff x="6032182" y="1524000"/>
            <a:chExt cx="5626418" cy="2773680"/>
          </a:xfrm>
        </p:grpSpPr>
        <p:sp>
          <p:nvSpPr>
            <p:cNvPr id="179" name="Rectangle 179"/>
            <p:cNvSpPr/>
            <p:nvPr/>
          </p:nvSpPr>
          <p:spPr>
            <a:xfrm>
              <a:off x="6032182" y="1524000"/>
              <a:ext cx="5626418" cy="2773680"/>
            </a:xfrm>
            <a:prstGeom prst="roundRect">
              <a:avLst>
                <a:gd name="adj" fmla="val 48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0" name="Rectangle 180"/>
            <p:cNvSpPr/>
            <p:nvPr/>
          </p:nvSpPr>
          <p:spPr>
            <a:xfrm>
              <a:off x="6041708" y="1657350"/>
              <a:ext cx="47625" cy="25069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6256972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6334392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积分中值定理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6250114" y="2054542"/>
              <a:ext cx="4793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若函数 f 在 [a, b] 上连续，则在 [a, b] 内存在一点 ξ，使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" name="formula21"/>
                <p:cNvSpPr txBox="1">
                  <a:spLocks noGrp="1"/>
                </p:cNvSpPr>
                <p:nvPr/>
              </p:nvSpPr>
              <p:spPr>
                <a:xfrm>
                  <a:off x="6256972" y="2332672"/>
                  <a:ext cx="5214938" cy="5600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ξ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5" name="TextBox 185"/>
            <p:cNvSpPr txBox="1"/>
            <p:nvPr/>
          </p:nvSpPr>
          <p:spPr>
            <a:xfrm>
              <a:off x="6250114" y="2999422"/>
              <a:ext cx="49429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若函数 f 与 g 在 [a, b] 上连续，且 g 在 [a, b] 上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不变号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，则至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少存在一点 ξ ∈ [a, b]，使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6" name="formula22"/>
                <p:cNvSpPr txBox="1">
                  <a:spLocks noGrp="1"/>
                </p:cNvSpPr>
                <p:nvPr/>
              </p:nvSpPr>
              <p:spPr>
                <a:xfrm>
                  <a:off x="6256972" y="3533775"/>
                  <a:ext cx="5214938" cy="5600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ξ</m:t>
                            </m:r>
                          </m:e>
                        </m:d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3" name="c2-callout-2"/>
          <p:cNvGrpSpPr/>
          <p:nvPr/>
        </p:nvGrpSpPr>
        <p:grpSpPr>
          <a:xfrm>
            <a:off x="6032182" y="4467225"/>
            <a:ext cx="5626418" cy="978218"/>
            <a:chOff x="6032182" y="4467225"/>
            <a:chExt cx="5626418" cy="978218"/>
          </a:xfrm>
        </p:grpSpPr>
        <p:sp>
          <p:nvSpPr>
            <p:cNvPr id="188" name="Rectangle 188"/>
            <p:cNvSpPr/>
            <p:nvPr/>
          </p:nvSpPr>
          <p:spPr>
            <a:xfrm>
              <a:off x="6032182" y="4467225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191" name="Group 191"/>
            <p:cNvGrpSpPr/>
            <p:nvPr/>
          </p:nvGrpSpPr>
          <p:grpSpPr>
            <a:xfrm>
              <a:off x="6236970" y="4856800"/>
              <a:ext cx="200023" cy="200023"/>
              <a:chOff x="6236970" y="4856800"/>
              <a:chExt cx="200023" cy="200023"/>
            </a:xfrm>
          </p:grpSpPr>
          <p:sp>
            <p:nvSpPr>
              <p:cNvPr id="189" name="Freeform 189"/>
              <p:cNvSpPr/>
              <p:nvPr/>
            </p:nvSpPr>
            <p:spPr>
              <a:xfrm>
                <a:off x="6236970" y="48568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0" name="Freeform 190"/>
              <p:cNvSpPr/>
              <p:nvPr/>
            </p:nvSpPr>
            <p:spPr>
              <a:xfrm>
                <a:off x="6370320" y="49234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2" name="TextBox 192"/>
            <p:cNvSpPr txBox="1"/>
            <p:nvPr/>
          </p:nvSpPr>
          <p:spPr>
            <a:xfrm>
              <a:off x="6539674" y="4613910"/>
              <a:ext cx="472859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左图中矩形面积等于曲边梯形面积，f(ξ) 就是平均高度。ξ 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知道在哪，就用几个点上函数值的加权平均去近似 f(ξ)，这是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6.2 节机械求积的出发点。</a:t>
              </a:r>
            </a:p>
          </p:txBody>
        </p:sp>
      </p:grpSp>
      <p:grpSp>
        <p:nvGrpSpPr>
          <p:cNvPr id="200" name="c2-callout-3"/>
          <p:cNvGrpSpPr/>
          <p:nvPr/>
        </p:nvGrpSpPr>
        <p:grpSpPr>
          <a:xfrm>
            <a:off x="6032182" y="5615940"/>
            <a:ext cx="5626418" cy="729615"/>
            <a:chOff x="6032182" y="5615940"/>
            <a:chExt cx="5626418" cy="729615"/>
          </a:xfrm>
        </p:grpSpPr>
        <p:sp>
          <p:nvSpPr>
            <p:cNvPr id="194" name="Rectangle 194"/>
            <p:cNvSpPr/>
            <p:nvPr/>
          </p:nvSpPr>
          <p:spPr>
            <a:xfrm>
              <a:off x="6032182" y="561594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8" name="Group 198"/>
            <p:cNvGrpSpPr/>
            <p:nvPr/>
          </p:nvGrpSpPr>
          <p:grpSpPr>
            <a:xfrm>
              <a:off x="6236970" y="5880735"/>
              <a:ext cx="200026" cy="200025"/>
              <a:chOff x="6236970" y="5880735"/>
              <a:chExt cx="200026" cy="200025"/>
            </a:xfrm>
          </p:grpSpPr>
          <p:sp>
            <p:nvSpPr>
              <p:cNvPr id="195" name="Freeform 195"/>
              <p:cNvSpPr/>
              <p:nvPr/>
            </p:nvSpPr>
            <p:spPr>
              <a:xfrm>
                <a:off x="6236970" y="58807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6" name="Freeform 196"/>
              <p:cNvSpPr/>
              <p:nvPr/>
            </p:nvSpPr>
            <p:spPr>
              <a:xfrm>
                <a:off x="6276709" y="59251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7" name="Freeform 197"/>
              <p:cNvSpPr/>
              <p:nvPr/>
            </p:nvSpPr>
            <p:spPr>
              <a:xfrm>
                <a:off x="6311424" y="60363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9" name="TextBox 199"/>
            <p:cNvSpPr txBox="1"/>
            <p:nvPr/>
          </p:nvSpPr>
          <p:spPr>
            <a:xfrm>
              <a:off x="6539674" y="5761673"/>
              <a:ext cx="461714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第二个定理（加权形式）是后面推导余项的工具，g 不变号这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个前提不能少。</a:t>
              </a:r>
            </a:p>
          </p:txBody>
        </p:sp>
      </p:grpSp>
      <p:grpSp>
        <p:nvGrpSpPr>
          <p:cNvPr id="2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01" name="TextBox 20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57309" cy="2997517"/>
            <a:chOff x="667512" y="1835468"/>
            <a:chExt cx="605730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6.2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2521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Newton-Cotes 求积公式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474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用插值多项式的积分代替 f 的积分，节点等距时系数可以查表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54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6.2.1 插值型求积公式与代数精度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8448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6.2.2 梯形、Simpson、Cotes 公式及余项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5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 系数的性质与稳定性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机械求积：用节点上函数值的加权和代替积分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285804" cy="529780"/>
            <a:chOff x="526542" y="1545907"/>
            <a:chExt cx="5285804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285804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一般地，用 f(x) 在 [a, b] 上一些离散点 a ≤ x₀ &lt; x₁ &lt; ⋯ &lt; xₙ ≤ b 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函数值的加权平均作为 f(ξ) 的近似值，可得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6"/>
              <p:cNvSpPr txBox="1">
                <a:spLocks noGrp="1"/>
              </p:cNvSpPr>
              <p:nvPr/>
            </p:nvSpPr>
            <p:spPr>
              <a:xfrm>
                <a:off x="533400" y="2192655"/>
                <a:ext cx="5626418" cy="785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8" name="c1-kv-3"/>
          <p:cNvGrpSpPr/>
          <p:nvPr/>
        </p:nvGrpSpPr>
        <p:grpSpPr>
          <a:xfrm>
            <a:off x="526542" y="3170872"/>
            <a:ext cx="5633276" cy="1048893"/>
            <a:chOff x="526542" y="3170872"/>
            <a:chExt cx="5633276" cy="1048893"/>
          </a:xfrm>
        </p:grpSpPr>
        <p:sp>
          <p:nvSpPr>
            <p:cNvPr id="10" name="TextBox 10"/>
            <p:cNvSpPr txBox="1"/>
            <p:nvPr/>
          </p:nvSpPr>
          <p:spPr>
            <a:xfrm>
              <a:off x="526542" y="317087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求积节点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45754" y="3170872"/>
              <a:ext cx="1176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x₀, x₁, …, xₙ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4575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35633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求积系数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45754" y="3563302"/>
              <a:ext cx="3693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ωₖ，只与节点和区间有关，与被积函数 f 无关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8500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39557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机械求积方法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45754" y="395573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用上式这种形式近似计算积分的方法</a:t>
              </a:r>
            </a:p>
          </p:txBody>
        </p:sp>
      </p:grpSp>
      <p:grpSp>
        <p:nvGrpSpPr>
          <p:cNvPr id="25" name="c1-bullets-4"/>
          <p:cNvGrpSpPr/>
          <p:nvPr/>
        </p:nvGrpSpPr>
        <p:grpSpPr>
          <a:xfrm>
            <a:off x="533400" y="4358640"/>
            <a:ext cx="3703701" cy="881253"/>
            <a:chOff x="533400" y="4358640"/>
            <a:chExt cx="3703701" cy="881253"/>
          </a:xfrm>
        </p:grpSpPr>
        <p:sp>
          <p:nvSpPr>
            <p:cNvPr id="19" name="Freeform 19"/>
            <p:cNvSpPr/>
            <p:nvPr/>
          </p:nvSpPr>
          <p:spPr>
            <a:xfrm>
              <a:off x="533400" y="438721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0382" y="435864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将定积分计算转化成被积函数的函数值计算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3400" y="469582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0382" y="46672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无需求原函数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33400" y="500443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0382" y="497586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易于计算机实现</a:t>
              </a:r>
            </a:p>
          </p:txBody>
        </p:sp>
      </p:grpSp>
      <p:grpSp>
        <p:nvGrpSpPr>
          <p:cNvPr id="32" name="c1-callout-5"/>
          <p:cNvGrpSpPr/>
          <p:nvPr/>
        </p:nvGrpSpPr>
        <p:grpSpPr>
          <a:xfrm>
            <a:off x="533400" y="5356860"/>
            <a:ext cx="5626418" cy="729615"/>
            <a:chOff x="533400" y="5356860"/>
            <a:chExt cx="5626418" cy="729615"/>
          </a:xfrm>
        </p:grpSpPr>
        <p:sp>
          <p:nvSpPr>
            <p:cNvPr id="26" name="Rectangle 26"/>
            <p:cNvSpPr/>
            <p:nvPr/>
          </p:nvSpPr>
          <p:spPr>
            <a:xfrm>
              <a:off x="533400" y="535686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621655"/>
              <a:ext cx="200026" cy="200026"/>
              <a:chOff x="738188" y="5621655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6216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6883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57216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892" y="5502592"/>
              <a:ext cx="46857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定积分定义中的 Riemann 和 Σ f(ξᵢ)Δxᵢ 也是这种形式。机械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求积只取少数几个节点，靠专门设计的系数来保证精度。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459665" y="1524000"/>
            <a:ext cx="5198935" cy="2463831"/>
            <a:chOff x="6459665" y="1524000"/>
            <a:chExt cx="5198935" cy="2463831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962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8553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1149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61772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左矩形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484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92651" y="204549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− 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1772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中矩形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46064" y="24455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(a+b)/2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92651" y="244554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− a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1772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89300" y="284559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a, 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17712" y="2845594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(b−a)/2, (b−a)/2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4618" y="3124200"/>
              <a:ext cx="519398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1772" y="3345656"/>
              <a:ext cx="617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34980" y="3345656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a, (a+b)/2, 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75965" y="3245644"/>
              <a:ext cx="13840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(b−a)/6, 4(b−a)/6,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(b−a)/6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1524000"/>
              <a:ext cx="5193982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602855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472612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59665" y="3797141"/>
              <a:ext cx="2232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几个最简单的机械求积公式（n 很小）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464618" y="4119562"/>
            <a:ext cx="5193982" cy="978218"/>
            <a:chOff x="6464618" y="4119562"/>
            <a:chExt cx="5193982" cy="978218"/>
          </a:xfrm>
        </p:grpSpPr>
        <p:sp>
          <p:nvSpPr>
            <p:cNvPr id="59" name="Rectangle 59"/>
            <p:cNvSpPr/>
            <p:nvPr/>
          </p:nvSpPr>
          <p:spPr>
            <a:xfrm>
              <a:off x="6464618" y="4119562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4509135"/>
              <a:ext cx="200026" cy="200026"/>
              <a:chOff x="6669405" y="4509135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669405" y="45091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69418" y="45758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58305" y="46091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2110" y="4266248"/>
              <a:ext cx="430853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系数怎样选才合理？6.2.1 节给出两个角度：让公式对尽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量高次的多项式精确成立（代数精度），或者对插值多项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式积分（插值型）。定理 6.1 说明两者是一回事。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464618" y="5267325"/>
            <a:ext cx="5193982" cy="729615"/>
            <a:chOff x="6464618" y="5267325"/>
            <a:chExt cx="5193982" cy="729615"/>
          </a:xfrm>
        </p:grpSpPr>
        <p:sp>
          <p:nvSpPr>
            <p:cNvPr id="66" name="Rectangle 66"/>
            <p:cNvSpPr/>
            <p:nvPr/>
          </p:nvSpPr>
          <p:spPr>
            <a:xfrm>
              <a:off x="6464618" y="526732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669405" y="5532120"/>
              <a:ext cx="200026" cy="200025"/>
              <a:chOff x="6669405" y="5532120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669405" y="55321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709144" y="55765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43859" y="56876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972110" y="5414010"/>
              <a:ext cx="41456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系数之和应等于 b − a：取 f ≡ 1 时积分精确值就是 b −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a。上表每一行都满足。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几何意义：用矩形、梯形、抛物线下的面积代替曲边梯形面积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662940" y="1548765"/>
            <a:ext cx="3246120" cy="293370"/>
            <a:chOff x="662940" y="1548765"/>
            <a:chExt cx="32461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662940" y="154876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中矩形公式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：用中点处的高度作矩形</a:t>
              </a:r>
            </a:p>
          </p:txBody>
        </p:sp>
      </p:grpSp>
      <p:grpSp>
        <p:nvGrpSpPr>
          <p:cNvPr id="149" name="c1-graph-2"/>
          <p:cNvGrpSpPr/>
          <p:nvPr/>
        </p:nvGrpSpPr>
        <p:grpSpPr>
          <a:xfrm>
            <a:off x="625792" y="2084070"/>
            <a:ext cx="3330224" cy="2107501"/>
            <a:chOff x="625792" y="2084070"/>
            <a:chExt cx="3330224" cy="2107501"/>
          </a:xfrm>
        </p:grpSpPr>
        <p:sp>
          <p:nvSpPr>
            <p:cNvPr id="9" name="Freeform 9"/>
            <p:cNvSpPr/>
            <p:nvPr/>
          </p:nvSpPr>
          <p:spPr>
            <a:xfrm>
              <a:off x="683895" y="3943350"/>
              <a:ext cx="3108960" cy="9525"/>
            </a:xfrm>
            <a:custGeom>
              <a:avLst/>
              <a:gdLst/>
              <a:ahLst/>
              <a:cxnLst/>
              <a:rect l="l" t="t" r="r" b="b"/>
              <a:pathLst>
                <a:path w="3108960" h="9525">
                  <a:moveTo>
                    <a:pt x="0" y="0"/>
                  </a:moveTo>
                  <a:lnTo>
                    <a:pt x="310896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92855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73418" y="2213610"/>
              <a:ext cx="9525" cy="1719262"/>
            </a:xfrm>
            <a:custGeom>
              <a:avLst/>
              <a:gdLst/>
              <a:ahLst/>
              <a:cxnLst/>
              <a:rect l="l" t="t" r="r" b="b"/>
              <a:pathLst>
                <a:path w="9525" h="1719262">
                  <a:moveTo>
                    <a:pt x="0" y="171926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25792" y="2118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2204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180148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38250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296352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35445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412558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470660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528762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58686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644968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703070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761172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81927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877378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935480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993582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052638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110740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168842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22694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285048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2343150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401252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245935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517458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575560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2633662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269176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2749868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2807970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2866072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292417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983230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3041332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309943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3157538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92518" y="2386965"/>
              <a:ext cx="2093595" cy="1545907"/>
            </a:xfrm>
            <a:custGeom>
              <a:avLst/>
              <a:gdLst/>
              <a:ahLst/>
              <a:cxnLst/>
              <a:rect l="l" t="t" r="r" b="b"/>
              <a:pathLst>
                <a:path w="2093595" h="1545907">
                  <a:moveTo>
                    <a:pt x="0" y="1545907"/>
                  </a:moveTo>
                  <a:lnTo>
                    <a:pt x="0" y="0"/>
                  </a:lnTo>
                  <a:lnTo>
                    <a:pt x="2093595" y="0"/>
                  </a:lnTo>
                  <a:lnTo>
                    <a:pt x="2093595" y="1545907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74408" y="2381250"/>
              <a:ext cx="2329815" cy="682942"/>
            </a:xfrm>
            <a:custGeom>
              <a:avLst/>
              <a:gdLst/>
              <a:ahLst/>
              <a:cxnLst/>
              <a:rect l="l" t="t" r="r" b="b"/>
              <a:pathLst>
                <a:path w="2329815" h="682942">
                  <a:moveTo>
                    <a:pt x="0" y="515303"/>
                  </a:moveTo>
                  <a:lnTo>
                    <a:pt x="51435" y="475297"/>
                  </a:lnTo>
                  <a:lnTo>
                    <a:pt x="109538" y="428625"/>
                  </a:lnTo>
                  <a:lnTo>
                    <a:pt x="168593" y="383858"/>
                  </a:lnTo>
                  <a:lnTo>
                    <a:pt x="226695" y="340042"/>
                  </a:lnTo>
                  <a:lnTo>
                    <a:pt x="285750" y="298133"/>
                  </a:lnTo>
                  <a:lnTo>
                    <a:pt x="343853" y="258128"/>
                  </a:lnTo>
                  <a:lnTo>
                    <a:pt x="402908" y="220028"/>
                  </a:lnTo>
                  <a:lnTo>
                    <a:pt x="461963" y="184785"/>
                  </a:lnTo>
                  <a:lnTo>
                    <a:pt x="520065" y="152400"/>
                  </a:lnTo>
                  <a:lnTo>
                    <a:pt x="579120" y="121920"/>
                  </a:lnTo>
                  <a:lnTo>
                    <a:pt x="637222" y="95250"/>
                  </a:lnTo>
                  <a:lnTo>
                    <a:pt x="696278" y="71438"/>
                  </a:lnTo>
                  <a:lnTo>
                    <a:pt x="754380" y="50483"/>
                  </a:lnTo>
                  <a:lnTo>
                    <a:pt x="813435" y="33338"/>
                  </a:lnTo>
                  <a:lnTo>
                    <a:pt x="871538" y="20002"/>
                  </a:lnTo>
                  <a:lnTo>
                    <a:pt x="930592" y="9525"/>
                  </a:lnTo>
                  <a:lnTo>
                    <a:pt x="988695" y="2858"/>
                  </a:lnTo>
                  <a:lnTo>
                    <a:pt x="1047750" y="0"/>
                  </a:lnTo>
                  <a:lnTo>
                    <a:pt x="1106805" y="952"/>
                  </a:lnTo>
                  <a:lnTo>
                    <a:pt x="1164908" y="5715"/>
                  </a:lnTo>
                  <a:lnTo>
                    <a:pt x="1223962" y="14288"/>
                  </a:lnTo>
                  <a:lnTo>
                    <a:pt x="1282065" y="25717"/>
                  </a:lnTo>
                  <a:lnTo>
                    <a:pt x="1341120" y="40958"/>
                  </a:lnTo>
                  <a:lnTo>
                    <a:pt x="1399222" y="60008"/>
                  </a:lnTo>
                  <a:lnTo>
                    <a:pt x="1458278" y="81915"/>
                  </a:lnTo>
                  <a:lnTo>
                    <a:pt x="1516380" y="107633"/>
                  </a:lnTo>
                  <a:lnTo>
                    <a:pt x="1575435" y="136208"/>
                  </a:lnTo>
                  <a:lnTo>
                    <a:pt x="1634490" y="167640"/>
                  </a:lnTo>
                  <a:lnTo>
                    <a:pt x="1692592" y="201930"/>
                  </a:lnTo>
                  <a:lnTo>
                    <a:pt x="1751647" y="238125"/>
                  </a:lnTo>
                  <a:lnTo>
                    <a:pt x="1809750" y="277178"/>
                  </a:lnTo>
                  <a:lnTo>
                    <a:pt x="1868805" y="318135"/>
                  </a:lnTo>
                  <a:lnTo>
                    <a:pt x="1926908" y="360997"/>
                  </a:lnTo>
                  <a:lnTo>
                    <a:pt x="1985962" y="405765"/>
                  </a:lnTo>
                  <a:lnTo>
                    <a:pt x="2044065" y="451485"/>
                  </a:lnTo>
                  <a:lnTo>
                    <a:pt x="2103120" y="498158"/>
                  </a:lnTo>
                  <a:lnTo>
                    <a:pt x="2161222" y="545783"/>
                  </a:lnTo>
                  <a:lnTo>
                    <a:pt x="2220277" y="593408"/>
                  </a:lnTo>
                  <a:lnTo>
                    <a:pt x="2279332" y="641033"/>
                  </a:lnTo>
                  <a:lnTo>
                    <a:pt x="2329815" y="682942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92518" y="2813685"/>
              <a:ext cx="9525" cy="1119188"/>
            </a:xfrm>
            <a:custGeom>
              <a:avLst/>
              <a:gdLst/>
              <a:ahLst/>
              <a:cxnLst/>
              <a:rect l="l" t="t" r="r" b="b"/>
              <a:pathLst>
                <a:path w="9525" h="1119188">
                  <a:moveTo>
                    <a:pt x="0" y="1119188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213931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53" name="Freeform 53"/>
            <p:cNvSpPr/>
            <p:nvPr/>
          </p:nvSpPr>
          <p:spPr>
            <a:xfrm>
              <a:off x="3186112" y="2978468"/>
              <a:ext cx="9525" cy="954405"/>
            </a:xfrm>
            <a:custGeom>
              <a:avLst/>
              <a:gdLst/>
              <a:ahLst/>
              <a:cxnLst/>
              <a:rect l="l" t="t" r="r" b="b"/>
              <a:pathLst>
                <a:path w="9525" h="954405">
                  <a:moveTo>
                    <a:pt x="0" y="954405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54" name="Ellipse 54"/>
            <p:cNvSpPr/>
            <p:nvPr/>
          </p:nvSpPr>
          <p:spPr>
            <a:xfrm>
              <a:off x="6724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389763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724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72465" y="21069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12109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12109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17919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179195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23729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237298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29540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295400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35350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35350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41160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411605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46970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469708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52781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527810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58591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158591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164401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1644015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70211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1702118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76022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1760220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181832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81832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187642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876425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93452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934528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199263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1992630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205168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051685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210978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2109788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216789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2167890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222599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222599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228409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2284095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234219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2342198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240030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2400300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245840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245840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251650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2516505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2574607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2574607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263271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2632710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269081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269081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274891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2748915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280701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2807018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286512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2865120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292322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292322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2982277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2982277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304038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3040380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309848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309848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315658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3156585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10915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318516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965835" y="29022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3310890" y="30699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10915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1091565" y="280225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1049655" y="2760345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213836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213836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2096452" y="2344102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318516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3185160" y="296703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3143250" y="2925128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3763118" y="37404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755714" y="20840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046368" y="3986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848275" y="398621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(a+b)/2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3139963" y="3986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3366516" y="293465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formula30"/>
              <p:cNvSpPr txBox="1">
                <a:spLocks noGrp="1"/>
              </p:cNvSpPr>
              <p:nvPr/>
            </p:nvSpPr>
            <p:spPr>
              <a:xfrm>
                <a:off x="533400" y="4402455"/>
                <a:ext cx="3505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52" name="c2-text-1"/>
          <p:cNvGrpSpPr/>
          <p:nvPr/>
        </p:nvGrpSpPr>
        <p:grpSpPr>
          <a:xfrm>
            <a:off x="4775835" y="1548765"/>
            <a:ext cx="2640330" cy="293370"/>
            <a:chOff x="4775835" y="1548765"/>
            <a:chExt cx="2640330" cy="293370"/>
          </a:xfrm>
        </p:grpSpPr>
        <p:sp>
          <p:nvSpPr>
            <p:cNvPr id="151" name="TextBox 151"/>
            <p:cNvSpPr txBox="1"/>
            <p:nvPr/>
          </p:nvSpPr>
          <p:spPr>
            <a:xfrm>
              <a:off x="4775835" y="154876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梯形公式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：过两个端点作直线</a:t>
              </a:r>
            </a:p>
          </p:txBody>
        </p:sp>
      </p:grpSp>
      <p:grpSp>
        <p:nvGrpSpPr>
          <p:cNvPr id="288" name="c2-graph-2"/>
          <p:cNvGrpSpPr/>
          <p:nvPr/>
        </p:nvGrpSpPr>
        <p:grpSpPr>
          <a:xfrm>
            <a:off x="4435792" y="2084070"/>
            <a:ext cx="3330224" cy="2107501"/>
            <a:chOff x="4435792" y="2084070"/>
            <a:chExt cx="3330224" cy="2107501"/>
          </a:xfrm>
        </p:grpSpPr>
        <p:sp>
          <p:nvSpPr>
            <p:cNvPr id="153" name="Freeform 153"/>
            <p:cNvSpPr/>
            <p:nvPr/>
          </p:nvSpPr>
          <p:spPr>
            <a:xfrm>
              <a:off x="4493895" y="3943350"/>
              <a:ext cx="3108960" cy="9525"/>
            </a:xfrm>
            <a:custGeom>
              <a:avLst/>
              <a:gdLst/>
              <a:ahLst/>
              <a:cxnLst/>
              <a:rect l="l" t="t" r="r" b="b"/>
              <a:pathLst>
                <a:path w="3108960" h="9525">
                  <a:moveTo>
                    <a:pt x="0" y="0"/>
                  </a:moveTo>
                  <a:lnTo>
                    <a:pt x="310896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54" name="Freeform 154"/>
            <p:cNvSpPr/>
            <p:nvPr/>
          </p:nvSpPr>
          <p:spPr>
            <a:xfrm>
              <a:off x="7602855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5" name="Freeform 155"/>
            <p:cNvSpPr/>
            <p:nvPr/>
          </p:nvSpPr>
          <p:spPr>
            <a:xfrm>
              <a:off x="4483418" y="2213610"/>
              <a:ext cx="9525" cy="1719262"/>
            </a:xfrm>
            <a:custGeom>
              <a:avLst/>
              <a:gdLst/>
              <a:ahLst/>
              <a:cxnLst/>
              <a:rect l="l" t="t" r="r" b="b"/>
              <a:pathLst>
                <a:path w="9525" h="1719262">
                  <a:moveTo>
                    <a:pt x="0" y="171926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56" name="Freeform 156"/>
            <p:cNvSpPr/>
            <p:nvPr/>
          </p:nvSpPr>
          <p:spPr>
            <a:xfrm>
              <a:off x="4435792" y="2118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7" name="Freeform 157"/>
            <p:cNvSpPr/>
            <p:nvPr/>
          </p:nvSpPr>
          <p:spPr>
            <a:xfrm>
              <a:off x="4932045" y="2816542"/>
              <a:ext cx="9525" cy="1116330"/>
            </a:xfrm>
            <a:custGeom>
              <a:avLst/>
              <a:gdLst/>
              <a:ahLst/>
              <a:cxnLst/>
              <a:rect l="l" t="t" r="r" b="b"/>
              <a:pathLst>
                <a:path w="9525" h="1116330">
                  <a:moveTo>
                    <a:pt x="0" y="111633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58" name="Freeform 158"/>
            <p:cNvSpPr/>
            <p:nvPr/>
          </p:nvSpPr>
          <p:spPr>
            <a:xfrm>
              <a:off x="4990148" y="2821305"/>
              <a:ext cx="9525" cy="1111568"/>
            </a:xfrm>
            <a:custGeom>
              <a:avLst/>
              <a:gdLst/>
              <a:ahLst/>
              <a:cxnLst/>
              <a:rect l="l" t="t" r="r" b="b"/>
              <a:pathLst>
                <a:path w="9525" h="1111568">
                  <a:moveTo>
                    <a:pt x="0" y="1111568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59" name="Freeform 159"/>
            <p:cNvSpPr/>
            <p:nvPr/>
          </p:nvSpPr>
          <p:spPr>
            <a:xfrm>
              <a:off x="5048250" y="2825115"/>
              <a:ext cx="9525" cy="1107757"/>
            </a:xfrm>
            <a:custGeom>
              <a:avLst/>
              <a:gdLst/>
              <a:ahLst/>
              <a:cxnLst/>
              <a:rect l="l" t="t" r="r" b="b"/>
              <a:pathLst>
                <a:path w="9525" h="1107757">
                  <a:moveTo>
                    <a:pt x="0" y="110775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0" name="Freeform 160"/>
            <p:cNvSpPr/>
            <p:nvPr/>
          </p:nvSpPr>
          <p:spPr>
            <a:xfrm>
              <a:off x="5106352" y="2829878"/>
              <a:ext cx="9525" cy="1102995"/>
            </a:xfrm>
            <a:custGeom>
              <a:avLst/>
              <a:gdLst/>
              <a:ahLst/>
              <a:cxnLst/>
              <a:rect l="l" t="t" r="r" b="b"/>
              <a:pathLst>
                <a:path w="9525" h="1102995">
                  <a:moveTo>
                    <a:pt x="0" y="110299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1" name="Freeform 161"/>
            <p:cNvSpPr/>
            <p:nvPr/>
          </p:nvSpPr>
          <p:spPr>
            <a:xfrm>
              <a:off x="5164455" y="2834640"/>
              <a:ext cx="9525" cy="1098232"/>
            </a:xfrm>
            <a:custGeom>
              <a:avLst/>
              <a:gdLst/>
              <a:ahLst/>
              <a:cxnLst/>
              <a:rect l="l" t="t" r="r" b="b"/>
              <a:pathLst>
                <a:path w="9525" h="1098232">
                  <a:moveTo>
                    <a:pt x="0" y="109823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2" name="Freeform 162"/>
            <p:cNvSpPr/>
            <p:nvPr/>
          </p:nvSpPr>
          <p:spPr>
            <a:xfrm>
              <a:off x="5222558" y="2839402"/>
              <a:ext cx="9525" cy="1093470"/>
            </a:xfrm>
            <a:custGeom>
              <a:avLst/>
              <a:gdLst/>
              <a:ahLst/>
              <a:cxnLst/>
              <a:rect l="l" t="t" r="r" b="b"/>
              <a:pathLst>
                <a:path w="9525" h="1093470">
                  <a:moveTo>
                    <a:pt x="0" y="109347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3" name="Freeform 163"/>
            <p:cNvSpPr/>
            <p:nvPr/>
          </p:nvSpPr>
          <p:spPr>
            <a:xfrm>
              <a:off x="5280660" y="2844165"/>
              <a:ext cx="9525" cy="1088707"/>
            </a:xfrm>
            <a:custGeom>
              <a:avLst/>
              <a:gdLst/>
              <a:ahLst/>
              <a:cxnLst/>
              <a:rect l="l" t="t" r="r" b="b"/>
              <a:pathLst>
                <a:path w="9525" h="1088707">
                  <a:moveTo>
                    <a:pt x="0" y="108870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4" name="Freeform 164"/>
            <p:cNvSpPr/>
            <p:nvPr/>
          </p:nvSpPr>
          <p:spPr>
            <a:xfrm>
              <a:off x="5338762" y="2847975"/>
              <a:ext cx="9525" cy="1084897"/>
            </a:xfrm>
            <a:custGeom>
              <a:avLst/>
              <a:gdLst/>
              <a:ahLst/>
              <a:cxnLst/>
              <a:rect l="l" t="t" r="r" b="b"/>
              <a:pathLst>
                <a:path w="9525" h="1084897">
                  <a:moveTo>
                    <a:pt x="0" y="108489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5" name="Freeform 165"/>
            <p:cNvSpPr/>
            <p:nvPr/>
          </p:nvSpPr>
          <p:spPr>
            <a:xfrm>
              <a:off x="5396865" y="2852738"/>
              <a:ext cx="9525" cy="1080135"/>
            </a:xfrm>
            <a:custGeom>
              <a:avLst/>
              <a:gdLst/>
              <a:ahLst/>
              <a:cxnLst/>
              <a:rect l="l" t="t" r="r" b="b"/>
              <a:pathLst>
                <a:path w="9525" h="1080135">
                  <a:moveTo>
                    <a:pt x="0" y="108013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6" name="Freeform 166"/>
            <p:cNvSpPr/>
            <p:nvPr/>
          </p:nvSpPr>
          <p:spPr>
            <a:xfrm>
              <a:off x="5454968" y="2857500"/>
              <a:ext cx="9525" cy="1075372"/>
            </a:xfrm>
            <a:custGeom>
              <a:avLst/>
              <a:gdLst/>
              <a:ahLst/>
              <a:cxnLst/>
              <a:rect l="l" t="t" r="r" b="b"/>
              <a:pathLst>
                <a:path w="9525" h="1075372">
                  <a:moveTo>
                    <a:pt x="0" y="107537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7" name="Freeform 167"/>
            <p:cNvSpPr/>
            <p:nvPr/>
          </p:nvSpPr>
          <p:spPr>
            <a:xfrm>
              <a:off x="5513070" y="2862262"/>
              <a:ext cx="9525" cy="1070610"/>
            </a:xfrm>
            <a:custGeom>
              <a:avLst/>
              <a:gdLst/>
              <a:ahLst/>
              <a:cxnLst/>
              <a:rect l="l" t="t" r="r" b="b"/>
              <a:pathLst>
                <a:path w="9525" h="1070610">
                  <a:moveTo>
                    <a:pt x="0" y="107061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8" name="Freeform 168"/>
            <p:cNvSpPr/>
            <p:nvPr/>
          </p:nvSpPr>
          <p:spPr>
            <a:xfrm>
              <a:off x="5571172" y="2866072"/>
              <a:ext cx="9525" cy="1066800"/>
            </a:xfrm>
            <a:custGeom>
              <a:avLst/>
              <a:gdLst/>
              <a:ahLst/>
              <a:cxnLst/>
              <a:rect l="l" t="t" r="r" b="b"/>
              <a:pathLst>
                <a:path w="9525" h="1066800">
                  <a:moveTo>
                    <a:pt x="0" y="10668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69" name="Freeform 169"/>
            <p:cNvSpPr/>
            <p:nvPr/>
          </p:nvSpPr>
          <p:spPr>
            <a:xfrm>
              <a:off x="5629275" y="2870835"/>
              <a:ext cx="9525" cy="1062038"/>
            </a:xfrm>
            <a:custGeom>
              <a:avLst/>
              <a:gdLst/>
              <a:ahLst/>
              <a:cxnLst/>
              <a:rect l="l" t="t" r="r" b="b"/>
              <a:pathLst>
                <a:path w="9525" h="1062038">
                  <a:moveTo>
                    <a:pt x="0" y="1062038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0" name="Freeform 170"/>
            <p:cNvSpPr/>
            <p:nvPr/>
          </p:nvSpPr>
          <p:spPr>
            <a:xfrm>
              <a:off x="5687378" y="2875598"/>
              <a:ext cx="9525" cy="1057275"/>
            </a:xfrm>
            <a:custGeom>
              <a:avLst/>
              <a:gdLst/>
              <a:ahLst/>
              <a:cxnLst/>
              <a:rect l="l" t="t" r="r" b="b"/>
              <a:pathLst>
                <a:path w="9525" h="1057275">
                  <a:moveTo>
                    <a:pt x="0" y="105727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1" name="Freeform 171"/>
            <p:cNvSpPr/>
            <p:nvPr/>
          </p:nvSpPr>
          <p:spPr>
            <a:xfrm>
              <a:off x="5745480" y="2880360"/>
              <a:ext cx="9525" cy="1052512"/>
            </a:xfrm>
            <a:custGeom>
              <a:avLst/>
              <a:gdLst/>
              <a:ahLst/>
              <a:cxnLst/>
              <a:rect l="l" t="t" r="r" b="b"/>
              <a:pathLst>
                <a:path w="9525" h="1052512">
                  <a:moveTo>
                    <a:pt x="0" y="105251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2" name="Freeform 172"/>
            <p:cNvSpPr/>
            <p:nvPr/>
          </p:nvSpPr>
          <p:spPr>
            <a:xfrm>
              <a:off x="5803582" y="2885122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10477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3" name="Freeform 173"/>
            <p:cNvSpPr/>
            <p:nvPr/>
          </p:nvSpPr>
          <p:spPr>
            <a:xfrm>
              <a:off x="5862638" y="2888932"/>
              <a:ext cx="9525" cy="1043940"/>
            </a:xfrm>
            <a:custGeom>
              <a:avLst/>
              <a:gdLst/>
              <a:ahLst/>
              <a:cxnLst/>
              <a:rect l="l" t="t" r="r" b="b"/>
              <a:pathLst>
                <a:path w="9525" h="1043940">
                  <a:moveTo>
                    <a:pt x="0" y="104394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4" name="Freeform 174"/>
            <p:cNvSpPr/>
            <p:nvPr/>
          </p:nvSpPr>
          <p:spPr>
            <a:xfrm>
              <a:off x="5920740" y="2893695"/>
              <a:ext cx="9525" cy="1039177"/>
            </a:xfrm>
            <a:custGeom>
              <a:avLst/>
              <a:gdLst/>
              <a:ahLst/>
              <a:cxnLst/>
              <a:rect l="l" t="t" r="r" b="b"/>
              <a:pathLst>
                <a:path w="9525" h="1039177">
                  <a:moveTo>
                    <a:pt x="0" y="103917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5" name="Freeform 175"/>
            <p:cNvSpPr/>
            <p:nvPr/>
          </p:nvSpPr>
          <p:spPr>
            <a:xfrm>
              <a:off x="5978842" y="2898458"/>
              <a:ext cx="9525" cy="1034415"/>
            </a:xfrm>
            <a:custGeom>
              <a:avLst/>
              <a:gdLst/>
              <a:ahLst/>
              <a:cxnLst/>
              <a:rect l="l" t="t" r="r" b="b"/>
              <a:pathLst>
                <a:path w="9525" h="1034415">
                  <a:moveTo>
                    <a:pt x="0" y="103441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6" name="Freeform 176"/>
            <p:cNvSpPr/>
            <p:nvPr/>
          </p:nvSpPr>
          <p:spPr>
            <a:xfrm>
              <a:off x="6036945" y="2903220"/>
              <a:ext cx="9525" cy="1029652"/>
            </a:xfrm>
            <a:custGeom>
              <a:avLst/>
              <a:gdLst/>
              <a:ahLst/>
              <a:cxnLst/>
              <a:rect l="l" t="t" r="r" b="b"/>
              <a:pathLst>
                <a:path w="9525" h="1029652">
                  <a:moveTo>
                    <a:pt x="0" y="102965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7" name="Freeform 177"/>
            <p:cNvSpPr/>
            <p:nvPr/>
          </p:nvSpPr>
          <p:spPr>
            <a:xfrm>
              <a:off x="6095048" y="2907030"/>
              <a:ext cx="9525" cy="1025842"/>
            </a:xfrm>
            <a:custGeom>
              <a:avLst/>
              <a:gdLst/>
              <a:ahLst/>
              <a:cxnLst/>
              <a:rect l="l" t="t" r="r" b="b"/>
              <a:pathLst>
                <a:path w="9525" h="1025842">
                  <a:moveTo>
                    <a:pt x="0" y="102584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8" name="Freeform 178"/>
            <p:cNvSpPr/>
            <p:nvPr/>
          </p:nvSpPr>
          <p:spPr>
            <a:xfrm>
              <a:off x="6153150" y="2911792"/>
              <a:ext cx="9525" cy="1021080"/>
            </a:xfrm>
            <a:custGeom>
              <a:avLst/>
              <a:gdLst/>
              <a:ahLst/>
              <a:cxnLst/>
              <a:rect l="l" t="t" r="r" b="b"/>
              <a:pathLst>
                <a:path w="9525" h="1021080">
                  <a:moveTo>
                    <a:pt x="0" y="102108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79" name="Freeform 179"/>
            <p:cNvSpPr/>
            <p:nvPr/>
          </p:nvSpPr>
          <p:spPr>
            <a:xfrm>
              <a:off x="6211252" y="2916555"/>
              <a:ext cx="9525" cy="1016317"/>
            </a:xfrm>
            <a:custGeom>
              <a:avLst/>
              <a:gdLst/>
              <a:ahLst/>
              <a:cxnLst/>
              <a:rect l="l" t="t" r="r" b="b"/>
              <a:pathLst>
                <a:path w="9525" h="1016317">
                  <a:moveTo>
                    <a:pt x="0" y="101631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0" name="Freeform 180"/>
            <p:cNvSpPr/>
            <p:nvPr/>
          </p:nvSpPr>
          <p:spPr>
            <a:xfrm>
              <a:off x="6269355" y="2921318"/>
              <a:ext cx="9525" cy="1011555"/>
            </a:xfrm>
            <a:custGeom>
              <a:avLst/>
              <a:gdLst/>
              <a:ahLst/>
              <a:cxnLst/>
              <a:rect l="l" t="t" r="r" b="b"/>
              <a:pathLst>
                <a:path w="9525" h="1011555">
                  <a:moveTo>
                    <a:pt x="0" y="101155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1" name="Freeform 181"/>
            <p:cNvSpPr/>
            <p:nvPr/>
          </p:nvSpPr>
          <p:spPr>
            <a:xfrm>
              <a:off x="6327458" y="2926080"/>
              <a:ext cx="9525" cy="1006792"/>
            </a:xfrm>
            <a:custGeom>
              <a:avLst/>
              <a:gdLst/>
              <a:ahLst/>
              <a:cxnLst/>
              <a:rect l="l" t="t" r="r" b="b"/>
              <a:pathLst>
                <a:path w="9525" h="1006792">
                  <a:moveTo>
                    <a:pt x="0" y="100679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2" name="Freeform 182"/>
            <p:cNvSpPr/>
            <p:nvPr/>
          </p:nvSpPr>
          <p:spPr>
            <a:xfrm>
              <a:off x="6385560" y="2929890"/>
              <a:ext cx="9525" cy="1002982"/>
            </a:xfrm>
            <a:custGeom>
              <a:avLst/>
              <a:gdLst/>
              <a:ahLst/>
              <a:cxnLst/>
              <a:rect l="l" t="t" r="r" b="b"/>
              <a:pathLst>
                <a:path w="9525" h="1002982">
                  <a:moveTo>
                    <a:pt x="0" y="100298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3" name="Freeform 183"/>
            <p:cNvSpPr/>
            <p:nvPr/>
          </p:nvSpPr>
          <p:spPr>
            <a:xfrm>
              <a:off x="6443662" y="2934652"/>
              <a:ext cx="9525" cy="998220"/>
            </a:xfrm>
            <a:custGeom>
              <a:avLst/>
              <a:gdLst/>
              <a:ahLst/>
              <a:cxnLst/>
              <a:rect l="l" t="t" r="r" b="b"/>
              <a:pathLst>
                <a:path w="9525" h="998220">
                  <a:moveTo>
                    <a:pt x="0" y="99822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4" name="Freeform 184"/>
            <p:cNvSpPr/>
            <p:nvPr/>
          </p:nvSpPr>
          <p:spPr>
            <a:xfrm>
              <a:off x="6501765" y="2939415"/>
              <a:ext cx="9525" cy="993457"/>
            </a:xfrm>
            <a:custGeom>
              <a:avLst/>
              <a:gdLst/>
              <a:ahLst/>
              <a:cxnLst/>
              <a:rect l="l" t="t" r="r" b="b"/>
              <a:pathLst>
                <a:path w="9525" h="993457">
                  <a:moveTo>
                    <a:pt x="0" y="99345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5" name="Freeform 185"/>
            <p:cNvSpPr/>
            <p:nvPr/>
          </p:nvSpPr>
          <p:spPr>
            <a:xfrm>
              <a:off x="6559868" y="2944178"/>
              <a:ext cx="9525" cy="988695"/>
            </a:xfrm>
            <a:custGeom>
              <a:avLst/>
              <a:gdLst/>
              <a:ahLst/>
              <a:cxnLst/>
              <a:rect l="l" t="t" r="r" b="b"/>
              <a:pathLst>
                <a:path w="9525" h="988695">
                  <a:moveTo>
                    <a:pt x="0" y="98869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6" name="Freeform 186"/>
            <p:cNvSpPr/>
            <p:nvPr/>
          </p:nvSpPr>
          <p:spPr>
            <a:xfrm>
              <a:off x="6617970" y="2948940"/>
              <a:ext cx="9525" cy="983932"/>
            </a:xfrm>
            <a:custGeom>
              <a:avLst/>
              <a:gdLst/>
              <a:ahLst/>
              <a:cxnLst/>
              <a:rect l="l" t="t" r="r" b="b"/>
              <a:pathLst>
                <a:path w="9525" h="983932">
                  <a:moveTo>
                    <a:pt x="0" y="98393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7" name="Freeform 187"/>
            <p:cNvSpPr/>
            <p:nvPr/>
          </p:nvSpPr>
          <p:spPr>
            <a:xfrm>
              <a:off x="6676072" y="2952750"/>
              <a:ext cx="9525" cy="980122"/>
            </a:xfrm>
            <a:custGeom>
              <a:avLst/>
              <a:gdLst/>
              <a:ahLst/>
              <a:cxnLst/>
              <a:rect l="l" t="t" r="r" b="b"/>
              <a:pathLst>
                <a:path w="9525" h="980122">
                  <a:moveTo>
                    <a:pt x="0" y="98012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8" name="Freeform 188"/>
            <p:cNvSpPr/>
            <p:nvPr/>
          </p:nvSpPr>
          <p:spPr>
            <a:xfrm>
              <a:off x="6734175" y="2957512"/>
              <a:ext cx="9525" cy="975360"/>
            </a:xfrm>
            <a:custGeom>
              <a:avLst/>
              <a:gdLst/>
              <a:ahLst/>
              <a:cxnLst/>
              <a:rect l="l" t="t" r="r" b="b"/>
              <a:pathLst>
                <a:path w="9525" h="975360">
                  <a:moveTo>
                    <a:pt x="0" y="97536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89" name="Freeform 189"/>
            <p:cNvSpPr/>
            <p:nvPr/>
          </p:nvSpPr>
          <p:spPr>
            <a:xfrm>
              <a:off x="6793230" y="2962275"/>
              <a:ext cx="9525" cy="970597"/>
            </a:xfrm>
            <a:custGeom>
              <a:avLst/>
              <a:gdLst/>
              <a:ahLst/>
              <a:cxnLst/>
              <a:rect l="l" t="t" r="r" b="b"/>
              <a:pathLst>
                <a:path w="9525" h="970597">
                  <a:moveTo>
                    <a:pt x="0" y="97059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90" name="Freeform 190"/>
            <p:cNvSpPr/>
            <p:nvPr/>
          </p:nvSpPr>
          <p:spPr>
            <a:xfrm>
              <a:off x="6851332" y="2967038"/>
              <a:ext cx="9525" cy="965835"/>
            </a:xfrm>
            <a:custGeom>
              <a:avLst/>
              <a:gdLst/>
              <a:ahLst/>
              <a:cxnLst/>
              <a:rect l="l" t="t" r="r" b="b"/>
              <a:pathLst>
                <a:path w="9525" h="965835">
                  <a:moveTo>
                    <a:pt x="0" y="96583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91" name="Freeform 191"/>
            <p:cNvSpPr/>
            <p:nvPr/>
          </p:nvSpPr>
          <p:spPr>
            <a:xfrm>
              <a:off x="6909435" y="2970848"/>
              <a:ext cx="9525" cy="962025"/>
            </a:xfrm>
            <a:custGeom>
              <a:avLst/>
              <a:gdLst/>
              <a:ahLst/>
              <a:cxnLst/>
              <a:rect l="l" t="t" r="r" b="b"/>
              <a:pathLst>
                <a:path w="9525" h="962025">
                  <a:moveTo>
                    <a:pt x="0" y="96202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92" name="Freeform 192"/>
            <p:cNvSpPr/>
            <p:nvPr/>
          </p:nvSpPr>
          <p:spPr>
            <a:xfrm>
              <a:off x="6967538" y="2975610"/>
              <a:ext cx="9525" cy="957262"/>
            </a:xfrm>
            <a:custGeom>
              <a:avLst/>
              <a:gdLst/>
              <a:ahLst/>
              <a:cxnLst/>
              <a:rect l="l" t="t" r="r" b="b"/>
              <a:pathLst>
                <a:path w="9525" h="957262">
                  <a:moveTo>
                    <a:pt x="0" y="95726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193" name="Freeform 193"/>
            <p:cNvSpPr/>
            <p:nvPr/>
          </p:nvSpPr>
          <p:spPr>
            <a:xfrm>
              <a:off x="4902518" y="2803208"/>
              <a:ext cx="2093595" cy="1129665"/>
            </a:xfrm>
            <a:custGeom>
              <a:avLst/>
              <a:gdLst/>
              <a:ahLst/>
              <a:cxnLst/>
              <a:rect l="l" t="t" r="r" b="b"/>
              <a:pathLst>
                <a:path w="2093595" h="1129665">
                  <a:moveTo>
                    <a:pt x="0" y="1129665"/>
                  </a:moveTo>
                  <a:lnTo>
                    <a:pt x="0" y="0"/>
                  </a:lnTo>
                  <a:lnTo>
                    <a:pt x="2093595" y="164783"/>
                  </a:lnTo>
                  <a:lnTo>
                    <a:pt x="2093595" y="112966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94" name="Freeform 194"/>
            <p:cNvSpPr/>
            <p:nvPr/>
          </p:nvSpPr>
          <p:spPr>
            <a:xfrm>
              <a:off x="4784408" y="2381250"/>
              <a:ext cx="2329815" cy="682942"/>
            </a:xfrm>
            <a:custGeom>
              <a:avLst/>
              <a:gdLst/>
              <a:ahLst/>
              <a:cxnLst/>
              <a:rect l="l" t="t" r="r" b="b"/>
              <a:pathLst>
                <a:path w="2329815" h="682942">
                  <a:moveTo>
                    <a:pt x="0" y="515303"/>
                  </a:moveTo>
                  <a:lnTo>
                    <a:pt x="51435" y="475297"/>
                  </a:lnTo>
                  <a:lnTo>
                    <a:pt x="109537" y="428625"/>
                  </a:lnTo>
                  <a:lnTo>
                    <a:pt x="168592" y="383858"/>
                  </a:lnTo>
                  <a:lnTo>
                    <a:pt x="226695" y="340042"/>
                  </a:lnTo>
                  <a:lnTo>
                    <a:pt x="285750" y="298133"/>
                  </a:lnTo>
                  <a:lnTo>
                    <a:pt x="343852" y="258128"/>
                  </a:lnTo>
                  <a:lnTo>
                    <a:pt x="402908" y="220028"/>
                  </a:lnTo>
                  <a:lnTo>
                    <a:pt x="461962" y="184785"/>
                  </a:lnTo>
                  <a:lnTo>
                    <a:pt x="520065" y="152400"/>
                  </a:lnTo>
                  <a:lnTo>
                    <a:pt x="579120" y="121920"/>
                  </a:lnTo>
                  <a:lnTo>
                    <a:pt x="637223" y="95250"/>
                  </a:lnTo>
                  <a:lnTo>
                    <a:pt x="696277" y="71438"/>
                  </a:lnTo>
                  <a:lnTo>
                    <a:pt x="754380" y="50483"/>
                  </a:lnTo>
                  <a:lnTo>
                    <a:pt x="813435" y="33338"/>
                  </a:lnTo>
                  <a:lnTo>
                    <a:pt x="871537" y="20002"/>
                  </a:lnTo>
                  <a:lnTo>
                    <a:pt x="930592" y="9525"/>
                  </a:lnTo>
                  <a:lnTo>
                    <a:pt x="988695" y="2858"/>
                  </a:lnTo>
                  <a:lnTo>
                    <a:pt x="1047750" y="0"/>
                  </a:lnTo>
                  <a:lnTo>
                    <a:pt x="1106805" y="952"/>
                  </a:lnTo>
                  <a:lnTo>
                    <a:pt x="1164908" y="5715"/>
                  </a:lnTo>
                  <a:lnTo>
                    <a:pt x="1223962" y="14288"/>
                  </a:lnTo>
                  <a:lnTo>
                    <a:pt x="1282065" y="25717"/>
                  </a:lnTo>
                  <a:lnTo>
                    <a:pt x="1341120" y="40958"/>
                  </a:lnTo>
                  <a:lnTo>
                    <a:pt x="1399223" y="60008"/>
                  </a:lnTo>
                  <a:lnTo>
                    <a:pt x="1458277" y="81915"/>
                  </a:lnTo>
                  <a:lnTo>
                    <a:pt x="1516380" y="107633"/>
                  </a:lnTo>
                  <a:lnTo>
                    <a:pt x="1575435" y="136208"/>
                  </a:lnTo>
                  <a:lnTo>
                    <a:pt x="1634490" y="167640"/>
                  </a:lnTo>
                  <a:lnTo>
                    <a:pt x="1692592" y="201930"/>
                  </a:lnTo>
                  <a:lnTo>
                    <a:pt x="1751648" y="238125"/>
                  </a:lnTo>
                  <a:lnTo>
                    <a:pt x="1809750" y="277178"/>
                  </a:lnTo>
                  <a:lnTo>
                    <a:pt x="1868805" y="318135"/>
                  </a:lnTo>
                  <a:lnTo>
                    <a:pt x="1926908" y="360997"/>
                  </a:lnTo>
                  <a:lnTo>
                    <a:pt x="1985962" y="405765"/>
                  </a:lnTo>
                  <a:lnTo>
                    <a:pt x="2044065" y="451485"/>
                  </a:lnTo>
                  <a:lnTo>
                    <a:pt x="2103120" y="498158"/>
                  </a:lnTo>
                  <a:lnTo>
                    <a:pt x="2161223" y="545783"/>
                  </a:lnTo>
                  <a:lnTo>
                    <a:pt x="2220277" y="593408"/>
                  </a:lnTo>
                  <a:lnTo>
                    <a:pt x="2279332" y="641033"/>
                  </a:lnTo>
                  <a:lnTo>
                    <a:pt x="2329815" y="682942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195" name="Freeform 195"/>
            <p:cNvSpPr/>
            <p:nvPr/>
          </p:nvSpPr>
          <p:spPr>
            <a:xfrm>
              <a:off x="4902518" y="2813685"/>
              <a:ext cx="9525" cy="1119188"/>
            </a:xfrm>
            <a:custGeom>
              <a:avLst/>
              <a:gdLst/>
              <a:ahLst/>
              <a:cxnLst/>
              <a:rect l="l" t="t" r="r" b="b"/>
              <a:pathLst>
                <a:path w="9525" h="1119188">
                  <a:moveTo>
                    <a:pt x="0" y="1119188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196" name="Freeform 196"/>
            <p:cNvSpPr/>
            <p:nvPr/>
          </p:nvSpPr>
          <p:spPr>
            <a:xfrm>
              <a:off x="6996112" y="2978468"/>
              <a:ext cx="9525" cy="954405"/>
            </a:xfrm>
            <a:custGeom>
              <a:avLst/>
              <a:gdLst/>
              <a:ahLst/>
              <a:cxnLst/>
              <a:rect l="l" t="t" r="r" b="b"/>
              <a:pathLst>
                <a:path w="9525" h="954405">
                  <a:moveTo>
                    <a:pt x="0" y="954405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197" name="Ellipse 197"/>
            <p:cNvSpPr/>
            <p:nvPr/>
          </p:nvSpPr>
          <p:spPr>
            <a:xfrm>
              <a:off x="44824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8" name="Ellipse 198"/>
            <p:cNvSpPr/>
            <p:nvPr/>
          </p:nvSpPr>
          <p:spPr>
            <a:xfrm>
              <a:off x="770763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9" name="Ellipse 199"/>
            <p:cNvSpPr/>
            <p:nvPr/>
          </p:nvSpPr>
          <p:spPr>
            <a:xfrm>
              <a:off x="44824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0" name="Ellipse 200"/>
            <p:cNvSpPr/>
            <p:nvPr/>
          </p:nvSpPr>
          <p:spPr>
            <a:xfrm>
              <a:off x="4482465" y="21069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1" name="Ellipse 201"/>
            <p:cNvSpPr/>
            <p:nvPr/>
          </p:nvSpPr>
          <p:spPr>
            <a:xfrm>
              <a:off x="493109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2" name="Ellipse 202"/>
            <p:cNvSpPr/>
            <p:nvPr/>
          </p:nvSpPr>
          <p:spPr>
            <a:xfrm>
              <a:off x="4931092" y="28051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3" name="Ellipse 203"/>
            <p:cNvSpPr/>
            <p:nvPr/>
          </p:nvSpPr>
          <p:spPr>
            <a:xfrm>
              <a:off x="498919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4" name="Ellipse 204"/>
            <p:cNvSpPr/>
            <p:nvPr/>
          </p:nvSpPr>
          <p:spPr>
            <a:xfrm>
              <a:off x="4989195" y="28098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5" name="Ellipse 205"/>
            <p:cNvSpPr/>
            <p:nvPr/>
          </p:nvSpPr>
          <p:spPr>
            <a:xfrm>
              <a:off x="504729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6" name="Ellipse 206"/>
            <p:cNvSpPr/>
            <p:nvPr/>
          </p:nvSpPr>
          <p:spPr>
            <a:xfrm>
              <a:off x="5047298" y="28136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7" name="Ellipse 207"/>
            <p:cNvSpPr/>
            <p:nvPr/>
          </p:nvSpPr>
          <p:spPr>
            <a:xfrm>
              <a:off x="510540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8" name="Ellipse 208"/>
            <p:cNvSpPr/>
            <p:nvPr/>
          </p:nvSpPr>
          <p:spPr>
            <a:xfrm>
              <a:off x="5105400" y="28184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9" name="Ellipse 209"/>
            <p:cNvSpPr/>
            <p:nvPr/>
          </p:nvSpPr>
          <p:spPr>
            <a:xfrm>
              <a:off x="516350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0" name="Ellipse 210"/>
            <p:cNvSpPr/>
            <p:nvPr/>
          </p:nvSpPr>
          <p:spPr>
            <a:xfrm>
              <a:off x="5163502" y="28232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1" name="Ellipse 211"/>
            <p:cNvSpPr/>
            <p:nvPr/>
          </p:nvSpPr>
          <p:spPr>
            <a:xfrm>
              <a:off x="522160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2" name="Ellipse 212"/>
            <p:cNvSpPr/>
            <p:nvPr/>
          </p:nvSpPr>
          <p:spPr>
            <a:xfrm>
              <a:off x="5221605" y="28279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3" name="Ellipse 213"/>
            <p:cNvSpPr/>
            <p:nvPr/>
          </p:nvSpPr>
          <p:spPr>
            <a:xfrm>
              <a:off x="527970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4" name="Ellipse 214"/>
            <p:cNvSpPr/>
            <p:nvPr/>
          </p:nvSpPr>
          <p:spPr>
            <a:xfrm>
              <a:off x="5279708" y="28327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5" name="Ellipse 215"/>
            <p:cNvSpPr/>
            <p:nvPr/>
          </p:nvSpPr>
          <p:spPr>
            <a:xfrm>
              <a:off x="533781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6" name="Ellipse 216"/>
            <p:cNvSpPr/>
            <p:nvPr/>
          </p:nvSpPr>
          <p:spPr>
            <a:xfrm>
              <a:off x="5337810" y="283654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7" name="Ellipse 217"/>
            <p:cNvSpPr/>
            <p:nvPr/>
          </p:nvSpPr>
          <p:spPr>
            <a:xfrm>
              <a:off x="539591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8" name="Ellipse 218"/>
            <p:cNvSpPr/>
            <p:nvPr/>
          </p:nvSpPr>
          <p:spPr>
            <a:xfrm>
              <a:off x="5395912" y="28413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9" name="Ellipse 219"/>
            <p:cNvSpPr/>
            <p:nvPr/>
          </p:nvSpPr>
          <p:spPr>
            <a:xfrm>
              <a:off x="545401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0" name="Ellipse 220"/>
            <p:cNvSpPr/>
            <p:nvPr/>
          </p:nvSpPr>
          <p:spPr>
            <a:xfrm>
              <a:off x="5454015" y="284607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1" name="Ellipse 221"/>
            <p:cNvSpPr/>
            <p:nvPr/>
          </p:nvSpPr>
          <p:spPr>
            <a:xfrm>
              <a:off x="5512117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2" name="Ellipse 222"/>
            <p:cNvSpPr/>
            <p:nvPr/>
          </p:nvSpPr>
          <p:spPr>
            <a:xfrm>
              <a:off x="5512117" y="28508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3" name="Ellipse 223"/>
            <p:cNvSpPr/>
            <p:nvPr/>
          </p:nvSpPr>
          <p:spPr>
            <a:xfrm>
              <a:off x="557022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4" name="Ellipse 224"/>
            <p:cNvSpPr/>
            <p:nvPr/>
          </p:nvSpPr>
          <p:spPr>
            <a:xfrm>
              <a:off x="5570220" y="285464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5" name="Ellipse 225"/>
            <p:cNvSpPr/>
            <p:nvPr/>
          </p:nvSpPr>
          <p:spPr>
            <a:xfrm>
              <a:off x="562832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6" name="Ellipse 226"/>
            <p:cNvSpPr/>
            <p:nvPr/>
          </p:nvSpPr>
          <p:spPr>
            <a:xfrm>
              <a:off x="5628322" y="28594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7" name="Ellipse 227"/>
            <p:cNvSpPr/>
            <p:nvPr/>
          </p:nvSpPr>
          <p:spPr>
            <a:xfrm>
              <a:off x="568642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8" name="Ellipse 228"/>
            <p:cNvSpPr/>
            <p:nvPr/>
          </p:nvSpPr>
          <p:spPr>
            <a:xfrm>
              <a:off x="5686425" y="28641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9" name="Ellipse 229"/>
            <p:cNvSpPr/>
            <p:nvPr/>
          </p:nvSpPr>
          <p:spPr>
            <a:xfrm>
              <a:off x="574452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0" name="Ellipse 230"/>
            <p:cNvSpPr/>
            <p:nvPr/>
          </p:nvSpPr>
          <p:spPr>
            <a:xfrm>
              <a:off x="5744528" y="28689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1" name="Ellipse 231"/>
            <p:cNvSpPr/>
            <p:nvPr/>
          </p:nvSpPr>
          <p:spPr>
            <a:xfrm>
              <a:off x="580263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2" name="Ellipse 232"/>
            <p:cNvSpPr/>
            <p:nvPr/>
          </p:nvSpPr>
          <p:spPr>
            <a:xfrm>
              <a:off x="5802630" y="28736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3" name="Ellipse 233"/>
            <p:cNvSpPr/>
            <p:nvPr/>
          </p:nvSpPr>
          <p:spPr>
            <a:xfrm>
              <a:off x="586168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4" name="Ellipse 234"/>
            <p:cNvSpPr/>
            <p:nvPr/>
          </p:nvSpPr>
          <p:spPr>
            <a:xfrm>
              <a:off x="5861685" y="28775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5" name="Ellipse 235"/>
            <p:cNvSpPr/>
            <p:nvPr/>
          </p:nvSpPr>
          <p:spPr>
            <a:xfrm>
              <a:off x="591978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6" name="Ellipse 236"/>
            <p:cNvSpPr/>
            <p:nvPr/>
          </p:nvSpPr>
          <p:spPr>
            <a:xfrm>
              <a:off x="5919788" y="28822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7" name="Ellipse 237"/>
            <p:cNvSpPr/>
            <p:nvPr/>
          </p:nvSpPr>
          <p:spPr>
            <a:xfrm>
              <a:off x="597789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8" name="Ellipse 238"/>
            <p:cNvSpPr/>
            <p:nvPr/>
          </p:nvSpPr>
          <p:spPr>
            <a:xfrm>
              <a:off x="5977890" y="288702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9" name="Ellipse 239"/>
            <p:cNvSpPr/>
            <p:nvPr/>
          </p:nvSpPr>
          <p:spPr>
            <a:xfrm>
              <a:off x="603599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0" name="Ellipse 240"/>
            <p:cNvSpPr/>
            <p:nvPr/>
          </p:nvSpPr>
          <p:spPr>
            <a:xfrm>
              <a:off x="6035992" y="28917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1" name="Ellipse 241"/>
            <p:cNvSpPr/>
            <p:nvPr/>
          </p:nvSpPr>
          <p:spPr>
            <a:xfrm>
              <a:off x="609409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2" name="Ellipse 242"/>
            <p:cNvSpPr/>
            <p:nvPr/>
          </p:nvSpPr>
          <p:spPr>
            <a:xfrm>
              <a:off x="6094095" y="28956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3" name="Ellipse 243"/>
            <p:cNvSpPr/>
            <p:nvPr/>
          </p:nvSpPr>
          <p:spPr>
            <a:xfrm>
              <a:off x="615219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4" name="Ellipse 244"/>
            <p:cNvSpPr/>
            <p:nvPr/>
          </p:nvSpPr>
          <p:spPr>
            <a:xfrm>
              <a:off x="6152198" y="290036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5" name="Ellipse 245"/>
            <p:cNvSpPr/>
            <p:nvPr/>
          </p:nvSpPr>
          <p:spPr>
            <a:xfrm>
              <a:off x="621030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6" name="Ellipse 246"/>
            <p:cNvSpPr/>
            <p:nvPr/>
          </p:nvSpPr>
          <p:spPr>
            <a:xfrm>
              <a:off x="6210300" y="290512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7" name="Ellipse 247"/>
            <p:cNvSpPr/>
            <p:nvPr/>
          </p:nvSpPr>
          <p:spPr>
            <a:xfrm>
              <a:off x="626840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8" name="Ellipse 248"/>
            <p:cNvSpPr/>
            <p:nvPr/>
          </p:nvSpPr>
          <p:spPr>
            <a:xfrm>
              <a:off x="6268402" y="290988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9" name="Ellipse 249"/>
            <p:cNvSpPr/>
            <p:nvPr/>
          </p:nvSpPr>
          <p:spPr>
            <a:xfrm>
              <a:off x="632650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0" name="Ellipse 250"/>
            <p:cNvSpPr/>
            <p:nvPr/>
          </p:nvSpPr>
          <p:spPr>
            <a:xfrm>
              <a:off x="6326505" y="291465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1" name="Ellipse 251"/>
            <p:cNvSpPr/>
            <p:nvPr/>
          </p:nvSpPr>
          <p:spPr>
            <a:xfrm>
              <a:off x="638460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2" name="Ellipse 252"/>
            <p:cNvSpPr/>
            <p:nvPr/>
          </p:nvSpPr>
          <p:spPr>
            <a:xfrm>
              <a:off x="6384608" y="29184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3" name="Ellipse 253"/>
            <p:cNvSpPr/>
            <p:nvPr/>
          </p:nvSpPr>
          <p:spPr>
            <a:xfrm>
              <a:off x="644271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4" name="Ellipse 254"/>
            <p:cNvSpPr/>
            <p:nvPr/>
          </p:nvSpPr>
          <p:spPr>
            <a:xfrm>
              <a:off x="6442710" y="292322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5" name="Ellipse 255"/>
            <p:cNvSpPr/>
            <p:nvPr/>
          </p:nvSpPr>
          <p:spPr>
            <a:xfrm>
              <a:off x="650081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6" name="Ellipse 256"/>
            <p:cNvSpPr/>
            <p:nvPr/>
          </p:nvSpPr>
          <p:spPr>
            <a:xfrm>
              <a:off x="6500812" y="29279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7" name="Ellipse 257"/>
            <p:cNvSpPr/>
            <p:nvPr/>
          </p:nvSpPr>
          <p:spPr>
            <a:xfrm>
              <a:off x="655891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8" name="Ellipse 258"/>
            <p:cNvSpPr/>
            <p:nvPr/>
          </p:nvSpPr>
          <p:spPr>
            <a:xfrm>
              <a:off x="6558915" y="29327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9" name="Ellipse 259"/>
            <p:cNvSpPr/>
            <p:nvPr/>
          </p:nvSpPr>
          <p:spPr>
            <a:xfrm>
              <a:off x="6617017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0" name="Ellipse 260"/>
            <p:cNvSpPr/>
            <p:nvPr/>
          </p:nvSpPr>
          <p:spPr>
            <a:xfrm>
              <a:off x="6617017" y="29375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1" name="Ellipse 261"/>
            <p:cNvSpPr/>
            <p:nvPr/>
          </p:nvSpPr>
          <p:spPr>
            <a:xfrm>
              <a:off x="667512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2" name="Ellipse 262"/>
            <p:cNvSpPr/>
            <p:nvPr/>
          </p:nvSpPr>
          <p:spPr>
            <a:xfrm>
              <a:off x="6675120" y="294132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3" name="Ellipse 263"/>
            <p:cNvSpPr/>
            <p:nvPr/>
          </p:nvSpPr>
          <p:spPr>
            <a:xfrm>
              <a:off x="673322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4" name="Ellipse 264"/>
            <p:cNvSpPr/>
            <p:nvPr/>
          </p:nvSpPr>
          <p:spPr>
            <a:xfrm>
              <a:off x="6733222" y="29460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5" name="Ellipse 265"/>
            <p:cNvSpPr/>
            <p:nvPr/>
          </p:nvSpPr>
          <p:spPr>
            <a:xfrm>
              <a:off x="679227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6" name="Ellipse 266"/>
            <p:cNvSpPr/>
            <p:nvPr/>
          </p:nvSpPr>
          <p:spPr>
            <a:xfrm>
              <a:off x="6792278" y="295084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7" name="Ellipse 267"/>
            <p:cNvSpPr/>
            <p:nvPr/>
          </p:nvSpPr>
          <p:spPr>
            <a:xfrm>
              <a:off x="685038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8" name="Ellipse 268"/>
            <p:cNvSpPr/>
            <p:nvPr/>
          </p:nvSpPr>
          <p:spPr>
            <a:xfrm>
              <a:off x="6850380" y="29556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9" name="Ellipse 269"/>
            <p:cNvSpPr/>
            <p:nvPr/>
          </p:nvSpPr>
          <p:spPr>
            <a:xfrm>
              <a:off x="690848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0" name="Ellipse 270"/>
            <p:cNvSpPr/>
            <p:nvPr/>
          </p:nvSpPr>
          <p:spPr>
            <a:xfrm>
              <a:off x="6908482" y="29594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1" name="Ellipse 271"/>
            <p:cNvSpPr/>
            <p:nvPr/>
          </p:nvSpPr>
          <p:spPr>
            <a:xfrm>
              <a:off x="696658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2" name="Ellipse 272"/>
            <p:cNvSpPr/>
            <p:nvPr/>
          </p:nvSpPr>
          <p:spPr>
            <a:xfrm>
              <a:off x="6966585" y="29641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3" name="Ellipse 273"/>
            <p:cNvSpPr/>
            <p:nvPr/>
          </p:nvSpPr>
          <p:spPr>
            <a:xfrm>
              <a:off x="49015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4" name="Ellipse 274"/>
            <p:cNvSpPr/>
            <p:nvPr/>
          </p:nvSpPr>
          <p:spPr>
            <a:xfrm>
              <a:off x="699516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5" name="Ellipse 275"/>
            <p:cNvSpPr/>
            <p:nvPr/>
          </p:nvSpPr>
          <p:spPr>
            <a:xfrm>
              <a:off x="4775835" y="29022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6" name="Ellipse 276"/>
            <p:cNvSpPr/>
            <p:nvPr/>
          </p:nvSpPr>
          <p:spPr>
            <a:xfrm>
              <a:off x="7120890" y="30699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7" name="Ellipse 277"/>
            <p:cNvSpPr/>
            <p:nvPr/>
          </p:nvSpPr>
          <p:spPr>
            <a:xfrm>
              <a:off x="49015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8" name="Ellipse 278"/>
            <p:cNvSpPr/>
            <p:nvPr/>
          </p:nvSpPr>
          <p:spPr>
            <a:xfrm>
              <a:off x="4901565" y="280225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9" name="Ellipse 279"/>
            <p:cNvSpPr/>
            <p:nvPr/>
          </p:nvSpPr>
          <p:spPr>
            <a:xfrm>
              <a:off x="4859655" y="2760345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0" name="Ellipse 280"/>
            <p:cNvSpPr/>
            <p:nvPr/>
          </p:nvSpPr>
          <p:spPr>
            <a:xfrm>
              <a:off x="699516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1" name="Ellipse 281"/>
            <p:cNvSpPr/>
            <p:nvPr/>
          </p:nvSpPr>
          <p:spPr>
            <a:xfrm>
              <a:off x="6995160" y="296703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2" name="Ellipse 282"/>
            <p:cNvSpPr/>
            <p:nvPr/>
          </p:nvSpPr>
          <p:spPr>
            <a:xfrm>
              <a:off x="6953250" y="2925128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3" name="TextBox 283"/>
            <p:cNvSpPr txBox="1"/>
            <p:nvPr/>
          </p:nvSpPr>
          <p:spPr>
            <a:xfrm>
              <a:off x="7573118" y="37404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84" name="TextBox 284"/>
            <p:cNvSpPr txBox="1"/>
            <p:nvPr/>
          </p:nvSpPr>
          <p:spPr>
            <a:xfrm>
              <a:off x="4565714" y="20840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85" name="TextBox 285"/>
            <p:cNvSpPr txBox="1"/>
            <p:nvPr/>
          </p:nvSpPr>
          <p:spPr>
            <a:xfrm>
              <a:off x="4856368" y="3986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6" name="TextBox 286"/>
            <p:cNvSpPr txBox="1"/>
            <p:nvPr/>
          </p:nvSpPr>
          <p:spPr>
            <a:xfrm>
              <a:off x="6949963" y="3986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7" name="TextBox 287"/>
            <p:cNvSpPr txBox="1"/>
            <p:nvPr/>
          </p:nvSpPr>
          <p:spPr>
            <a:xfrm>
              <a:off x="7176516" y="293465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formula31"/>
              <p:cNvSpPr txBox="1">
                <a:spLocks noGrp="1"/>
              </p:cNvSpPr>
              <p:nvPr/>
            </p:nvSpPr>
            <p:spPr>
              <a:xfrm>
                <a:off x="4343400" y="4402455"/>
                <a:ext cx="3505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91" name="c3-text-1"/>
          <p:cNvGrpSpPr/>
          <p:nvPr/>
        </p:nvGrpSpPr>
        <p:grpSpPr>
          <a:xfrm>
            <a:off x="8450561" y="1548765"/>
            <a:ext cx="2910878" cy="293370"/>
            <a:chOff x="8450561" y="1548765"/>
            <a:chExt cx="2910878" cy="293370"/>
          </a:xfrm>
        </p:grpSpPr>
        <p:sp>
          <p:nvSpPr>
            <p:cNvPr id="290" name="TextBox 290"/>
            <p:cNvSpPr txBox="1"/>
            <p:nvPr/>
          </p:nvSpPr>
          <p:spPr>
            <a:xfrm>
              <a:off x="8450561" y="1548765"/>
              <a:ext cx="2910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公式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：过三点作抛物线</a:t>
              </a:r>
            </a:p>
          </p:txBody>
        </p:sp>
      </p:grpSp>
      <p:grpSp>
        <p:nvGrpSpPr>
          <p:cNvPr id="432" name="c3-graph-2"/>
          <p:cNvGrpSpPr/>
          <p:nvPr/>
        </p:nvGrpSpPr>
        <p:grpSpPr>
          <a:xfrm>
            <a:off x="8245792" y="2084070"/>
            <a:ext cx="3330224" cy="2107501"/>
            <a:chOff x="8245792" y="2084070"/>
            <a:chExt cx="3330224" cy="2107501"/>
          </a:xfrm>
        </p:grpSpPr>
        <p:sp>
          <p:nvSpPr>
            <p:cNvPr id="292" name="Freeform 292"/>
            <p:cNvSpPr/>
            <p:nvPr/>
          </p:nvSpPr>
          <p:spPr>
            <a:xfrm>
              <a:off x="8303895" y="3943350"/>
              <a:ext cx="3108960" cy="9525"/>
            </a:xfrm>
            <a:custGeom>
              <a:avLst/>
              <a:gdLst/>
              <a:ahLst/>
              <a:cxnLst/>
              <a:rect l="l" t="t" r="r" b="b"/>
              <a:pathLst>
                <a:path w="3108960" h="9525">
                  <a:moveTo>
                    <a:pt x="0" y="0"/>
                  </a:moveTo>
                  <a:lnTo>
                    <a:pt x="310896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93" name="Freeform 293"/>
            <p:cNvSpPr/>
            <p:nvPr/>
          </p:nvSpPr>
          <p:spPr>
            <a:xfrm>
              <a:off x="11412855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4" name="Freeform 294"/>
            <p:cNvSpPr/>
            <p:nvPr/>
          </p:nvSpPr>
          <p:spPr>
            <a:xfrm>
              <a:off x="8293418" y="2213610"/>
              <a:ext cx="9525" cy="1719262"/>
            </a:xfrm>
            <a:custGeom>
              <a:avLst/>
              <a:gdLst/>
              <a:ahLst/>
              <a:cxnLst/>
              <a:rect l="l" t="t" r="r" b="b"/>
              <a:pathLst>
                <a:path w="9525" h="1719262">
                  <a:moveTo>
                    <a:pt x="0" y="171926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95" name="Freeform 295"/>
            <p:cNvSpPr/>
            <p:nvPr/>
          </p:nvSpPr>
          <p:spPr>
            <a:xfrm>
              <a:off x="8245792" y="2118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6" name="Freeform 296"/>
            <p:cNvSpPr/>
            <p:nvPr/>
          </p:nvSpPr>
          <p:spPr>
            <a:xfrm>
              <a:off x="8742045" y="2788920"/>
              <a:ext cx="9525" cy="1143952"/>
            </a:xfrm>
            <a:custGeom>
              <a:avLst/>
              <a:gdLst/>
              <a:ahLst/>
              <a:cxnLst/>
              <a:rect l="l" t="t" r="r" b="b"/>
              <a:pathLst>
                <a:path w="9525" h="1143952">
                  <a:moveTo>
                    <a:pt x="0" y="114395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97" name="Freeform 297"/>
            <p:cNvSpPr/>
            <p:nvPr/>
          </p:nvSpPr>
          <p:spPr>
            <a:xfrm>
              <a:off x="8800148" y="2741295"/>
              <a:ext cx="9525" cy="1191577"/>
            </a:xfrm>
            <a:custGeom>
              <a:avLst/>
              <a:gdLst/>
              <a:ahLst/>
              <a:cxnLst/>
              <a:rect l="l" t="t" r="r" b="b"/>
              <a:pathLst>
                <a:path w="9525" h="1191577">
                  <a:moveTo>
                    <a:pt x="0" y="119157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98" name="Freeform 298"/>
            <p:cNvSpPr/>
            <p:nvPr/>
          </p:nvSpPr>
          <p:spPr>
            <a:xfrm>
              <a:off x="8858250" y="2696528"/>
              <a:ext cx="9525" cy="1236345"/>
            </a:xfrm>
            <a:custGeom>
              <a:avLst/>
              <a:gdLst/>
              <a:ahLst/>
              <a:cxnLst/>
              <a:rect l="l" t="t" r="r" b="b"/>
              <a:pathLst>
                <a:path w="9525" h="1236345">
                  <a:moveTo>
                    <a:pt x="0" y="123634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299" name="Freeform 299"/>
            <p:cNvSpPr/>
            <p:nvPr/>
          </p:nvSpPr>
          <p:spPr>
            <a:xfrm>
              <a:off x="8916352" y="2654618"/>
              <a:ext cx="9525" cy="1278255"/>
            </a:xfrm>
            <a:custGeom>
              <a:avLst/>
              <a:gdLst/>
              <a:ahLst/>
              <a:cxnLst/>
              <a:rect l="l" t="t" r="r" b="b"/>
              <a:pathLst>
                <a:path w="9525" h="1278255">
                  <a:moveTo>
                    <a:pt x="0" y="127825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0" name="Freeform 300"/>
            <p:cNvSpPr/>
            <p:nvPr/>
          </p:nvSpPr>
          <p:spPr>
            <a:xfrm>
              <a:off x="8974455" y="2616518"/>
              <a:ext cx="9525" cy="1316355"/>
            </a:xfrm>
            <a:custGeom>
              <a:avLst/>
              <a:gdLst/>
              <a:ahLst/>
              <a:cxnLst/>
              <a:rect l="l" t="t" r="r" b="b"/>
              <a:pathLst>
                <a:path w="9525" h="1316355">
                  <a:moveTo>
                    <a:pt x="0" y="131635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1" name="Freeform 301"/>
            <p:cNvSpPr/>
            <p:nvPr/>
          </p:nvSpPr>
          <p:spPr>
            <a:xfrm>
              <a:off x="9032558" y="2581275"/>
              <a:ext cx="9525" cy="1351597"/>
            </a:xfrm>
            <a:custGeom>
              <a:avLst/>
              <a:gdLst/>
              <a:ahLst/>
              <a:cxnLst/>
              <a:rect l="l" t="t" r="r" b="b"/>
              <a:pathLst>
                <a:path w="9525" h="1351597">
                  <a:moveTo>
                    <a:pt x="0" y="135159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2" name="Freeform 302"/>
            <p:cNvSpPr/>
            <p:nvPr/>
          </p:nvSpPr>
          <p:spPr>
            <a:xfrm>
              <a:off x="9090660" y="2548890"/>
              <a:ext cx="9525" cy="1383982"/>
            </a:xfrm>
            <a:custGeom>
              <a:avLst/>
              <a:gdLst/>
              <a:ahLst/>
              <a:cxnLst/>
              <a:rect l="l" t="t" r="r" b="b"/>
              <a:pathLst>
                <a:path w="9525" h="1383982">
                  <a:moveTo>
                    <a:pt x="0" y="138398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3" name="Freeform 303"/>
            <p:cNvSpPr/>
            <p:nvPr/>
          </p:nvSpPr>
          <p:spPr>
            <a:xfrm>
              <a:off x="9148762" y="2519362"/>
              <a:ext cx="9525" cy="1413510"/>
            </a:xfrm>
            <a:custGeom>
              <a:avLst/>
              <a:gdLst/>
              <a:ahLst/>
              <a:cxnLst/>
              <a:rect l="l" t="t" r="r" b="b"/>
              <a:pathLst>
                <a:path w="9525" h="1413510">
                  <a:moveTo>
                    <a:pt x="0" y="141351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4" name="Freeform 304"/>
            <p:cNvSpPr/>
            <p:nvPr/>
          </p:nvSpPr>
          <p:spPr>
            <a:xfrm>
              <a:off x="9206865" y="2492692"/>
              <a:ext cx="9525" cy="1440180"/>
            </a:xfrm>
            <a:custGeom>
              <a:avLst/>
              <a:gdLst/>
              <a:ahLst/>
              <a:cxnLst/>
              <a:rect l="l" t="t" r="r" b="b"/>
              <a:pathLst>
                <a:path w="9525" h="1440180">
                  <a:moveTo>
                    <a:pt x="0" y="144018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5" name="Freeform 305"/>
            <p:cNvSpPr/>
            <p:nvPr/>
          </p:nvSpPr>
          <p:spPr>
            <a:xfrm>
              <a:off x="9264968" y="2469832"/>
              <a:ext cx="9525" cy="1463040"/>
            </a:xfrm>
            <a:custGeom>
              <a:avLst/>
              <a:gdLst/>
              <a:ahLst/>
              <a:cxnLst/>
              <a:rect l="l" t="t" r="r" b="b"/>
              <a:pathLst>
                <a:path w="9525" h="1463040">
                  <a:moveTo>
                    <a:pt x="0" y="146304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6" name="Freeform 306"/>
            <p:cNvSpPr/>
            <p:nvPr/>
          </p:nvSpPr>
          <p:spPr>
            <a:xfrm>
              <a:off x="9323070" y="2449830"/>
              <a:ext cx="9525" cy="1483042"/>
            </a:xfrm>
            <a:custGeom>
              <a:avLst/>
              <a:gdLst/>
              <a:ahLst/>
              <a:cxnLst/>
              <a:rect l="l" t="t" r="r" b="b"/>
              <a:pathLst>
                <a:path w="9525" h="1483042">
                  <a:moveTo>
                    <a:pt x="0" y="148304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7" name="Freeform 307"/>
            <p:cNvSpPr/>
            <p:nvPr/>
          </p:nvSpPr>
          <p:spPr>
            <a:xfrm>
              <a:off x="9381172" y="2432685"/>
              <a:ext cx="9525" cy="1500187"/>
            </a:xfrm>
            <a:custGeom>
              <a:avLst/>
              <a:gdLst/>
              <a:ahLst/>
              <a:cxnLst/>
              <a:rect l="l" t="t" r="r" b="b"/>
              <a:pathLst>
                <a:path w="9525" h="1500187">
                  <a:moveTo>
                    <a:pt x="0" y="150018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8" name="Freeform 308"/>
            <p:cNvSpPr/>
            <p:nvPr/>
          </p:nvSpPr>
          <p:spPr>
            <a:xfrm>
              <a:off x="9439275" y="2418398"/>
              <a:ext cx="9525" cy="1514475"/>
            </a:xfrm>
            <a:custGeom>
              <a:avLst/>
              <a:gdLst/>
              <a:ahLst/>
              <a:cxnLst/>
              <a:rect l="l" t="t" r="r" b="b"/>
              <a:pathLst>
                <a:path w="9525" h="1514475">
                  <a:moveTo>
                    <a:pt x="0" y="151447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09" name="Freeform 309"/>
            <p:cNvSpPr/>
            <p:nvPr/>
          </p:nvSpPr>
          <p:spPr>
            <a:xfrm>
              <a:off x="9497378" y="2407920"/>
              <a:ext cx="9525" cy="1524952"/>
            </a:xfrm>
            <a:custGeom>
              <a:avLst/>
              <a:gdLst/>
              <a:ahLst/>
              <a:cxnLst/>
              <a:rect l="l" t="t" r="r" b="b"/>
              <a:pathLst>
                <a:path w="9525" h="1524952">
                  <a:moveTo>
                    <a:pt x="0" y="152495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0" name="Freeform 310"/>
            <p:cNvSpPr/>
            <p:nvPr/>
          </p:nvSpPr>
          <p:spPr>
            <a:xfrm>
              <a:off x="9555480" y="2400300"/>
              <a:ext cx="9525" cy="1532572"/>
            </a:xfrm>
            <a:custGeom>
              <a:avLst/>
              <a:gdLst/>
              <a:ahLst/>
              <a:cxnLst/>
              <a:rect l="l" t="t" r="r" b="b"/>
              <a:pathLst>
                <a:path w="9525" h="1532572">
                  <a:moveTo>
                    <a:pt x="0" y="153257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1" name="Freeform 311"/>
            <p:cNvSpPr/>
            <p:nvPr/>
          </p:nvSpPr>
          <p:spPr>
            <a:xfrm>
              <a:off x="9613582" y="2395538"/>
              <a:ext cx="9525" cy="1537335"/>
            </a:xfrm>
            <a:custGeom>
              <a:avLst/>
              <a:gdLst/>
              <a:ahLst/>
              <a:cxnLst/>
              <a:rect l="l" t="t" r="r" b="b"/>
              <a:pathLst>
                <a:path w="9525" h="1537335">
                  <a:moveTo>
                    <a:pt x="0" y="153733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2" name="Freeform 312"/>
            <p:cNvSpPr/>
            <p:nvPr/>
          </p:nvSpPr>
          <p:spPr>
            <a:xfrm>
              <a:off x="9672638" y="2393632"/>
              <a:ext cx="9525" cy="1539240"/>
            </a:xfrm>
            <a:custGeom>
              <a:avLst/>
              <a:gdLst/>
              <a:ahLst/>
              <a:cxnLst/>
              <a:rect l="l" t="t" r="r" b="b"/>
              <a:pathLst>
                <a:path w="9525" h="1539240">
                  <a:moveTo>
                    <a:pt x="0" y="153924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3" name="Freeform 313"/>
            <p:cNvSpPr/>
            <p:nvPr/>
          </p:nvSpPr>
          <p:spPr>
            <a:xfrm>
              <a:off x="9730740" y="2395538"/>
              <a:ext cx="9525" cy="1537335"/>
            </a:xfrm>
            <a:custGeom>
              <a:avLst/>
              <a:gdLst/>
              <a:ahLst/>
              <a:cxnLst/>
              <a:rect l="l" t="t" r="r" b="b"/>
              <a:pathLst>
                <a:path w="9525" h="1537335">
                  <a:moveTo>
                    <a:pt x="0" y="153733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4" name="Freeform 314"/>
            <p:cNvSpPr/>
            <p:nvPr/>
          </p:nvSpPr>
          <p:spPr>
            <a:xfrm>
              <a:off x="9788842" y="2400300"/>
              <a:ext cx="9525" cy="1532572"/>
            </a:xfrm>
            <a:custGeom>
              <a:avLst/>
              <a:gdLst/>
              <a:ahLst/>
              <a:cxnLst/>
              <a:rect l="l" t="t" r="r" b="b"/>
              <a:pathLst>
                <a:path w="9525" h="1532572">
                  <a:moveTo>
                    <a:pt x="0" y="153257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5" name="Freeform 315"/>
            <p:cNvSpPr/>
            <p:nvPr/>
          </p:nvSpPr>
          <p:spPr>
            <a:xfrm>
              <a:off x="9846945" y="2407920"/>
              <a:ext cx="9525" cy="1524952"/>
            </a:xfrm>
            <a:custGeom>
              <a:avLst/>
              <a:gdLst/>
              <a:ahLst/>
              <a:cxnLst/>
              <a:rect l="l" t="t" r="r" b="b"/>
              <a:pathLst>
                <a:path w="9525" h="1524952">
                  <a:moveTo>
                    <a:pt x="0" y="152495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6" name="Freeform 316"/>
            <p:cNvSpPr/>
            <p:nvPr/>
          </p:nvSpPr>
          <p:spPr>
            <a:xfrm>
              <a:off x="9905048" y="2418398"/>
              <a:ext cx="9525" cy="1514475"/>
            </a:xfrm>
            <a:custGeom>
              <a:avLst/>
              <a:gdLst/>
              <a:ahLst/>
              <a:cxnLst/>
              <a:rect l="l" t="t" r="r" b="b"/>
              <a:pathLst>
                <a:path w="9525" h="1514475">
                  <a:moveTo>
                    <a:pt x="0" y="151447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7" name="Freeform 317"/>
            <p:cNvSpPr/>
            <p:nvPr/>
          </p:nvSpPr>
          <p:spPr>
            <a:xfrm>
              <a:off x="9963150" y="2431732"/>
              <a:ext cx="9525" cy="1501140"/>
            </a:xfrm>
            <a:custGeom>
              <a:avLst/>
              <a:gdLst/>
              <a:ahLst/>
              <a:cxnLst/>
              <a:rect l="l" t="t" r="r" b="b"/>
              <a:pathLst>
                <a:path w="9525" h="1501140">
                  <a:moveTo>
                    <a:pt x="0" y="150114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8" name="Freeform 318"/>
            <p:cNvSpPr/>
            <p:nvPr/>
          </p:nvSpPr>
          <p:spPr>
            <a:xfrm>
              <a:off x="10021252" y="2448878"/>
              <a:ext cx="9525" cy="1483995"/>
            </a:xfrm>
            <a:custGeom>
              <a:avLst/>
              <a:gdLst/>
              <a:ahLst/>
              <a:cxnLst/>
              <a:rect l="l" t="t" r="r" b="b"/>
              <a:pathLst>
                <a:path w="9525" h="1483995">
                  <a:moveTo>
                    <a:pt x="0" y="148399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19" name="Freeform 319"/>
            <p:cNvSpPr/>
            <p:nvPr/>
          </p:nvSpPr>
          <p:spPr>
            <a:xfrm>
              <a:off x="10079355" y="2468880"/>
              <a:ext cx="9525" cy="1463992"/>
            </a:xfrm>
            <a:custGeom>
              <a:avLst/>
              <a:gdLst/>
              <a:ahLst/>
              <a:cxnLst/>
              <a:rect l="l" t="t" r="r" b="b"/>
              <a:pathLst>
                <a:path w="9525" h="1463992">
                  <a:moveTo>
                    <a:pt x="0" y="146399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0" name="Freeform 320"/>
            <p:cNvSpPr/>
            <p:nvPr/>
          </p:nvSpPr>
          <p:spPr>
            <a:xfrm>
              <a:off x="10137458" y="2491740"/>
              <a:ext cx="9525" cy="1441132"/>
            </a:xfrm>
            <a:custGeom>
              <a:avLst/>
              <a:gdLst/>
              <a:ahLst/>
              <a:cxnLst/>
              <a:rect l="l" t="t" r="r" b="b"/>
              <a:pathLst>
                <a:path w="9525" h="1441132">
                  <a:moveTo>
                    <a:pt x="0" y="144113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1" name="Freeform 321"/>
            <p:cNvSpPr/>
            <p:nvPr/>
          </p:nvSpPr>
          <p:spPr>
            <a:xfrm>
              <a:off x="10195560" y="2518410"/>
              <a:ext cx="9525" cy="1414462"/>
            </a:xfrm>
            <a:custGeom>
              <a:avLst/>
              <a:gdLst/>
              <a:ahLst/>
              <a:cxnLst/>
              <a:rect l="l" t="t" r="r" b="b"/>
              <a:pathLst>
                <a:path w="9525" h="1414462">
                  <a:moveTo>
                    <a:pt x="0" y="141446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2" name="Freeform 322"/>
            <p:cNvSpPr/>
            <p:nvPr/>
          </p:nvSpPr>
          <p:spPr>
            <a:xfrm>
              <a:off x="10253662" y="2546985"/>
              <a:ext cx="9525" cy="1385888"/>
            </a:xfrm>
            <a:custGeom>
              <a:avLst/>
              <a:gdLst/>
              <a:ahLst/>
              <a:cxnLst/>
              <a:rect l="l" t="t" r="r" b="b"/>
              <a:pathLst>
                <a:path w="9525" h="1385888">
                  <a:moveTo>
                    <a:pt x="0" y="1385888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3" name="Freeform 323"/>
            <p:cNvSpPr/>
            <p:nvPr/>
          </p:nvSpPr>
          <p:spPr>
            <a:xfrm>
              <a:off x="10311765" y="2579370"/>
              <a:ext cx="9525" cy="1353502"/>
            </a:xfrm>
            <a:custGeom>
              <a:avLst/>
              <a:gdLst/>
              <a:ahLst/>
              <a:cxnLst/>
              <a:rect l="l" t="t" r="r" b="b"/>
              <a:pathLst>
                <a:path w="9525" h="1353502">
                  <a:moveTo>
                    <a:pt x="0" y="135350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4" name="Freeform 324"/>
            <p:cNvSpPr/>
            <p:nvPr/>
          </p:nvSpPr>
          <p:spPr>
            <a:xfrm>
              <a:off x="10369868" y="2614612"/>
              <a:ext cx="9525" cy="1318260"/>
            </a:xfrm>
            <a:custGeom>
              <a:avLst/>
              <a:gdLst/>
              <a:ahLst/>
              <a:cxnLst/>
              <a:rect l="l" t="t" r="r" b="b"/>
              <a:pathLst>
                <a:path w="9525" h="1318260">
                  <a:moveTo>
                    <a:pt x="0" y="131826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5" name="Freeform 325"/>
            <p:cNvSpPr/>
            <p:nvPr/>
          </p:nvSpPr>
          <p:spPr>
            <a:xfrm>
              <a:off x="10427970" y="2653665"/>
              <a:ext cx="9525" cy="1279207"/>
            </a:xfrm>
            <a:custGeom>
              <a:avLst/>
              <a:gdLst/>
              <a:ahLst/>
              <a:cxnLst/>
              <a:rect l="l" t="t" r="r" b="b"/>
              <a:pathLst>
                <a:path w="9525" h="1279207">
                  <a:moveTo>
                    <a:pt x="0" y="127920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6" name="Freeform 326"/>
            <p:cNvSpPr/>
            <p:nvPr/>
          </p:nvSpPr>
          <p:spPr>
            <a:xfrm>
              <a:off x="10486072" y="2694622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12382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7" name="Freeform 327"/>
            <p:cNvSpPr/>
            <p:nvPr/>
          </p:nvSpPr>
          <p:spPr>
            <a:xfrm>
              <a:off x="10544175" y="2739390"/>
              <a:ext cx="9525" cy="1193482"/>
            </a:xfrm>
            <a:custGeom>
              <a:avLst/>
              <a:gdLst/>
              <a:ahLst/>
              <a:cxnLst/>
              <a:rect l="l" t="t" r="r" b="b"/>
              <a:pathLst>
                <a:path w="9525" h="1193482">
                  <a:moveTo>
                    <a:pt x="0" y="119348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8" name="Freeform 328"/>
            <p:cNvSpPr/>
            <p:nvPr/>
          </p:nvSpPr>
          <p:spPr>
            <a:xfrm>
              <a:off x="10603230" y="2787015"/>
              <a:ext cx="9525" cy="1145857"/>
            </a:xfrm>
            <a:custGeom>
              <a:avLst/>
              <a:gdLst/>
              <a:ahLst/>
              <a:cxnLst/>
              <a:rect l="l" t="t" r="r" b="b"/>
              <a:pathLst>
                <a:path w="9525" h="1145857">
                  <a:moveTo>
                    <a:pt x="0" y="1145857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29" name="Freeform 329"/>
            <p:cNvSpPr/>
            <p:nvPr/>
          </p:nvSpPr>
          <p:spPr>
            <a:xfrm>
              <a:off x="10661332" y="2837498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1095375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30" name="Freeform 330"/>
            <p:cNvSpPr/>
            <p:nvPr/>
          </p:nvSpPr>
          <p:spPr>
            <a:xfrm>
              <a:off x="10719435" y="2891790"/>
              <a:ext cx="9525" cy="1041082"/>
            </a:xfrm>
            <a:custGeom>
              <a:avLst/>
              <a:gdLst/>
              <a:ahLst/>
              <a:cxnLst/>
              <a:rect l="l" t="t" r="r" b="b"/>
              <a:pathLst>
                <a:path w="9525" h="1041082">
                  <a:moveTo>
                    <a:pt x="0" y="104108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31" name="Freeform 331"/>
            <p:cNvSpPr/>
            <p:nvPr/>
          </p:nvSpPr>
          <p:spPr>
            <a:xfrm>
              <a:off x="10777538" y="2948940"/>
              <a:ext cx="9525" cy="983932"/>
            </a:xfrm>
            <a:custGeom>
              <a:avLst/>
              <a:gdLst/>
              <a:ahLst/>
              <a:cxnLst/>
              <a:rect l="l" t="t" r="r" b="b"/>
              <a:pathLst>
                <a:path w="9525" h="983932">
                  <a:moveTo>
                    <a:pt x="0" y="983932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FE6D7"/>
              </a:solidFill>
            </a:ln>
          </p:spPr>
        </p:sp>
        <p:sp>
          <p:nvSpPr>
            <p:cNvPr id="332" name="Freeform 332"/>
            <p:cNvSpPr/>
            <p:nvPr/>
          </p:nvSpPr>
          <p:spPr>
            <a:xfrm>
              <a:off x="8712518" y="2384108"/>
              <a:ext cx="2093595" cy="1548765"/>
            </a:xfrm>
            <a:custGeom>
              <a:avLst/>
              <a:gdLst/>
              <a:ahLst/>
              <a:cxnLst/>
              <a:rect l="l" t="t" r="r" b="b"/>
              <a:pathLst>
                <a:path w="2093595" h="1548765">
                  <a:moveTo>
                    <a:pt x="0" y="1548765"/>
                  </a:moveTo>
                  <a:lnTo>
                    <a:pt x="0" y="419100"/>
                  </a:lnTo>
                  <a:lnTo>
                    <a:pt x="69532" y="360997"/>
                  </a:lnTo>
                  <a:lnTo>
                    <a:pt x="139065" y="305752"/>
                  </a:lnTo>
                  <a:lnTo>
                    <a:pt x="209550" y="256222"/>
                  </a:lnTo>
                  <a:lnTo>
                    <a:pt x="279082" y="210502"/>
                  </a:lnTo>
                  <a:lnTo>
                    <a:pt x="348615" y="169545"/>
                  </a:lnTo>
                  <a:lnTo>
                    <a:pt x="419100" y="133350"/>
                  </a:lnTo>
                  <a:lnTo>
                    <a:pt x="488632" y="100965"/>
                  </a:lnTo>
                  <a:lnTo>
                    <a:pt x="558165" y="73342"/>
                  </a:lnTo>
                  <a:lnTo>
                    <a:pt x="627697" y="49530"/>
                  </a:lnTo>
                  <a:lnTo>
                    <a:pt x="698182" y="30480"/>
                  </a:lnTo>
                  <a:lnTo>
                    <a:pt x="767715" y="16192"/>
                  </a:lnTo>
                  <a:lnTo>
                    <a:pt x="837247" y="6667"/>
                  </a:lnTo>
                  <a:lnTo>
                    <a:pt x="907732" y="952"/>
                  </a:lnTo>
                  <a:lnTo>
                    <a:pt x="977265" y="0"/>
                  </a:lnTo>
                  <a:lnTo>
                    <a:pt x="1046797" y="2857"/>
                  </a:lnTo>
                  <a:lnTo>
                    <a:pt x="1116330" y="10477"/>
                  </a:lnTo>
                  <a:lnTo>
                    <a:pt x="1186815" y="22860"/>
                  </a:lnTo>
                  <a:lnTo>
                    <a:pt x="1256347" y="39052"/>
                  </a:lnTo>
                  <a:lnTo>
                    <a:pt x="1325880" y="60008"/>
                  </a:lnTo>
                  <a:lnTo>
                    <a:pt x="1395412" y="85725"/>
                  </a:lnTo>
                  <a:lnTo>
                    <a:pt x="1465897" y="115252"/>
                  </a:lnTo>
                  <a:lnTo>
                    <a:pt x="1535430" y="149542"/>
                  </a:lnTo>
                  <a:lnTo>
                    <a:pt x="1604962" y="188595"/>
                  </a:lnTo>
                  <a:lnTo>
                    <a:pt x="1675447" y="231458"/>
                  </a:lnTo>
                  <a:lnTo>
                    <a:pt x="1744980" y="279083"/>
                  </a:lnTo>
                  <a:lnTo>
                    <a:pt x="1814512" y="331470"/>
                  </a:lnTo>
                  <a:lnTo>
                    <a:pt x="1884045" y="387667"/>
                  </a:lnTo>
                  <a:lnTo>
                    <a:pt x="1954530" y="448627"/>
                  </a:lnTo>
                  <a:lnTo>
                    <a:pt x="2024062" y="513397"/>
                  </a:lnTo>
                  <a:lnTo>
                    <a:pt x="2093595" y="583883"/>
                  </a:lnTo>
                  <a:lnTo>
                    <a:pt x="2093595" y="154876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333" name="Freeform 333"/>
            <p:cNvSpPr/>
            <p:nvPr/>
          </p:nvSpPr>
          <p:spPr>
            <a:xfrm>
              <a:off x="8594408" y="2381250"/>
              <a:ext cx="2329815" cy="682942"/>
            </a:xfrm>
            <a:custGeom>
              <a:avLst/>
              <a:gdLst/>
              <a:ahLst/>
              <a:cxnLst/>
              <a:rect l="l" t="t" r="r" b="b"/>
              <a:pathLst>
                <a:path w="2329815" h="682942">
                  <a:moveTo>
                    <a:pt x="0" y="515303"/>
                  </a:moveTo>
                  <a:lnTo>
                    <a:pt x="51435" y="475297"/>
                  </a:lnTo>
                  <a:lnTo>
                    <a:pt x="109538" y="428625"/>
                  </a:lnTo>
                  <a:lnTo>
                    <a:pt x="168593" y="383858"/>
                  </a:lnTo>
                  <a:lnTo>
                    <a:pt x="226695" y="340042"/>
                  </a:lnTo>
                  <a:lnTo>
                    <a:pt x="285750" y="298133"/>
                  </a:lnTo>
                  <a:lnTo>
                    <a:pt x="343853" y="258128"/>
                  </a:lnTo>
                  <a:lnTo>
                    <a:pt x="402908" y="220028"/>
                  </a:lnTo>
                  <a:lnTo>
                    <a:pt x="461962" y="184785"/>
                  </a:lnTo>
                  <a:lnTo>
                    <a:pt x="520065" y="152400"/>
                  </a:lnTo>
                  <a:lnTo>
                    <a:pt x="579120" y="121920"/>
                  </a:lnTo>
                  <a:lnTo>
                    <a:pt x="637223" y="95250"/>
                  </a:lnTo>
                  <a:lnTo>
                    <a:pt x="696278" y="71438"/>
                  </a:lnTo>
                  <a:lnTo>
                    <a:pt x="754380" y="50483"/>
                  </a:lnTo>
                  <a:lnTo>
                    <a:pt x="813435" y="33338"/>
                  </a:lnTo>
                  <a:lnTo>
                    <a:pt x="871538" y="20002"/>
                  </a:lnTo>
                  <a:lnTo>
                    <a:pt x="930593" y="9525"/>
                  </a:lnTo>
                  <a:lnTo>
                    <a:pt x="988695" y="2858"/>
                  </a:lnTo>
                  <a:lnTo>
                    <a:pt x="1047750" y="0"/>
                  </a:lnTo>
                  <a:lnTo>
                    <a:pt x="1106805" y="952"/>
                  </a:lnTo>
                  <a:lnTo>
                    <a:pt x="1164907" y="5715"/>
                  </a:lnTo>
                  <a:lnTo>
                    <a:pt x="1223962" y="14288"/>
                  </a:lnTo>
                  <a:lnTo>
                    <a:pt x="1282065" y="25717"/>
                  </a:lnTo>
                  <a:lnTo>
                    <a:pt x="1341120" y="40958"/>
                  </a:lnTo>
                  <a:lnTo>
                    <a:pt x="1399223" y="60008"/>
                  </a:lnTo>
                  <a:lnTo>
                    <a:pt x="1458278" y="81915"/>
                  </a:lnTo>
                  <a:lnTo>
                    <a:pt x="1516380" y="107633"/>
                  </a:lnTo>
                  <a:lnTo>
                    <a:pt x="1575435" y="136208"/>
                  </a:lnTo>
                  <a:lnTo>
                    <a:pt x="1634490" y="167640"/>
                  </a:lnTo>
                  <a:lnTo>
                    <a:pt x="1692593" y="201930"/>
                  </a:lnTo>
                  <a:lnTo>
                    <a:pt x="1751648" y="238125"/>
                  </a:lnTo>
                  <a:lnTo>
                    <a:pt x="1809750" y="277178"/>
                  </a:lnTo>
                  <a:lnTo>
                    <a:pt x="1868805" y="318135"/>
                  </a:lnTo>
                  <a:lnTo>
                    <a:pt x="1926907" y="360997"/>
                  </a:lnTo>
                  <a:lnTo>
                    <a:pt x="1985962" y="405765"/>
                  </a:lnTo>
                  <a:lnTo>
                    <a:pt x="2044065" y="451485"/>
                  </a:lnTo>
                  <a:lnTo>
                    <a:pt x="2103120" y="498158"/>
                  </a:lnTo>
                  <a:lnTo>
                    <a:pt x="2161223" y="545783"/>
                  </a:lnTo>
                  <a:lnTo>
                    <a:pt x="2220278" y="593408"/>
                  </a:lnTo>
                  <a:lnTo>
                    <a:pt x="2279332" y="641033"/>
                  </a:lnTo>
                  <a:lnTo>
                    <a:pt x="2329815" y="682942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334" name="Freeform 334"/>
            <p:cNvSpPr/>
            <p:nvPr/>
          </p:nvSpPr>
          <p:spPr>
            <a:xfrm>
              <a:off x="8712518" y="2813685"/>
              <a:ext cx="9525" cy="1119188"/>
            </a:xfrm>
            <a:custGeom>
              <a:avLst/>
              <a:gdLst/>
              <a:ahLst/>
              <a:cxnLst/>
              <a:rect l="l" t="t" r="r" b="b"/>
              <a:pathLst>
                <a:path w="9525" h="1119188">
                  <a:moveTo>
                    <a:pt x="0" y="1119188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335" name="Freeform 335"/>
            <p:cNvSpPr/>
            <p:nvPr/>
          </p:nvSpPr>
          <p:spPr>
            <a:xfrm>
              <a:off x="9759315" y="2397442"/>
              <a:ext cx="9525" cy="1535430"/>
            </a:xfrm>
            <a:custGeom>
              <a:avLst/>
              <a:gdLst/>
              <a:ahLst/>
              <a:cxnLst/>
              <a:rect l="l" t="t" r="r" b="b"/>
              <a:pathLst>
                <a:path w="9525" h="1535430">
                  <a:moveTo>
                    <a:pt x="0" y="1535430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336" name="Freeform 336"/>
            <p:cNvSpPr/>
            <p:nvPr/>
          </p:nvSpPr>
          <p:spPr>
            <a:xfrm>
              <a:off x="10806112" y="2978468"/>
              <a:ext cx="9525" cy="954405"/>
            </a:xfrm>
            <a:custGeom>
              <a:avLst/>
              <a:gdLst/>
              <a:ahLst/>
              <a:cxnLst/>
              <a:rect l="l" t="t" r="r" b="b"/>
              <a:pathLst>
                <a:path w="9525" h="954405">
                  <a:moveTo>
                    <a:pt x="0" y="954405"/>
                  </a:moveTo>
                  <a:lnTo>
                    <a:pt x="0" y="0"/>
                  </a:lnTo>
                </a:path>
              </a:pathLst>
            </a:custGeom>
            <a:noFill/>
            <a:ln w="10478">
              <a:solidFill>
                <a:srgbClr val="5B6475"/>
              </a:solidFill>
              <a:custDash>
                <a:ds d="545455" sp="363636"/>
              </a:custDash>
            </a:ln>
          </p:spPr>
        </p:sp>
        <p:sp>
          <p:nvSpPr>
            <p:cNvPr id="337" name="Ellipse 337"/>
            <p:cNvSpPr/>
            <p:nvPr/>
          </p:nvSpPr>
          <p:spPr>
            <a:xfrm>
              <a:off x="82924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8" name="Ellipse 338"/>
            <p:cNvSpPr/>
            <p:nvPr/>
          </p:nvSpPr>
          <p:spPr>
            <a:xfrm>
              <a:off x="1151763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9" name="Ellipse 339"/>
            <p:cNvSpPr/>
            <p:nvPr/>
          </p:nvSpPr>
          <p:spPr>
            <a:xfrm>
              <a:off x="82924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0" name="Ellipse 340"/>
            <p:cNvSpPr/>
            <p:nvPr/>
          </p:nvSpPr>
          <p:spPr>
            <a:xfrm>
              <a:off x="8292465" y="21069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1" name="Ellipse 341"/>
            <p:cNvSpPr/>
            <p:nvPr/>
          </p:nvSpPr>
          <p:spPr>
            <a:xfrm>
              <a:off x="874109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2" name="Ellipse 342"/>
            <p:cNvSpPr/>
            <p:nvPr/>
          </p:nvSpPr>
          <p:spPr>
            <a:xfrm>
              <a:off x="8741092" y="27774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3" name="Ellipse 343"/>
            <p:cNvSpPr/>
            <p:nvPr/>
          </p:nvSpPr>
          <p:spPr>
            <a:xfrm>
              <a:off x="879919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4" name="Ellipse 344"/>
            <p:cNvSpPr/>
            <p:nvPr/>
          </p:nvSpPr>
          <p:spPr>
            <a:xfrm>
              <a:off x="8799195" y="27298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5" name="Ellipse 345"/>
            <p:cNvSpPr/>
            <p:nvPr/>
          </p:nvSpPr>
          <p:spPr>
            <a:xfrm>
              <a:off x="885729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6" name="Ellipse 346"/>
            <p:cNvSpPr/>
            <p:nvPr/>
          </p:nvSpPr>
          <p:spPr>
            <a:xfrm>
              <a:off x="8857298" y="26850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7" name="Ellipse 347"/>
            <p:cNvSpPr/>
            <p:nvPr/>
          </p:nvSpPr>
          <p:spPr>
            <a:xfrm>
              <a:off x="891540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8" name="Ellipse 348"/>
            <p:cNvSpPr/>
            <p:nvPr/>
          </p:nvSpPr>
          <p:spPr>
            <a:xfrm>
              <a:off x="8915400" y="264318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9" name="Ellipse 349"/>
            <p:cNvSpPr/>
            <p:nvPr/>
          </p:nvSpPr>
          <p:spPr>
            <a:xfrm>
              <a:off x="897350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0" name="Ellipse 350"/>
            <p:cNvSpPr/>
            <p:nvPr/>
          </p:nvSpPr>
          <p:spPr>
            <a:xfrm>
              <a:off x="8973502" y="260508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1" name="Ellipse 351"/>
            <p:cNvSpPr/>
            <p:nvPr/>
          </p:nvSpPr>
          <p:spPr>
            <a:xfrm>
              <a:off x="903160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2" name="Ellipse 352"/>
            <p:cNvSpPr/>
            <p:nvPr/>
          </p:nvSpPr>
          <p:spPr>
            <a:xfrm>
              <a:off x="9031605" y="256984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3" name="Ellipse 353"/>
            <p:cNvSpPr/>
            <p:nvPr/>
          </p:nvSpPr>
          <p:spPr>
            <a:xfrm>
              <a:off x="908970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4" name="Ellipse 354"/>
            <p:cNvSpPr/>
            <p:nvPr/>
          </p:nvSpPr>
          <p:spPr>
            <a:xfrm>
              <a:off x="9089708" y="25374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5" name="Ellipse 355"/>
            <p:cNvSpPr/>
            <p:nvPr/>
          </p:nvSpPr>
          <p:spPr>
            <a:xfrm>
              <a:off x="914781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6" name="Ellipse 356"/>
            <p:cNvSpPr/>
            <p:nvPr/>
          </p:nvSpPr>
          <p:spPr>
            <a:xfrm>
              <a:off x="9147810" y="2507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7" name="Ellipse 357"/>
            <p:cNvSpPr/>
            <p:nvPr/>
          </p:nvSpPr>
          <p:spPr>
            <a:xfrm>
              <a:off x="920591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8" name="Ellipse 358"/>
            <p:cNvSpPr/>
            <p:nvPr/>
          </p:nvSpPr>
          <p:spPr>
            <a:xfrm>
              <a:off x="9205912" y="248126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9" name="Ellipse 359"/>
            <p:cNvSpPr/>
            <p:nvPr/>
          </p:nvSpPr>
          <p:spPr>
            <a:xfrm>
              <a:off x="926401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0" name="Ellipse 360"/>
            <p:cNvSpPr/>
            <p:nvPr/>
          </p:nvSpPr>
          <p:spPr>
            <a:xfrm>
              <a:off x="9264015" y="24584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1" name="Ellipse 361"/>
            <p:cNvSpPr/>
            <p:nvPr/>
          </p:nvSpPr>
          <p:spPr>
            <a:xfrm>
              <a:off x="932211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2" name="Ellipse 362"/>
            <p:cNvSpPr/>
            <p:nvPr/>
          </p:nvSpPr>
          <p:spPr>
            <a:xfrm>
              <a:off x="9322118" y="24384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3" name="Ellipse 363"/>
            <p:cNvSpPr/>
            <p:nvPr/>
          </p:nvSpPr>
          <p:spPr>
            <a:xfrm>
              <a:off x="938022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4" name="Ellipse 364"/>
            <p:cNvSpPr/>
            <p:nvPr/>
          </p:nvSpPr>
          <p:spPr>
            <a:xfrm>
              <a:off x="9380220" y="242125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5" name="Ellipse 365"/>
            <p:cNvSpPr/>
            <p:nvPr/>
          </p:nvSpPr>
          <p:spPr>
            <a:xfrm>
              <a:off x="943832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6" name="Ellipse 366"/>
            <p:cNvSpPr/>
            <p:nvPr/>
          </p:nvSpPr>
          <p:spPr>
            <a:xfrm>
              <a:off x="9438322" y="24069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7" name="Ellipse 367"/>
            <p:cNvSpPr/>
            <p:nvPr/>
          </p:nvSpPr>
          <p:spPr>
            <a:xfrm>
              <a:off x="949642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8" name="Ellipse 368"/>
            <p:cNvSpPr/>
            <p:nvPr/>
          </p:nvSpPr>
          <p:spPr>
            <a:xfrm>
              <a:off x="9496425" y="23964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9" name="Ellipse 369"/>
            <p:cNvSpPr/>
            <p:nvPr/>
          </p:nvSpPr>
          <p:spPr>
            <a:xfrm>
              <a:off x="955452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0" name="Ellipse 370"/>
            <p:cNvSpPr/>
            <p:nvPr/>
          </p:nvSpPr>
          <p:spPr>
            <a:xfrm>
              <a:off x="9554528" y="238887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1" name="Ellipse 371"/>
            <p:cNvSpPr/>
            <p:nvPr/>
          </p:nvSpPr>
          <p:spPr>
            <a:xfrm>
              <a:off x="961263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2" name="Ellipse 372"/>
            <p:cNvSpPr/>
            <p:nvPr/>
          </p:nvSpPr>
          <p:spPr>
            <a:xfrm>
              <a:off x="9612630" y="238410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3" name="Ellipse 373"/>
            <p:cNvSpPr/>
            <p:nvPr/>
          </p:nvSpPr>
          <p:spPr>
            <a:xfrm>
              <a:off x="967168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4" name="Ellipse 374"/>
            <p:cNvSpPr/>
            <p:nvPr/>
          </p:nvSpPr>
          <p:spPr>
            <a:xfrm>
              <a:off x="9671685" y="23822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5" name="Ellipse 375"/>
            <p:cNvSpPr/>
            <p:nvPr/>
          </p:nvSpPr>
          <p:spPr>
            <a:xfrm>
              <a:off x="972978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6" name="Ellipse 376"/>
            <p:cNvSpPr/>
            <p:nvPr/>
          </p:nvSpPr>
          <p:spPr>
            <a:xfrm>
              <a:off x="9729788" y="238410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7" name="Ellipse 377"/>
            <p:cNvSpPr/>
            <p:nvPr/>
          </p:nvSpPr>
          <p:spPr>
            <a:xfrm>
              <a:off x="978789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8" name="Ellipse 378"/>
            <p:cNvSpPr/>
            <p:nvPr/>
          </p:nvSpPr>
          <p:spPr>
            <a:xfrm>
              <a:off x="9787890" y="238887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9" name="Ellipse 379"/>
            <p:cNvSpPr/>
            <p:nvPr/>
          </p:nvSpPr>
          <p:spPr>
            <a:xfrm>
              <a:off x="984599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0" name="Ellipse 380"/>
            <p:cNvSpPr/>
            <p:nvPr/>
          </p:nvSpPr>
          <p:spPr>
            <a:xfrm>
              <a:off x="9845992" y="23964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1" name="Ellipse 381"/>
            <p:cNvSpPr/>
            <p:nvPr/>
          </p:nvSpPr>
          <p:spPr>
            <a:xfrm>
              <a:off x="990409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2" name="Ellipse 382"/>
            <p:cNvSpPr/>
            <p:nvPr/>
          </p:nvSpPr>
          <p:spPr>
            <a:xfrm>
              <a:off x="9904095" y="24069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3" name="Ellipse 383"/>
            <p:cNvSpPr/>
            <p:nvPr/>
          </p:nvSpPr>
          <p:spPr>
            <a:xfrm>
              <a:off x="996219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4" name="Ellipse 384"/>
            <p:cNvSpPr/>
            <p:nvPr/>
          </p:nvSpPr>
          <p:spPr>
            <a:xfrm>
              <a:off x="9962198" y="24203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5" name="Ellipse 385"/>
            <p:cNvSpPr/>
            <p:nvPr/>
          </p:nvSpPr>
          <p:spPr>
            <a:xfrm>
              <a:off x="1002030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6" name="Ellipse 386"/>
            <p:cNvSpPr/>
            <p:nvPr/>
          </p:nvSpPr>
          <p:spPr>
            <a:xfrm>
              <a:off x="10020300" y="243744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7" name="Ellipse 387"/>
            <p:cNvSpPr/>
            <p:nvPr/>
          </p:nvSpPr>
          <p:spPr>
            <a:xfrm>
              <a:off x="10078403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8" name="Ellipse 388"/>
            <p:cNvSpPr/>
            <p:nvPr/>
          </p:nvSpPr>
          <p:spPr>
            <a:xfrm>
              <a:off x="10078403" y="245745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9" name="Ellipse 389"/>
            <p:cNvSpPr/>
            <p:nvPr/>
          </p:nvSpPr>
          <p:spPr>
            <a:xfrm>
              <a:off x="1013650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0" name="Ellipse 390"/>
            <p:cNvSpPr/>
            <p:nvPr/>
          </p:nvSpPr>
          <p:spPr>
            <a:xfrm>
              <a:off x="10136505" y="24803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1" name="Ellipse 391"/>
            <p:cNvSpPr/>
            <p:nvPr/>
          </p:nvSpPr>
          <p:spPr>
            <a:xfrm>
              <a:off x="1019460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2" name="Ellipse 392"/>
            <p:cNvSpPr/>
            <p:nvPr/>
          </p:nvSpPr>
          <p:spPr>
            <a:xfrm>
              <a:off x="10194608" y="25069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3" name="Ellipse 393"/>
            <p:cNvSpPr/>
            <p:nvPr/>
          </p:nvSpPr>
          <p:spPr>
            <a:xfrm>
              <a:off x="1025271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4" name="Ellipse 394"/>
            <p:cNvSpPr/>
            <p:nvPr/>
          </p:nvSpPr>
          <p:spPr>
            <a:xfrm>
              <a:off x="10252710" y="253555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5" name="Ellipse 395"/>
            <p:cNvSpPr/>
            <p:nvPr/>
          </p:nvSpPr>
          <p:spPr>
            <a:xfrm>
              <a:off x="1031081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6" name="Ellipse 396"/>
            <p:cNvSpPr/>
            <p:nvPr/>
          </p:nvSpPr>
          <p:spPr>
            <a:xfrm>
              <a:off x="10310812" y="256794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7" name="Ellipse 397"/>
            <p:cNvSpPr/>
            <p:nvPr/>
          </p:nvSpPr>
          <p:spPr>
            <a:xfrm>
              <a:off x="1036891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8" name="Ellipse 398"/>
            <p:cNvSpPr/>
            <p:nvPr/>
          </p:nvSpPr>
          <p:spPr>
            <a:xfrm>
              <a:off x="10368915" y="26031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9" name="Ellipse 399"/>
            <p:cNvSpPr/>
            <p:nvPr/>
          </p:nvSpPr>
          <p:spPr>
            <a:xfrm>
              <a:off x="1042701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0" name="Ellipse 400"/>
            <p:cNvSpPr/>
            <p:nvPr/>
          </p:nvSpPr>
          <p:spPr>
            <a:xfrm>
              <a:off x="10427018" y="26422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1" name="Ellipse 401"/>
            <p:cNvSpPr/>
            <p:nvPr/>
          </p:nvSpPr>
          <p:spPr>
            <a:xfrm>
              <a:off x="1048512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2" name="Ellipse 402"/>
            <p:cNvSpPr/>
            <p:nvPr/>
          </p:nvSpPr>
          <p:spPr>
            <a:xfrm>
              <a:off x="10485120" y="26831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3" name="Ellipse 403"/>
            <p:cNvSpPr/>
            <p:nvPr/>
          </p:nvSpPr>
          <p:spPr>
            <a:xfrm>
              <a:off x="1054322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4" name="Ellipse 404"/>
            <p:cNvSpPr/>
            <p:nvPr/>
          </p:nvSpPr>
          <p:spPr>
            <a:xfrm>
              <a:off x="10543222" y="27279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5" name="Ellipse 405"/>
            <p:cNvSpPr/>
            <p:nvPr/>
          </p:nvSpPr>
          <p:spPr>
            <a:xfrm>
              <a:off x="10602278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6" name="Ellipse 406"/>
            <p:cNvSpPr/>
            <p:nvPr/>
          </p:nvSpPr>
          <p:spPr>
            <a:xfrm>
              <a:off x="10602278" y="27755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7" name="Ellipse 407"/>
            <p:cNvSpPr/>
            <p:nvPr/>
          </p:nvSpPr>
          <p:spPr>
            <a:xfrm>
              <a:off x="1066038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8" name="Ellipse 408"/>
            <p:cNvSpPr/>
            <p:nvPr/>
          </p:nvSpPr>
          <p:spPr>
            <a:xfrm>
              <a:off x="10660380" y="28260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9" name="Ellipse 409"/>
            <p:cNvSpPr/>
            <p:nvPr/>
          </p:nvSpPr>
          <p:spPr>
            <a:xfrm>
              <a:off x="10718483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0" name="Ellipse 410"/>
            <p:cNvSpPr/>
            <p:nvPr/>
          </p:nvSpPr>
          <p:spPr>
            <a:xfrm>
              <a:off x="10718483" y="28803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1" name="Ellipse 411"/>
            <p:cNvSpPr/>
            <p:nvPr/>
          </p:nvSpPr>
          <p:spPr>
            <a:xfrm>
              <a:off x="1077658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2" name="Ellipse 412"/>
            <p:cNvSpPr/>
            <p:nvPr/>
          </p:nvSpPr>
          <p:spPr>
            <a:xfrm>
              <a:off x="10776585" y="293751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3" name="Ellipse 413"/>
            <p:cNvSpPr/>
            <p:nvPr/>
          </p:nvSpPr>
          <p:spPr>
            <a:xfrm>
              <a:off x="87115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4" name="Ellipse 414"/>
            <p:cNvSpPr/>
            <p:nvPr/>
          </p:nvSpPr>
          <p:spPr>
            <a:xfrm>
              <a:off x="1080516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5" name="Ellipse 415"/>
            <p:cNvSpPr/>
            <p:nvPr/>
          </p:nvSpPr>
          <p:spPr>
            <a:xfrm>
              <a:off x="8585835" y="29022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6" name="Ellipse 416"/>
            <p:cNvSpPr/>
            <p:nvPr/>
          </p:nvSpPr>
          <p:spPr>
            <a:xfrm>
              <a:off x="10930890" y="30699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7" name="Ellipse 417"/>
            <p:cNvSpPr/>
            <p:nvPr/>
          </p:nvSpPr>
          <p:spPr>
            <a:xfrm>
              <a:off x="8711565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8" name="Ellipse 418"/>
            <p:cNvSpPr/>
            <p:nvPr/>
          </p:nvSpPr>
          <p:spPr>
            <a:xfrm>
              <a:off x="8711565" y="280225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9" name="Ellipse 419"/>
            <p:cNvSpPr/>
            <p:nvPr/>
          </p:nvSpPr>
          <p:spPr>
            <a:xfrm>
              <a:off x="8669655" y="2760345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0" name="Ellipse 420"/>
            <p:cNvSpPr/>
            <p:nvPr/>
          </p:nvSpPr>
          <p:spPr>
            <a:xfrm>
              <a:off x="9758362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1" name="Ellipse 421"/>
            <p:cNvSpPr/>
            <p:nvPr/>
          </p:nvSpPr>
          <p:spPr>
            <a:xfrm>
              <a:off x="9758362" y="23860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2" name="Ellipse 422"/>
            <p:cNvSpPr/>
            <p:nvPr/>
          </p:nvSpPr>
          <p:spPr>
            <a:xfrm>
              <a:off x="9716452" y="2344102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3" name="Ellipse 423"/>
            <p:cNvSpPr/>
            <p:nvPr/>
          </p:nvSpPr>
          <p:spPr>
            <a:xfrm>
              <a:off x="10805160" y="39423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4" name="Ellipse 424"/>
            <p:cNvSpPr/>
            <p:nvPr/>
          </p:nvSpPr>
          <p:spPr>
            <a:xfrm>
              <a:off x="10805160" y="296703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5" name="Ellipse 425"/>
            <p:cNvSpPr/>
            <p:nvPr/>
          </p:nvSpPr>
          <p:spPr>
            <a:xfrm>
              <a:off x="10763250" y="2925128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6" name="TextBox 426"/>
            <p:cNvSpPr txBox="1"/>
            <p:nvPr/>
          </p:nvSpPr>
          <p:spPr>
            <a:xfrm>
              <a:off x="11383118" y="37404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27" name="TextBox 427"/>
            <p:cNvSpPr txBox="1"/>
            <p:nvPr/>
          </p:nvSpPr>
          <p:spPr>
            <a:xfrm>
              <a:off x="8375714" y="20840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28" name="TextBox 428"/>
            <p:cNvSpPr txBox="1"/>
            <p:nvPr/>
          </p:nvSpPr>
          <p:spPr>
            <a:xfrm>
              <a:off x="8666368" y="3986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9" name="TextBox 429"/>
            <p:cNvSpPr txBox="1"/>
            <p:nvPr/>
          </p:nvSpPr>
          <p:spPr>
            <a:xfrm>
              <a:off x="9468275" y="398621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(a+b)/2</a:t>
              </a:r>
            </a:p>
          </p:txBody>
        </p:sp>
        <p:sp>
          <p:nvSpPr>
            <p:cNvPr id="430" name="TextBox 430"/>
            <p:cNvSpPr txBox="1"/>
            <p:nvPr/>
          </p:nvSpPr>
          <p:spPr>
            <a:xfrm>
              <a:off x="10759963" y="39862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1" name="TextBox 431"/>
            <p:cNvSpPr txBox="1"/>
            <p:nvPr/>
          </p:nvSpPr>
          <p:spPr>
            <a:xfrm>
              <a:off x="10986516" y="293465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3" name="formula32"/>
              <p:cNvSpPr txBox="1">
                <a:spLocks noGrp="1"/>
              </p:cNvSpPr>
              <p:nvPr/>
            </p:nvSpPr>
            <p:spPr>
              <a:xfrm>
                <a:off x="8153400" y="4402455"/>
                <a:ext cx="3505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3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34" name="Rectangle 43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37" name="Group 437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435" name="Freeform 435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6" name="Freeform 436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8" name="TextBox 438"/>
            <p:cNvSpPr txBox="1"/>
            <p:nvPr/>
          </p:nvSpPr>
          <p:spPr>
            <a:xfrm>
              <a:off x="1040130" y="5728335"/>
              <a:ext cx="9949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阴影面积就是求积公式的值，它与曲线下面积之差就是误差。本图中 f 向上凸：梯形偏小、中矩形偏大，抛物线几乎与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曲线重合（c = (a+b)/2）。</a:t>
              </a:r>
            </a:p>
          </p:txBody>
        </p:sp>
      </p:grpSp>
      <p:grpSp>
        <p:nvGrpSpPr>
          <p:cNvPr id="4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0" name="TextBox 4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441" name="TextBox 4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33381" cy="909257"/>
            <a:chOff x="520446" y="342900"/>
            <a:chExt cx="73333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333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插值型求积公式：对 Lagrange 插值多项式积分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785111" cy="2112930"/>
            <a:chOff x="533400" y="1533525"/>
            <a:chExt cx="4785111" cy="21129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2720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设求积节点 a ≤ x₀ &lt; x₁ &lt; ⋯ &lt; xₙ ≤ b，f(xₖ) 已知，作 n 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 插值多项式 Lₙ(x)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139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Lₙ 的积分近似 f 的积分，再交换积分与求和的次序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10419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定系数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397091"/>
              <a:ext cx="43724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ωₖ⁽ⁿ⁾ 等于基函数 lₖ(x) 的积分，只依赖节点，与 f 无关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37"/>
              <p:cNvSpPr txBox="1">
                <a:spLocks noGrp="1"/>
              </p:cNvSpPr>
              <p:nvPr/>
            </p:nvSpPr>
            <p:spPr>
              <a:xfrm>
                <a:off x="533400" y="3825240"/>
                <a:ext cx="541020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38"/>
              <p:cNvSpPr txBox="1">
                <a:spLocks noGrp="1"/>
              </p:cNvSpPr>
              <p:nvPr/>
            </p:nvSpPr>
            <p:spPr>
              <a:xfrm>
                <a:off x="533400" y="4770120"/>
                <a:ext cx="541020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dx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39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den>
                          </m:f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6.2.2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9" name="c2-card-2"/>
          <p:cNvGrpSpPr/>
          <p:nvPr/>
        </p:nvGrpSpPr>
        <p:grpSpPr>
          <a:xfrm>
            <a:off x="6248400" y="2343150"/>
            <a:ext cx="5410200" cy="1848802"/>
            <a:chOff x="6248400" y="2343150"/>
            <a:chExt cx="5410200" cy="1848802"/>
          </a:xfrm>
        </p:grpSpPr>
        <p:sp>
          <p:nvSpPr>
            <p:cNvPr id="24" name="Rectangle 24"/>
            <p:cNvSpPr/>
            <p:nvPr/>
          </p:nvSpPr>
          <p:spPr>
            <a:xfrm>
              <a:off x="6248400" y="2343150"/>
              <a:ext cx="5410200" cy="1848802"/>
            </a:xfrm>
            <a:prstGeom prst="roundRect">
              <a:avLst>
                <a:gd name="adj" fmla="val 721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57950" y="255270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18605" y="258841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插值型数值积分公式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40"/>
                <p:cNvSpPr txBox="1">
                  <a:spLocks noGrp="1"/>
                </p:cNvSpPr>
                <p:nvPr/>
              </p:nvSpPr>
              <p:spPr>
                <a:xfrm>
                  <a:off x="6457950" y="2905125"/>
                  <a:ext cx="4991100" cy="722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  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6.2.3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450330" y="3748088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其中 fₖ = f(xₖ)。</a:t>
              </a:r>
            </a:p>
          </p:txBody>
        </p:sp>
      </p:grpSp>
      <p:grpSp>
        <p:nvGrpSpPr>
          <p:cNvPr id="37" name="c2-card-3"/>
          <p:cNvGrpSpPr/>
          <p:nvPr/>
        </p:nvGrpSpPr>
        <p:grpSpPr>
          <a:xfrm>
            <a:off x="6248400" y="4382452"/>
            <a:ext cx="5410200" cy="1631632"/>
            <a:chOff x="6248400" y="4382452"/>
            <a:chExt cx="5410200" cy="1631632"/>
          </a:xfrm>
        </p:grpSpPr>
        <p:sp>
          <p:nvSpPr>
            <p:cNvPr id="30" name="Rectangle 30"/>
            <p:cNvSpPr/>
            <p:nvPr/>
          </p:nvSpPr>
          <p:spPr>
            <a:xfrm>
              <a:off x="6248400" y="4382452"/>
              <a:ext cx="5410200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4515802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459200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91160" y="46277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54202" y="4627245"/>
              <a:ext cx="20835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1，x₀ = a，x₁ = 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4988242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l₀(x) = (x − b)/(a − b)，ω₀ = ∫ₐᵇ l₀(x)dx = (b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a)/2；同理 ω₁ = (b − a)/2。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9573" y="5605939"/>
              <a:ext cx="39089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得到梯形公式 Q₁[f] = (b − a)[f(a) + f(b)]/2。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插值型求积公式的余项：对插值余项积分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2438400" cy="293370"/>
            <a:chOff x="525780" y="1548765"/>
            <a:chExt cx="24384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误差等于插值误差的积分：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45"/>
              <p:cNvSpPr txBox="1">
                <a:spLocks noGrp="1"/>
              </p:cNvSpPr>
              <p:nvPr/>
            </p:nvSpPr>
            <p:spPr>
              <a:xfrm>
                <a:off x="533400" y="1973580"/>
                <a:ext cx="595122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5780" y="2828925"/>
            <a:ext cx="3138726" cy="293370"/>
            <a:chOff x="525780" y="2828925"/>
            <a:chExt cx="3138726" cy="29337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2828925"/>
              <a:ext cx="313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 ∈ C⁽ⁿ⁺¹⁾[a, b]，插值余项为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46"/>
              <p:cNvSpPr txBox="1">
                <a:spLocks noGrp="1"/>
              </p:cNvSpPr>
              <p:nvPr/>
            </p:nvSpPr>
            <p:spPr>
              <a:xfrm>
                <a:off x="533400" y="3253740"/>
                <a:ext cx="595122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1-text-5"/>
          <p:cNvGrpSpPr/>
          <p:nvPr/>
        </p:nvGrpSpPr>
        <p:grpSpPr>
          <a:xfrm>
            <a:off x="525780" y="4086225"/>
            <a:ext cx="217170" cy="293370"/>
            <a:chOff x="525780" y="4086225"/>
            <a:chExt cx="217170" cy="293370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40862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47"/>
              <p:cNvSpPr txBox="1">
                <a:spLocks noGrp="1"/>
              </p:cNvSpPr>
              <p:nvPr/>
            </p:nvSpPr>
            <p:spPr>
              <a:xfrm>
                <a:off x="533400" y="4511040"/>
                <a:ext cx="5951220" cy="453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6.2.4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48"/>
              <p:cNvSpPr txBox="1">
                <a:spLocks noGrp="1"/>
              </p:cNvSpPr>
              <p:nvPr/>
            </p:nvSpPr>
            <p:spPr>
              <a:xfrm>
                <a:off x="533400" y="5154930"/>
                <a:ext cx="595122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2-card-1"/>
          <p:cNvGrpSpPr/>
          <p:nvPr/>
        </p:nvGrpSpPr>
        <p:grpSpPr>
          <a:xfrm>
            <a:off x="6789420" y="1524000"/>
            <a:ext cx="4869180" cy="2242185"/>
            <a:chOff x="6789420" y="1524000"/>
            <a:chExt cx="4869180" cy="2242185"/>
          </a:xfrm>
        </p:grpSpPr>
        <p:sp>
          <p:nvSpPr>
            <p:cNvPr id="17" name="Rectangle 17"/>
            <p:cNvSpPr/>
            <p:nvPr/>
          </p:nvSpPr>
          <p:spPr>
            <a:xfrm>
              <a:off x="6789420" y="1524000"/>
              <a:ext cx="4869180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98945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370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272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8098" y="1768792"/>
              <a:ext cx="10450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ξ 随 x 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29450" y="2129790"/>
              <a:ext cx="3920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(6.2.4) 中的 ξ = ξ(x) 依赖于 x，不能直接把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f⁽ⁿ⁺¹⁾(ξ) 当常数提到积分号外。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29450" y="275082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(x − x₀)⋯(x − xₙ) 在 [a, b] 上不变号时，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才能用加权积分中值定理把它提出来，梯形公式就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是这种情况。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789420" y="3956685"/>
            <a:ext cx="4869180" cy="2223135"/>
            <a:chOff x="6789420" y="3956685"/>
            <a:chExt cx="486918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789420" y="3956685"/>
              <a:ext cx="4869180" cy="2223135"/>
            </a:xfrm>
            <a:prstGeom prst="roundRect">
              <a:avLst>
                <a:gd name="adj" fmla="val 599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98970" y="41662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89178" y="42019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91350" y="454342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是次数不超过 n 的多项式时，f⁽ⁿ⁺¹⁾ ≡ 0，于是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Rₙ[f] = 0。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1350" y="5164455"/>
              <a:ext cx="4225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插值型求积公式对次数 ≤ n 的多项式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精确成立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“对几次多项式精确”来衡量求积公式的好坏，就是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下一页的代数精度。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代数精度：公式对几次多项式精确成立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735002" cy="1459230"/>
            <a:chOff x="533400" y="1524000"/>
            <a:chExt cx="5735002" cy="1459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8743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如果对于所有次数不超过 m 的多项式 f(x)，公式 ∫ₐᵇ f(x)dx 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ωₖ f(xₖ) 精确成立，但对某个次数为 m + 1 的多项式不精确成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立，则称该求积公式具有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次代数精度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153728"/>
            <a:ext cx="5735002" cy="3007995"/>
            <a:chOff x="533400" y="3153728"/>
            <a:chExt cx="5735002" cy="3007995"/>
          </a:xfrm>
        </p:grpSpPr>
        <p:sp>
          <p:nvSpPr>
            <p:cNvPr id="14" name="Rectangle 14"/>
            <p:cNvSpPr/>
            <p:nvPr/>
          </p:nvSpPr>
          <p:spPr>
            <a:xfrm>
              <a:off x="533400" y="3153728"/>
              <a:ext cx="5735002" cy="3007995"/>
            </a:xfrm>
            <a:prstGeom prst="roundRect">
              <a:avLst>
                <a:gd name="adj" fmla="val 44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090" y="33404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659" y="33732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验证方法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3684270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f(x) = 1, x, x², …, xᵐ 依次代入，公式精确成立：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55"/>
                <p:cNvSpPr txBox="1">
                  <a:spLocks noGrp="1"/>
                </p:cNvSpPr>
                <p:nvPr/>
              </p:nvSpPr>
              <p:spPr>
                <a:xfrm>
                  <a:off x="720090" y="3962400"/>
                  <a:ext cx="536162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p>
                            </m:s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13232" y="4633912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但对 f(x) = xᵐ⁺¹ 不精确成立：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56"/>
                <p:cNvSpPr txBox="1">
                  <a:spLocks noGrp="1"/>
                </p:cNvSpPr>
                <p:nvPr/>
              </p:nvSpPr>
              <p:spPr>
                <a:xfrm>
                  <a:off x="720090" y="4912042"/>
                  <a:ext cx="536162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2" name="c2-card-1"/>
          <p:cNvGrpSpPr/>
          <p:nvPr/>
        </p:nvGrpSpPr>
        <p:grpSpPr>
          <a:xfrm>
            <a:off x="6573202" y="1524000"/>
            <a:ext cx="5085398" cy="2590800"/>
            <a:chOff x="6573202" y="1524000"/>
            <a:chExt cx="5085398" cy="2590800"/>
          </a:xfrm>
        </p:grpSpPr>
        <p:sp>
          <p:nvSpPr>
            <p:cNvPr id="22" name="Rectangle 22"/>
            <p:cNvSpPr/>
            <p:nvPr/>
          </p:nvSpPr>
          <p:spPr>
            <a:xfrm>
              <a:off x="6573202" y="1524000"/>
              <a:ext cx="5085398" cy="2590800"/>
            </a:xfrm>
            <a:prstGeom prst="roundRect">
              <a:avLst>
                <a:gd name="adj" fmla="val 5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582728" y="1657350"/>
              <a:ext cx="47625" cy="23241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97992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93763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38810" y="1745932"/>
              <a:ext cx="3858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梯形公式在 [0, 1] 上：Q = [f(0) + f(1)]/2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97992" y="2049780"/>
              <a:ext cx="46739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9133" y="217122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63373" y="2171224"/>
              <a:ext cx="112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精确值 ∫₀¹ f dx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22688" y="21712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10456" y="21712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29741" y="2571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80530" y="257127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85219" y="257127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+ 1)/2 =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61230" y="25712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97992" y="2845118"/>
              <a:ext cx="46739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97992" y="2849880"/>
              <a:ext cx="46739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29741" y="2971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97604" y="297132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02293" y="2971324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 + 1)/2 = 1/2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61230" y="29713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97992" y="3245168"/>
              <a:ext cx="46739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86205" y="33713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97604" y="337137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02293" y="3371374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 + 1)/2 = 1/2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61230" y="33713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97992" y="2049780"/>
              <a:ext cx="46739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54278" y="204978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091612" y="204978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607040" y="204978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92278" y="3752374"/>
              <a:ext cx="4316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 1、x 精确，对 x² 不精确，所以梯形公式具有 1 次代数精度。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573202" y="4284345"/>
            <a:ext cx="5085398" cy="978218"/>
            <a:chOff x="6573202" y="4284345"/>
            <a:chExt cx="5085398" cy="978218"/>
          </a:xfrm>
        </p:grpSpPr>
        <p:sp>
          <p:nvSpPr>
            <p:cNvPr id="53" name="Rectangle 53"/>
            <p:cNvSpPr/>
            <p:nvPr/>
          </p:nvSpPr>
          <p:spPr>
            <a:xfrm>
              <a:off x="6573202" y="4284345"/>
              <a:ext cx="5085398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777990" y="4672965"/>
              <a:ext cx="200026" cy="200025"/>
              <a:chOff x="6777990" y="467296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777990" y="46729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817729" y="47174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852444" y="48285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080694" y="4430078"/>
              <a:ext cx="418852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为什么只验证单项式就够：次数 ≤ m 的多项式都是 1,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x, …, xᵐ 的线性组合，而积分和求积公式都对 f 是线性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573202" y="5432108"/>
            <a:ext cx="5085398" cy="729615"/>
            <a:chOff x="6573202" y="5432108"/>
            <a:chExt cx="5085398" cy="729615"/>
          </a:xfrm>
        </p:grpSpPr>
        <p:sp>
          <p:nvSpPr>
            <p:cNvPr id="60" name="Rectangle 60"/>
            <p:cNvSpPr/>
            <p:nvPr/>
          </p:nvSpPr>
          <p:spPr>
            <a:xfrm>
              <a:off x="6573202" y="5432108"/>
              <a:ext cx="508539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777990" y="5696903"/>
              <a:ext cx="200026" cy="200026"/>
              <a:chOff x="6777990" y="5696903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777990" y="56969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878003" y="57635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866890" y="57969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080694" y="5578792"/>
              <a:ext cx="41285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代数精度越高，公式能精确积分的多项式越多；光滑函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数可以用多项式很好地逼近，所以一般也算得越准。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5531" cy="909257"/>
            <a:chOff x="520446" y="342900"/>
            <a:chExt cx="82255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55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例：确定 Aᵢ 使代数精度尽量高，结果恰是插值型公式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2063115"/>
            <a:chOff x="533400" y="1524000"/>
            <a:chExt cx="6059805" cy="20631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063115"/>
            </a:xfrm>
            <a:prstGeom prst="roundRect">
              <a:avLst>
                <a:gd name="adj" fmla="val 6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64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060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52623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给定互异节点 x₀, x₁, …, xₙ，试确定 Aᵢ，使下面的求积公式具有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尽可能高的代数精度：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1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5625465" cy="722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5" name="c1-text-2"/>
          <p:cNvGrpSpPr/>
          <p:nvPr/>
        </p:nvGrpSpPr>
        <p:grpSpPr>
          <a:xfrm>
            <a:off x="526161" y="3791426"/>
            <a:ext cx="5596362" cy="278702"/>
            <a:chOff x="526161" y="3791426"/>
            <a:chExt cx="5596362" cy="278702"/>
          </a:xfrm>
        </p:grpSpPr>
        <p:sp>
          <p:nvSpPr>
            <p:cNvPr id="14" name="TextBox 14"/>
            <p:cNvSpPr txBox="1"/>
            <p:nvPr/>
          </p:nvSpPr>
          <p:spPr>
            <a:xfrm>
              <a:off x="526161" y="3791426"/>
              <a:ext cx="55963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解：将 f(x) = 1, x, x², …, xⁿ 代入求积公式，使其精确成立，得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62"/>
              <p:cNvSpPr txBox="1">
                <a:spLocks noGrp="1"/>
              </p:cNvSpPr>
              <p:nvPr/>
            </p:nvSpPr>
            <p:spPr>
              <a:xfrm>
                <a:off x="533400" y="4193858"/>
                <a:ext cx="6059805" cy="2140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den>
                              </m:f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⋯⋯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den>
                              </m:f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0" name="c2-steps-1"/>
          <p:cNvGrpSpPr/>
          <p:nvPr/>
        </p:nvGrpSpPr>
        <p:grpSpPr>
          <a:xfrm>
            <a:off x="6898005" y="1533525"/>
            <a:ext cx="4578096" cy="2223516"/>
            <a:chOff x="6898005" y="1533525"/>
            <a:chExt cx="4578096" cy="2223516"/>
          </a:xfrm>
        </p:grpSpPr>
        <p:sp>
          <p:nvSpPr>
            <p:cNvPr id="17" name="Rectangle 17"/>
            <p:cNvSpPr/>
            <p:nvPr/>
          </p:nvSpPr>
          <p:spPr>
            <a:xfrm>
              <a:off x="7031355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98005" y="23717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9162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898005" y="29879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91629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09866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存在唯一解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1009" y="1846898"/>
              <a:ext cx="39517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系数矩阵的转置是 Vandermonde 矩阵，节点互异时行列式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Π(xⱼ − xᵢ) ≠ 0，方程组有唯一解 A₀*, A₁*, …, Aₙ*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9866" y="24045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所得公式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1009" y="2685098"/>
              <a:ext cx="3771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∫ₐᵇ f(x)dx ≈ Σ Aᵢ* f(xᵢ)，至少具有 n 次代数精度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09866" y="302085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与插值型的关系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11009" y="3301365"/>
              <a:ext cx="41650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插值型系数 ωᵢ⁽ⁿ⁾ 使公式对 1, x, …, xⁿ 精确，也满足这组方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程；由唯一性，Aᵢ* = ωᵢ⁽ⁿ⁾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898005" y="3928110"/>
            <a:ext cx="4760595" cy="1268730"/>
            <a:chOff x="6898005" y="3928110"/>
            <a:chExt cx="4760595" cy="1268730"/>
          </a:xfrm>
        </p:grpSpPr>
        <p:sp>
          <p:nvSpPr>
            <p:cNvPr id="31" name="Rectangle 31"/>
            <p:cNvSpPr/>
            <p:nvPr/>
          </p:nvSpPr>
          <p:spPr>
            <a:xfrm>
              <a:off x="6898005" y="3928110"/>
              <a:ext cx="4760595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07530" y="406146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34225" y="412623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29666" y="416052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84186" y="4161949"/>
              <a:ext cx="24149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1，节点 x₀ = a，x₁ = 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26986" y="4504849"/>
              <a:ext cx="396392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 + A₁ = b − a，A₀a + A₁b = (b² − a²)/2，解得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 = A₁ = (b − a)/2，就是梯形公式。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898005" y="5377815"/>
            <a:ext cx="4760595" cy="756285"/>
            <a:chOff x="6898005" y="5377815"/>
            <a:chExt cx="4760595" cy="756285"/>
          </a:xfrm>
        </p:grpSpPr>
        <p:sp>
          <p:nvSpPr>
            <p:cNvPr id="38" name="Rectangle 38"/>
            <p:cNvSpPr/>
            <p:nvPr/>
          </p:nvSpPr>
          <p:spPr>
            <a:xfrm>
              <a:off x="6898005" y="5377815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102793" y="5655947"/>
              <a:ext cx="200023" cy="200023"/>
              <a:chOff x="7102793" y="5655947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102793" y="56559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36143" y="57226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405116" y="5524976"/>
              <a:ext cx="379260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+ 1 个节点给定后，代数精度至少为 n 的公式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只有一个，就是插值型公式。这就是定理 6.1。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3937" cy="909257"/>
            <a:chOff x="520446" y="342900"/>
            <a:chExt cx="90039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39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例：确定 A、B、C 并求代数精度，得到的是 Simpson 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953578"/>
            <a:chOff x="533400" y="1524000"/>
            <a:chExt cx="5410200" cy="19535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53578"/>
            </a:xfrm>
            <a:prstGeom prst="roundRect">
              <a:avLst>
                <a:gd name="adj" fmla="val 6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68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060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试确定系数 A、B、C，使下面的求积公式具有尽可能高的代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数精度，并求出此求积公式的代数精度。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7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4975860" cy="6134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1" name="c1-steps-2"/>
          <p:cNvGrpSpPr/>
          <p:nvPr/>
        </p:nvGrpSpPr>
        <p:grpSpPr>
          <a:xfrm>
            <a:off x="533400" y="3668078"/>
            <a:ext cx="4806696" cy="2619756"/>
            <a:chOff x="533400" y="3668078"/>
            <a:chExt cx="4806696" cy="2619756"/>
          </a:xfrm>
        </p:grpSpPr>
        <p:sp>
          <p:nvSpPr>
            <p:cNvPr id="14" name="Rectangle 14"/>
            <p:cNvSpPr/>
            <p:nvPr/>
          </p:nvSpPr>
          <p:spPr>
            <a:xfrm>
              <a:off x="666750" y="3810952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66807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741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2843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358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9015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975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5178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5916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3700939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3981450"/>
              <a:ext cx="1972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 + C = ∫₋ₕʰ 1 dx = 2h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4317206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597718"/>
              <a:ext cx="2346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−hA + hC = 0，即 −h(A − C) =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261" y="4934426"/>
              <a:ext cx="576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x²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5214938"/>
              <a:ext cx="31516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h²A + h²C = 2h³/3，即 h²(A + C) = 2h³/3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261" y="55516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解方程组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5832158"/>
              <a:ext cx="43936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由第 2 式 A = C，第 3 式 A + C = 2h/3，得 A = C = h/3，B = 2h −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2h/3 = 4h/3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68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3" name="c2-table-2"/>
          <p:cNvGrpSpPr/>
          <p:nvPr/>
        </p:nvGrpSpPr>
        <p:grpSpPr>
          <a:xfrm>
            <a:off x="6243066" y="2344102"/>
            <a:ext cx="5415534" cy="1553147"/>
            <a:chOff x="6243066" y="2344102"/>
            <a:chExt cx="5415534" cy="1553147"/>
          </a:xfrm>
        </p:grpSpPr>
        <p:sp>
          <p:nvSpPr>
            <p:cNvPr id="33" name="Rectangle 33"/>
            <p:cNvSpPr/>
            <p:nvPr/>
          </p:nvSpPr>
          <p:spPr>
            <a:xfrm>
              <a:off x="6248400" y="2344102"/>
              <a:ext cx="541020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27208" y="247269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68743" y="24726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76576" y="24726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85360" y="24726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20500" y="28975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66634" y="28975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55596" y="2897505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(h/3)(−h³ + h³) = 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46904" y="28975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1880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192780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0500" y="33213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88936" y="332136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2h⁵/5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22322" y="3321368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(h/3)(h⁴ + h⁴) = 2h⁵/3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46904" y="332136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344102"/>
              <a:ext cx="5410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87565" y="234410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36268" y="234410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605135" y="234410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3066" y="369189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继续验证更高次的单项式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248400" y="4036695"/>
            <a:ext cx="5410200" cy="756285"/>
            <a:chOff x="6248400" y="4036695"/>
            <a:chExt cx="5410200" cy="756285"/>
          </a:xfrm>
        </p:grpSpPr>
        <p:sp>
          <p:nvSpPr>
            <p:cNvPr id="54" name="Rectangle 54"/>
            <p:cNvSpPr/>
            <p:nvPr/>
          </p:nvSpPr>
          <p:spPr>
            <a:xfrm>
              <a:off x="6248400" y="403669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4314825"/>
              <a:ext cx="200026" cy="200026"/>
              <a:chOff x="6453188" y="431482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43148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19863" y="43926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511" y="4183856"/>
              <a:ext cx="445084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公式对 1、x、x²、x³ 精确成立，对 x⁴ 不精确，所以此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求积公式具有 3 次代数精度。</a:t>
              </a:r>
            </a:p>
          </p:txBody>
        </p:sp>
      </p:grpSp>
      <p:grpSp>
        <p:nvGrpSpPr>
          <p:cNvPr id="66" name="c2-callout-4"/>
          <p:cNvGrpSpPr/>
          <p:nvPr/>
        </p:nvGrpSpPr>
        <p:grpSpPr>
          <a:xfrm>
            <a:off x="6248400" y="4973002"/>
            <a:ext cx="5410200" cy="1018222"/>
            <a:chOff x="6248400" y="4973002"/>
            <a:chExt cx="5410200" cy="1018222"/>
          </a:xfrm>
        </p:grpSpPr>
        <p:sp>
          <p:nvSpPr>
            <p:cNvPr id="60" name="Rectangle 60"/>
            <p:cNvSpPr/>
            <p:nvPr/>
          </p:nvSpPr>
          <p:spPr>
            <a:xfrm>
              <a:off x="6248400" y="4973002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453188" y="5381625"/>
              <a:ext cx="200026" cy="200026"/>
              <a:chOff x="6453188" y="5381625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453188" y="53816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53200" y="5448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42088" y="54816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755511" y="5120164"/>
              <a:ext cx="449592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这正是区间 [−h, h] 上的 Simpson 公式。3 个节点本来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只保证 2 次代数精度，节点关于中点对称，奇函数 x³ 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边抵消，多得了 1 次。思考题会用到这个现象。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93033" cy="909257"/>
            <a:chOff x="520446" y="342900"/>
            <a:chExt cx="101930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930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6.1：n + 1 点公式代数精度至少为 n，当且仅当它是插值型的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312545"/>
            <a:chOff x="533400" y="1524000"/>
            <a:chExt cx="5193982" cy="13125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12545"/>
            </a:xfrm>
            <a:prstGeom prst="roundRect">
              <a:avLst>
                <a:gd name="adj" fmla="val 101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58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489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插值型求积公式具有至少 n 次代数精度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72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736782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dx</m:t>
                                </m:r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≡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2"/>
          <p:cNvGrpSpPr/>
          <p:nvPr/>
        </p:nvGrpSpPr>
        <p:grpSpPr>
          <a:xfrm>
            <a:off x="533400" y="3027045"/>
            <a:ext cx="5193982" cy="3176588"/>
            <a:chOff x="533400" y="3027045"/>
            <a:chExt cx="5193982" cy="3176588"/>
          </a:xfrm>
        </p:grpSpPr>
        <p:sp>
          <p:nvSpPr>
            <p:cNvPr id="14" name="Rectangle 14"/>
            <p:cNvSpPr/>
            <p:nvPr/>
          </p:nvSpPr>
          <p:spPr>
            <a:xfrm>
              <a:off x="533400" y="3027045"/>
              <a:ext cx="5193982" cy="3176588"/>
            </a:xfrm>
            <a:prstGeom prst="roundRect">
              <a:avLst>
                <a:gd name="adj" fmla="val 419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3236595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4535" y="3272314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 6.1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361378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形如下式的 n + 1 点求积公式，其代数精度至少为 n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充要条件是，它是插值型的。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73"/>
                <p:cNvSpPr txBox="1">
                  <a:spLocks noGrp="1"/>
                </p:cNvSpPr>
                <p:nvPr/>
              </p:nvSpPr>
              <p:spPr>
                <a:xfrm>
                  <a:off x="742950" y="4210050"/>
                  <a:ext cx="4774882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2-steps-1"/>
          <p:cNvGrpSpPr/>
          <p:nvPr/>
        </p:nvGrpSpPr>
        <p:grpSpPr>
          <a:xfrm>
            <a:off x="6032182" y="1533525"/>
            <a:ext cx="5258974" cy="2764440"/>
            <a:chOff x="6032182" y="1533525"/>
            <a:chExt cx="5258974" cy="2764440"/>
          </a:xfrm>
        </p:grpSpPr>
        <p:sp>
          <p:nvSpPr>
            <p:cNvPr id="20" name="Rectangle 20"/>
            <p:cNvSpPr/>
            <p:nvPr/>
          </p:nvSpPr>
          <p:spPr>
            <a:xfrm>
              <a:off x="6165532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032182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25806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32182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2580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032182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25806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3662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充分性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44806" y="1861661"/>
              <a:ext cx="4792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公式是插值型时，对次数 ≤ n 的多项式 f 有 Lₙ = f，余项 (6.2.4)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0，代数精度至少为 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43662" y="24536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必要性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4806" y="2746534"/>
              <a:ext cx="4389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代数精度至少为 n 时，公式对 n 次多项式 lₖ(x) 精确成立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3662" y="3104198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lₖ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4806" y="3397091"/>
              <a:ext cx="4846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基函数满足 lₖ(xᵢ) = 1（i = k）或 0（i ≠ k），求和只剩第 k 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3662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4806" y="4048601"/>
              <a:ext cx="3771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 = ∫ₐᵇ lₖ(x)dx = ωₖ⁽ⁿ⁾，所以公式是插值型的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74"/>
              <p:cNvSpPr txBox="1">
                <a:spLocks noGrp="1"/>
              </p:cNvSpPr>
              <p:nvPr/>
            </p:nvSpPr>
            <p:spPr>
              <a:xfrm>
                <a:off x="6032182" y="4475798"/>
                <a:ext cx="5626418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llout-3"/>
          <p:cNvGrpSpPr/>
          <p:nvPr/>
        </p:nvGrpSpPr>
        <p:grpSpPr>
          <a:xfrm>
            <a:off x="6032182" y="5420678"/>
            <a:ext cx="5626418" cy="782955"/>
            <a:chOff x="6032182" y="5420678"/>
            <a:chExt cx="5626418" cy="782955"/>
          </a:xfrm>
        </p:grpSpPr>
        <p:sp>
          <p:nvSpPr>
            <p:cNvPr id="39" name="Rectangle 39"/>
            <p:cNvSpPr/>
            <p:nvPr/>
          </p:nvSpPr>
          <p:spPr>
            <a:xfrm>
              <a:off x="6032182" y="542067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236970" y="5712143"/>
              <a:ext cx="200026" cy="200025"/>
              <a:chOff x="6236970" y="5712143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236970" y="57121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276709" y="57565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311424" y="58677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538912" y="556926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判断一个 n + 1 点公式是否插值型，不必去积 lₖ，验证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它对 1, x, …, xⁿ 都精确即可。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792650" cy="909257"/>
            <a:chOff x="520446" y="342900"/>
            <a:chExt cx="107926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7926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Newton-Cotes 公式：等距节点下，系数化成 [0, n] 上的多项式积分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273040" cy="588645"/>
            <a:chOff x="525780" y="1548765"/>
            <a:chExt cx="5273040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2730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当求积节点取为等距节点 xₖ = a + kh（k = 0, 1, …, n；h = (b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a)/n）时，记 x = a + th，t ∈ [0, n]：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2268855"/>
            <a:ext cx="5626418" cy="2244091"/>
            <a:chOff x="533400" y="2268855"/>
            <a:chExt cx="5626418" cy="2244091"/>
          </a:xfrm>
        </p:grpSpPr>
        <p:sp>
          <p:nvSpPr>
            <p:cNvPr id="9" name="Rectangle 9"/>
            <p:cNvSpPr/>
            <p:nvPr/>
          </p:nvSpPr>
          <p:spPr>
            <a:xfrm>
              <a:off x="533400" y="2268855"/>
              <a:ext cx="562641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0045" y="24045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原变量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92778" y="24045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换元后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85215" y="2853214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− xⱼ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6776" y="2853214"/>
              <a:ext cx="641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 − j)h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161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16611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35459" y="3301841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 − xⱼ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6776" y="3301841"/>
              <a:ext cx="641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(k − j)h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6109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739004" y="375046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83242" y="3750469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dt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0595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06431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41233" y="4199096"/>
              <a:ext cx="1207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∏(k − j)，j ≠ 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32758" y="4199096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k! · (−1)ⁿ⁻ᵏ(n − k)!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268855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150870" y="226885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79"/>
              <p:cNvSpPr txBox="1">
                <a:spLocks noGrp="1"/>
              </p:cNvSpPr>
              <p:nvPr/>
            </p:nvSpPr>
            <p:spPr>
              <a:xfrm>
                <a:off x="533400" y="4703445"/>
                <a:ext cx="5626418" cy="506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80"/>
              <p:cNvSpPr txBox="1">
                <a:spLocks noGrp="1"/>
              </p:cNvSpPr>
              <p:nvPr/>
            </p:nvSpPr>
            <p:spPr>
              <a:xfrm>
                <a:off x="533400" y="5400675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dt</m:t>
                              </m:r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,⋯,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6.2.5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5" name="c2-card-1"/>
          <p:cNvGrpSpPr/>
          <p:nvPr/>
        </p:nvGrpSpPr>
        <p:grpSpPr>
          <a:xfrm>
            <a:off x="6464618" y="1524000"/>
            <a:ext cx="5193982" cy="1880235"/>
            <a:chOff x="6464618" y="1524000"/>
            <a:chExt cx="5193982" cy="1880235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1880235"/>
            </a:xfrm>
            <a:prstGeom prst="roundRect">
              <a:avLst>
                <a:gd name="adj" fmla="val 709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74168" y="1733550"/>
              <a:ext cx="155448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27123" y="1769269"/>
              <a:ext cx="1448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Newton-Cotes 公式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6548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基于等分点的插值型求积公式：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81"/>
                <p:cNvSpPr txBox="1">
                  <a:spLocks noGrp="1"/>
                </p:cNvSpPr>
                <p:nvPr/>
              </p:nvSpPr>
              <p:spPr>
                <a:xfrm>
                  <a:off x="6674168" y="2421255"/>
                  <a:ext cx="4774882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2-text-2"/>
          <p:cNvGrpSpPr/>
          <p:nvPr/>
        </p:nvGrpSpPr>
        <p:grpSpPr>
          <a:xfrm>
            <a:off x="6456998" y="3619500"/>
            <a:ext cx="1507084" cy="293370"/>
            <a:chOff x="6456998" y="3619500"/>
            <a:chExt cx="1507084" cy="293370"/>
          </a:xfrm>
        </p:grpSpPr>
        <p:sp>
          <p:nvSpPr>
            <p:cNvPr id="36" name="TextBox 36"/>
            <p:cNvSpPr txBox="1"/>
            <p:nvPr/>
          </p:nvSpPr>
          <p:spPr>
            <a:xfrm>
              <a:off x="6456998" y="3619500"/>
              <a:ext cx="1507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Cotes 系数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82"/>
              <p:cNvSpPr txBox="1">
                <a:spLocks noGrp="1"/>
              </p:cNvSpPr>
              <p:nvPr/>
            </p:nvSpPr>
            <p:spPr>
              <a:xfrm>
                <a:off x="6464618" y="4044315"/>
                <a:ext cx="5193982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</m:sup>
                          </m:sSubSup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dt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llout-4"/>
          <p:cNvGrpSpPr/>
          <p:nvPr/>
        </p:nvGrpSpPr>
        <p:grpSpPr>
          <a:xfrm>
            <a:off x="6464618" y="4926330"/>
            <a:ext cx="5193982" cy="1059180"/>
            <a:chOff x="6464618" y="4926330"/>
            <a:chExt cx="5193982" cy="1059180"/>
          </a:xfrm>
        </p:grpSpPr>
        <p:sp>
          <p:nvSpPr>
            <p:cNvPr id="39" name="Rectangle 39"/>
            <p:cNvSpPr/>
            <p:nvPr/>
          </p:nvSpPr>
          <p:spPr>
            <a:xfrm>
              <a:off x="6464618" y="492633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669405" y="5355908"/>
              <a:ext cx="200026" cy="200025"/>
              <a:chOff x="6669405" y="535590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69405" y="53559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09144" y="54003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43859" y="55114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971348" y="5074920"/>
              <a:ext cx="42443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Cₖ⁽ⁿ⁾ 只和 n、k 有关，与被积函数 f 及积分区间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[a, b] 无关，可以列表查用（见后）。因为 h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(b − a)/n，ωₖ⁽ⁿ⁾ 除以 b − a 后分母多出因子 n。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30479" cy="909257"/>
            <a:chOff x="520446" y="342900"/>
            <a:chExt cx="74304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30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梯形公式（n = 1）：系数、余项与 1 次代数精度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3330416" cy="264033"/>
            <a:chOff x="526542" y="1545907"/>
            <a:chExt cx="333041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(6.2.5) 中令 n = 1，此时 h = b − a：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8"/>
              <p:cNvSpPr txBox="1">
                <a:spLocks noGrp="1"/>
              </p:cNvSpPr>
              <p:nvPr/>
            </p:nvSpPr>
            <p:spPr>
              <a:xfrm>
                <a:off x="533400" y="1926908"/>
                <a:ext cx="5085398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99"/>
              <p:cNvSpPr txBox="1">
                <a:spLocks noGrp="1"/>
              </p:cNvSpPr>
              <p:nvPr/>
            </p:nvSpPr>
            <p:spPr>
              <a:xfrm>
                <a:off x="533400" y="2657475"/>
                <a:ext cx="5085398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4"/>
          <p:cNvGrpSpPr/>
          <p:nvPr/>
        </p:nvGrpSpPr>
        <p:grpSpPr>
          <a:xfrm>
            <a:off x="533400" y="3387090"/>
            <a:ext cx="5085398" cy="1303972"/>
            <a:chOff x="533400" y="3387090"/>
            <a:chExt cx="5085398" cy="1303972"/>
          </a:xfrm>
        </p:grpSpPr>
        <p:sp>
          <p:nvSpPr>
            <p:cNvPr id="11" name="Rectangle 11"/>
            <p:cNvSpPr/>
            <p:nvPr/>
          </p:nvSpPr>
          <p:spPr>
            <a:xfrm>
              <a:off x="533400" y="3387090"/>
              <a:ext cx="5085398" cy="1303972"/>
            </a:xfrm>
            <a:prstGeom prst="roundRect">
              <a:avLst>
                <a:gd name="adj" fmla="val 1022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20090" y="3573780"/>
              <a:ext cx="212121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230" y="3606641"/>
              <a:ext cx="20359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 (6.2.3)，得到梯形求积公式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00"/>
                <p:cNvSpPr txBox="1">
                  <a:spLocks noGrp="1"/>
                </p:cNvSpPr>
                <p:nvPr/>
              </p:nvSpPr>
              <p:spPr>
                <a:xfrm>
                  <a:off x="720090" y="3895725"/>
                  <a:ext cx="4712018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</m:e>
                        </m:d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6.2.6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llout-5"/>
          <p:cNvGrpSpPr/>
          <p:nvPr/>
        </p:nvGrpSpPr>
        <p:grpSpPr>
          <a:xfrm>
            <a:off x="533400" y="4860608"/>
            <a:ext cx="5085398" cy="978218"/>
            <a:chOff x="533400" y="4860608"/>
            <a:chExt cx="5085398" cy="978218"/>
          </a:xfrm>
        </p:grpSpPr>
        <p:sp>
          <p:nvSpPr>
            <p:cNvPr id="16" name="Rectangle 16"/>
            <p:cNvSpPr/>
            <p:nvPr/>
          </p:nvSpPr>
          <p:spPr>
            <a:xfrm>
              <a:off x="533400" y="4860608"/>
              <a:ext cx="508539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249228"/>
              <a:ext cx="200026" cy="200026"/>
              <a:chOff x="738188" y="5249228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249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5315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5349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892" y="5006340"/>
              <a:ext cx="399135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检验：f = x² 时 f″ = 2，由 (6.2.7) 得 R₁ = −(b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a)³/6 ≠ 0；f 为一次式时 f″ ≡ 0，R₁ = 0。梯形公式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代数精度为 1。</a:t>
              </a:r>
            </a:p>
          </p:txBody>
        </p:sp>
      </p:grpSp>
      <p:grpSp>
        <p:nvGrpSpPr>
          <p:cNvPr id="24" name="c2-text-1"/>
          <p:cNvGrpSpPr/>
          <p:nvPr/>
        </p:nvGrpSpPr>
        <p:grpSpPr>
          <a:xfrm>
            <a:off x="5916739" y="1545907"/>
            <a:ext cx="2237637" cy="264033"/>
            <a:chOff x="5916739" y="1545907"/>
            <a:chExt cx="2237637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5916739" y="1545907"/>
              <a:ext cx="2237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余项（设 f ∈ C²[a, b]）：</a:t>
              </a:r>
            </a:p>
          </p:txBody>
        </p:sp>
      </p:grpSp>
      <p:grpSp>
        <p:nvGrpSpPr>
          <p:cNvPr id="38" name="c2-steps-2"/>
          <p:cNvGrpSpPr/>
          <p:nvPr/>
        </p:nvGrpSpPr>
        <p:grpSpPr>
          <a:xfrm>
            <a:off x="5923598" y="1936432"/>
            <a:ext cx="5324982" cy="1892142"/>
            <a:chOff x="5923598" y="1936432"/>
            <a:chExt cx="5324982" cy="1892142"/>
          </a:xfrm>
        </p:grpSpPr>
        <p:sp>
          <p:nvSpPr>
            <p:cNvPr id="25" name="Rectangle 25"/>
            <p:cNvSpPr/>
            <p:nvPr/>
          </p:nvSpPr>
          <p:spPr>
            <a:xfrm>
              <a:off x="6056948" y="2079308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923598" y="19364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17221" y="20102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923598" y="25193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17221" y="25931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923598" y="33099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17221" y="3383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35839" y="1968818"/>
              <a:ext cx="987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(6.2.4)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6982" y="2235994"/>
              <a:ext cx="2974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1，节点 a、b，余项中含 (x − a)(x − b)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5839" y="25517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权函数不变号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6982" y="2818924"/>
              <a:ext cx="49115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∈ [a, b] 时 (x − a)(x − b) ≤ 0，可以用加权积分中值定理把 f″ 提到积分号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35839" y="33413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计算积分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36982" y="3608546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∫ₐᵇ (x − a)(x − b)dx = −(b − a)³/6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101"/>
              <p:cNvSpPr txBox="1">
                <a:spLocks noGrp="1"/>
              </p:cNvSpPr>
              <p:nvPr/>
            </p:nvSpPr>
            <p:spPr>
              <a:xfrm>
                <a:off x="5923598" y="3992880"/>
                <a:ext cx="5735002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102"/>
              <p:cNvSpPr txBox="1">
                <a:spLocks noGrp="1"/>
              </p:cNvSpPr>
              <p:nvPr/>
            </p:nvSpPr>
            <p:spPr>
              <a:xfrm>
                <a:off x="5923598" y="4722495"/>
                <a:ext cx="5735002" cy="506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′′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</m:d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′′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</m: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6.2.7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7" name="c2-callout-5"/>
          <p:cNvGrpSpPr/>
          <p:nvPr/>
        </p:nvGrpSpPr>
        <p:grpSpPr>
          <a:xfrm>
            <a:off x="5923598" y="5399722"/>
            <a:ext cx="5735002" cy="729615"/>
            <a:chOff x="5923598" y="5399722"/>
            <a:chExt cx="5735002" cy="729615"/>
          </a:xfrm>
        </p:grpSpPr>
        <p:sp>
          <p:nvSpPr>
            <p:cNvPr id="41" name="Rectangle 41"/>
            <p:cNvSpPr/>
            <p:nvPr/>
          </p:nvSpPr>
          <p:spPr>
            <a:xfrm>
              <a:off x="5923598" y="5399722"/>
              <a:ext cx="573500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128385" y="5664518"/>
              <a:ext cx="200026" cy="200025"/>
              <a:chOff x="6128385" y="5664518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128385" y="56645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168124" y="57089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202839" y="58200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431089" y="5545455"/>
              <a:ext cx="46514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η ∈ [a, b]。f″ &gt; 0 时 R₁ &lt; 0，梯形公式的值偏大；f″ &lt; 0 时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偏小（与第 9 页的图一致）。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1386" cy="909257"/>
            <a:chOff x="520446" y="342900"/>
            <a:chExt cx="72913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13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公式（n = 2）：系数之比为 1 : 4 :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006340" cy="588645"/>
            <a:chOff x="525780" y="1548765"/>
            <a:chExt cx="5006340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0063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(6.2.5) 中令 n = 2，h = (b − a)/2，节点 a、x₁ = (a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b)/2、b：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07"/>
              <p:cNvSpPr txBox="1">
                <a:spLocks noGrp="1"/>
              </p:cNvSpPr>
              <p:nvPr/>
            </p:nvSpPr>
            <p:spPr>
              <a:xfrm>
                <a:off x="533400" y="2268855"/>
                <a:ext cx="5410200" cy="613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08"/>
              <p:cNvSpPr txBox="1">
                <a:spLocks noGrp="1"/>
              </p:cNvSpPr>
              <p:nvPr/>
            </p:nvSpPr>
            <p:spPr>
              <a:xfrm>
                <a:off x="533400" y="3072765"/>
                <a:ext cx="5410200" cy="613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09"/>
              <p:cNvSpPr txBox="1">
                <a:spLocks noGrp="1"/>
              </p:cNvSpPr>
              <p:nvPr/>
            </p:nvSpPr>
            <p:spPr>
              <a:xfrm>
                <a:off x="533400" y="3876675"/>
                <a:ext cx="5410200" cy="613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5"/>
          <p:cNvGrpSpPr/>
          <p:nvPr/>
        </p:nvGrpSpPr>
        <p:grpSpPr>
          <a:xfrm>
            <a:off x="533400" y="4680585"/>
            <a:ext cx="5410200" cy="1409700"/>
            <a:chOff x="533400" y="4680585"/>
            <a:chExt cx="5410200" cy="1409700"/>
          </a:xfrm>
        </p:grpSpPr>
        <p:sp>
          <p:nvSpPr>
            <p:cNvPr id="12" name="Rectangle 12"/>
            <p:cNvSpPr/>
            <p:nvPr/>
          </p:nvSpPr>
          <p:spPr>
            <a:xfrm>
              <a:off x="533400" y="4680585"/>
              <a:ext cx="5410200" cy="1409700"/>
            </a:xfrm>
            <a:prstGeom prst="roundRect">
              <a:avLst>
                <a:gd name="adj" fmla="val 945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42950" y="4890135"/>
              <a:ext cx="2386965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4292" y="4925854"/>
              <a:ext cx="2324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抛物线求积公式（Simpson 公式）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10"/>
                <p:cNvSpPr txBox="1">
                  <a:spLocks noGrp="1"/>
                </p:cNvSpPr>
                <p:nvPr/>
              </p:nvSpPr>
              <p:spPr>
                <a:xfrm>
                  <a:off x="742950" y="5242560"/>
                  <a:ext cx="49911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num>
                                  <m:den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</m:e>
                        </m:d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6.2.8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5" name="c2-kv-1"/>
          <p:cNvGrpSpPr/>
          <p:nvPr/>
        </p:nvGrpSpPr>
        <p:grpSpPr>
          <a:xfrm>
            <a:off x="6240780" y="1548765"/>
            <a:ext cx="5417820" cy="1173480"/>
            <a:chOff x="6240780" y="1548765"/>
            <a:chExt cx="5417820" cy="1173480"/>
          </a:xfrm>
        </p:grpSpPr>
        <p:sp>
          <p:nvSpPr>
            <p:cNvPr id="17" name="TextBox 17"/>
            <p:cNvSpPr txBox="1"/>
            <p:nvPr/>
          </p:nvSpPr>
          <p:spPr>
            <a:xfrm>
              <a:off x="6240780" y="1548765"/>
              <a:ext cx="2018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∫₀²(t − 1)(t − 2)dt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26780" y="154876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8/3 − 6 + 4 = 2/3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48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40780" y="1988820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∫₀² t(t − 2)dt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26780" y="198882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8/3 − 4 = −4/3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48400" y="23088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40780" y="24288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∫₀² t(t − 1)dt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26780" y="242887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8/3 − 2 = 2/3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2853690"/>
            <a:ext cx="5410200" cy="3236595"/>
            <a:chOff x="6248400" y="2853690"/>
            <a:chExt cx="5410200" cy="3236595"/>
          </a:xfrm>
        </p:grpSpPr>
        <p:sp>
          <p:nvSpPr>
            <p:cNvPr id="26" name="Rectangle 26"/>
            <p:cNvSpPr/>
            <p:nvPr/>
          </p:nvSpPr>
          <p:spPr>
            <a:xfrm>
              <a:off x="6248400" y="2853690"/>
              <a:ext cx="5410200" cy="3236595"/>
            </a:xfrm>
            <a:prstGeom prst="roundRect">
              <a:avLst>
                <a:gd name="adj" fmla="val 41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2987040"/>
              <a:ext cx="47625" cy="29698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306324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9507" y="30989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检验代数精度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8430" y="3440430"/>
              <a:ext cx="454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[0, 1] 上：Q = [f(0) + 4f(1/2) + f(1)]/6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96050" y="3769995"/>
              <a:ext cx="49530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11568" y="390572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50353" y="390572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05835" y="390572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11079" y="435435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66664" y="435435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98430" y="4354354"/>
              <a:ext cx="1744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 + 4·¼ + 1)/6 = 1/3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96050" y="466248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4667250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11079" y="480298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66664" y="480298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98430" y="4802981"/>
              <a:ext cx="1744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 + 4·⅛ + 1)/6 = 1/4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96050" y="511206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11079" y="525160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66664" y="525160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08885" y="5251609"/>
              <a:ext cx="2123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 + 4·¹⁄₁₆ + 1)/6 = 5/24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96050" y="3769995"/>
              <a:ext cx="49530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33322" y="37699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86800" y="37699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89573" y="5681186"/>
              <a:ext cx="45591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 x³ 仍精确，对 x⁴ 不精确：Simpson 公式代数精度为 3。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64793" cy="909257"/>
            <a:chOff x="520446" y="342900"/>
            <a:chExt cx="91647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647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公式的余项：π(x) 变号，需要借助 Hermite 插值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2085518" cy="264033"/>
            <a:chOff x="526542" y="1545907"/>
            <a:chExt cx="208551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08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直接由 (6.2.4)，n = 2：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17"/>
              <p:cNvSpPr txBox="1">
                <a:spLocks noGrp="1"/>
              </p:cNvSpPr>
              <p:nvPr/>
            </p:nvSpPr>
            <p:spPr>
              <a:xfrm>
                <a:off x="533400" y="1926908"/>
                <a:ext cx="5085398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542" y="2679382"/>
            <a:ext cx="4548054" cy="264033"/>
            <a:chOff x="526542" y="2679382"/>
            <a:chExt cx="4548054" cy="264033"/>
          </a:xfrm>
        </p:grpSpPr>
        <p:sp>
          <p:nvSpPr>
            <p:cNvPr id="10" name="TextBox 10"/>
            <p:cNvSpPr txBox="1"/>
            <p:nvPr/>
          </p:nvSpPr>
          <p:spPr>
            <a:xfrm>
              <a:off x="526542" y="2679382"/>
              <a:ext cx="4548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π(x) = (x − a)(x − x₁)(x − b)，x₁ = (a + b)/2。</a:t>
              </a:r>
            </a:p>
          </p:txBody>
        </p:sp>
      </p:grpSp>
      <p:grpSp>
        <p:nvGrpSpPr>
          <p:cNvPr id="18" name="c1-card-4"/>
          <p:cNvGrpSpPr/>
          <p:nvPr/>
        </p:nvGrpSpPr>
        <p:grpSpPr>
          <a:xfrm>
            <a:off x="533400" y="3060382"/>
            <a:ext cx="5085398" cy="1743075"/>
            <a:chOff x="533400" y="3060382"/>
            <a:chExt cx="5085398" cy="1743075"/>
          </a:xfrm>
        </p:grpSpPr>
        <p:sp>
          <p:nvSpPr>
            <p:cNvPr id="12" name="Rectangle 12"/>
            <p:cNvSpPr/>
            <p:nvPr/>
          </p:nvSpPr>
          <p:spPr>
            <a:xfrm>
              <a:off x="533400" y="3060382"/>
              <a:ext cx="5085398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193732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8190" y="3247072"/>
              <a:ext cx="195167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6056" y="327993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为什么不能照搬梯形公式的做法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3590925"/>
              <a:ext cx="43514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π(x) 在 [a, x₁] 上 ≥ 0，在 [x₁, b] 上 ≤ 0，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变号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用加权积分中值定理直接提出 f‴。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4148138"/>
              <a:ext cx="41370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而且 ∫ₐᵇ π(x)dx = 0，误差的主要部分实际由 f⁽⁴⁾ 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定。</a:t>
              </a:r>
            </a:p>
          </p:txBody>
        </p:sp>
      </p:grpSp>
      <p:grpSp>
        <p:nvGrpSpPr>
          <p:cNvPr id="23" name="c1-card-5"/>
          <p:cNvGrpSpPr/>
          <p:nvPr/>
        </p:nvGrpSpPr>
        <p:grpSpPr>
          <a:xfrm>
            <a:off x="533400" y="4973002"/>
            <a:ext cx="5085398" cy="1252538"/>
            <a:chOff x="533400" y="4973002"/>
            <a:chExt cx="5085398" cy="1252538"/>
          </a:xfrm>
        </p:grpSpPr>
        <p:sp>
          <p:nvSpPr>
            <p:cNvPr id="19" name="Rectangle 19"/>
            <p:cNvSpPr/>
            <p:nvPr/>
          </p:nvSpPr>
          <p:spPr>
            <a:xfrm>
              <a:off x="533400" y="4973002"/>
              <a:ext cx="5085398" cy="1252538"/>
            </a:xfrm>
            <a:prstGeom prst="roundRect">
              <a:avLst>
                <a:gd name="adj" fmla="val 1064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5159692"/>
              <a:ext cx="346995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9400" y="5192554"/>
              <a:ext cx="34322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余项公式 (6.2.10)（设 f ∈ C⁴[a, b]，h = (b − a)/2）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18"/>
                <p:cNvSpPr txBox="1">
                  <a:spLocks noGrp="1"/>
                </p:cNvSpPr>
                <p:nvPr/>
              </p:nvSpPr>
              <p:spPr>
                <a:xfrm>
                  <a:off x="720090" y="5481638"/>
                  <a:ext cx="4712018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180</m:t>
                            </m:r>
                          </m:den>
                        </m:f>
                        <m:sSup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2880</m:t>
                            </m:r>
                          </m:den>
                        </m:f>
                        <m:sSup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1" name="c2-steps-1"/>
          <p:cNvGrpSpPr/>
          <p:nvPr/>
        </p:nvGrpSpPr>
        <p:grpSpPr>
          <a:xfrm>
            <a:off x="5923598" y="1533525"/>
            <a:ext cx="5452998" cy="3097053"/>
            <a:chOff x="5923598" y="1533525"/>
            <a:chExt cx="5452998" cy="3097053"/>
          </a:xfrm>
        </p:grpSpPr>
        <p:sp>
          <p:nvSpPr>
            <p:cNvPr id="24" name="Rectangle 24"/>
            <p:cNvSpPr/>
            <p:nvPr/>
          </p:nvSpPr>
          <p:spPr>
            <a:xfrm>
              <a:off x="6056948" y="1676400"/>
              <a:ext cx="19050" cy="23707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92359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722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923598" y="23231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7221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923598" y="31137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17221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923598" y="390429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17221" y="3978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5839" y="1564957"/>
              <a:ext cx="2677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 Hermite 插值（补充推导）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6982" y="1833086"/>
              <a:ext cx="50325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取三次多项式 H₃，满足 H₃(a) = f(a)，H₃(x₁) = f(x₁)，H₃′(x₁) = f′(x₁)，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H₃(b) = f(b)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5839" y="2355532"/>
              <a:ext cx="2053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公式对 H₃ 精确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36982" y="2622709"/>
              <a:ext cx="50396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代数精度为 3，且只用到 a、x₁、b 三点的函数值，所以 Q₂[f] = Q₂[H₃] = ∫ₐᵇ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H₃(x)dx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35839" y="31451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插值余项不变号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6982" y="3413284"/>
              <a:ext cx="47622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− H₃(x) = f⁽⁴⁾(ξ)/4! · (x − a)(x − x₁)²(x − b)，其中 (x − a)(x −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x₁)²(x − b) ≤ 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35839" y="39357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36982" y="4202906"/>
              <a:ext cx="49471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∫ₐᵇ (x − a)(x − x₁)²(x − b)dx = −(b − a)⁵/120，于是 R₂ = (f⁽⁴⁾(η)/24)·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(−(b − a)⁵/120)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5923598" y="4793932"/>
            <a:ext cx="5735002" cy="729615"/>
            <a:chOff x="5923598" y="4793932"/>
            <a:chExt cx="5735002" cy="729615"/>
          </a:xfrm>
        </p:grpSpPr>
        <p:sp>
          <p:nvSpPr>
            <p:cNvPr id="42" name="Rectangle 42"/>
            <p:cNvSpPr/>
            <p:nvPr/>
          </p:nvSpPr>
          <p:spPr>
            <a:xfrm>
              <a:off x="5923598" y="4793932"/>
              <a:ext cx="573500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128385" y="5058728"/>
              <a:ext cx="200026" cy="200026"/>
              <a:chOff x="6128385" y="505872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128385" y="50587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195060" y="51365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431089" y="4940618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检验：[0, 1] 上 f = x⁴，精确值 1/5，Simpson 值 5/24，误差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−1/120；公式给出 −(1/2880)·24 = −1/120，一致。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54646" cy="909257"/>
            <a:chOff x="520446" y="342900"/>
            <a:chExt cx="67546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546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 公式（n = 4）与三个低阶公式的对照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4711617" cy="264033"/>
            <a:chOff x="526542" y="1545907"/>
            <a:chExt cx="471161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11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(6.2.5) 中令 n = 4，h = (b − a)/4，fₖ = f(a + kh)：</a:t>
              </a:r>
            </a:p>
          </p:txBody>
        </p:sp>
      </p:grpSp>
      <p:grpSp>
        <p:nvGrpSpPr>
          <p:cNvPr id="13" name="c1-card-2"/>
          <p:cNvGrpSpPr/>
          <p:nvPr/>
        </p:nvGrpSpPr>
        <p:grpSpPr>
          <a:xfrm>
            <a:off x="533400" y="1926908"/>
            <a:ext cx="4869180" cy="1226820"/>
            <a:chOff x="533400" y="1926908"/>
            <a:chExt cx="4869180" cy="1226820"/>
          </a:xfrm>
        </p:grpSpPr>
        <p:sp>
          <p:nvSpPr>
            <p:cNvPr id="9" name="Rectangle 9"/>
            <p:cNvSpPr/>
            <p:nvPr/>
          </p:nvSpPr>
          <p:spPr>
            <a:xfrm>
              <a:off x="533400" y="1926908"/>
              <a:ext cx="4869180" cy="1226820"/>
            </a:xfrm>
            <a:prstGeom prst="roundRect">
              <a:avLst>
                <a:gd name="adj" fmla="val 1087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3598"/>
              <a:ext cx="1720215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2217" y="2146459"/>
              <a:ext cx="1615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Cotes 求积公式 (6.2.11)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25"/>
                <p:cNvSpPr txBox="1">
                  <a:spLocks noGrp="1"/>
                </p:cNvSpPr>
                <p:nvPr/>
              </p:nvSpPr>
              <p:spPr>
                <a:xfrm>
                  <a:off x="720090" y="2435542"/>
                  <a:ext cx="44958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90</m:t>
                            </m:r>
                          </m:den>
                        </m:f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32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32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5" name="c1-text-3"/>
          <p:cNvGrpSpPr/>
          <p:nvPr/>
        </p:nvGrpSpPr>
        <p:grpSpPr>
          <a:xfrm>
            <a:off x="526542" y="3346132"/>
            <a:ext cx="3455275" cy="264033"/>
            <a:chOff x="526542" y="3346132"/>
            <a:chExt cx="3455275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3346132"/>
              <a:ext cx="34552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余项公式 (6.2.12)（设 f ∈ C⁶[a, b]）：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126"/>
              <p:cNvSpPr txBox="1">
                <a:spLocks noGrp="1"/>
              </p:cNvSpPr>
              <p:nvPr/>
            </p:nvSpPr>
            <p:spPr>
              <a:xfrm>
                <a:off x="533400" y="3726180"/>
                <a:ext cx="486918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945</m:t>
                          </m:r>
                        </m:den>
                      </m:f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945</m:t>
                          </m:r>
                        </m:den>
                      </m:f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sup>
                      </m:sSup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llout-5"/>
          <p:cNvGrpSpPr/>
          <p:nvPr/>
        </p:nvGrpSpPr>
        <p:grpSpPr>
          <a:xfrm>
            <a:off x="533400" y="4436745"/>
            <a:ext cx="4869180" cy="978218"/>
            <a:chOff x="533400" y="4436745"/>
            <a:chExt cx="4869180" cy="978218"/>
          </a:xfrm>
        </p:grpSpPr>
        <p:sp>
          <p:nvSpPr>
            <p:cNvPr id="17" name="Rectangle 17"/>
            <p:cNvSpPr/>
            <p:nvPr/>
          </p:nvSpPr>
          <p:spPr>
            <a:xfrm>
              <a:off x="533400" y="4436745"/>
              <a:ext cx="4869180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825365"/>
              <a:ext cx="200026" cy="200026"/>
              <a:chOff x="738188" y="4825365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8253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04863" y="490315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892" y="4582478"/>
              <a:ext cx="391420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检验：[0, 1] 上 f = x⁶，精确值 1/7，与 Cotes 值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之差为 −1/2688；公式给出 −(2/945) × (1/4)⁶ ×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720 = −1/2688。代数精度为 5。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702427" y="1524000"/>
            <a:ext cx="5956173" cy="2263806"/>
            <a:chOff x="5702427" y="1524000"/>
            <a:chExt cx="5956173" cy="2263806"/>
          </a:xfrm>
        </p:grpSpPr>
        <p:sp>
          <p:nvSpPr>
            <p:cNvPr id="23" name="Rectangle 23"/>
            <p:cNvSpPr/>
            <p:nvPr/>
          </p:nvSpPr>
          <p:spPr>
            <a:xfrm>
              <a:off x="5707380" y="1524000"/>
              <a:ext cx="595122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0671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384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8041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求积公式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7040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2008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0671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86142" y="2045494"/>
              <a:ext cx="44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 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90397" y="2045494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(b−a)[f(a) + f(b)]/2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7971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48913" y="2045494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−(b−a)³f″(η)/12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0738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07380" y="2324100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06719" y="2545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49111" y="2545556"/>
              <a:ext cx="722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52982" y="2445544"/>
              <a:ext cx="1469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(b−a)[f(a) + 4f(c) +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f(b)]/6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79715" y="254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83061" y="25455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−(b−a)h⁴f⁽⁴⁾(η)/180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07380" y="29194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06719" y="31456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8108" y="3145631"/>
              <a:ext cx="5644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 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2962" y="3045619"/>
              <a:ext cx="17894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(b−a)[7f₀ + 32f₁ + 12f₂ +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32f₃ + 7f₄]/90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79715" y="31456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41598" y="31456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−2(b−a)h⁶f⁽⁶⁾(η)/945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07380" y="1524000"/>
              <a:ext cx="595122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99979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1230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15447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68978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02427" y="3597116"/>
              <a:ext cx="40030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= (a + b)/2；Simpson 中 h = (b − a)/2，Cotes 中 h = (b − a)/4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5707380" y="3919538"/>
            <a:ext cx="5951220" cy="978218"/>
            <a:chOff x="5707380" y="3919538"/>
            <a:chExt cx="5951220" cy="978218"/>
          </a:xfrm>
        </p:grpSpPr>
        <p:sp>
          <p:nvSpPr>
            <p:cNvPr id="54" name="Rectangle 54"/>
            <p:cNvSpPr/>
            <p:nvPr/>
          </p:nvSpPr>
          <p:spPr>
            <a:xfrm>
              <a:off x="5707380" y="3919538"/>
              <a:ext cx="595122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900109" y="4305418"/>
              <a:ext cx="224134" cy="192560"/>
              <a:chOff x="5900109" y="4305418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012180" y="43757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900109" y="43054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012180" y="44535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214872" y="4066222"/>
              <a:ext cx="4925759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余项里的 h 在不同公式中含义不同：梯形可看作 h = b − a，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Simpson 是 (b − a)/2，Cotes 是 (b − a)/4。代入数值前先确认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h 指哪个步长。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5707380" y="5067300"/>
            <a:ext cx="5951220" cy="978218"/>
            <a:chOff x="5707380" y="5067300"/>
            <a:chExt cx="5951220" cy="978218"/>
          </a:xfrm>
        </p:grpSpPr>
        <p:sp>
          <p:nvSpPr>
            <p:cNvPr id="61" name="Rectangle 61"/>
            <p:cNvSpPr/>
            <p:nvPr/>
          </p:nvSpPr>
          <p:spPr>
            <a:xfrm>
              <a:off x="5707380" y="5067300"/>
              <a:ext cx="5951220" cy="978218"/>
            </a:xfrm>
            <a:prstGeom prst="roundRect">
              <a:avLst>
                <a:gd name="adj" fmla="val 1168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912168" y="5456875"/>
              <a:ext cx="200023" cy="200023"/>
              <a:chOff x="5912168" y="5456875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5912168" y="54568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45518" y="55235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214872" y="5213985"/>
              <a:ext cx="490861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为偶数的公式（Simpson、Cotes）比节点数给出的保证多 1 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代数精度，所以常用的是 n = 1、2、4。n = 3 的 3/8 公式多用一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个节点，代数精度仍是 3。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02961" cy="909257"/>
            <a:chOff x="520446" y="342900"/>
            <a:chExt cx="99029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029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例：分别用梯形公式和抛物线公式计算 √x 在 [0.5, 1] 上的积分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8447" y="1524000"/>
            <a:ext cx="5415153" cy="2663856"/>
            <a:chOff x="528447" y="1524000"/>
            <a:chExt cx="5415153" cy="26638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524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47568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86046" y="1645444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f(xₖ) = √xₖ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8524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10251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10735" y="20454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0.70710678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9852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27325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10735" y="24455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0.79056942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8524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8788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10735" y="28455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0.86602540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98524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27325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10735" y="32456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0.93541435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98524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3177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10735" y="36456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1.00000000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5738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71379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3997166"/>
              <a:ext cx="3266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[0.5, 1] 四等分的节点值（Cotes 公式要用全部 5 个）</a:t>
              </a:r>
            </a:p>
          </p:txBody>
        </p:sp>
      </p:grpSp>
      <p:grpSp>
        <p:nvGrpSpPr>
          <p:cNvPr id="50" name="c1-steps-2"/>
          <p:cNvGrpSpPr/>
          <p:nvPr/>
        </p:nvGrpSpPr>
        <p:grpSpPr>
          <a:xfrm>
            <a:off x="533400" y="4329112"/>
            <a:ext cx="4925289" cy="1893094"/>
            <a:chOff x="533400" y="4329112"/>
            <a:chExt cx="4925289" cy="1893094"/>
          </a:xfrm>
        </p:grpSpPr>
        <p:sp>
          <p:nvSpPr>
            <p:cNvPr id="37" name="Rectangle 37"/>
            <p:cNvSpPr/>
            <p:nvPr/>
          </p:nvSpPr>
          <p:spPr>
            <a:xfrm>
              <a:off x="666750" y="4471988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33400" y="43291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7024" y="4402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33400" y="491204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7024" y="49858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33400" y="549497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7024" y="5568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5642" y="436149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梯形公式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785" y="4628674"/>
              <a:ext cx="3277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(0.5/2)(0.70710678 + 1) = 0.42677670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5642" y="4944428"/>
              <a:ext cx="1165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公式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6785" y="5211604"/>
              <a:ext cx="45119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(0.5/6)(0.70710678 + 4×0.86602540 + 1) = 0.43093403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5642" y="5527358"/>
              <a:ext cx="1692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 公式（补充）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6785" y="5794534"/>
              <a:ext cx="43781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(0.5/90)(7×0.70710678 + 32×0.79056942 + 12×0.86602540 +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32×0.93541435 + 7×1) = 0.43096407</a:t>
              </a:r>
            </a:p>
          </p:txBody>
        </p:sp>
      </p:grpSp>
      <p:grpSp>
        <p:nvGrpSpPr>
          <p:cNvPr id="76" name="c2-table-1"/>
          <p:cNvGrpSpPr/>
          <p:nvPr/>
        </p:nvGrpSpPr>
        <p:grpSpPr>
          <a:xfrm>
            <a:off x="6243447" y="1524000"/>
            <a:ext cx="5415153" cy="1863756"/>
            <a:chOff x="6243447" y="1524000"/>
            <a:chExt cx="5415153" cy="1863756"/>
          </a:xfrm>
        </p:grpSpPr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6242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7952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近似值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63115" y="1645444"/>
              <a:ext cx="731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 I − Q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07880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余项给出的范围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67195" y="20454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91058" y="20454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0.42677670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49816" y="20454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4.19×10⁻³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42252" y="2045494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[2.60×10⁻³, 7.37×10⁻³]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67195" y="24455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91058" y="24455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0.43093403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49816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3.04×10⁻⁵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42252" y="2445544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[1.02×10⁻⁵, 1.15×10⁻⁴]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67195" y="28455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91058" y="28455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0.43096407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49816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3.36×10⁻⁷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542252" y="2845594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[5.96×10⁻⁸, 2.70×10⁻⁶]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152400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78465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02862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21924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243447" y="3197066"/>
              <a:ext cx="28869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精确值 I = (2/3)(1 − 0.5√0.5) = 0.43096441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6248400" y="3519488"/>
            <a:ext cx="5410200" cy="2695575"/>
            <a:chOff x="6248400" y="3519488"/>
            <a:chExt cx="5410200" cy="2695575"/>
          </a:xfrm>
        </p:grpSpPr>
        <p:sp>
          <p:nvSpPr>
            <p:cNvPr id="77" name="Rectangle 77"/>
            <p:cNvSpPr/>
            <p:nvPr/>
          </p:nvSpPr>
          <p:spPr>
            <a:xfrm>
              <a:off x="6248400" y="3519488"/>
              <a:ext cx="5410200" cy="2695575"/>
            </a:xfrm>
            <a:prstGeom prst="roundRect">
              <a:avLst>
                <a:gd name="adj" fmla="val 4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257925" y="3652838"/>
              <a:ext cx="47625" cy="24288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473190" y="370617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543459" y="373903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余项范围怎样得到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66332" y="4050982"/>
              <a:ext cx="46600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f″ = −1/(4x√x)，f⁽⁴⁾ = −15/(16x³√x)，f⁽⁶⁾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−945/(64x⁵√x)，代入 (6.2.7)、(6.2.10)、(6.2.12)，让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η 取遍 [0.5, 1]。导数都小于 0，所以误差都为正。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67475" y="4861084"/>
              <a:ext cx="45702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代数精度从 1 提高到 3、5，误差从 10⁻³ 降到 10⁻⁵、10⁻⁷，都落在范围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46612" cy="909257"/>
            <a:chOff x="520446" y="342900"/>
            <a:chExt cx="83466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466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 系数表：与被积函数和积分区间无关，可以查表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5" name="c1-table-1"/>
          <p:cNvGrpSpPr/>
          <p:nvPr/>
        </p:nvGrpSpPr>
        <p:grpSpPr>
          <a:xfrm>
            <a:off x="528447" y="1524000"/>
            <a:ext cx="11130153" cy="3864006"/>
            <a:chOff x="528447" y="1524000"/>
            <a:chExt cx="11130153" cy="38640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3231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3540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C₀⁽ⁿ⁾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17973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C₁⁽ⁿ⁾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91453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C₂⁽ⁿ⁾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65885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C₃⁽ⁿ⁾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39365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C₄⁽ⁿ⁾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13798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C₅⁽ⁿ⁾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8230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C₆⁽ⁿ⁾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61710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C₇⁽ⁿ⁾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36143" y="16454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C₈⁽ⁿ⁾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323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02042" y="193357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49154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75522" y="193357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23586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323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02042" y="233362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49154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275522" y="233362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723586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449955" y="233362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97066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323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49154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23586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97066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71499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323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02042" y="313372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07691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7/90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275522" y="313372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640660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16/45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449955" y="313372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855603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2/15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624388" y="313372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88573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16/45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97868" y="3133725"/>
              <a:ext cx="115538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03516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7/90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3231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424765" y="36456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19/288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40660" y="36456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25/96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772677" y="36456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25/144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47110" y="36456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25/144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62053" y="36456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25/96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95022" y="36456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19/288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3919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3400" y="39243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3231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24765" y="40457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41/840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682123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9/35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814140" y="40457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9/280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47110" y="40457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34/105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62053" y="40457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9/280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77948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9/35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9455" y="40457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41/840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43195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3231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300376" y="44457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751/17280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433345" y="44457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3577/17280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606825" y="44457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1323/17280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781258" y="44457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2989/17280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954738" y="44457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2989/17280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29170" y="44457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1323/17280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03603" y="44457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3577/17280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518546" y="44457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751/17280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4719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33400" y="47244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63231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00376" y="48458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989/28350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433345" y="48458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5888/28350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449955" y="4733925"/>
              <a:ext cx="115538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606825" y="48458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−928/28350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739795" y="48458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10496/28350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797868" y="4733925"/>
              <a:ext cx="115538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913275" y="48458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−4540/28350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87707" y="48458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10496/28350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145780" y="4733925"/>
              <a:ext cx="115538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303603" y="48458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−928/28350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477083" y="48458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5888/28350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692978" y="48458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989/28350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3400" y="1524000"/>
              <a:ext cx="11125200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8775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226123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343566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461010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578358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95801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13149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930592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1047940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528447" y="5197316"/>
              <a:ext cx="71162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高亮的 n = 1、2、4 三行分别是梯形、Simpson、Cotes 公式；红色为负系数。表中数值已用 sympy 按 (6.2.5) 逐个复算</a:t>
              </a:r>
            </a:p>
          </p:txBody>
        </p:sp>
      </p:grpSp>
      <p:grpSp>
        <p:nvGrpSpPr>
          <p:cNvPr id="11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06" name="Rectangle 10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0" name="Group 110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1040892" y="6028373"/>
              <a:ext cx="9772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用法：n = 3 时 ∫ₐᵇ f(x)dx ≈ (b − a)(f₀ + 3f₁ + 3f₂ + f₃)/8（Simpson 3/8 公式）。每行系数之和为 1，且左右对称。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46612" cy="909257"/>
            <a:chOff x="520446" y="342900"/>
            <a:chExt cx="83466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466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 系数的性质：出现负系数后，稳定性得不到保证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998470"/>
            <a:chOff x="533400" y="1524000"/>
            <a:chExt cx="5410200" cy="29984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98470"/>
            </a:xfrm>
            <a:prstGeom prst="roundRect">
              <a:avLst>
                <a:gd name="adj" fmla="val 4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317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23063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5092" y="1743551"/>
              <a:ext cx="109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Cotes 系数的特点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30"/>
                <p:cNvSpPr txBox="1">
                  <a:spLocks noGrp="1"/>
                </p:cNvSpPr>
                <p:nvPr/>
              </p:nvSpPr>
              <p:spPr>
                <a:xfrm>
                  <a:off x="758190" y="2032635"/>
                  <a:ext cx="499872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d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b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66762" y="28546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798445"/>
              <a:ext cx="396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取 f ≡ 1，公式精确：(b − a)ΣCᵢ⁽ⁿ⁾ = b − a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315563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3099435"/>
              <a:ext cx="3275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节点关于区间中点对称，系数也对称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345567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3399472"/>
              <a:ext cx="43599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n = 8 时出现负数，稳定性得不到保证；n 较大时由于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Runge 现象，收敛性也无法保证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475" y="3953351"/>
              <a:ext cx="46381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一般不采用高阶的牛顿-科特斯求积公式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。当 n ≤ 7 时，Newton-Cotes 公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式是稳定的。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692968"/>
            <a:ext cx="5410200" cy="1446848"/>
            <a:chOff x="533400" y="4692968"/>
            <a:chExt cx="5410200" cy="1446848"/>
          </a:xfrm>
        </p:grpSpPr>
        <p:sp>
          <p:nvSpPr>
            <p:cNvPr id="20" name="Rectangle 20"/>
            <p:cNvSpPr/>
            <p:nvPr/>
          </p:nvSpPr>
          <p:spPr>
            <a:xfrm>
              <a:off x="533400" y="4692968"/>
              <a:ext cx="5410200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826318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48787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0862" y="49125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332" y="5223510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原课件写“当 n ≥ 8 时出现负数”。按精确值重算 n = 8～20：n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8 首次出现负系数，n = 9 恰好全为正，n ≥ 10 都有负系数。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6248400" y="1533525"/>
            <a:ext cx="4809050" cy="2268379"/>
            <a:chOff x="6248400" y="1533525"/>
            <a:chExt cx="4809050" cy="2268379"/>
          </a:xfrm>
        </p:grpSpPr>
        <p:sp>
          <p:nvSpPr>
            <p:cNvPr id="26" name="Rectangle 26"/>
            <p:cNvSpPr/>
            <p:nvPr/>
          </p:nvSpPr>
          <p:spPr>
            <a:xfrm>
              <a:off x="6381750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48400" y="26993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48400" y="328231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2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0642" y="156495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函数值有误差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785" y="1833086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设计算的 f(xₖ) 带有舍入误差 εₖ，|εₖ| ≤ 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0642" y="214788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误差传到结果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785" y="2416016"/>
              <a:ext cx="4395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结果误差为 (b − a)ΣCₖ⁽ⁿ⁾εₖ，绝对值不超过 (b − a)ε·Σ|Cₖ⁽ⁿ⁾|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0642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系数全正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785" y="2998946"/>
              <a:ext cx="3529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Σ|Cₖ| = ΣCₖ = 1，误差不超过 (b − a)ε，不会被放大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0642" y="33137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有负系数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785" y="3581876"/>
              <a:ext cx="3030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Σ|Cₖ| &gt; 1，误差被放大，n 越大放大得越厉害</a:t>
              </a:r>
            </a:p>
          </p:txBody>
        </p:sp>
      </p:grpSp>
      <p:grpSp>
        <p:nvGrpSpPr>
          <p:cNvPr id="71" name="c2-table-2"/>
          <p:cNvGrpSpPr/>
          <p:nvPr/>
        </p:nvGrpSpPr>
        <p:grpSpPr>
          <a:xfrm>
            <a:off x="6243447" y="3965258"/>
            <a:ext cx="5415153" cy="1064608"/>
            <a:chOff x="6243447" y="3965258"/>
            <a:chExt cx="5415153" cy="1064608"/>
          </a:xfrm>
        </p:grpSpPr>
        <p:sp>
          <p:nvSpPr>
            <p:cNvPr id="44" name="Rectangle 44"/>
            <p:cNvSpPr/>
            <p:nvPr/>
          </p:nvSpPr>
          <p:spPr>
            <a:xfrm>
              <a:off x="6248400" y="3965258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5406" y="4086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58366" y="4086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53691" y="4086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49016" y="4086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00805" y="40867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19955" y="40867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97195" y="40867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52758" y="4486751"/>
              <a:ext cx="663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Σ|Cₖ⁽ⁿ⁾|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60440" y="44867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902892" y="4374832"/>
              <a:ext cx="80010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31376" y="44867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51090" y="44867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293542" y="4374832"/>
              <a:ext cx="80010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522026" y="44867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3.06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112692" y="4374832"/>
              <a:ext cx="80010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341176" y="44867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20.3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931842" y="4374832"/>
              <a:ext cx="71723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1159879" y="448675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965258"/>
              <a:ext cx="5410200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316152" y="39652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88605" y="39652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707755" y="39652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279255" y="39652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098405" y="39652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917555" y="39652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43447" y="4839176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系数绝对值之和就是舍入误差的放大倍数</a:t>
              </a:r>
            </a:p>
          </p:txBody>
        </p:sp>
      </p:grpSp>
      <p:grpSp>
        <p:nvGrpSpPr>
          <p:cNvPr id="78" name="c2-callout-3"/>
          <p:cNvGrpSpPr/>
          <p:nvPr/>
        </p:nvGrpSpPr>
        <p:grpSpPr>
          <a:xfrm>
            <a:off x="6248400" y="5160645"/>
            <a:ext cx="5410200" cy="978218"/>
            <a:chOff x="6248400" y="5160645"/>
            <a:chExt cx="5410200" cy="978218"/>
          </a:xfrm>
        </p:grpSpPr>
        <p:sp>
          <p:nvSpPr>
            <p:cNvPr id="72" name="Rectangle 72"/>
            <p:cNvSpPr/>
            <p:nvPr/>
          </p:nvSpPr>
          <p:spPr>
            <a:xfrm>
              <a:off x="6248400" y="5160645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453188" y="5550218"/>
              <a:ext cx="200026" cy="200026"/>
              <a:chOff x="6453188" y="5550218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453188" y="55502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553200" y="56168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542088" y="56502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755892" y="5307330"/>
              <a:ext cx="444569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8 时负系数为 −464/14175（两个）和 −454/2835，合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 −0.2256；系数和为 1，所以正系数合计 1.2256，Σ|Cₖ|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1.2256 + 0.2256 = 1.45。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76638" cy="909257"/>
            <a:chOff x="520446" y="342900"/>
            <a:chExt cx="105766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480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767" y="407194"/>
              <a:ext cx="2973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Newton-Cotes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766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思考题：为什么 n 为偶数时 Newton-Cotes 公式的代数精度是 n + 1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869180" cy="2065020"/>
            <a:chOff x="533400" y="1524000"/>
            <a:chExt cx="4869180" cy="20650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065020"/>
            </a:xfrm>
            <a:prstGeom prst="roundRect">
              <a:avLst>
                <a:gd name="adj" fmla="val 64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83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108196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原课件题目为“为什么当 n 为奇数时插值型积分的代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数精度为 n + 1”。按本章记号（n + 1 个节点），应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为偶数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，而且结论针对等距节点的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Newton-Cotes 公式：梯形 n = 1 只有 1 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n = 2 有 3 次。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28066" y="3769995"/>
            <a:ext cx="4874514" cy="1128332"/>
            <a:chOff x="528066" y="3769995"/>
            <a:chExt cx="4874514" cy="1128332"/>
          </a:xfrm>
        </p:grpSpPr>
        <p:sp>
          <p:nvSpPr>
            <p:cNvPr id="13" name="Rectangle 13"/>
            <p:cNvSpPr/>
            <p:nvPr/>
          </p:nvSpPr>
          <p:spPr>
            <a:xfrm>
              <a:off x="533400" y="3769995"/>
              <a:ext cx="486918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2626" y="38976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6528" y="38976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09446" y="38976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93316" y="38976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76233" y="38976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59151" y="38976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42068" y="38976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4986" y="38976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07903" y="38976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6184" y="4322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28749" y="43224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030730" y="4203382"/>
              <a:ext cx="46386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11667" y="43224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5537" y="43224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996565" y="4203382"/>
              <a:ext cx="46386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178454" y="43224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61372" y="43224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963352" y="4203382"/>
              <a:ext cx="46386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44289" y="43224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27207" y="43224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929188" y="4203382"/>
              <a:ext cx="46386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110124" y="43224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769995"/>
              <a:ext cx="4869180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33525" y="3769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016442" y="3769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499360" y="3769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982278" y="3769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465195" y="3769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949065" y="3769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31982" y="3769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914900" y="3769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066" y="4692968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sympy 逐次代入 xᵏ 求得</a:t>
              </a:r>
            </a:p>
          </p:txBody>
        </p:sp>
      </p:grpSp>
      <p:grpSp>
        <p:nvGrpSpPr>
          <p:cNvPr id="53" name="c1-callout-3"/>
          <p:cNvGrpSpPr/>
          <p:nvPr/>
        </p:nvGrpSpPr>
        <p:grpSpPr>
          <a:xfrm>
            <a:off x="533400" y="5036820"/>
            <a:ext cx="4869180" cy="756285"/>
            <a:chOff x="533400" y="5036820"/>
            <a:chExt cx="4869180" cy="756285"/>
          </a:xfrm>
        </p:grpSpPr>
        <p:sp>
          <p:nvSpPr>
            <p:cNvPr id="47" name="Rectangle 47"/>
            <p:cNvSpPr/>
            <p:nvPr/>
          </p:nvSpPr>
          <p:spPr>
            <a:xfrm>
              <a:off x="533400" y="5036820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314950"/>
              <a:ext cx="200026" cy="200025"/>
              <a:chOff x="738188" y="5314950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3149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53594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54705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5184934"/>
              <a:ext cx="377456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推论：奇数 n 的公式并不划算。n = 3 用 4 个节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点，精度和 n = 2（3 个节点）一样是 3 次。</a:t>
              </a:r>
            </a:p>
          </p:txBody>
        </p:sp>
      </p:grpSp>
      <p:grpSp>
        <p:nvGrpSpPr>
          <p:cNvPr id="71" name="c2-steps-1"/>
          <p:cNvGrpSpPr/>
          <p:nvPr/>
        </p:nvGrpSpPr>
        <p:grpSpPr>
          <a:xfrm>
            <a:off x="5707380" y="1533525"/>
            <a:ext cx="5721096" cy="3282696"/>
            <a:chOff x="5707380" y="1533525"/>
            <a:chExt cx="5721096" cy="3282696"/>
          </a:xfrm>
        </p:grpSpPr>
        <p:sp>
          <p:nvSpPr>
            <p:cNvPr id="54" name="Rectangle 54"/>
            <p:cNvSpPr/>
            <p:nvPr/>
          </p:nvSpPr>
          <p:spPr>
            <a:xfrm>
              <a:off x="5840730" y="1676400"/>
              <a:ext cx="19050" cy="25136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707380" y="23717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0100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707380" y="320897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01004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707380" y="404717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01004" y="4120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19241" y="1566386"/>
              <a:ext cx="12398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f = xⁿ⁺¹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20384" y="1846898"/>
              <a:ext cx="5148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f⁽ⁿ⁺¹⁾ ≡ (n + 1)!，由 (6.2.4) 与 x = a + th，余项 R = ∫ₐᵇ (x − x₀)⋯(x −</a:t>
              </a:r>
              <a:br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xₙ)dx = hⁿ⁺² ∫₀ⁿ Π(t − j)dt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19241" y="24045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以区间中点为原点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20384" y="2685098"/>
              <a:ext cx="52928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u = t − n/2，因子变为 u − (j − n/2)，常数 j − n/2 取值 −n/2, …, n/2，关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0 对称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19241" y="3241834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为偶数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20384" y="3522345"/>
              <a:ext cx="52623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n + 1（奇数）个因子，中间一个是 u 本身，其余两两配成 (u² − c²)，被积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函数是 u 的奇函数，在 [−n/2, n/2] 上积分为 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19241" y="40800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120384" y="4360545"/>
              <a:ext cx="53080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R[xⁿ⁺¹] = 0，公式对 xⁿ⁺¹ 也精确，代数精度为 n + 1。n 为奇数时被积函数是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偶函数，积分不为 0（n = 1 时为 −1/6），精度只有 n</a:t>
              </a:r>
            </a:p>
          </p:txBody>
        </p:sp>
      </p:grpSp>
      <p:grpSp>
        <p:nvGrpSpPr>
          <p:cNvPr id="73" name="c2-text-2"/>
          <p:cNvGrpSpPr/>
          <p:nvPr/>
        </p:nvGrpSpPr>
        <p:grpSpPr>
          <a:xfrm>
            <a:off x="5700141" y="5010626"/>
            <a:ext cx="1132766" cy="278702"/>
            <a:chOff x="5700141" y="5010626"/>
            <a:chExt cx="1132766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5700141" y="5010626"/>
              <a:ext cx="1132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为偶数时：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formula133"/>
              <p:cNvSpPr txBox="1">
                <a:spLocks noGrp="1"/>
              </p:cNvSpPr>
              <p:nvPr/>
            </p:nvSpPr>
            <p:spPr>
              <a:xfrm>
                <a:off x="5707380" y="5414010"/>
                <a:ext cx="5951220" cy="700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dt</m:t>
                              </m:r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sub>
                            <m:sup/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du</m:t>
                              </m:r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83655" cy="3923347"/>
            <a:chOff x="667512" y="1835468"/>
            <a:chExt cx="6383655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6.3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83655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复合求积公式与 Romberg 求积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不提高公式的阶，而是把区间分细，每段用低阶公式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245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Runge 现象与复合的必要性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3344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6.3.1 复合梯形与复合 Simpson 公式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按余项估计步长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3586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变步长梯形法与 Romberg 外推（补充）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72375" cy="909257"/>
            <a:chOff x="520446" y="342900"/>
            <a:chExt cx="101723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7760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013" y="407194"/>
              <a:ext cx="3633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复合求积公式与 Romberg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723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为什么要复合：高次插值有 Runge 现象，高阶求积公式同样靠不住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39115" y="1548765"/>
            <a:ext cx="4554855" cy="1268730"/>
            <a:chOff x="539115" y="1548765"/>
            <a:chExt cx="4554855" cy="1268730"/>
          </a:xfrm>
        </p:grpSpPr>
        <p:sp>
          <p:nvSpPr>
            <p:cNvPr id="7" name="Ellipse 7"/>
            <p:cNvSpPr/>
            <p:nvPr/>
          </p:nvSpPr>
          <p:spPr>
            <a:xfrm>
              <a:off x="539115" y="16116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54876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数值积分公式与多项式插值有很大的关系，因此存在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着龙格（Runge）现象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39115" y="22421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21793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使得我们不能用太多的积分点计算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58699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5241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采用分段、低阶的方法</a:t>
              </a:r>
            </a:p>
          </p:txBody>
        </p:sp>
      </p:grpSp>
      <p:grpSp>
        <p:nvGrpSpPr>
          <p:cNvPr id="16" name="c1-image-2"/>
          <p:cNvGrpSpPr/>
          <p:nvPr/>
        </p:nvGrpSpPr>
        <p:grpSpPr>
          <a:xfrm>
            <a:off x="533400" y="2948940"/>
            <a:ext cx="4760595" cy="3439002"/>
            <a:chOff x="533400" y="2948940"/>
            <a:chExt cx="4760595" cy="3439002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rcRect l="0" t="6249" r="0" b="6249"/>
            <a:stretch>
              <a:fillRect/>
            </a:stretch>
          </p:blipFill>
          <p:spPr>
            <a:xfrm>
              <a:off x="533400" y="2948940"/>
              <a:ext cx="4760595" cy="3124200"/>
            </a:xfrm>
            <a:prstGeom prst="roundRect">
              <a:avLst>
                <a:gd name="adj" fmla="val 4268"/>
              </a:avLst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324851" y="616791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许多短直板能贴合弯曲的池岸，一块长板做不到</a:t>
              </a:r>
            </a:p>
          </p:txBody>
        </p:sp>
      </p:grpSp>
      <p:grpSp>
        <p:nvGrpSpPr>
          <p:cNvPr id="48" name="c2-graph-1"/>
          <p:cNvGrpSpPr/>
          <p:nvPr/>
        </p:nvGrpSpPr>
        <p:grpSpPr>
          <a:xfrm>
            <a:off x="5779770" y="1633538"/>
            <a:ext cx="5697855" cy="2169794"/>
            <a:chOff x="5779770" y="1633538"/>
            <a:chExt cx="5697855" cy="2169794"/>
          </a:xfrm>
        </p:grpSpPr>
        <p:sp>
          <p:nvSpPr>
            <p:cNvPr id="17" name="Freeform 17"/>
            <p:cNvSpPr/>
            <p:nvPr/>
          </p:nvSpPr>
          <p:spPr>
            <a:xfrm>
              <a:off x="5791200" y="3422332"/>
              <a:ext cx="5579745" cy="9525"/>
            </a:xfrm>
            <a:custGeom>
              <a:avLst/>
              <a:gdLst/>
              <a:ahLst/>
              <a:cxnLst/>
              <a:rect l="l" t="t" r="r" b="b"/>
              <a:pathLst>
                <a:path w="5579745" h="9525">
                  <a:moveTo>
                    <a:pt x="0" y="0"/>
                  </a:moveTo>
                  <a:lnTo>
                    <a:pt x="557974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1370945" y="33747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577262" y="1753552"/>
              <a:ext cx="9525" cy="2038350"/>
            </a:xfrm>
            <a:custGeom>
              <a:avLst/>
              <a:gdLst/>
              <a:ahLst/>
              <a:cxnLst/>
              <a:rect l="l" t="t" r="r" b="b"/>
              <a:pathLst>
                <a:path w="9525" h="2038350">
                  <a:moveTo>
                    <a:pt x="0" y="203835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529638" y="16583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988368" y="1770698"/>
              <a:ext cx="5176838" cy="1868805"/>
            </a:xfrm>
            <a:custGeom>
              <a:avLst/>
              <a:gdLst/>
              <a:ahLst/>
              <a:cxnLst/>
              <a:rect l="l" t="t" r="r" b="b"/>
              <a:pathLst>
                <a:path w="5176838" h="1868805">
                  <a:moveTo>
                    <a:pt x="0" y="1608772"/>
                  </a:moveTo>
                  <a:lnTo>
                    <a:pt x="23812" y="1083945"/>
                  </a:lnTo>
                  <a:lnTo>
                    <a:pt x="46672" y="679132"/>
                  </a:lnTo>
                  <a:lnTo>
                    <a:pt x="70485" y="384810"/>
                  </a:lnTo>
                  <a:lnTo>
                    <a:pt x="93345" y="184785"/>
                  </a:lnTo>
                  <a:lnTo>
                    <a:pt x="117157" y="61912"/>
                  </a:lnTo>
                  <a:lnTo>
                    <a:pt x="140970" y="4762"/>
                  </a:lnTo>
                  <a:lnTo>
                    <a:pt x="164782" y="0"/>
                  </a:lnTo>
                  <a:lnTo>
                    <a:pt x="188595" y="37148"/>
                  </a:lnTo>
                  <a:lnTo>
                    <a:pt x="211455" y="108585"/>
                  </a:lnTo>
                  <a:lnTo>
                    <a:pt x="235267" y="203835"/>
                  </a:lnTo>
                  <a:lnTo>
                    <a:pt x="258127" y="317182"/>
                  </a:lnTo>
                  <a:lnTo>
                    <a:pt x="281940" y="443865"/>
                  </a:lnTo>
                  <a:lnTo>
                    <a:pt x="305752" y="576262"/>
                  </a:lnTo>
                  <a:lnTo>
                    <a:pt x="329565" y="712470"/>
                  </a:lnTo>
                  <a:lnTo>
                    <a:pt x="352425" y="847725"/>
                  </a:lnTo>
                  <a:lnTo>
                    <a:pt x="376238" y="980122"/>
                  </a:lnTo>
                  <a:lnTo>
                    <a:pt x="400050" y="1105852"/>
                  </a:lnTo>
                  <a:lnTo>
                    <a:pt x="422910" y="1223962"/>
                  </a:lnTo>
                  <a:lnTo>
                    <a:pt x="446722" y="1334452"/>
                  </a:lnTo>
                  <a:lnTo>
                    <a:pt x="470535" y="1433512"/>
                  </a:lnTo>
                  <a:lnTo>
                    <a:pt x="494347" y="1523048"/>
                  </a:lnTo>
                  <a:lnTo>
                    <a:pt x="517207" y="1602105"/>
                  </a:lnTo>
                  <a:lnTo>
                    <a:pt x="541020" y="1669732"/>
                  </a:lnTo>
                  <a:lnTo>
                    <a:pt x="564832" y="1725930"/>
                  </a:lnTo>
                  <a:lnTo>
                    <a:pt x="588645" y="1772602"/>
                  </a:lnTo>
                  <a:lnTo>
                    <a:pt x="611505" y="1809750"/>
                  </a:lnTo>
                  <a:lnTo>
                    <a:pt x="635317" y="1836420"/>
                  </a:lnTo>
                  <a:lnTo>
                    <a:pt x="658177" y="1855470"/>
                  </a:lnTo>
                  <a:lnTo>
                    <a:pt x="681990" y="1865948"/>
                  </a:lnTo>
                  <a:lnTo>
                    <a:pt x="705802" y="1868805"/>
                  </a:lnTo>
                  <a:lnTo>
                    <a:pt x="729615" y="1865948"/>
                  </a:lnTo>
                  <a:lnTo>
                    <a:pt x="753427" y="1856422"/>
                  </a:lnTo>
                  <a:lnTo>
                    <a:pt x="776288" y="1842135"/>
                  </a:lnTo>
                  <a:lnTo>
                    <a:pt x="800100" y="1824990"/>
                  </a:lnTo>
                  <a:lnTo>
                    <a:pt x="822960" y="1803082"/>
                  </a:lnTo>
                  <a:lnTo>
                    <a:pt x="846772" y="1779270"/>
                  </a:lnTo>
                  <a:lnTo>
                    <a:pt x="870585" y="1753552"/>
                  </a:lnTo>
                  <a:lnTo>
                    <a:pt x="894397" y="1726882"/>
                  </a:lnTo>
                  <a:lnTo>
                    <a:pt x="918210" y="1699260"/>
                  </a:lnTo>
                  <a:lnTo>
                    <a:pt x="941070" y="1670685"/>
                  </a:lnTo>
                  <a:lnTo>
                    <a:pt x="964882" y="1643062"/>
                  </a:lnTo>
                  <a:lnTo>
                    <a:pt x="987742" y="1616393"/>
                  </a:lnTo>
                  <a:lnTo>
                    <a:pt x="1011555" y="1590675"/>
                  </a:lnTo>
                  <a:lnTo>
                    <a:pt x="1035367" y="1566862"/>
                  </a:lnTo>
                  <a:lnTo>
                    <a:pt x="1059180" y="1544955"/>
                  </a:lnTo>
                  <a:lnTo>
                    <a:pt x="1082992" y="1524000"/>
                  </a:lnTo>
                  <a:lnTo>
                    <a:pt x="1105852" y="1505902"/>
                  </a:lnTo>
                  <a:lnTo>
                    <a:pt x="1129665" y="1489710"/>
                  </a:lnTo>
                  <a:lnTo>
                    <a:pt x="1152525" y="1475422"/>
                  </a:lnTo>
                  <a:lnTo>
                    <a:pt x="1176338" y="1463993"/>
                  </a:lnTo>
                  <a:lnTo>
                    <a:pt x="1200150" y="1454468"/>
                  </a:lnTo>
                  <a:lnTo>
                    <a:pt x="1223962" y="1446848"/>
                  </a:lnTo>
                  <a:lnTo>
                    <a:pt x="1246822" y="1442085"/>
                  </a:lnTo>
                  <a:lnTo>
                    <a:pt x="1270635" y="1438275"/>
                  </a:lnTo>
                  <a:lnTo>
                    <a:pt x="1294447" y="1437322"/>
                  </a:lnTo>
                  <a:lnTo>
                    <a:pt x="1317307" y="1437322"/>
                  </a:lnTo>
                  <a:lnTo>
                    <a:pt x="1341120" y="1439228"/>
                  </a:lnTo>
                  <a:lnTo>
                    <a:pt x="1364932" y="1442085"/>
                  </a:lnTo>
                  <a:lnTo>
                    <a:pt x="1388745" y="1445895"/>
                  </a:lnTo>
                  <a:lnTo>
                    <a:pt x="1411605" y="1450657"/>
                  </a:lnTo>
                  <a:lnTo>
                    <a:pt x="1435417" y="1455420"/>
                  </a:lnTo>
                  <a:lnTo>
                    <a:pt x="1459230" y="1461135"/>
                  </a:lnTo>
                  <a:lnTo>
                    <a:pt x="1482090" y="1466850"/>
                  </a:lnTo>
                  <a:lnTo>
                    <a:pt x="1505902" y="1472565"/>
                  </a:lnTo>
                  <a:lnTo>
                    <a:pt x="1529715" y="1477328"/>
                  </a:lnTo>
                  <a:lnTo>
                    <a:pt x="1552575" y="1482090"/>
                  </a:lnTo>
                  <a:lnTo>
                    <a:pt x="1576388" y="1485900"/>
                  </a:lnTo>
                  <a:lnTo>
                    <a:pt x="1600200" y="1489710"/>
                  </a:lnTo>
                  <a:lnTo>
                    <a:pt x="1624012" y="1491615"/>
                  </a:lnTo>
                  <a:lnTo>
                    <a:pt x="1647825" y="1491615"/>
                  </a:lnTo>
                  <a:lnTo>
                    <a:pt x="1670685" y="1491615"/>
                  </a:lnTo>
                  <a:lnTo>
                    <a:pt x="1694497" y="1488757"/>
                  </a:lnTo>
                  <a:lnTo>
                    <a:pt x="1717357" y="1484948"/>
                  </a:lnTo>
                  <a:lnTo>
                    <a:pt x="1741170" y="1479232"/>
                  </a:lnTo>
                  <a:lnTo>
                    <a:pt x="1764982" y="1472565"/>
                  </a:lnTo>
                  <a:lnTo>
                    <a:pt x="1788795" y="1463993"/>
                  </a:lnTo>
                  <a:lnTo>
                    <a:pt x="1812607" y="1452562"/>
                  </a:lnTo>
                  <a:lnTo>
                    <a:pt x="1835467" y="1440180"/>
                  </a:lnTo>
                  <a:lnTo>
                    <a:pt x="1859280" y="1425893"/>
                  </a:lnTo>
                  <a:lnTo>
                    <a:pt x="1882140" y="1409700"/>
                  </a:lnTo>
                  <a:lnTo>
                    <a:pt x="1905952" y="1391602"/>
                  </a:lnTo>
                  <a:lnTo>
                    <a:pt x="1929765" y="1372552"/>
                  </a:lnTo>
                  <a:lnTo>
                    <a:pt x="1953577" y="1351598"/>
                  </a:lnTo>
                  <a:lnTo>
                    <a:pt x="1977390" y="1328737"/>
                  </a:lnTo>
                  <a:lnTo>
                    <a:pt x="2000250" y="1305878"/>
                  </a:lnTo>
                  <a:lnTo>
                    <a:pt x="2024062" y="1281112"/>
                  </a:lnTo>
                  <a:lnTo>
                    <a:pt x="2046922" y="1255395"/>
                  </a:lnTo>
                  <a:lnTo>
                    <a:pt x="2070735" y="1228725"/>
                  </a:lnTo>
                  <a:lnTo>
                    <a:pt x="2094547" y="1202055"/>
                  </a:lnTo>
                  <a:lnTo>
                    <a:pt x="2118360" y="1174432"/>
                  </a:lnTo>
                  <a:lnTo>
                    <a:pt x="2142172" y="1146810"/>
                  </a:lnTo>
                  <a:lnTo>
                    <a:pt x="2165032" y="1119187"/>
                  </a:lnTo>
                  <a:lnTo>
                    <a:pt x="2188845" y="1091565"/>
                  </a:lnTo>
                  <a:lnTo>
                    <a:pt x="2211705" y="1063943"/>
                  </a:lnTo>
                  <a:lnTo>
                    <a:pt x="2235517" y="1037272"/>
                  </a:lnTo>
                  <a:lnTo>
                    <a:pt x="2259330" y="1011555"/>
                  </a:lnTo>
                  <a:lnTo>
                    <a:pt x="2283142" y="985837"/>
                  </a:lnTo>
                  <a:lnTo>
                    <a:pt x="2306002" y="962025"/>
                  </a:lnTo>
                  <a:lnTo>
                    <a:pt x="2329815" y="939165"/>
                  </a:lnTo>
                  <a:lnTo>
                    <a:pt x="2353627" y="917257"/>
                  </a:lnTo>
                  <a:lnTo>
                    <a:pt x="2376488" y="897255"/>
                  </a:lnTo>
                  <a:lnTo>
                    <a:pt x="2400300" y="879157"/>
                  </a:lnTo>
                  <a:lnTo>
                    <a:pt x="2424112" y="862965"/>
                  </a:lnTo>
                  <a:lnTo>
                    <a:pt x="2446972" y="847725"/>
                  </a:lnTo>
                  <a:lnTo>
                    <a:pt x="2470785" y="835343"/>
                  </a:lnTo>
                  <a:lnTo>
                    <a:pt x="2494598" y="824865"/>
                  </a:lnTo>
                  <a:lnTo>
                    <a:pt x="2518410" y="817245"/>
                  </a:lnTo>
                  <a:lnTo>
                    <a:pt x="2542222" y="811530"/>
                  </a:lnTo>
                  <a:lnTo>
                    <a:pt x="2565082" y="807720"/>
                  </a:lnTo>
                  <a:lnTo>
                    <a:pt x="2588895" y="806768"/>
                  </a:lnTo>
                  <a:lnTo>
                    <a:pt x="2611755" y="807720"/>
                  </a:lnTo>
                  <a:lnTo>
                    <a:pt x="2635567" y="811530"/>
                  </a:lnTo>
                  <a:lnTo>
                    <a:pt x="2659380" y="817245"/>
                  </a:lnTo>
                  <a:lnTo>
                    <a:pt x="2683192" y="824865"/>
                  </a:lnTo>
                  <a:lnTo>
                    <a:pt x="2707005" y="835343"/>
                  </a:lnTo>
                  <a:lnTo>
                    <a:pt x="2729865" y="847725"/>
                  </a:lnTo>
                  <a:lnTo>
                    <a:pt x="2753677" y="862965"/>
                  </a:lnTo>
                  <a:lnTo>
                    <a:pt x="2776538" y="879157"/>
                  </a:lnTo>
                  <a:lnTo>
                    <a:pt x="2800350" y="897255"/>
                  </a:lnTo>
                  <a:lnTo>
                    <a:pt x="2824162" y="917257"/>
                  </a:lnTo>
                  <a:lnTo>
                    <a:pt x="2847975" y="939165"/>
                  </a:lnTo>
                  <a:lnTo>
                    <a:pt x="2871788" y="962025"/>
                  </a:lnTo>
                  <a:lnTo>
                    <a:pt x="2894648" y="985837"/>
                  </a:lnTo>
                  <a:lnTo>
                    <a:pt x="2918460" y="1011555"/>
                  </a:lnTo>
                  <a:lnTo>
                    <a:pt x="2941320" y="1037272"/>
                  </a:lnTo>
                  <a:lnTo>
                    <a:pt x="2965132" y="1063943"/>
                  </a:lnTo>
                  <a:lnTo>
                    <a:pt x="2988945" y="1091565"/>
                  </a:lnTo>
                  <a:lnTo>
                    <a:pt x="3012757" y="1119187"/>
                  </a:lnTo>
                  <a:lnTo>
                    <a:pt x="3036570" y="1146810"/>
                  </a:lnTo>
                  <a:lnTo>
                    <a:pt x="3059430" y="1174432"/>
                  </a:lnTo>
                  <a:lnTo>
                    <a:pt x="3083242" y="1202055"/>
                  </a:lnTo>
                  <a:lnTo>
                    <a:pt x="3106102" y="1228725"/>
                  </a:lnTo>
                  <a:lnTo>
                    <a:pt x="3129915" y="1255395"/>
                  </a:lnTo>
                  <a:lnTo>
                    <a:pt x="3153727" y="1281112"/>
                  </a:lnTo>
                  <a:lnTo>
                    <a:pt x="3177540" y="1305878"/>
                  </a:lnTo>
                  <a:lnTo>
                    <a:pt x="3200400" y="1328737"/>
                  </a:lnTo>
                  <a:lnTo>
                    <a:pt x="3224212" y="1351598"/>
                  </a:lnTo>
                  <a:lnTo>
                    <a:pt x="3248025" y="1372552"/>
                  </a:lnTo>
                  <a:lnTo>
                    <a:pt x="3270885" y="1391602"/>
                  </a:lnTo>
                  <a:lnTo>
                    <a:pt x="3294698" y="1409700"/>
                  </a:lnTo>
                  <a:lnTo>
                    <a:pt x="3318510" y="1425893"/>
                  </a:lnTo>
                  <a:lnTo>
                    <a:pt x="3342322" y="1440180"/>
                  </a:lnTo>
                  <a:lnTo>
                    <a:pt x="3365182" y="1452562"/>
                  </a:lnTo>
                  <a:lnTo>
                    <a:pt x="3388995" y="1463993"/>
                  </a:lnTo>
                  <a:lnTo>
                    <a:pt x="3412807" y="1472565"/>
                  </a:lnTo>
                  <a:lnTo>
                    <a:pt x="3435667" y="1479232"/>
                  </a:lnTo>
                  <a:lnTo>
                    <a:pt x="3459480" y="1484948"/>
                  </a:lnTo>
                  <a:lnTo>
                    <a:pt x="3483292" y="1488757"/>
                  </a:lnTo>
                  <a:lnTo>
                    <a:pt x="3506152" y="1491615"/>
                  </a:lnTo>
                  <a:lnTo>
                    <a:pt x="3529965" y="1491615"/>
                  </a:lnTo>
                  <a:lnTo>
                    <a:pt x="3553777" y="1491615"/>
                  </a:lnTo>
                  <a:lnTo>
                    <a:pt x="3577590" y="1489710"/>
                  </a:lnTo>
                  <a:lnTo>
                    <a:pt x="3601402" y="1485900"/>
                  </a:lnTo>
                  <a:lnTo>
                    <a:pt x="3624262" y="1482090"/>
                  </a:lnTo>
                  <a:lnTo>
                    <a:pt x="3647122" y="1477328"/>
                  </a:lnTo>
                  <a:lnTo>
                    <a:pt x="3670935" y="1472565"/>
                  </a:lnTo>
                  <a:lnTo>
                    <a:pt x="3694748" y="1466850"/>
                  </a:lnTo>
                  <a:lnTo>
                    <a:pt x="3718560" y="1461135"/>
                  </a:lnTo>
                  <a:lnTo>
                    <a:pt x="3742372" y="1455420"/>
                  </a:lnTo>
                  <a:lnTo>
                    <a:pt x="3766185" y="1450657"/>
                  </a:lnTo>
                  <a:lnTo>
                    <a:pt x="3789045" y="1445895"/>
                  </a:lnTo>
                  <a:lnTo>
                    <a:pt x="3812857" y="1442085"/>
                  </a:lnTo>
                  <a:lnTo>
                    <a:pt x="3835718" y="1439228"/>
                  </a:lnTo>
                  <a:lnTo>
                    <a:pt x="3859530" y="1437322"/>
                  </a:lnTo>
                  <a:lnTo>
                    <a:pt x="3883343" y="1437322"/>
                  </a:lnTo>
                  <a:lnTo>
                    <a:pt x="3907155" y="1438275"/>
                  </a:lnTo>
                  <a:lnTo>
                    <a:pt x="3930968" y="1442085"/>
                  </a:lnTo>
                  <a:lnTo>
                    <a:pt x="3953827" y="1446848"/>
                  </a:lnTo>
                  <a:lnTo>
                    <a:pt x="3977640" y="1454468"/>
                  </a:lnTo>
                  <a:lnTo>
                    <a:pt x="4000500" y="1463993"/>
                  </a:lnTo>
                  <a:lnTo>
                    <a:pt x="4024312" y="1475422"/>
                  </a:lnTo>
                  <a:lnTo>
                    <a:pt x="4048125" y="1489710"/>
                  </a:lnTo>
                  <a:lnTo>
                    <a:pt x="4071938" y="1505902"/>
                  </a:lnTo>
                  <a:lnTo>
                    <a:pt x="4094797" y="1524000"/>
                  </a:lnTo>
                  <a:lnTo>
                    <a:pt x="4118610" y="1544955"/>
                  </a:lnTo>
                  <a:lnTo>
                    <a:pt x="4142422" y="1566862"/>
                  </a:lnTo>
                  <a:lnTo>
                    <a:pt x="4165282" y="1590675"/>
                  </a:lnTo>
                  <a:lnTo>
                    <a:pt x="4189095" y="1616393"/>
                  </a:lnTo>
                  <a:lnTo>
                    <a:pt x="4212908" y="1643062"/>
                  </a:lnTo>
                  <a:lnTo>
                    <a:pt x="4236720" y="1670685"/>
                  </a:lnTo>
                  <a:lnTo>
                    <a:pt x="4259580" y="1699260"/>
                  </a:lnTo>
                  <a:lnTo>
                    <a:pt x="4283392" y="1726882"/>
                  </a:lnTo>
                  <a:lnTo>
                    <a:pt x="4307205" y="1753552"/>
                  </a:lnTo>
                  <a:lnTo>
                    <a:pt x="4330065" y="1779270"/>
                  </a:lnTo>
                  <a:lnTo>
                    <a:pt x="4353877" y="1803082"/>
                  </a:lnTo>
                  <a:lnTo>
                    <a:pt x="4377690" y="1824990"/>
                  </a:lnTo>
                  <a:lnTo>
                    <a:pt x="4400550" y="1842135"/>
                  </a:lnTo>
                  <a:lnTo>
                    <a:pt x="4424362" y="1856422"/>
                  </a:lnTo>
                  <a:lnTo>
                    <a:pt x="4448175" y="1865948"/>
                  </a:lnTo>
                  <a:lnTo>
                    <a:pt x="4471988" y="1868805"/>
                  </a:lnTo>
                  <a:lnTo>
                    <a:pt x="4494847" y="1865948"/>
                  </a:lnTo>
                  <a:lnTo>
                    <a:pt x="4518660" y="1855470"/>
                  </a:lnTo>
                  <a:lnTo>
                    <a:pt x="4542472" y="1836420"/>
                  </a:lnTo>
                  <a:lnTo>
                    <a:pt x="4565332" y="1809750"/>
                  </a:lnTo>
                  <a:lnTo>
                    <a:pt x="4589145" y="1772602"/>
                  </a:lnTo>
                  <a:lnTo>
                    <a:pt x="4612958" y="1725930"/>
                  </a:lnTo>
                  <a:lnTo>
                    <a:pt x="4636770" y="1669732"/>
                  </a:lnTo>
                  <a:lnTo>
                    <a:pt x="4660582" y="1602105"/>
                  </a:lnTo>
                  <a:lnTo>
                    <a:pt x="4683442" y="1523048"/>
                  </a:lnTo>
                  <a:lnTo>
                    <a:pt x="4707255" y="1433512"/>
                  </a:lnTo>
                  <a:lnTo>
                    <a:pt x="4730115" y="1334452"/>
                  </a:lnTo>
                  <a:lnTo>
                    <a:pt x="4753927" y="1223962"/>
                  </a:lnTo>
                  <a:lnTo>
                    <a:pt x="4777740" y="1105852"/>
                  </a:lnTo>
                  <a:lnTo>
                    <a:pt x="4801552" y="980122"/>
                  </a:lnTo>
                  <a:lnTo>
                    <a:pt x="4825365" y="847725"/>
                  </a:lnTo>
                  <a:lnTo>
                    <a:pt x="4848225" y="712470"/>
                  </a:lnTo>
                  <a:lnTo>
                    <a:pt x="4872038" y="576262"/>
                  </a:lnTo>
                  <a:lnTo>
                    <a:pt x="4894897" y="443865"/>
                  </a:lnTo>
                  <a:lnTo>
                    <a:pt x="4918710" y="317182"/>
                  </a:lnTo>
                  <a:lnTo>
                    <a:pt x="4942522" y="203835"/>
                  </a:lnTo>
                  <a:lnTo>
                    <a:pt x="4966335" y="108585"/>
                  </a:lnTo>
                  <a:lnTo>
                    <a:pt x="4990147" y="37148"/>
                  </a:lnTo>
                  <a:lnTo>
                    <a:pt x="5013008" y="0"/>
                  </a:lnTo>
                  <a:lnTo>
                    <a:pt x="5036820" y="4762"/>
                  </a:lnTo>
                  <a:lnTo>
                    <a:pt x="5059680" y="61912"/>
                  </a:lnTo>
                  <a:lnTo>
                    <a:pt x="5083492" y="184785"/>
                  </a:lnTo>
                  <a:lnTo>
                    <a:pt x="5107305" y="384810"/>
                  </a:lnTo>
                  <a:lnTo>
                    <a:pt x="5131118" y="679132"/>
                  </a:lnTo>
                  <a:lnTo>
                    <a:pt x="5153977" y="1083945"/>
                  </a:lnTo>
                  <a:lnTo>
                    <a:pt x="5176838" y="1608772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998845" y="2577465"/>
              <a:ext cx="5156835" cy="811530"/>
            </a:xfrm>
            <a:custGeom>
              <a:avLst/>
              <a:gdLst/>
              <a:ahLst/>
              <a:cxnLst/>
              <a:rect l="l" t="t" r="r" b="b"/>
              <a:pathLst>
                <a:path w="5156835" h="811530">
                  <a:moveTo>
                    <a:pt x="0" y="811530"/>
                  </a:moveTo>
                  <a:lnTo>
                    <a:pt x="54293" y="810577"/>
                  </a:lnTo>
                  <a:lnTo>
                    <a:pt x="118110" y="808672"/>
                  </a:lnTo>
                  <a:lnTo>
                    <a:pt x="182880" y="806767"/>
                  </a:lnTo>
                  <a:lnTo>
                    <a:pt x="247650" y="804862"/>
                  </a:lnTo>
                  <a:lnTo>
                    <a:pt x="313373" y="802957"/>
                  </a:lnTo>
                  <a:lnTo>
                    <a:pt x="378143" y="800100"/>
                  </a:lnTo>
                  <a:lnTo>
                    <a:pt x="442912" y="798195"/>
                  </a:lnTo>
                  <a:lnTo>
                    <a:pt x="506730" y="795338"/>
                  </a:lnTo>
                  <a:lnTo>
                    <a:pt x="571500" y="792480"/>
                  </a:lnTo>
                  <a:lnTo>
                    <a:pt x="636270" y="788670"/>
                  </a:lnTo>
                  <a:lnTo>
                    <a:pt x="701040" y="784860"/>
                  </a:lnTo>
                  <a:lnTo>
                    <a:pt x="765810" y="781050"/>
                  </a:lnTo>
                  <a:lnTo>
                    <a:pt x="830580" y="776288"/>
                  </a:lnTo>
                  <a:lnTo>
                    <a:pt x="895350" y="771525"/>
                  </a:lnTo>
                  <a:lnTo>
                    <a:pt x="960120" y="765810"/>
                  </a:lnTo>
                  <a:lnTo>
                    <a:pt x="1024890" y="760095"/>
                  </a:lnTo>
                  <a:lnTo>
                    <a:pt x="1089660" y="753427"/>
                  </a:lnTo>
                  <a:lnTo>
                    <a:pt x="1154430" y="745807"/>
                  </a:lnTo>
                  <a:lnTo>
                    <a:pt x="1219200" y="737235"/>
                  </a:lnTo>
                  <a:lnTo>
                    <a:pt x="1283970" y="727710"/>
                  </a:lnTo>
                  <a:lnTo>
                    <a:pt x="1348740" y="717232"/>
                  </a:lnTo>
                  <a:lnTo>
                    <a:pt x="1413510" y="705802"/>
                  </a:lnTo>
                  <a:lnTo>
                    <a:pt x="1478280" y="691515"/>
                  </a:lnTo>
                  <a:lnTo>
                    <a:pt x="1542098" y="675322"/>
                  </a:lnTo>
                  <a:lnTo>
                    <a:pt x="1606868" y="657225"/>
                  </a:lnTo>
                  <a:lnTo>
                    <a:pt x="1671638" y="636270"/>
                  </a:lnTo>
                  <a:lnTo>
                    <a:pt x="1737360" y="612457"/>
                  </a:lnTo>
                  <a:lnTo>
                    <a:pt x="1802130" y="584835"/>
                  </a:lnTo>
                  <a:lnTo>
                    <a:pt x="1866900" y="552450"/>
                  </a:lnTo>
                  <a:lnTo>
                    <a:pt x="1930718" y="515302"/>
                  </a:lnTo>
                  <a:lnTo>
                    <a:pt x="1995488" y="471488"/>
                  </a:lnTo>
                  <a:lnTo>
                    <a:pt x="2060258" y="421957"/>
                  </a:lnTo>
                  <a:lnTo>
                    <a:pt x="2125028" y="365760"/>
                  </a:lnTo>
                  <a:lnTo>
                    <a:pt x="2189798" y="303847"/>
                  </a:lnTo>
                  <a:lnTo>
                    <a:pt x="2254568" y="237172"/>
                  </a:lnTo>
                  <a:lnTo>
                    <a:pt x="2319338" y="168592"/>
                  </a:lnTo>
                  <a:lnTo>
                    <a:pt x="2384108" y="103822"/>
                  </a:lnTo>
                  <a:lnTo>
                    <a:pt x="2448878" y="49530"/>
                  </a:lnTo>
                  <a:lnTo>
                    <a:pt x="2513648" y="12382"/>
                  </a:lnTo>
                  <a:lnTo>
                    <a:pt x="2578418" y="0"/>
                  </a:lnTo>
                  <a:lnTo>
                    <a:pt x="2643188" y="12382"/>
                  </a:lnTo>
                  <a:lnTo>
                    <a:pt x="2707958" y="49530"/>
                  </a:lnTo>
                  <a:lnTo>
                    <a:pt x="2772728" y="103822"/>
                  </a:lnTo>
                  <a:lnTo>
                    <a:pt x="2837498" y="168592"/>
                  </a:lnTo>
                  <a:lnTo>
                    <a:pt x="2902268" y="237172"/>
                  </a:lnTo>
                  <a:lnTo>
                    <a:pt x="2966085" y="303847"/>
                  </a:lnTo>
                  <a:lnTo>
                    <a:pt x="3030855" y="365760"/>
                  </a:lnTo>
                  <a:lnTo>
                    <a:pt x="3095625" y="421957"/>
                  </a:lnTo>
                  <a:lnTo>
                    <a:pt x="3160395" y="471488"/>
                  </a:lnTo>
                  <a:lnTo>
                    <a:pt x="3226118" y="515302"/>
                  </a:lnTo>
                  <a:lnTo>
                    <a:pt x="3290888" y="552450"/>
                  </a:lnTo>
                  <a:lnTo>
                    <a:pt x="3354705" y="584835"/>
                  </a:lnTo>
                  <a:lnTo>
                    <a:pt x="3419475" y="612457"/>
                  </a:lnTo>
                  <a:lnTo>
                    <a:pt x="3484245" y="636270"/>
                  </a:lnTo>
                  <a:lnTo>
                    <a:pt x="3549015" y="657225"/>
                  </a:lnTo>
                  <a:lnTo>
                    <a:pt x="3613785" y="675322"/>
                  </a:lnTo>
                  <a:lnTo>
                    <a:pt x="3678555" y="691515"/>
                  </a:lnTo>
                  <a:lnTo>
                    <a:pt x="3743325" y="705802"/>
                  </a:lnTo>
                  <a:lnTo>
                    <a:pt x="3808095" y="717232"/>
                  </a:lnTo>
                  <a:lnTo>
                    <a:pt x="3872865" y="727710"/>
                  </a:lnTo>
                  <a:lnTo>
                    <a:pt x="3937635" y="737235"/>
                  </a:lnTo>
                  <a:lnTo>
                    <a:pt x="4002405" y="745807"/>
                  </a:lnTo>
                  <a:lnTo>
                    <a:pt x="4067175" y="753427"/>
                  </a:lnTo>
                  <a:lnTo>
                    <a:pt x="4131945" y="760095"/>
                  </a:lnTo>
                  <a:lnTo>
                    <a:pt x="4196715" y="765810"/>
                  </a:lnTo>
                  <a:lnTo>
                    <a:pt x="4261485" y="771525"/>
                  </a:lnTo>
                  <a:lnTo>
                    <a:pt x="4326255" y="776288"/>
                  </a:lnTo>
                  <a:lnTo>
                    <a:pt x="4390073" y="781050"/>
                  </a:lnTo>
                  <a:lnTo>
                    <a:pt x="4454842" y="784860"/>
                  </a:lnTo>
                  <a:lnTo>
                    <a:pt x="4519612" y="788670"/>
                  </a:lnTo>
                  <a:lnTo>
                    <a:pt x="4584382" y="792480"/>
                  </a:lnTo>
                  <a:lnTo>
                    <a:pt x="4650105" y="795338"/>
                  </a:lnTo>
                  <a:lnTo>
                    <a:pt x="4714875" y="798195"/>
                  </a:lnTo>
                  <a:lnTo>
                    <a:pt x="4778692" y="800100"/>
                  </a:lnTo>
                  <a:lnTo>
                    <a:pt x="4843462" y="802957"/>
                  </a:lnTo>
                  <a:lnTo>
                    <a:pt x="4908232" y="804862"/>
                  </a:lnTo>
                  <a:lnTo>
                    <a:pt x="4973003" y="806767"/>
                  </a:lnTo>
                  <a:lnTo>
                    <a:pt x="5037773" y="808672"/>
                  </a:lnTo>
                  <a:lnTo>
                    <a:pt x="5102542" y="810577"/>
                  </a:lnTo>
                  <a:lnTo>
                    <a:pt x="5156835" y="811530"/>
                  </a:lnTo>
                </a:path>
              </a:pathLst>
            </a:custGeom>
            <a:noFill/>
            <a:ln w="26670">
              <a:solidFill>
                <a:srgbClr val="2E7D4F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779770" y="34213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475720" y="34213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576310" y="380142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576310" y="164687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987415" y="33889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165205" y="33889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987415" y="33889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165205" y="33889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950268" y="3351848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467475" y="3334702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985635" y="329946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502842" y="3214688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021002" y="2961322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8539162" y="25393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056370" y="2961322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574530" y="3214688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092690" y="329946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610850" y="3334702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128058" y="3351848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303108" y="32099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23376" y="163353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10854" y="347805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24924" y="347805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72931" y="2439352"/>
              <a:ext cx="1249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f(x) = 1/(1 + x²)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63069" y="1727835"/>
              <a:ext cx="514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L₁₀(x)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5598795" y="4191000"/>
            <a:ext cx="6059805" cy="1059180"/>
            <a:chOff x="5598795" y="4191000"/>
            <a:chExt cx="6059805" cy="1059180"/>
          </a:xfrm>
        </p:grpSpPr>
        <p:sp>
          <p:nvSpPr>
            <p:cNvPr id="49" name="Rectangle 49"/>
            <p:cNvSpPr/>
            <p:nvPr/>
          </p:nvSpPr>
          <p:spPr>
            <a:xfrm>
              <a:off x="5598795" y="4191000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803583" y="4620578"/>
              <a:ext cx="200026" cy="200026"/>
              <a:chOff x="5803583" y="4620578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803583" y="46205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903595" y="46872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892483" y="47205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105525" y="4339590"/>
              <a:ext cx="50349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 11 个等距节点上的 10 次插值多项式 L₁₀（橙色）在区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间两端剧烈振荡。n = 10 的 Newton-Cotes 公式就是 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L₁₀(x)dx，结果自然不可靠。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5598795" y="5440680"/>
            <a:ext cx="6059805" cy="782955"/>
            <a:chOff x="5598795" y="5440680"/>
            <a:chExt cx="6059805" cy="782955"/>
          </a:xfrm>
        </p:grpSpPr>
        <p:sp>
          <p:nvSpPr>
            <p:cNvPr id="56" name="Rectangle 56"/>
            <p:cNvSpPr/>
            <p:nvPr/>
          </p:nvSpPr>
          <p:spPr>
            <a:xfrm>
              <a:off x="5598795" y="544068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5803583" y="5732147"/>
              <a:ext cx="200023" cy="200023"/>
              <a:chOff x="5803583" y="5732147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803583" y="57321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936933" y="57988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105525" y="5589270"/>
              <a:ext cx="5092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复合求积把 [a, b] 分成若干小区间，每个小区间上用梯形或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Simpson 这类低阶公式，再把结果相加。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2351" y="342900"/>
            <a:ext cx="11322728" cy="876395"/>
            <a:chOff x="522351" y="342900"/>
            <a:chExt cx="11322728" cy="876395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7760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013" y="407194"/>
              <a:ext cx="3633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复合求积公式与 Romberg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351" y="793909"/>
              <a:ext cx="1132272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例（补充）：1/(1 + x²) 在 [−5, 5] 上积分，Newton-Cotes 不收敛而复合公式收敛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3" name="c1-table-1"/>
          <p:cNvGrpSpPr/>
          <p:nvPr/>
        </p:nvGrpSpPr>
        <p:grpSpPr>
          <a:xfrm>
            <a:off x="528447" y="1524000"/>
            <a:ext cx="11130153" cy="3864006"/>
            <a:chOff x="528447" y="1524000"/>
            <a:chExt cx="11130153" cy="38640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778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97478" y="1645444"/>
              <a:ext cx="1099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Newton-Cotes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1548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3349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复合梯形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30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38462" y="1645444"/>
              <a:ext cx="967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复合 Simpson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7791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40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09579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6.794872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5894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−4.05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03336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5.192308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50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−2.45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84699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6.794872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22623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−4.05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040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09579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2.374005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58945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0333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3.285809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55042" y="24455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−0.539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84699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2.650309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81160" y="24455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0.0965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40409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09579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3.870449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58945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−1.12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0333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2.888352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5042" y="28455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−0.142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84699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3.220165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81160" y="28455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−0.473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40409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09579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1.500489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00408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03336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2.784489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13579" y="32456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−0.0377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84699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2.617383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22623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96873" y="36456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309579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4.673301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657600" y="3533775"/>
              <a:ext cx="142684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158945" y="36456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−1.93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03336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2.756109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30653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−9.3×10⁻³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84699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2.849170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81160" y="36456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−0.102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3919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39243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96873" y="40457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59982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24797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70333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2.746208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72116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5.9×10⁻⁴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84699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2.742908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98234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3.9×10⁻³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43195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96873" y="44457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599820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324797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703336" y="44457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2.746648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72116" y="44457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1.5×10⁻⁴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84699" y="44457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2.746794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598234" y="44457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7.9×10⁻⁶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" y="4719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33400" y="47244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96873" y="48458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599820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24797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703336" y="48458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2.746763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995160" y="4733925"/>
              <a:ext cx="14268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372116" y="48458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3.9×10⁻⁵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84699" y="48458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2.746802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222230" y="4733925"/>
              <a:ext cx="14268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681160" y="48458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4×10⁻⁸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33400" y="1524000"/>
              <a:ext cx="11125200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164115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364331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509016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98087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842772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20794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28447" y="5197316"/>
              <a:ext cx="67329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Newton-Cotes 取 n = 节点数 − 1；精确值 2 arctan 5 = 2.746802；误差 = 精确值 − 近似值；数值用 Python 复算</a:t>
              </a:r>
            </a:p>
          </p:txBody>
        </p:sp>
      </p:grpSp>
      <p:grpSp>
        <p:nvGrpSpPr>
          <p:cNvPr id="9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94" name="Rectangle 94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0892" y="5779770"/>
              <a:ext cx="989780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Newton-Cotes 的误差随 n 增大来回摆动并变大；复合公式加密节点后误差稳定下降，节点较多时复合 Simpson 远好于复合梯形。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节点太少时两种复合公式都还不准。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14311" cy="909257"/>
            <a:chOff x="520446" y="342900"/>
            <a:chExt cx="89143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7760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013" y="407194"/>
              <a:ext cx="3633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复合求积公式与 Romberg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143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复合梯形公式：每个小区间用梯形公式，内部节点系数为 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3892626" cy="1685449"/>
            <a:chOff x="533400" y="1533525"/>
            <a:chExt cx="3892626" cy="168544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3230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h = (b − a)/m，xₖ = a + kh，k = 0, 1, …, 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4788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每段用梯形公式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6016"/>
              <a:ext cx="2996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 从 xₖ₋₁ 到 xₖ 的积分 ≈ (h/2)(fₖ₋₁ + fₖ)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30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99894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内部节点 x₁, …, xₘ₋₁ 各被相邻两段用到，系数为 2</a:t>
              </a:r>
            </a:p>
          </p:txBody>
        </p:sp>
      </p:grpSp>
      <p:grpSp>
        <p:nvGrpSpPr>
          <p:cNvPr id="208" name="c1-graph-2"/>
          <p:cNvGrpSpPr/>
          <p:nvPr/>
        </p:nvGrpSpPr>
        <p:grpSpPr>
          <a:xfrm>
            <a:off x="641985" y="3456623"/>
            <a:ext cx="4930140" cy="1814511"/>
            <a:chOff x="641985" y="3456623"/>
            <a:chExt cx="4930140" cy="1814511"/>
          </a:xfrm>
        </p:grpSpPr>
        <p:sp>
          <p:nvSpPr>
            <p:cNvPr id="21" name="Freeform 21"/>
            <p:cNvSpPr/>
            <p:nvPr/>
          </p:nvSpPr>
          <p:spPr>
            <a:xfrm>
              <a:off x="700088" y="5058728"/>
              <a:ext cx="4765358" cy="9525"/>
            </a:xfrm>
            <a:custGeom>
              <a:avLst/>
              <a:gdLst/>
              <a:ahLst/>
              <a:cxnLst/>
              <a:rect l="l" t="t" r="r" b="b"/>
              <a:pathLst>
                <a:path w="4765358" h="9525">
                  <a:moveTo>
                    <a:pt x="0" y="0"/>
                  </a:moveTo>
                  <a:lnTo>
                    <a:pt x="4765358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465445" y="50111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89610" y="3583305"/>
              <a:ext cx="9525" cy="1464945"/>
            </a:xfrm>
            <a:custGeom>
              <a:avLst/>
              <a:gdLst/>
              <a:ahLst/>
              <a:cxnLst/>
              <a:rect l="l" t="t" r="r" b="b"/>
              <a:pathLst>
                <a:path w="9525" h="1464945">
                  <a:moveTo>
                    <a:pt x="0" y="1464945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41985" y="3488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224915" y="4167188"/>
              <a:ext cx="9525" cy="881062"/>
            </a:xfrm>
            <a:custGeom>
              <a:avLst/>
              <a:gdLst/>
              <a:ahLst/>
              <a:cxnLst/>
              <a:rect l="l" t="t" r="r" b="b"/>
              <a:pathLst>
                <a:path w="9525" h="881062">
                  <a:moveTo>
                    <a:pt x="0" y="88106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306830" y="4131945"/>
              <a:ext cx="9525" cy="916305"/>
            </a:xfrm>
            <a:custGeom>
              <a:avLst/>
              <a:gdLst/>
              <a:ahLst/>
              <a:cxnLst/>
              <a:rect l="l" t="t" r="r" b="b"/>
              <a:pathLst>
                <a:path w="9525" h="916305">
                  <a:moveTo>
                    <a:pt x="0" y="91630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389698" y="4097655"/>
              <a:ext cx="9525" cy="950595"/>
            </a:xfrm>
            <a:custGeom>
              <a:avLst/>
              <a:gdLst/>
              <a:ahLst/>
              <a:cxnLst/>
              <a:rect l="l" t="t" r="r" b="b"/>
              <a:pathLst>
                <a:path w="9525" h="950595">
                  <a:moveTo>
                    <a:pt x="0" y="95059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471612" y="4062412"/>
              <a:ext cx="9525" cy="985838"/>
            </a:xfrm>
            <a:custGeom>
              <a:avLst/>
              <a:gdLst/>
              <a:ahLst/>
              <a:cxnLst/>
              <a:rect l="l" t="t" r="r" b="b"/>
              <a:pathLst>
                <a:path w="9525" h="985838">
                  <a:moveTo>
                    <a:pt x="0" y="98583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554480" y="4027170"/>
              <a:ext cx="9525" cy="1021080"/>
            </a:xfrm>
            <a:custGeom>
              <a:avLst/>
              <a:gdLst/>
              <a:ahLst/>
              <a:cxnLst/>
              <a:rect l="l" t="t" r="r" b="b"/>
              <a:pathLst>
                <a:path w="9525" h="1021080">
                  <a:moveTo>
                    <a:pt x="0" y="102108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636395" y="3992880"/>
              <a:ext cx="9525" cy="1055370"/>
            </a:xfrm>
            <a:custGeom>
              <a:avLst/>
              <a:gdLst/>
              <a:ahLst/>
              <a:cxnLst/>
              <a:rect l="l" t="t" r="r" b="b"/>
              <a:pathLst>
                <a:path w="9525" h="1055370">
                  <a:moveTo>
                    <a:pt x="0" y="105537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719262" y="3957638"/>
              <a:ext cx="9525" cy="1090612"/>
            </a:xfrm>
            <a:custGeom>
              <a:avLst/>
              <a:gdLst/>
              <a:ahLst/>
              <a:cxnLst/>
              <a:rect l="l" t="t" r="r" b="b"/>
              <a:pathLst>
                <a:path w="9525" h="1090612">
                  <a:moveTo>
                    <a:pt x="0" y="109061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802130" y="3922395"/>
              <a:ext cx="9525" cy="1125855"/>
            </a:xfrm>
            <a:custGeom>
              <a:avLst/>
              <a:gdLst/>
              <a:ahLst/>
              <a:cxnLst/>
              <a:rect l="l" t="t" r="r" b="b"/>
              <a:pathLst>
                <a:path w="9525" h="1125855">
                  <a:moveTo>
                    <a:pt x="0" y="112585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884045" y="3888105"/>
              <a:ext cx="9525" cy="1160145"/>
            </a:xfrm>
            <a:custGeom>
              <a:avLst/>
              <a:gdLst/>
              <a:ahLst/>
              <a:cxnLst/>
              <a:rect l="l" t="t" r="r" b="b"/>
              <a:pathLst>
                <a:path w="9525" h="1160145">
                  <a:moveTo>
                    <a:pt x="0" y="116014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965960" y="3852862"/>
              <a:ext cx="9525" cy="1195388"/>
            </a:xfrm>
            <a:custGeom>
              <a:avLst/>
              <a:gdLst/>
              <a:ahLst/>
              <a:cxnLst/>
              <a:rect l="l" t="t" r="r" b="b"/>
              <a:pathLst>
                <a:path w="9525" h="1195388">
                  <a:moveTo>
                    <a:pt x="0" y="119538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048828" y="3817620"/>
              <a:ext cx="9525" cy="1230630"/>
            </a:xfrm>
            <a:custGeom>
              <a:avLst/>
              <a:gdLst/>
              <a:ahLst/>
              <a:cxnLst/>
              <a:rect l="l" t="t" r="r" b="b"/>
              <a:pathLst>
                <a:path w="9525" h="1230630">
                  <a:moveTo>
                    <a:pt x="0" y="123063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2130742" y="3783330"/>
              <a:ext cx="9525" cy="1264920"/>
            </a:xfrm>
            <a:custGeom>
              <a:avLst/>
              <a:gdLst/>
              <a:ahLst/>
              <a:cxnLst/>
              <a:rect l="l" t="t" r="r" b="b"/>
              <a:pathLst>
                <a:path w="9525" h="1264920">
                  <a:moveTo>
                    <a:pt x="0" y="126492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213610" y="3765232"/>
              <a:ext cx="9525" cy="1283018"/>
            </a:xfrm>
            <a:custGeom>
              <a:avLst/>
              <a:gdLst/>
              <a:ahLst/>
              <a:cxnLst/>
              <a:rect l="l" t="t" r="r" b="b"/>
              <a:pathLst>
                <a:path w="9525" h="1283018">
                  <a:moveTo>
                    <a:pt x="0" y="128301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296478" y="3765232"/>
              <a:ext cx="9525" cy="1283018"/>
            </a:xfrm>
            <a:custGeom>
              <a:avLst/>
              <a:gdLst/>
              <a:ahLst/>
              <a:cxnLst/>
              <a:rect l="l" t="t" r="r" b="b"/>
              <a:pathLst>
                <a:path w="9525" h="1283018">
                  <a:moveTo>
                    <a:pt x="0" y="128301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2378392" y="3764280"/>
              <a:ext cx="9525" cy="1283970"/>
            </a:xfrm>
            <a:custGeom>
              <a:avLst/>
              <a:gdLst/>
              <a:ahLst/>
              <a:cxnLst/>
              <a:rect l="l" t="t" r="r" b="b"/>
              <a:pathLst>
                <a:path w="9525" h="1283970">
                  <a:moveTo>
                    <a:pt x="0" y="128397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2461260" y="3763328"/>
              <a:ext cx="9525" cy="1284922"/>
            </a:xfrm>
            <a:custGeom>
              <a:avLst/>
              <a:gdLst/>
              <a:ahLst/>
              <a:cxnLst/>
              <a:rect l="l" t="t" r="r" b="b"/>
              <a:pathLst>
                <a:path w="9525" h="1284922">
                  <a:moveTo>
                    <a:pt x="0" y="128492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2543175" y="3763328"/>
              <a:ext cx="9525" cy="1284922"/>
            </a:xfrm>
            <a:custGeom>
              <a:avLst/>
              <a:gdLst/>
              <a:ahLst/>
              <a:cxnLst/>
              <a:rect l="l" t="t" r="r" b="b"/>
              <a:pathLst>
                <a:path w="9525" h="1284922">
                  <a:moveTo>
                    <a:pt x="0" y="128492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2625090" y="3762375"/>
              <a:ext cx="9525" cy="1285875"/>
            </a:xfrm>
            <a:custGeom>
              <a:avLst/>
              <a:gdLst/>
              <a:ahLst/>
              <a:cxnLst/>
              <a:rect l="l" t="t" r="r" b="b"/>
              <a:pathLst>
                <a:path w="9525" h="1285875">
                  <a:moveTo>
                    <a:pt x="0" y="128587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2707958" y="3762375"/>
              <a:ext cx="9525" cy="1285875"/>
            </a:xfrm>
            <a:custGeom>
              <a:avLst/>
              <a:gdLst/>
              <a:ahLst/>
              <a:cxnLst/>
              <a:rect l="l" t="t" r="r" b="b"/>
              <a:pathLst>
                <a:path w="9525" h="1285875">
                  <a:moveTo>
                    <a:pt x="0" y="128587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2790825" y="3761422"/>
              <a:ext cx="9525" cy="1286828"/>
            </a:xfrm>
            <a:custGeom>
              <a:avLst/>
              <a:gdLst/>
              <a:ahLst/>
              <a:cxnLst/>
              <a:rect l="l" t="t" r="r" b="b"/>
              <a:pathLst>
                <a:path w="9525" h="1286828">
                  <a:moveTo>
                    <a:pt x="0" y="128682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872740" y="3761422"/>
              <a:ext cx="9525" cy="1286828"/>
            </a:xfrm>
            <a:custGeom>
              <a:avLst/>
              <a:gdLst/>
              <a:ahLst/>
              <a:cxnLst/>
              <a:rect l="l" t="t" r="r" b="b"/>
              <a:pathLst>
                <a:path w="9525" h="1286828">
                  <a:moveTo>
                    <a:pt x="0" y="128682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2955608" y="3760470"/>
              <a:ext cx="9525" cy="1287780"/>
            </a:xfrm>
            <a:custGeom>
              <a:avLst/>
              <a:gdLst/>
              <a:ahLst/>
              <a:cxnLst/>
              <a:rect l="l" t="t" r="r" b="b"/>
              <a:pathLst>
                <a:path w="9525" h="1287780">
                  <a:moveTo>
                    <a:pt x="0" y="128778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3037522" y="3759518"/>
              <a:ext cx="9525" cy="1288732"/>
            </a:xfrm>
            <a:custGeom>
              <a:avLst/>
              <a:gdLst/>
              <a:ahLst/>
              <a:cxnLst/>
              <a:rect l="l" t="t" r="r" b="b"/>
              <a:pathLst>
                <a:path w="9525" h="1288732">
                  <a:moveTo>
                    <a:pt x="0" y="128873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3119438" y="3759518"/>
              <a:ext cx="9525" cy="1288732"/>
            </a:xfrm>
            <a:custGeom>
              <a:avLst/>
              <a:gdLst/>
              <a:ahLst/>
              <a:cxnLst/>
              <a:rect l="l" t="t" r="r" b="b"/>
              <a:pathLst>
                <a:path w="9525" h="1288732">
                  <a:moveTo>
                    <a:pt x="0" y="128873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3202305" y="3773805"/>
              <a:ext cx="9525" cy="1274445"/>
            </a:xfrm>
            <a:custGeom>
              <a:avLst/>
              <a:gdLst/>
              <a:ahLst/>
              <a:cxnLst/>
              <a:rect l="l" t="t" r="r" b="b"/>
              <a:pathLst>
                <a:path w="9525" h="1274445">
                  <a:moveTo>
                    <a:pt x="0" y="127444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3284220" y="3803332"/>
              <a:ext cx="9525" cy="1244918"/>
            </a:xfrm>
            <a:custGeom>
              <a:avLst/>
              <a:gdLst/>
              <a:ahLst/>
              <a:cxnLst/>
              <a:rect l="l" t="t" r="r" b="b"/>
              <a:pathLst>
                <a:path w="9525" h="1244918">
                  <a:moveTo>
                    <a:pt x="0" y="124491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3367088" y="3831908"/>
              <a:ext cx="9525" cy="1216342"/>
            </a:xfrm>
            <a:custGeom>
              <a:avLst/>
              <a:gdLst/>
              <a:ahLst/>
              <a:cxnLst/>
              <a:rect l="l" t="t" r="r" b="b"/>
              <a:pathLst>
                <a:path w="9525" h="1216342">
                  <a:moveTo>
                    <a:pt x="0" y="121634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3449955" y="3861435"/>
              <a:ext cx="9525" cy="1186815"/>
            </a:xfrm>
            <a:custGeom>
              <a:avLst/>
              <a:gdLst/>
              <a:ahLst/>
              <a:cxnLst/>
              <a:rect l="l" t="t" r="r" b="b"/>
              <a:pathLst>
                <a:path w="9525" h="1186815">
                  <a:moveTo>
                    <a:pt x="0" y="118681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3531870" y="3890962"/>
              <a:ext cx="9525" cy="1157288"/>
            </a:xfrm>
            <a:custGeom>
              <a:avLst/>
              <a:gdLst/>
              <a:ahLst/>
              <a:cxnLst/>
              <a:rect l="l" t="t" r="r" b="b"/>
              <a:pathLst>
                <a:path w="9525" h="1157288">
                  <a:moveTo>
                    <a:pt x="0" y="115728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3614738" y="3920490"/>
              <a:ext cx="9525" cy="1127760"/>
            </a:xfrm>
            <a:custGeom>
              <a:avLst/>
              <a:gdLst/>
              <a:ahLst/>
              <a:cxnLst/>
              <a:rect l="l" t="t" r="r" b="b"/>
              <a:pathLst>
                <a:path w="9525" h="1127760">
                  <a:moveTo>
                    <a:pt x="0" y="112776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3696652" y="3949065"/>
              <a:ext cx="9525" cy="1099185"/>
            </a:xfrm>
            <a:custGeom>
              <a:avLst/>
              <a:gdLst/>
              <a:ahLst/>
              <a:cxnLst/>
              <a:rect l="l" t="t" r="r" b="b"/>
              <a:pathLst>
                <a:path w="9525" h="1099185">
                  <a:moveTo>
                    <a:pt x="0" y="109918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3778568" y="3978592"/>
              <a:ext cx="9525" cy="1069658"/>
            </a:xfrm>
            <a:custGeom>
              <a:avLst/>
              <a:gdLst/>
              <a:ahLst/>
              <a:cxnLst/>
              <a:rect l="l" t="t" r="r" b="b"/>
              <a:pathLst>
                <a:path w="9525" h="1069658">
                  <a:moveTo>
                    <a:pt x="0" y="106965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3861435" y="4008120"/>
              <a:ext cx="9525" cy="1040130"/>
            </a:xfrm>
            <a:custGeom>
              <a:avLst/>
              <a:gdLst/>
              <a:ahLst/>
              <a:cxnLst/>
              <a:rect l="l" t="t" r="r" b="b"/>
              <a:pathLst>
                <a:path w="9525" h="1040130">
                  <a:moveTo>
                    <a:pt x="0" y="104013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3944302" y="4036695"/>
              <a:ext cx="9525" cy="1011555"/>
            </a:xfrm>
            <a:custGeom>
              <a:avLst/>
              <a:gdLst/>
              <a:ahLst/>
              <a:cxnLst/>
              <a:rect l="l" t="t" r="r" b="b"/>
              <a:pathLst>
                <a:path w="9525" h="1011555">
                  <a:moveTo>
                    <a:pt x="0" y="101155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4026218" y="4066222"/>
              <a:ext cx="9525" cy="982028"/>
            </a:xfrm>
            <a:custGeom>
              <a:avLst/>
              <a:gdLst/>
              <a:ahLst/>
              <a:cxnLst/>
              <a:rect l="l" t="t" r="r" b="b"/>
              <a:pathLst>
                <a:path w="9525" h="982028">
                  <a:moveTo>
                    <a:pt x="0" y="98202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4109085" y="40957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95250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4191000" y="4124325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92392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4273868" y="4150995"/>
              <a:ext cx="9525" cy="897255"/>
            </a:xfrm>
            <a:custGeom>
              <a:avLst/>
              <a:gdLst/>
              <a:ahLst/>
              <a:cxnLst/>
              <a:rect l="l" t="t" r="r" b="b"/>
              <a:pathLst>
                <a:path w="9525" h="897255">
                  <a:moveTo>
                    <a:pt x="0" y="89725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4355782" y="4177665"/>
              <a:ext cx="9525" cy="870585"/>
            </a:xfrm>
            <a:custGeom>
              <a:avLst/>
              <a:gdLst/>
              <a:ahLst/>
              <a:cxnLst/>
              <a:rect l="l" t="t" r="r" b="b"/>
              <a:pathLst>
                <a:path w="9525" h="870585">
                  <a:moveTo>
                    <a:pt x="0" y="87058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4438650" y="4205288"/>
              <a:ext cx="9525" cy="842962"/>
            </a:xfrm>
            <a:custGeom>
              <a:avLst/>
              <a:gdLst/>
              <a:ahLst/>
              <a:cxnLst/>
              <a:rect l="l" t="t" r="r" b="b"/>
              <a:pathLst>
                <a:path w="9525" h="842962">
                  <a:moveTo>
                    <a:pt x="0" y="84296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4520565" y="4231958"/>
              <a:ext cx="9525" cy="816292"/>
            </a:xfrm>
            <a:custGeom>
              <a:avLst/>
              <a:gdLst/>
              <a:ahLst/>
              <a:cxnLst/>
              <a:rect l="l" t="t" r="r" b="b"/>
              <a:pathLst>
                <a:path w="9525" h="816292">
                  <a:moveTo>
                    <a:pt x="0" y="81629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4603432" y="4259580"/>
              <a:ext cx="9525" cy="788670"/>
            </a:xfrm>
            <a:custGeom>
              <a:avLst/>
              <a:gdLst/>
              <a:ahLst/>
              <a:cxnLst/>
              <a:rect l="l" t="t" r="r" b="b"/>
              <a:pathLst>
                <a:path w="9525" h="788670">
                  <a:moveTo>
                    <a:pt x="0" y="78867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4686300" y="42862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4768215" y="4313872"/>
              <a:ext cx="9525" cy="734378"/>
            </a:xfrm>
            <a:custGeom>
              <a:avLst/>
              <a:gdLst/>
              <a:ahLst/>
              <a:cxnLst/>
              <a:rect l="l" t="t" r="r" b="b"/>
              <a:pathLst>
                <a:path w="9525" h="734378">
                  <a:moveTo>
                    <a:pt x="0" y="73437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4850130" y="4340542"/>
              <a:ext cx="9525" cy="707708"/>
            </a:xfrm>
            <a:custGeom>
              <a:avLst/>
              <a:gdLst/>
              <a:ahLst/>
              <a:cxnLst/>
              <a:rect l="l" t="t" r="r" b="b"/>
              <a:pathLst>
                <a:path w="9525" h="707708">
                  <a:moveTo>
                    <a:pt x="0" y="707708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4932998" y="4368165"/>
              <a:ext cx="9525" cy="680085"/>
            </a:xfrm>
            <a:custGeom>
              <a:avLst/>
              <a:gdLst/>
              <a:ahLst/>
              <a:cxnLst/>
              <a:rect l="l" t="t" r="r" b="b"/>
              <a:pathLst>
                <a:path w="9525" h="680085">
                  <a:moveTo>
                    <a:pt x="0" y="68008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5014912" y="4394835"/>
              <a:ext cx="9525" cy="653415"/>
            </a:xfrm>
            <a:custGeom>
              <a:avLst/>
              <a:gdLst/>
              <a:ahLst/>
              <a:cxnLst/>
              <a:rect l="l" t="t" r="r" b="b"/>
              <a:pathLst>
                <a:path w="9525" h="653415">
                  <a:moveTo>
                    <a:pt x="0" y="653415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5097780" y="4422458"/>
              <a:ext cx="9525" cy="625792"/>
            </a:xfrm>
            <a:custGeom>
              <a:avLst/>
              <a:gdLst/>
              <a:ahLst/>
              <a:cxnLst/>
              <a:rect l="l" t="t" r="r" b="b"/>
              <a:pathLst>
                <a:path w="9525" h="625792">
                  <a:moveTo>
                    <a:pt x="0" y="625792"/>
                  </a:moveTo>
                  <a:lnTo>
                    <a:pt x="0" y="0"/>
                  </a:lnTo>
                </a:path>
              </a:pathLst>
            </a:custGeom>
            <a:noFill/>
            <a:ln w="42862">
              <a:solidFill>
                <a:srgbClr val="CFE6D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193482" y="3749040"/>
              <a:ext cx="3935730" cy="672465"/>
            </a:xfrm>
            <a:custGeom>
              <a:avLst/>
              <a:gdLst/>
              <a:ahLst/>
              <a:cxnLst/>
              <a:rect l="l" t="t" r="r" b="b"/>
              <a:pathLst>
                <a:path w="3935730" h="672465">
                  <a:moveTo>
                    <a:pt x="0" y="421005"/>
                  </a:moveTo>
                  <a:lnTo>
                    <a:pt x="979170" y="5715"/>
                  </a:lnTo>
                  <a:lnTo>
                    <a:pt x="1967865" y="0"/>
                  </a:lnTo>
                  <a:lnTo>
                    <a:pt x="2956560" y="350520"/>
                  </a:lnTo>
                  <a:lnTo>
                    <a:pt x="3935730" y="67246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1183958" y="4184332"/>
              <a:ext cx="9525" cy="863917"/>
            </a:xfrm>
            <a:custGeom>
              <a:avLst/>
              <a:gdLst/>
              <a:ahLst/>
              <a:cxnLst/>
              <a:rect l="l" t="t" r="r" b="b"/>
              <a:pathLst>
                <a:path w="9525" h="863917">
                  <a:moveTo>
                    <a:pt x="0" y="863917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F26B3A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2172652" y="3765232"/>
              <a:ext cx="9525" cy="1283018"/>
            </a:xfrm>
            <a:custGeom>
              <a:avLst/>
              <a:gdLst/>
              <a:ahLst/>
              <a:cxnLst/>
              <a:rect l="l" t="t" r="r" b="b"/>
              <a:pathLst>
                <a:path w="9525" h="1283018">
                  <a:moveTo>
                    <a:pt x="0" y="1283018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F26B3A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3161348" y="3759518"/>
              <a:ext cx="9525" cy="1288732"/>
            </a:xfrm>
            <a:custGeom>
              <a:avLst/>
              <a:gdLst/>
              <a:ahLst/>
              <a:cxnLst/>
              <a:rect l="l" t="t" r="r" b="b"/>
              <a:pathLst>
                <a:path w="9525" h="1288732">
                  <a:moveTo>
                    <a:pt x="0" y="128873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F26B3A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4150042" y="4110038"/>
              <a:ext cx="9525" cy="938212"/>
            </a:xfrm>
            <a:custGeom>
              <a:avLst/>
              <a:gdLst/>
              <a:ahLst/>
              <a:cxnLst/>
              <a:rect l="l" t="t" r="r" b="b"/>
              <a:pathLst>
                <a:path w="9525" h="938212">
                  <a:moveTo>
                    <a:pt x="0" y="93821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F26B3A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5138738" y="4435792"/>
              <a:ext cx="9525" cy="612458"/>
            </a:xfrm>
            <a:custGeom>
              <a:avLst/>
              <a:gdLst/>
              <a:ahLst/>
              <a:cxnLst/>
              <a:rect l="l" t="t" r="r" b="b"/>
              <a:pathLst>
                <a:path w="9525" h="612458">
                  <a:moveTo>
                    <a:pt x="0" y="612458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F26B3A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007745" y="3693795"/>
              <a:ext cx="4368165" cy="759142"/>
            </a:xfrm>
            <a:custGeom>
              <a:avLst/>
              <a:gdLst/>
              <a:ahLst/>
              <a:cxnLst/>
              <a:rect l="l" t="t" r="r" b="b"/>
              <a:pathLst>
                <a:path w="4368165" h="759142">
                  <a:moveTo>
                    <a:pt x="0" y="577215"/>
                  </a:moveTo>
                  <a:lnTo>
                    <a:pt x="90488" y="527685"/>
                  </a:lnTo>
                  <a:lnTo>
                    <a:pt x="189548" y="472440"/>
                  </a:lnTo>
                  <a:lnTo>
                    <a:pt x="289560" y="419100"/>
                  </a:lnTo>
                  <a:lnTo>
                    <a:pt x="389572" y="367665"/>
                  </a:lnTo>
                  <a:lnTo>
                    <a:pt x="488632" y="317183"/>
                  </a:lnTo>
                  <a:lnTo>
                    <a:pt x="588645" y="269558"/>
                  </a:lnTo>
                  <a:lnTo>
                    <a:pt x="688658" y="224790"/>
                  </a:lnTo>
                  <a:lnTo>
                    <a:pt x="788670" y="183833"/>
                  </a:lnTo>
                  <a:lnTo>
                    <a:pt x="887730" y="145733"/>
                  </a:lnTo>
                  <a:lnTo>
                    <a:pt x="987742" y="111442"/>
                  </a:lnTo>
                  <a:lnTo>
                    <a:pt x="1087755" y="81915"/>
                  </a:lnTo>
                  <a:lnTo>
                    <a:pt x="1186815" y="56197"/>
                  </a:lnTo>
                  <a:lnTo>
                    <a:pt x="1286828" y="35242"/>
                  </a:lnTo>
                  <a:lnTo>
                    <a:pt x="1386840" y="19050"/>
                  </a:lnTo>
                  <a:lnTo>
                    <a:pt x="1485900" y="7620"/>
                  </a:lnTo>
                  <a:lnTo>
                    <a:pt x="1585912" y="952"/>
                  </a:lnTo>
                  <a:lnTo>
                    <a:pt x="1685925" y="0"/>
                  </a:lnTo>
                  <a:lnTo>
                    <a:pt x="1785938" y="2858"/>
                  </a:lnTo>
                  <a:lnTo>
                    <a:pt x="1884997" y="11430"/>
                  </a:lnTo>
                  <a:lnTo>
                    <a:pt x="1985010" y="23812"/>
                  </a:lnTo>
                  <a:lnTo>
                    <a:pt x="2085022" y="40958"/>
                  </a:lnTo>
                  <a:lnTo>
                    <a:pt x="2184082" y="61912"/>
                  </a:lnTo>
                  <a:lnTo>
                    <a:pt x="2284095" y="86677"/>
                  </a:lnTo>
                  <a:lnTo>
                    <a:pt x="2384108" y="115252"/>
                  </a:lnTo>
                  <a:lnTo>
                    <a:pt x="2483168" y="146685"/>
                  </a:lnTo>
                  <a:lnTo>
                    <a:pt x="2583180" y="181927"/>
                  </a:lnTo>
                  <a:lnTo>
                    <a:pt x="2683192" y="218122"/>
                  </a:lnTo>
                  <a:lnTo>
                    <a:pt x="2782252" y="257175"/>
                  </a:lnTo>
                  <a:lnTo>
                    <a:pt x="2882265" y="297180"/>
                  </a:lnTo>
                  <a:lnTo>
                    <a:pt x="2982277" y="339090"/>
                  </a:lnTo>
                  <a:lnTo>
                    <a:pt x="3082290" y="381000"/>
                  </a:lnTo>
                  <a:lnTo>
                    <a:pt x="3181350" y="422910"/>
                  </a:lnTo>
                  <a:lnTo>
                    <a:pt x="3281362" y="463867"/>
                  </a:lnTo>
                  <a:lnTo>
                    <a:pt x="3381375" y="503872"/>
                  </a:lnTo>
                  <a:lnTo>
                    <a:pt x="3480435" y="542925"/>
                  </a:lnTo>
                  <a:lnTo>
                    <a:pt x="3580448" y="580072"/>
                  </a:lnTo>
                  <a:lnTo>
                    <a:pt x="3680460" y="614362"/>
                  </a:lnTo>
                  <a:lnTo>
                    <a:pt x="3779520" y="646747"/>
                  </a:lnTo>
                  <a:lnTo>
                    <a:pt x="3879532" y="675322"/>
                  </a:lnTo>
                  <a:lnTo>
                    <a:pt x="3979545" y="700088"/>
                  </a:lnTo>
                  <a:lnTo>
                    <a:pt x="4078605" y="721995"/>
                  </a:lnTo>
                  <a:lnTo>
                    <a:pt x="4178618" y="739140"/>
                  </a:lnTo>
                  <a:lnTo>
                    <a:pt x="4278630" y="751522"/>
                  </a:lnTo>
                  <a:lnTo>
                    <a:pt x="4368165" y="759142"/>
                  </a:lnTo>
                </a:path>
              </a:pathLst>
            </a:custGeom>
            <a:noFill/>
            <a:ln w="24765">
              <a:solidFill>
                <a:srgbClr val="2E7D4F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68865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557022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68865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688658" y="347662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1223962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223962" y="415575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30587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305878" y="412051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138874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1388745" y="408622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147066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1470660" y="40509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155352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1553528" y="401574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1635443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1635443" y="398145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171831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1718310" y="39462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180117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1801178" y="39109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1883093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1883093" y="38766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196500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1965008" y="38414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204787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2047875" y="38061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212979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2129790" y="37719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221265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2212658" y="37538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229552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2295525" y="37538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237744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2377440" y="375285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2460307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2460307" y="37518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2542222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2542222" y="375189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262413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2624138" y="375094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270700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2707005" y="375094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2789872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2789872" y="37499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287178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2871788" y="37499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295465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2954655" y="374904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303657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3036570" y="374808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311848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3118485" y="374808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3201352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3201352" y="37623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328326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3283268" y="37919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336613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3366135" y="382047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3449002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3449002" y="38500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353091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3530918" y="38795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361378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3" name="Ellipse 143"/>
            <p:cNvSpPr/>
            <p:nvPr/>
          </p:nvSpPr>
          <p:spPr>
            <a:xfrm>
              <a:off x="3613785" y="39090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4" name="Ellipse 144"/>
            <p:cNvSpPr/>
            <p:nvPr/>
          </p:nvSpPr>
          <p:spPr>
            <a:xfrm>
              <a:off x="369570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5" name="Ellipse 145"/>
            <p:cNvSpPr/>
            <p:nvPr/>
          </p:nvSpPr>
          <p:spPr>
            <a:xfrm>
              <a:off x="3695700" y="39376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6" name="Ellipse 146"/>
            <p:cNvSpPr/>
            <p:nvPr/>
          </p:nvSpPr>
          <p:spPr>
            <a:xfrm>
              <a:off x="377761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7" name="Ellipse 147"/>
            <p:cNvSpPr/>
            <p:nvPr/>
          </p:nvSpPr>
          <p:spPr>
            <a:xfrm>
              <a:off x="3777615" y="396716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8" name="Ellipse 148"/>
            <p:cNvSpPr/>
            <p:nvPr/>
          </p:nvSpPr>
          <p:spPr>
            <a:xfrm>
              <a:off x="3860482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9" name="Ellipse 149"/>
            <p:cNvSpPr/>
            <p:nvPr/>
          </p:nvSpPr>
          <p:spPr>
            <a:xfrm>
              <a:off x="3860482" y="39966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0" name="Ellipse 150"/>
            <p:cNvSpPr/>
            <p:nvPr/>
          </p:nvSpPr>
          <p:spPr>
            <a:xfrm>
              <a:off x="394335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3943350" y="40252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2" name="Ellipse 152"/>
            <p:cNvSpPr/>
            <p:nvPr/>
          </p:nvSpPr>
          <p:spPr>
            <a:xfrm>
              <a:off x="402526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4025265" y="40547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4" name="Ellipse 154"/>
            <p:cNvSpPr/>
            <p:nvPr/>
          </p:nvSpPr>
          <p:spPr>
            <a:xfrm>
              <a:off x="4108132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5" name="Ellipse 155"/>
            <p:cNvSpPr/>
            <p:nvPr/>
          </p:nvSpPr>
          <p:spPr>
            <a:xfrm>
              <a:off x="4108132" y="408432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6" name="Ellipse 156"/>
            <p:cNvSpPr/>
            <p:nvPr/>
          </p:nvSpPr>
          <p:spPr>
            <a:xfrm>
              <a:off x="419004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7" name="Ellipse 157"/>
            <p:cNvSpPr/>
            <p:nvPr/>
          </p:nvSpPr>
          <p:spPr>
            <a:xfrm>
              <a:off x="4190048" y="41128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8" name="Ellipse 158"/>
            <p:cNvSpPr/>
            <p:nvPr/>
          </p:nvSpPr>
          <p:spPr>
            <a:xfrm>
              <a:off x="427291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9" name="Ellipse 159"/>
            <p:cNvSpPr/>
            <p:nvPr/>
          </p:nvSpPr>
          <p:spPr>
            <a:xfrm>
              <a:off x="4272915" y="41395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0" name="Ellipse 160"/>
            <p:cNvSpPr/>
            <p:nvPr/>
          </p:nvSpPr>
          <p:spPr>
            <a:xfrm>
              <a:off x="435483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1" name="Ellipse 161"/>
            <p:cNvSpPr/>
            <p:nvPr/>
          </p:nvSpPr>
          <p:spPr>
            <a:xfrm>
              <a:off x="4354830" y="41662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2" name="Ellipse 162"/>
            <p:cNvSpPr/>
            <p:nvPr/>
          </p:nvSpPr>
          <p:spPr>
            <a:xfrm>
              <a:off x="443769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3" name="Ellipse 163"/>
            <p:cNvSpPr/>
            <p:nvPr/>
          </p:nvSpPr>
          <p:spPr>
            <a:xfrm>
              <a:off x="4437698" y="419385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4" name="Ellipse 164"/>
            <p:cNvSpPr/>
            <p:nvPr/>
          </p:nvSpPr>
          <p:spPr>
            <a:xfrm>
              <a:off x="4519612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5" name="Ellipse 165"/>
            <p:cNvSpPr/>
            <p:nvPr/>
          </p:nvSpPr>
          <p:spPr>
            <a:xfrm>
              <a:off x="4519612" y="422052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6" name="Ellipse 166"/>
            <p:cNvSpPr/>
            <p:nvPr/>
          </p:nvSpPr>
          <p:spPr>
            <a:xfrm>
              <a:off x="460248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7" name="Ellipse 167"/>
            <p:cNvSpPr/>
            <p:nvPr/>
          </p:nvSpPr>
          <p:spPr>
            <a:xfrm>
              <a:off x="4602480" y="424815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8" name="Ellipse 168"/>
            <p:cNvSpPr/>
            <p:nvPr/>
          </p:nvSpPr>
          <p:spPr>
            <a:xfrm>
              <a:off x="468534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9" name="Ellipse 169"/>
            <p:cNvSpPr/>
            <p:nvPr/>
          </p:nvSpPr>
          <p:spPr>
            <a:xfrm>
              <a:off x="4685348" y="427482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0" name="Ellipse 170"/>
            <p:cNvSpPr/>
            <p:nvPr/>
          </p:nvSpPr>
          <p:spPr>
            <a:xfrm>
              <a:off x="4767262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1" name="Ellipse 171"/>
            <p:cNvSpPr/>
            <p:nvPr/>
          </p:nvSpPr>
          <p:spPr>
            <a:xfrm>
              <a:off x="4767262" y="430244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2" name="Ellipse 172"/>
            <p:cNvSpPr/>
            <p:nvPr/>
          </p:nvSpPr>
          <p:spPr>
            <a:xfrm>
              <a:off x="484917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3" name="Ellipse 173"/>
            <p:cNvSpPr/>
            <p:nvPr/>
          </p:nvSpPr>
          <p:spPr>
            <a:xfrm>
              <a:off x="4849178" y="43291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4" name="Ellipse 174"/>
            <p:cNvSpPr/>
            <p:nvPr/>
          </p:nvSpPr>
          <p:spPr>
            <a:xfrm>
              <a:off x="493204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5" name="Ellipse 175"/>
            <p:cNvSpPr/>
            <p:nvPr/>
          </p:nvSpPr>
          <p:spPr>
            <a:xfrm>
              <a:off x="4932045" y="435673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6" name="Ellipse 176"/>
            <p:cNvSpPr/>
            <p:nvPr/>
          </p:nvSpPr>
          <p:spPr>
            <a:xfrm>
              <a:off x="501396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7" name="Ellipse 177"/>
            <p:cNvSpPr/>
            <p:nvPr/>
          </p:nvSpPr>
          <p:spPr>
            <a:xfrm>
              <a:off x="5013960" y="43834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8" name="Ellipse 178"/>
            <p:cNvSpPr/>
            <p:nvPr/>
          </p:nvSpPr>
          <p:spPr>
            <a:xfrm>
              <a:off x="5096828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9" name="Ellipse 179"/>
            <p:cNvSpPr/>
            <p:nvPr/>
          </p:nvSpPr>
          <p:spPr>
            <a:xfrm>
              <a:off x="5096828" y="441102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0" name="Ellipse 180"/>
            <p:cNvSpPr/>
            <p:nvPr/>
          </p:nvSpPr>
          <p:spPr>
            <a:xfrm>
              <a:off x="1183005" y="41729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1" name="Ellipse 181"/>
            <p:cNvSpPr/>
            <p:nvPr/>
          </p:nvSpPr>
          <p:spPr>
            <a:xfrm>
              <a:off x="5137785" y="442436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2" name="Ellipse 182"/>
            <p:cNvSpPr/>
            <p:nvPr/>
          </p:nvSpPr>
          <p:spPr>
            <a:xfrm>
              <a:off x="118300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3" name="Ellipse 183"/>
            <p:cNvSpPr/>
            <p:nvPr/>
          </p:nvSpPr>
          <p:spPr>
            <a:xfrm>
              <a:off x="1183005" y="41729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4" name="Ellipse 184"/>
            <p:cNvSpPr/>
            <p:nvPr/>
          </p:nvSpPr>
          <p:spPr>
            <a:xfrm>
              <a:off x="1141095" y="4130992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5" name="Ellipse 185"/>
            <p:cNvSpPr/>
            <p:nvPr/>
          </p:nvSpPr>
          <p:spPr>
            <a:xfrm>
              <a:off x="217170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6" name="Ellipse 186"/>
            <p:cNvSpPr/>
            <p:nvPr/>
          </p:nvSpPr>
          <p:spPr>
            <a:xfrm>
              <a:off x="2171700" y="37538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7" name="Ellipse 187"/>
            <p:cNvSpPr/>
            <p:nvPr/>
          </p:nvSpPr>
          <p:spPr>
            <a:xfrm>
              <a:off x="2129790" y="3711892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8" name="Ellipse 188"/>
            <p:cNvSpPr/>
            <p:nvPr/>
          </p:nvSpPr>
          <p:spPr>
            <a:xfrm>
              <a:off x="316039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9" name="Ellipse 189"/>
            <p:cNvSpPr/>
            <p:nvPr/>
          </p:nvSpPr>
          <p:spPr>
            <a:xfrm>
              <a:off x="3160395" y="374808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0" name="Ellipse 190"/>
            <p:cNvSpPr/>
            <p:nvPr/>
          </p:nvSpPr>
          <p:spPr>
            <a:xfrm>
              <a:off x="3118485" y="3706178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1" name="Ellipse 191"/>
            <p:cNvSpPr/>
            <p:nvPr/>
          </p:nvSpPr>
          <p:spPr>
            <a:xfrm>
              <a:off x="4149090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2" name="Ellipse 192"/>
            <p:cNvSpPr/>
            <p:nvPr/>
          </p:nvSpPr>
          <p:spPr>
            <a:xfrm>
              <a:off x="4149090" y="40986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3" name="Ellipse 193"/>
            <p:cNvSpPr/>
            <p:nvPr/>
          </p:nvSpPr>
          <p:spPr>
            <a:xfrm>
              <a:off x="4107180" y="4056698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4" name="Ellipse 194"/>
            <p:cNvSpPr/>
            <p:nvPr/>
          </p:nvSpPr>
          <p:spPr>
            <a:xfrm>
              <a:off x="5137785" y="505777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5" name="Ellipse 195"/>
            <p:cNvSpPr/>
            <p:nvPr/>
          </p:nvSpPr>
          <p:spPr>
            <a:xfrm>
              <a:off x="5137785" y="442436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6" name="Ellipse 196"/>
            <p:cNvSpPr/>
            <p:nvPr/>
          </p:nvSpPr>
          <p:spPr>
            <a:xfrm>
              <a:off x="5095875" y="4382452"/>
              <a:ext cx="85725" cy="8572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7" name="Ellipse 197"/>
            <p:cNvSpPr/>
            <p:nvPr/>
          </p:nvSpPr>
          <p:spPr>
            <a:xfrm>
              <a:off x="997268" y="427482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8" name="Ellipse 198"/>
            <p:cNvSpPr/>
            <p:nvPr/>
          </p:nvSpPr>
          <p:spPr>
            <a:xfrm>
              <a:off x="5385435" y="445293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9" name="TextBox 199"/>
            <p:cNvSpPr txBox="1"/>
            <p:nvPr/>
          </p:nvSpPr>
          <p:spPr>
            <a:xfrm>
              <a:off x="5421668" y="488537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0" name="TextBox 200"/>
            <p:cNvSpPr txBox="1"/>
            <p:nvPr/>
          </p:nvSpPr>
          <p:spPr>
            <a:xfrm>
              <a:off x="814388" y="34566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1109226" y="509492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2097921" y="509492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3086616" y="509492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4075311" y="509492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205" name="TextBox 205"/>
            <p:cNvSpPr txBox="1"/>
            <p:nvPr/>
          </p:nvSpPr>
          <p:spPr>
            <a:xfrm>
              <a:off x="5064006" y="509492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206" name="TextBox 206"/>
            <p:cNvSpPr txBox="1"/>
            <p:nvPr/>
          </p:nvSpPr>
          <p:spPr>
            <a:xfrm>
              <a:off x="1638558" y="49044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4833095" y="4280535"/>
              <a:ext cx="5056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</p:grpSp>
      <p:grpSp>
        <p:nvGrpSpPr>
          <p:cNvPr id="214" name="c1-callout-3"/>
          <p:cNvGrpSpPr/>
          <p:nvPr/>
        </p:nvGrpSpPr>
        <p:grpSpPr>
          <a:xfrm>
            <a:off x="533400" y="5457825"/>
            <a:ext cx="5193982" cy="729615"/>
            <a:chOff x="533400" y="5457825"/>
            <a:chExt cx="5193982" cy="729615"/>
          </a:xfrm>
        </p:grpSpPr>
        <p:sp>
          <p:nvSpPr>
            <p:cNvPr id="209" name="Rectangle 209"/>
            <p:cNvSpPr/>
            <p:nvPr/>
          </p:nvSpPr>
          <p:spPr>
            <a:xfrm>
              <a:off x="533400" y="545782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12" name="Group 212"/>
            <p:cNvGrpSpPr/>
            <p:nvPr/>
          </p:nvGrpSpPr>
          <p:grpSpPr>
            <a:xfrm>
              <a:off x="738188" y="5721670"/>
              <a:ext cx="200023" cy="200023"/>
              <a:chOff x="738188" y="5721670"/>
              <a:chExt cx="200023" cy="200023"/>
            </a:xfrm>
          </p:grpSpPr>
          <p:sp>
            <p:nvSpPr>
              <p:cNvPr id="210" name="Freeform 210"/>
              <p:cNvSpPr/>
              <p:nvPr/>
            </p:nvSpPr>
            <p:spPr>
              <a:xfrm>
                <a:off x="738188" y="57216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1" name="Freeform 211"/>
              <p:cNvSpPr/>
              <p:nvPr/>
            </p:nvSpPr>
            <p:spPr>
              <a:xfrm>
                <a:off x="871538" y="5788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3" name="TextBox 213"/>
            <p:cNvSpPr txBox="1"/>
            <p:nvPr/>
          </p:nvSpPr>
          <p:spPr>
            <a:xfrm>
              <a:off x="1040892" y="5603558"/>
              <a:ext cx="428282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误差为 O(h²)：步长减半，误差约降为 1/4。只要 f″ 连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续，m → ∞ 时复合梯形值收敛到积分值。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formula144"/>
              <p:cNvSpPr txBox="1">
                <a:spLocks noGrp="1"/>
              </p:cNvSpPr>
              <p:nvPr/>
            </p:nvSpPr>
            <p:spPr>
              <a:xfrm>
                <a:off x="6032182" y="1524000"/>
                <a:ext cx="5626418" cy="700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</m:d>
                        </m:sup>
                      </m:sSubSup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6.3.1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17" name="c2-text-2"/>
          <p:cNvGrpSpPr/>
          <p:nvPr/>
        </p:nvGrpSpPr>
        <p:grpSpPr>
          <a:xfrm>
            <a:off x="6025324" y="2416492"/>
            <a:ext cx="2237637" cy="264033"/>
            <a:chOff x="6025324" y="2416492"/>
            <a:chExt cx="2237637" cy="264033"/>
          </a:xfrm>
        </p:grpSpPr>
        <p:sp>
          <p:nvSpPr>
            <p:cNvPr id="216" name="TextBox 216"/>
            <p:cNvSpPr txBox="1"/>
            <p:nvPr/>
          </p:nvSpPr>
          <p:spPr>
            <a:xfrm>
              <a:off x="6025324" y="2416492"/>
              <a:ext cx="2237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余项（设 f ∈ C²[a, b]）：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8" name="formula145"/>
              <p:cNvSpPr txBox="1">
                <a:spLocks noGrp="1"/>
              </p:cNvSpPr>
              <p:nvPr/>
            </p:nvSpPr>
            <p:spPr>
              <a:xfrm>
                <a:off x="6032182" y="2797492"/>
                <a:ext cx="5626418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</m:d>
                        </m:sup>
                      </m:sSubSup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den>
                          </m:f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η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′′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formula146"/>
              <p:cNvSpPr txBox="1">
                <a:spLocks noGrp="1"/>
              </p:cNvSpPr>
              <p:nvPr/>
            </p:nvSpPr>
            <p:spPr>
              <a:xfrm>
                <a:off x="6032182" y="3627120"/>
                <a:ext cx="5626418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′′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6.3.2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8" name="c2-card-5"/>
          <p:cNvGrpSpPr/>
          <p:nvPr/>
        </p:nvGrpSpPr>
        <p:grpSpPr>
          <a:xfrm>
            <a:off x="6032182" y="4336732"/>
            <a:ext cx="5626418" cy="1849755"/>
            <a:chOff x="6032182" y="4336732"/>
            <a:chExt cx="5626418" cy="1849755"/>
          </a:xfrm>
        </p:grpSpPr>
        <p:sp>
          <p:nvSpPr>
            <p:cNvPr id="220" name="Rectangle 220"/>
            <p:cNvSpPr/>
            <p:nvPr/>
          </p:nvSpPr>
          <p:spPr>
            <a:xfrm>
              <a:off x="6032182" y="4336732"/>
              <a:ext cx="5626418" cy="1849755"/>
            </a:xfrm>
            <a:prstGeom prst="roundRect">
              <a:avLst>
                <a:gd name="adj" fmla="val 72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6041708" y="4470082"/>
              <a:ext cx="47625" cy="15830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2" name="Rectangle 222"/>
            <p:cNvSpPr/>
            <p:nvPr/>
          </p:nvSpPr>
          <p:spPr>
            <a:xfrm>
              <a:off x="6256972" y="452342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3" name="TextBox 223"/>
            <p:cNvSpPr txBox="1"/>
            <p:nvPr/>
          </p:nvSpPr>
          <p:spPr>
            <a:xfrm>
              <a:off x="6341542" y="45562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推导说明</a:t>
              </a:r>
            </a:p>
          </p:txBody>
        </p:sp>
        <p:sp>
          <p:nvSpPr>
            <p:cNvPr id="224" name="Ellipse 224"/>
            <p:cNvSpPr/>
            <p:nvPr/>
          </p:nvSpPr>
          <p:spPr>
            <a:xfrm>
              <a:off x="6265545" y="492442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5" name="TextBox 225"/>
            <p:cNvSpPr txBox="1"/>
            <p:nvPr/>
          </p:nvSpPr>
          <p:spPr>
            <a:xfrm>
              <a:off x="6421564" y="486822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段由 (6.2.7) 得余项 −h³f″(ηₖ)/12，ηₖ ∈ [xₖ₋₁, xₖ]</a:t>
              </a:r>
            </a:p>
          </p:txBody>
        </p:sp>
        <p:sp>
          <p:nvSpPr>
            <p:cNvPr id="226" name="Ellipse 226"/>
            <p:cNvSpPr/>
            <p:nvPr/>
          </p:nvSpPr>
          <p:spPr>
            <a:xfrm>
              <a:off x="6265545" y="522446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7" name="TextBox 227"/>
            <p:cNvSpPr txBox="1"/>
            <p:nvPr/>
          </p:nvSpPr>
          <p:spPr>
            <a:xfrm>
              <a:off x="6421564" y="5168265"/>
              <a:ext cx="47285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 (1/m)Σf″(ηₖ) 介于 f″ 的最小值与最大值之间，f″ 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续，由介值定理存在 η ∈ [a, b] 使 f″(η) 等于它；再用 mh =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− a</a:t>
              </a:r>
            </a:p>
          </p:txBody>
        </p:sp>
      </p:grpSp>
      <p:grpSp>
        <p:nvGrpSpPr>
          <p:cNvPr id="2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9" name="TextBox 22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230" name="TextBox 2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15969" cy="909257"/>
            <a:chOff x="520446" y="342900"/>
            <a:chExt cx="87159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7760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013" y="407194"/>
              <a:ext cx="3633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复合求积公式与 Romberg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159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 Simpson 公式：每两个小区间用一次 Simpson 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707685" cy="2223516"/>
            <a:chOff x="533400" y="1533525"/>
            <a:chExt cx="5707685" cy="222351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6754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17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20897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7975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[a, b] 分成偶数 2m 等份，h = (b − a)/(2m)，xₖ = a + kh，k = 0,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…, 2m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4045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每两段一组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5098"/>
              <a:ext cx="48585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[x₂ᵢ, x₂ᵢ₊₂] 上用 Simpson 公式 (h/3)(f₂ᵢ + 4f₂ᵢ₊₁ + f₂ᵢ₊₂)，i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0, …, m − 1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2418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522345"/>
              <a:ext cx="52946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奇数号节点是各组中点，系数 4；内部偶数号节点被相邻两组共用，系数 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153"/>
              <p:cNvSpPr txBox="1">
                <a:spLocks noGrp="1"/>
              </p:cNvSpPr>
              <p:nvPr/>
            </p:nvSpPr>
            <p:spPr>
              <a:xfrm>
                <a:off x="533400" y="3928110"/>
                <a:ext cx="5626418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2m</m:t>
                              </m:r>
                            </m:e>
                          </m:d>
                        </m:sup>
                      </m:sSubSup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2i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2m</m:t>
                              </m:r>
                            </m:sub>
                          </m:sSub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6.3.3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0" name="c1-cells-3"/>
          <p:cNvGrpSpPr/>
          <p:nvPr/>
        </p:nvGrpSpPr>
        <p:grpSpPr>
          <a:xfrm>
            <a:off x="527304" y="4775835"/>
            <a:ext cx="4710493" cy="948690"/>
            <a:chOff x="527304" y="4775835"/>
            <a:chExt cx="4710493" cy="948690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48977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424940" y="4775835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37007" y="4897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848802" y="4775835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60870" y="4897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72665" y="4775835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84732" y="4897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95575" y="4775835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08595" y="4897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119438" y="4775835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32457" y="4897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543300" y="4775835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55367" y="4897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967162" y="4775835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079230" y="4897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91025" y="4775835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03092" y="4897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x₇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13935" y="4775835"/>
              <a:ext cx="4238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26955" y="48977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7304" y="5453062"/>
              <a:ext cx="759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系数 ×h/3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24940" y="533019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581748" y="5453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844040" y="533019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000848" y="5453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263140" y="533019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419948" y="5453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682240" y="533019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839048" y="5453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101340" y="533019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258148" y="5453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520440" y="533019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677248" y="5453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939540" y="533019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096348" y="5453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358640" y="533019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515448" y="5453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777740" y="533019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934548" y="5453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62" name="c1-text-4"/>
          <p:cNvGrpSpPr/>
          <p:nvPr/>
        </p:nvGrpSpPr>
        <p:grpSpPr>
          <a:xfrm>
            <a:off x="527304" y="5924550"/>
            <a:ext cx="4672736" cy="234696"/>
            <a:chOff x="527304" y="5924550"/>
            <a:chExt cx="4672736" cy="234696"/>
          </a:xfrm>
        </p:grpSpPr>
        <p:sp>
          <p:nvSpPr>
            <p:cNvPr id="61" name="TextBox 61"/>
            <p:cNvSpPr txBox="1"/>
            <p:nvPr/>
          </p:nvSpPr>
          <p:spPr>
            <a:xfrm>
              <a:off x="527304" y="5924550"/>
              <a:ext cx="4672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2m = 8 时的节点与系数：首尾为 1，奇数号为 4，内部偶数号为 2</a:t>
              </a:r>
            </a:p>
          </p:txBody>
        </p:sp>
      </p:grpSp>
      <p:grpSp>
        <p:nvGrpSpPr>
          <p:cNvPr id="64" name="c2-text-1"/>
          <p:cNvGrpSpPr/>
          <p:nvPr/>
        </p:nvGrpSpPr>
        <p:grpSpPr>
          <a:xfrm>
            <a:off x="6457379" y="1547336"/>
            <a:ext cx="2353713" cy="278702"/>
            <a:chOff x="6457379" y="1547336"/>
            <a:chExt cx="2353713" cy="278702"/>
          </a:xfrm>
        </p:grpSpPr>
        <p:sp>
          <p:nvSpPr>
            <p:cNvPr id="63" name="TextBox 63"/>
            <p:cNvSpPr txBox="1"/>
            <p:nvPr/>
          </p:nvSpPr>
          <p:spPr>
            <a:xfrm>
              <a:off x="6457379" y="1547336"/>
              <a:ext cx="2353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余项（设 f ∈ C⁴[a, b]）：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formula154"/>
              <p:cNvSpPr txBox="1">
                <a:spLocks noGrp="1"/>
              </p:cNvSpPr>
              <p:nvPr/>
            </p:nvSpPr>
            <p:spPr>
              <a:xfrm>
                <a:off x="6464618" y="1950720"/>
                <a:ext cx="5193982" cy="722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2m</m:t>
                              </m:r>
                            </m:e>
                          </m:d>
                        </m:sup>
                      </m:sSubSup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90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η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90</m:t>
                          </m:r>
                        </m:den>
                      </m:f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formula155"/>
              <p:cNvSpPr txBox="1">
                <a:spLocks noGrp="1"/>
              </p:cNvSpPr>
              <p:nvPr/>
            </p:nvSpPr>
            <p:spPr>
              <a:xfrm>
                <a:off x="6464618" y="2853690"/>
                <a:ext cx="5193982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180</m:t>
                          </m:r>
                        </m:den>
                      </m:f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p>
                      </m:sSup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</m:d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6.3.4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75" name="c2-card-4"/>
          <p:cNvGrpSpPr/>
          <p:nvPr/>
        </p:nvGrpSpPr>
        <p:grpSpPr>
          <a:xfrm>
            <a:off x="6464618" y="3625215"/>
            <a:ext cx="5193982" cy="1568768"/>
            <a:chOff x="6464618" y="3625215"/>
            <a:chExt cx="5193982" cy="1568768"/>
          </a:xfrm>
        </p:grpSpPr>
        <p:sp>
          <p:nvSpPr>
            <p:cNvPr id="67" name="Rectangle 67"/>
            <p:cNvSpPr/>
            <p:nvPr/>
          </p:nvSpPr>
          <p:spPr>
            <a:xfrm>
              <a:off x="6464618" y="3625215"/>
              <a:ext cx="5193982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74142" y="3758565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700838" y="382333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84277" y="38576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推导说明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708458" y="424434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65048" y="4183856"/>
              <a:ext cx="43336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每组区间长 2h，(6.2.10) 中的步长就是 h，所以每组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余项为 −(2h)h⁴f⁽⁴⁾(ηᵢ)/180 = −h⁵f⁽⁴⁾(ηᵢ)/90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708458" y="483298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65048" y="4773454"/>
              <a:ext cx="400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同样用介值定理把 m 项合并，再用 2mh = b − a</a:t>
              </a:r>
            </a:p>
          </p:txBody>
        </p:sp>
      </p:grpSp>
      <p:grpSp>
        <p:nvGrpSpPr>
          <p:cNvPr id="81" name="c2-callout-5"/>
          <p:cNvGrpSpPr/>
          <p:nvPr/>
        </p:nvGrpSpPr>
        <p:grpSpPr>
          <a:xfrm>
            <a:off x="6464618" y="5374005"/>
            <a:ext cx="5193982" cy="756285"/>
            <a:chOff x="6464618" y="5374005"/>
            <a:chExt cx="5193982" cy="756285"/>
          </a:xfrm>
        </p:grpSpPr>
        <p:sp>
          <p:nvSpPr>
            <p:cNvPr id="76" name="Rectangle 76"/>
            <p:cNvSpPr/>
            <p:nvPr/>
          </p:nvSpPr>
          <p:spPr>
            <a:xfrm>
              <a:off x="6464618" y="537400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669405" y="5652137"/>
              <a:ext cx="200023" cy="200023"/>
              <a:chOff x="6669405" y="5652137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669405" y="56521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802755" y="57188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971729" y="5521166"/>
              <a:ext cx="429755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误差为 O(h⁴)：步长减半，误差约降为 1/16。小区间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数必须是偶数，节点数 2m + 1 为奇数。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827" y="342900"/>
            <a:ext cx="10978179" cy="902684"/>
            <a:chOff x="520827" y="342900"/>
            <a:chExt cx="10978179" cy="902684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7760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013" y="407194"/>
              <a:ext cx="3633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复合求积公式与 Romberg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827" y="761524"/>
              <a:ext cx="10978179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例（补充）：sin x/x 在 [0, 1] 上积分，误差 ≤ 0.5×10⁻⁶ 各需多少节点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602105"/>
            <a:chOff x="533400" y="1524000"/>
            <a:chExt cx="5951220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34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分别用复合梯形公式和复合 Simpson 公式计算 ∫₀¹ (sin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x/x) dx，要求误差不超过 0.5×10⁻⁶，步长各应取多少？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（f(0) 按极限取 1）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3326130"/>
            <a:ext cx="5351145" cy="2582514"/>
            <a:chOff x="533400" y="3326130"/>
            <a:chExt cx="5351145" cy="2582514"/>
          </a:xfrm>
        </p:grpSpPr>
        <p:sp>
          <p:nvSpPr>
            <p:cNvPr id="13" name="Rectangle 13"/>
            <p:cNvSpPr/>
            <p:nvPr/>
          </p:nvSpPr>
          <p:spPr>
            <a:xfrm>
              <a:off x="666750" y="346900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32613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99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2119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857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509682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1706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3604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求导数的界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654266"/>
              <a:ext cx="4930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sin x/x = ∫₀¹ cos(xt)dt，所以 f⁽ᵏ⁾(x) = ∫₀¹ tᵏcos(xt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kπ/2)dt，|f⁽ᵏ⁾(x)| ≤ ∫₀¹ tᵏdt = 1/(k + 1)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42462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539139"/>
              <a:ext cx="47597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(6.3.2)，|R| ≤ (b − a)h²/12 · 1/3 = h²/36 ≤ 0.5×10⁻⁶，h 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0.00424，m = 1/h ≥ 235.7，取 m = 236（237 个节点）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5131118"/>
              <a:ext cx="12954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 Simpson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5424964"/>
              <a:ext cx="49385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(6.3.4)，|R| ≤ (b − a)h⁴/180 · 1/5 = h⁴/900 ≤ 0.5×10⁻⁶，h 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0.1456，2m = 1/h ≥ 6.87，取 2m = 8（9 个节点）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783705" y="1524000"/>
            <a:ext cx="4874895" cy="2091214"/>
            <a:chOff x="6783705" y="1524000"/>
            <a:chExt cx="4874895" cy="2091214"/>
          </a:xfrm>
        </p:grpSpPr>
        <p:sp>
          <p:nvSpPr>
            <p:cNvPr id="27" name="Rectangle 27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8029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9340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05516" y="1659731"/>
              <a:ext cx="8355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 I − Q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59697" y="2108359"/>
              <a:ext cx="1398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 m = 236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09714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237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196512" y="1982152"/>
              <a:ext cx="145256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537703" y="210835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4.5×10⁻⁷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06124" y="2556986"/>
              <a:ext cx="17059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 Simpson 2m = 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0448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196512" y="2430780"/>
              <a:ext cx="145256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90317" y="255698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−2.4×10⁻⁷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14581" y="3005614"/>
              <a:ext cx="18890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 m = 8（对照）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0448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196512" y="2880360"/>
              <a:ext cx="145256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37703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3.9×10⁻⁴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89420" y="1524000"/>
              <a:ext cx="486918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2495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18222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83705" y="3395186"/>
              <a:ext cx="3803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按上面选的步长实际计算（下一页给出 9 个节点的过程）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789420" y="3761422"/>
            <a:ext cx="4869180" cy="1059180"/>
            <a:chOff x="6789420" y="3761422"/>
            <a:chExt cx="4869180" cy="1059180"/>
          </a:xfrm>
        </p:grpSpPr>
        <p:sp>
          <p:nvSpPr>
            <p:cNvPr id="51" name="Rectangle 51"/>
            <p:cNvSpPr/>
            <p:nvPr/>
          </p:nvSpPr>
          <p:spPr>
            <a:xfrm>
              <a:off x="6789420" y="3761422"/>
              <a:ext cx="4869180" cy="1059180"/>
            </a:xfrm>
            <a:prstGeom prst="roundRect">
              <a:avLst>
                <a:gd name="adj" fmla="val 1079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994208" y="4191002"/>
              <a:ext cx="200023" cy="200023"/>
              <a:chOff x="6994208" y="4191002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994208" y="41910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27558" y="4257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296150" y="3910012"/>
              <a:ext cx="39014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达到同一精度，复合梯形要 237 个函数值，复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 Simpson 只要 9 个。f 足够光滑时，高阶的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复合公式划算得多。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789420" y="5011102"/>
            <a:ext cx="4869180" cy="782955"/>
            <a:chOff x="6789420" y="5011102"/>
            <a:chExt cx="4869180" cy="782955"/>
          </a:xfrm>
        </p:grpSpPr>
        <p:sp>
          <p:nvSpPr>
            <p:cNvPr id="57" name="Rectangle 57"/>
            <p:cNvSpPr/>
            <p:nvPr/>
          </p:nvSpPr>
          <p:spPr>
            <a:xfrm>
              <a:off x="6789420" y="5011102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994208" y="5302568"/>
              <a:ext cx="200026" cy="200026"/>
              <a:chOff x="6994208" y="5302568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994208" y="53025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094220" y="53692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083108" y="54025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296150" y="5159692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用余项估计步长属于事前估计，用的是导数的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最大值，偏保守，但给出的步长一定够用。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3408" cy="909257"/>
            <a:chOff x="520446" y="342900"/>
            <a:chExt cx="84534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7760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013" y="407194"/>
              <a:ext cx="3633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复合求积公式与 Romberg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3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例（续）：9 个节点上的复合梯形值与复合 Simpson 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27685" y="1524000"/>
            <a:ext cx="4550093" cy="4783932"/>
            <a:chOff x="527685" y="1524000"/>
            <a:chExt cx="4550093" cy="47839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341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8284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89114" y="1659731"/>
              <a:ext cx="1632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f(xₖ) = sin xₖ / xₖ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341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3496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4911" y="2108359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1.00000000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41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45424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42248" y="2430780"/>
              <a:ext cx="2326958" cy="429578"/>
            </a:xfrm>
            <a:prstGeom prst="rect">
              <a:avLst/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24911" y="2556986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0.99739787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60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41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92811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4911" y="30056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0.98961584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147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319462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3415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45424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742248" y="3328988"/>
              <a:ext cx="2326958" cy="429578"/>
            </a:xfrm>
            <a:prstGeom prst="rect">
              <a:avLst/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24911" y="345424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0.97672674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7633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3415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40197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24911" y="390382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0.95885108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1195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16718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3415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45424" y="435244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0.625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742248" y="4226242"/>
              <a:ext cx="2326958" cy="429578"/>
            </a:xfrm>
            <a:prstGeom prst="rect">
              <a:avLst/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24911" y="4352449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0.93615564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6605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3415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92811" y="480107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24911" y="4801076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0.90885168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1101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511492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3415" y="52497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45424" y="524970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742248" y="5124450"/>
              <a:ext cx="2326958" cy="429578"/>
            </a:xfrm>
            <a:prstGeom prst="rect">
              <a:avLst/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424911" y="524970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0.87719257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5587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3415" y="56983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34969" y="569833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424911" y="569833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0.84147098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524000"/>
              <a:ext cx="4544378" cy="4488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440180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2727960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7685" y="608790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蓝色为奇数号节点</a:t>
              </a:r>
            </a:p>
          </p:txBody>
        </p:sp>
      </p:grpSp>
      <p:grpSp>
        <p:nvGrpSpPr>
          <p:cNvPr id="72" name="c2-steps-1"/>
          <p:cNvGrpSpPr/>
          <p:nvPr/>
        </p:nvGrpSpPr>
        <p:grpSpPr>
          <a:xfrm>
            <a:off x="5382578" y="1533525"/>
            <a:ext cx="5968873" cy="2582514"/>
            <a:chOff x="5382578" y="1533525"/>
            <a:chExt cx="5968873" cy="2582514"/>
          </a:xfrm>
        </p:grpSpPr>
        <p:sp>
          <p:nvSpPr>
            <p:cNvPr id="59" name="Rectangle 59"/>
            <p:cNvSpPr/>
            <p:nvPr/>
          </p:nvSpPr>
          <p:spPr>
            <a:xfrm>
              <a:off x="5515928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382578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76201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382578" y="33042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476201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794058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分类求和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795201" y="1861661"/>
              <a:ext cx="55562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端点 f₀ + f₈ = 1.84147098；奇数号 f₁ + f₃ + f₅ + f₇ = 3.78747282；内部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偶数号 f₂ + f₄ + f₆ = 2.85731860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794058" y="2453640"/>
              <a:ext cx="2658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复合梯形（m = 8，h = 1/8）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95201" y="2746534"/>
              <a:ext cx="4645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T₈ = (1/16)[1.84147098 + 2×(3.78747282 + 2.85731860)]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15.13105382/16 = 0.94569086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794058" y="3338512"/>
              <a:ext cx="3247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 Simpson（2m = 8，h = 1/8）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795201" y="3632359"/>
              <a:ext cx="45565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(1/24)(1.84147098 + 4×3.78747282 + 2×2.85731860)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22.70599946/24 = 0.94608331</a:t>
              </a:r>
            </a:p>
          </p:txBody>
        </p:sp>
      </p:grpSp>
      <p:grpSp>
        <p:nvGrpSpPr>
          <p:cNvPr id="78" name="c2-callout-2"/>
          <p:cNvGrpSpPr/>
          <p:nvPr/>
        </p:nvGrpSpPr>
        <p:grpSpPr>
          <a:xfrm>
            <a:off x="5382578" y="4294822"/>
            <a:ext cx="6276022" cy="1059180"/>
            <a:chOff x="5382578" y="4294822"/>
            <a:chExt cx="6276022" cy="1059180"/>
          </a:xfrm>
        </p:grpSpPr>
        <p:sp>
          <p:nvSpPr>
            <p:cNvPr id="73" name="Rectangle 73"/>
            <p:cNvSpPr/>
            <p:nvPr/>
          </p:nvSpPr>
          <p:spPr>
            <a:xfrm>
              <a:off x="5382578" y="4294822"/>
              <a:ext cx="6276022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5587365" y="4724400"/>
              <a:ext cx="200026" cy="200026"/>
              <a:chOff x="5587365" y="4724400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5587365" y="47244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654040" y="48021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5889308" y="4443412"/>
              <a:ext cx="5177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精确值 I = Si(1) = 0.94608307。复合 Simpson 误差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−2.4×10⁻⁷，满足要求；同样的 9 个函数值，复合梯形误差为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3.9×10⁻⁴。</a:t>
              </a:r>
            </a:p>
          </p:txBody>
        </p:sp>
      </p:grpSp>
      <p:grpSp>
        <p:nvGrpSpPr>
          <p:cNvPr id="85" name="c2-callout-3"/>
          <p:cNvGrpSpPr/>
          <p:nvPr/>
        </p:nvGrpSpPr>
        <p:grpSpPr>
          <a:xfrm>
            <a:off x="5382578" y="5544502"/>
            <a:ext cx="6276022" cy="782955"/>
            <a:chOff x="5382578" y="5544502"/>
            <a:chExt cx="6276022" cy="782955"/>
          </a:xfrm>
        </p:grpSpPr>
        <p:sp>
          <p:nvSpPr>
            <p:cNvPr id="79" name="Rectangle 79"/>
            <p:cNvSpPr/>
            <p:nvPr/>
          </p:nvSpPr>
          <p:spPr>
            <a:xfrm>
              <a:off x="5382578" y="5544502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5587365" y="5835968"/>
              <a:ext cx="200026" cy="200025"/>
              <a:chOff x="5587365" y="5835968"/>
              <a:chExt cx="200026" cy="2000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5587365" y="58359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5627104" y="58804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5661819" y="59915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5889308" y="5693092"/>
              <a:ext cx="51206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两个公式用的是同一组函数值，区别只在权重：梯形是 1, 2,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2, …, 2, 1，Simpson 是 1, 4, 2, 4, …, 4, 1。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7760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013" y="407194"/>
              <a:ext cx="3633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复合求积公式与 Romberg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变步长梯形法（补充）：步长减半时，旧的函数值全部重用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llout-1"/>
          <p:cNvGrpSpPr/>
          <p:nvPr/>
        </p:nvGrpSpPr>
        <p:grpSpPr>
          <a:xfrm>
            <a:off x="533400" y="1524000"/>
            <a:ext cx="5410200" cy="978218"/>
            <a:chOff x="533400" y="1524000"/>
            <a:chExt cx="5410200" cy="9782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38188" y="1912620"/>
              <a:ext cx="200026" cy="200026"/>
              <a:chOff x="738188" y="1912620"/>
              <a:chExt cx="200026" cy="20002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38188" y="19126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38200" y="19792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7088" y="20126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40892" y="1669732"/>
              <a:ext cx="448856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6.3 节标题含 Romberg 求积公式，正文只讲到复合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公式；总复习提纲列有“龙贝格求积公式”，这里按常用教材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681288"/>
            <a:ext cx="4533417" cy="1685449"/>
            <a:chOff x="533400" y="2681288"/>
            <a:chExt cx="4533417" cy="1685449"/>
          </a:xfrm>
        </p:grpSpPr>
        <p:sp>
          <p:nvSpPr>
            <p:cNvPr id="14" name="Rectangle 14"/>
            <p:cNvSpPr/>
            <p:nvPr/>
          </p:nvSpPr>
          <p:spPr>
            <a:xfrm>
              <a:off x="666750" y="2824162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68128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7551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26421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3380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8471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3920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271367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2980849"/>
              <a:ext cx="3649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Tₙ 表示把 [a, b] n 等分的复合梯形值，h = (b − a)/n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29660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563779"/>
              <a:ext cx="4120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步长减半后，新增节点只有各小区间中点 xₖ₊½ = a + (k + ½)h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387953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146709"/>
              <a:ext cx="39001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原有节点的贡献恰好是 Tₙ/2，只需再算 n 个中点的函数值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162"/>
              <p:cNvSpPr txBox="1">
                <a:spLocks noGrp="1"/>
              </p:cNvSpPr>
              <p:nvPr/>
            </p:nvSpPr>
            <p:spPr>
              <a:xfrm>
                <a:off x="533400" y="4530090"/>
                <a:ext cx="5410200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35" name="c2-card-1"/>
          <p:cNvGrpSpPr/>
          <p:nvPr/>
        </p:nvGrpSpPr>
        <p:grpSpPr>
          <a:xfrm>
            <a:off x="6248400" y="1524000"/>
            <a:ext cx="5410200" cy="1758315"/>
            <a:chOff x="6248400" y="1524000"/>
            <a:chExt cx="5410200" cy="1758315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758315"/>
            </a:xfrm>
            <a:prstGeom prst="roundRect">
              <a:avLst>
                <a:gd name="adj" fmla="val 7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14916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31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06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事后误差估计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6332" y="2054542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(6.3.2)，I − Tₙ ≈ −(b − a)h²f″/12。若 f″ 在 [a, b] 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变化不大，步长减半后误差约为原来的 1/4：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63"/>
                <p:cNvSpPr txBox="1">
                  <a:spLocks noGrp="1"/>
                </p:cNvSpPr>
                <p:nvPr/>
              </p:nvSpPr>
              <p:spPr>
                <a:xfrm>
                  <a:off x="6473190" y="2589848"/>
                  <a:ext cx="499872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7" name="c2-table-2"/>
          <p:cNvGrpSpPr/>
          <p:nvPr/>
        </p:nvGrpSpPr>
        <p:grpSpPr>
          <a:xfrm>
            <a:off x="6243447" y="3451860"/>
            <a:ext cx="5415153" cy="2264759"/>
            <a:chOff x="6243447" y="3451860"/>
            <a:chExt cx="5415153" cy="2264759"/>
          </a:xfrm>
        </p:grpSpPr>
        <p:sp>
          <p:nvSpPr>
            <p:cNvPr id="36" name="Rectangle 36"/>
            <p:cNvSpPr/>
            <p:nvPr/>
          </p:nvSpPr>
          <p:spPr>
            <a:xfrm>
              <a:off x="6248400" y="345186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85864" y="35733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80399" y="357330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08186" y="35733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事后估计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82695" y="3573304"/>
              <a:ext cx="789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 I − Tₙ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85864" y="3973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57770" y="397335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0.92073549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68272" y="39733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40131" y="397335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2.5×10⁻²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42471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425196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5864" y="4373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57770" y="437340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0.93979328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36568" y="437340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6.35×10⁻³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98668" y="437340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6.29×10⁻³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46472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5864" y="47734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57770" y="477345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0.94451352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95105" y="477345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1.573×10⁻³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57205" y="477345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1.570×10⁻³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5047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505206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85864" y="5173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57770" y="517350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0.94569086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95105" y="517350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3.924×10⁻⁴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57205" y="517350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3.922×10⁻⁴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45186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17068" y="345186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528685" y="345186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091738" y="345186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43447" y="5525929"/>
              <a:ext cx="4901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事后估计 = (本行 Tₙ − 上一行 T)/3；被积函数 sin x/x，[0, 1]，I = 0.94608307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8" name="Rectangle 6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6028373"/>
              <a:ext cx="6729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实际计算时反复二分，直到 |T₂ₙ − Tₙ|/3 小于给定精度为止，不需要事先估计 f″。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45267" cy="909257"/>
            <a:chOff x="520446" y="342900"/>
            <a:chExt cx="98452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7760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013" y="407194"/>
              <a:ext cx="3633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复合求积公式与 Romberg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452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Romberg 外推（补充）：把估计出的误差加回去，精度逐级提高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148644" cy="529780"/>
            <a:chOff x="526542" y="1545907"/>
            <a:chExt cx="5148644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48644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把事后估计的误差加到 T₂ₙ 上，得到更准的值，它恰好等于 2n 等分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的复合 Simpson 值：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70"/>
              <p:cNvSpPr txBox="1">
                <a:spLocks noGrp="1"/>
              </p:cNvSpPr>
              <p:nvPr/>
            </p:nvSpPr>
            <p:spPr>
              <a:xfrm>
                <a:off x="533400" y="2192655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3"/>
          <p:cNvGrpSpPr/>
          <p:nvPr/>
        </p:nvGrpSpPr>
        <p:grpSpPr>
          <a:xfrm>
            <a:off x="533400" y="2903220"/>
            <a:ext cx="5410200" cy="1732598"/>
            <a:chOff x="533400" y="2903220"/>
            <a:chExt cx="5410200" cy="1732598"/>
          </a:xfrm>
        </p:grpSpPr>
        <p:sp>
          <p:nvSpPr>
            <p:cNvPr id="10" name="Rectangle 10"/>
            <p:cNvSpPr/>
            <p:nvPr/>
          </p:nvSpPr>
          <p:spPr>
            <a:xfrm>
              <a:off x="533400" y="2903220"/>
              <a:ext cx="5410200" cy="1732598"/>
            </a:xfrm>
            <a:prstGeom prst="roundRect">
              <a:avLst>
                <a:gd name="adj" fmla="val 769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20090" y="3089910"/>
              <a:ext cx="1026795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2881" y="3122771"/>
              <a:ext cx="8812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Romberg 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71"/>
                <p:cNvSpPr txBox="1">
                  <a:spLocks noGrp="1"/>
                </p:cNvSpPr>
                <p:nvPr/>
              </p:nvSpPr>
              <p:spPr>
                <a:xfrm>
                  <a:off x="720090" y="3411855"/>
                  <a:ext cx="503682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13232" y="3980498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Sₙ 是复合 Simpson 值，Cₙ 是复合 Cotes 值，Rₙ 称为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Romberg 值</a:t>
              </a:r>
            </a:p>
          </p:txBody>
        </p:sp>
      </p:grpSp>
      <p:grpSp>
        <p:nvGrpSpPr>
          <p:cNvPr id="21" name="c1-card-4"/>
          <p:cNvGrpSpPr/>
          <p:nvPr/>
        </p:nvGrpSpPr>
        <p:grpSpPr>
          <a:xfrm>
            <a:off x="533400" y="4805362"/>
            <a:ext cx="5410200" cy="1443038"/>
            <a:chOff x="533400" y="4805362"/>
            <a:chExt cx="5410200" cy="1443038"/>
          </a:xfrm>
        </p:grpSpPr>
        <p:sp>
          <p:nvSpPr>
            <p:cNvPr id="16" name="Rectangle 16"/>
            <p:cNvSpPr/>
            <p:nvPr/>
          </p:nvSpPr>
          <p:spPr>
            <a:xfrm>
              <a:off x="533400" y="4805362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93871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49920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0862" y="50249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5335905"/>
              <a:ext cx="473716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足够光滑时，I − Tₙ = α₁h² + α₂h⁴ + α₃h⁶ + 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（Euler-Maclaurin 公式），αᵢ 与 h 无关。每组合一次消去一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h 的偶次幂。</a:t>
              </a:r>
            </a:p>
          </p:txBody>
        </p:sp>
      </p:grpSp>
      <p:grpSp>
        <p:nvGrpSpPr>
          <p:cNvPr id="70" name="c2-graph-1"/>
          <p:cNvGrpSpPr/>
          <p:nvPr/>
        </p:nvGrpSpPr>
        <p:grpSpPr>
          <a:xfrm>
            <a:off x="6637020" y="1575911"/>
            <a:ext cx="4781268" cy="2801779"/>
            <a:chOff x="6637020" y="1575911"/>
            <a:chExt cx="4781268" cy="2801779"/>
          </a:xfrm>
        </p:grpSpPr>
        <p:sp>
          <p:nvSpPr>
            <p:cNvPr id="22" name="Freeform 22"/>
            <p:cNvSpPr/>
            <p:nvPr/>
          </p:nvSpPr>
          <p:spPr>
            <a:xfrm>
              <a:off x="7287578" y="2303145"/>
              <a:ext cx="650557" cy="345758"/>
            </a:xfrm>
            <a:custGeom>
              <a:avLst/>
              <a:gdLst/>
              <a:ahLst/>
              <a:cxnLst/>
              <a:rect l="l" t="t" r="r" b="b"/>
              <a:pathLst>
                <a:path w="650557" h="345758">
                  <a:moveTo>
                    <a:pt x="0" y="0"/>
                  </a:moveTo>
                  <a:lnTo>
                    <a:pt x="650557" y="3457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916228" y="260699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7630"/>
                  </a:moveTo>
                  <a:lnTo>
                    <a:pt x="0" y="84773"/>
                  </a:lnTo>
                  <a:lnTo>
                    <a:pt x="4476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374255" y="2844165"/>
              <a:ext cx="465772" cy="9525"/>
            </a:xfrm>
            <a:custGeom>
              <a:avLst/>
              <a:gdLst/>
              <a:ahLst/>
              <a:cxnLst/>
              <a:rect l="l" t="t" r="r" b="b"/>
              <a:pathLst>
                <a:path w="465772" h="9525">
                  <a:moveTo>
                    <a:pt x="0" y="0"/>
                  </a:moveTo>
                  <a:lnTo>
                    <a:pt x="4657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840028" y="27965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287578" y="2994660"/>
              <a:ext cx="650557" cy="345758"/>
            </a:xfrm>
            <a:custGeom>
              <a:avLst/>
              <a:gdLst/>
              <a:ahLst/>
              <a:cxnLst/>
              <a:rect l="l" t="t" r="r" b="b"/>
              <a:pathLst>
                <a:path w="650557" h="345758">
                  <a:moveTo>
                    <a:pt x="0" y="0"/>
                  </a:moveTo>
                  <a:lnTo>
                    <a:pt x="650557" y="3457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916228" y="3298508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86677"/>
                  </a:moveTo>
                  <a:lnTo>
                    <a:pt x="0" y="84772"/>
                  </a:lnTo>
                  <a:lnTo>
                    <a:pt x="4476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374255" y="3535680"/>
              <a:ext cx="465772" cy="9525"/>
            </a:xfrm>
            <a:custGeom>
              <a:avLst/>
              <a:gdLst/>
              <a:ahLst/>
              <a:cxnLst/>
              <a:rect l="l" t="t" r="r" b="b"/>
              <a:pathLst>
                <a:path w="465772" h="9525">
                  <a:moveTo>
                    <a:pt x="0" y="0"/>
                  </a:moveTo>
                  <a:lnTo>
                    <a:pt x="4657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840028" y="3488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287578" y="3685222"/>
              <a:ext cx="650557" cy="346710"/>
            </a:xfrm>
            <a:custGeom>
              <a:avLst/>
              <a:gdLst/>
              <a:ahLst/>
              <a:cxnLst/>
              <a:rect l="l" t="t" r="r" b="b"/>
              <a:pathLst>
                <a:path w="650557" h="346710">
                  <a:moveTo>
                    <a:pt x="0" y="0"/>
                  </a:moveTo>
                  <a:lnTo>
                    <a:pt x="650557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916228" y="399002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7630"/>
                  </a:moveTo>
                  <a:lnTo>
                    <a:pt x="0" y="84773"/>
                  </a:lnTo>
                  <a:lnTo>
                    <a:pt x="4476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374255" y="4227195"/>
              <a:ext cx="465772" cy="9525"/>
            </a:xfrm>
            <a:custGeom>
              <a:avLst/>
              <a:gdLst/>
              <a:ahLst/>
              <a:cxnLst/>
              <a:rect l="l" t="t" r="r" b="b"/>
              <a:pathLst>
                <a:path w="465772" h="9525">
                  <a:moveTo>
                    <a:pt x="0" y="0"/>
                  </a:moveTo>
                  <a:lnTo>
                    <a:pt x="4657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840028" y="41795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585835" y="2994660"/>
              <a:ext cx="651510" cy="345758"/>
            </a:xfrm>
            <a:custGeom>
              <a:avLst/>
              <a:gdLst/>
              <a:ahLst/>
              <a:cxnLst/>
              <a:rect l="l" t="t" r="r" b="b"/>
              <a:pathLst>
                <a:path w="651510" h="345758">
                  <a:moveTo>
                    <a:pt x="0" y="0"/>
                  </a:moveTo>
                  <a:lnTo>
                    <a:pt x="651510" y="3457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214485" y="3298508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86677"/>
                  </a:moveTo>
                  <a:lnTo>
                    <a:pt x="0" y="84772"/>
                  </a:lnTo>
                  <a:lnTo>
                    <a:pt x="447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673465" y="3535680"/>
              <a:ext cx="464820" cy="9525"/>
            </a:xfrm>
            <a:custGeom>
              <a:avLst/>
              <a:gdLst/>
              <a:ahLst/>
              <a:cxnLst/>
              <a:rect l="l" t="t" r="r" b="b"/>
              <a:pathLst>
                <a:path w="464820" h="9525">
                  <a:moveTo>
                    <a:pt x="0" y="0"/>
                  </a:moveTo>
                  <a:lnTo>
                    <a:pt x="4648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138285" y="3488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585835" y="3685222"/>
              <a:ext cx="651510" cy="346710"/>
            </a:xfrm>
            <a:custGeom>
              <a:avLst/>
              <a:gdLst/>
              <a:ahLst/>
              <a:cxnLst/>
              <a:rect l="l" t="t" r="r" b="b"/>
              <a:pathLst>
                <a:path w="651510" h="346710">
                  <a:moveTo>
                    <a:pt x="0" y="0"/>
                  </a:moveTo>
                  <a:lnTo>
                    <a:pt x="65151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214485" y="399002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7630"/>
                  </a:moveTo>
                  <a:lnTo>
                    <a:pt x="0" y="84773"/>
                  </a:lnTo>
                  <a:lnTo>
                    <a:pt x="447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673465" y="4227195"/>
              <a:ext cx="464820" cy="9525"/>
            </a:xfrm>
            <a:custGeom>
              <a:avLst/>
              <a:gdLst/>
              <a:ahLst/>
              <a:cxnLst/>
              <a:rect l="l" t="t" r="r" b="b"/>
              <a:pathLst>
                <a:path w="464820" h="9525">
                  <a:moveTo>
                    <a:pt x="0" y="0"/>
                  </a:moveTo>
                  <a:lnTo>
                    <a:pt x="4648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38285" y="41795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884092" y="3685222"/>
              <a:ext cx="651510" cy="346710"/>
            </a:xfrm>
            <a:custGeom>
              <a:avLst/>
              <a:gdLst/>
              <a:ahLst/>
              <a:cxnLst/>
              <a:rect l="l" t="t" r="r" b="b"/>
              <a:pathLst>
                <a:path w="651510" h="346710">
                  <a:moveTo>
                    <a:pt x="0" y="0"/>
                  </a:moveTo>
                  <a:lnTo>
                    <a:pt x="65151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512742" y="399002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7630"/>
                  </a:moveTo>
                  <a:lnTo>
                    <a:pt x="0" y="84773"/>
                  </a:lnTo>
                  <a:lnTo>
                    <a:pt x="447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971722" y="4227195"/>
              <a:ext cx="465772" cy="9525"/>
            </a:xfrm>
            <a:custGeom>
              <a:avLst/>
              <a:gdLst/>
              <a:ahLst/>
              <a:cxnLst/>
              <a:rect l="l" t="t" r="r" b="b"/>
              <a:pathLst>
                <a:path w="465772" h="9525">
                  <a:moveTo>
                    <a:pt x="0" y="0"/>
                  </a:moveTo>
                  <a:lnTo>
                    <a:pt x="4657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437495" y="41795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37020" y="2002155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37020" y="2694622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37020" y="3385185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37020" y="4077652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935278" y="2694622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35278" y="3385185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935278" y="4077652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233535" y="3385185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233535" y="4077652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532745" y="4077652"/>
              <a:ext cx="737235" cy="300038"/>
            </a:xfrm>
            <a:prstGeom prst="roundRect">
              <a:avLst>
                <a:gd name="adj" fmla="val 31746"/>
              </a:avLst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07922" y="208264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T₁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07922" y="27741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T₂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07922" y="346567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T₄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07922" y="415718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T₈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06179" y="27741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06179" y="346567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06179" y="415718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05389" y="346567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05389" y="415718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803647" y="415718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37285" y="1575911"/>
              <a:ext cx="736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梯形 O(h²)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04503" y="1575911"/>
              <a:ext cx="9987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Simpson O(h⁴)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175859" y="1575911"/>
              <a:ext cx="8544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Cotes O(h⁶)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384437" y="1575911"/>
              <a:ext cx="10338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Romberg O(h⁸)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6248400" y="4836795"/>
            <a:ext cx="5410200" cy="729615"/>
            <a:chOff x="6248400" y="4836795"/>
            <a:chExt cx="5410200" cy="729615"/>
          </a:xfrm>
        </p:grpSpPr>
        <p:sp>
          <p:nvSpPr>
            <p:cNvPr id="71" name="Rectangle 71"/>
            <p:cNvSpPr/>
            <p:nvPr/>
          </p:nvSpPr>
          <p:spPr>
            <a:xfrm>
              <a:off x="6248400" y="483679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453188" y="5101590"/>
              <a:ext cx="200026" cy="200025"/>
              <a:chOff x="6453188" y="5101590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453188" y="51015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492926" y="51460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527642" y="52571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755892" y="4983480"/>
              <a:ext cx="44628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计算顺序：每二分一次得到新的一行首项 T₂ₖ，再沿这一行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向右外推。同一列相邻两个值之差小于给定精度时停止。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84213" cy="909257"/>
            <a:chOff x="520446" y="342900"/>
            <a:chExt cx="82842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67760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013" y="407194"/>
              <a:ext cx="3633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复合求积公式与 Romberg 求积公式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842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例（补充）：用 Romberg 表计算 ∫₀¹ (sin x / x) dx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28447" y="1524000"/>
            <a:ext cx="11130153" cy="2663856"/>
            <a:chOff x="528447" y="1524000"/>
            <a:chExt cx="11130153" cy="26638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3721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2797" y="164544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区间数 2ᵏ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7696" y="1645444"/>
              <a:ext cx="706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T（梯形）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283" y="1645444"/>
              <a:ext cx="101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S（Simpson）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98405" y="1645444"/>
              <a:ext cx="845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C（Cotes）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20414" y="1645444"/>
              <a:ext cx="1051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R（Romberg）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372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8831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67689" y="204549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0.9207354924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372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8831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67689" y="244554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0.9397932848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92729" y="244554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0.9461458823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372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8831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67689" y="284559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0.9445135217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92729" y="284559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0.9460869340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17769" y="284559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0.9460830041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372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8831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67689" y="324564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0.9456908636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92729" y="324564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0.9460833109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17769" y="324564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0.9460830694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443085" y="3133725"/>
              <a:ext cx="220599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42809" y="324564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0.9460830704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3721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946852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67689" y="364569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0.9459850299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92729" y="364569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0.9460830854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17769" y="364569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0.9460830704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443085" y="3533775"/>
              <a:ext cx="220599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42809" y="3645694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0.9460830704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30778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75367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97871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20375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42879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8447" y="3997166"/>
              <a:ext cx="42116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精确值 Si(1) = 0.9460830704；表中数值用 30 位精度的 mpmath 复算</a:t>
              </a:r>
            </a:p>
          </p:txBody>
        </p:sp>
      </p:grpSp>
      <p:grpSp>
        <p:nvGrpSpPr>
          <p:cNvPr id="71" name="c1-steps-2"/>
          <p:cNvGrpSpPr/>
          <p:nvPr/>
        </p:nvGrpSpPr>
        <p:grpSpPr>
          <a:xfrm>
            <a:off x="533400" y="4319588"/>
            <a:ext cx="11125200" cy="1358265"/>
            <a:chOff x="533400" y="4319588"/>
            <a:chExt cx="11125200" cy="1358265"/>
          </a:xfrm>
        </p:grpSpPr>
        <p:sp>
          <p:nvSpPr>
            <p:cNvPr id="54" name="Rectangle 54"/>
            <p:cNvSpPr/>
            <p:nvPr/>
          </p:nvSpPr>
          <p:spPr>
            <a:xfrm>
              <a:off x="533400" y="4319588"/>
              <a:ext cx="3517582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66750" y="44529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6883" y="45234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892" y="4856798"/>
              <a:ext cx="639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T₁、T₂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035" y="5143024"/>
              <a:ext cx="28917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T₁ = (1 + sin 1)/2；T₂ = T₁/2 + f(0.5)/2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0.9397932848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4127182" y="491299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336732" y="4319588"/>
              <a:ext cx="3517582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4470082" y="44529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560216" y="45234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463224" y="485679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第一次外推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464368" y="5143024"/>
              <a:ext cx="2576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 = (4T₂ − T₁)/3 = 0.9461458823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7931468" y="491299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141018" y="4319588"/>
              <a:ext cx="3517582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274368" y="44529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364501" y="45234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67510" y="485679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继续外推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68652" y="5143024"/>
              <a:ext cx="3173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 = (16S₂ − S₁)/15，R₁ = (64C₂ − C₁)/63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2" name="Rectangle 7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8373"/>
              <a:ext cx="9653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3 共用 9 个函数值，R₁ 误差约 2×10⁻¹¹，而 T₈ 误差为 3.9×10⁻⁴。外推只对已有的 T 值做加减，不增加函数求值。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43912" cy="3351847"/>
            <a:chOff x="667512" y="1835468"/>
            <a:chExt cx="554391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习题与数值实验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340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课件习题 1～6 的完整解答，以及两个 Octave 数值实验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67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与复化梯形公式计算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矩形公式余项、火箭速度、误差估计式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带导数的求积公式与修正梯形公式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trapz 步长实验与抛物线法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2351" y="342900"/>
            <a:ext cx="11020638" cy="876395"/>
            <a:chOff x="522351" y="342900"/>
            <a:chExt cx="11020638" cy="876395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351" y="793909"/>
              <a:ext cx="1102063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1：由 eˣ 数据表，用 Simpson 公式和复化梯形公式计算 [1.1, 1.5] 上的积分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card-1"/>
          <p:cNvGrpSpPr/>
          <p:nvPr/>
        </p:nvGrpSpPr>
        <p:grpSpPr>
          <a:xfrm>
            <a:off x="533400" y="1524000"/>
            <a:ext cx="4977765" cy="2369820"/>
            <a:chOff x="533400" y="1524000"/>
            <a:chExt cx="4977765" cy="2369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69820"/>
            </a:xfrm>
            <a:prstGeom prst="roundRect">
              <a:avLst>
                <a:gd name="adj" fmla="val 56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03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96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已知数据表：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58190" y="2332672"/>
              <a:ext cx="456628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56614" y="2454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28722" y="245411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52684" y="245411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75694" y="245411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3078" y="28541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10552" y="285416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3.0042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4515" y="285416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3.6693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57525" y="285416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4.4817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8190" y="2332672"/>
              <a:ext cx="4566285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648778" y="233267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71788" y="233267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095750" y="2332672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332" y="3239452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试分别用 Simpson 公式和复化梯形公式计算积分 ∫ eˣ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dx，积分区间为 [1.1, 1.5]。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063365"/>
            <a:ext cx="4977765" cy="1892618"/>
            <a:chOff x="533400" y="4063365"/>
            <a:chExt cx="4977765" cy="1892618"/>
          </a:xfrm>
        </p:grpSpPr>
        <p:sp>
          <p:nvSpPr>
            <p:cNvPr id="27" name="Rectangle 27"/>
            <p:cNvSpPr/>
            <p:nvPr/>
          </p:nvSpPr>
          <p:spPr>
            <a:xfrm>
              <a:off x="533400" y="4063365"/>
              <a:ext cx="4977765" cy="1892618"/>
            </a:xfrm>
            <a:prstGeom prst="roundRect">
              <a:avLst>
                <a:gd name="adj" fmla="val 70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196715"/>
              <a:ext cx="47625" cy="16259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2500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0862" y="42829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4594860"/>
              <a:ext cx="423138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原课件表中 exp(1.1) 写作 1.000。实际 exp(1.1)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3.004166…，保留 4 位小数为 3.0042。若照 1.000 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算，Simpson 结果为 1.3439，与精确值 1.4775 相差很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远。</a:t>
              </a:r>
            </a:p>
          </p:txBody>
        </p:sp>
      </p:grpSp>
      <p:grpSp>
        <p:nvGrpSpPr>
          <p:cNvPr id="46" name="c2-steps-1"/>
          <p:cNvGrpSpPr/>
          <p:nvPr/>
        </p:nvGrpSpPr>
        <p:grpSpPr>
          <a:xfrm>
            <a:off x="5815965" y="1533525"/>
            <a:ext cx="5897072" cy="1685449"/>
            <a:chOff x="5815965" y="1533525"/>
            <a:chExt cx="5897072" cy="1685449"/>
          </a:xfrm>
        </p:grpSpPr>
        <p:sp>
          <p:nvSpPr>
            <p:cNvPr id="33" name="Rectangle 33"/>
            <p:cNvSpPr/>
            <p:nvPr/>
          </p:nvSpPr>
          <p:spPr>
            <a:xfrm>
              <a:off x="5949315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15965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09589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15965" y="26993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9589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207" y="1564957"/>
              <a:ext cx="31041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公式（n = 2，b − a = 0.4）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9350" y="1833086"/>
              <a:ext cx="54836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(0.4/6)(3.0042 + 4×3.6693 + 4.4817) = (0.4/6)×22.1631 = 1.47754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207" y="2147888"/>
              <a:ext cx="4065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复化梯形公式（同样 3 个节点，m = 2，h = 0.2）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9350" y="2416016"/>
              <a:ext cx="5133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(0.2/2)(3.0042 + 2×3.6693 + 4.4817) = 0.1×14.8245 = 1.48245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8207" y="27308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精确值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9350" y="2998946"/>
              <a:ext cx="4022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exp(1.5) − exp(1.1) = 4.481689 − 3.004166 = 1.477523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5811012" y="3382328"/>
            <a:ext cx="5847588" cy="1464658"/>
            <a:chOff x="5811012" y="3382328"/>
            <a:chExt cx="5847588" cy="1464658"/>
          </a:xfrm>
        </p:grpSpPr>
        <p:sp>
          <p:nvSpPr>
            <p:cNvPr id="47" name="Rectangle 47"/>
            <p:cNvSpPr/>
            <p:nvPr/>
          </p:nvSpPr>
          <p:spPr>
            <a:xfrm>
              <a:off x="5815965" y="3382328"/>
              <a:ext cx="584263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8608" y="35037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39228" y="3503771"/>
              <a:ext cx="731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 I − Q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13570" y="350377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余项给出的范围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86155" y="3903821"/>
              <a:ext cx="617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84465" y="390382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−1.70×10⁻⁵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65016" y="3903821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[−1.59×10⁻⁵, −1.07×10⁻⁵]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41776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15965" y="418242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87834" y="43038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复化梯形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84465" y="430387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−4.93×10⁻³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65016" y="4303871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[−5.98×10⁻³, −4.01×10⁻³]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3382328"/>
              <a:ext cx="5842635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69468" y="338232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830628" y="338232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11012" y="4656296"/>
              <a:ext cx="45680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余项：−(0.4/180)(0.2)⁴exp(η) 与 −0.4×0.2²exp(η)/12，η ∈ [1.1, 1.5]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5815965" y="4977765"/>
            <a:ext cx="5842635" cy="978218"/>
            <a:chOff x="5815965" y="4977765"/>
            <a:chExt cx="5842635" cy="978218"/>
          </a:xfrm>
        </p:grpSpPr>
        <p:sp>
          <p:nvSpPr>
            <p:cNvPr id="64" name="Rectangle 64"/>
            <p:cNvSpPr/>
            <p:nvPr/>
          </p:nvSpPr>
          <p:spPr>
            <a:xfrm>
              <a:off x="5815965" y="4977765"/>
              <a:ext cx="584263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020753" y="5367338"/>
              <a:ext cx="200026" cy="200026"/>
              <a:chOff x="6020753" y="5367338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020753" y="53673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120765" y="54340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109653" y="54673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323457" y="5124450"/>
              <a:ext cx="485717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 的实际误差略超出范围，原因是表中函数值只有 4 位小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数；用精确函数值计算，Simpson 误差为 −1.31×10⁻⁵，落在范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围内。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7749" cy="909257"/>
            <a:chOff x="520446" y="342900"/>
            <a:chExt cx="8227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7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2：导出左矩形、右矩形和中矩形公式的求积余项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3505200" cy="3798570"/>
            <a:chOff x="533400" y="1524000"/>
            <a:chExt cx="3505200" cy="37985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79857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31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686" y="1769269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(1) 左矩形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78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30480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3430" y="2739390"/>
              <a:ext cx="2739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 ∈ C¹[a, b]，在 a 处展开：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f(a) + f′(ξ)(x − a)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360420"/>
              <a:ext cx="2787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积分得 R = ∫ₐᵇ f′(ξ)(x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a)dx；(x − a) ≥ 0 不变号，提出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f′(η)：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79"/>
                <p:cNvSpPr txBox="1">
                  <a:spLocks noGrp="1"/>
                </p:cNvSpPr>
                <p:nvPr/>
              </p:nvSpPr>
              <p:spPr>
                <a:xfrm>
                  <a:off x="781050" y="4242435"/>
                  <a:ext cx="3048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3798570"/>
            <a:chOff x="4343400" y="1524000"/>
            <a:chExt cx="3505200" cy="3798570"/>
          </a:xfrm>
        </p:grpSpPr>
        <p:sp>
          <p:nvSpPr>
            <p:cNvPr id="16" name="Rectangle 16"/>
            <p:cNvSpPr/>
            <p:nvPr/>
          </p:nvSpPr>
          <p:spPr>
            <a:xfrm>
              <a:off x="4343400" y="1524000"/>
              <a:ext cx="3505200" cy="379857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52925" y="1657350"/>
              <a:ext cx="47625" cy="3531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91050" y="1733550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68686" y="1769269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(2) 右矩形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80"/>
                <p:cNvSpPr txBox="1">
                  <a:spLocks noGrp="1"/>
                </p:cNvSpPr>
                <p:nvPr/>
              </p:nvSpPr>
              <p:spPr>
                <a:xfrm>
                  <a:off x="4591050" y="2085975"/>
                  <a:ext cx="30480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4583430" y="2739390"/>
              <a:ext cx="2739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 ∈ C¹[a, b]，在 b 处展开：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f(b) + f′(ξ)(x − b)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83430" y="3360420"/>
              <a:ext cx="2701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积分得 R = ∫ₐᵇ f′(ξ)(x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b)dx；(x − b) ≤ 0 不变号，且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∫ₐᵇ (x − b)dx = −(b − a)²/2：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81"/>
                <p:cNvSpPr txBox="1">
                  <a:spLocks noGrp="1"/>
                </p:cNvSpPr>
                <p:nvPr/>
              </p:nvSpPr>
              <p:spPr>
                <a:xfrm>
                  <a:off x="4591050" y="4242435"/>
                  <a:ext cx="3048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3-card-1"/>
          <p:cNvGrpSpPr/>
          <p:nvPr/>
        </p:nvGrpSpPr>
        <p:grpSpPr>
          <a:xfrm>
            <a:off x="8153400" y="1524000"/>
            <a:ext cx="3505200" cy="3798570"/>
            <a:chOff x="8153400" y="1524000"/>
            <a:chExt cx="3505200" cy="3798570"/>
          </a:xfrm>
        </p:grpSpPr>
        <p:sp>
          <p:nvSpPr>
            <p:cNvPr id="25" name="Rectangle 25"/>
            <p:cNvSpPr/>
            <p:nvPr/>
          </p:nvSpPr>
          <p:spPr>
            <a:xfrm>
              <a:off x="8153400" y="1524000"/>
              <a:ext cx="3505200" cy="379857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62925" y="1657350"/>
              <a:ext cx="47625" cy="3531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01050" y="1733550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78686" y="1769269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(3) 中矩形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82"/>
                <p:cNvSpPr txBox="1">
                  <a:spLocks noGrp="1"/>
                </p:cNvSpPr>
                <p:nvPr/>
              </p:nvSpPr>
              <p:spPr>
                <a:xfrm>
                  <a:off x="8401050" y="2085975"/>
                  <a:ext cx="30480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num>
                              <m:den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8393430" y="2739390"/>
              <a:ext cx="2796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 ∈ C²[a, b]，c = (a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b)/2，f(x) = f(c) + f′(c)(x −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c) + f″(ξ)(x − c)²/2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93430" y="3646170"/>
              <a:ext cx="2758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一次项积分 ∫ₐᵇ (x − c)dx = 0；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 − c)² ≥ 0，∫ₐᵇ (x − c)²dx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(b − a)³/12：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183"/>
                <p:cNvSpPr txBox="1">
                  <a:spLocks noGrp="1"/>
                </p:cNvSpPr>
                <p:nvPr/>
              </p:nvSpPr>
              <p:spPr>
                <a:xfrm>
                  <a:off x="8401050" y="4528185"/>
                  <a:ext cx="3048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24</m:t>
                            </m:r>
                          </m:den>
                        </m:f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728335"/>
              <a:ext cx="9911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左、右矩形公式代数精度为 0，中矩形为 1。中矩形余项系数 1/24 只有梯形公式 1/12 的一半，符号相反。检验：[0,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2] 上 f = x²，中矩形误差 8/3 − 2 = 2/3 = (8/24)×2。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96046" cy="909257"/>
            <a:chOff x="520446" y="342900"/>
            <a:chExt cx="98960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96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3：由加速度记录，用复合 Simpson 公式求火箭速度 v(80)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card-1"/>
          <p:cNvGrpSpPr/>
          <p:nvPr/>
        </p:nvGrpSpPr>
        <p:grpSpPr>
          <a:xfrm>
            <a:off x="533400" y="1524000"/>
            <a:ext cx="6167438" cy="2594610"/>
            <a:chOff x="533400" y="1524000"/>
            <a:chExt cx="6167438" cy="25946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2594610"/>
            </a:xfrm>
            <a:prstGeom prst="roundRect">
              <a:avLst>
                <a:gd name="adj" fmla="val 51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279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339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从地面发射一枚火箭，在最初 80 秒内记录其加速度如下表。设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v(t) 为火箭在第 t 秒的速度，v(0) = 0，利用复合 Simpson 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式求火箭在第 80 秒时的速度 v(80)。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992755"/>
              <a:ext cx="571023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83716" y="3128486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(s)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52602" y="31284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19102" y="31284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34404" y="31284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49707" y="31284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65009" y="31284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81264" y="31284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96567" y="31284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11869" y="31284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28124" y="31284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6357" y="3577114"/>
              <a:ext cx="799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(m/s²)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07586" y="3577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23841" y="3577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39143" y="3577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4446" y="3577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69748" y="3577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6003" y="3577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01306" y="3577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16608" y="3577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2863" y="3577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" y="2992755"/>
              <a:ext cx="5710238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46898" y="29927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362200" y="29927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77502" y="29927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93758" y="29927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909060" y="29927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424362" y="29927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39665" y="29927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55920" y="29927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71222" y="29927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1-steps-2"/>
          <p:cNvGrpSpPr/>
          <p:nvPr/>
        </p:nvGrpSpPr>
        <p:grpSpPr>
          <a:xfrm>
            <a:off x="533400" y="4318635"/>
            <a:ext cx="5908165" cy="1878615"/>
            <a:chOff x="533400" y="4318635"/>
            <a:chExt cx="5908165" cy="1878615"/>
          </a:xfrm>
        </p:grpSpPr>
        <p:sp>
          <p:nvSpPr>
            <p:cNvPr id="44" name="Rectangle 44"/>
            <p:cNvSpPr/>
            <p:nvPr/>
          </p:nvSpPr>
          <p:spPr>
            <a:xfrm>
              <a:off x="666750" y="446151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33400" y="431863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7024" y="43924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33400" y="49701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7024" y="50439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33400" y="562070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7024" y="56945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4880" y="43529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建模与分组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6023" y="4646771"/>
              <a:ext cx="54494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v(80) = v(0) + ∫₀⁸⁰ a(t)dt；9 个节点、8 个小区间，2m = 8，h = 10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4880" y="500443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分类求和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023" y="5297329"/>
              <a:ext cx="4949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奇数号 31 + 35 + 40 + 46 = 152；内部偶数号 33 + 38 + 43 = 114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4880" y="5654992"/>
              <a:ext cx="1299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(6.3.3)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6023" y="5947886"/>
              <a:ext cx="54955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v(80) ≈ (10/3)(29 + 4×152 + 2×114 + 50) = (10/3)×915 =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3050 m/s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7005638" y="1524000"/>
            <a:ext cx="4652962" cy="2834640"/>
            <a:chOff x="7005638" y="1524000"/>
            <a:chExt cx="4652962" cy="2834640"/>
          </a:xfrm>
        </p:grpSpPr>
        <p:sp>
          <p:nvSpPr>
            <p:cNvPr id="58" name="Rectangle 58"/>
            <p:cNvSpPr/>
            <p:nvPr/>
          </p:nvSpPr>
          <p:spPr>
            <a:xfrm>
              <a:off x="7005638" y="1524000"/>
              <a:ext cx="4652962" cy="2834640"/>
            </a:xfrm>
            <a:prstGeom prst="roundRect">
              <a:avLst>
                <a:gd name="adj" fmla="val 4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015162" y="1657350"/>
              <a:ext cx="47625" cy="25679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25328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4444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45668" y="2110740"/>
              <a:ext cx="3910013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引入中的数表：x = 1～5，f = 4, 4.5, 6, 8,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8.5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259002" y="27851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17118" y="2722245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复合梯形（m = 4，h = 1）：4/2 + 4.5 + 6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+ 8.5/2 = 24.75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259002" y="340614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17118" y="3343275"/>
              <a:ext cx="3463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 Simpson（2m = 4，h = 1）：[4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4×(4.5 + 8) + 2×6 + 8.5]/3 = 74.5/3 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24.83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7005638" y="4549140"/>
            <a:ext cx="4652962" cy="1335405"/>
            <a:chOff x="7005638" y="4549140"/>
            <a:chExt cx="4652962" cy="1335405"/>
          </a:xfrm>
        </p:grpSpPr>
        <p:sp>
          <p:nvSpPr>
            <p:cNvPr id="68" name="Rectangle 68"/>
            <p:cNvSpPr/>
            <p:nvPr/>
          </p:nvSpPr>
          <p:spPr>
            <a:xfrm>
              <a:off x="7005638" y="4549140"/>
              <a:ext cx="4652962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210425" y="5116830"/>
              <a:ext cx="200026" cy="200025"/>
              <a:chOff x="7210425" y="5116830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210425" y="51168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250164" y="51612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284879" y="52724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7512368" y="4697730"/>
              <a:ext cx="37871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只有数表时 f⁽⁴⁾ 不知道，余项公式没法直接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估计误差。可以比较两种公式的结果粗略判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断精度：火箭题用复合梯形得 3055 m/s，与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3050 m/s 只差 5。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48036" cy="909257"/>
            <a:chOff x="520446" y="342900"/>
            <a:chExt cx="98480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480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4：用复合抛物线公式求 ∫₋₂² f(x) dx，并给出误差估计式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ard-1"/>
          <p:cNvGrpSpPr/>
          <p:nvPr/>
        </p:nvGrpSpPr>
        <p:grpSpPr>
          <a:xfrm>
            <a:off x="533400" y="1524000"/>
            <a:ext cx="5410200" cy="2069782"/>
            <a:chOff x="533400" y="1524000"/>
            <a:chExt cx="5410200" cy="20697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69782"/>
            </a:xfrm>
            <a:prstGeom prst="roundRect">
              <a:avLst>
                <a:gd name="adj" fmla="val 64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30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96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利用复合抛物线型求积公式求 ∫₋₂² f(x)dx 的近似值，并给出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误差估计式。f(x) 的函数表如下：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58190" y="2589848"/>
              <a:ext cx="499872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08049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78913" y="27112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12350" y="27112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48366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98936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91416" y="2711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7441" y="31113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24522" y="31113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57960" y="31113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50440" y="31113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01010" y="31113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52027" y="311134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8190" y="2589848"/>
              <a:ext cx="4998720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50695" y="25898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584132" y="25898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416618" y="25898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168140" y="25898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18710" y="258984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steps-2"/>
          <p:cNvGrpSpPr/>
          <p:nvPr/>
        </p:nvGrpSpPr>
        <p:grpSpPr>
          <a:xfrm>
            <a:off x="533400" y="3772852"/>
            <a:ext cx="4427875" cy="1685450"/>
            <a:chOff x="533400" y="3772852"/>
            <a:chExt cx="4427875" cy="1685450"/>
          </a:xfrm>
        </p:grpSpPr>
        <p:sp>
          <p:nvSpPr>
            <p:cNvPr id="32" name="Rectangle 32"/>
            <p:cNvSpPr/>
            <p:nvPr/>
          </p:nvSpPr>
          <p:spPr>
            <a:xfrm>
              <a:off x="666750" y="3915728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33400" y="377285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024" y="38466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33400" y="43557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7024" y="44296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33400" y="49387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7024" y="5012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5642" y="38052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6785" y="4072414"/>
              <a:ext cx="2431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− a = 4，5 个节点，2m = 4，h =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5642" y="4388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分类求和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6785" y="4655344"/>
              <a:ext cx="4014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奇数号节点 x = −1, 1：3 + 5 = 8；内部偶数号节点 x = 0：1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5642" y="4971098"/>
              <a:ext cx="1169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(6.3.3)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6785" y="5238274"/>
              <a:ext cx="3750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∫₋₂² f(x)dx ≈ (1/3)(5 + 4×8 + 2×1 + 21) = 60/3 = 20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248400" y="1524000"/>
            <a:ext cx="5410200" cy="2476500"/>
            <a:chOff x="6248400" y="1524000"/>
            <a:chExt cx="5410200" cy="2476500"/>
          </a:xfrm>
        </p:grpSpPr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2476500"/>
            </a:xfrm>
            <a:prstGeom prst="roundRect">
              <a:avLst>
                <a:gd name="adj" fmla="val 538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350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165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误差估计式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28232" y="2054542"/>
              <a:ext cx="2746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 f ∈ C⁴[−2, 2]，由 (6.3.4)：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formula190"/>
                <p:cNvSpPr txBox="1">
                  <a:spLocks noGrp="1"/>
                </p:cNvSpPr>
                <p:nvPr/>
              </p:nvSpPr>
              <p:spPr>
                <a:xfrm>
                  <a:off x="6435090" y="2332672"/>
                  <a:ext cx="503682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180</m:t>
                            </m:r>
                          </m:den>
                        </m:f>
                        <m:sSup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180</m:t>
                            </m:r>
                          </m:den>
                        </m:f>
                        <m:sSup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formula191"/>
                <p:cNvSpPr txBox="1">
                  <a:spLocks noGrp="1"/>
                </p:cNvSpPr>
                <p:nvPr/>
              </p:nvSpPr>
              <p:spPr>
                <a:xfrm>
                  <a:off x="6435090" y="2956560"/>
                  <a:ext cx="503682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45</m:t>
                            </m:r>
                          </m:den>
                        </m:f>
                        <m:sSup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η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2" name="TextBox 52"/>
            <p:cNvSpPr txBox="1"/>
            <p:nvPr/>
          </p:nvSpPr>
          <p:spPr>
            <a:xfrm>
              <a:off x="6428232" y="3603308"/>
              <a:ext cx="2494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 |R| ≤ max|f⁽⁴⁾(x)|/45。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248400" y="4170045"/>
            <a:ext cx="5410200" cy="2004060"/>
            <a:chOff x="6248400" y="4170045"/>
            <a:chExt cx="5410200" cy="2004060"/>
          </a:xfrm>
        </p:grpSpPr>
        <p:sp>
          <p:nvSpPr>
            <p:cNvPr id="54" name="Rectangle 54"/>
            <p:cNvSpPr/>
            <p:nvPr/>
          </p:nvSpPr>
          <p:spPr>
            <a:xfrm>
              <a:off x="6248400" y="4170045"/>
              <a:ext cx="5410200" cy="2004060"/>
            </a:xfrm>
            <a:prstGeom prst="roundRect">
              <a:avLst>
                <a:gd name="adj" fmla="val 6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4303395"/>
              <a:ext cx="47625" cy="17373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3190" y="435673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57759" y="43895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补充观察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6332" y="4701540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 5 个点恰好落在三次多项式 p(x) = x³ + 3x² + 1 上（逐次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 −2, −2, 4, 16 → 0, 6, 12 → 6, 6 → 0）。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6332" y="5258752"/>
              <a:ext cx="44028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f 就是 p，则 f⁽⁴⁾ ≡ 0，结果 20 是精确值：∫₋₂²(x³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3x² + 1)dx = 0 + 16 + 4 = 20。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7475" y="5812631"/>
              <a:ext cx="3147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同样的数据用复合梯形公式得 22，误差为 −2。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13094" cy="909257"/>
            <a:chOff x="520446" y="342900"/>
            <a:chExt cx="105130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130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5：由两点三次 Hermite 插值推出带导数值的求积公式（题目）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842635" cy="4826318"/>
            <a:chOff x="533400" y="1524000"/>
            <a:chExt cx="5842635" cy="48263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826318"/>
            </a:xfrm>
            <a:prstGeom prst="roundRect">
              <a:avLst>
                <a:gd name="adj" fmla="val 2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596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96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5571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f(x) 在 a、b 两点的函数值 f(a)、f(b) 和一阶导数值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f′(a)、f′(b)，其三次 Hermite 插值函数为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04"/>
                <p:cNvSpPr txBox="1">
                  <a:spLocks noGrp="1"/>
                </p:cNvSpPr>
                <p:nvPr/>
              </p:nvSpPr>
              <p:spPr>
                <a:xfrm>
                  <a:off x="758190" y="2589848"/>
                  <a:ext cx="543115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303942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05"/>
                <p:cNvSpPr txBox="1">
                  <a:spLocks noGrp="1"/>
                </p:cNvSpPr>
                <p:nvPr/>
              </p:nvSpPr>
              <p:spPr>
                <a:xfrm>
                  <a:off x="758190" y="3316605"/>
                  <a:ext cx="5431155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num>
                              <m:den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num>
                                  <m:den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06"/>
                <p:cNvSpPr txBox="1">
                  <a:spLocks noGrp="1"/>
                </p:cNvSpPr>
                <p:nvPr/>
              </p:nvSpPr>
              <p:spPr>
                <a:xfrm>
                  <a:off x="758190" y="3940492"/>
                  <a:ext cx="5431155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num>
                              <m:den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num>
                                  <m:den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207"/>
                <p:cNvSpPr txBox="1">
                  <a:spLocks noGrp="1"/>
                </p:cNvSpPr>
                <p:nvPr/>
              </p:nvSpPr>
              <p:spPr>
                <a:xfrm>
                  <a:off x="758190" y="4564380"/>
                  <a:ext cx="5431155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num>
                                  <m:den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num>
                                  <m:den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51332" y="5211128"/>
              <a:ext cx="51143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请写出其余项公式 R₃(x)，并利用 H₃(x) 和 R₃(x) 推导带有导数值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的求积公式及其余项。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680835" y="1524000"/>
            <a:ext cx="4977765" cy="2257425"/>
            <a:chOff x="6680835" y="1524000"/>
            <a:chExt cx="4977765" cy="2257425"/>
          </a:xfrm>
        </p:grpSpPr>
        <p:sp>
          <p:nvSpPr>
            <p:cNvPr id="19" name="Rectangle 19"/>
            <p:cNvSpPr/>
            <p:nvPr/>
          </p:nvSpPr>
          <p:spPr>
            <a:xfrm>
              <a:off x="6680835" y="1524000"/>
              <a:ext cx="4977765" cy="2257425"/>
            </a:xfrm>
            <a:prstGeom prst="roundRect">
              <a:avLst>
                <a:gd name="adj" fmla="val 5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90360" y="1657350"/>
              <a:ext cx="47625" cy="19907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0562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8297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914198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70217" y="2054542"/>
              <a:ext cx="33569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原题 H₃ 的最后一项写作 β₀(x)f′(b)，应为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β₁(x)f′(b)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914198" y="2668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70217" y="2612708"/>
              <a:ext cx="405993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原题余项写作 (b − a)⁵f⁽⁵⁾(η)/(4!·30)，应为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f⁽⁴⁾(η)：[0, 1] 上 f = x⁴ 时误差为 1/30，而 f⁽⁵⁾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≡ 0。原题条件“有直到 5 阶导数”写成 f ∈ C⁴[a, b]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即可</a:t>
              </a:r>
            </a:p>
          </p:txBody>
        </p:sp>
      </p:grpSp>
      <p:grpSp>
        <p:nvGrpSpPr>
          <p:cNvPr id="53" name="c2-table-2"/>
          <p:cNvGrpSpPr/>
          <p:nvPr/>
        </p:nvGrpSpPr>
        <p:grpSpPr>
          <a:xfrm>
            <a:off x="6675882" y="3950970"/>
            <a:ext cx="4982718" cy="2438115"/>
            <a:chOff x="6675882" y="3950970"/>
            <a:chExt cx="4982718" cy="2438115"/>
          </a:xfrm>
        </p:grpSpPr>
        <p:sp>
          <p:nvSpPr>
            <p:cNvPr id="28" name="Rectangle 28"/>
            <p:cNvSpPr/>
            <p:nvPr/>
          </p:nvSpPr>
          <p:spPr>
            <a:xfrm>
              <a:off x="6680835" y="3950970"/>
              <a:ext cx="497776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56653" y="40724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基函数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45090" y="4072414"/>
              <a:ext cx="1365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 x = a + t(b − a)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94544" y="4072414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∫ₐᵇ … dx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65134" y="447246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α₀(x)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4047" y="4472464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+ 2t)(1 − t)²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67782" y="447246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 − a)/2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80835" y="47463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80835" y="475107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65134" y="487251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α₁(x)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45131" y="48725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(3 − 2t)t²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67782" y="487251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 − a)/2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51463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65134" y="527256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β₀(x)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4047" y="5272564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 − a)t(1 − t)²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84856" y="5272564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 − a)²/12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80835" y="55464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0835" y="555117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65134" y="567261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β₁(x)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92584" y="5672614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 − a)(1 − t)t²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43393" y="5672614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 − a)²/12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0835" y="3950970"/>
              <a:ext cx="497776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90510" y="395097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955530" y="395097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75882" y="6025039"/>
              <a:ext cx="4627372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 ∫₀¹(1 + 2t)(1 − t)²dt = ∫₀¹(1 − 3t² + 2t³)dt = 1/2，再乘 dx = (b − a)dt 的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因子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62945" cy="909257"/>
            <a:chOff x="520446" y="342900"/>
            <a:chExt cx="7462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62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5（解）：积分 H₃ 得公式，积分 R₃ 得余项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844796" cy="3061716"/>
            <a:chOff x="533400" y="1533525"/>
            <a:chExt cx="4844796" cy="306171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2926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17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879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8261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插值余项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4431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 ∈ C⁴[a, b]，R₃(x) = f(x) − H₃(x) = f⁽⁴⁾(ξ)(x − a)²(x −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b)²/4!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4045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求积公式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685098"/>
              <a:ext cx="4258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∫ₐᵇ f(x)dx ≈ ∫ₐᵇ H₃(x)dx，代入上一页四个基函数的积分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0208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301365"/>
              <a:ext cx="4294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权函数 (x − a)²(x − b)² ≥ 0 不变号，用加权积分中值定理提出</a:t>
              </a:r>
              <a:br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f⁽⁴⁾(η)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85905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权函数的积分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139565"/>
              <a:ext cx="4294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换元后 ∫ₐᵇ (x − a)²(x − b)²dx = (b − a)⁵∫₀¹ t²(1 − t)²dt =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 − a)⁵/30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766310"/>
            <a:ext cx="5193982" cy="1281112"/>
            <a:chOff x="533400" y="4766310"/>
            <a:chExt cx="5193982" cy="1281112"/>
          </a:xfrm>
        </p:grpSpPr>
        <p:sp>
          <p:nvSpPr>
            <p:cNvPr id="25" name="Rectangle 25"/>
            <p:cNvSpPr/>
            <p:nvPr/>
          </p:nvSpPr>
          <p:spPr>
            <a:xfrm>
              <a:off x="533400" y="4766310"/>
              <a:ext cx="5193982" cy="1281112"/>
            </a:xfrm>
            <a:prstGeom prst="roundRect">
              <a:avLst>
                <a:gd name="adj" fmla="val 892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306378"/>
              <a:ext cx="200026" cy="200026"/>
              <a:chOff x="738188" y="530637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3063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04863" y="538416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4913471"/>
              <a:ext cx="4207383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检验：[0, 1] 上 f = x³ 时公式给出 1/2 − 3/12 =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1/4，精确；f = x⁴ 时给出 1/2 − 4/12 = 1/6，误差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1/5 − 1/6 = 1/30 = 24/720，与余项一致。代数精度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 3。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032182" y="1524000"/>
            <a:ext cx="5626418" cy="1231582"/>
            <a:chOff x="6032182" y="1524000"/>
            <a:chExt cx="5626418" cy="1231582"/>
          </a:xfrm>
        </p:grpSpPr>
        <p:sp>
          <p:nvSpPr>
            <p:cNvPr id="31" name="Rectangle 31"/>
            <p:cNvSpPr/>
            <p:nvPr/>
          </p:nvSpPr>
          <p:spPr>
            <a:xfrm>
              <a:off x="6032182" y="1524000"/>
              <a:ext cx="5626418" cy="1231582"/>
            </a:xfrm>
            <a:prstGeom prst="roundRect">
              <a:avLst>
                <a:gd name="adj" fmla="val 1082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30302" y="172212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93739" y="17564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带导数值的求积公式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214"/>
                <p:cNvSpPr txBox="1">
                  <a:spLocks noGrp="1"/>
                </p:cNvSpPr>
                <p:nvPr/>
              </p:nvSpPr>
              <p:spPr>
                <a:xfrm>
                  <a:off x="6230302" y="2059305"/>
                  <a:ext cx="5230178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card-2"/>
          <p:cNvGrpSpPr/>
          <p:nvPr/>
        </p:nvGrpSpPr>
        <p:grpSpPr>
          <a:xfrm>
            <a:off x="6032182" y="2935605"/>
            <a:ext cx="5626418" cy="2045970"/>
            <a:chOff x="6032182" y="2935605"/>
            <a:chExt cx="5626418" cy="2045970"/>
          </a:xfrm>
        </p:grpSpPr>
        <p:sp>
          <p:nvSpPr>
            <p:cNvPr id="36" name="Rectangle 36"/>
            <p:cNvSpPr/>
            <p:nvPr/>
          </p:nvSpPr>
          <p:spPr>
            <a:xfrm>
              <a:off x="6032182" y="2935605"/>
              <a:ext cx="5626418" cy="2045970"/>
            </a:xfrm>
            <a:prstGeom prst="roundRect">
              <a:avLst>
                <a:gd name="adj" fmla="val 65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41708" y="3068955"/>
              <a:ext cx="47625" cy="17792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68402" y="31337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9842" y="3168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余项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215"/>
                <p:cNvSpPr txBox="1">
                  <a:spLocks noGrp="1"/>
                </p:cNvSpPr>
                <p:nvPr/>
              </p:nvSpPr>
              <p:spPr>
                <a:xfrm>
                  <a:off x="6268402" y="3470910"/>
                  <a:ext cx="5192078" cy="6134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e>
                                </m:d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η</m:t>
                                </m:r>
                              </m:e>
                            </m:d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216"/>
                <p:cNvSpPr txBox="1">
                  <a:spLocks noGrp="1"/>
                </p:cNvSpPr>
                <p:nvPr/>
              </p:nvSpPr>
              <p:spPr>
                <a:xfrm>
                  <a:off x="6268402" y="4173855"/>
                  <a:ext cx="5192078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!⋅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30</m:t>
                            </m:r>
                          </m:den>
                        </m:f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720</m:t>
                            </m:r>
                          </m:den>
                        </m:f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9" name="c2-callout-3"/>
          <p:cNvGrpSpPr/>
          <p:nvPr/>
        </p:nvGrpSpPr>
        <p:grpSpPr>
          <a:xfrm>
            <a:off x="6032182" y="5161598"/>
            <a:ext cx="5626418" cy="1018222"/>
            <a:chOff x="6032182" y="5161598"/>
            <a:chExt cx="5626418" cy="1018222"/>
          </a:xfrm>
        </p:grpSpPr>
        <p:sp>
          <p:nvSpPr>
            <p:cNvPr id="43" name="Rectangle 43"/>
            <p:cNvSpPr/>
            <p:nvPr/>
          </p:nvSpPr>
          <p:spPr>
            <a:xfrm>
              <a:off x="6032182" y="5161598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236970" y="5571173"/>
              <a:ext cx="200026" cy="200025"/>
              <a:chOff x="6236970" y="557117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236970" y="55711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276709" y="56156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311424" y="57267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539294" y="5308759"/>
              <a:ext cx="472135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前一部分就是梯形公式，后一项是对梯形公式的修正。梯形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余项是 O((b − a)³)，加上修正后变成 O((b − a)⁵)。习题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 把它用到每个小区间上。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2418" cy="909257"/>
            <a:chOff x="520446" y="342900"/>
            <a:chExt cx="76124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24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6：利用习题 5 推导带修正项的复合梯形公式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05915"/>
            <a:chOff x="533400" y="1524000"/>
            <a:chExt cx="5410200" cy="1605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5915"/>
            </a:xfrm>
            <a:prstGeom prst="roundRect">
              <a:avLst>
                <a:gd name="adj" fmla="val 83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9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89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 5 题的结果推导带修正项的复合梯形求积公式：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18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4953000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sub>
                          <m: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1-steps-2"/>
          <p:cNvGrpSpPr/>
          <p:nvPr/>
        </p:nvGrpSpPr>
        <p:grpSpPr>
          <a:xfrm>
            <a:off x="533400" y="3329940"/>
            <a:ext cx="5123561" cy="2582514"/>
            <a:chOff x="533400" y="3329940"/>
            <a:chExt cx="5123561" cy="2582514"/>
          </a:xfrm>
        </p:grpSpPr>
        <p:sp>
          <p:nvSpPr>
            <p:cNvPr id="14" name="Rectangle 14"/>
            <p:cNvSpPr/>
            <p:nvPr/>
          </p:nvSpPr>
          <p:spPr>
            <a:xfrm>
              <a:off x="666750" y="347281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3299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403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2157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2895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1006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5174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3642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658076"/>
              <a:ext cx="4353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 = x₀ + kh，每个 [xₖ₋₁, xₖ] 上用习题 5 的公式（b − a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h）：(h/2)(fₖ₋₁ + fₖ) − (h²/12)(f′ₖ − f′ₖ₋₁)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42500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542949"/>
              <a:ext cx="43370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前一部分合起来是复合梯形公式；导数项相邻抵消，Σ(f′ₖ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f′ₖ₋₁) = f′ₙ − f′₀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513492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5428774"/>
              <a:ext cx="47109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 h⁵f⁽⁴⁾(ηₖ)/720，合并得 (xₙ − x₀)h⁴f⁽⁴⁾(η)/720，误差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O(h⁴)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248400" y="1524000"/>
            <a:ext cx="5410200" cy="3362325"/>
            <a:chOff x="6248400" y="1524000"/>
            <a:chExt cx="5410200" cy="336232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3362325"/>
            </a:xfrm>
            <a:prstGeom prst="roundRect">
              <a:avLst>
                <a:gd name="adj" fmla="val 39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30956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7078" y="1768792"/>
              <a:ext cx="43113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数值验证：∫₁² exp(−x²) dx = 0.1352572580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96050" y="2105025"/>
              <a:ext cx="4953000" cy="67532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87467" y="23541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90613" y="2240756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复合梯形的误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47252" y="23541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带修正项的值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68839" y="23541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修正后误差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87467" y="29160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4431" y="2916079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−3.46×10⁻³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90331" y="2916079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0.13526919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25761" y="2916079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−1.19×10⁻⁵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96050" y="322421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6050" y="3228975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87467" y="33647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04431" y="3364706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−8.63×10⁻⁴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90331" y="3364706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0.13525800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25761" y="3364706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−7.47×10⁻⁷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96050" y="367379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37712" y="38133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04431" y="381333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−2.16×10⁻⁴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90331" y="381333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0.13525730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25761" y="381333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−4.67×10⁻⁸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96050" y="2105025"/>
              <a:ext cx="49530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86588" y="210502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73428" y="210502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958388" y="210502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89573" y="4242911"/>
              <a:ext cx="42476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f′(x) = −2x·exp(−x²)，f′(1) = −0.73575888，f′(2) =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−0.07326256。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248400" y="5076825"/>
            <a:ext cx="5410200" cy="1059180"/>
            <a:chOff x="6248400" y="5076825"/>
            <a:chExt cx="5410200" cy="1059180"/>
          </a:xfrm>
        </p:grpSpPr>
        <p:sp>
          <p:nvSpPr>
            <p:cNvPr id="59" name="Rectangle 59"/>
            <p:cNvSpPr/>
            <p:nvPr/>
          </p:nvSpPr>
          <p:spPr>
            <a:xfrm>
              <a:off x="6248400" y="507682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5506405"/>
              <a:ext cx="200023" cy="200023"/>
              <a:chOff x="6453188" y="5506405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5064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86538" y="5573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130" y="5225415"/>
              <a:ext cx="45205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只多用两个端点的导数值，就把复合梯形公式的误差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O(h²) 提高到 O(h⁴)：n 加倍时，修正后的误差降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为约 1/16。修正项正是复合梯形误差的主部。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959408" cy="909257"/>
            <a:chOff x="520446" y="342900"/>
            <a:chExt cx="109594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959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数值实验 1：用 trapz 计算 ∫₁² exp(−x²) dx，步长从 0.1 减到 10⁻⁶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443038"/>
            <a:chOff x="533400" y="1524000"/>
            <a:chExt cx="4977765" cy="1443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3085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Octave 梯形法函数 trapz(x, y) 近似计算积分 ∫₁²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exp(−x²) dx，将步长从 0.1 到 0.000001 变化，看得到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的结果有何变化。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136582"/>
            <a:ext cx="4977765" cy="2027872"/>
            <a:chOff x="533400" y="3136582"/>
            <a:chExt cx="4977765" cy="2027872"/>
          </a:xfrm>
        </p:grpSpPr>
        <p:sp>
          <p:nvSpPr>
            <p:cNvPr id="13" name="Rectangle 13"/>
            <p:cNvSpPr/>
            <p:nvPr/>
          </p:nvSpPr>
          <p:spPr>
            <a:xfrm>
              <a:off x="533400" y="3136582"/>
              <a:ext cx="4977765" cy="2027872"/>
            </a:xfrm>
            <a:prstGeom prst="roundRect">
              <a:avLst>
                <a:gd name="adj" fmla="val 46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288506"/>
              <a:ext cx="805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Octave 脚本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378" y="3550110"/>
              <a:ext cx="3416630" cy="1540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 = @(x) exp(-x.^2);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 = sqrt(pi)/2*(erf(2) - erf(1));  % 精确值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h = 10.^(-1:-1:-6)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% 用 linspace 保证最后一个节点恰为 2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= linspace(1, 2, round(1/h) + 1);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 = trapz(x, f(x));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printf(</a:t>
              </a:r>
              <a:r>
                <a:rPr lang="en-US" sz="10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'%8.0e %.15f %10.2e\n'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h, T, I - T);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811012" y="1524000"/>
            <a:ext cx="5870478" cy="3063906"/>
            <a:chOff x="5811012" y="1524000"/>
            <a:chExt cx="5870478" cy="3063906"/>
          </a:xfrm>
        </p:grpSpPr>
        <p:sp>
          <p:nvSpPr>
            <p:cNvPr id="17" name="Rectangle 17"/>
            <p:cNvSpPr/>
            <p:nvPr/>
          </p:nvSpPr>
          <p:spPr>
            <a:xfrm>
              <a:off x="5815965" y="1524000"/>
              <a:ext cx="584263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4874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2238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68931" y="1645444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trapz 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19170" y="1645444"/>
              <a:ext cx="697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 I − 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97802" y="20454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5624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56262" y="2045494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0.135809644263812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47680" y="20454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−5.52×10⁻⁴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15965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15965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54266" y="24455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4161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56262" y="2445544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0.135262778783331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7680" y="24455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−5.52×10⁻⁶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10729" y="284559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82698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6262" y="2845594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0.135257313158025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47680" y="28455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−5.52×10⁻⁸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15965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54266" y="32456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41235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6262" y="3245644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0.135257258502075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6217" y="32456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−5.52×10⁻¹⁰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54266" y="36456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99772" y="36456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56262" y="3645694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0.135257257955515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06217" y="36456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−5.52×10⁻¹²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9195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15965" y="39243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54266" y="40457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58309" y="40457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1000001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56262" y="4045744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0.135257257950050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06217" y="40457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−5.52×10⁻¹⁴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1524000"/>
              <a:ext cx="584263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4847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5053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07364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11012" y="4397216"/>
              <a:ext cx="5870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精确值 0.135257257949995；表中数值为 Python 双精度复算，Octave 输出的末几位可能略有不同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5815965" y="4719638"/>
            <a:ext cx="5842635" cy="1226820"/>
            <a:chOff x="5815965" y="4719638"/>
            <a:chExt cx="5842635" cy="1226820"/>
          </a:xfrm>
        </p:grpSpPr>
        <p:sp>
          <p:nvSpPr>
            <p:cNvPr id="60" name="Rectangle 60"/>
            <p:cNvSpPr/>
            <p:nvPr/>
          </p:nvSpPr>
          <p:spPr>
            <a:xfrm>
              <a:off x="5815965" y="4719638"/>
              <a:ext cx="5842635" cy="1226820"/>
            </a:xfrm>
            <a:prstGeom prst="roundRect">
              <a:avLst>
                <a:gd name="adj" fmla="val 9317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020753" y="5233037"/>
              <a:ext cx="200023" cy="200023"/>
              <a:chOff x="6020753" y="5233037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020753" y="52330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154103" y="52997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323457" y="4866322"/>
              <a:ext cx="4917186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步长缩小 10 倍，误差缩小 100 倍，符合 O(h²)。误差几乎恰好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等于 −h²(f′(2) − f′(1))/12 = −0.0552h²，就是习题 6 的修正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项。h = 10⁻⁶ 要算 100 万次函数值，而复合 Simpson 用 65 个点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误差就只有 7.3×10⁻¹⁰（下页）。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9091" cy="909257"/>
            <a:chOff x="520446" y="342900"/>
            <a:chExt cx="8389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9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数值实验 2：用抛物线法计算同一积分，误差比趋于 16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2082165"/>
            <a:chOff x="533400" y="1524000"/>
            <a:chExt cx="4977765" cy="2082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82165"/>
            </a:xfrm>
            <a:prstGeom prst="roundRect">
              <a:avLst>
                <a:gd name="adj" fmla="val 64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154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用抛物线法（复合 Simpson 公式）计算第一题的积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 ∫₁² exp(−x²) dx。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28436"/>
              <a:ext cx="435330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现成函数 quad：MATLAB 中是自适应 Simpson 法（默认容差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10⁻⁶，新版推荐 integral），Octave 中调用 QUADPACK，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都会自动加密步长。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796665"/>
            <a:ext cx="4977765" cy="2447925"/>
            <a:chOff x="533400" y="3796665"/>
            <a:chExt cx="4977765" cy="2447925"/>
          </a:xfrm>
        </p:grpSpPr>
        <p:sp>
          <p:nvSpPr>
            <p:cNvPr id="14" name="Rectangle 14"/>
            <p:cNvSpPr/>
            <p:nvPr/>
          </p:nvSpPr>
          <p:spPr>
            <a:xfrm>
              <a:off x="533400" y="3796665"/>
              <a:ext cx="4977765" cy="2447925"/>
            </a:xfrm>
            <a:prstGeom prst="roundRect">
              <a:avLst>
                <a:gd name="adj" fmla="val 38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948589"/>
              <a:ext cx="1901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复合 Simpson 函数（2m 等分）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0654" y="4211955"/>
              <a:ext cx="4203192" cy="1964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02"/>
                </a:lnSpc>
              </a:pP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function S = simpson(f, a, b, m)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h = (b - a)/(2*m);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y = f(a + (0:2*m)*h);    % y(1) 对应 x0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% y(2:2:end-1): x1,x3,…  y(3:2:end-2): x2,x4,…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 = h/3*(y(1) + y(end) + 4*sum(y(2:2:end-1)) ...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+ 2*sum(y(3:2:end-2)));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% 调用：simpson(@(x) exp(-x.^2), 1, 2, 8)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% 现成函数：quad(@(x) exp(-x.^2), 1, 2)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5810250" y="1524000"/>
            <a:ext cx="5848350" cy="3437097"/>
            <a:chOff x="5810250" y="1524000"/>
            <a:chExt cx="5848350" cy="3437097"/>
          </a:xfrm>
        </p:grpSpPr>
        <p:sp>
          <p:nvSpPr>
            <p:cNvPr id="18" name="Rectangle 18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0019" y="1659731"/>
              <a:ext cx="248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7893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29318" y="1659731"/>
              <a:ext cx="1105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复合 Simpson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53096" y="1659731"/>
              <a:ext cx="7972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 I − 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4216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7786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86529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2128" y="2108359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0.134631996385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18779" y="210835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6.25×10⁻⁴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5325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7786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39143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12128" y="2556986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0.135210130610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18779" y="255698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4.71×10⁻⁵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11093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7786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91757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12128" y="30056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0.135254276050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18779" y="300561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2.98×10⁻⁶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11093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8112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44371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0.0625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12128" y="3454241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0.135257071211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18779" y="345424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1.87×10⁻⁷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11093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16.0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28112" y="390382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96984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0.03125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12128" y="3903821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0.135257246274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18779" y="390382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1.17×10⁻⁸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11093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16.0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15965" y="421671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28112" y="43524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49598" y="435244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0.015625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12128" y="4352449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0.135257257220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71393" y="4352449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7.30×10⁻¹⁰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11093" y="43524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16.0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1524000"/>
              <a:ext cx="584263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4747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61238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4116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75182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810250" y="4741069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误差比 = 上一行误差 / 本行误差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5815965" y="5107305"/>
            <a:ext cx="5842635" cy="782955"/>
            <a:chOff x="5815965" y="5107305"/>
            <a:chExt cx="5842635" cy="782955"/>
          </a:xfrm>
        </p:grpSpPr>
        <p:sp>
          <p:nvSpPr>
            <p:cNvPr id="69" name="Rectangle 69"/>
            <p:cNvSpPr/>
            <p:nvPr/>
          </p:nvSpPr>
          <p:spPr>
            <a:xfrm>
              <a:off x="5815965" y="510730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020753" y="5398772"/>
              <a:ext cx="200023" cy="200023"/>
              <a:chOff x="6020753" y="5398772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020753" y="53987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154103" y="54654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322695" y="5255895"/>
              <a:ext cx="4901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步长减半，误差比趋于 2⁴ = 16，与 (6.3.4) 的 O(h⁴) 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致；步长大时 f⁽⁴⁾(η) 变化还大，比值偏离 16。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7542" cy="909257"/>
            <a:chOff x="520446" y="342900"/>
            <a:chExt cx="24275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291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求积公式 ∫₀¹ f(x)dx ≈ f(0)/4 + 3f(2/3)/4 的代数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精度是几？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1、x、x² 分别得 1、1/2、1/3，都精确；对 x³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(3/4)(8/27) = 2/9 ≠ 1/4。代数精度为 2。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2223135"/>
            <a:chOff x="533400" y="365188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71630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+ 1 个节点的插值型求积公式代数精度至少是几？等距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节点、n 为偶数时呢？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 n（定理 6.1）；Newton-Cotes 公式 n 为偶数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时为 n + 1，因为节点对称使 xⁿ⁺¹ 的余项积分为 0。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223135"/>
            <a:chOff x="6248400" y="1524000"/>
            <a:chExt cx="5410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6429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分别用梯形公式和 Simpson 公式计算 ∫₀² x⁴dx，并用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余项公式验证 Simpson 的误差。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682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(2/2)(0 + 16) = 16，S = (2/6)(0 + 4 + 16)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20/3，精确值 32/5。Simpson 误差 −4/15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−(2/180)×1⁴×24。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937635"/>
            <a:ext cx="5410200" cy="1937385"/>
            <a:chOff x="6248400" y="393763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9376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524375"/>
              <a:ext cx="4425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为什么一般不用 n ≥ 8 的 Newton-Cotes 公式？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625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出现负系数后 Σ|Cₖ| &gt; 1，函数值的舍入误差被放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大，不稳定；高次插值还有 Runge 现象，n 增大时不保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证收敛。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7542" cy="909257"/>
            <a:chOff x="520446" y="342900"/>
            <a:chExt cx="24275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自测题（续）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复合梯形公式步长减半，误差约变为原来的几分之一？复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 Simpson 呢？需要什么前提？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1/4 与约 1/16；前提是 f″（或 f⁽⁴⁾）连续且在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区间上变化不大，使余项中的导数值近似不变。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2508885"/>
            <a:chOff x="533400" y="3651885"/>
            <a:chExt cx="5410200" cy="25088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381809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∫₀¹ dx/(1 + x) 已算得 T₁ = 0.75、T₂ =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0.708333，求 S₁ 并与 ln 2 比较。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 = (4T₂ − T₁)/3 = 0.694444；ln 2 = 0.693147，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 误差约 −1.3×10⁻³，T₂ 误差约 −1.5×10⁻²。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508885"/>
            <a:chOff x="6248400" y="1524000"/>
            <a:chExt cx="5410200" cy="25088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14385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用复合梯形公式计算 ∫₀¹ eˣdx，要求误差不超过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10⁻⁴，至少分多少段？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5967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|R| ≤ (b − a)h²·max eˣ/12 = eh²/12 ≤ 10⁻⁴，h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0.0210，m = 1/h ≥ 47.6，取 m = 48。若改用复合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Simpson：eh⁴/180 ≤ 10⁻⁴，h ≤ 0.285，取 2m = 4 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可（实际误差 3.7×10⁻⁵）。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4223385"/>
            <a:ext cx="5410200" cy="1937385"/>
            <a:chOff x="6248400" y="42233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42233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4432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4468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810125"/>
              <a:ext cx="3984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 Simpson 公式对节点个数有什么要求？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5145405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小区间数必须是偶数 2m，节点数 2m + 1 为奇数；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每两个相邻小区间组成一组用一次 Simpson 公式。例如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个节点对应 2m = 8，共 m = 4 组。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7542" cy="909257"/>
            <a:chOff x="520446" y="342900"/>
            <a:chExt cx="24275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第6章 数值积分 · 习题与数值实验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6492240" cy="2800350"/>
            <a:chOff x="533400" y="1524000"/>
            <a:chExt cx="6492240" cy="2800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605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638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代数精度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0502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7465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6056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647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33851" y="2045494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−(b−a)³f″(η)/12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5935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193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241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603" y="2445544"/>
              <a:ext cx="617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Simpson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6647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67999" y="2445544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−(b−a)⁵f⁽⁴⁾(η)/2880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5935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193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86685" y="2845594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Cotes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6647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26536" y="28455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−2(b−a)h⁶f⁽⁶⁾(η)/945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935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194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242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5281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复合梯形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6647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92388" y="3245644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−(b−a)h²f″(η)/12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72126" y="324564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O(h²)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194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8889" y="3645694"/>
              <a:ext cx="967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 Simpson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66470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67999" y="3645694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−(b−a)h⁴f⁽⁴⁾(η)/180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2126" y="364569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O(h⁴)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195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9243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7235" y="4045744"/>
              <a:ext cx="1090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Romberg 值 Rₙ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6647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39393" y="4045744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 充分光滑）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2126" y="404574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O(h⁸)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649224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08692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93084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98170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bullets-2"/>
          <p:cNvGrpSpPr/>
          <p:nvPr/>
        </p:nvGrpSpPr>
        <p:grpSpPr>
          <a:xfrm>
            <a:off x="533400" y="4504372"/>
            <a:ext cx="5280573" cy="893636"/>
            <a:chOff x="533400" y="4504372"/>
            <a:chExt cx="5280573" cy="893636"/>
          </a:xfrm>
        </p:grpSpPr>
        <p:sp>
          <p:nvSpPr>
            <p:cNvPr id="49" name="Ellipse 49"/>
            <p:cNvSpPr/>
            <p:nvPr/>
          </p:nvSpPr>
          <p:spPr>
            <a:xfrm>
              <a:off x="533400" y="450437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9078" y="45427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4197" y="451675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代数精度：依次代入 1, x, x², …；n + 1 点公式 ≥ n ⇔ 插值型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33400" y="481298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9078" y="48513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4197" y="4825365"/>
              <a:ext cx="4999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余项：权函数不变号用加权中值定理，变号改用 Hermite 插值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33400" y="512159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9078" y="51599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4197" y="5133975"/>
              <a:ext cx="4950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高阶 Newton-Cotes 不稳定，改用复合公式与 Romberg 外推</a:t>
              </a:r>
            </a:p>
          </p:txBody>
        </p:sp>
      </p:grpSp>
      <p:grpSp>
        <p:nvGrpSpPr>
          <p:cNvPr id="73" name="c2-card-1"/>
          <p:cNvGrpSpPr/>
          <p:nvPr/>
        </p:nvGrpSpPr>
        <p:grpSpPr>
          <a:xfrm>
            <a:off x="7330440" y="1524000"/>
            <a:ext cx="4328160" cy="3820478"/>
            <a:chOff x="7330440" y="1524000"/>
            <a:chExt cx="4328160" cy="3820478"/>
          </a:xfrm>
        </p:grpSpPr>
        <p:sp>
          <p:nvSpPr>
            <p:cNvPr id="59" name="Rectangle 59"/>
            <p:cNvSpPr/>
            <p:nvPr/>
          </p:nvSpPr>
          <p:spPr>
            <a:xfrm>
              <a:off x="7330440" y="1524000"/>
              <a:ext cx="4328160" cy="3820478"/>
            </a:xfrm>
            <a:prstGeom prst="roundRect">
              <a:avLst>
                <a:gd name="adj" fmla="val 34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39965" y="1657350"/>
              <a:ext cx="47625" cy="35537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555230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17396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563802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19822" y="2054542"/>
              <a:ext cx="32884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x²√(2x² + 3) 的原函数首项应为 (1/4)x³√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(2x² + 3)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563802" y="2668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719822" y="2612708"/>
              <a:ext cx="34169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 Cotes 系数：n = 8 出现，n = 9 全正，n 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都有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563802" y="322611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19822" y="3169920"/>
              <a:ext cx="2721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思考题“n 为奇数”应为“n 为偶数”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563802" y="352615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19822" y="3469958"/>
              <a:ext cx="29798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1 中 exp(1.1) = 3.0042（原表为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1.000）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563802" y="408336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719822" y="4027170"/>
              <a:ext cx="29197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5 应为 β₁(x)f′(b)，余项中应为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f⁽⁴⁾(η)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74" name="Rectangle 74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5779770"/>
              <a:ext cx="100178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复习重点：会求代数精度和待定系数；记住梯形、Simpson 公式及余项中 h 的含义；能手算复合梯形、复合 Simpson，并用余项估计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误差或步长。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第6章 数值积分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uma_ch6">
  <a:themeElements>
    <a:clrScheme name="numa_ch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uma_ch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uma_ch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2026-09-17T10:03:38Z</dcterms:created>
  <dcterms:modified xsi:type="dcterms:W3CDTF">2026-09-17T10:03:38Z</dcterms:modified>
  <cp:category/>
  <cp:contentStatus/>
</cp:coreProperties>
</file>