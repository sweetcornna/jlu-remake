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ch2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ch2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b3d99c3fdebad3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0ba1faf5394fe31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e0f4e61cf7a3a36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26" t="0" r="27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72100" cy="4077843"/>
            <a:chOff x="666750" y="1619250"/>
            <a:chExt cx="5372100" cy="407784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第2章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372100" cy="14592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解线性方程组的数值法</a:t>
              </a:r>
              <a:br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（上）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78714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4107180"/>
              <a:ext cx="3431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消元、三角分解与选主元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46167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4561522"/>
              <a:ext cx="1664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Gauss 消元与计算量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9072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852035"/>
              <a:ext cx="186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LU、平方根法与追赶法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519779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51425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列主元与全主元消去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548830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54330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迭代改善、行列式与逆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078101" cy="205359"/>
            <a:chOff x="680466" y="6192202"/>
            <a:chExt cx="507810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078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自学复习版｜据吉林大学《计算方法》第2章课件（2.1–2.4 节）整理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16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4262" y="407194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agenda-1"/>
          <p:cNvGrpSpPr/>
          <p:nvPr/>
        </p:nvGrpSpPr>
        <p:grpSpPr>
          <a:xfrm>
            <a:off x="521970" y="1515428"/>
            <a:ext cx="6287453" cy="3153060"/>
            <a:chOff x="521970" y="1515428"/>
            <a:chExt cx="6287453" cy="315306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引入与预备知识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491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PageRank 等实例，直接法与迭代法，特殊矩阵、初等矩阵、非奇异的等价条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1402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《九章算术》例题，消元与回代，计算量与存储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矩阵的三角分解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5387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LU 分解（Doolittle、Crout、LDU），平方根法与 LDLᵀ 分解，追赶法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消元法在计算机上的实现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选主元的必要性与方法，迭代改善，行列式和逆矩阵的计算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3" name="Rectangle 23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5702" y="211074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3 阶方程组的 Gauss 消元与回代，说出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计算量约 n³/3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5702" y="273177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Doolittle 公式求 LU 分解，再依次解 Ly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b、Ux = y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335280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对对称正定矩阵做 LLᵀ 或 LDLᵀ 分解，用追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赶法解三对角方程组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说明小主元的危害，按列主元消去法求解并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PA = LU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用三角分解求行列式和逆矩阵，说出迭代改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善的步骤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引入与预备知识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线性方程组从哪里来，求解之前要准备哪些矩阵知识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实际问题与方程组的形式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直接法与迭代法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特殊矩阵、初等矩阵与非奇异性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317" cy="909257"/>
            <a:chOff x="520446" y="342900"/>
            <a:chExt cx="75413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3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PageRank：网页排名归结为一个 4 阶线性方程组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159828" y="1442402"/>
            <a:ext cx="3161664" cy="2108518"/>
            <a:chOff x="1159828" y="1442402"/>
            <a:chExt cx="3161664" cy="2108518"/>
          </a:xfrm>
        </p:grpSpPr>
        <p:sp>
          <p:nvSpPr>
            <p:cNvPr id="7" name="Freeform 7"/>
            <p:cNvSpPr/>
            <p:nvPr/>
          </p:nvSpPr>
          <p:spPr>
            <a:xfrm>
              <a:off x="1586865" y="2007870"/>
              <a:ext cx="2351722" cy="420687"/>
            </a:xfrm>
            <a:custGeom>
              <a:avLst/>
              <a:gdLst/>
              <a:ahLst/>
              <a:cxnLst/>
              <a:rect l="l" t="t" r="r" b="b"/>
              <a:pathLst>
                <a:path w="2351722" h="420687">
                  <a:moveTo>
                    <a:pt x="0" y="0"/>
                  </a:moveTo>
                  <a:cubicBezTo>
                    <a:pt x="812800" y="406400"/>
                    <a:pt x="1596708" y="420687"/>
                    <a:pt x="2351722" y="4286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917632" y="2007870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0"/>
                  </a:moveTo>
                  <a:lnTo>
                    <a:pt x="42862" y="84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72590" y="1442402"/>
              <a:ext cx="2351722" cy="420687"/>
            </a:xfrm>
            <a:custGeom>
              <a:avLst/>
              <a:gdLst/>
              <a:ahLst/>
              <a:cxnLst/>
              <a:rect l="l" t="t" r="r" b="b"/>
              <a:pathLst>
                <a:path w="2351722" h="420687">
                  <a:moveTo>
                    <a:pt x="2351722" y="420687"/>
                  </a:moveTo>
                  <a:cubicBezTo>
                    <a:pt x="1539558" y="14288"/>
                    <a:pt x="755650" y="0"/>
                    <a:pt x="0" y="37782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86865" y="1778318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0" y="84773"/>
                  </a:moveTo>
                  <a:lnTo>
                    <a:pt x="63818" y="0"/>
                  </a:lnTo>
                  <a:lnTo>
                    <a:pt x="106680" y="847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9828" y="2080260"/>
              <a:ext cx="209867" cy="1088707"/>
            </a:xfrm>
            <a:custGeom>
              <a:avLst/>
              <a:gdLst/>
              <a:ahLst/>
              <a:cxnLst/>
              <a:rect l="l" t="t" r="r" b="b"/>
              <a:pathLst>
                <a:path w="209867" h="1088707">
                  <a:moveTo>
                    <a:pt x="209867" y="0"/>
                  </a:moveTo>
                  <a:cubicBezTo>
                    <a:pt x="14288" y="391160"/>
                    <a:pt x="0" y="754062"/>
                    <a:pt x="167005" y="1088707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84922" y="3147060"/>
              <a:ext cx="84773" cy="106680"/>
            </a:xfrm>
            <a:custGeom>
              <a:avLst/>
              <a:gdLst/>
              <a:ahLst/>
              <a:cxnLst/>
              <a:rect l="l" t="t" r="r" b="b"/>
              <a:pathLst>
                <a:path w="84773" h="106680">
                  <a:moveTo>
                    <a:pt x="84773" y="106680"/>
                  </a:moveTo>
                  <a:lnTo>
                    <a:pt x="0" y="42862"/>
                  </a:lnTo>
                  <a:lnTo>
                    <a:pt x="8477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14475" y="2165032"/>
              <a:ext cx="209867" cy="1088708"/>
            </a:xfrm>
            <a:custGeom>
              <a:avLst/>
              <a:gdLst/>
              <a:ahLst/>
              <a:cxnLst/>
              <a:rect l="l" t="t" r="r" b="b"/>
              <a:pathLst>
                <a:path w="209867" h="1088708">
                  <a:moveTo>
                    <a:pt x="0" y="1088708"/>
                  </a:moveTo>
                  <a:cubicBezTo>
                    <a:pt x="195580" y="697548"/>
                    <a:pt x="209867" y="334645"/>
                    <a:pt x="4286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14475" y="208026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0"/>
                  </a:moveTo>
                  <a:lnTo>
                    <a:pt x="85725" y="63817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584960" y="2011680"/>
              <a:ext cx="2357437" cy="1264920"/>
            </a:xfrm>
            <a:custGeom>
              <a:avLst/>
              <a:gdLst/>
              <a:ahLst/>
              <a:cxnLst/>
              <a:rect l="l" t="t" r="r" b="b"/>
              <a:pathLst>
                <a:path w="2357437" h="1264920">
                  <a:moveTo>
                    <a:pt x="0" y="0"/>
                  </a:moveTo>
                  <a:lnTo>
                    <a:pt x="2357437" y="12649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19538" y="323469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382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584960" y="2057400"/>
              <a:ext cx="2357437" cy="1264920"/>
            </a:xfrm>
            <a:custGeom>
              <a:avLst/>
              <a:gdLst/>
              <a:ahLst/>
              <a:cxnLst/>
              <a:rect l="l" t="t" r="r" b="b"/>
              <a:pathLst>
                <a:path w="2357437" h="1264920">
                  <a:moveTo>
                    <a:pt x="0" y="1264920"/>
                  </a:moveTo>
                  <a:lnTo>
                    <a:pt x="235743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19538" y="201168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0"/>
                  </a:moveTo>
                  <a:lnTo>
                    <a:pt x="45720" y="8763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69092" y="2097405"/>
              <a:ext cx="9525" cy="1043940"/>
            </a:xfrm>
            <a:custGeom>
              <a:avLst/>
              <a:gdLst/>
              <a:ahLst/>
              <a:cxnLst/>
              <a:rect l="l" t="t" r="r" b="b"/>
              <a:pathLst>
                <a:path w="9525" h="1043940">
                  <a:moveTo>
                    <a:pt x="0" y="0"/>
                  </a:moveTo>
                  <a:lnTo>
                    <a:pt x="0" y="10439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21468" y="31413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699260" y="3398520"/>
              <a:ext cx="2307908" cy="9525"/>
            </a:xfrm>
            <a:custGeom>
              <a:avLst/>
              <a:gdLst/>
              <a:ahLst/>
              <a:cxnLst/>
              <a:rect l="l" t="t" r="r" b="b"/>
              <a:pathLst>
                <a:path w="2307908" h="9525">
                  <a:moveTo>
                    <a:pt x="230790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604010" y="33508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289685" y="17830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016692" y="17830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016692" y="32461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289685" y="32461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93626" y="18697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0633" y="18697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20633" y="33327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93626" y="33327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3979545"/>
            <a:ext cx="4544378" cy="978218"/>
            <a:chOff x="533400" y="3979545"/>
            <a:chExt cx="4544378" cy="978218"/>
          </a:xfrm>
        </p:grpSpPr>
        <p:sp>
          <p:nvSpPr>
            <p:cNvPr id="32" name="Rectangle 32"/>
            <p:cNvSpPr/>
            <p:nvPr/>
          </p:nvSpPr>
          <p:spPr>
            <a:xfrm>
              <a:off x="533400" y="3979545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369118"/>
              <a:ext cx="200026" cy="200026"/>
              <a:chOff x="738188" y="436911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3691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4435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44691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4126230"/>
              <a:ext cx="36484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 j 有 k 条出链，就把自己的得分平分成 k 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传给它链向的网页。A 链向 B、C、D，各传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1/3，这就是 M 的第 1 列。</a:t>
              </a:r>
            </a:p>
          </p:txBody>
        </p:sp>
      </p:grpSp>
      <p:grpSp>
        <p:nvGrpSpPr>
          <p:cNvPr id="45" name="c1-callout-3"/>
          <p:cNvGrpSpPr/>
          <p:nvPr/>
        </p:nvGrpSpPr>
        <p:grpSpPr>
          <a:xfrm>
            <a:off x="533400" y="5128260"/>
            <a:ext cx="4544378" cy="978218"/>
            <a:chOff x="533400" y="5128260"/>
            <a:chExt cx="4544378" cy="978218"/>
          </a:xfrm>
        </p:grpSpPr>
        <p:sp>
          <p:nvSpPr>
            <p:cNvPr id="39" name="Rectangle 39"/>
            <p:cNvSpPr/>
            <p:nvPr/>
          </p:nvSpPr>
          <p:spPr>
            <a:xfrm>
              <a:off x="533400" y="5128260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513188"/>
              <a:ext cx="224134" cy="192560"/>
              <a:chOff x="726129" y="5513188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5583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513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661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5273992"/>
              <a:ext cx="369989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 4 个方程线性相关（M − I 的秩为 3），要把其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中一个换成 pr1 + pr2 + pr3 + pr4 = 1，才得到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有唯一解的 4 阶方程组。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13"/>
              <p:cNvSpPr txBox="1">
                <a:spLocks noGrp="1"/>
              </p:cNvSpPr>
              <p:nvPr/>
            </p:nvSpPr>
            <p:spPr>
              <a:xfrm>
                <a:off x="5382578" y="1524000"/>
                <a:ext cx="6276022" cy="1260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Pr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Pr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14"/>
              <p:cNvSpPr txBox="1">
                <a:spLocks noGrp="1"/>
              </p:cNvSpPr>
              <p:nvPr/>
            </p:nvSpPr>
            <p:spPr>
              <a:xfrm>
                <a:off x="5382578" y="2953702"/>
                <a:ext cx="6276022" cy="1260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Pr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54" name="c2-card-3"/>
          <p:cNvGrpSpPr/>
          <p:nvPr/>
        </p:nvGrpSpPr>
        <p:grpSpPr>
          <a:xfrm>
            <a:off x="5382578" y="4384358"/>
            <a:ext cx="6276022" cy="1857375"/>
            <a:chOff x="5382578" y="4384358"/>
            <a:chExt cx="6276022" cy="1857375"/>
          </a:xfrm>
        </p:grpSpPr>
        <p:sp>
          <p:nvSpPr>
            <p:cNvPr id="48" name="Rectangle 48"/>
            <p:cNvSpPr/>
            <p:nvPr/>
          </p:nvSpPr>
          <p:spPr>
            <a:xfrm>
              <a:off x="5382578" y="4384358"/>
              <a:ext cx="6276022" cy="1857375"/>
            </a:xfrm>
            <a:prstGeom prst="roundRect">
              <a:avLst>
                <a:gd name="adj" fmla="val 717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69268" y="457104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5991" y="460390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15"/>
                <p:cNvSpPr txBox="1">
                  <a:spLocks noGrp="1"/>
                </p:cNvSpPr>
                <p:nvPr/>
              </p:nvSpPr>
              <p:spPr>
                <a:xfrm>
                  <a:off x="5569268" y="4892992"/>
                  <a:ext cx="5902642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34</m:t>
                                </m:r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formula16"/>
                <p:cNvSpPr txBox="1">
                  <a:spLocks noGrp="1"/>
                </p:cNvSpPr>
                <p:nvPr/>
              </p:nvSpPr>
              <p:spPr>
                <a:xfrm>
                  <a:off x="5569268" y="5376862"/>
                  <a:ext cx="5902642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0.26471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0.23529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0.20588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0.29412</m:t>
                                </m:r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3" name="TextBox 53"/>
            <p:cNvSpPr txBox="1"/>
            <p:nvPr/>
          </p:nvSpPr>
          <p:spPr>
            <a:xfrm>
              <a:off x="5563552" y="5879306"/>
              <a:ext cx="2242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的得分最高，排第一；C 最低。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从鸡兔同笼到天气预报：很多问题最后都要解线性方程组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085398" cy="4777740"/>
            <a:chOff x="533400" y="1524000"/>
            <a:chExt cx="5085398" cy="47777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477774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110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9202" y="1768792"/>
              <a:ext cx="2628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鸡兔同笼：20 个头，54 条腿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设鸡 x 只、兔 y 只，按头数和腿数列方程：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628198" cy="891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54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Ellipse 14"/>
            <p:cNvSpPr/>
            <p:nvPr/>
          </p:nvSpPr>
          <p:spPr>
            <a:xfrm>
              <a:off x="781050" y="343852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34808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3451860"/>
              <a:ext cx="3910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消元：第 2 个方程减去第 1 个方程的 2 倍，得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2y = 14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405955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41018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4072890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回代：y = 7，代入第 1 个方程得 x = 13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4404836"/>
              <a:ext cx="42151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答：鸡 13 只，兔 7 只。先消去一个未知数、再回代，就是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Gauss 消元法的雏形。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9396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写成矩阵形式：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20"/>
                <p:cNvSpPr txBox="1">
                  <a:spLocks noGrp="1"/>
                </p:cNvSpPr>
                <p:nvPr/>
              </p:nvSpPr>
              <p:spPr>
                <a:xfrm>
                  <a:off x="781050" y="5250180"/>
                  <a:ext cx="4628198" cy="8229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bullets-1"/>
          <p:cNvGrpSpPr/>
          <p:nvPr/>
        </p:nvGrpSpPr>
        <p:grpSpPr>
          <a:xfrm>
            <a:off x="5915978" y="1548765"/>
            <a:ext cx="5520690" cy="2312670"/>
            <a:chOff x="5915978" y="1548765"/>
            <a:chExt cx="5520690" cy="2312670"/>
          </a:xfrm>
        </p:grpSpPr>
        <p:sp>
          <p:nvSpPr>
            <p:cNvPr id="24" name="TextBox 24"/>
            <p:cNvSpPr txBox="1"/>
            <p:nvPr/>
          </p:nvSpPr>
          <p:spPr>
            <a:xfrm>
              <a:off x="5915978" y="15487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最后都要解线性方程组的实际问题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929312" y="196596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87428" y="190309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数值天气预报：大气运动方程离散后得到大规模方程组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929312" y="23107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87428" y="22479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石油地震数据处理、计算流体力学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929312" y="26555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7428" y="2592705"/>
              <a:ext cx="4287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有限元模型：结构受力分析化为刚度方程 Ku = f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929312" y="300037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87428" y="293751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偏微分方程的数值解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929312" y="334518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87428" y="3282315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差分法解常微分方程边值问题、三次样条插值：系数矩阵是三对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角矩阵（2.3.4 节）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5923598" y="3992880"/>
            <a:ext cx="5735002" cy="782955"/>
            <a:chOff x="5923598" y="3992880"/>
            <a:chExt cx="5735002" cy="782955"/>
          </a:xfrm>
        </p:grpSpPr>
        <p:sp>
          <p:nvSpPr>
            <p:cNvPr id="36" name="Rectangle 36"/>
            <p:cNvSpPr/>
            <p:nvPr/>
          </p:nvSpPr>
          <p:spPr>
            <a:xfrm>
              <a:off x="5923598" y="3992880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128385" y="4284347"/>
              <a:ext cx="200023" cy="200023"/>
              <a:chOff x="6128385" y="4284347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128385" y="42843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261735" y="43510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430328" y="414147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线性方程组的数值解法是计算方法最基础的内容之一，后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面的插值、数值微分方程都会反复用到。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5923598" y="4966335"/>
            <a:ext cx="5735002" cy="1059180"/>
            <a:chOff x="5923598" y="4966335"/>
            <a:chExt cx="5735002" cy="1059180"/>
          </a:xfrm>
        </p:grpSpPr>
        <p:sp>
          <p:nvSpPr>
            <p:cNvPr id="42" name="Rectangle 42"/>
            <p:cNvSpPr/>
            <p:nvPr/>
          </p:nvSpPr>
          <p:spPr>
            <a:xfrm>
              <a:off x="5923598" y="4966335"/>
              <a:ext cx="573500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128385" y="5395913"/>
              <a:ext cx="200026" cy="200026"/>
              <a:chOff x="6128385" y="539591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128385" y="53959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28398" y="5462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217285" y="54959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430328" y="5114925"/>
              <a:ext cx="4815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“方程”一词出自《九章算术》第八卷“方程”章，那里讲的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正是把系数用算筹排成方阵来解线性方程组（见第 13、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页）。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线性方程组的一般形式、解与同解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235577" cy="293370"/>
            <a:chOff x="525780" y="1548765"/>
            <a:chExt cx="423557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个未知数、m 个方程组成的线性代数方程组：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3"/>
              <p:cNvSpPr txBox="1">
                <a:spLocks noGrp="1"/>
              </p:cNvSpPr>
              <p:nvPr/>
            </p:nvSpPr>
            <p:spPr>
              <a:xfrm>
                <a:off x="533400" y="1973580"/>
                <a:ext cx="5626418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1n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2n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⋯⋯⋯⋯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m2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mn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1-kv-3"/>
          <p:cNvGrpSpPr/>
          <p:nvPr/>
        </p:nvGrpSpPr>
        <p:grpSpPr>
          <a:xfrm>
            <a:off x="525780" y="3629025"/>
            <a:ext cx="5634038" cy="2177415"/>
            <a:chOff x="525780" y="3629025"/>
            <a:chExt cx="5634038" cy="2177415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3629025"/>
              <a:ext cx="1007269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齐次 / 非齐</a:t>
              </a:r>
              <a:br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76425" y="3629025"/>
              <a:ext cx="39776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 b1 = b2 = … = bm = 0 时称为齐次方程组，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否则称为非齐次方程组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42310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435102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6425" y="4351020"/>
              <a:ext cx="35871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有序数组 (k1, k2, …, kn)，用它代替 x1,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x2, …, xn 后 (1) 的每个等式都成立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9530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50730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解集合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6425" y="507301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方程组 (1) 的解的全体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3930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55130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同解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76425" y="55130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两个方程组的解集合相同</a:t>
              </a:r>
            </a:p>
          </p:txBody>
        </p:sp>
      </p:grpSp>
      <p:grpSp>
        <p:nvGrpSpPr>
          <p:cNvPr id="23" name="c2-text-1"/>
          <p:cNvGrpSpPr/>
          <p:nvPr/>
        </p:nvGrpSpPr>
        <p:grpSpPr>
          <a:xfrm>
            <a:off x="6456998" y="1548765"/>
            <a:ext cx="2185988" cy="293370"/>
            <a:chOff x="6456998" y="1548765"/>
            <a:chExt cx="2185988" cy="293370"/>
          </a:xfrm>
        </p:grpSpPr>
        <p:sp>
          <p:nvSpPr>
            <p:cNvPr id="22" name="TextBox 22"/>
            <p:cNvSpPr txBox="1"/>
            <p:nvPr/>
          </p:nvSpPr>
          <p:spPr>
            <a:xfrm>
              <a:off x="6456998" y="1548765"/>
              <a:ext cx="218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n 时写成矩阵形式：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24"/>
              <p:cNvSpPr txBox="1">
                <a:spLocks noGrp="1"/>
              </p:cNvSpPr>
              <p:nvPr/>
            </p:nvSpPr>
            <p:spPr>
              <a:xfrm>
                <a:off x="6464618" y="1973580"/>
                <a:ext cx="5193982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1n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2n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0" name="c2-callout-3"/>
          <p:cNvGrpSpPr/>
          <p:nvPr/>
        </p:nvGrpSpPr>
        <p:grpSpPr>
          <a:xfrm>
            <a:off x="6464618" y="3604260"/>
            <a:ext cx="5193982" cy="782955"/>
            <a:chOff x="6464618" y="3604260"/>
            <a:chExt cx="5193982" cy="782955"/>
          </a:xfrm>
        </p:grpSpPr>
        <p:sp>
          <p:nvSpPr>
            <p:cNvPr id="25" name="Rectangle 25"/>
            <p:cNvSpPr/>
            <p:nvPr/>
          </p:nvSpPr>
          <p:spPr>
            <a:xfrm>
              <a:off x="6464618" y="360426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669405" y="3895727"/>
              <a:ext cx="200023" cy="200023"/>
              <a:chOff x="6669405" y="3895727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69405" y="38957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802755" y="3962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971348" y="3752850"/>
              <a:ext cx="4139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简记为 Ax = b，其中 A ∈ Rⁿˣⁿ，x、b ∈ Rⁿ。本章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都假定 A 非奇异，此时解存在且唯一。</a:t>
              </a:r>
            </a:p>
          </p:txBody>
        </p:sp>
      </p:grpSp>
      <p:grpSp>
        <p:nvGrpSpPr>
          <p:cNvPr id="37" name="c2-callout-4"/>
          <p:cNvGrpSpPr/>
          <p:nvPr/>
        </p:nvGrpSpPr>
        <p:grpSpPr>
          <a:xfrm>
            <a:off x="6464618" y="4577715"/>
            <a:ext cx="5193982" cy="782955"/>
            <a:chOff x="6464618" y="4577715"/>
            <a:chExt cx="5193982" cy="782955"/>
          </a:xfrm>
        </p:grpSpPr>
        <p:sp>
          <p:nvSpPr>
            <p:cNvPr id="31" name="Rectangle 31"/>
            <p:cNvSpPr/>
            <p:nvPr/>
          </p:nvSpPr>
          <p:spPr>
            <a:xfrm>
              <a:off x="6464618" y="457771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669405" y="4869180"/>
              <a:ext cx="200026" cy="200025"/>
              <a:chOff x="6669405" y="4869180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69405" y="48691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09144" y="49136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43859" y="50247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971348" y="472630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同解变形是消元法的依据：只要每一步都把方程组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变成同解方程组，最后解出的就是原方程组的解。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两类数值解法：直接法有限步求精确解，迭代法逐步逼近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533400" y="1922145"/>
            <a:ext cx="4544377" cy="2711768"/>
            <a:chOff x="533400" y="1922145"/>
            <a:chExt cx="4544377" cy="2711768"/>
          </a:xfrm>
        </p:grpSpPr>
        <p:sp>
          <p:nvSpPr>
            <p:cNvPr id="7" name="Freeform 7"/>
            <p:cNvSpPr/>
            <p:nvPr/>
          </p:nvSpPr>
          <p:spPr>
            <a:xfrm>
              <a:off x="3423285" y="2108835"/>
              <a:ext cx="419100" cy="584835"/>
            </a:xfrm>
            <a:custGeom>
              <a:avLst/>
              <a:gdLst/>
              <a:ahLst/>
              <a:cxnLst/>
              <a:rect l="l" t="t" r="r" b="b"/>
              <a:pathLst>
                <a:path w="419100" h="584835">
                  <a:moveTo>
                    <a:pt x="0" y="584835"/>
                  </a:moveTo>
                  <a:lnTo>
                    <a:pt x="209550" y="5848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23285" y="2693670"/>
              <a:ext cx="419100" cy="584835"/>
            </a:xfrm>
            <a:custGeom>
              <a:avLst/>
              <a:gdLst/>
              <a:ahLst/>
              <a:cxnLst/>
              <a:rect l="l" t="t" r="r" b="b"/>
              <a:pathLst>
                <a:path w="419100" h="584835">
                  <a:moveTo>
                    <a:pt x="0" y="0"/>
                  </a:moveTo>
                  <a:lnTo>
                    <a:pt x="209550" y="0"/>
                  </a:lnTo>
                  <a:lnTo>
                    <a:pt x="209550" y="584835"/>
                  </a:lnTo>
                  <a:lnTo>
                    <a:pt x="419100" y="5848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23285" y="4448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68792" y="2693670"/>
              <a:ext cx="419100" cy="877252"/>
            </a:xfrm>
            <a:custGeom>
              <a:avLst/>
              <a:gdLst/>
              <a:ahLst/>
              <a:cxnLst/>
              <a:rect l="l" t="t" r="r" b="b"/>
              <a:pathLst>
                <a:path w="419100" h="877252">
                  <a:moveTo>
                    <a:pt x="0" y="877252"/>
                  </a:moveTo>
                  <a:lnTo>
                    <a:pt x="209550" y="87725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68792" y="3570922"/>
              <a:ext cx="419100" cy="877253"/>
            </a:xfrm>
            <a:custGeom>
              <a:avLst/>
              <a:gdLst/>
              <a:ahLst/>
              <a:cxnLst/>
              <a:rect l="l" t="t" r="r" b="b"/>
              <a:pathLst>
                <a:path w="419100" h="877253">
                  <a:moveTo>
                    <a:pt x="0" y="0"/>
                  </a:moveTo>
                  <a:lnTo>
                    <a:pt x="209550" y="0"/>
                  </a:lnTo>
                  <a:lnTo>
                    <a:pt x="209550" y="877253"/>
                  </a:lnTo>
                  <a:lnTo>
                    <a:pt x="419100" y="87725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42385" y="1922145"/>
              <a:ext cx="123539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42385" y="3091815"/>
              <a:ext cx="123539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87892" y="2506980"/>
              <a:ext cx="1235392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42385" y="4261485"/>
              <a:ext cx="123539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87892" y="4261485"/>
              <a:ext cx="1235392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384232"/>
              <a:ext cx="1235392" cy="372428"/>
            </a:xfrm>
            <a:prstGeom prst="roundRect">
              <a:avLst>
                <a:gd name="adj" fmla="val 2557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31158" y="20197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31158" y="31894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三角分解法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76666" y="260461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直接法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31158" y="4359116"/>
              <a:ext cx="767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6666" y="43591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迭代法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173" y="3481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数值解法</a:t>
              </a:r>
            </a:p>
          </p:txBody>
        </p:sp>
      </p:grpSp>
      <p:grpSp>
        <p:nvGrpSpPr>
          <p:cNvPr id="33" name="c1-kv-2"/>
          <p:cNvGrpSpPr/>
          <p:nvPr/>
        </p:nvGrpSpPr>
        <p:grpSpPr>
          <a:xfrm>
            <a:off x="525780" y="5248275"/>
            <a:ext cx="4586158" cy="1173480"/>
            <a:chOff x="525780" y="5248275"/>
            <a:chExt cx="4586158" cy="1173480"/>
          </a:xfrm>
        </p:grpSpPr>
        <p:sp>
          <p:nvSpPr>
            <p:cNvPr id="25" name="TextBox 25"/>
            <p:cNvSpPr txBox="1"/>
            <p:nvPr/>
          </p:nvSpPr>
          <p:spPr>
            <a:xfrm>
              <a:off x="525780" y="52482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消元法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65935" y="5248275"/>
              <a:ext cx="265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消元、列主元、全主元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56831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5780" y="56883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三角分解法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5935" y="5688330"/>
              <a:ext cx="2282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LU、LLᵀ、LDLᵀ、追赶法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60083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5780" y="61283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迭代法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65935" y="6128385"/>
              <a:ext cx="33460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Jacobi、Gauss-Seidel 等（2.7 节）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5382578" y="1524000"/>
            <a:ext cx="6276022" cy="3599498"/>
            <a:chOff x="5382578" y="1524000"/>
            <a:chExt cx="6276022" cy="3599498"/>
          </a:xfrm>
        </p:grpSpPr>
        <p:sp>
          <p:nvSpPr>
            <p:cNvPr id="34" name="Rectangle 34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686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412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0682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90401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20066" y="2108359"/>
              <a:ext cx="21262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假设计算过程中不产生舍入误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差，经过有限次运算求得精确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93720" y="2221706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从解的某个近似值出发，构造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无穷序列逐步逼近精确解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28698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82578" y="287464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90401" y="3010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适用对象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20066" y="301037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低阶稠密矩阵方程组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93720" y="301037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大型稀疏矩阵方程组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90401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20066" y="35723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只有舍入误差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93720" y="3459004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舍入误差，加上只迭代有限步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的截断误差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82578" y="39947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82578" y="399954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90401" y="42476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关心的问题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20066" y="4134326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计算量、主元是否为零、数值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93720" y="424767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是否收敛、收敛快慢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82578" y="46701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90401" y="48106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本课位置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20066" y="4810601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2.2–2.4 节（本讲）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93720" y="4810601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 节（下一讲）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82578" y="1524000"/>
              <a:ext cx="6276022" cy="35994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507480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081135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llout-2"/>
          <p:cNvGrpSpPr/>
          <p:nvPr/>
        </p:nvGrpSpPr>
        <p:grpSpPr>
          <a:xfrm>
            <a:off x="5382578" y="5313998"/>
            <a:ext cx="6276022" cy="782955"/>
            <a:chOff x="5382578" y="5313998"/>
            <a:chExt cx="6276022" cy="782955"/>
          </a:xfrm>
        </p:grpSpPr>
        <p:sp>
          <p:nvSpPr>
            <p:cNvPr id="63" name="Rectangle 63"/>
            <p:cNvSpPr/>
            <p:nvPr/>
          </p:nvSpPr>
          <p:spPr>
            <a:xfrm>
              <a:off x="5382578" y="5313998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587365" y="5605463"/>
              <a:ext cx="200026" cy="200026"/>
              <a:chOff x="5587365" y="5605463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5587365" y="56054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687378" y="56721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676265" y="57054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889308" y="5462588"/>
              <a:ext cx="5225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原课件把直接法分为“消元法和三角法”，三角法即 2.3 节的矩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阵三角分解法。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预备知识（一）：向量空间、转置、逆矩阵与行列式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kv-1"/>
          <p:cNvGrpSpPr/>
          <p:nvPr/>
        </p:nvGrpSpPr>
        <p:grpSpPr>
          <a:xfrm>
            <a:off x="525780" y="1548765"/>
            <a:ext cx="5742622" cy="3339465"/>
            <a:chOff x="525780" y="1548765"/>
            <a:chExt cx="5742622" cy="333946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10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Rⁿ、Cⁿ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44062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(x1, x2, …, xn)ᵀ，分量为实数 / 复数的 n 维向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量空间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Rⁿˣⁿ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2270760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n×n 实矩阵的全体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转置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710815"/>
              <a:ext cx="2747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∈ Rᵐˣⁿ，C = Aᵀ，cᵢⱼ = aⱼᵢ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单位矩阵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3150870"/>
              <a:ext cx="4177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(e1, e2, …, en) ∈ Rⁿˣⁿ，eₖ 的第 k 个分量为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1，其余为 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5285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8728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逆矩阵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3872865"/>
              <a:ext cx="4368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∈ Rⁿˣⁿ，若 AB = BA = I，则 B 是 A 的逆矩阵，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记为 A⁻¹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7484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5948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非奇异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6862" y="4594860"/>
              <a:ext cx="2695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A⁻¹ 存在时称 A 为非奇异矩阵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27"/>
              <p:cNvSpPr txBox="1">
                <a:spLocks noGrp="1"/>
              </p:cNvSpPr>
              <p:nvPr/>
            </p:nvSpPr>
            <p:spPr>
              <a:xfrm>
                <a:off x="533400" y="5019675"/>
                <a:ext cx="573500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AB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7" name="c1-text-3"/>
          <p:cNvGrpSpPr/>
          <p:nvPr/>
        </p:nvGrpSpPr>
        <p:grpSpPr>
          <a:xfrm>
            <a:off x="526923" y="5688806"/>
            <a:ext cx="3277646" cy="249364"/>
            <a:chOff x="526923" y="5688806"/>
            <a:chExt cx="3277646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688806"/>
              <a:ext cx="3277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最后一式要求 A、B 都是 n 阶非奇异矩阵。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573202" y="1524000"/>
            <a:ext cx="5085398" cy="2139315"/>
            <a:chOff x="6573202" y="1524000"/>
            <a:chExt cx="5085398" cy="2139315"/>
          </a:xfrm>
        </p:grpSpPr>
        <p:sp>
          <p:nvSpPr>
            <p:cNvPr id="28" name="Rectangle 28"/>
            <p:cNvSpPr/>
            <p:nvPr/>
          </p:nvSpPr>
          <p:spPr>
            <a:xfrm>
              <a:off x="6573202" y="1524000"/>
              <a:ext cx="5085398" cy="2139315"/>
            </a:xfrm>
            <a:prstGeom prst="roundRect">
              <a:avLst>
                <a:gd name="adj" fmla="val 62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82728" y="1657350"/>
              <a:ext cx="47625" cy="18726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20852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07111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行列式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3802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按任一行（或列）展开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8"/>
                <p:cNvSpPr txBox="1">
                  <a:spLocks noGrp="1"/>
                </p:cNvSpPr>
                <p:nvPr/>
              </p:nvSpPr>
              <p:spPr>
                <a:xfrm>
                  <a:off x="6820852" y="2105025"/>
                  <a:ext cx="4628198" cy="7086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,…,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6813233" y="2933700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Aᵢⱼ = (−1)ⁱ⁺ʲMᵢⱼ 是 aᵢⱼ 的代数余子式，Mᵢⱼ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aᵢⱼ 的余子式。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573202" y="3853815"/>
            <a:ext cx="5085398" cy="2036445"/>
            <a:chOff x="6573202" y="3853815"/>
            <a:chExt cx="5085398" cy="2036445"/>
          </a:xfrm>
        </p:grpSpPr>
        <p:sp>
          <p:nvSpPr>
            <p:cNvPr id="36" name="Rectangle 36"/>
            <p:cNvSpPr/>
            <p:nvPr/>
          </p:nvSpPr>
          <p:spPr>
            <a:xfrm>
              <a:off x="6573202" y="3853815"/>
              <a:ext cx="5085398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82728" y="3987165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20852" y="4063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11061" y="4099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26568" y="450342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84683" y="4440555"/>
              <a:ext cx="3751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det(AB) = det(A)det(B)，A、B ∈ Rⁿˣⁿ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26568" y="48387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84683" y="4775835"/>
              <a:ext cx="1714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det(Aᵀ) = det(A)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26568" y="517398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84683" y="5111115"/>
              <a:ext cx="2665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det(cA) = cⁿ det(A)，c ∈ R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26568" y="550926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4683" y="5446395"/>
              <a:ext cx="2672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det(A) ≠ 0 ⇔ A 是非奇异矩阵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预备知识（二）：本章会用到的几类特殊矩阵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7685" y="1524000"/>
            <a:ext cx="11130915" cy="3663792"/>
            <a:chOff x="527685" y="1524000"/>
            <a:chExt cx="11130915" cy="3663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04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88619" y="1659731"/>
              <a:ext cx="2166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定义（A = (aᵢⱼ) ∈ Rⁿˣⁿ）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2938" y="165973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阶例子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835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本章用途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对角矩阵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32888" y="2108359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≠ j 时 aᵢⱼ = 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26708" y="210835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diag(3, 5/3, 12/5)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18498" y="2108359"/>
              <a:ext cx="1784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LDU、LDLᵀ 分解中的 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对称矩阵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32888" y="2556986"/>
              <a:ext cx="522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 =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26708" y="2556986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 3 5; 3 5 9; 5 9 17)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18498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只需存储下三角部分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11896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对称正定矩阵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32888" y="3005614"/>
              <a:ext cx="34592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 = A，且对任意非零向量 x ∈ Rⁿ，(Ax, x) = x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ᵀAx &gt;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6708" y="3005614"/>
              <a:ext cx="25163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上一行的矩阵：顺序主子式 3、6、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全为正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8498" y="3118961"/>
              <a:ext cx="1728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平方根法与 LDLᵀ 分解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正交矩阵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32888" y="3680936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A⁻¹ = Aᵀ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6708" y="3680936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 1; 1 0)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18498" y="36809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置换矩阵都是正交矩阵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130516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上三角 / 单位上三角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32888" y="4130516"/>
              <a:ext cx="372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&gt; j 时 aᵢⱼ = 0；单位上三角还要求对角元全为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6708" y="4130516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 2 1; 0 5/3 1/3; 0 0 12/5)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18498" y="4130516"/>
              <a:ext cx="1111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 分解中的 U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579144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下三角 / 单位下三角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32888" y="4579144"/>
              <a:ext cx="372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&lt; j 时 aᵢⱼ = 0；单位下三角还要求对角元全为 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6708" y="4579144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0 0; 2/3 1 0; 1/3 4/5 1)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18498" y="4579144"/>
              <a:ext cx="1111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 分解中的 L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42030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1412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20591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4967764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例子中 (a b; c d) 表示按行书写的矩阵，分号隔开各行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0" name="Rectangle 5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728335"/>
              <a:ext cx="9597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三角矩阵的行列式等于对角元之积，所以三角矩阵非奇异 ⇔ 对角元全不为零。对称矩阵正定 ⇔ 各阶顺序主子式全为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1142" cy="909257"/>
            <a:chOff x="520446" y="342900"/>
            <a:chExt cx="8661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1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初等行变换等于左乘初等矩阵，逆矩阵就是“撤销”这一步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483215" cy="569595"/>
            <a:chOff x="525780" y="1548765"/>
            <a:chExt cx="104832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483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 m×n 矩阵 A 做一次初等行变换，相当于在 A 的左边乘相应的 m 阶初等矩阵；做一次初等列变换，相当于在右边乘相应的 n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阶初等矩阵。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2230755"/>
            <a:ext cx="6059805" cy="2337435"/>
            <a:chOff x="533400" y="2230755"/>
            <a:chExt cx="6059805" cy="2337435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605980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33869" y="23593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初等变换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76054" y="23593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初等矩阵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57076" y="23593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逆矩阵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889" y="2889885"/>
              <a:ext cx="1524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用非零数 m 乘第 i 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6146" y="2783205"/>
              <a:ext cx="1970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Tᵢ(m)：单位矩阵的第 i 个对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角元换成 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20259" y="2783205"/>
              <a:ext cx="7589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Tᵢ(m)⁻¹ =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Tᵢ(1/m)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880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292792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3528060"/>
              <a:ext cx="11850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交换第 i、j 两行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96146" y="3421380"/>
              <a:ext cx="1970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Tᵢⱼ：单位矩阵交换第 i、j 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20259" y="3528060"/>
              <a:ext cx="95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Tᵢⱼ⁻¹ = Tᵢⱼ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262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4166235"/>
              <a:ext cx="1838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行的 m 倍加到第 j 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96146" y="4059555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Tᵢⱼ(m)：单位矩阵第 j 行第 i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列处填 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20259" y="4059555"/>
              <a:ext cx="12237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Tᵢⱼ(m)⁻¹ = Tᵢⱼ(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−m)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230755"/>
              <a:ext cx="6059805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588895" y="2230755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013008" y="2230755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749165"/>
            <a:ext cx="6059805" cy="756285"/>
            <a:chOff x="533400" y="4749165"/>
            <a:chExt cx="6059805" cy="756285"/>
          </a:xfrm>
        </p:grpSpPr>
        <p:sp>
          <p:nvSpPr>
            <p:cNvPr id="29" name="Rectangle 29"/>
            <p:cNvSpPr/>
            <p:nvPr/>
          </p:nvSpPr>
          <p:spPr>
            <a:xfrm>
              <a:off x="533400" y="4749165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027295"/>
              <a:ext cx="200026" cy="200025"/>
              <a:chOff x="738188" y="5027295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0272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0717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1828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4896326"/>
              <a:ext cx="51541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 m 用乘 1/m 撤销，加 m 倍用减 m 倍撤销，交换两行再交换一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次就还原，所以逆矩阵仍是同类初等矩阵。</a:t>
              </a:r>
            </a:p>
          </p:txBody>
        </p:sp>
      </p:grpSp>
      <p:grpSp>
        <p:nvGrpSpPr>
          <p:cNvPr id="37" name="c2-text-1"/>
          <p:cNvGrpSpPr/>
          <p:nvPr/>
        </p:nvGrpSpPr>
        <p:grpSpPr>
          <a:xfrm>
            <a:off x="6890766" y="2254091"/>
            <a:ext cx="4851918" cy="278702"/>
            <a:chOff x="6890766" y="2254091"/>
            <a:chExt cx="4851918" cy="278702"/>
          </a:xfrm>
        </p:grpSpPr>
        <p:sp>
          <p:nvSpPr>
            <p:cNvPr id="36" name="TextBox 36"/>
            <p:cNvSpPr txBox="1"/>
            <p:nvPr/>
          </p:nvSpPr>
          <p:spPr>
            <a:xfrm>
              <a:off x="6890766" y="2254091"/>
              <a:ext cx="48519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阶例子：T₁₃(m) 左乘 A，把第 1 行的 m 倍加到第 3 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33"/>
              <p:cNvSpPr txBox="1">
                <a:spLocks noGrp="1"/>
              </p:cNvSpPr>
              <p:nvPr/>
            </p:nvSpPr>
            <p:spPr>
              <a:xfrm>
                <a:off x="6898005" y="2657475"/>
                <a:ext cx="4760595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13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13</m:t>
                          </m:r>
                        </m:sub>
                      </m:sSub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34"/>
              <p:cNvSpPr txBox="1">
                <a:spLocks noGrp="1"/>
              </p:cNvSpPr>
              <p:nvPr/>
            </p:nvSpPr>
            <p:spPr>
              <a:xfrm>
                <a:off x="6898005" y="3732848"/>
                <a:ext cx="4760595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13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llout-4"/>
          <p:cNvGrpSpPr/>
          <p:nvPr/>
        </p:nvGrpSpPr>
        <p:grpSpPr>
          <a:xfrm>
            <a:off x="6898005" y="4903470"/>
            <a:ext cx="4760595" cy="1018222"/>
            <a:chOff x="6898005" y="4903470"/>
            <a:chExt cx="4760595" cy="1018222"/>
          </a:xfrm>
        </p:grpSpPr>
        <p:sp>
          <p:nvSpPr>
            <p:cNvPr id="40" name="Rectangle 40"/>
            <p:cNvSpPr/>
            <p:nvPr/>
          </p:nvSpPr>
          <p:spPr>
            <a:xfrm>
              <a:off x="6898005" y="4903470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102793" y="5313047"/>
              <a:ext cx="200023" cy="200023"/>
              <a:chOff x="7102793" y="531304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102793" y="53130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36143" y="53797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405116" y="5050631"/>
              <a:ext cx="383768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Gauss 消元的每一步“第 i 行减去第 k 行的 lᵢₖ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倍”，就是左乘 Tₖᵢ(−lᵢₖ)。2.3 节由此得到 A =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LU。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引入与预备知识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非奇异矩阵的五个等价条件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410200" cy="2268855"/>
            <a:chOff x="533400" y="1524000"/>
            <a:chExt cx="5410200" cy="2268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68855"/>
            </a:xfrm>
            <a:prstGeom prst="roundRect">
              <a:avLst>
                <a:gd name="adj" fmla="val 58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21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4344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∈ Rⁿˣⁿ，下列命题等价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9620" y="208883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796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514" y="2100739"/>
              <a:ext cx="3388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对任何 b ∈ Rⁿ，方程组 Ax = b 有唯一解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9620" y="240601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965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514" y="2418874"/>
              <a:ext cx="28907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齐次方程组 Ax = 0 只有零解 x = 0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9620" y="272415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7965" y="27635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0514" y="2736056"/>
              <a:ext cx="983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det(A) ≠ 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9620" y="304133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965" y="30816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0514" y="3054191"/>
              <a:ext cx="7906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A⁻¹ 存在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9620" y="3359468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7965" y="33998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514" y="3371374"/>
              <a:ext cx="16973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的秩 rank(A) = n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3972878"/>
            <a:ext cx="5410200" cy="1018222"/>
            <a:chOff x="533400" y="3972878"/>
            <a:chExt cx="5410200" cy="1018222"/>
          </a:xfrm>
        </p:grpSpPr>
        <p:sp>
          <p:nvSpPr>
            <p:cNvPr id="28" name="Rectangle 28"/>
            <p:cNvSpPr/>
            <p:nvPr/>
          </p:nvSpPr>
          <p:spPr>
            <a:xfrm>
              <a:off x="533400" y="397287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382453"/>
              <a:ext cx="200026" cy="200025"/>
              <a:chOff x="738188" y="4382453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3824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44269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45380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4120039"/>
              <a:ext cx="450494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实际计算中不会先算 det(A) 来判断，因为算行列式本身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就要做消元。消元顺利完成、U 的对角元全不为零，就说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明 A 非奇异。</a:t>
              </a:r>
            </a:p>
          </p:txBody>
        </p:sp>
      </p:grpSp>
      <p:grpSp>
        <p:nvGrpSpPr>
          <p:cNvPr id="41" name="c1-callout-3"/>
          <p:cNvGrpSpPr/>
          <p:nvPr/>
        </p:nvGrpSpPr>
        <p:grpSpPr>
          <a:xfrm>
            <a:off x="533400" y="5171122"/>
            <a:ext cx="5410200" cy="1018222"/>
            <a:chOff x="533400" y="5171122"/>
            <a:chExt cx="5410200" cy="1018222"/>
          </a:xfrm>
        </p:grpSpPr>
        <p:sp>
          <p:nvSpPr>
            <p:cNvPr id="35" name="Rectangle 35"/>
            <p:cNvSpPr/>
            <p:nvPr/>
          </p:nvSpPr>
          <p:spPr>
            <a:xfrm>
              <a:off x="533400" y="5171122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580698"/>
              <a:ext cx="200026" cy="200026"/>
              <a:chOff x="738188" y="558069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5806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6473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56807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5319236"/>
              <a:ext cx="436968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阶的几何意义：两个方程是平面上两条直线。det(A)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≠ 0 时两直线交于一点（唯一解）；det(A) = 0 时两直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线平行（无解）或重合（无穷多解）。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990725"/>
            <a:chOff x="6248400" y="1524000"/>
            <a:chExt cx="5410200" cy="1990725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1990725"/>
            </a:xfrm>
            <a:prstGeom prst="roundRect">
              <a:avLst>
                <a:gd name="adj" fmla="val 66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1657350"/>
              <a:ext cx="47625" cy="17240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84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80061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34581" y="1756886"/>
              <a:ext cx="2436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方程组 (2.2.1) 的系数矩阵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37"/>
                <p:cNvSpPr txBox="1">
                  <a:spLocks noGrp="1"/>
                </p:cNvSpPr>
                <p:nvPr/>
              </p:nvSpPr>
              <p:spPr>
                <a:xfrm>
                  <a:off x="6484620" y="2077402"/>
                  <a:ext cx="4975860" cy="9429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6478524" y="3129915"/>
              <a:ext cx="2831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(2.2.1) 对任何右端都有唯一解。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248400" y="3695700"/>
            <a:ext cx="5410200" cy="2494598"/>
            <a:chOff x="6248400" y="3695700"/>
            <a:chExt cx="5410200" cy="2494598"/>
          </a:xfrm>
        </p:grpSpPr>
        <p:sp>
          <p:nvSpPr>
            <p:cNvPr id="50" name="Rectangle 50"/>
            <p:cNvSpPr/>
            <p:nvPr/>
          </p:nvSpPr>
          <p:spPr>
            <a:xfrm>
              <a:off x="6248400" y="3695700"/>
              <a:ext cx="5410200" cy="2494598"/>
            </a:xfrm>
            <a:prstGeom prst="roundRect">
              <a:avLst>
                <a:gd name="adj" fmla="val 53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829050"/>
              <a:ext cx="47625" cy="22278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84620" y="38938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6060" y="3928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67931" y="3928586"/>
              <a:ext cx="2591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(1 2; 2 4)，det(B) = 0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92240" y="43319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48831" y="4272439"/>
              <a:ext cx="2564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Bx = 0 有非零解 x = (2, −1)ᵀ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92240" y="46501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48831" y="4589621"/>
              <a:ext cx="4855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Bx = (1, 3)ᵀ 无解：两个方程左边成比例，右边不成比例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92240" y="496728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48831" y="4907756"/>
              <a:ext cx="21791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Bx = (1, 2)ᵀ 有无穷多解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78524" y="5221605"/>
              <a:ext cx="3259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奇异时“唯一解”不成立，五个条件同时失效。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060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把方程组化成上三角形，再从最后一个方程往上回代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2.2.1 消元过程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2.2.2 回代过程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2.2.3 计算量与存储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0050" cy="909257"/>
            <a:chOff x="520446" y="342900"/>
            <a:chExt cx="76600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00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消元法的基本思想：用初等变换化成阶梯形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842635" cy="1997392"/>
            <a:chOff x="533400" y="1524000"/>
            <a:chExt cx="5842635" cy="19973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459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方程组的初等变换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58190" y="204311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3868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987" y="20545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用一个非零的数乘某一个方程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8190" y="2343150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868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23555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把一个方程的倍数加到另一个方程上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" y="264318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3868" y="2681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8987" y="26555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互换两个方程的位置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475" y="2952274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可以证明，初等变换总是把方程组变成同解方程组。消元法就是反复做这三种变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换，把方程组化为阶梯形再求解。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691890"/>
            <a:ext cx="5842635" cy="2557462"/>
            <a:chOff x="533400" y="3691890"/>
            <a:chExt cx="5842635" cy="2557462"/>
          </a:xfrm>
        </p:grpSpPr>
        <p:sp>
          <p:nvSpPr>
            <p:cNvPr id="22" name="Rectangle 22"/>
            <p:cNvSpPr/>
            <p:nvPr/>
          </p:nvSpPr>
          <p:spPr>
            <a:xfrm>
              <a:off x="533400" y="3691890"/>
              <a:ext cx="5842635" cy="2557462"/>
            </a:xfrm>
            <a:prstGeom prst="roundRect">
              <a:avLst>
                <a:gd name="adj" fmla="val 52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825240"/>
              <a:ext cx="47625" cy="22907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38785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0862" y="39114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历史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332" y="4222432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消元法又称 Gauss 消去法，以德国数学家 Gauss（1777–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1855）命名。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332" y="4779645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最早记载这种方法的是中国的《九章算术》。它经多人逐次整理、修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改、补充而成，一般认为成书于公元 1 世纪后半段，比 Gauss 出生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早约 1700 年。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332" y="5594033"/>
              <a:ext cx="51915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书中的“方程术”用算筹把各方程的系数竖排成列，用“遍乘直除”（整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列乘一个数，再反复减去另一列）消去未知数。</a:t>
              </a:r>
            </a:p>
          </p:txBody>
        </p:sp>
      </p:grpSp>
      <p:grpSp>
        <p:nvGrpSpPr>
          <p:cNvPr id="32" name="c2-image-1"/>
          <p:cNvGrpSpPr/>
          <p:nvPr/>
        </p:nvGrpSpPr>
        <p:grpSpPr>
          <a:xfrm>
            <a:off x="6680835" y="1524000"/>
            <a:ext cx="4977765" cy="4858416"/>
            <a:chOff x="6680835" y="1524000"/>
            <a:chExt cx="4977765" cy="4858416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rcRect l="9198" t="0" r="9197" b="0"/>
            <a:stretch>
              <a:fillRect/>
            </a:stretch>
          </p:blipFill>
          <p:spPr>
            <a:xfrm>
              <a:off x="6680835" y="1524000"/>
              <a:ext cx="4977765" cy="4574858"/>
            </a:xfrm>
            <a:prstGeom prst="roundRect">
              <a:avLst>
                <a:gd name="adj" fmla="val 2914"/>
              </a:avLst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8373199" y="619172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算筹摆出系数表，逐列消元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65726" cy="909257"/>
            <a:chOff x="520446" y="342900"/>
            <a:chExt cx="93657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657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例：《九章算术》卷八第 1 题，上、中、下禾一捆各出多少谷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4634865"/>
            <a:chOff x="533400" y="1524000"/>
            <a:chExt cx="4869180" cy="46348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4634865"/>
            </a:xfrm>
            <a:prstGeom prst="roundRect">
              <a:avLst>
                <a:gd name="adj" fmla="val 28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681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6229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今有上禾三秉，中禾二秉，下禾一秉，实三十九斗；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上禾二秉，中禾三秉，下禾一秉，实三十四斗；上禾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一秉，中禾二秉，下禾三秉，实二十六斗。问上、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中、下禾实一秉各几何？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524" y="3210877"/>
              <a:ext cx="41879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秉：捆；实：打下的谷子。设上、中、下禾一捆分别出谷 x1、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x2、x3 斗。</a:t>
              </a:r>
            </a:p>
          </p:txBody>
        </p:sp>
      </p:grpSp>
      <p:grpSp>
        <p:nvGrpSpPr>
          <p:cNvPr id="15" name="c2-text-1"/>
          <p:cNvGrpSpPr/>
          <p:nvPr/>
        </p:nvGrpSpPr>
        <p:grpSpPr>
          <a:xfrm>
            <a:off x="5700141" y="1547336"/>
            <a:ext cx="2690724" cy="278702"/>
            <a:chOff x="5700141" y="1547336"/>
            <a:chExt cx="2690724" cy="278702"/>
          </a:xfrm>
        </p:grpSpPr>
        <p:sp>
          <p:nvSpPr>
            <p:cNvPr id="14" name="TextBox 14"/>
            <p:cNvSpPr txBox="1"/>
            <p:nvPr/>
          </p:nvSpPr>
          <p:spPr>
            <a:xfrm>
              <a:off x="5700141" y="15473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题目相当于求解三元线性方程组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41"/>
              <p:cNvSpPr txBox="1">
                <a:spLocks noGrp="1"/>
              </p:cNvSpPr>
              <p:nvPr/>
            </p:nvSpPr>
            <p:spPr>
              <a:xfrm>
                <a:off x="5707380" y="1950720"/>
                <a:ext cx="5951220" cy="1131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39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34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26</m:t>
                              </m:r>
                            </m:e>
                          </m:eqArr>
                        </m:e>
                      </m:d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2.2.1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6" name="c2-table-3"/>
          <p:cNvGrpSpPr/>
          <p:nvPr/>
        </p:nvGrpSpPr>
        <p:grpSpPr>
          <a:xfrm>
            <a:off x="5707380" y="3262312"/>
            <a:ext cx="5951220" cy="1697355"/>
            <a:chOff x="5707380" y="3262312"/>
            <a:chExt cx="5951220" cy="1697355"/>
          </a:xfrm>
        </p:grpSpPr>
        <p:sp>
          <p:nvSpPr>
            <p:cNvPr id="17" name="Rectangle 17"/>
            <p:cNvSpPr/>
            <p:nvPr/>
          </p:nvSpPr>
          <p:spPr>
            <a:xfrm>
              <a:off x="5707380" y="3262312"/>
              <a:ext cx="595122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21920" y="33909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未知数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10550" y="33909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19348" y="33909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解（下页求出）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0945" y="381476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36726" y="381476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上禾一捆出谷斗数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0312" y="3814762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37/4 = 9¼ 斗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07380" y="41062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07380" y="4110990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0945" y="423957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36726" y="423957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中禾一捆出谷斗数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20312" y="4239578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17/4 = 4¼ 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07380" y="45310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0945" y="46634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36726" y="466344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下禾一捆出谷斗数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20312" y="466344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11/4 = 2¾ 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07380" y="3262312"/>
              <a:ext cx="595122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29475" y="326231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17380" y="326231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llout-4"/>
          <p:cNvGrpSpPr/>
          <p:nvPr/>
        </p:nvGrpSpPr>
        <p:grpSpPr>
          <a:xfrm>
            <a:off x="5707380" y="5139690"/>
            <a:ext cx="5951220" cy="1018222"/>
            <a:chOff x="5707380" y="5139690"/>
            <a:chExt cx="5951220" cy="1018222"/>
          </a:xfrm>
        </p:grpSpPr>
        <p:sp>
          <p:nvSpPr>
            <p:cNvPr id="37" name="Rectangle 37"/>
            <p:cNvSpPr/>
            <p:nvPr/>
          </p:nvSpPr>
          <p:spPr>
            <a:xfrm>
              <a:off x="5707380" y="5139690"/>
              <a:ext cx="595122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912168" y="5549265"/>
              <a:ext cx="200026" cy="200026"/>
              <a:chOff x="5912168" y="554926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912168" y="55492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12180" y="56159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001068" y="56492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214491" y="5287804"/>
              <a:ext cx="498284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《九章算术》给出的答数是“上禾一秉九斗四分斗之一，中禾一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秉四斗四分斗之一，下禾一秉二斗四分斗之三”，与消元法的结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果一致。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例（续）：两步消元化为上三角形，再从下往上回代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8"/>
              <p:cNvSpPr txBox="1">
                <a:spLocks noGrp="1"/>
              </p:cNvSpPr>
              <p:nvPr/>
            </p:nvSpPr>
            <p:spPr>
              <a:xfrm>
                <a:off x="533400" y="1524000"/>
                <a:ext cx="5951220" cy="1084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7304" y="2807970"/>
            <a:ext cx="5302758" cy="234696"/>
            <a:chOff x="527304" y="2807970"/>
            <a:chExt cx="5302758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2807970"/>
              <a:ext cx="5302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步（主元 3）：r₂ − (2/3)r₁，r₃ − (1/3)r₁，消去 x1，得 (2.2.2)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49"/>
              <p:cNvSpPr txBox="1">
                <a:spLocks noGrp="1"/>
              </p:cNvSpPr>
              <p:nvPr/>
            </p:nvSpPr>
            <p:spPr>
              <a:xfrm>
                <a:off x="533400" y="3175635"/>
                <a:ext cx="5951220" cy="1084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2.2.2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4"/>
          <p:cNvGrpSpPr/>
          <p:nvPr/>
        </p:nvGrpSpPr>
        <p:grpSpPr>
          <a:xfrm>
            <a:off x="527304" y="4460558"/>
            <a:ext cx="5399532" cy="470916"/>
            <a:chOff x="527304" y="4460558"/>
            <a:chExt cx="5399532" cy="470916"/>
          </a:xfrm>
        </p:grpSpPr>
        <p:sp>
          <p:nvSpPr>
            <p:cNvPr id="11" name="TextBox 11"/>
            <p:cNvSpPr txBox="1"/>
            <p:nvPr/>
          </p:nvSpPr>
          <p:spPr>
            <a:xfrm>
              <a:off x="527304" y="4460558"/>
              <a:ext cx="53995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步（主元 5/3）：r₃ − (4/5)r₂，其中 4/5 = (4/3) ÷ (5/3)，消去 x2，得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(2.2.3)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50"/>
              <p:cNvSpPr txBox="1">
                <a:spLocks noGrp="1"/>
              </p:cNvSpPr>
              <p:nvPr/>
            </p:nvSpPr>
            <p:spPr>
              <a:xfrm>
                <a:off x="533400" y="5064442"/>
                <a:ext cx="5951220" cy="1084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2.2.3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7" name="c2-steps-1"/>
          <p:cNvGrpSpPr/>
          <p:nvPr/>
        </p:nvGrpSpPr>
        <p:grpSpPr>
          <a:xfrm>
            <a:off x="6789420" y="1533525"/>
            <a:ext cx="3575304" cy="1781556"/>
            <a:chOff x="6789420" y="1533525"/>
            <a:chExt cx="3575304" cy="1781556"/>
          </a:xfrm>
        </p:grpSpPr>
        <p:sp>
          <p:nvSpPr>
            <p:cNvPr id="14" name="Rectangle 14"/>
            <p:cNvSpPr/>
            <p:nvPr/>
          </p:nvSpPr>
          <p:spPr>
            <a:xfrm>
              <a:off x="6922770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789420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8304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789420" y="2767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8304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01281" y="1566386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由第 3 个方程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02424" y="1846898"/>
              <a:ext cx="2354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(12/5)x3 = 33/5，得 x3 = 11/4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01281" y="2183606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代入第 2 个方程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02424" y="2464118"/>
              <a:ext cx="3162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(5/3)x2 + (1/3)(11/4) = 8，得 x2 = 17/4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01281" y="2799874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代入第 1 个方程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2424" y="30803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3x1 + 2(17/4) + 11/4 = 39，得 x1 = 37/4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6789420" y="3486150"/>
            <a:ext cx="4869180" cy="1018222"/>
            <a:chOff x="6789420" y="3486150"/>
            <a:chExt cx="4869180" cy="1018222"/>
          </a:xfrm>
        </p:grpSpPr>
        <p:sp>
          <p:nvSpPr>
            <p:cNvPr id="28" name="Rectangle 28"/>
            <p:cNvSpPr/>
            <p:nvPr/>
          </p:nvSpPr>
          <p:spPr>
            <a:xfrm>
              <a:off x="6789420" y="3486150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994208" y="3895725"/>
              <a:ext cx="200026" cy="200026"/>
              <a:chOff x="6994208" y="3895725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994208" y="38957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60883" y="39735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296531" y="3634264"/>
              <a:ext cx="383768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验算第 2 个方程：2(37/4) + 3(17/4) + 11/4 =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136/4 = 34，第 3 个方程：37/4 + 34/4 + 33/4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26。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789420" y="4685348"/>
            <a:ext cx="4869180" cy="756285"/>
            <a:chOff x="6789420" y="4685348"/>
            <a:chExt cx="4869180" cy="756285"/>
          </a:xfrm>
        </p:grpSpPr>
        <p:sp>
          <p:nvSpPr>
            <p:cNvPr id="34" name="Rectangle 34"/>
            <p:cNvSpPr/>
            <p:nvPr/>
          </p:nvSpPr>
          <p:spPr>
            <a:xfrm>
              <a:off x="6789420" y="4685348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994208" y="4963480"/>
              <a:ext cx="200023" cy="200023"/>
              <a:chOff x="6994208" y="496348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994208" y="49634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27558" y="5030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296531" y="4832509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两个过程：消元把方程组化为上三角（阶梯）形，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回代从最后一个方程起依次求出 x3、x2、x1。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0211" cy="909257"/>
            <a:chOff x="520446" y="342900"/>
            <a:chExt cx="83702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02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一般的第 k 步：用主元把第 k 列主元下方的元素消成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293680" cy="293370"/>
            <a:chOff x="525780" y="1548765"/>
            <a:chExt cx="42936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293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A⁽⁰⁾ = A，b⁽⁰⁾ = b。设前 k − 1 步已完成：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55"/>
              <p:cNvSpPr txBox="1">
                <a:spLocks noGrp="1"/>
              </p:cNvSpPr>
              <p:nvPr/>
            </p:nvSpPr>
            <p:spPr>
              <a:xfrm>
                <a:off x="533400" y="1973580"/>
                <a:ext cx="5626418" cy="1603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1k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1n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  <m:e/>
                              <m:e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kk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kn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  <m:e/>
                              <m:e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nk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nn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3"/>
          <p:cNvGrpSpPr/>
          <p:nvPr/>
        </p:nvGrpSpPr>
        <p:grpSpPr>
          <a:xfrm>
            <a:off x="533400" y="3767138"/>
            <a:ext cx="5626418" cy="1937385"/>
            <a:chOff x="533400" y="3767138"/>
            <a:chExt cx="5626418" cy="1937385"/>
          </a:xfrm>
        </p:grpSpPr>
        <p:sp>
          <p:nvSpPr>
            <p:cNvPr id="10" name="Rectangle 10"/>
            <p:cNvSpPr/>
            <p:nvPr/>
          </p:nvSpPr>
          <p:spPr>
            <a:xfrm>
              <a:off x="533400" y="3767138"/>
              <a:ext cx="562641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900488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97668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4507" y="40124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主元与主方程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4353878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aₖₖ⁽ᵏ⁻¹⁾ ≠ 0，称它为第 k 步的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k 个方程称为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主方程。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974908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步做：(第 i 个方程) − (第 k 个方程) × lᵢₖ，i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k+1, …, n。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56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kk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57"/>
              <p:cNvSpPr txBox="1">
                <a:spLocks noGrp="1"/>
              </p:cNvSpPr>
              <p:nvPr/>
            </p:nvSpPr>
            <p:spPr>
              <a:xfrm>
                <a:off x="6464618" y="2171700"/>
                <a:ext cx="519398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sSub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kj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58"/>
              <p:cNvSpPr txBox="1">
                <a:spLocks noGrp="1"/>
              </p:cNvSpPr>
              <p:nvPr/>
            </p:nvSpPr>
            <p:spPr>
              <a:xfrm>
                <a:off x="6464618" y="2762250"/>
                <a:ext cx="519398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6" name="c2-callout-4"/>
          <p:cNvGrpSpPr/>
          <p:nvPr/>
        </p:nvGrpSpPr>
        <p:grpSpPr>
          <a:xfrm>
            <a:off x="6464618" y="3409950"/>
            <a:ext cx="5193982" cy="1059180"/>
            <a:chOff x="6464618" y="3409950"/>
            <a:chExt cx="5193982" cy="1059180"/>
          </a:xfrm>
        </p:grpSpPr>
        <p:sp>
          <p:nvSpPr>
            <p:cNvPr id="20" name="Rectangle 20"/>
            <p:cNvSpPr/>
            <p:nvPr/>
          </p:nvSpPr>
          <p:spPr>
            <a:xfrm>
              <a:off x="6464618" y="340995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69405" y="3839528"/>
              <a:ext cx="200026" cy="200026"/>
              <a:chOff x="6669405" y="383952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69405" y="38395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69418" y="39062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58305" y="39395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971348" y="3558540"/>
              <a:ext cx="4234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 k = 1，主元 a11；第 2 步 k = 2，主元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a22⁽¹⁾。每步形式相同，共做 n − 1 步，系数矩阵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化为上三角矩阵 A⁽ⁿ⁻¹⁾。</a:t>
              </a:r>
            </a:p>
          </p:txBody>
        </p:sp>
      </p:grpSp>
      <p:grpSp>
        <p:nvGrpSpPr>
          <p:cNvPr id="33" name="c2-callout-5"/>
          <p:cNvGrpSpPr/>
          <p:nvPr/>
        </p:nvGrpSpPr>
        <p:grpSpPr>
          <a:xfrm>
            <a:off x="6464618" y="4659630"/>
            <a:ext cx="5193982" cy="782955"/>
            <a:chOff x="6464618" y="4659630"/>
            <a:chExt cx="5193982" cy="782955"/>
          </a:xfrm>
        </p:grpSpPr>
        <p:sp>
          <p:nvSpPr>
            <p:cNvPr id="27" name="Rectangle 27"/>
            <p:cNvSpPr/>
            <p:nvPr/>
          </p:nvSpPr>
          <p:spPr>
            <a:xfrm>
              <a:off x="6464618" y="465963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657347" y="4947403"/>
              <a:ext cx="224134" cy="192560"/>
              <a:chOff x="6657347" y="4947403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769418" y="50177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57347" y="49474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69418" y="5095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971348" y="4808220"/>
              <a:ext cx="4091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前提是每一步主元 aₖₖ⁽ᵏ⁻¹⁾ ≠ 0。主元为零或很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小时的处理见 2.4 节选主元。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消元与回代的算法：三重循环加一趟回代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687002"/>
            <a:chOff x="533400" y="1524000"/>
            <a:chExt cx="5842635" cy="26870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687002"/>
            </a:xfrm>
            <a:prstGeom prst="roundRect">
              <a:avLst>
                <a:gd name="adj" fmla="val 35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39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消元过程（新值直接覆盖旧值，初始 aᵢⱼ⁽⁰⁾ = aᵢⱼ）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892" y="1941195"/>
              <a:ext cx="3597021" cy="2214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k = 1 : n-1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= k+1 : n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l(i,k) = a(i,k) / a(k,k);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b(i) = b(i) - l(i,k)*b(k);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= k+1 : n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a(i,j) = a(i,j) - l(i,k)*a(k,j);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401502"/>
            <a:ext cx="5842635" cy="1937385"/>
            <a:chOff x="533400" y="4401502"/>
            <a:chExt cx="5842635" cy="1937385"/>
          </a:xfrm>
        </p:grpSpPr>
        <p:sp>
          <p:nvSpPr>
            <p:cNvPr id="11" name="Rectangle 11"/>
            <p:cNvSpPr/>
            <p:nvPr/>
          </p:nvSpPr>
          <p:spPr>
            <a:xfrm>
              <a:off x="533400" y="4401502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534852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6110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46467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505110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988242"/>
              <a:ext cx="4939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原课件伪代码用上标 (k−1)、(k) 区分新旧值；编程时第 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步只用到第 k 行和右下角的旧值，直接覆盖即可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567213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5609272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原课件回代写作 for k = n: 1，按 MATLAB 语法应为 n :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 : 1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680835" y="1524000"/>
            <a:ext cx="4977765" cy="2443162"/>
            <a:chOff x="6680835" y="1524000"/>
            <a:chExt cx="4977765" cy="2443162"/>
          </a:xfrm>
        </p:grpSpPr>
        <p:sp>
          <p:nvSpPr>
            <p:cNvPr id="20" name="Rectangle 20"/>
            <p:cNvSpPr/>
            <p:nvPr/>
          </p:nvSpPr>
          <p:spPr>
            <a:xfrm>
              <a:off x="6680835" y="1524000"/>
              <a:ext cx="4977765" cy="2443162"/>
            </a:xfrm>
            <a:prstGeom prst="roundRect">
              <a:avLst>
                <a:gd name="adj" fmla="val 38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9232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回代过程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7327" y="1941195"/>
              <a:ext cx="2276856" cy="1970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x(n) = b(n) / a(n,n);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k = n-1 : -1 : 1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 = b(k);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= k+1 : n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 = s - a(k,j)*x(j);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x(k) = s / a(k,k);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60"/>
              <p:cNvSpPr txBox="1">
                <a:spLocks noGrp="1"/>
              </p:cNvSpPr>
              <p:nvPr/>
            </p:nvSpPr>
            <p:spPr>
              <a:xfrm>
                <a:off x="6680835" y="4157662"/>
                <a:ext cx="4977765" cy="708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kj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kk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1" name="c2-callout-3"/>
          <p:cNvGrpSpPr/>
          <p:nvPr/>
        </p:nvGrpSpPr>
        <p:grpSpPr>
          <a:xfrm>
            <a:off x="6680835" y="5056822"/>
            <a:ext cx="4977765" cy="782955"/>
            <a:chOff x="6680835" y="5056822"/>
            <a:chExt cx="4977765" cy="782955"/>
          </a:xfrm>
        </p:grpSpPr>
        <p:sp>
          <p:nvSpPr>
            <p:cNvPr id="25" name="Rectangle 25"/>
            <p:cNvSpPr/>
            <p:nvPr/>
          </p:nvSpPr>
          <p:spPr>
            <a:xfrm>
              <a:off x="6680835" y="505682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885623" y="5348288"/>
              <a:ext cx="200026" cy="200025"/>
              <a:chOff x="6885623" y="5348288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885623" y="53482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925361" y="53927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960077" y="55038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187565" y="5205412"/>
              <a:ext cx="4091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回代时先由第 n 个方程求 xn，再代入第 n − 1 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方程求 xn−1，如此继续直到 x1。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60914" cy="909257"/>
            <a:chOff x="520446" y="342900"/>
            <a:chExt cx="90609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609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思考题：怎样消元才不需要回代？（Gauss-Jordan 消元）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655310" cy="264033"/>
            <a:chOff x="526542" y="1545907"/>
            <a:chExt cx="86553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655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每一步先把主元化为 1，再把主元上方和下方的元素都消成 0。n 步后系数矩阵变成单位矩阵，右端就是解。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7685" y="1947386"/>
            <a:ext cx="2318278" cy="220028"/>
            <a:chOff x="527685" y="1947386"/>
            <a:chExt cx="2318278" cy="220028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1947386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1：r₁ ÷ 3，r₂ − 2r₁，r₃ − r₁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70"/>
              <p:cNvSpPr txBox="1">
                <a:spLocks noGrp="1"/>
              </p:cNvSpPr>
              <p:nvPr/>
            </p:nvSpPr>
            <p:spPr>
              <a:xfrm>
                <a:off x="533400" y="2292668"/>
                <a:ext cx="5626418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3" name="c1-text-3"/>
          <p:cNvGrpSpPr/>
          <p:nvPr/>
        </p:nvGrpSpPr>
        <p:grpSpPr>
          <a:xfrm>
            <a:off x="527685" y="3377089"/>
            <a:ext cx="3192770" cy="220028"/>
            <a:chOff x="527685" y="3377089"/>
            <a:chExt cx="3192770" cy="220028"/>
          </a:xfrm>
        </p:grpSpPr>
        <p:sp>
          <p:nvSpPr>
            <p:cNvPr id="12" name="TextBox 12"/>
            <p:cNvSpPr txBox="1"/>
            <p:nvPr/>
          </p:nvSpPr>
          <p:spPr>
            <a:xfrm>
              <a:off x="527685" y="3377089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2：r₂ ÷ (5/3)，再消去第 1、3 行的第 2 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71"/>
              <p:cNvSpPr txBox="1">
                <a:spLocks noGrp="1"/>
              </p:cNvSpPr>
              <p:nvPr/>
            </p:nvSpPr>
            <p:spPr>
              <a:xfrm>
                <a:off x="533400" y="3723322"/>
                <a:ext cx="5626418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text-5"/>
          <p:cNvGrpSpPr/>
          <p:nvPr/>
        </p:nvGrpSpPr>
        <p:grpSpPr>
          <a:xfrm>
            <a:off x="527685" y="4806791"/>
            <a:ext cx="3275696" cy="220028"/>
            <a:chOff x="527685" y="4806791"/>
            <a:chExt cx="3275696" cy="220028"/>
          </a:xfrm>
        </p:grpSpPr>
        <p:sp>
          <p:nvSpPr>
            <p:cNvPr id="15" name="TextBox 15"/>
            <p:cNvSpPr txBox="1"/>
            <p:nvPr/>
          </p:nvSpPr>
          <p:spPr>
            <a:xfrm>
              <a:off x="527685" y="4806791"/>
              <a:ext cx="3275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3：r₃ ÷ (12/5)，再消去第 1、2 行的第 3 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72"/>
              <p:cNvSpPr txBox="1">
                <a:spLocks noGrp="1"/>
              </p:cNvSpPr>
              <p:nvPr/>
            </p:nvSpPr>
            <p:spPr>
              <a:xfrm>
                <a:off x="533400" y="5153025"/>
                <a:ext cx="5626418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37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17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4" name="c2-table-1"/>
          <p:cNvGrpSpPr/>
          <p:nvPr/>
        </p:nvGrpSpPr>
        <p:grpSpPr>
          <a:xfrm>
            <a:off x="6459665" y="1928812"/>
            <a:ext cx="5198935" cy="1580864"/>
            <a:chOff x="6459665" y="1928812"/>
            <a:chExt cx="5198935" cy="1580864"/>
          </a:xfrm>
        </p:grpSpPr>
        <p:sp>
          <p:nvSpPr>
            <p:cNvPr id="18" name="Rectangle 18"/>
            <p:cNvSpPr/>
            <p:nvPr/>
          </p:nvSpPr>
          <p:spPr>
            <a:xfrm>
              <a:off x="6464618" y="1928812"/>
              <a:ext cx="5193982" cy="43910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27582" y="20535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40952" y="20535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乘除法次数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74049" y="2053590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20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0630" y="2492692"/>
              <a:ext cx="1548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 + 回代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36498" y="2492692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n³/3 + n² − n/3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41291" y="249269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3060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28013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64618" y="2806065"/>
              <a:ext cx="5193982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0630" y="2931795"/>
              <a:ext cx="1707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Gauss-Jordan 消元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41086" y="2931795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n²(n+1)/2 ≈ n³/2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41291" y="293179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4200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1928812"/>
              <a:ext cx="5193982" cy="1316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62022" y="1928812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632758" y="1928812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9665" y="3318986"/>
              <a:ext cx="4372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Gauss-Jordan 第 k 步：主元行除法 n−k+1 次，其余 n−1 行各乘 n−k+1 次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464618" y="3640455"/>
            <a:ext cx="5193982" cy="729615"/>
            <a:chOff x="6464618" y="3640455"/>
            <a:chExt cx="5193982" cy="729615"/>
          </a:xfrm>
        </p:grpSpPr>
        <p:sp>
          <p:nvSpPr>
            <p:cNvPr id="35" name="Rectangle 35"/>
            <p:cNvSpPr/>
            <p:nvPr/>
          </p:nvSpPr>
          <p:spPr>
            <a:xfrm>
              <a:off x="6464618" y="364045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669405" y="3905250"/>
              <a:ext cx="200026" cy="200025"/>
              <a:chOff x="6669405" y="3905250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69405" y="39052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09144" y="39497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43859" y="40608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972110" y="378714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省掉了回代，但乘除法次数约多一半，所以解方程组时一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般仍用 Gauss 消元加回代。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464618" y="4540568"/>
            <a:ext cx="5193982" cy="729615"/>
            <a:chOff x="6464618" y="4540568"/>
            <a:chExt cx="5193982" cy="729615"/>
          </a:xfrm>
        </p:grpSpPr>
        <p:sp>
          <p:nvSpPr>
            <p:cNvPr id="42" name="Rectangle 42"/>
            <p:cNvSpPr/>
            <p:nvPr/>
          </p:nvSpPr>
          <p:spPr>
            <a:xfrm>
              <a:off x="6464618" y="454056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69405" y="4805363"/>
              <a:ext cx="200026" cy="200026"/>
              <a:chOff x="6669405" y="480536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9405" y="48053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69418" y="4872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58305" y="49053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72110" y="4686300"/>
              <a:ext cx="41885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Gauss-Jordan 消元常用来求逆矩阵：对 (A | I) 做同样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的变换，左边变成 I 时右边就是 A⁻¹。</a:t>
              </a:r>
            </a:p>
          </p:txBody>
        </p:sp>
      </p:grpSp>
      <p:grpSp>
        <p:nvGrpSpPr>
          <p:cNvPr id="54" name="c2-callout-4"/>
          <p:cNvGrpSpPr/>
          <p:nvPr/>
        </p:nvGrpSpPr>
        <p:grpSpPr>
          <a:xfrm>
            <a:off x="6464618" y="5439728"/>
            <a:ext cx="5193982" cy="729615"/>
            <a:chOff x="6464618" y="5439728"/>
            <a:chExt cx="5193982" cy="729615"/>
          </a:xfrm>
        </p:grpSpPr>
        <p:sp>
          <p:nvSpPr>
            <p:cNvPr id="49" name="Rectangle 49"/>
            <p:cNvSpPr/>
            <p:nvPr/>
          </p:nvSpPr>
          <p:spPr>
            <a:xfrm>
              <a:off x="6464618" y="543972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704525"/>
              <a:ext cx="200023" cy="200023"/>
              <a:chOff x="6669405" y="5704525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7045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802755" y="5771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2110" y="558546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 Gauss 消元：Gauss-Jordan 第 k 步顺便消去主元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上方的元素，相当于把回代的工作分散到每一步消元里。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9610" cy="909257"/>
            <a:chOff x="520446" y="342900"/>
            <a:chExt cx="66096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96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计算量：Gauss 消元法约需 n³/3 次乘除法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500116" cy="529780"/>
            <a:chOff x="526542" y="1545907"/>
            <a:chExt cx="5500116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500116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计算机做一次乘除法比一次加减法费时得多，估算计算量时只数乘除法次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85"/>
              <p:cNvSpPr txBox="1">
                <a:spLocks noGrp="1"/>
              </p:cNvSpPr>
              <p:nvPr/>
            </p:nvSpPr>
            <p:spPr>
              <a:xfrm>
                <a:off x="533400" y="2192655"/>
                <a:ext cx="5951220" cy="620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回代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7685" y="3001804"/>
            <a:ext cx="5651246" cy="441008"/>
            <a:chOff x="527685" y="3001804"/>
            <a:chExt cx="5651246" cy="441008"/>
          </a:xfrm>
        </p:grpSpPr>
        <p:sp>
          <p:nvSpPr>
            <p:cNvPr id="10" name="TextBox 10"/>
            <p:cNvSpPr txBox="1"/>
            <p:nvPr/>
          </p:nvSpPr>
          <p:spPr>
            <a:xfrm>
              <a:off x="527685" y="3001804"/>
              <a:ext cx="565124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消元第 k 步：算 n − k 个 lᵢₖ，再算 (n − k)(n − k + 1) 个 aᵢⱼ⁽ᵏ⁾ 和 bᵢ⁽ᵏ⁾，每个一次乘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除法，共 (n − k)(n − k + 2) 次。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86"/>
              <p:cNvSpPr txBox="1">
                <a:spLocks noGrp="1"/>
              </p:cNvSpPr>
              <p:nvPr/>
            </p:nvSpPr>
            <p:spPr>
              <a:xfrm>
                <a:off x="533400" y="3569018"/>
                <a:ext cx="5951220" cy="620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消元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87"/>
              <p:cNvSpPr txBox="1">
                <a:spLocks noGrp="1"/>
              </p:cNvSpPr>
              <p:nvPr/>
            </p:nvSpPr>
            <p:spPr>
              <a:xfrm>
                <a:off x="533400" y="4358640"/>
                <a:ext cx="5951220" cy="620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2i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88"/>
              <p:cNvSpPr txBox="1">
                <a:spLocks noGrp="1"/>
              </p:cNvSpPr>
              <p:nvPr/>
            </p:nvSpPr>
            <p:spPr>
              <a:xfrm>
                <a:off x="533400" y="5148262"/>
                <a:ext cx="595122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Gauss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消元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回代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2" name="c2-table-1"/>
          <p:cNvGrpSpPr/>
          <p:nvPr/>
        </p:nvGrpSpPr>
        <p:grpSpPr>
          <a:xfrm>
            <a:off x="6784467" y="1524000"/>
            <a:ext cx="4874133" cy="2458116"/>
            <a:chOff x="6784467" y="1524000"/>
            <a:chExt cx="4874133" cy="2458116"/>
          </a:xfrm>
        </p:grpSpPr>
        <p:sp>
          <p:nvSpPr>
            <p:cNvPr id="15" name="Rectangle 15"/>
            <p:cNvSpPr/>
            <p:nvPr/>
          </p:nvSpPr>
          <p:spPr>
            <a:xfrm>
              <a:off x="6789420" y="1524000"/>
              <a:ext cx="4869180" cy="43910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2048" y="164877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3496" y="1648778"/>
              <a:ext cx="1147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Gauss 消元法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56629" y="1648778"/>
              <a:ext cx="1748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Cramer 法则 (n+1)!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92048" y="208788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0447" y="208788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4027" y="208788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89420" y="23974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89420" y="2402205"/>
              <a:ext cx="486918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39571" y="252698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00469" y="252698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24161" y="2526982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3.99×10⁷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28355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39571" y="29660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721918" y="2849880"/>
              <a:ext cx="1670685" cy="42005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50491" y="296608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3060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411652" y="2849880"/>
              <a:ext cx="2237422" cy="42005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074183" y="2966085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5.11×10¹⁹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32746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89420" y="3279458"/>
              <a:ext cx="486918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87095" y="340518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50536" y="340518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343300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24205" y="340518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9.43×10¹⁵⁹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21945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07630" y="1524000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397365" y="1524000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4467" y="3791426"/>
              <a:ext cx="4170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Cramer 法则按绪论的粗略估计：要算 n+1 个行列式，每个约 n! 次乘法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789420" y="4113848"/>
            <a:ext cx="4869180" cy="729615"/>
            <a:chOff x="6789420" y="4113848"/>
            <a:chExt cx="4869180" cy="729615"/>
          </a:xfrm>
        </p:grpSpPr>
        <p:sp>
          <p:nvSpPr>
            <p:cNvPr id="43" name="Rectangle 43"/>
            <p:cNvSpPr/>
            <p:nvPr/>
          </p:nvSpPr>
          <p:spPr>
            <a:xfrm>
              <a:off x="6789420" y="4113848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994208" y="4378645"/>
              <a:ext cx="200023" cy="200023"/>
              <a:chOff x="6994208" y="437864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994208" y="43786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127558" y="4445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296912" y="4260532"/>
              <a:ext cx="39827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20 时，按每秒 10⁹ 次乘除法计算，Cramer 法则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约需 1600 年，Gauss 消元法只要 3060 次乘除法。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789420" y="5013008"/>
            <a:ext cx="4869180" cy="978218"/>
            <a:chOff x="6789420" y="5013008"/>
            <a:chExt cx="4869180" cy="978218"/>
          </a:xfrm>
        </p:grpSpPr>
        <p:sp>
          <p:nvSpPr>
            <p:cNvPr id="49" name="Rectangle 49"/>
            <p:cNvSpPr/>
            <p:nvPr/>
          </p:nvSpPr>
          <p:spPr>
            <a:xfrm>
              <a:off x="6789420" y="5013008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994208" y="5402580"/>
              <a:ext cx="200026" cy="200026"/>
              <a:chOff x="6994208" y="540258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94208" y="54025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094220" y="54692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083108" y="55025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296912" y="5159692"/>
              <a:ext cx="39913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20 的分项：S回代 = 210，S消元 = 2850。n 较大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n³/3 占绝对多数，n 翻一倍，计算量约变为 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2602" cy="909257"/>
            <a:chOff x="520446" y="342900"/>
            <a:chExt cx="79926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988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565" y="407194"/>
              <a:ext cx="2778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Gauss 消元法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2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存储：消元结果就地覆盖，乘子存进被消成 0 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39115" y="1548765"/>
            <a:ext cx="5507355" cy="1899285"/>
            <a:chOff x="539115" y="1548765"/>
            <a:chExt cx="5507355" cy="1899285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增广矩阵共需存储 n(n+1) 个单元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19564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893570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用主元 a11 消去 a21, …, an1 后，这些位置变成 0，不必再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存，正好用来存乘子 l21, …, ln1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5869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524125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新算出的 aᵢⱼ⁽¹⁾、bᵢ⁽¹⁾ 直接存到原来的 aᵢⱼ、bᵢ 上，旧值以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后不再用到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9115" y="32175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3154680"/>
              <a:ext cx="4689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以后各步照此处理，消元结束时存储区变为 (2.2.8)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90"/>
              <p:cNvSpPr txBox="1">
                <a:spLocks noGrp="1"/>
              </p:cNvSpPr>
              <p:nvPr/>
            </p:nvSpPr>
            <p:spPr>
              <a:xfrm>
                <a:off x="533400" y="3579495"/>
                <a:ext cx="5735002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1n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2n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nn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2.2.8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llout-3"/>
          <p:cNvGrpSpPr/>
          <p:nvPr/>
        </p:nvGrpSpPr>
        <p:grpSpPr>
          <a:xfrm>
            <a:off x="533400" y="5210175"/>
            <a:ext cx="5735002" cy="782955"/>
            <a:chOff x="533400" y="5210175"/>
            <a:chExt cx="5735002" cy="782955"/>
          </a:xfrm>
        </p:grpSpPr>
        <p:sp>
          <p:nvSpPr>
            <p:cNvPr id="17" name="Rectangle 17"/>
            <p:cNvSpPr/>
            <p:nvPr/>
          </p:nvSpPr>
          <p:spPr>
            <a:xfrm>
              <a:off x="533400" y="5210175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501640"/>
              <a:ext cx="200026" cy="200025"/>
              <a:chOff x="738188" y="5501640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5016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5460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6572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358765"/>
              <a:ext cx="4672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编程时把第 17 页算法中的 l(i,k) 全部换成 a(i,k)，乘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子就自动存进了被消去元素的位置。</a:t>
              </a:r>
            </a:p>
          </p:txBody>
        </p:sp>
      </p:grpSp>
      <p:grpSp>
        <p:nvGrpSpPr>
          <p:cNvPr id="25" name="c2-text-1"/>
          <p:cNvGrpSpPr/>
          <p:nvPr/>
        </p:nvGrpSpPr>
        <p:grpSpPr>
          <a:xfrm>
            <a:off x="6565583" y="1548765"/>
            <a:ext cx="3942779" cy="293370"/>
            <a:chOff x="6565583" y="1548765"/>
            <a:chExt cx="3942779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6565583" y="1548765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(2.2.1) 消元结束后，存储区中的数据：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6573202" y="1973580"/>
            <a:ext cx="5085398" cy="1950720"/>
            <a:chOff x="6573202" y="1973580"/>
            <a:chExt cx="5085398" cy="1950720"/>
          </a:xfrm>
        </p:grpSpPr>
        <p:sp>
          <p:nvSpPr>
            <p:cNvPr id="26" name="Rectangle 26"/>
            <p:cNvSpPr/>
            <p:nvPr/>
          </p:nvSpPr>
          <p:spPr>
            <a:xfrm>
              <a:off x="6573202" y="1973580"/>
              <a:ext cx="5085398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89432" y="21126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18125" y="211264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69685" y="211264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21245" y="211264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08995" y="21126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67517" y="260032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6439" y="2600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37999" y="2600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89559" y="2600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99864" y="26003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73202" y="294417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73202" y="2948940"/>
              <a:ext cx="508539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67517" y="308800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34288" y="2958465"/>
              <a:ext cx="103251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75378" y="308800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26938" y="308800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78498" y="308800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55394" y="30880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573202" y="343185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7517" y="357568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34288" y="3446145"/>
              <a:ext cx="103251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75378" y="357568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84895" y="3446145"/>
              <a:ext cx="103251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26938" y="357568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22967" y="357568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12/5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88802" y="357568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33/5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73202" y="1973580"/>
              <a:ext cx="5085398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20000" y="197358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670608" y="197358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22168" y="197358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773728" y="197358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3"/>
          <p:cNvGrpSpPr/>
          <p:nvPr/>
        </p:nvGrpSpPr>
        <p:grpSpPr>
          <a:xfrm>
            <a:off x="6573202" y="4114800"/>
            <a:ext cx="5085398" cy="1059180"/>
            <a:chOff x="6573202" y="4114800"/>
            <a:chExt cx="5085398" cy="1059180"/>
          </a:xfrm>
        </p:grpSpPr>
        <p:sp>
          <p:nvSpPr>
            <p:cNvPr id="59" name="Rectangle 59"/>
            <p:cNvSpPr/>
            <p:nvPr/>
          </p:nvSpPr>
          <p:spPr>
            <a:xfrm>
              <a:off x="6573202" y="4114800"/>
              <a:ext cx="508539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777990" y="4544378"/>
              <a:ext cx="200026" cy="200025"/>
              <a:chOff x="6777990" y="454437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777990" y="45443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817729" y="45888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852444" y="46999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079933" y="4263390"/>
              <a:ext cx="4120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高亮格是乘子 lᵢₖ，其余系数是上三角矩阵 U，右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端列是 y = b⁽ⁿ⁻¹⁾。不需要为中间结果增加新的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存储单元。</a:t>
              </a:r>
            </a:p>
          </p:txBody>
        </p:sp>
      </p:grpSp>
      <p:grpSp>
        <p:nvGrpSpPr>
          <p:cNvPr id="71" name="c2-callout-4"/>
          <p:cNvGrpSpPr/>
          <p:nvPr/>
        </p:nvGrpSpPr>
        <p:grpSpPr>
          <a:xfrm>
            <a:off x="6573202" y="5364480"/>
            <a:ext cx="5085398" cy="782955"/>
            <a:chOff x="6573202" y="5364480"/>
            <a:chExt cx="5085398" cy="782955"/>
          </a:xfrm>
        </p:grpSpPr>
        <p:sp>
          <p:nvSpPr>
            <p:cNvPr id="66" name="Rectangle 66"/>
            <p:cNvSpPr/>
            <p:nvPr/>
          </p:nvSpPr>
          <p:spPr>
            <a:xfrm>
              <a:off x="6573202" y="5364480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777990" y="5655947"/>
              <a:ext cx="200023" cy="200023"/>
              <a:chOff x="6777990" y="5655947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777990" y="56559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11340" y="5722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079933" y="5513070"/>
              <a:ext cx="3930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把高亮的乘子放进单位下三角矩阵 L，就有 A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LU，这是下一节的主题。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4125" cy="3675697"/>
            <a:chOff x="667512" y="1835468"/>
            <a:chExt cx="6334125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矩阵的三角分解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242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把消元过程写成矩阵乘法，得到 A = LU，再推广到对称正定矩阵和三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对角矩阵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003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2.3.1 矩阵的 LU 分解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953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2.3.2 Doolittle 分解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642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2.3.3 平方根法和 LDLᵀ 分解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2.3.4 解三对角方程组的追赶法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09383" cy="909257"/>
            <a:chOff x="520446" y="342900"/>
            <a:chExt cx="6809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09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消元的矩阵描述：第 k 步消元相当于左乘 Gₖ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506860" cy="293370"/>
            <a:chOff x="525780" y="1548765"/>
            <a:chExt cx="55068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506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步消元写成矩阵形式：G₁(A, b) = (A⁽¹⁾, b⁽¹⁾)，其中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5"/>
              <p:cNvSpPr txBox="1">
                <a:spLocks noGrp="1"/>
              </p:cNvSpPr>
              <p:nvPr/>
            </p:nvSpPr>
            <p:spPr>
              <a:xfrm>
                <a:off x="533400" y="1973580"/>
                <a:ext cx="5410200" cy="1603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5780" y="3791902"/>
            <a:ext cx="4882515" cy="588645"/>
            <a:chOff x="525780" y="3791902"/>
            <a:chExt cx="4882515" cy="588645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3791902"/>
              <a:ext cx="48825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步左乘 Gₖ，它与单位矩阵只差第 k 列对角线以下的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lᵢₖ：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96"/>
              <p:cNvSpPr txBox="1">
                <a:spLocks noGrp="1"/>
              </p:cNvSpPr>
              <p:nvPr/>
            </p:nvSpPr>
            <p:spPr>
              <a:xfrm>
                <a:off x="533400" y="4511992"/>
                <a:ext cx="54102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nk</m:t>
                                    </m:r>
                                  </m:sub>
                                </m:sSub>
                              </m:e>
                              <m:e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2-text-1"/>
          <p:cNvGrpSpPr/>
          <p:nvPr/>
        </p:nvGrpSpPr>
        <p:grpSpPr>
          <a:xfrm>
            <a:off x="6240780" y="1548765"/>
            <a:ext cx="1943672" cy="293370"/>
            <a:chOff x="6240780" y="1548765"/>
            <a:chExt cx="1943672" cy="293370"/>
          </a:xfrm>
        </p:grpSpPr>
        <p:sp>
          <p:nvSpPr>
            <p:cNvPr id="13" name="TextBox 13"/>
            <p:cNvSpPr txBox="1"/>
            <p:nvPr/>
          </p:nvSpPr>
          <p:spPr>
            <a:xfrm>
              <a:off x="6240780" y="154876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 步消元连起来：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97"/>
              <p:cNvSpPr txBox="1">
                <a:spLocks noGrp="1"/>
              </p:cNvSpPr>
              <p:nvPr/>
            </p:nvSpPr>
            <p:spPr>
              <a:xfrm>
                <a:off x="6248400" y="1973580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2.3.1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2-card-3"/>
          <p:cNvGrpSpPr/>
          <p:nvPr/>
        </p:nvGrpSpPr>
        <p:grpSpPr>
          <a:xfrm>
            <a:off x="6248400" y="2621280"/>
            <a:ext cx="5410200" cy="2448878"/>
            <a:chOff x="6248400" y="2621280"/>
            <a:chExt cx="5410200" cy="2448878"/>
          </a:xfrm>
        </p:grpSpPr>
        <p:sp>
          <p:nvSpPr>
            <p:cNvPr id="16" name="Rectangle 16"/>
            <p:cNvSpPr/>
            <p:nvPr/>
          </p:nvSpPr>
          <p:spPr>
            <a:xfrm>
              <a:off x="6248400" y="2621280"/>
              <a:ext cx="5410200" cy="2448878"/>
            </a:xfrm>
            <a:prstGeom prst="roundRect">
              <a:avLst>
                <a:gd name="adj" fmla="val 54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57925" y="2754630"/>
              <a:ext cx="47625" cy="21821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96050" y="2830830"/>
              <a:ext cx="97155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72223" y="2866549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(2.2.1)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98"/>
                <p:cNvSpPr txBox="1">
                  <a:spLocks noGrp="1"/>
                </p:cNvSpPr>
                <p:nvPr/>
              </p:nvSpPr>
              <p:spPr>
                <a:xfrm>
                  <a:off x="6496050" y="3183255"/>
                  <a:ext cx="4953000" cy="10372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6488430" y="4340542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G₂G₁A = (3 2 1; 0 5/3 1/3; 0 0 12/5)，就是 (2.2.3)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的系数矩阵。</a:t>
              </a:r>
            </a:p>
          </p:txBody>
        </p:sp>
      </p:grpSp>
      <p:grpSp>
        <p:nvGrpSpPr>
          <p:cNvPr id="29" name="c2-callout-4"/>
          <p:cNvGrpSpPr/>
          <p:nvPr/>
        </p:nvGrpSpPr>
        <p:grpSpPr>
          <a:xfrm>
            <a:off x="6248400" y="5260658"/>
            <a:ext cx="5410200" cy="782955"/>
            <a:chOff x="6248400" y="5260658"/>
            <a:chExt cx="5410200" cy="782955"/>
          </a:xfrm>
        </p:grpSpPr>
        <p:sp>
          <p:nvSpPr>
            <p:cNvPr id="23" name="Rectangle 23"/>
            <p:cNvSpPr/>
            <p:nvPr/>
          </p:nvSpPr>
          <p:spPr>
            <a:xfrm>
              <a:off x="6248400" y="526065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53188" y="5552123"/>
              <a:ext cx="200026" cy="200026"/>
              <a:chOff x="6453188" y="5552123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453188" y="55521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53200" y="5618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42088" y="56521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5130" y="5409248"/>
              <a:ext cx="4453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Gₖ 是 Tₖᵢ(−lᵢₖ)（i = k+1, …, n）这几个初等矩阵的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乘积，它们作用在不同的行上，相乘次序无关。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5154" cy="909257"/>
            <a:chOff x="520446" y="342900"/>
            <a:chExt cx="74051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51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Gₖ 求逆只需变号，乘起来得到单位下三角矩阵 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03"/>
              <p:cNvSpPr txBox="1">
                <a:spLocks noGrp="1"/>
              </p:cNvSpPr>
              <p:nvPr/>
            </p:nvSpPr>
            <p:spPr>
              <a:xfrm>
                <a:off x="533400" y="1524000"/>
                <a:ext cx="5085398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nk</m:t>
                                    </m:r>
                                  </m:sub>
                                </m:sSub>
                              </m:e>
                              <m:e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04"/>
              <p:cNvSpPr txBox="1">
                <a:spLocks noGrp="1"/>
              </p:cNvSpPr>
              <p:nvPr/>
            </p:nvSpPr>
            <p:spPr>
              <a:xfrm>
                <a:off x="533400" y="3429000"/>
                <a:ext cx="5085398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llout-3"/>
          <p:cNvGrpSpPr/>
          <p:nvPr/>
        </p:nvGrpSpPr>
        <p:grpSpPr>
          <a:xfrm>
            <a:off x="533400" y="4819650"/>
            <a:ext cx="5085398" cy="782955"/>
            <a:chOff x="533400" y="4819650"/>
            <a:chExt cx="5085398" cy="782955"/>
          </a:xfrm>
        </p:grpSpPr>
        <p:sp>
          <p:nvSpPr>
            <p:cNvPr id="9" name="Rectangle 9"/>
            <p:cNvSpPr/>
            <p:nvPr/>
          </p:nvSpPr>
          <p:spPr>
            <a:xfrm>
              <a:off x="533400" y="4819650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38188" y="5111115"/>
              <a:ext cx="200026" cy="200025"/>
              <a:chOff x="738188" y="5111115"/>
              <a:chExt cx="200026" cy="2000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38188" y="51111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77926" y="51555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2642" y="52666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0130" y="4968240"/>
              <a:ext cx="3930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 G₁⁻¹G₂⁻¹⋯ 的次序相乘时，各列乘子互不干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扰，直接落到 L 的对应位置。</a:t>
              </a:r>
            </a:p>
          </p:txBody>
        </p:sp>
      </p:grpSp>
      <p:grpSp>
        <p:nvGrpSpPr>
          <p:cNvPr id="17" name="c2-text-1"/>
          <p:cNvGrpSpPr/>
          <p:nvPr/>
        </p:nvGrpSpPr>
        <p:grpSpPr>
          <a:xfrm>
            <a:off x="5915978" y="1548765"/>
            <a:ext cx="4063937" cy="293370"/>
            <a:chOff x="5915978" y="1548765"/>
            <a:chExt cx="4063937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5915978" y="1548765"/>
              <a:ext cx="4063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U = A⁽ⁿ⁻¹⁾，y = b⁽ⁿ⁻¹⁾，由 (2.3.1) 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105"/>
              <p:cNvSpPr txBox="1">
                <a:spLocks noGrp="1"/>
              </p:cNvSpPr>
              <p:nvPr/>
            </p:nvSpPr>
            <p:spPr>
              <a:xfrm>
                <a:off x="5923598" y="1973580"/>
                <a:ext cx="573500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LU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Ly</m:t>
                          </m:r>
                        </m:e>
                      </m:d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2.3.2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2-card-3"/>
          <p:cNvGrpSpPr/>
          <p:nvPr/>
        </p:nvGrpSpPr>
        <p:grpSpPr>
          <a:xfrm>
            <a:off x="5923598" y="2621280"/>
            <a:ext cx="5735002" cy="1847850"/>
            <a:chOff x="5923598" y="2621280"/>
            <a:chExt cx="5735002" cy="1847850"/>
          </a:xfrm>
        </p:grpSpPr>
        <p:sp>
          <p:nvSpPr>
            <p:cNvPr id="19" name="Rectangle 19"/>
            <p:cNvSpPr/>
            <p:nvPr/>
          </p:nvSpPr>
          <p:spPr>
            <a:xfrm>
              <a:off x="5923598" y="2621280"/>
              <a:ext cx="5735002" cy="1847850"/>
            </a:xfrm>
            <a:prstGeom prst="roundRect">
              <a:avLst>
                <a:gd name="adj" fmla="val 721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33148" y="28308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24308" y="28665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25528" y="3208020"/>
              <a:ext cx="5053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消元过程把 A 分解为单位下三角矩阵 L 与上三角矩阵 U 的乘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积：A = LU (2.3.3)；同时得到 Ly = b (2.3.4) 的解 y。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6670" y="3825716"/>
              <a:ext cx="5092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L、U、y 正好是存储区 (2.2.8) 的三部分：下三角的乘子（L 的对角元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不存）、上三角部分、右端列。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06"/>
              <p:cNvSpPr txBox="1">
                <a:spLocks noGrp="1"/>
              </p:cNvSpPr>
              <p:nvPr/>
            </p:nvSpPr>
            <p:spPr>
              <a:xfrm>
                <a:off x="5923598" y="4659630"/>
                <a:ext cx="5735002" cy="1037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0667" cy="909257"/>
            <a:chOff x="520446" y="342900"/>
            <a:chExt cx="75606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06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三角分解法解 Ax = b：先解 Ly = b，再解 Ux = 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700088" y="1923098"/>
            <a:ext cx="4427219" cy="4040504"/>
            <a:chOff x="700088" y="1923098"/>
            <a:chExt cx="4427219" cy="4040504"/>
          </a:xfrm>
        </p:grpSpPr>
        <p:sp>
          <p:nvSpPr>
            <p:cNvPr id="7" name="Freeform 7"/>
            <p:cNvSpPr/>
            <p:nvPr/>
          </p:nvSpPr>
          <p:spPr>
            <a:xfrm>
              <a:off x="1724025" y="2334578"/>
              <a:ext cx="9525" cy="693420"/>
            </a:xfrm>
            <a:custGeom>
              <a:avLst/>
              <a:gdLst/>
              <a:ahLst/>
              <a:cxnLst/>
              <a:rect l="l" t="t" r="r" b="b"/>
              <a:pathLst>
                <a:path w="9525" h="693420">
                  <a:moveTo>
                    <a:pt x="0" y="0"/>
                  </a:moveTo>
                  <a:lnTo>
                    <a:pt x="0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71638" y="30279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24025" y="3544252"/>
              <a:ext cx="9525" cy="693420"/>
            </a:xfrm>
            <a:custGeom>
              <a:avLst/>
              <a:gdLst/>
              <a:ahLst/>
              <a:cxnLst/>
              <a:rect l="l" t="t" r="r" b="b"/>
              <a:pathLst>
                <a:path w="9525" h="693420">
                  <a:moveTo>
                    <a:pt x="0" y="0"/>
                  </a:moveTo>
                  <a:lnTo>
                    <a:pt x="0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71638" y="42376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24025" y="4753928"/>
              <a:ext cx="9525" cy="693420"/>
            </a:xfrm>
            <a:custGeom>
              <a:avLst/>
              <a:gdLst/>
              <a:ahLst/>
              <a:cxnLst/>
              <a:rect l="l" t="t" r="r" b="b"/>
              <a:pathLst>
                <a:path w="9525" h="693420">
                  <a:moveTo>
                    <a:pt x="0" y="0"/>
                  </a:moveTo>
                  <a:lnTo>
                    <a:pt x="0" y="6934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71638" y="5447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51785" y="3338512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2747010" y="3286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51785" y="4548188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2286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747010" y="4495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0088" y="1923098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0088" y="3132772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0088" y="4342448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0088" y="5552122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80385" y="3132772"/>
              <a:ext cx="204692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080385" y="4246245"/>
              <a:ext cx="2046922" cy="603885"/>
            </a:xfrm>
            <a:prstGeom prst="roundRect">
              <a:avLst>
                <a:gd name="adj" fmla="val 12618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75979" y="2045018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Ax = 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91819" y="3254692"/>
              <a:ext cx="864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 A = LU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834" y="4464368"/>
              <a:ext cx="1678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Ly = b 得 y（前代）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7411" y="5674042"/>
              <a:ext cx="1713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 Ux = y 得 x（回代）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06661" y="3254692"/>
              <a:ext cx="15953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只做一次，约 n³/3 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81946" y="4361498"/>
              <a:ext cx="14447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每个右端都做，共 n²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5598795" y="1524000"/>
            <a:ext cx="6059805" cy="1568768"/>
            <a:chOff x="5598795" y="1524000"/>
            <a:chExt cx="6059805" cy="1568768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608320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35015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18454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两种约定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42635" y="21431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99226" y="2082641"/>
              <a:ext cx="51767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：L 为单位下三角矩阵（Gauss 消元得到的就是这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42635" y="27317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99226" y="2672239"/>
              <a:ext cx="2908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Crout 分解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：U 为单位上三角矩阵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598795" y="3272790"/>
            <a:ext cx="6059805" cy="1268730"/>
            <a:chOff x="5598795" y="3272790"/>
            <a:chExt cx="6059805" cy="1268730"/>
          </a:xfrm>
        </p:grpSpPr>
        <p:sp>
          <p:nvSpPr>
            <p:cNvPr id="39" name="Rectangle 39"/>
            <p:cNvSpPr/>
            <p:nvPr/>
          </p:nvSpPr>
          <p:spPr>
            <a:xfrm>
              <a:off x="5598795" y="3272790"/>
              <a:ext cx="605980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08320" y="340614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35015" y="34709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6455" y="35052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18326" y="3506629"/>
              <a:ext cx="29022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系数矩阵相同、右端不同：AX = 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27776" y="384952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只须对 A 做一次 LU 分解，再对 B 的每一列做一次前代和回代，节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省大量计算。</a:t>
              </a:r>
            </a:p>
          </p:txBody>
        </p:sp>
      </p:grpSp>
      <p:grpSp>
        <p:nvGrpSpPr>
          <p:cNvPr id="59" name="c2-table-3"/>
          <p:cNvGrpSpPr/>
          <p:nvPr/>
        </p:nvGrpSpPr>
        <p:grpSpPr>
          <a:xfrm>
            <a:off x="5593461" y="4722495"/>
            <a:ext cx="6065139" cy="1669352"/>
            <a:chOff x="5593461" y="4722495"/>
            <a:chExt cx="6065139" cy="1669352"/>
          </a:xfrm>
        </p:grpSpPr>
        <p:sp>
          <p:nvSpPr>
            <p:cNvPr id="46" name="Rectangle 46"/>
            <p:cNvSpPr/>
            <p:nvPr/>
          </p:nvSpPr>
          <p:spPr>
            <a:xfrm>
              <a:off x="5598795" y="4722495"/>
              <a:ext cx="6059805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68877" y="4854416"/>
              <a:ext cx="1622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20，20 个右端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24708" y="48544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乘除法次数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00141" y="5317331"/>
              <a:ext cx="26061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每个右端重做一次 Gauss 消元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04514" y="5317331"/>
              <a:ext cx="16106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× 3060 = 61200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56435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598795" y="5648325"/>
              <a:ext cx="605980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00141" y="5781199"/>
              <a:ext cx="2246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分解一次 + 20 次前代回代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769668" y="5657850"/>
              <a:ext cx="2879408" cy="4438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36889" y="5781199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2660 + 20 × 400 = 10660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4722495"/>
              <a:ext cx="6059805" cy="13896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755380" y="4722495"/>
              <a:ext cx="9525" cy="1389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593461" y="6186488"/>
              <a:ext cx="5412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分解 A 需 (n−1)n(n+1)/3 = 2660 次；前代 n(n−1)/2 + 回代 n(n+1)/2 = n² = 400 次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93747" cy="909257"/>
            <a:chOff x="520446" y="342900"/>
            <a:chExt cx="98937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937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分解：比较 A = LU 两边的元素，逐行逐列求出 U 和 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13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1260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1n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2n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161" y="2987516"/>
            <a:ext cx="5118461" cy="278702"/>
            <a:chOff x="526161" y="2987516"/>
            <a:chExt cx="5118461" cy="278702"/>
          </a:xfrm>
        </p:grpSpPr>
        <p:sp>
          <p:nvSpPr>
            <p:cNvPr id="8" name="TextBox 8"/>
            <p:cNvSpPr txBox="1"/>
            <p:nvPr/>
          </p:nvSpPr>
          <p:spPr>
            <a:xfrm>
              <a:off x="526161" y="2987516"/>
              <a:ext cx="51184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用待定系数法比较第 i 行的元素，对 i = 1, 2, …, n 依次算：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14"/>
              <p:cNvSpPr txBox="1">
                <a:spLocks noGrp="1"/>
              </p:cNvSpPr>
              <p:nvPr/>
            </p:nvSpPr>
            <p:spPr>
              <a:xfrm>
                <a:off x="533400" y="3390900"/>
                <a:ext cx="5626418" cy="679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15"/>
              <p:cNvSpPr txBox="1">
                <a:spLocks noGrp="1"/>
              </p:cNvSpPr>
              <p:nvPr/>
            </p:nvSpPr>
            <p:spPr>
              <a:xfrm>
                <a:off x="533400" y="4250055"/>
                <a:ext cx="5626418" cy="679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kj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llout-5"/>
          <p:cNvGrpSpPr/>
          <p:nvPr/>
        </p:nvGrpSpPr>
        <p:grpSpPr>
          <a:xfrm>
            <a:off x="533400" y="5109210"/>
            <a:ext cx="5626418" cy="1018222"/>
            <a:chOff x="533400" y="5109210"/>
            <a:chExt cx="5626418" cy="1018222"/>
          </a:xfrm>
        </p:grpSpPr>
        <p:sp>
          <p:nvSpPr>
            <p:cNvPr id="12" name="Rectangle 12"/>
            <p:cNvSpPr/>
            <p:nvPr/>
          </p:nvSpPr>
          <p:spPr>
            <a:xfrm>
              <a:off x="533400" y="5109210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518785"/>
              <a:ext cx="200026" cy="200025"/>
              <a:chOff x="738188" y="5518785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5187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5632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6743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511" y="5256371"/>
              <a:ext cx="451396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记法：U 的第 i 行 = A 的第 i 行减去“L 的第 i 行已知部分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× U 的对应列”；L 的第 i 列做同样的减法后，再除以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uᵢᵢ。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459284" y="1524000"/>
            <a:ext cx="5199316" cy="2596134"/>
            <a:chOff x="6459284" y="1524000"/>
            <a:chExt cx="5199316" cy="2596134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4629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5605" y="1655921"/>
              <a:ext cx="376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9095" y="1655921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48273" y="1655921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86498" y="1655921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5675" y="1655921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9918" y="2119789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76718" y="2119789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u₁₁ 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15896" y="2119789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u₁₂ 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54121" y="2119789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u₁₃ 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93298" y="2119789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u₁₄ ①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24460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4618" y="2450782"/>
              <a:ext cx="519398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9918" y="2582704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513320" y="2460308"/>
              <a:ext cx="102012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00613" y="2582704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l₂₁ 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15896" y="2582704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u₂₂ 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54121" y="2582704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u₂₃ 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93298" y="2582704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u₂₄ 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9089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69918" y="3045619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13320" y="2923222"/>
              <a:ext cx="102012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00613" y="3045619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l₃₁ 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551545" y="2923222"/>
              <a:ext cx="102012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39791" y="3045619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l₃₂ 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54121" y="3045619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u₃₃ 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93298" y="3045619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u₃₄ ⑤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3728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3377565"/>
              <a:ext cx="519398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69918" y="350948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513320" y="3387090"/>
              <a:ext cx="102012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00613" y="3509486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l₄₁ ②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51545" y="3387090"/>
              <a:ext cx="102012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839791" y="3509486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l₄₂ ④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590722" y="3387090"/>
              <a:ext cx="102012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78016" y="3509486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l₄₃ 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93298" y="3509486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u₄₄ ⑦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1524000"/>
              <a:ext cx="5193982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99032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37258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576435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614660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59284" y="3914775"/>
              <a:ext cx="4751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圈码是计算顺序：U 的第 1 行 → L 的第 1 列 → U 的第 2 行 → L 的第 2 列 → …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464618" y="4259580"/>
            <a:ext cx="5193982" cy="2022158"/>
            <a:chOff x="6464618" y="4259580"/>
            <a:chExt cx="5193982" cy="2022158"/>
          </a:xfrm>
        </p:grpSpPr>
        <p:sp>
          <p:nvSpPr>
            <p:cNvPr id="63" name="Rectangle 63"/>
            <p:cNvSpPr/>
            <p:nvPr/>
          </p:nvSpPr>
          <p:spPr>
            <a:xfrm>
              <a:off x="6464618" y="4259580"/>
              <a:ext cx="5193982" cy="2022158"/>
            </a:xfrm>
            <a:prstGeom prst="roundRect">
              <a:avLst>
                <a:gd name="adj" fmla="val 6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4142" y="4392930"/>
              <a:ext cx="47625" cy="17554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700838" y="445770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64274" y="449199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存在唯一性（补充）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93598" y="4818221"/>
              <a:ext cx="441477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 的顺序主子式 D1, D2, …, Dn−1 都不为零，则 A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分解存在且唯一，并且 uₖₖ = Dₖ/Dₖ₋₁（D0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1）。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94742" y="5674995"/>
              <a:ext cx="45156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(2.2.1)：D1 = 3，D2 = 5，D3 = 12，u11 = 3，u22 = 5/3，u33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12/5。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80352" cy="909257"/>
            <a:chOff x="520446" y="342900"/>
            <a:chExt cx="64803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803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2.3：Doolittle 分解与前代一起完成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786062"/>
            <a:chOff x="533400" y="1524000"/>
            <a:chExt cx="6059805" cy="27860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86062"/>
            </a:xfrm>
            <a:prstGeom prst="roundRect">
              <a:avLst>
                <a:gd name="adj" fmla="val 34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35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2.3（紧凑格式）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311" y="1940576"/>
              <a:ext cx="3843515" cy="2305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k = 1 : n</a:t>
              </a:r>
              <a:br/>
              <a:r>
                <a:rPr lang="en-US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= k : n              </a:t>
              </a:r>
              <a:r>
                <a:rPr lang="zh-CN" sz="127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U 的第 k 行</a:t>
              </a:r>
              <a:br/>
              <a:r>
                <a:rPr lang="el-GR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u[k][j] = a[k][j] - Σ l[k][s]*u[s][j]</a:t>
              </a:r>
              <a:br/>
              <a:r>
                <a:rPr lang="el-GR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y[k] = b[k] - Σ l[k][s]*y[s]   </a:t>
              </a:r>
              <a:r>
                <a:rPr lang="zh-CN" sz="127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前代</a:t>
              </a:r>
              <a:br/>
              <a:r>
                <a:rPr lang="en-US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= k+1 : n            </a:t>
              </a:r>
              <a:r>
                <a:rPr lang="zh-CN" sz="127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L 的第 k 列</a:t>
              </a:r>
              <a:br/>
              <a:r>
                <a:rPr lang="el-GR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l[i][k] = (a[i][k] - Σ l[i][s]*u[s][k])</a:t>
              </a:r>
              <a:br/>
              <a:r>
                <a:rPr lang="en-US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/ u[k][k]</a:t>
              </a:r>
              <a:br/>
              <a:r>
                <a:rPr lang="en-US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for k = n : -1 : 1           </a:t>
              </a:r>
              <a:r>
                <a:rPr lang="zh-CN" sz="127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回代</a:t>
              </a:r>
              <a:br/>
              <a:r>
                <a:rPr lang="el-GR" sz="127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x[k] = (y[k] - Σ u[k][j]*x[j]) / u[k][k]</a:t>
              </a:r>
              <a:br/>
              <a:r>
                <a:rPr lang="zh-CN" sz="127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前三个 Σ：s = 1..k-1；最后一个：j = k+1..n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7304" y="4510088"/>
            <a:ext cx="4158234" cy="234696"/>
            <a:chOff x="527304" y="4510088"/>
            <a:chExt cx="4158234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527304" y="4510088"/>
              <a:ext cx="4158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分解结束后 A 的存储区（与 (2.2.8) 的左边部分相同）：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18"/>
              <p:cNvSpPr txBox="1">
                <a:spLocks noGrp="1"/>
              </p:cNvSpPr>
              <p:nvPr/>
            </p:nvSpPr>
            <p:spPr>
              <a:xfrm>
                <a:off x="533400" y="4877752"/>
                <a:ext cx="6059805" cy="1380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1n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2n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2-kv-1"/>
          <p:cNvGrpSpPr/>
          <p:nvPr/>
        </p:nvGrpSpPr>
        <p:grpSpPr>
          <a:xfrm>
            <a:off x="6890766" y="1547336"/>
            <a:ext cx="4767834" cy="1647445"/>
            <a:chOff x="6890766" y="1547336"/>
            <a:chExt cx="4767834" cy="1647445"/>
          </a:xfrm>
        </p:grpSpPr>
        <p:sp>
          <p:nvSpPr>
            <p:cNvPr id="14" name="TextBox 14"/>
            <p:cNvSpPr txBox="1"/>
            <p:nvPr/>
          </p:nvSpPr>
          <p:spPr>
            <a:xfrm>
              <a:off x="6890766" y="15473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01344" y="1547336"/>
              <a:ext cx="364832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Gauss 消元法相同，分解部分约 n³/3 次乘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98005" y="21183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90766" y="223123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01344" y="2231231"/>
              <a:ext cx="372046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L、U 直接写回 A 的位置，L 的对角元 1 不存，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(2.2.8) 相同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98005" y="28022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90766" y="29160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1344" y="2916079"/>
              <a:ext cx="33789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uₖₖ ≠ 0，否则要选主元（2.4 节）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6898005" y="3318510"/>
            <a:ext cx="4760595" cy="756285"/>
            <a:chOff x="6898005" y="3318510"/>
            <a:chExt cx="4760595" cy="756285"/>
          </a:xfrm>
        </p:grpSpPr>
        <p:sp>
          <p:nvSpPr>
            <p:cNvPr id="23" name="Rectangle 23"/>
            <p:cNvSpPr/>
            <p:nvPr/>
          </p:nvSpPr>
          <p:spPr>
            <a:xfrm>
              <a:off x="6898005" y="3318510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102793" y="3596642"/>
              <a:ext cx="200023" cy="200023"/>
              <a:chOff x="7102793" y="3596642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102793" y="35966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36143" y="3663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405116" y="3465671"/>
              <a:ext cx="355815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在分解的同时算出，所以做完 Doolittle 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解，再回代解 Ux = y，方程组就解完了。</a:t>
              </a:r>
            </a:p>
          </p:txBody>
        </p:sp>
      </p:grpSp>
      <p:grpSp>
        <p:nvGrpSpPr>
          <p:cNvPr id="35" name="c2-callout-3"/>
          <p:cNvGrpSpPr/>
          <p:nvPr/>
        </p:nvGrpSpPr>
        <p:grpSpPr>
          <a:xfrm>
            <a:off x="6898005" y="4254818"/>
            <a:ext cx="4760595" cy="1018222"/>
            <a:chOff x="6898005" y="4254818"/>
            <a:chExt cx="4760595" cy="1018222"/>
          </a:xfrm>
        </p:grpSpPr>
        <p:sp>
          <p:nvSpPr>
            <p:cNvPr id="29" name="Rectangle 29"/>
            <p:cNvSpPr/>
            <p:nvPr/>
          </p:nvSpPr>
          <p:spPr>
            <a:xfrm>
              <a:off x="6898005" y="4254818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090734" y="4660701"/>
              <a:ext cx="224134" cy="192560"/>
              <a:chOff x="7090734" y="4660701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202805" y="47310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0734" y="46607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02805" y="48088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405116" y="4401979"/>
              <a:ext cx="376555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易错：算 uₖⱼ 时求和到 k − 1，只用已经算好的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 的第 k 行和 U 的第 j 列；lᵢₖ 最后要除以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uₖₖ，uₖⱼ 不除。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52302" cy="909257"/>
            <a:chOff x="520446" y="342900"/>
            <a:chExt cx="63523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523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Doolittle 分解解方程组 (2.2.1)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6276022" cy="4274820"/>
            <a:chOff x="533400" y="1524000"/>
            <a:chExt cx="6276022" cy="4274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2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510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809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7515" y="2221706"/>
              <a:ext cx="2054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u₁ⱼ = a₁ⱼ；lᵢ₁ = aᵢ₁/u₁₁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18813" y="2108359"/>
              <a:ext cx="21343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u11 = 3，u12 = 2，u13 = 1；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l21 = 2/3，l31 = 1/3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7515" y="2783681"/>
              <a:ext cx="23050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u₂₂ = a₂₂ − l₂₁u₁₂，u₂₃ = a₂₃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l₂₁u₁₃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18813" y="2783681"/>
              <a:ext cx="23131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u22 = 3 − 4/3 = 5/3，u23 = 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2/3 = 1/3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57515" y="3459004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l₃₂ = (a₃₂ − l₃₁u₁₂)/u₂₂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18813" y="3459004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l32 = (2 − 2/3)/(5/3) = 4/5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768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77285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90763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57515" y="3907631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u₃₃ = a₃₃ − l₃₁u₁₃ − l₃₂u₂₃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8813" y="3907631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u33 = 3 − 1/3 − 4/15 = 12/5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167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4705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57515" y="4357211"/>
              <a:ext cx="23375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 = b₁，y₂ = b₂ − l₂₁y₁，y₃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b₃ − l₃₁y₁ − l₃₂y₂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18813" y="4357211"/>
              <a:ext cx="22725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y2 = 34 − 26 = 8，y3 = 26 − 13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− 32/5 = 33/5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89204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896802"/>
              <a:ext cx="6276022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52592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57515" y="5032534"/>
              <a:ext cx="233756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= y₃/u₃₃，x₂ = (y₂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u₂₃x₃)/u₂₂，x₁ = (y₁ − u₁₂x₂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u₁₃x₃)/u₁₁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8813" y="5259229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(37/4, 17/4, 11/4)ᵀ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524000"/>
              <a:ext cx="6276022" cy="4274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344930" y="1524000"/>
              <a:ext cx="9525" cy="4274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06228" y="1524000"/>
              <a:ext cx="9525" cy="4274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121"/>
              <p:cNvSpPr txBox="1">
                <a:spLocks noGrp="1"/>
              </p:cNvSpPr>
              <p:nvPr/>
            </p:nvSpPr>
            <p:spPr>
              <a:xfrm>
                <a:off x="7114222" y="1524000"/>
                <a:ext cx="4544378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formula122"/>
              <p:cNvSpPr txBox="1">
                <a:spLocks noGrp="1"/>
              </p:cNvSpPr>
              <p:nvPr/>
            </p:nvSpPr>
            <p:spPr>
              <a:xfrm>
                <a:off x="7114222" y="2705100"/>
                <a:ext cx="454437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39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33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52" name="c2-card-3"/>
          <p:cNvGrpSpPr/>
          <p:nvPr/>
        </p:nvGrpSpPr>
        <p:grpSpPr>
          <a:xfrm>
            <a:off x="7114222" y="3352800"/>
            <a:ext cx="4544378" cy="1986915"/>
            <a:chOff x="7114222" y="3352800"/>
            <a:chExt cx="4544378" cy="1986915"/>
          </a:xfrm>
        </p:grpSpPr>
        <p:sp>
          <p:nvSpPr>
            <p:cNvPr id="42" name="Rectangle 42"/>
            <p:cNvSpPr/>
            <p:nvPr/>
          </p:nvSpPr>
          <p:spPr>
            <a:xfrm>
              <a:off x="7114222" y="3352800"/>
              <a:ext cx="454437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23748" y="34861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61872" y="35623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35329" y="35980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与消元法对照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67588" y="40024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25702" y="3939540"/>
              <a:ext cx="2508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就是 (2.2.3) 的系数矩阵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67588" y="43376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25702" y="427482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l21 = 2/3、l31 = 1/3、l32 = 4/5 就是两步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消元的乘子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67588" y="49587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25702" y="4895850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就是 (2.2.3) 的右端</a:t>
              </a:r>
            </a:p>
          </p:txBody>
        </p:sp>
      </p:grpSp>
      <p:grpSp>
        <p:nvGrpSpPr>
          <p:cNvPr id="59" name="c2-callout-4"/>
          <p:cNvGrpSpPr/>
          <p:nvPr/>
        </p:nvGrpSpPr>
        <p:grpSpPr>
          <a:xfrm>
            <a:off x="7114222" y="5530215"/>
            <a:ext cx="4544378" cy="782955"/>
            <a:chOff x="7114222" y="5530215"/>
            <a:chExt cx="4544378" cy="782955"/>
          </a:xfrm>
        </p:grpSpPr>
        <p:sp>
          <p:nvSpPr>
            <p:cNvPr id="53" name="Rectangle 53"/>
            <p:cNvSpPr/>
            <p:nvPr/>
          </p:nvSpPr>
          <p:spPr>
            <a:xfrm>
              <a:off x="7114222" y="553021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19010" y="5821680"/>
              <a:ext cx="200026" cy="200025"/>
              <a:chOff x="7319010" y="5821680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19010" y="58216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358749" y="58661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393464" y="59772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620952" y="567880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两种算法做的乘除法完全相同，只是计算的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先后次序不同。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9357" cy="909257"/>
            <a:chOff x="520446" y="342900"/>
            <a:chExt cx="83293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9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同一个矩阵的三种三角分解：Doolittle、LDU、Crout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328160" cy="2043112"/>
            <a:chOff x="533400" y="1524000"/>
            <a:chExt cx="4328160" cy="2043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759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 = LU，L 为单位下三角矩阵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351172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Crout 分解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 = LU，U 为单位上三角矩阵，L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为一般下三角矩阵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337370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LDU 分解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 = LDU，D = diag(d1, …, dn)，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L、U 分别为单位下三角和单位上三角矩阵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37610"/>
            <a:ext cx="4328160" cy="2077402"/>
            <a:chOff x="533400" y="3737610"/>
            <a:chExt cx="4328160" cy="2077402"/>
          </a:xfrm>
        </p:grpSpPr>
        <p:sp>
          <p:nvSpPr>
            <p:cNvPr id="18" name="Rectangle 18"/>
            <p:cNvSpPr/>
            <p:nvPr/>
          </p:nvSpPr>
          <p:spPr>
            <a:xfrm>
              <a:off x="533400" y="3737610"/>
              <a:ext cx="4328160" cy="2077402"/>
            </a:xfrm>
            <a:prstGeom prst="roundRect">
              <a:avLst>
                <a:gd name="adj" fmla="val 641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0090" y="392430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659" y="395716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互相转换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32" y="426815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Doolittle 分解中把 U 的对角元提出来：U = DU₁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（U₁ 单位上三角），得 LDU 分解 A = LDU₁。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4825365"/>
              <a:ext cx="3408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再令 L₁ = LD，得 Crout 分解 A = L₁U₁。</a:t>
              </a:r>
            </a:p>
          </p:txBody>
        </p:sp>
      </p:grpSp>
      <p:grpSp>
        <p:nvGrpSpPr>
          <p:cNvPr id="25" name="c2-text-1"/>
          <p:cNvGrpSpPr/>
          <p:nvPr/>
        </p:nvGrpSpPr>
        <p:grpSpPr>
          <a:xfrm>
            <a:off x="5160645" y="1542574"/>
            <a:ext cx="5352627" cy="220028"/>
            <a:chOff x="5160645" y="1542574"/>
            <a:chExt cx="5352627" cy="220028"/>
          </a:xfrm>
        </p:grpSpPr>
        <p:sp>
          <p:nvSpPr>
            <p:cNvPr id="24" name="TextBox 24"/>
            <p:cNvSpPr txBox="1"/>
            <p:nvPr/>
          </p:nvSpPr>
          <p:spPr>
            <a:xfrm>
              <a:off x="5160645" y="1542574"/>
              <a:ext cx="5352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方程组 (2.2.1) 的系数矩阵，依次为 Doolittle 分解、LDU 分解、Crout 分解：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32"/>
              <p:cNvSpPr txBox="1">
                <a:spLocks noGrp="1"/>
              </p:cNvSpPr>
              <p:nvPr/>
            </p:nvSpPr>
            <p:spPr>
              <a:xfrm>
                <a:off x="5166360" y="1887855"/>
                <a:ext cx="6492240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33"/>
              <p:cNvSpPr txBox="1">
                <a:spLocks noGrp="1"/>
              </p:cNvSpPr>
              <p:nvPr/>
            </p:nvSpPr>
            <p:spPr>
              <a:xfrm>
                <a:off x="5166360" y="2953702"/>
                <a:ext cx="6492240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34"/>
              <p:cNvSpPr txBox="1">
                <a:spLocks noGrp="1"/>
              </p:cNvSpPr>
              <p:nvPr/>
            </p:nvSpPr>
            <p:spPr>
              <a:xfrm>
                <a:off x="5166360" y="4019550"/>
                <a:ext cx="6492240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5" name="c2-callout-5"/>
          <p:cNvGrpSpPr/>
          <p:nvPr/>
        </p:nvGrpSpPr>
        <p:grpSpPr>
          <a:xfrm>
            <a:off x="5166360" y="5085398"/>
            <a:ext cx="6492240" cy="729615"/>
            <a:chOff x="5166360" y="5085398"/>
            <a:chExt cx="6492240" cy="729615"/>
          </a:xfrm>
        </p:grpSpPr>
        <p:sp>
          <p:nvSpPr>
            <p:cNvPr id="29" name="Rectangle 29"/>
            <p:cNvSpPr/>
            <p:nvPr/>
          </p:nvSpPr>
          <p:spPr>
            <a:xfrm>
              <a:off x="5166360" y="5085398"/>
              <a:ext cx="649224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371148" y="5350193"/>
              <a:ext cx="200026" cy="200025"/>
              <a:chOff x="5371148" y="5350193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371148" y="53501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410886" y="53946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445602" y="55057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673852" y="5232083"/>
              <a:ext cx="538010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三种分解的对角元都来自 D = diag(3, 5/3, 12/5)，所以 det(A) = 3 ×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5/3 × 12/5 = 12。Doolittle 把 D 放在 U 里，Crout 把 D 放在 L 里。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09573" cy="909257"/>
            <a:chOff x="520446" y="342900"/>
            <a:chExt cx="84095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095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对称正定矩阵：A = LLᵀ（Cholesky 分解，平方根法）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158740" cy="883920"/>
            <a:chOff x="525780" y="1548765"/>
            <a:chExt cx="5158740" cy="8839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15874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对称正定时，存在非奇异下三角矩阵 L，使 A = LLᵀ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(2.3.9)；限定 L 的对角元为正时分解唯一。比较两边对应元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39"/>
              <p:cNvSpPr txBox="1">
                <a:spLocks noGrp="1"/>
              </p:cNvSpPr>
              <p:nvPr/>
            </p:nvSpPr>
            <p:spPr>
              <a:xfrm>
                <a:off x="533400" y="2564130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j2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jj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2.3.10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40"/>
              <p:cNvSpPr txBox="1">
                <a:spLocks noGrp="1"/>
              </p:cNvSpPr>
              <p:nvPr/>
            </p:nvSpPr>
            <p:spPr>
              <a:xfrm>
                <a:off x="533400" y="3211830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i1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i2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2.3.11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llout-4"/>
          <p:cNvGrpSpPr/>
          <p:nvPr/>
        </p:nvGrpSpPr>
        <p:grpSpPr>
          <a:xfrm>
            <a:off x="533400" y="3859530"/>
            <a:ext cx="5410200" cy="782955"/>
            <a:chOff x="533400" y="3859530"/>
            <a:chExt cx="5410200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385953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150995"/>
              <a:ext cx="200026" cy="200026"/>
              <a:chOff x="738188" y="415099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1509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2176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2510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008120"/>
              <a:ext cx="3787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按列求 L 的元素：l11, l21, …, ln1；l22, …,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ln2；…；ln−1,n−1, ln,n−1；ln,n。</a:t>
              </a:r>
            </a:p>
          </p:txBody>
        </p:sp>
      </p:grpSp>
      <p:grpSp>
        <p:nvGrpSpPr>
          <p:cNvPr id="23" name="c1-kv-5"/>
          <p:cNvGrpSpPr/>
          <p:nvPr/>
        </p:nvGrpSpPr>
        <p:grpSpPr>
          <a:xfrm>
            <a:off x="525780" y="4857750"/>
            <a:ext cx="5417820" cy="733425"/>
            <a:chOff x="525780" y="4857750"/>
            <a:chExt cx="5417820" cy="733425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8577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8742" y="4857750"/>
              <a:ext cx="41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n³/6 + n²/2 − 2n/3 次乘除法，外加 n 次开方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1777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52978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存储量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68742" y="529780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n(n+1)/2，只存下三角部分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2853690"/>
            <a:chOff x="6248400" y="1524000"/>
            <a:chExt cx="5410200" cy="285369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853690"/>
            </a:xfrm>
            <a:prstGeom prst="roundRect">
              <a:avLst>
                <a:gd name="adj" fmla="val 467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579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95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 2.4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49490" y="1768792"/>
              <a:ext cx="1595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j = 1, 2, …, 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41"/>
                <p:cNvSpPr txBox="1">
                  <a:spLocks noGrp="1"/>
                </p:cNvSpPr>
                <p:nvPr/>
              </p:nvSpPr>
              <p:spPr>
                <a:xfrm>
                  <a:off x="6457950" y="2105025"/>
                  <a:ext cx="4991100" cy="7086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  <m:e>
                                    <m:sSubSup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jk</m:t>
                                        </m:r>
                                      </m:sub>
                                      <m:sup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42"/>
                <p:cNvSpPr txBox="1">
                  <a:spLocks noGrp="1"/>
                </p:cNvSpPr>
                <p:nvPr/>
              </p:nvSpPr>
              <p:spPr>
                <a:xfrm>
                  <a:off x="6457950" y="2908935"/>
                  <a:ext cx="4991100" cy="7086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ik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6451473" y="3734276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算出的 lᵢⱼ 可以直接写回 aᵢⱼ 的位置。对角元用开平方求得，所以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又叫平方根法。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248400" y="4568190"/>
            <a:ext cx="5410200" cy="782955"/>
            <a:chOff x="6248400" y="4568190"/>
            <a:chExt cx="5410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6248400" y="456819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4859655"/>
              <a:ext cx="200026" cy="200025"/>
              <a:chOff x="6453188" y="485965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3188" y="48596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92926" y="49041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27642" y="50152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130" y="4716780"/>
              <a:ext cx="4139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数值稳定（补充）：由 (2.3.10)，每个 lⱼₖ² 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aⱼⱼ，分解过程中元素不会增长，不需要选主元。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例（补充）：用平方根法解对称正定方程组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40717" cy="308039"/>
            <a:chOff x="525399" y="1550194"/>
            <a:chExt cx="984071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407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(4 2 −2; 2 2 −3; −2 −3 14)，b = (6, 3, 6)ᵀ。A 对称，顺序主子式 4、4、36 全为正，所以正定。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67865"/>
            <a:ext cx="5410200" cy="2926080"/>
            <a:chOff x="533400" y="1967865"/>
            <a:chExt cx="5410200" cy="29260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44980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按列计算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52010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594610"/>
              <a:ext cx="1022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l₁₁ = √a₁₁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86200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938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94322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82290"/>
              <a:ext cx="2825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l₂₁ = a₂₁/l₁₁，l₃₁ = a₃₁/l₁₁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86200" y="3082290"/>
              <a:ext cx="550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1，−1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080" y="3569970"/>
              <a:ext cx="19128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l₂₂ = √(a₂₂ − l₂₁²)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86200" y="3569970"/>
              <a:ext cx="1146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√(2 − 1) = 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138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1858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4057650"/>
              <a:ext cx="2389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l₃₂ = (a₃₂ − l₃₁l₂₁)/l₂₂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86200" y="4057650"/>
              <a:ext cx="1479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(−3 + 1)/1 = −2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015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4545330"/>
              <a:ext cx="2570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l₃₃ = √(a₃₃ − l₃₁² − l₃₂²)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6200" y="4545330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√(14 − 1 − 4) = 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967865"/>
              <a:ext cx="5410200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74758" y="1967865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144"/>
              <p:cNvSpPr txBox="1">
                <a:spLocks noGrp="1"/>
              </p:cNvSpPr>
              <p:nvPr/>
            </p:nvSpPr>
            <p:spPr>
              <a:xfrm>
                <a:off x="533400" y="5084445"/>
                <a:ext cx="5410200" cy="1037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1" name="c2-steps-1"/>
          <p:cNvGrpSpPr/>
          <p:nvPr/>
        </p:nvGrpSpPr>
        <p:grpSpPr>
          <a:xfrm>
            <a:off x="6248400" y="1977390"/>
            <a:ext cx="5147945" cy="1696689"/>
            <a:chOff x="6248400" y="1977390"/>
            <a:chExt cx="5147945" cy="1696689"/>
          </a:xfrm>
        </p:grpSpPr>
        <p:sp>
          <p:nvSpPr>
            <p:cNvPr id="32" name="Rectangle 32"/>
            <p:cNvSpPr/>
            <p:nvPr/>
          </p:nvSpPr>
          <p:spPr>
            <a:xfrm>
              <a:off x="6381750" y="2120265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248400" y="1977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28622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2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9880" y="2011680"/>
              <a:ext cx="88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Ly = 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023" y="2304574"/>
              <a:ext cx="47353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2y1 = 6，y1 = 3；y1 + y2 = 3，y2 = 0；−y1 − 2y2 + 3y3 = 6，y3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9880" y="2896552"/>
              <a:ext cx="1005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Lᵀx = 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023" y="3190399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3x3 = 3，x3 = 1；x2 − 2x3 = 0，x2 = 2；2x1 + x2 − x3 = 3，x1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248400" y="3852862"/>
            <a:ext cx="5410200" cy="782955"/>
            <a:chOff x="6248400" y="3852862"/>
            <a:chExt cx="5410200" cy="782955"/>
          </a:xfrm>
        </p:grpSpPr>
        <p:sp>
          <p:nvSpPr>
            <p:cNvPr id="42" name="Rectangle 42"/>
            <p:cNvSpPr/>
            <p:nvPr/>
          </p:nvSpPr>
          <p:spPr>
            <a:xfrm>
              <a:off x="6248400" y="385286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4144328"/>
              <a:ext cx="200026" cy="200026"/>
              <a:chOff x="6453188" y="414432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453188" y="41443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19863" y="42221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130" y="4001452"/>
              <a:ext cx="4234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(1, 2, 1)ᵀ。验算：4 + 4 − 2 = 6，2 + 4 − 3 =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3，−2 − 6 + 14 = 6。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248400" y="4826318"/>
            <a:ext cx="5410200" cy="782955"/>
            <a:chOff x="6248400" y="4826318"/>
            <a:chExt cx="5410200" cy="782955"/>
          </a:xfrm>
        </p:grpSpPr>
        <p:sp>
          <p:nvSpPr>
            <p:cNvPr id="48" name="Rectangle 48"/>
            <p:cNvSpPr/>
            <p:nvPr/>
          </p:nvSpPr>
          <p:spPr>
            <a:xfrm>
              <a:off x="6248400" y="482631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41129" y="5114091"/>
              <a:ext cx="224134" cy="192560"/>
              <a:chOff x="6441129" y="5114091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553200" y="51844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41129" y="51140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53200" y="52622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4974908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易错：第二步解的是 Lᵀx = y，系数矩阵是 L 的转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置，从最后一个方程往上回代。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27242" cy="909257"/>
            <a:chOff x="520446" y="342900"/>
            <a:chExt cx="61272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272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LDLᵀ 分解：不用开平方的对称正定分解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345811" cy="795528"/>
            <a:chOff x="526542" y="1545907"/>
            <a:chExt cx="5345811" cy="795528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45811" cy="795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开平方比乘除法费时。为避开开方，把对称正定矩阵分解为 A = LDLᵀ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(2.3.12)，L 单位下三角，D 是对角元均为正的对角矩阵。比较两边元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57"/>
              <p:cNvSpPr txBox="1">
                <a:spLocks noGrp="1"/>
              </p:cNvSpPr>
              <p:nvPr/>
            </p:nvSpPr>
            <p:spPr>
              <a:xfrm>
                <a:off x="533400" y="2458402"/>
                <a:ext cx="5626418" cy="620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b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jk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2.3.13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58"/>
              <p:cNvSpPr txBox="1">
                <a:spLocks noGrp="1"/>
              </p:cNvSpPr>
              <p:nvPr/>
            </p:nvSpPr>
            <p:spPr>
              <a:xfrm>
                <a:off x="533400" y="3248978"/>
                <a:ext cx="5626418" cy="620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ik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jk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2.3.14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llout-4"/>
          <p:cNvGrpSpPr/>
          <p:nvPr/>
        </p:nvGrpSpPr>
        <p:grpSpPr>
          <a:xfrm>
            <a:off x="533400" y="4038600"/>
            <a:ext cx="5626418" cy="729615"/>
            <a:chOff x="533400" y="4038600"/>
            <a:chExt cx="5626418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403860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303395"/>
              <a:ext cx="200026" cy="200025"/>
              <a:chOff x="738188" y="4303395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3033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3478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44589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184332"/>
              <a:ext cx="45914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dⱼ &gt; 0 的原因（补充）：DLᵀ 就是 Doolittle 分解的 U，所以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dⱼ = uⱼⱼ = Dⱼ/Dⱼ₋₁ &gt; 0。</a:t>
              </a:r>
            </a:p>
          </p:txBody>
        </p:sp>
      </p:grpSp>
      <p:grpSp>
        <p:nvGrpSpPr>
          <p:cNvPr id="23" name="c1-card-5"/>
          <p:cNvGrpSpPr/>
          <p:nvPr/>
        </p:nvGrpSpPr>
        <p:grpSpPr>
          <a:xfrm>
            <a:off x="533400" y="4937760"/>
            <a:ext cx="5626418" cy="1185862"/>
            <a:chOff x="533400" y="4937760"/>
            <a:chExt cx="5626418" cy="1185862"/>
          </a:xfrm>
        </p:grpSpPr>
        <p:sp>
          <p:nvSpPr>
            <p:cNvPr id="18" name="Rectangle 18"/>
            <p:cNvSpPr/>
            <p:nvPr/>
          </p:nvSpPr>
          <p:spPr>
            <a:xfrm>
              <a:off x="533400" y="4937760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507111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51244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862" y="51573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332" y="5469255"/>
              <a:ext cx="49257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原课件写“在计算机上进行开平方运算是理想的”，与后文“为避免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开方运算”矛盾，应为“不理想的”。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2496502"/>
            <a:chOff x="6464618" y="1524000"/>
            <a:chExt cx="5193982" cy="2496502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2496502"/>
            </a:xfrm>
            <a:prstGeom prst="roundRect">
              <a:avLst>
                <a:gd name="adj" fmla="val 534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51308" y="1710690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36554" y="1743551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 2.5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72172" y="1745932"/>
              <a:ext cx="1991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引入辅助量 ãᵢⱼ = lᵢⱼdⱼ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44449" y="2071688"/>
              <a:ext cx="2467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j = 1, 2, …, n，依次计算：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59"/>
                <p:cNvSpPr txBox="1">
                  <a:spLocks noGrp="1"/>
                </p:cNvSpPr>
                <p:nvPr/>
              </p:nvSpPr>
              <p:spPr>
                <a:xfrm>
                  <a:off x="6651308" y="2349818"/>
                  <a:ext cx="4820602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acc>
                                  <m:accPr>
                                    <m:chr m:val="˜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jk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jk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60"/>
                <p:cNvSpPr txBox="1">
                  <a:spLocks noGrp="1"/>
                </p:cNvSpPr>
                <p:nvPr/>
              </p:nvSpPr>
              <p:spPr>
                <a:xfrm>
                  <a:off x="6651308" y="2994660"/>
                  <a:ext cx="4820602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˜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acc>
                                  <m:accPr>
                                    <m:chr m:val="˜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ik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acc>
                              <m:accPr>
                                <m:chr m:val="˜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645592" y="3658076"/>
              <a:ext cx="2838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ãᵢₖ 保存了 lᵢₖdₖ，求和时不必重复相乘。</a:t>
              </a:r>
            </a:p>
          </p:txBody>
        </p:sp>
      </p:grpSp>
      <p:grpSp>
        <p:nvGrpSpPr>
          <p:cNvPr id="46" name="c2-steps-2"/>
          <p:cNvGrpSpPr/>
          <p:nvPr/>
        </p:nvGrpSpPr>
        <p:grpSpPr>
          <a:xfrm>
            <a:off x="6464618" y="4199572"/>
            <a:ext cx="2264262" cy="1685450"/>
            <a:chOff x="6464618" y="4199572"/>
            <a:chExt cx="2264262" cy="1685450"/>
          </a:xfrm>
        </p:grpSpPr>
        <p:sp>
          <p:nvSpPr>
            <p:cNvPr id="33" name="Rectangle 33"/>
            <p:cNvSpPr/>
            <p:nvPr/>
          </p:nvSpPr>
          <p:spPr>
            <a:xfrm>
              <a:off x="6597968" y="434244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464618" y="41995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8241" y="42733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64618" y="478250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8241" y="48563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64618" y="53654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8241" y="54392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6860" y="4231958"/>
              <a:ext cx="79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Ly = 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8002" y="449913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6860" y="4814887"/>
              <a:ext cx="79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Dz = 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78002" y="5082064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zᵢ = yᵢ/dᵢ，i = 1, 2, …, 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6860" y="5397818"/>
              <a:ext cx="9051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Lᵀx = z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8002" y="566499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x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2413" cy="909257"/>
            <a:chOff x="520446" y="342900"/>
            <a:chExt cx="83724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24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LDLᵀ 分解解 3 阶方程组（原课件只给了题目）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96933" cy="308039"/>
            <a:chOff x="525399" y="1550194"/>
            <a:chExt cx="1069693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9693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(3 3 5; 3 5 9; 5 9 17)，b = (10, 16, 30)ᵀ。A 对称，顺序主子式 3、6、4 全为正。下面按算法 2.5 算完。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67865"/>
            <a:ext cx="6059805" cy="2475548"/>
            <a:chOff x="533400" y="1967865"/>
            <a:chExt cx="6059805" cy="247554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1719" y="2102644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44782" y="210264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85281" y="2102644"/>
              <a:ext cx="1506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ãᵢⱼ 与 lᵢⱼ（i &gt; j）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66461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6046" y="2664619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 = a₁₁ = 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92093" y="2551271"/>
              <a:ext cx="24594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ã₂₁ = 3，l₂₁ = 1；ã₃₁ = 5，l₃₁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870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9181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34089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6046" y="334089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d₂ = a₂₂ − ã₂₁l₂₁ = 5 − 3 =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92093" y="3227546"/>
              <a:ext cx="2410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ã₃₂ = a₃₂ − ã₃₁l₂₁ = 9 − 5 = 4，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l₃₂ = 4/2 = 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623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0162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6046" y="3902869"/>
              <a:ext cx="21506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d₃ = a₃₃ − ã₃₁l₃₁ − ã₃₂l₃₂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17 − 25/3 − 8 = 2/3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92093" y="401621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67865"/>
              <a:ext cx="605980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13460" y="196786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79508" y="196786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162"/>
              <p:cNvSpPr txBox="1">
                <a:spLocks noGrp="1"/>
              </p:cNvSpPr>
              <p:nvPr/>
            </p:nvSpPr>
            <p:spPr>
              <a:xfrm>
                <a:off x="533400" y="4632960"/>
                <a:ext cx="6059805" cy="1037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3" name="c2-steps-1"/>
          <p:cNvGrpSpPr/>
          <p:nvPr/>
        </p:nvGrpSpPr>
        <p:grpSpPr>
          <a:xfrm>
            <a:off x="6898005" y="1977390"/>
            <a:ext cx="4522089" cy="2347246"/>
            <a:chOff x="6898005" y="1977390"/>
            <a:chExt cx="4522089" cy="2347246"/>
          </a:xfrm>
        </p:grpSpPr>
        <p:sp>
          <p:nvSpPr>
            <p:cNvPr id="30" name="Rectangle 30"/>
            <p:cNvSpPr/>
            <p:nvPr/>
          </p:nvSpPr>
          <p:spPr>
            <a:xfrm>
              <a:off x="7031355" y="212026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8005" y="1977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1629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98005" y="28622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1629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898005" y="35128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1629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09485" y="2011680"/>
              <a:ext cx="88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Ly = 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0628" y="2304574"/>
              <a:ext cx="40200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y1 = 10，y2 = 16 − y1 = 6，y3 = 30 − (5/3)y1 − 2y2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09485" y="2896552"/>
              <a:ext cx="886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Dz = 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0628" y="3190399"/>
              <a:ext cx="3812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z1 = 10/3，z2 = 6/2 = 3，z3 = (4/3)/(2/3) =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09485" y="3547110"/>
              <a:ext cx="1005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Lᵀx = z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0628" y="3840956"/>
              <a:ext cx="41094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x3 = 2，x2 = 3 − 2x3 = −1，x1 = 10/3 − x2 − (5/3)x3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898005" y="4503420"/>
            <a:ext cx="4760595" cy="782955"/>
            <a:chOff x="6898005" y="4503420"/>
            <a:chExt cx="4760595" cy="782955"/>
          </a:xfrm>
        </p:grpSpPr>
        <p:sp>
          <p:nvSpPr>
            <p:cNvPr id="44" name="Rectangle 44"/>
            <p:cNvSpPr/>
            <p:nvPr/>
          </p:nvSpPr>
          <p:spPr>
            <a:xfrm>
              <a:off x="6898005" y="450342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02793" y="4794885"/>
              <a:ext cx="200026" cy="200026"/>
              <a:chOff x="7102793" y="479488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102793" y="47948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169468" y="48726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404735" y="4652010"/>
              <a:ext cx="3901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(1, −1, 2)ᵀ。验算：3 − 3 + 10 = 10，3 −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 + 18 = 16，5 − 9 + 34 = 30。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4715" cy="909257"/>
            <a:chOff x="520446" y="342900"/>
            <a:chExt cx="74247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47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三对角方程组的追赶法：LU 分解只剩两条对角线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157216" cy="529780"/>
            <a:chOff x="526542" y="1545907"/>
            <a:chExt cx="5157216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57216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差分法解二阶常微分方程边值问题、三次样条插值等，都归结为系数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矩阵是三对角矩阵的方程组 Ax = b (2.3.15)。设 A = LU：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69"/>
              <p:cNvSpPr txBox="1">
                <a:spLocks noGrp="1"/>
              </p:cNvSpPr>
              <p:nvPr/>
            </p:nvSpPr>
            <p:spPr>
              <a:xfrm>
                <a:off x="533400" y="2192655"/>
                <a:ext cx="5410200" cy="1383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70"/>
              <p:cNvSpPr txBox="1">
                <a:spLocks noGrp="1"/>
              </p:cNvSpPr>
              <p:nvPr/>
            </p:nvSpPr>
            <p:spPr>
              <a:xfrm>
                <a:off x="533400" y="3747135"/>
                <a:ext cx="5410200" cy="11401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/>
                              <m:e/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llout-4"/>
          <p:cNvGrpSpPr/>
          <p:nvPr/>
        </p:nvGrpSpPr>
        <p:grpSpPr>
          <a:xfrm>
            <a:off x="533400" y="5057775"/>
            <a:ext cx="5410200" cy="978218"/>
            <a:chOff x="533400" y="5057775"/>
            <a:chExt cx="5410200" cy="978218"/>
          </a:xfrm>
        </p:grpSpPr>
        <p:sp>
          <p:nvSpPr>
            <p:cNvPr id="11" name="Rectangle 11"/>
            <p:cNvSpPr/>
            <p:nvPr/>
          </p:nvSpPr>
          <p:spPr>
            <a:xfrm>
              <a:off x="533400" y="505777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46395"/>
              <a:ext cx="200026" cy="200025"/>
              <a:chOff x="738188" y="5446395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463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4908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6019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203508"/>
              <a:ext cx="439426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保证能算到底（补充）：若 |e1| &gt; |f1| &gt; 0，|eᵢ| ≥ |dᵢ| +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|fᵢ| 且 dᵢfᵢ ≠ 0（1 &lt; i &lt; n），|en| &gt; |dn| &gt; 0，则所有 rᵢ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≠ 0。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3132772"/>
            <a:chOff x="6248400" y="1524000"/>
            <a:chExt cx="5410200" cy="313277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3132772"/>
            </a:xfrm>
            <a:prstGeom prst="roundRect">
              <a:avLst>
                <a:gd name="adj" fmla="val 30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2.6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035" y="1937861"/>
              <a:ext cx="2906014" cy="26431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r(1) = e(1);          % 分解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= 2 : 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l(i) = d(i) / r(i-1);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r(i) = e(i) - l(i)*f(i-1);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y(1) = b(1);          % 追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= 2 : 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y(i) = b(i) - l(i)*y(i-1);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x(n) = y(n) / r(n);   % 赶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= n-1 : -1 :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x(i) = (y(i) - f(i)*x(i+1)) / r(i);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27" name="c2-kv-2"/>
          <p:cNvGrpSpPr/>
          <p:nvPr/>
        </p:nvGrpSpPr>
        <p:grpSpPr>
          <a:xfrm>
            <a:off x="6241542" y="4849178"/>
            <a:ext cx="5417058" cy="656463"/>
            <a:chOff x="6241542" y="4849178"/>
            <a:chExt cx="5417058" cy="656463"/>
          </a:xfrm>
        </p:grpSpPr>
        <p:sp>
          <p:nvSpPr>
            <p:cNvPr id="22" name="TextBox 22"/>
            <p:cNvSpPr txBox="1"/>
            <p:nvPr/>
          </p:nvSpPr>
          <p:spPr>
            <a:xfrm>
              <a:off x="6241542" y="48491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46380" y="4849178"/>
              <a:ext cx="4120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4n 个存储单元（d、e、f、b），约 5n 次乘除法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51349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41542" y="524160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46380" y="524160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算法没有考虑主元 rᵢ 为零的情况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6248400" y="5621655"/>
            <a:ext cx="5410200" cy="729615"/>
            <a:chOff x="6248400" y="5621655"/>
            <a:chExt cx="5410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6248400" y="562165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5886450"/>
              <a:ext cx="200026" cy="200026"/>
              <a:chOff x="6453188" y="588645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58864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53200" y="5953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42088" y="59864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892" y="5768340"/>
              <a:ext cx="43599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名字的由来：前代时 y 从 y1 往后依次“追”到 yn，回代时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从 xn 往回“赶”到 x1。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矩阵的三角分解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例（补充）：用追赶法解 4 阶三对角方程组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72"/>
              <p:cNvSpPr txBox="1">
                <a:spLocks noGrp="1"/>
              </p:cNvSpPr>
              <p:nvPr/>
            </p:nvSpPr>
            <p:spPr>
              <a:xfrm>
                <a:off x="533400" y="1524000"/>
                <a:ext cx="4544378" cy="1320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kv-2"/>
          <p:cNvGrpSpPr/>
          <p:nvPr/>
        </p:nvGrpSpPr>
        <p:grpSpPr>
          <a:xfrm>
            <a:off x="525780" y="3059430"/>
            <a:ext cx="4551998" cy="1173480"/>
            <a:chOff x="525780" y="3059430"/>
            <a:chExt cx="4551998" cy="1173480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3059430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对角线 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4028" y="3059430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(2, 2, 2, 2)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33794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349948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下对角线 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44028" y="349948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 = d3 = d4 = −1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81952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93954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上对角线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44028" y="3939540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 = f2 = f3 = −1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4364355"/>
            <a:ext cx="4544378" cy="1335405"/>
            <a:chOff x="533400" y="4364355"/>
            <a:chExt cx="4544378" cy="1335405"/>
          </a:xfrm>
        </p:grpSpPr>
        <p:sp>
          <p:nvSpPr>
            <p:cNvPr id="17" name="Rectangle 17"/>
            <p:cNvSpPr/>
            <p:nvPr/>
          </p:nvSpPr>
          <p:spPr>
            <a:xfrm>
              <a:off x="533400" y="4364355"/>
              <a:ext cx="4544378" cy="1335405"/>
            </a:xfrm>
            <a:prstGeom prst="roundRect">
              <a:avLst>
                <a:gd name="adj" fmla="val 85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932045"/>
              <a:ext cx="200026" cy="200026"/>
              <a:chOff x="738188" y="4932045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9320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9987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0320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512945"/>
              <a:ext cx="35490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满足上页条件：|2| &gt; |−1| &gt; 0，中间行 2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+ 1，末行 |2| &gt; |−1|。这种矩阵来自二阶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导数的差分近似 −u″ ≈ (−uᵢ₋₁ + 2uᵢ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uᵢ₊₁)/h²。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376862" y="1524000"/>
            <a:ext cx="6281738" cy="2734152"/>
            <a:chOff x="5376862" y="1524000"/>
            <a:chExt cx="6281738" cy="2734152"/>
          </a:xfrm>
        </p:grpSpPr>
        <p:sp>
          <p:nvSpPr>
            <p:cNvPr id="24" name="Rectangle 24"/>
            <p:cNvSpPr/>
            <p:nvPr/>
          </p:nvSpPr>
          <p:spPr>
            <a:xfrm>
              <a:off x="5382578" y="1524000"/>
              <a:ext cx="6276022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73659" y="1663065"/>
              <a:ext cx="788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76837" y="1663065"/>
              <a:ext cx="1255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lᵢ = dᵢ/rᵢ₋₁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87302" y="1663065"/>
              <a:ext cx="161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rᵢ = eᵢ − lᵢfᵢ₋₁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48487" y="1663065"/>
              <a:ext cx="161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yᵢ = bᵢ − lᵢyᵢ₋₁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48615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47155" y="21507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96050" y="21507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32172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9335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0969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24945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82578" y="249936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47155" y="2638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4892" y="26384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−1/2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21110" y="26384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82295" y="26384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0969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2982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47155" y="31261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4892" y="312610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−2/3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21110" y="312610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82295" y="312610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0969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34699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82578" y="347472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47155" y="361378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74892" y="361378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−3/4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21110" y="361378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82295" y="361378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0969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82578" y="1524000"/>
              <a:ext cx="6276022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3882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5996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22115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108233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376862" y="4038124"/>
              <a:ext cx="326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l、r、y 从上往下算（追），x 从下往上算（赶）</a:t>
              </a:r>
            </a:p>
          </p:txBody>
        </p:sp>
      </p:grpSp>
      <p:grpSp>
        <p:nvGrpSpPr>
          <p:cNvPr id="71" name="c2-steps-2"/>
          <p:cNvGrpSpPr/>
          <p:nvPr/>
        </p:nvGrpSpPr>
        <p:grpSpPr>
          <a:xfrm>
            <a:off x="5382578" y="4413885"/>
            <a:ext cx="6249777" cy="1228058"/>
            <a:chOff x="5382578" y="4413885"/>
            <a:chExt cx="6249777" cy="1228058"/>
          </a:xfrm>
        </p:grpSpPr>
        <p:sp>
          <p:nvSpPr>
            <p:cNvPr id="62" name="Rectangle 62"/>
            <p:cNvSpPr/>
            <p:nvPr/>
          </p:nvSpPr>
          <p:spPr>
            <a:xfrm>
              <a:off x="5515928" y="4556760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5382578" y="44138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476201" y="44877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382578" y="50644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76201" y="5138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794058" y="4448175"/>
              <a:ext cx="652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赶：x4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795201" y="4742021"/>
              <a:ext cx="2408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x4 = y4/r4 = (5/4)/(5/4) = 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94058" y="5098732"/>
              <a:ext cx="1522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赶：x3、x2、x1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95201" y="5392579"/>
              <a:ext cx="5837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x3 = (1/3 + 1)/(4/3) = 1，x2 = (1/2 + 1)/(3/2) = 1，x1 = (1 + 1)/2 = 1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5382578" y="5819775"/>
            <a:ext cx="6276022" cy="533400"/>
            <a:chOff x="5382578" y="5819775"/>
            <a:chExt cx="6276022" cy="533400"/>
          </a:xfrm>
        </p:grpSpPr>
        <p:sp>
          <p:nvSpPr>
            <p:cNvPr id="72" name="Rectangle 72"/>
            <p:cNvSpPr/>
            <p:nvPr/>
          </p:nvSpPr>
          <p:spPr>
            <a:xfrm>
              <a:off x="5382578" y="5819775"/>
              <a:ext cx="6276022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587365" y="5986463"/>
              <a:ext cx="200026" cy="200026"/>
              <a:chOff x="5587365" y="5986463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5587365" y="59864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654040" y="60642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5889308" y="5981700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(1, 1, 1, 1)ᵀ。n = 4 时共 5n − 4 = 16 次乘除法。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消元法在计算机上的实现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计算机只有有限位数，怎样让消元稳定、结果可靠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2.4.1 选主元的必要性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2.4.2 选主元的方法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2.4.3 迭代改善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50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2.4.4 行列式和逆矩阵的计算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为什么要选主元：主元为零消不下去，主元太小误差放大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1631632"/>
            <a:chOff x="533400" y="1524000"/>
            <a:chExt cx="5951220" cy="1631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8760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主元为零，消元无法进行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按自然顺序消元的各种算法，要求 a11 ≠ 0，a22⁽¹⁾ 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0，…，aₖₖ⁽ᵏ⁻¹⁾ ≠ 0，即 A 的顺序主子矩阵都非奇异。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4800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例：A = (0 1; 1 1) 非奇异，但 a11 = 0，第一步就除不下去。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46132"/>
            <a:ext cx="5951220" cy="1621155"/>
            <a:chOff x="533400" y="3346132"/>
            <a:chExt cx="5951220" cy="1621155"/>
          </a:xfrm>
        </p:grpSpPr>
        <p:sp>
          <p:nvSpPr>
            <p:cNvPr id="15" name="Rectangle 15"/>
            <p:cNvSpPr/>
            <p:nvPr/>
          </p:nvSpPr>
          <p:spPr>
            <a:xfrm>
              <a:off x="533400" y="3346132"/>
              <a:ext cx="595122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79482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555682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793" y="359140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08760" y="35909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主元很小，舍入误差扩散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951922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 aₖₖ⁽ᵏ⁻¹⁾ ≠ 0，只要它很小，用它作除数得到的乘子就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很大，会导致其他元素数量级严重增长和舍入误差扩散，最后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计算解不可靠。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5157788"/>
            <a:ext cx="5951220" cy="782955"/>
            <a:chOff x="533400" y="5157788"/>
            <a:chExt cx="5951220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157788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449255"/>
              <a:ext cx="200023" cy="200023"/>
              <a:chOff x="738188" y="5449255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4492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515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306378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对策：交换方程（或未知数）的顺序不影响解，每一步都挑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绝对值大的元素当主元。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789420" y="1524000"/>
            <a:ext cx="4869180" cy="4863942"/>
            <a:chOff x="6789420" y="1524000"/>
            <a:chExt cx="4869180" cy="4863942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9862" t="0" r="9862" b="0"/>
            <a:stretch>
              <a:fillRect/>
            </a:stretch>
          </p:blipFill>
          <p:spPr>
            <a:xfrm>
              <a:off x="6789420" y="1524000"/>
              <a:ext cx="4869180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409002" y="616791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挑最粗的柱子承重：每一步选绝对值最大的元素作主元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例：同一个方程组，换一下方程顺序，结果大不相同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407015" cy="569595"/>
            <a:chOff x="525780" y="1548765"/>
            <a:chExt cx="104070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407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设计算机做 3 位有效数字的十进制浮点运算。方程组 0.0001x1 + x2 = 1，x1 + x2 = 2 的精确解 x1 = 10000/9999 ≈ 1.00，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x2 = 9998/9999 ≈ 1.00。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2230755"/>
            <a:ext cx="5410200" cy="2229802"/>
            <a:chOff x="533400" y="2230755"/>
            <a:chExt cx="5410200" cy="2229802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5410200" cy="2229802"/>
            </a:xfrm>
            <a:prstGeom prst="roundRect">
              <a:avLst>
                <a:gd name="adj" fmla="val 59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64105"/>
              <a:ext cx="47625" cy="19631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42887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1058" y="246316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按自然顺序消元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19681" y="2463641"/>
              <a:ext cx="16813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 a11 = 0.0001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8670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807494"/>
              <a:ext cx="18782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l21 = 1/0.0001 = 10⁴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1851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125629"/>
              <a:ext cx="35222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a22⁽¹⁾ = 1 − 10⁴ = −9999 ≈ −0.100×10⁵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350329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3442811"/>
              <a:ext cx="34171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b2⁽¹⁾ = 2 − 10⁴ = −9998 ≈ −0.100×10⁵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382047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3760946"/>
              <a:ext cx="38716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回代：x2 = 1.00，x1 = (1 − x2)/0.0001 = 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524" y="4074795"/>
              <a:ext cx="4478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和 2 被 10⁴ “吞掉”，x2 的微小误差又被除以 0.0001 放大。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640580"/>
            <a:ext cx="5410200" cy="756285"/>
            <a:chOff x="533400" y="4640580"/>
            <a:chExt cx="5410200" cy="756285"/>
          </a:xfrm>
        </p:grpSpPr>
        <p:sp>
          <p:nvSpPr>
            <p:cNvPr id="24" name="Rectangle 24"/>
            <p:cNvSpPr/>
            <p:nvPr/>
          </p:nvSpPr>
          <p:spPr>
            <a:xfrm>
              <a:off x="533400" y="464058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4915018"/>
              <a:ext cx="224134" cy="192560"/>
              <a:chOff x="726129" y="4915018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49853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49150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0631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787741"/>
              <a:ext cx="438772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危险信号是乘子 |l21| = 10⁴ 远大于 1：乘子越大，舍入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误差被放大得越多。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2230755"/>
            <a:ext cx="5410200" cy="2229802"/>
            <a:chOff x="6248400" y="2230755"/>
            <a:chExt cx="5410200" cy="2229802"/>
          </a:xfrm>
        </p:grpSpPr>
        <p:sp>
          <p:nvSpPr>
            <p:cNvPr id="31" name="Rectangle 31"/>
            <p:cNvSpPr/>
            <p:nvPr/>
          </p:nvSpPr>
          <p:spPr>
            <a:xfrm>
              <a:off x="6248400" y="2230755"/>
              <a:ext cx="5410200" cy="2229802"/>
            </a:xfrm>
            <a:prstGeom prst="roundRect">
              <a:avLst>
                <a:gd name="adj" fmla="val 59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2364105"/>
              <a:ext cx="47625" cy="19631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84620" y="242887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44056" y="246316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交换两个方程后再消元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4731" y="2463641"/>
              <a:ext cx="11294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 a11 = 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2240" y="28670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8831" y="2807494"/>
              <a:ext cx="21937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l21 = 0.0001/1 = 0.0001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2240" y="31851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8831" y="312562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a22⁽¹⁾ = 1 − 0.0001 = 0.9999 ≈ 0.100×10¹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2240" y="350329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48831" y="3442811"/>
              <a:ext cx="37325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b2⁽¹⁾ = 1 − 0.0002 = 0.9998 ≈ 0.100×10¹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2240" y="382047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8831" y="3760946"/>
              <a:ext cx="3256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回代：x2 = 1.00，x1 = 2 − x2 =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8524" y="4074795"/>
              <a:ext cx="407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乘子很小，舍入只影响第 4 位以后，结果与精确解一致。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4640580"/>
            <a:ext cx="5410200" cy="756285"/>
            <a:chOff x="6248400" y="4640580"/>
            <a:chExt cx="5410200" cy="756285"/>
          </a:xfrm>
        </p:grpSpPr>
        <p:sp>
          <p:nvSpPr>
            <p:cNvPr id="46" name="Rectangle 46"/>
            <p:cNvSpPr/>
            <p:nvPr/>
          </p:nvSpPr>
          <p:spPr>
            <a:xfrm>
              <a:off x="6248400" y="464058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4918710"/>
              <a:ext cx="200026" cy="200026"/>
              <a:chOff x="6453188" y="4918710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49187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19863" y="49964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511" y="4787741"/>
              <a:ext cx="43426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选列主元后每个乘子都满足 |lᵢₖ| ≤ 1，舍入误差不会被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乘子放大。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2" name="Rectangle 5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5753576"/>
              <a:ext cx="970775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更正：原课件按 0.1000×10ᵏ 的 4 位形式书写，但 −9999、−9998 在 4 位有效数字下能精确表示，不选主元也会得到 x1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1.000、x2 = 0.9999。原课件的 −0.1000×10⁵ 等结果对应 3 位有效数字运算，本页按 3 位写出。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主元消去法：列主元在本列找，全主元在右下子矩阵里找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669334" cy="512636"/>
            <a:chOff x="526542" y="1545907"/>
            <a:chExt cx="10669334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6693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k 步消元所用的主元 aₖₖ⁽ᵏ⁻¹⁾ 所在方程称为主方程。交换方程和未知数的顺序不影响解，所以主元可以挑选。先选主元再消元，称为主元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消去法。</a:t>
              </a:r>
            </a:p>
          </p:txBody>
        </p:sp>
      </p:grpSp>
      <p:grpSp>
        <p:nvGrpSpPr>
          <p:cNvPr id="55" name="c1-table-1"/>
          <p:cNvGrpSpPr/>
          <p:nvPr/>
        </p:nvGrpSpPr>
        <p:grpSpPr>
          <a:xfrm>
            <a:off x="528447" y="2177415"/>
            <a:ext cx="5415153" cy="2458116"/>
            <a:chOff x="528447" y="2177415"/>
            <a:chExt cx="5415153" cy="2458116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5410200" cy="43910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109" y="2302192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4750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9713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4676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9639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79453" y="23021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6109" y="2741295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248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5211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174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137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195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499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054668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6109" y="318039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0248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93658" y="3064192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5211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0174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137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8195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890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6109" y="3619500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0248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593658" y="3503295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5211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0174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37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8195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9281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932872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6109" y="4057650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0248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593658" y="3942398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5211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0174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137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8195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2177415"/>
              <a:ext cx="5410200" cy="21945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72974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57937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42900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27863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2826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8447" y="4444841"/>
              <a:ext cx="25363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列选主元：只在第 k 列的主元位置及以下找</a:t>
              </a:r>
            </a:p>
          </p:txBody>
        </p:sp>
      </p:grpSp>
      <p:grpSp>
        <p:nvGrpSpPr>
          <p:cNvPr id="62" name="c1-bullets-2"/>
          <p:cNvGrpSpPr/>
          <p:nvPr/>
        </p:nvGrpSpPr>
        <p:grpSpPr>
          <a:xfrm>
            <a:off x="542925" y="4785836"/>
            <a:ext cx="3567603" cy="759143"/>
            <a:chOff x="542925" y="4785836"/>
            <a:chExt cx="3567603" cy="759143"/>
          </a:xfrm>
        </p:grpSpPr>
        <p:sp>
          <p:nvSpPr>
            <p:cNvPr id="56" name="Ellipse 56"/>
            <p:cNvSpPr/>
            <p:nvPr/>
          </p:nvSpPr>
          <p:spPr>
            <a:xfrm>
              <a:off x="542925" y="482822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135" y="4785836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|aᵢₖ⁽ᵏ⁻¹⁾|（i = k, …, n）中最大者为主元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42925" y="509873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135" y="505539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交换它所在方程与第 k 个方程（b 一起换）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42925" y="536829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9135" y="5324951"/>
              <a:ext cx="3411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只换行，未知数顺序不变；每步比较 n − k + 1 个数</a:t>
              </a:r>
            </a:p>
          </p:txBody>
        </p:sp>
      </p:grpSp>
      <p:grpSp>
        <p:nvGrpSpPr>
          <p:cNvPr id="115" name="c2-table-1"/>
          <p:cNvGrpSpPr/>
          <p:nvPr/>
        </p:nvGrpSpPr>
        <p:grpSpPr>
          <a:xfrm>
            <a:off x="6243447" y="2177415"/>
            <a:ext cx="5415153" cy="2458116"/>
            <a:chOff x="6243447" y="2177415"/>
            <a:chExt cx="5415153" cy="2458116"/>
          </a:xfrm>
        </p:grpSpPr>
        <p:sp>
          <p:nvSpPr>
            <p:cNvPr id="63" name="Rectangle 63"/>
            <p:cNvSpPr/>
            <p:nvPr/>
          </p:nvSpPr>
          <p:spPr>
            <a:xfrm>
              <a:off x="6248400" y="2177415"/>
              <a:ext cx="5410200" cy="43910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1109" y="2302192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6250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1213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6176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11396" y="23021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94453" y="23021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51109" y="2741295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1748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6711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1674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6637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96952" y="27412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30499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48400" y="3054668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51109" y="318039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1748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308658" y="3064192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66711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158288" y="3064192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51674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007918" y="3064192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36637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196952" y="318039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34890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51109" y="3619500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81748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308658" y="3503295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66711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158288" y="3503295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51674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0007918" y="3503295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36637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196952" y="36195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248400" y="39281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6248400" y="3932872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551109" y="4057650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行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81748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308658" y="3942398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66711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9158288" y="3942398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51674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10007918" y="3942398"/>
              <a:ext cx="83058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36637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196952" y="40576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●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248400" y="2177415"/>
              <a:ext cx="5410200" cy="21945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744474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29437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914400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999363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0843260" y="2177415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243447" y="4444841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全选主元：在右下角子矩阵里找</a:t>
              </a:r>
            </a:p>
          </p:txBody>
        </p:sp>
      </p:grpSp>
      <p:grpSp>
        <p:nvGrpSpPr>
          <p:cNvPr id="122" name="c2-bullets-2"/>
          <p:cNvGrpSpPr/>
          <p:nvPr/>
        </p:nvGrpSpPr>
        <p:grpSpPr>
          <a:xfrm>
            <a:off x="6257925" y="4785836"/>
            <a:ext cx="3786226" cy="759143"/>
            <a:chOff x="6257925" y="4785836"/>
            <a:chExt cx="3786226" cy="759143"/>
          </a:xfrm>
        </p:grpSpPr>
        <p:sp>
          <p:nvSpPr>
            <p:cNvPr id="116" name="Ellipse 116"/>
            <p:cNvSpPr/>
            <p:nvPr/>
          </p:nvSpPr>
          <p:spPr>
            <a:xfrm>
              <a:off x="6257925" y="482822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414135" y="4785836"/>
              <a:ext cx="3215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|aᵢⱼ⁽ᵏ⁻¹⁾|（i, j = k, …, n）中最大者为主元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6257925" y="509873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414135" y="5055394"/>
              <a:ext cx="2823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通过行交换和列交换把它换到 (k, k) 位置</a:t>
              </a:r>
            </a:p>
          </p:txBody>
        </p:sp>
        <p:sp>
          <p:nvSpPr>
            <p:cNvPr id="120" name="Ellipse 120"/>
            <p:cNvSpPr/>
            <p:nvPr/>
          </p:nvSpPr>
          <p:spPr>
            <a:xfrm>
              <a:off x="6257925" y="536829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414135" y="532495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列交换等于交换未知数的顺序，须记录下来，最后还原</a:t>
              </a:r>
            </a:p>
          </p:txBody>
        </p:sp>
      </p:grpSp>
      <p:grpSp>
        <p:nvGrpSpPr>
          <p:cNvPr id="12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23" name="Rectangle 12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7" name="Group 12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8" name="TextBox 128"/>
            <p:cNvSpPr txBox="1"/>
            <p:nvPr/>
          </p:nvSpPr>
          <p:spPr>
            <a:xfrm>
              <a:off x="1040892" y="6028373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全主元更稳定，但每步要比较 (n−k+1)² 个元素，所费时间与消元计算几乎相当，代价较高；实际中多用列主元。</a:t>
              </a:r>
            </a:p>
          </p:txBody>
        </p:sp>
      </p:grpSp>
      <p:grpSp>
        <p:nvGrpSpPr>
          <p:cNvPr id="1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0" name="TextBox 13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2.7：列主元消去法的消元过程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941445"/>
            <a:chOff x="533400" y="1524000"/>
            <a:chExt cx="5951220" cy="3941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941445"/>
            </a:xfrm>
            <a:prstGeom prst="roundRect">
              <a:avLst>
                <a:gd name="adj" fmla="val 24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035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2.7（已更正）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645662" cy="34509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0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k = 1 : n-1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r = k;                           % (1) 选主元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= k+1 : 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abs(a(i,k)) &gt; abs(a(r,k)), r = i; end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if r ~= k                        % (2) 换行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a([k r], k:n) = a([r k], k:n);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b([k r]) = b([r k]);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for i = k+1 : n                  % (3) 消元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l(i,k) = a(i,k) / a(k,k);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b(i) = b(i) - l(i,k)*b(k);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= k+1 : 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a(i,j) = a(i,j) - l(i,k)*a(k,j);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789420" y="1524000"/>
            <a:ext cx="4869180" cy="2300288"/>
            <a:chOff x="6789420" y="1524000"/>
            <a:chExt cx="4869180" cy="2300288"/>
          </a:xfrm>
        </p:grpSpPr>
        <p:sp>
          <p:nvSpPr>
            <p:cNvPr id="11" name="Rectangle 11"/>
            <p:cNvSpPr/>
            <p:nvPr/>
          </p:nvSpPr>
          <p:spPr>
            <a:xfrm>
              <a:off x="6789420" y="1524000"/>
              <a:ext cx="4869180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798945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1421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0688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2278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8802" y="2054542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原算法 2.7 选主元部分写作 if a &lt; |aᵢᵢ|、a = |aᵢᵢ|，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应比较第 k 列的 |aᵢₖ|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022782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78802" y="2612708"/>
              <a:ext cx="39142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原算法消元部分内层循环写作 for i = k+1: n，应为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j = k+1: n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022782" y="32261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78802" y="3169920"/>
              <a:ext cx="39913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原课件上一页“对于 i = k+1, …, n 计算 aᵢⱼ := aᵢⱼ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lᵢₖaₖⱼ”漏写了 j = k+1, …, n</a:t>
              </a:r>
            </a:p>
          </p:txBody>
        </p:sp>
      </p:grpSp>
      <p:grpSp>
        <p:nvGrpSpPr>
          <p:cNvPr id="30" name="c2-kv-2"/>
          <p:cNvGrpSpPr/>
          <p:nvPr/>
        </p:nvGrpSpPr>
        <p:grpSpPr>
          <a:xfrm>
            <a:off x="6782562" y="4016692"/>
            <a:ext cx="4876038" cy="1302259"/>
            <a:chOff x="6782562" y="4016692"/>
            <a:chExt cx="4876038" cy="1302259"/>
          </a:xfrm>
        </p:grpSpPr>
        <p:sp>
          <p:nvSpPr>
            <p:cNvPr id="22" name="TextBox 22"/>
            <p:cNvSpPr txBox="1"/>
            <p:nvPr/>
          </p:nvSpPr>
          <p:spPr>
            <a:xfrm>
              <a:off x="6782562" y="40166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选主元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5517" y="4016692"/>
              <a:ext cx="4075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记下第 k 列 |aᵢₖ|（i = k, …, n）最大者所在的行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89420" y="430339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2562" y="44091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换行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5517" y="4409122"/>
              <a:ext cx="331412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≠ k 时交换 aₖⱼ ⇔ aᵣⱼ（k ≤ j ≤ n）和 bₖ 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bᵣ，代码里用 MATLAB 下标一次完成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4949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2562" y="5054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消元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65517" y="5054918"/>
              <a:ext cx="28102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与不选主元的 Gauss 消元完全相同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6789420" y="5435918"/>
            <a:ext cx="4869180" cy="729615"/>
            <a:chOff x="6789420" y="5435918"/>
            <a:chExt cx="4869180" cy="729615"/>
          </a:xfrm>
        </p:grpSpPr>
        <p:sp>
          <p:nvSpPr>
            <p:cNvPr id="31" name="Rectangle 31"/>
            <p:cNvSpPr/>
            <p:nvPr/>
          </p:nvSpPr>
          <p:spPr>
            <a:xfrm>
              <a:off x="6789420" y="5435918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982149" y="5697021"/>
              <a:ext cx="224134" cy="192560"/>
              <a:chOff x="6982149" y="5697021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094220" y="57673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982149" y="56970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94220" y="58451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296912" y="5582602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若选出的最大值为 0，说明第 k 列主元及以下全是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0，A 奇异，应停止计算。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例（补充）：用列主元消去法解 3 阶方程组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536240" cy="293370"/>
            <a:chOff x="525780" y="1548765"/>
            <a:chExt cx="95362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536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x1 − x2 + 2x3 = 4，2x1 = 2，x1 − 2x2 − 2x3 = −5。每一步先在本列主元位置及以下找绝对值最大的元素。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7304" y="1974532"/>
            <a:ext cx="5189677" cy="234696"/>
            <a:chOff x="527304" y="1974532"/>
            <a:chExt cx="5189677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974532"/>
              <a:ext cx="5189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1：第 1 列 |1|、|2|、|1| 中 2 最大，交换第 1、2 行；l21 = l31 = 1/2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78"/>
              <p:cNvSpPr txBox="1">
                <a:spLocks noGrp="1"/>
              </p:cNvSpPr>
              <p:nvPr/>
            </p:nvSpPr>
            <p:spPr>
              <a:xfrm>
                <a:off x="533400" y="2342198"/>
                <a:ext cx="6059805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3" name="c1-text-3"/>
          <p:cNvGrpSpPr/>
          <p:nvPr/>
        </p:nvGrpSpPr>
        <p:grpSpPr>
          <a:xfrm>
            <a:off x="527304" y="3531870"/>
            <a:ext cx="5673852" cy="470916"/>
            <a:chOff x="527304" y="3531870"/>
            <a:chExt cx="5673852" cy="470916"/>
          </a:xfrm>
        </p:grpSpPr>
        <p:sp>
          <p:nvSpPr>
            <p:cNvPr id="12" name="TextBox 12"/>
            <p:cNvSpPr txBox="1"/>
            <p:nvPr/>
          </p:nvSpPr>
          <p:spPr>
            <a:xfrm>
              <a:off x="527304" y="3531870"/>
              <a:ext cx="567385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2：第 2 列 |−1|、|−2| 中 −2 的绝对值最大，交换第 2、3 行；l32 = (−1)/(−2) =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79"/>
              <p:cNvSpPr txBox="1">
                <a:spLocks noGrp="1"/>
              </p:cNvSpPr>
              <p:nvPr/>
            </p:nvSpPr>
            <p:spPr>
              <a:xfrm>
                <a:off x="533400" y="4135755"/>
                <a:ext cx="6059805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llout-5"/>
          <p:cNvGrpSpPr/>
          <p:nvPr/>
        </p:nvGrpSpPr>
        <p:grpSpPr>
          <a:xfrm>
            <a:off x="533400" y="5306378"/>
            <a:ext cx="6059805" cy="756285"/>
            <a:chOff x="533400" y="5306378"/>
            <a:chExt cx="6059805" cy="756285"/>
          </a:xfrm>
        </p:grpSpPr>
        <p:sp>
          <p:nvSpPr>
            <p:cNvPr id="15" name="Rectangle 15"/>
            <p:cNvSpPr/>
            <p:nvPr/>
          </p:nvSpPr>
          <p:spPr>
            <a:xfrm>
              <a:off x="533400" y="5306378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584508"/>
              <a:ext cx="200026" cy="200025"/>
              <a:chOff x="738188" y="5584508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5845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56289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57400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5453539"/>
              <a:ext cx="514515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三个乘子 l21 = l31 = l32 = 1/2，绝对值都不超过 1。这正是列主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元的作用：主元是本列中绝对值最大的，乘子就不会放大误差。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898005" y="1964055"/>
            <a:ext cx="2210257" cy="1781556"/>
            <a:chOff x="6898005" y="1964055"/>
            <a:chExt cx="2210257" cy="1781556"/>
          </a:xfrm>
        </p:grpSpPr>
        <p:sp>
          <p:nvSpPr>
            <p:cNvPr id="22" name="Rectangle 22"/>
            <p:cNvSpPr/>
            <p:nvPr/>
          </p:nvSpPr>
          <p:spPr>
            <a:xfrm>
              <a:off x="7031355" y="210693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898005" y="19640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629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898005" y="258127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1629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98005" y="31975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1629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866" y="1996916"/>
              <a:ext cx="6778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x3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1009" y="2277428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3x3 = 6，x3 =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9866" y="2614136"/>
              <a:ext cx="6778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x2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11009" y="2894648"/>
              <a:ext cx="1797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−2x2 − 2x3 = −6，x2 =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09866" y="3230404"/>
              <a:ext cx="6778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x1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11009" y="3510915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2x1 = 2，x1 = 1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898005" y="3916680"/>
            <a:ext cx="4760595" cy="756285"/>
            <a:chOff x="6898005" y="3916680"/>
            <a:chExt cx="4760595" cy="756285"/>
          </a:xfrm>
        </p:grpSpPr>
        <p:sp>
          <p:nvSpPr>
            <p:cNvPr id="36" name="Rectangle 36"/>
            <p:cNvSpPr/>
            <p:nvPr/>
          </p:nvSpPr>
          <p:spPr>
            <a:xfrm>
              <a:off x="6898005" y="3916680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102793" y="4194810"/>
              <a:ext cx="200026" cy="200026"/>
              <a:chOff x="7102793" y="419481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102793" y="41948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69468" y="42725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405116" y="4064794"/>
              <a:ext cx="38286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(1, 1, 2)ᵀ。验算：1 − 1 + 4 = 4，2 = 2，1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− 2 − 4 = −5。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898005" y="4853940"/>
            <a:ext cx="4760595" cy="1018222"/>
            <a:chOff x="6898005" y="4853940"/>
            <a:chExt cx="4760595" cy="1018222"/>
          </a:xfrm>
        </p:grpSpPr>
        <p:sp>
          <p:nvSpPr>
            <p:cNvPr id="42" name="Rectangle 42"/>
            <p:cNvSpPr/>
            <p:nvPr/>
          </p:nvSpPr>
          <p:spPr>
            <a:xfrm>
              <a:off x="6898005" y="4853940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102793" y="5262563"/>
              <a:ext cx="200026" cy="200026"/>
              <a:chOff x="7102793" y="526256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102793" y="52625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02805" y="5329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191693" y="53625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405116" y="5001101"/>
              <a:ext cx="38016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记下行交换：第 1 步交换第 1、2 行，第 2 步交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换第 2、3 行，共 2 次。下一页据此写出 PA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02451" cy="909257"/>
            <a:chOff x="520446" y="342900"/>
            <a:chExt cx="51024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024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 Doolittle 分解：PA = LU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177790" cy="883920"/>
            <a:chOff x="525780" y="1548765"/>
            <a:chExt cx="5177790" cy="8839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17779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Doolittle 分解中也可以按列选主元。第 k 步交换第 k 行和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iₖ 行，相当于左乘初等置换矩阵 Tₖ,ᵢₖ（单位矩阵交换第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k、iₖ 两行）。</a:t>
              </a:r>
            </a:p>
          </p:txBody>
        </p:sp>
      </p:grpSp>
      <p:grpSp>
        <p:nvGrpSpPr>
          <p:cNvPr id="14" name="c1-card-2"/>
          <p:cNvGrpSpPr/>
          <p:nvPr/>
        </p:nvGrpSpPr>
        <p:grpSpPr>
          <a:xfrm>
            <a:off x="533400" y="2564130"/>
            <a:ext cx="5410200" cy="1602105"/>
            <a:chOff x="533400" y="2564130"/>
            <a:chExt cx="5410200" cy="1602105"/>
          </a:xfrm>
        </p:grpSpPr>
        <p:sp>
          <p:nvSpPr>
            <p:cNvPr id="9" name="Rectangle 9"/>
            <p:cNvSpPr/>
            <p:nvPr/>
          </p:nvSpPr>
          <p:spPr>
            <a:xfrm>
              <a:off x="533400" y="256413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69748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77368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2635" y="280939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2.2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150870"/>
              <a:ext cx="4682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非奇异，则存在置换矩阵 P、单位下三角矩阵 L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上三角矩阵 U，使 PA = LU，并且这种三角分解可由列主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元消去法得到。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4356735"/>
            <a:ext cx="5410200" cy="1887855"/>
            <a:chOff x="533400" y="4356735"/>
            <a:chExt cx="5410200" cy="1887855"/>
          </a:xfrm>
        </p:grpSpPr>
        <p:sp>
          <p:nvSpPr>
            <p:cNvPr id="15" name="Rectangle 15"/>
            <p:cNvSpPr/>
            <p:nvPr/>
          </p:nvSpPr>
          <p:spPr>
            <a:xfrm>
              <a:off x="533400" y="4356735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49008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5662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6020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943475"/>
              <a:ext cx="4692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原课件写“初等变换矩阵之积仍为初等置换矩阵”“P 为某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一初等置换矩阵”。初等置换矩阵只交换两行，它们的乘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积是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置换矩阵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（单位矩阵的行重排），一般不再只交换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两行。右边例题的 P 就是三行轮换。</a:t>
              </a:r>
            </a:p>
          </p:txBody>
        </p:sp>
      </p:grpSp>
      <p:grpSp>
        <p:nvGrpSpPr>
          <p:cNvPr id="22" name="c2-text-1"/>
          <p:cNvGrpSpPr/>
          <p:nvPr/>
        </p:nvGrpSpPr>
        <p:grpSpPr>
          <a:xfrm>
            <a:off x="6240780" y="1548765"/>
            <a:ext cx="5044440" cy="588645"/>
            <a:chOff x="6240780" y="1548765"/>
            <a:chExt cx="5044440" cy="588645"/>
          </a:xfrm>
        </p:grpSpPr>
        <p:sp>
          <p:nvSpPr>
            <p:cNvPr id="21" name="TextBox 21"/>
            <p:cNvSpPr txBox="1"/>
            <p:nvPr/>
          </p:nvSpPr>
          <p:spPr>
            <a:xfrm>
              <a:off x="6240780" y="1548765"/>
              <a:ext cx="50444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上一页例题：P = T₂₃T₁₂，把 A 的行按原第 2、3、1 行的顺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序重排。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182"/>
              <p:cNvSpPr txBox="1">
                <a:spLocks noGrp="1"/>
              </p:cNvSpPr>
              <p:nvPr/>
            </p:nvSpPr>
            <p:spPr>
              <a:xfrm>
                <a:off x="6248400" y="2268855"/>
                <a:ext cx="5410200" cy="1037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83"/>
              <p:cNvSpPr txBox="1">
                <a:spLocks noGrp="1"/>
              </p:cNvSpPr>
              <p:nvPr/>
            </p:nvSpPr>
            <p:spPr>
              <a:xfrm>
                <a:off x="6248400" y="3496628"/>
                <a:ext cx="5410200" cy="10372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LU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1" name="c2-callout-4"/>
          <p:cNvGrpSpPr/>
          <p:nvPr/>
        </p:nvGrpSpPr>
        <p:grpSpPr>
          <a:xfrm>
            <a:off x="6248400" y="4724400"/>
            <a:ext cx="5410200" cy="1059180"/>
            <a:chOff x="6248400" y="4724400"/>
            <a:chExt cx="5410200" cy="1059180"/>
          </a:xfrm>
        </p:grpSpPr>
        <p:sp>
          <p:nvSpPr>
            <p:cNvPr id="25" name="Rectangle 25"/>
            <p:cNvSpPr/>
            <p:nvPr/>
          </p:nvSpPr>
          <p:spPr>
            <a:xfrm>
              <a:off x="6248400" y="472440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453188" y="5153978"/>
              <a:ext cx="200026" cy="200025"/>
              <a:chOff x="6453188" y="5153978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453188" y="51539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492926" y="51984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27642" y="53095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755130" y="4872990"/>
              <a:ext cx="4501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乘子存在 A 的位置上，整行交换时跟着换。解 Ax = b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时先得 Pb = (2, −5, 4)ᵀ，再解 Ly = Pb 得 y = (2, −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6, 6)ᵀ，最后解 Ux = y。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迭代改善：用残差方程修正近似解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320094" cy="529780"/>
            <a:chOff x="526542" y="1545907"/>
            <a:chExt cx="5320094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2009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设用消元法求得 Ax = b 的解为 x⁽¹⁾。它只是近似解，残差 r⁽¹⁾ = b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Ax⁽¹⁾ ≠ 0。</a:t>
              </a:r>
            </a:p>
          </p:txBody>
        </p:sp>
      </p:grpSp>
      <p:grpSp>
        <p:nvGrpSpPr>
          <p:cNvPr id="22" name="c1-steps-2"/>
          <p:cNvGrpSpPr/>
          <p:nvPr/>
        </p:nvGrpSpPr>
        <p:grpSpPr>
          <a:xfrm>
            <a:off x="533400" y="2202180"/>
            <a:ext cx="5296535" cy="1893094"/>
            <a:chOff x="533400" y="2202180"/>
            <a:chExt cx="5296535" cy="1893094"/>
          </a:xfrm>
        </p:grpSpPr>
        <p:sp>
          <p:nvSpPr>
            <p:cNvPr id="9" name="Rectangle 9"/>
            <p:cNvSpPr/>
            <p:nvPr/>
          </p:nvSpPr>
          <p:spPr>
            <a:xfrm>
              <a:off x="666750" y="2345055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20218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759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851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58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756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49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23456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算残差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501741"/>
              <a:ext cx="3616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r⁽¹⁾ = b − Ax⁽¹⁾，必须用高精度（如双倍字长）计算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81749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解修正量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84671"/>
              <a:ext cx="48831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已做过 LU 分解，只需很少计算量（前代加回代，约 n² 次乘除法）即可解出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Aε = r⁽¹⁾ (2.4.2)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607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875246"/>
              <a:ext cx="3788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x⁽²⁾ = x⁽¹⁾ + ε；精度不够时以 x⁽²⁾ 为新的近似解重复</a:t>
              </a:r>
            </a:p>
          </p:txBody>
        </p:sp>
      </p:grpSp>
      <p:grpSp>
        <p:nvGrpSpPr>
          <p:cNvPr id="26" name="c1-code-3"/>
          <p:cNvGrpSpPr/>
          <p:nvPr/>
        </p:nvGrpSpPr>
        <p:grpSpPr>
          <a:xfrm>
            <a:off x="533400" y="4258628"/>
            <a:ext cx="5626418" cy="1918335"/>
            <a:chOff x="533400" y="4258628"/>
            <a:chExt cx="5626418" cy="1918335"/>
          </a:xfrm>
        </p:grpSpPr>
        <p:sp>
          <p:nvSpPr>
            <p:cNvPr id="23" name="Rectangle 23"/>
            <p:cNvSpPr/>
            <p:nvPr/>
          </p:nvSpPr>
          <p:spPr>
            <a:xfrm>
              <a:off x="533400" y="4258628"/>
              <a:ext cx="5626418" cy="1918335"/>
            </a:xfrm>
            <a:prstGeom prst="roundRect">
              <a:avLst>
                <a:gd name="adj" fmla="val 49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" y="4410551"/>
              <a:ext cx="19298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迭代改善（L、U 为已有的分解）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035" y="4672489"/>
              <a:ext cx="3275838" cy="1431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x = U \ (L \ b);           % 第一次求解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it = 1 : maxit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r = b - A*x;             % 高精度计算残差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e = U \ (L \ r);         % 复用 LU 分解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= x + e;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max(abs(e)) &lt; tol, break; end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524000"/>
            <a:ext cx="5193982" cy="1931670"/>
            <a:chOff x="6464618" y="1524000"/>
            <a:chExt cx="5193982" cy="1931670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1931670"/>
            </a:xfrm>
            <a:prstGeom prst="roundRect">
              <a:avLst>
                <a:gd name="adj" fmla="val 69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16649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9408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0878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为什么有效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2549" y="2054542"/>
              <a:ext cx="248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ε 是 (2.4.2) 的精确解，则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87"/>
                <p:cNvSpPr txBox="1">
                  <a:spLocks noGrp="1"/>
                </p:cNvSpPr>
                <p:nvPr/>
              </p:nvSpPr>
              <p:spPr>
                <a:xfrm>
                  <a:off x="6689408" y="2332672"/>
                  <a:ext cx="478250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2.4.3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682549" y="280130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x⁽²⁾ = x⁽¹⁾ + ε 就是方程组 (2.2.4) 的精确解。实际算出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ε 也有误差，但一般来说 x⁽²⁾ 比 x⁽¹⁾ 更精确。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464618" y="3625215"/>
            <a:ext cx="5193982" cy="729615"/>
            <a:chOff x="6464618" y="3625215"/>
            <a:chExt cx="5193982" cy="729615"/>
          </a:xfrm>
        </p:grpSpPr>
        <p:sp>
          <p:nvSpPr>
            <p:cNvPr id="35" name="Rectangle 35"/>
            <p:cNvSpPr/>
            <p:nvPr/>
          </p:nvSpPr>
          <p:spPr>
            <a:xfrm>
              <a:off x="6464618" y="362521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657347" y="3886318"/>
              <a:ext cx="224134" cy="192560"/>
              <a:chOff x="6657347" y="3886318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769418" y="39566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57347" y="38863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69418" y="4034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972110" y="3771900"/>
              <a:ext cx="42056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残差是两个很接近的数相减（Ax⁽¹⁾ ≈ b），低精度计算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会把有效数字抵消掉，算出的修正量没有意义。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464618" y="4525328"/>
            <a:ext cx="5193982" cy="729615"/>
            <a:chOff x="6464618" y="4525328"/>
            <a:chExt cx="5193982" cy="729615"/>
          </a:xfrm>
        </p:grpSpPr>
        <p:sp>
          <p:nvSpPr>
            <p:cNvPr id="42" name="Rectangle 42"/>
            <p:cNvSpPr/>
            <p:nvPr/>
          </p:nvSpPr>
          <p:spPr>
            <a:xfrm>
              <a:off x="6464618" y="452532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69405" y="4790123"/>
              <a:ext cx="200026" cy="200025"/>
              <a:chOff x="6669405" y="4790123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9405" y="47901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09144" y="48345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43859" y="49456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72110" y="4671060"/>
              <a:ext cx="43085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修正方程 Aε = r⁽¹⁾ 与原方程组的系数矩阵相同，所以直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接复用 LU 分解，不必重新消元。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例（补充）：迭代改善修正不选主元的结果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57385" cy="597598"/>
            <a:chOff x="525399" y="1550194"/>
            <a:chExt cx="9557385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57385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沿用 3 位有效数字的例子。不选主元得到 x⁽¹⁾ = (0, 1.00)ᵀ，此时 L = (1 0; 10⁴ 1)，U = (0.0001 1; 0 −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0.100×10⁵)。残差用高精度计算，其余仍按 3 位。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2257425"/>
            <a:ext cx="6492240" cy="3372802"/>
            <a:chOff x="533400" y="2257425"/>
            <a:chExt cx="6492240" cy="3372802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649224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214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75927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73394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8417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算残差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9480" y="2841784"/>
              <a:ext cx="28002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r⁽¹⁾ = b − Ax⁽¹⁾ = (1 − 1, 2 − 1)ᵀ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85601" y="2841784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508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15468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90411"/>
              <a:ext cx="7221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前代 Ly =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r⁽¹⁾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9480" y="3403759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y1 = 0，y2 = 1 − 10⁴ ×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85601" y="3403759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261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965734"/>
              <a:ext cx="929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Uε = 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39480" y="3965734"/>
              <a:ext cx="305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ε2 = 1/(−10⁴)，ε1 = (0 − ε2)/0.0001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85601" y="3965734"/>
              <a:ext cx="16757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(1.00, −0.000100)ᵀ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7482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79582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5286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39480" y="4415314"/>
              <a:ext cx="28089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x⁽¹⁾ + ε = (1.00, 0.9999)ᵀ，按 3 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85601" y="4415314"/>
              <a:ext cx="1589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x⁽²⁾ = (1.00, 1.00)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501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2039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再做一次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39480" y="5090636"/>
              <a:ext cx="25245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r⁽²⁾ = (−0.0001, 0)ᵀ，ε = (0,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0.000100)ᵀ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85601" y="5090636"/>
              <a:ext cx="1589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x⁽³⁾ = (1.00, 1.00)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ᵀ，不再变化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257425"/>
              <a:ext cx="6492240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26895" y="2257425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73015" y="2257425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table-1"/>
          <p:cNvGrpSpPr/>
          <p:nvPr/>
        </p:nvGrpSpPr>
        <p:grpSpPr>
          <a:xfrm>
            <a:off x="7330440" y="2257425"/>
            <a:ext cx="4328160" cy="2438400"/>
            <a:chOff x="7330440" y="2257425"/>
            <a:chExt cx="4328160" cy="2438400"/>
          </a:xfrm>
        </p:grpSpPr>
        <p:sp>
          <p:nvSpPr>
            <p:cNvPr id="38" name="Rectangle 38"/>
            <p:cNvSpPr/>
            <p:nvPr/>
          </p:nvSpPr>
          <p:spPr>
            <a:xfrm>
              <a:off x="7330440" y="2257425"/>
              <a:ext cx="4328160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91789" y="2396490"/>
              <a:ext cx="1608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解法（3 位运算）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36998" y="23964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35243" y="23964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37120" y="28841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64897" y="2884170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1.0001…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63142" y="2884170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0.9998…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330440" y="322802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30440" y="3232785"/>
              <a:ext cx="432816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37120" y="33718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不选主元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71635" y="3242310"/>
              <a:ext cx="1179195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98082" y="33718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29734" y="337185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30440" y="371570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37120" y="38595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迭代改善一次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271635" y="3729990"/>
              <a:ext cx="1179195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31490" y="385953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29734" y="385953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330440" y="420338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30440" y="4208145"/>
              <a:ext cx="432816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37120" y="43472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31490" y="434721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29734" y="434721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330440" y="2257425"/>
              <a:ext cx="432816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257348" y="22574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455592" y="22574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2"/>
          <p:cNvGrpSpPr/>
          <p:nvPr/>
        </p:nvGrpSpPr>
        <p:grpSpPr>
          <a:xfrm>
            <a:off x="7330440" y="4886325"/>
            <a:ext cx="4328160" cy="1059180"/>
            <a:chOff x="7330440" y="4886325"/>
            <a:chExt cx="4328160" cy="1059180"/>
          </a:xfrm>
        </p:grpSpPr>
        <p:sp>
          <p:nvSpPr>
            <p:cNvPr id="65" name="Rectangle 65"/>
            <p:cNvSpPr/>
            <p:nvPr/>
          </p:nvSpPr>
          <p:spPr>
            <a:xfrm>
              <a:off x="7330440" y="4886325"/>
              <a:ext cx="432816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535228" y="5315903"/>
              <a:ext cx="200026" cy="200026"/>
              <a:chOff x="7535228" y="5315903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535228" y="53159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601903" y="53936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837170" y="5034915"/>
              <a:ext cx="3358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一次改善就把 x1 从 0 修正到 1.00，达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到 3 位精度下的最好结果，LU 分解没有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重做。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用三角分解计算行列式和逆矩阵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673668"/>
            <a:chOff x="533400" y="1524000"/>
            <a:chExt cx="5410200" cy="26736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73668"/>
            </a:xfrm>
            <a:prstGeom prst="roundRect">
              <a:avLst>
                <a:gd name="adj" fmla="val 49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0696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行列式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386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LU（Doolittle）时 det(L) = 1，所以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7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99872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11</m:t>
                            </m:r>
                          </m:sub>
                        </m:sSub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839402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列主元时 PA = LU，det(P)det(A) = det(L)det(U)，det(P)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±1 由行交换次数 β 决定：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98"/>
                <p:cNvSpPr txBox="1">
                  <a:spLocks noGrp="1"/>
                </p:cNvSpPr>
                <p:nvPr/>
              </p:nvSpPr>
              <p:spPr>
                <a:xfrm>
                  <a:off x="758190" y="3373755"/>
                  <a:ext cx="499872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sup>
                        </m:sSup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sup>
                        </m:sSup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kk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6" name="c1-card-2"/>
          <p:cNvGrpSpPr/>
          <p:nvPr/>
        </p:nvGrpSpPr>
        <p:grpSpPr>
          <a:xfrm>
            <a:off x="533400" y="4367212"/>
            <a:ext cx="5410200" cy="1664970"/>
            <a:chOff x="533400" y="4367212"/>
            <a:chExt cx="5410200" cy="1664970"/>
          </a:xfrm>
        </p:grpSpPr>
        <p:sp>
          <p:nvSpPr>
            <p:cNvPr id="16" name="Rectangle 16"/>
            <p:cNvSpPr/>
            <p:nvPr/>
          </p:nvSpPr>
          <p:spPr>
            <a:xfrm>
              <a:off x="533400" y="4367212"/>
              <a:ext cx="5410200" cy="1664970"/>
            </a:xfrm>
            <a:prstGeom prst="roundRect">
              <a:avLst>
                <a:gd name="adj" fmla="val 8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500562"/>
              <a:ext cx="47625" cy="13982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455390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961" y="458676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4954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4898708"/>
              <a:ext cx="3364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(2.2.1)：det(A) = 3 × 5/3 × 12/5 = 12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52549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5198745"/>
              <a:ext cx="4680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列主元例题：β = 2，det(A) = (+1) × 2 × (−2) × 3 = −12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555498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5498783"/>
              <a:ext cx="2930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验算：按第 2 行展开得 −2 × 6 = −12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1446848"/>
            <a:chOff x="6248400" y="1524000"/>
            <a:chExt cx="5410200" cy="1446848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3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1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逆矩阵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6332" y="2054542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解矩阵方程 AX = I，即对 I 的每一列 eⱼ 解 Axⱼ = eⱼ，则 A⁻¹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(x1, …, xn)。有了 LU 分解，每列只需一次前代和回代。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475" y="2608421"/>
              <a:ext cx="2746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列主元时 AX = I 等价于 PAX = LUX = P。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6243447" y="3141345"/>
            <a:ext cx="5415153" cy="1863756"/>
            <a:chOff x="6243447" y="3141345"/>
            <a:chExt cx="5415153" cy="1863756"/>
          </a:xfrm>
        </p:grpSpPr>
        <p:sp>
          <p:nvSpPr>
            <p:cNvPr id="34" name="Rectangle 34"/>
            <p:cNvSpPr/>
            <p:nvPr/>
          </p:nvSpPr>
          <p:spPr>
            <a:xfrm>
              <a:off x="6248400" y="3141345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20548" y="32627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95083" y="3262789"/>
              <a:ext cx="750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 Ly = eⱼ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15903" y="3262789"/>
              <a:ext cx="662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 Ux = 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84250" y="36628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0592" y="3662839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−2/3, 1/5)ᵀ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49739" y="3662839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(7/12, −5/12, 1/12)ᵀ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9366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94144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84250" y="406288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63518" y="4062889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1, −4/5)ᵀ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32665" y="4062889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(−1/3, 2/3, −1/3)ᵀ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43367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84250" y="44629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87906" y="44629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0, 1)ᵀ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08276" y="4462939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(−1/12, −1/12, 5/12)ᵀ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141345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00912" y="31413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30678" y="31413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43447" y="4814411"/>
              <a:ext cx="2164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(2.2.1)，L、U 用第 27 页的结果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formula199"/>
              <p:cNvSpPr txBox="1">
                <a:spLocks noGrp="1"/>
              </p:cNvSpPr>
              <p:nvPr/>
            </p:nvSpPr>
            <p:spPr>
              <a:xfrm>
                <a:off x="6248400" y="5136832"/>
                <a:ext cx="5410200" cy="896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65779" cy="909257"/>
            <a:chOff x="520446" y="342900"/>
            <a:chExt cx="35657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75688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消元法解 n 阶方程组共需多少次乘除法？n = 20 时是多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784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n³/3 + n² − n/3 次，约 n³/3；n = 20 时 3060 次。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228725"/>
            <a:chOff x="533400" y="3179445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3992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 = (4 2; 2 5) 的 Cholesky 分解 A = LLᵀ。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95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l11 = 2，l21 = 1，l22 = √(5 − 1) = 2，L = (2 0; 1 2)。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78668"/>
            <a:ext cx="5410200" cy="1743075"/>
            <a:chOff x="533400" y="4578668"/>
            <a:chExt cx="5410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533400" y="457866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10921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追赶法需要多少存储单元和乘除法？什么情况下会失败？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409248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4n 个存储单元、5n 次乘除法；某个 rᵢ = 0 时失败，三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对角矩阵满足对角占优条件时不会发生。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3265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 = (2 1; 4 5) 的 Doolittle 分解。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u11 = 2，u12 = 1，l21 = 2，u22 = 5 − 2 = 3；L = (1 0;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1)，U = (2 1; 0 3)。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485900"/>
            <a:chOff x="6248400" y="3179445"/>
            <a:chExt cx="54102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4866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A = (1 2; 3 4) 做列主元分解 PA = LU，并求 det(A)。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列选 3，交换两行；P = (0 1; 1 0)，L = (1 0; 1/3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1)，U = (3 4; 0 2/3)，det(A) = −3 × 2/3 = −2。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迭代改善中哪一步必须用高精度？为什么？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残差 r = b − Ax⁽¹⁾。Ax⁽¹⁾ 与 b 非常接近，低精度相减会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抵消有效数字。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65779" cy="909257"/>
            <a:chOff x="520446" y="342900"/>
            <a:chExt cx="35657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线性方程组（上） · 消元法在计算机上的实现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2400300"/>
            <a:chOff x="533400" y="1524000"/>
            <a:chExt cx="6059805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55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3507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适用矩阵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7994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乘除法次数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47925" y="20454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顺序主子式非零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30102" y="2045494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n³/3 + n² − n/3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102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47925" y="24455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顺序主子式非零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0102" y="2445544"/>
              <a:ext cx="1805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分解约 n³/3，每个右端 n²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列主元消去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47925" y="28455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任意非奇异矩阵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0102" y="2845594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n³/3，另加比较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11748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平方根法 / LDLᵀ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4792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对称正定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0102" y="3245644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n³/6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追赶法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47925" y="36456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三对角（对角占优）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30102" y="364569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4600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2818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bullets-2"/>
          <p:cNvGrpSpPr/>
          <p:nvPr/>
        </p:nvGrpSpPr>
        <p:grpSpPr>
          <a:xfrm>
            <a:off x="533400" y="4104322"/>
            <a:ext cx="4757699" cy="1202246"/>
            <a:chOff x="533400" y="4104322"/>
            <a:chExt cx="4757699" cy="1202246"/>
          </a:xfrm>
        </p:grpSpPr>
        <p:sp>
          <p:nvSpPr>
            <p:cNvPr id="36" name="Ellipse 36"/>
            <p:cNvSpPr/>
            <p:nvPr/>
          </p:nvSpPr>
          <p:spPr>
            <a:xfrm>
              <a:off x="533400" y="410432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9078" y="41427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197" y="4116705"/>
              <a:ext cx="4476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消元过程等于左乘 Gₙ₋₁⋯G₁，由此 A = LU，L 存放乘子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33400" y="441293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9078" y="44513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4197" y="4425315"/>
              <a:ext cx="4125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三角分解法先解 Ly = b 再解 Ux = y，分解只做一次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33400" y="472154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9078" y="47599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4197" y="4733925"/>
              <a:ext cx="3985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主元为零或很小时要选主元，列主元对应 PA = LU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33400" y="503015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9078" y="5068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4197" y="5042535"/>
              <a:ext cx="44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det(A) 等于 ±u11⋯unn，A⁻¹ 由 LU 分解解 AX = I 得到</a:t>
              </a:r>
            </a:p>
          </p:txBody>
        </p:sp>
      </p:grpSp>
      <p:grpSp>
        <p:nvGrpSpPr>
          <p:cNvPr id="72" name="c2-tree-1"/>
          <p:cNvGrpSpPr/>
          <p:nvPr/>
        </p:nvGrpSpPr>
        <p:grpSpPr>
          <a:xfrm>
            <a:off x="6898005" y="1564958"/>
            <a:ext cx="4760595" cy="2061210"/>
            <a:chOff x="6898005" y="1564958"/>
            <a:chExt cx="4760595" cy="2061210"/>
          </a:xfrm>
        </p:grpSpPr>
        <p:sp>
          <p:nvSpPr>
            <p:cNvPr id="49" name="Freeform 49"/>
            <p:cNvSpPr/>
            <p:nvPr/>
          </p:nvSpPr>
          <p:spPr>
            <a:xfrm>
              <a:off x="9931718" y="1738312"/>
              <a:ext cx="419100" cy="214312"/>
            </a:xfrm>
            <a:custGeom>
              <a:avLst/>
              <a:gdLst/>
              <a:ahLst/>
              <a:cxnLst/>
              <a:rect l="l" t="t" r="r" b="b"/>
              <a:pathLst>
                <a:path w="419100" h="214312">
                  <a:moveTo>
                    <a:pt x="0" y="214312"/>
                  </a:moveTo>
                  <a:lnTo>
                    <a:pt x="209550" y="2143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931718" y="1952625"/>
              <a:ext cx="419100" cy="214312"/>
            </a:xfrm>
            <a:custGeom>
              <a:avLst/>
              <a:gdLst/>
              <a:ahLst/>
              <a:cxnLst/>
              <a:rect l="l" t="t" r="r" b="b"/>
              <a:pathLst>
                <a:path w="419100" h="214312">
                  <a:moveTo>
                    <a:pt x="0" y="0"/>
                  </a:moveTo>
                  <a:lnTo>
                    <a:pt x="209550" y="0"/>
                  </a:lnTo>
                  <a:lnTo>
                    <a:pt x="209550" y="214312"/>
                  </a:lnTo>
                  <a:lnTo>
                    <a:pt x="419100" y="2143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931718" y="2595562"/>
              <a:ext cx="419100" cy="428625"/>
            </a:xfrm>
            <a:custGeom>
              <a:avLst/>
              <a:gdLst/>
              <a:ahLst/>
              <a:cxnLst/>
              <a:rect l="l" t="t" r="r" b="b"/>
              <a:pathLst>
                <a:path w="419100" h="428625">
                  <a:moveTo>
                    <a:pt x="0" y="428625"/>
                  </a:moveTo>
                  <a:lnTo>
                    <a:pt x="209550" y="4286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931718" y="302418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931718" y="3024188"/>
              <a:ext cx="419100" cy="428625"/>
            </a:xfrm>
            <a:custGeom>
              <a:avLst/>
              <a:gdLst/>
              <a:ahLst/>
              <a:cxnLst/>
              <a:rect l="l" t="t" r="r" b="b"/>
              <a:pathLst>
                <a:path w="419100" h="428625">
                  <a:moveTo>
                    <a:pt x="0" y="0"/>
                  </a:moveTo>
                  <a:lnTo>
                    <a:pt x="209550" y="0"/>
                  </a:lnTo>
                  <a:lnTo>
                    <a:pt x="209550" y="428625"/>
                  </a:lnTo>
                  <a:lnTo>
                    <a:pt x="419100" y="4286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204835" y="1952625"/>
              <a:ext cx="419100" cy="535305"/>
            </a:xfrm>
            <a:custGeom>
              <a:avLst/>
              <a:gdLst/>
              <a:ahLst/>
              <a:cxnLst/>
              <a:rect l="l" t="t" r="r" b="b"/>
              <a:pathLst>
                <a:path w="419100" h="535305">
                  <a:moveTo>
                    <a:pt x="0" y="535305"/>
                  </a:moveTo>
                  <a:lnTo>
                    <a:pt x="209550" y="5353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204835" y="2487930"/>
              <a:ext cx="419100" cy="536258"/>
            </a:xfrm>
            <a:custGeom>
              <a:avLst/>
              <a:gdLst/>
              <a:ahLst/>
              <a:cxnLst/>
              <a:rect l="l" t="t" r="r" b="b"/>
              <a:pathLst>
                <a:path w="419100" h="536258">
                  <a:moveTo>
                    <a:pt x="0" y="0"/>
                  </a:moveTo>
                  <a:lnTo>
                    <a:pt x="209550" y="0"/>
                  </a:lnTo>
                  <a:lnTo>
                    <a:pt x="209550" y="536258"/>
                  </a:lnTo>
                  <a:lnTo>
                    <a:pt x="419100" y="5362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350818" y="1564958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350818" y="1993582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623935" y="1779270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350818" y="2422208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350818" y="2850832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350818" y="3279458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623935" y="2850832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98005" y="2315528"/>
              <a:ext cx="1307782" cy="346710"/>
            </a:xfrm>
            <a:prstGeom prst="roundRect">
              <a:avLst>
                <a:gd name="adj" fmla="val 2747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440353" y="1659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顺序消元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40353" y="20883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选主元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13470" y="18740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消元法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40353" y="2516981"/>
              <a:ext cx="536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 分解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40353" y="2945606"/>
              <a:ext cx="80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LLᵀ / LDLᵀ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40353" y="33742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追赶法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13470" y="2945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三角分解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87540" y="2410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直接法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898005" y="3836670"/>
            <a:ext cx="4760595" cy="1828800"/>
            <a:chOff x="6898005" y="3836670"/>
            <a:chExt cx="4760595" cy="1828800"/>
          </a:xfrm>
        </p:grpSpPr>
        <p:sp>
          <p:nvSpPr>
            <p:cNvPr id="73" name="Rectangle 73"/>
            <p:cNvSpPr/>
            <p:nvPr/>
          </p:nvSpPr>
          <p:spPr>
            <a:xfrm>
              <a:off x="6898005" y="3836670"/>
              <a:ext cx="4760595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907530" y="397002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122795" y="402336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84962" y="405622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131367" y="442436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87387" y="4368165"/>
              <a:ext cx="3993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“开平方运算是理想的”应为“不理想”（第 31 页）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131367" y="47244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87387" y="4668202"/>
              <a:ext cx="3802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小主元例题对应 3 位有效数字运算（第 37 页）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131367" y="50244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87387" y="4968240"/>
              <a:ext cx="4048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2.7 的下标 aᵢᵢ 与内层循环变量（第 39 页）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7131367" y="532447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287387" y="526827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初等置换矩阵之积是置换矩阵（第 41 页）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6" name="Rectangle 8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40892" y="6028373"/>
              <a:ext cx="9356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复习时重点练手算：3 阶 Gauss 消元与回代、Doolittle 分解、LDLᵀ 分解、列主元消去，每一步写清乘子和行交换。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第2章 解线性方程组的数值法（上）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ch2a">
  <a:themeElements>
    <a:clrScheme name="numa_ch2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ch2a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ch2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2026-09-17T08:07:53Z</dcterms:created>
  <dcterms:modified xsi:type="dcterms:W3CDTF">2026-09-17T08:07:53Z</dcterms:modified>
  <cp:category/>
  <cp:contentStatus/>
</cp:coreProperties>
</file>