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hw1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hw1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85acc49c6ff0b8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dc5c0fab5259aa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69d8b5f218900e7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88189" cy="3437763"/>
            <a:chOff x="666750" y="1619250"/>
            <a:chExt cx="4588189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习题与上机实验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881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第1–2章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误差分析、线性方程组的直接法与迭代法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有效数字与误差限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372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LU 分解与列主元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范数与迭代收敛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两个上机实验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000358" cy="205359"/>
            <a:chOff x="680466" y="6192202"/>
            <a:chExt cx="500035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000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自学复习版｜据吉林大学《计算方法》2024 年第1–2章作业课件整理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160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809" y="407194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agenda-1"/>
          <p:cNvGrpSpPr/>
          <p:nvPr/>
        </p:nvGrpSpPr>
        <p:grpSpPr>
          <a:xfrm>
            <a:off x="521970" y="1515428"/>
            <a:ext cx="6287453" cy="2917792"/>
            <a:chOff x="521970" y="1515428"/>
            <a:chExt cx="6287453" cy="2917792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第1章 习题1–3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有效数字位数与相对误差限、1 − cos2° 的三种算法、定理 1.1 的证明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 直接法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4037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Doolittle 分解解 4 阶方程组、列主元消去法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991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 范数与迭代法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3806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矩阵范数与谱半径、Jacobi 与 Gauss-Seidel 迭代、含参数的收敛范围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上机实验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1 − 0.2 − … − 0.2 的浮点结果、两种差商求导与步长选择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由四舍五入得到的近似数读出有效数字位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数，写出误差限和相对误差限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用误差传播估计比较不同算法，知道为什么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要避免相近数相减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335280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4 阶 Doolittle 分解和列主元消去的每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一步，并能验算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97383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‖A‖₁、‖A‖∞、‖A‖₂、ρ(A)，用谱半径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判断迭代格式是否收敛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解释截断误差与舍入误差怎样共同决定数值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微分的最佳步长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790762" cy="2997517"/>
            <a:chOff x="667512" y="1835468"/>
            <a:chExt cx="579076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第1章 习题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误差与有效数字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80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三道题分别练习读有效数字、比较算法误差、证明定理 1.1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1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习题1 有效数字位数与相对误差限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165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 用四位数学用表求 1 − cos2°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习题3 证明定理 1.1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预备知识：误差限、相对误差限与有效数字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450165" cy="308039"/>
            <a:chOff x="525399" y="1550194"/>
            <a:chExt cx="645016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4501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下面三题都要用到这几个定义。x 表示准确值，x* 表示它的近似值。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67865"/>
            <a:ext cx="5410200" cy="3663315"/>
            <a:chOff x="533400" y="1967865"/>
            <a:chExt cx="5410200" cy="366331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3663315"/>
            </a:xfrm>
            <a:prstGeom prst="roundRect">
              <a:avLst>
                <a:gd name="adj" fmla="val 36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33966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误差与误差限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 e* = x* − x。真值未知，只能给出它的上界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ε，称为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误差限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"/>
                <p:cNvSpPr txBox="1">
                  <a:spLocks noGrp="1"/>
                </p:cNvSpPr>
                <p:nvPr/>
              </p:nvSpPr>
              <p:spPr>
                <a:xfrm>
                  <a:off x="781050" y="316992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3709035"/>
              <a:ext cx="4336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相对误差用近似值作分母，相对误差限记为 εᵣ：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6"/>
                <p:cNvSpPr txBox="1">
                  <a:spLocks noGrp="1"/>
                </p:cNvSpPr>
                <p:nvPr/>
              </p:nvSpPr>
              <p:spPr>
                <a:xfrm>
                  <a:off x="781050" y="4019550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74573" y="4701064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误差限只说明误差不超过多少；相对误差限才能比较大小不同的数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算得准不准。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1967865"/>
            <a:ext cx="5410200" cy="2413635"/>
            <a:chOff x="6248400" y="1967865"/>
            <a:chExt cx="5410200" cy="241363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67865"/>
              <a:ext cx="5410200" cy="2413635"/>
            </a:xfrm>
            <a:prstGeom prst="roundRect">
              <a:avLst>
                <a:gd name="adj" fmla="val 55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2101215"/>
              <a:ext cx="47625" cy="214693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2177415"/>
              <a:ext cx="127158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2887" y="2213134"/>
              <a:ext cx="1136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定义（1.2.13）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74318" y="221265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257365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把近似值写成规格化形式（αᵢ 取 0～9，α₁ ≠ 0）：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7"/>
                <p:cNvSpPr txBox="1">
                  <a:spLocks noGrp="1"/>
                </p:cNvSpPr>
                <p:nvPr/>
              </p:nvSpPr>
              <p:spPr>
                <a:xfrm>
                  <a:off x="6496050" y="288417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88430" y="3423285"/>
              <a:ext cx="4234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若误差满足下式，则称 x* 具有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位有效数字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8"/>
                <p:cNvSpPr txBox="1">
                  <a:spLocks noGrp="1"/>
                </p:cNvSpPr>
                <p:nvPr/>
              </p:nvSpPr>
              <p:spPr>
                <a:xfrm>
                  <a:off x="6496050" y="3733800"/>
                  <a:ext cx="49530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llout-2"/>
          <p:cNvGrpSpPr/>
          <p:nvPr/>
        </p:nvGrpSpPr>
        <p:grpSpPr>
          <a:xfrm>
            <a:off x="6248400" y="4572000"/>
            <a:ext cx="5410200" cy="1059180"/>
            <a:chOff x="6248400" y="4572000"/>
            <a:chExt cx="5410200" cy="1059180"/>
          </a:xfrm>
        </p:grpSpPr>
        <p:sp>
          <p:nvSpPr>
            <p:cNvPr id="30" name="Rectangle 30"/>
            <p:cNvSpPr/>
            <p:nvPr/>
          </p:nvSpPr>
          <p:spPr>
            <a:xfrm>
              <a:off x="6248400" y="457200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5001578"/>
              <a:ext cx="200026" cy="200025"/>
              <a:chOff x="6453188" y="500157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8" y="500157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92926" y="504602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27642" y="515715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130" y="4720590"/>
              <a:ext cx="43872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例：3.1416 = 0.31416×10¹，m = 1。四舍五入到小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数点后第 4 位，误差不超过 0.5×10⁻⁴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0.5×10¹⁻⁵，所以 n = 5。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7" name="Rectangle 3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四舍五入得到的数，误差限是最后一位的半个单位；从第一个非零数字数到最后一位，就是有效数字位数。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9616" cy="909257"/>
            <a:chOff x="520446" y="342900"/>
            <a:chExt cx="81196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96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习题1：四舍五入近似数的有效数字位数与相对误差限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326434" cy="512636"/>
            <a:chOff x="526542" y="1545907"/>
            <a:chExt cx="10326434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3264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题目：下列各数都是经过四舍五入得到的近似数，试指出它们的有效数字位数，并给出相对误差限：x₁* = 3.1416，x₂* = 0.028，x₃* =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1.250，x₄* = 3×10⁴。</a:t>
              </a:r>
            </a:p>
          </p:txBody>
        </p:sp>
      </p:grpSp>
      <p:grpSp>
        <p:nvGrpSpPr>
          <p:cNvPr id="55" name="c1-table-1"/>
          <p:cNvGrpSpPr/>
          <p:nvPr/>
        </p:nvGrpSpPr>
        <p:grpSpPr>
          <a:xfrm>
            <a:off x="533400" y="2177415"/>
            <a:ext cx="11125200" cy="2000250"/>
            <a:chOff x="533400" y="2177415"/>
            <a:chExt cx="1112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11125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4471" y="22988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2476" y="229885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规格化形式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95450" y="2298859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95825" y="2298859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误差限 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89218" y="2298859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有效位数 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195096" y="2298859"/>
              <a:ext cx="1256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相对误差限 ε/|x*|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7777" y="2698909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x₁* = 3.1416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63320" y="2698909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0.31416×10¹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13355" y="2698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57566" y="269890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0342" y="2586990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16587" y="26989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0379" y="2698909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 / 3.1416 ≈ 1.59×10⁻⁵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727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97751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1314" y="3098959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x₂* = 0.028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46246" y="3098959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0.28×10⁻¹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71892" y="309895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57566" y="309895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0342" y="2987040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16587" y="30989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31842" y="3098959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 / 0.028 ≈ 1.79×10⁻²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37280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1314" y="3499009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x₃* = 1.250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04783" y="3499009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0.1250×10¹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3355" y="34990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7566" y="349900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0342" y="3387090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16587" y="34990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3305" y="3499009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 / 1.250 = 4.0×10⁻⁴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7728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777615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1314" y="3899059"/>
              <a:ext cx="890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x₄* = 3×10⁴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29172" y="389905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0.3×10⁵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13355" y="3899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99029" y="3899059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0.5×10⁴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550342" y="3787140"/>
              <a:ext cx="14268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16587" y="389905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90379" y="3899059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0.5×10⁴ / (3×10⁴) ≈ 1.67×10⁻¹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2177415"/>
              <a:ext cx="11125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974532" y="217741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866198" y="217741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45342" y="217741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36055" y="217741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82902" y="217741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steps-2"/>
          <p:cNvGrpSpPr/>
          <p:nvPr/>
        </p:nvGrpSpPr>
        <p:grpSpPr>
          <a:xfrm>
            <a:off x="533400" y="4347210"/>
            <a:ext cx="11125200" cy="1151572"/>
            <a:chOff x="533400" y="4347210"/>
            <a:chExt cx="11125200" cy="1151572"/>
          </a:xfrm>
        </p:grpSpPr>
        <p:sp>
          <p:nvSpPr>
            <p:cNvPr id="56" name="Rectangle 56"/>
            <p:cNvSpPr/>
            <p:nvPr/>
          </p:nvSpPr>
          <p:spPr>
            <a:xfrm>
              <a:off x="533400" y="4347210"/>
              <a:ext cx="3517582" cy="1151572"/>
            </a:xfrm>
            <a:prstGeom prst="roundRect">
              <a:avLst>
                <a:gd name="adj" fmla="val 99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66750" y="44805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6883" y="45510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9892" y="4884420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看最后一位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035" y="5170646"/>
              <a:ext cx="330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四舍五入保留到哪一位，ε 就是那一位的半个单位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4127182" y="483774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336732" y="4347210"/>
              <a:ext cx="3517582" cy="1151572"/>
            </a:xfrm>
            <a:prstGeom prst="roundRect">
              <a:avLst>
                <a:gd name="adj" fmla="val 99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470082" y="44805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560216" y="45510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463224" y="4884420"/>
              <a:ext cx="10650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规格化求 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464368" y="5170646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0.α₁α₂⋯×10ᵐ，由 ε = 0.5×10ᵐ⁻ⁿ 解出 n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7931468" y="483774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141018" y="4347210"/>
              <a:ext cx="3517582" cy="1151572"/>
            </a:xfrm>
            <a:prstGeom prst="roundRect">
              <a:avLst>
                <a:gd name="adj" fmla="val 992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274368" y="44805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64501" y="45510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67510" y="4884420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求相对误差限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8652" y="5170646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εᵣ = ε/|x*|，常写成百分数或 a×10ᵏ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4" name="Rectangle 7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8373"/>
              <a:ext cx="9600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检验 n：x₂* 的 m = −1、ε = 0.5×10⁻³，由 −1 − n = −3 得 n = 2；x₄* 的 m = 5、ε = 0.5×10⁴，由 5 − n = 4 得 n = 1。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5699" cy="909257"/>
            <a:chOff x="520446" y="342900"/>
            <a:chExt cx="79556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56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习题1 易错点：末尾的 0 和科学记数法都会改变位数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27685" y="1524000"/>
            <a:ext cx="4983480" cy="3886677"/>
            <a:chOff x="527685" y="1524000"/>
            <a:chExt cx="4983480" cy="38866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99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207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有效位数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9944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508" y="210835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1796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78826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752" y="2556986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533650" y="2430780"/>
              <a:ext cx="12753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1796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8826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23263" y="30056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1796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882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73508" y="345424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533650" y="3328988"/>
              <a:ext cx="12753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1796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78826" y="34542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73508" y="390382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3×10⁴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1796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26212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73997" y="4352449"/>
              <a:ext cx="709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3.0×10⁴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17962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26212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0.5×10³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0410" y="4801076"/>
              <a:ext cx="17167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30000（精确到个位）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533650" y="4674870"/>
              <a:ext cx="12753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17962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15757" y="480107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4977765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251936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81381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519064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同一个值，写法不同，精度不同（都视为四舍五入所得）</a:t>
              </a:r>
            </a:p>
          </p:txBody>
        </p:sp>
      </p:grpSp>
      <p:grpSp>
        <p:nvGrpSpPr>
          <p:cNvPr id="55" name="c1-callout-2"/>
          <p:cNvGrpSpPr/>
          <p:nvPr/>
        </p:nvGrpSpPr>
        <p:grpSpPr>
          <a:xfrm>
            <a:off x="533400" y="5556885"/>
            <a:ext cx="4977765" cy="782955"/>
            <a:chOff x="533400" y="5556885"/>
            <a:chExt cx="4977765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5688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844658"/>
              <a:ext cx="224134" cy="192560"/>
              <a:chOff x="726129" y="584465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9150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8446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5992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05475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小数点前后的前导 0 只定位，不算有效数字；末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尾的 0 表示精确到那一位，要算。</a:t>
              </a:r>
            </a:p>
          </p:txBody>
        </p:sp>
      </p:grpSp>
      <p:grpSp>
        <p:nvGrpSpPr>
          <p:cNvPr id="99" name="c2-card-1"/>
          <p:cNvGrpSpPr/>
          <p:nvPr/>
        </p:nvGrpSpPr>
        <p:grpSpPr>
          <a:xfrm>
            <a:off x="5815965" y="1524000"/>
            <a:ext cx="5842635" cy="4815840"/>
            <a:chOff x="5815965" y="1524000"/>
            <a:chExt cx="5842635" cy="4815840"/>
          </a:xfrm>
        </p:grpSpPr>
        <p:sp>
          <p:nvSpPr>
            <p:cNvPr id="56" name="Rectangle 56"/>
            <p:cNvSpPr/>
            <p:nvPr/>
          </p:nvSpPr>
          <p:spPr>
            <a:xfrm>
              <a:off x="5815965" y="1524000"/>
              <a:ext cx="5842635" cy="4815840"/>
            </a:xfrm>
            <a:prstGeom prst="roundRect">
              <a:avLst>
                <a:gd name="adj" fmla="val 2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5490" y="1657350"/>
              <a:ext cx="47625" cy="454914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63615" y="1733550"/>
              <a:ext cx="1256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30559" y="1769269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与定理 1.1 对照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26642" y="1768792"/>
              <a:ext cx="26388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 α₁ 和 n 的相对误差上界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10"/>
                <p:cNvSpPr txBox="1">
                  <a:spLocks noGrp="1"/>
                </p:cNvSpPr>
                <p:nvPr/>
              </p:nvSpPr>
              <p:spPr>
                <a:xfrm>
                  <a:off x="6063615" y="2105025"/>
                  <a:ext cx="538543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2" name="Rectangle 62"/>
            <p:cNvSpPr/>
            <p:nvPr/>
          </p:nvSpPr>
          <p:spPr>
            <a:xfrm>
              <a:off x="6063615" y="2766060"/>
              <a:ext cx="53854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95789" y="29017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57802" y="29017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α₁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0012" y="29017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60512" y="2901791"/>
              <a:ext cx="1090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直接算 ε/|x*|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13350" y="2901791"/>
              <a:ext cx="1109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 1.1 上界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96767" y="3350419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09927" y="33504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02382" y="33504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72947" y="335041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1.59×10⁻⁵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35047" y="335041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1.67×10⁻⁵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63615" y="3658552"/>
              <a:ext cx="53854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63615" y="3663315"/>
              <a:ext cx="53854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6523" y="379904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09927" y="37990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002382" y="37990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72947" y="379904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1.79×10⁻²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235047" y="379904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2.50×10⁻²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63615" y="4108132"/>
              <a:ext cx="53854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6523" y="424767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09927" y="424767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02382" y="424767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20333" y="424767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4.0×10⁻⁴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82433" y="424767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5.0×10⁻⁴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63615" y="4556760"/>
              <a:ext cx="53854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063615" y="4561522"/>
              <a:ext cx="53854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6523" y="469630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3×10⁴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09927" y="46963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02382" y="46963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672947" y="469630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1.67×10⁻¹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235047" y="469630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1.67×10⁻¹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063615" y="2766060"/>
              <a:ext cx="53854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135178" y="27660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781925" y="27660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320088" y="27660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9882188" y="276606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057138" y="5126831"/>
              <a:ext cx="50441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定理的上界不会小于直接算出的值；x₄* 只有一位数字，|x*| 恰好等于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α₁×10ᵐ⁻¹，两者相等。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5325" cy="909257"/>
            <a:chOff x="520446" y="342900"/>
            <a:chExt cx="81153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53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习题2：用四位数学用表求 1 − cos2°，比较三种算法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60025" cy="597598"/>
            <a:chOff x="525399" y="1550194"/>
            <a:chExt cx="10360025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60025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题目：利用四位数学用表求 1 − cos2° 的近似值，比较下面几种方法的结果，分析各自误差。表中 cos2° = 0.9994，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sin2° = 0.0349，sin1° = 0.0175。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2257425"/>
            <a:ext cx="5193982" cy="2893695"/>
            <a:chOff x="533400" y="2257425"/>
            <a:chExt cx="5193982" cy="289369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193982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502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三种算法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28308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28731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84416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直接按 1 − cos2° 求解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316611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32084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317944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1 − cos2° = sin²2° / (1 + cos2°) 求解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350139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35436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351472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1 − cos2° = 2sin²1° 求解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3"/>
                <p:cNvSpPr txBox="1">
                  <a:spLocks noGrp="1"/>
                </p:cNvSpPr>
                <p:nvPr/>
              </p:nvSpPr>
              <p:spPr>
                <a:xfrm>
                  <a:off x="781050" y="3825240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∘</m:t>
                                </m:r>
                              </m:sup>
                            </m:sSup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∘</m:t>
                                    </m:r>
                                  </m:sup>
                                </m:sSup>
                              </m:e>
                            </m:func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s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∘</m:t>
                                    </m:r>
                                  </m:sup>
                                </m:sSup>
                              </m:e>
                            </m:func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∘</m:t>
                                </m:r>
                              </m:sup>
                            </m:sSup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74573" y="4507706"/>
              <a:ext cx="4540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两个恒等式分别来自 (1 − cos θ)(1 + cos θ) = sin²θ 和半角公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式 1 − cos θ = 2sin²(θ/2)。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5341620"/>
            <a:ext cx="5193982" cy="782955"/>
            <a:chOff x="533400" y="5341620"/>
            <a:chExt cx="5193982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534162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33085"/>
              <a:ext cx="200026" cy="200026"/>
              <a:chOff x="738188" y="563308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6330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6997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7330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490210"/>
              <a:ext cx="4234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表值都四舍五入到小数点后第 4 位，所以三个表值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的误差限都是 ε = 0.5×10⁻⁴。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032182" y="2257425"/>
            <a:ext cx="5626418" cy="3867150"/>
            <a:chOff x="6032182" y="2257425"/>
            <a:chExt cx="5626418" cy="3867150"/>
          </a:xfrm>
        </p:grpSpPr>
        <p:sp>
          <p:nvSpPr>
            <p:cNvPr id="32" name="Rectangle 32"/>
            <p:cNvSpPr/>
            <p:nvPr/>
          </p:nvSpPr>
          <p:spPr>
            <a:xfrm>
              <a:off x="6032182" y="2257425"/>
              <a:ext cx="5626418" cy="386715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2390775"/>
              <a:ext cx="47625" cy="36004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79832" y="2466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0041" y="2502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9908" y="250221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误差传播的一阶估计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2212" y="2863215"/>
              <a:ext cx="4939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f(x₁, …, xₙ)，各自变量的误差为 e(xᵢ)，泰勒展开略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去二阶项：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14"/>
                <p:cNvSpPr txBox="1">
                  <a:spLocks noGrp="1"/>
                </p:cNvSpPr>
                <p:nvPr/>
              </p:nvSpPr>
              <p:spPr>
                <a:xfrm>
                  <a:off x="6279832" y="3459480"/>
                  <a:ext cx="5169218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9" name="Ellipse 39"/>
            <p:cNvSpPr/>
            <p:nvPr/>
          </p:nvSpPr>
          <p:spPr>
            <a:xfrm>
              <a:off x="6285548" y="426243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43662" y="4199572"/>
              <a:ext cx="2751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算法①：y = 1 − c，|∂y/∂c| = 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85548" y="459771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43662" y="4534852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算法②：y = s²/(1 + c)，∂y/∂s = 2s/(1 + c)，∂y/∂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−s²/(1 + c)²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85548" y="5218748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43662" y="5155882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算法③：y = 2t²，∂y/∂t = 4t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3356" y="548782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前提：误差远小于自变量本身，二阶项可以忽略。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 解：三种算法的结果、误差限与实际误差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869180" cy="4080510"/>
            <a:chOff x="533400" y="1524000"/>
            <a:chExt cx="4869180" cy="40805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4080510"/>
            </a:xfrm>
            <a:prstGeom prst="roundRect">
              <a:avLst>
                <a:gd name="adj" fmla="val 32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13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79641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164" y="1743551"/>
              <a:ext cx="16464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计算过程（ε = 0.5×10⁻⁴）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26993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1 − 0.9994 = 0.0006 = 6×10⁻⁴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351246"/>
              <a:ext cx="4157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误差限 ε = 0.5×10⁻⁴，相对误差限 0.5×10⁻⁴/0.0006 ≈ 8.3%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616518"/>
              <a:ext cx="36360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0.0349² / 1.9994 = 0.00121801 / 1.9994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6.0919×10⁻⁴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8"/>
                <p:cNvSpPr txBox="1">
                  <a:spLocks noGrp="1"/>
                </p:cNvSpPr>
                <p:nvPr/>
              </p:nvSpPr>
              <p:spPr>
                <a:xfrm>
                  <a:off x="758190" y="3151822"/>
                  <a:ext cx="4457700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×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0.0349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1.9994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0.034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1.999</m:t>
                                </m:r>
                                <m:sSup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ε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1.76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2475" y="3665696"/>
              <a:ext cx="3260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相对误差限 1.76×10⁻⁶ / 6.0919×10⁻⁴ ≈ 0.29%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930968"/>
              <a:ext cx="3789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2×0.0175² = 2×0.00030625 = 6.1250×10⁻⁴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4226719"/>
              <a:ext cx="3697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误差限 4×0.0175×ε = 3.5×10⁻⁶，相对误差限 ≈ 0.57%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5702427" y="1524000"/>
            <a:ext cx="5956173" cy="1863756"/>
            <a:chOff x="5702427" y="1524000"/>
            <a:chExt cx="5956173" cy="1863756"/>
          </a:xfrm>
        </p:grpSpPr>
        <p:sp>
          <p:nvSpPr>
            <p:cNvPr id="19" name="Rectangle 19"/>
            <p:cNvSpPr/>
            <p:nvPr/>
          </p:nvSpPr>
          <p:spPr>
            <a:xfrm>
              <a:off x="5707380" y="1524000"/>
              <a:ext cx="595122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080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05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8532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47062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3400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4555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实际位数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531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62575" y="20454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6×10⁻⁴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2712" y="20454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5×10⁻⁵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633460" y="1933575"/>
              <a:ext cx="99250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43068" y="204549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03849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9.2×10⁻⁶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0564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0738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1531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5260" y="24455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6.0919×10⁻⁴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79786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1.8×10⁻⁶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33460" y="2333625"/>
              <a:ext cx="9925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1605" y="244554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0384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1.5×10⁻⁸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56570" y="2333625"/>
              <a:ext cx="9925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0564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0738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1531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5260" y="28455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6.1250×10⁻⁴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79786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3.5×10⁻⁶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01605" y="2845594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0.57%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0384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3.3×10⁻⁶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0564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07380" y="1524000"/>
              <a:ext cx="595122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1699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06665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1917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3072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64228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02427" y="3197066"/>
              <a:ext cx="3433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1 − cos2° = 6.0917×10⁻⁴（用双精度计算，作对照）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5707380" y="3519488"/>
            <a:ext cx="5951220" cy="1185862"/>
            <a:chOff x="5707380" y="3519488"/>
            <a:chExt cx="5951220" cy="1185862"/>
          </a:xfrm>
        </p:grpSpPr>
        <p:sp>
          <p:nvSpPr>
            <p:cNvPr id="58" name="Rectangle 58"/>
            <p:cNvSpPr/>
            <p:nvPr/>
          </p:nvSpPr>
          <p:spPr>
            <a:xfrm>
              <a:off x="5707380" y="3519488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94070" y="37061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86742" y="37390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87212" y="4050982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算法②最准，③次之，①最差。三者按误差限能保证的有效位数依次为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1、2、2 位；与真值比较，实际依次为 1、4、2 位。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5707380" y="4874895"/>
            <a:ext cx="5951220" cy="729615"/>
            <a:chOff x="5707380" y="4874895"/>
            <a:chExt cx="5951220" cy="729615"/>
          </a:xfrm>
        </p:grpSpPr>
        <p:sp>
          <p:nvSpPr>
            <p:cNvPr id="63" name="Rectangle 63"/>
            <p:cNvSpPr/>
            <p:nvPr/>
          </p:nvSpPr>
          <p:spPr>
            <a:xfrm>
              <a:off x="5707380" y="4874895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912168" y="5139690"/>
              <a:ext cx="200026" cy="200026"/>
              <a:chOff x="5912168" y="5139690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5912168" y="51396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012180" y="52063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001068" y="52397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214872" y="5021580"/>
              <a:ext cx="49343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原课件只给出三个结果 0.0006、6.0919×10⁻⁴、6.1250×10⁻⁴，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误差分析为本讲义补写。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 分析：相近两数相减会吃掉有效数字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6059805" cy="1887855"/>
            <a:chOff x="533400" y="1524000"/>
            <a:chExt cx="605980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8778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978" y="1769269"/>
              <a:ext cx="1153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为什么算法①最差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1682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cos2° = 0.9994 有 4 位有效数字，相对误差限只有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0.5×10⁻⁴/0.9994 ≈ 0.005%。减去 1 以后误差限不变，结果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却缩小到 0.0006，只剩 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位有效数字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，相对误差限放大到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8.3%，约 1700 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2355"/>
            <a:ext cx="6059805" cy="1602105"/>
            <a:chOff x="533400" y="3602355"/>
            <a:chExt cx="6059805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3570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11905"/>
              <a:ext cx="136969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400" y="3847624"/>
              <a:ext cx="1240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为什么算法②比③准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189095"/>
              <a:ext cx="5225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两者都避开了相减，误差主要来自表中的正弦值。sin2°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0.0349 的相对误差限约 0.14%，sin1° = 0.0175 约 0.29%；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平方使相对误差约翻倍，于是分别得到 0.29% 和 0.57%。</a:t>
              </a:r>
            </a:p>
          </p:txBody>
        </p:sp>
      </p:grpSp>
      <p:grpSp>
        <p:nvGrpSpPr>
          <p:cNvPr id="21" name="c2-image-1"/>
          <p:cNvGrpSpPr/>
          <p:nvPr/>
        </p:nvGrpSpPr>
        <p:grpSpPr>
          <a:xfrm>
            <a:off x="7010400" y="1524000"/>
            <a:ext cx="4535805" cy="3909537"/>
            <a:chOff x="7010400" y="1524000"/>
            <a:chExt cx="4535805" cy="3909537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rcRect l="0" t="7" r="0" b="7"/>
            <a:stretch>
              <a:fillRect/>
            </a:stretch>
          </p:blipFill>
          <p:spPr>
            <a:xfrm>
              <a:off x="7010400" y="1524000"/>
              <a:ext cx="4535805" cy="3401378"/>
            </a:xfrm>
            <a:prstGeom prst="roundRect">
              <a:avLst>
                <a:gd name="adj" fmla="val 3920"/>
              </a:avLst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7042976" y="5021104"/>
              <a:ext cx="447065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分别称“船 + 人”和“船”再相减求人重，两次读数的小误差就能把结果淹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没</a:t>
              </a:r>
            </a:p>
          </p:txBody>
        </p:sp>
      </p:grpSp>
      <p:grpSp>
        <p:nvGrpSpPr>
          <p:cNvPr id="2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130" y="5728335"/>
              <a:ext cx="9730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同样要避开的还有：用绝对值很小的数作除数、大数与小数直接相加（小数被舍掉）。无法避开相减时，先做恒等变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5922" cy="909257"/>
            <a:chOff x="520446" y="342900"/>
            <a:chExt cx="8135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59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习题3：证明定理 1.1（有效数字与相对误差的关系）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11754" cy="308039"/>
            <a:chOff x="525399" y="1550194"/>
            <a:chExt cx="681175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117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题目：证明定理 1.1。原课件此题的解答页为空白，下面补写完整证明。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67865"/>
            <a:ext cx="5842635" cy="3023235"/>
            <a:chOff x="533400" y="1967865"/>
            <a:chExt cx="5842635" cy="30232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3023235"/>
            </a:xfrm>
            <a:prstGeom prst="roundRect">
              <a:avLst>
                <a:gd name="adj" fmla="val 4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75653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2635" y="221313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1.1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554605"/>
              <a:ext cx="5023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若近似值 x* 具有 n 位有效数字，则其相对误差满足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24"/>
                <p:cNvSpPr txBox="1">
                  <a:spLocks noGrp="1"/>
                </p:cNvSpPr>
                <p:nvPr/>
              </p:nvSpPr>
              <p:spPr>
                <a:xfrm>
                  <a:off x="781050" y="2865120"/>
                  <a:ext cx="538543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1.2.14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550920"/>
              <a:ext cx="3629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反之，如果 x* 的相对误差 eᵣ*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5"/>
                <p:cNvSpPr txBox="1">
                  <a:spLocks noGrp="1"/>
                </p:cNvSpPr>
                <p:nvPr/>
              </p:nvSpPr>
              <p:spPr>
                <a:xfrm>
                  <a:off x="781050" y="3861435"/>
                  <a:ext cx="538543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1.2.15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7" name="TextBox 17"/>
            <p:cNvSpPr txBox="1"/>
            <p:nvPr/>
          </p:nvSpPr>
          <p:spPr>
            <a:xfrm>
              <a:off x="773430" y="4547235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x* 至少具有 n 位有效数字。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5181600"/>
            <a:ext cx="5842635" cy="1059180"/>
            <a:chOff x="533400" y="5181600"/>
            <a:chExt cx="5842635" cy="1059180"/>
          </a:xfrm>
        </p:grpSpPr>
        <p:sp>
          <p:nvSpPr>
            <p:cNvPr id="19" name="Rectangle 19"/>
            <p:cNvSpPr/>
            <p:nvPr/>
          </p:nvSpPr>
          <p:spPr>
            <a:xfrm>
              <a:off x="533400" y="5181600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607486"/>
              <a:ext cx="224134" cy="192560"/>
              <a:chOff x="726129" y="5607486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67785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60748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75564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330190"/>
              <a:ext cx="4853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反方向不能用 (1.2.14) 的常数。反例：x* = 0.19，α₁ =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1，m = 0。若 |eᵣ*| = 10⁻¹/(2α₁) = 0.05，则 |e*| =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0.0095 &gt; 0.5×10⁻²，保证不了 2 位有效数字。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680835" y="1967865"/>
            <a:ext cx="4977765" cy="2966085"/>
            <a:chOff x="6680835" y="1967865"/>
            <a:chExt cx="4977765" cy="2966085"/>
          </a:xfrm>
        </p:grpSpPr>
        <p:sp>
          <p:nvSpPr>
            <p:cNvPr id="26" name="Rectangle 26"/>
            <p:cNvSpPr/>
            <p:nvPr/>
          </p:nvSpPr>
          <p:spPr>
            <a:xfrm>
              <a:off x="6680835" y="1967865"/>
              <a:ext cx="4977765" cy="2966085"/>
            </a:xfrm>
            <a:prstGeom prst="roundRect">
              <a:avLst>
                <a:gd name="adj" fmla="val 44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0360" y="2101215"/>
              <a:ext cx="47625" cy="26993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28485" y="217741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4042" y="22131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证明要用的两件事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928485" y="254127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90334" y="25835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29475" y="2554605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有效数字的定义（1.2.13）：x* = ±0.α₁α₂⋯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αₖ×10ᵐ，α₁ ≠ 0，且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26"/>
                <p:cNvSpPr txBox="1">
                  <a:spLocks noGrp="1"/>
                </p:cNvSpPr>
                <p:nvPr/>
              </p:nvSpPr>
              <p:spPr>
                <a:xfrm>
                  <a:off x="6928485" y="3150870"/>
                  <a:ext cx="452056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Ellipse 34"/>
            <p:cNvSpPr/>
            <p:nvPr/>
          </p:nvSpPr>
          <p:spPr>
            <a:xfrm>
              <a:off x="6928485" y="36766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0334" y="37189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29475" y="3689985"/>
              <a:ext cx="3968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|x*| 的上下界：0.α₁α₂⋯αₖ 不小于 0.α₁，又小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0.α₁ + 0.1，所以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7"/>
                <p:cNvSpPr txBox="1">
                  <a:spLocks noGrp="1"/>
                </p:cNvSpPr>
                <p:nvPr/>
              </p:nvSpPr>
              <p:spPr>
                <a:xfrm>
                  <a:off x="6928485" y="4286250"/>
                  <a:ext cx="452056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5" name="c2-callout-2"/>
          <p:cNvGrpSpPr/>
          <p:nvPr/>
        </p:nvGrpSpPr>
        <p:grpSpPr>
          <a:xfrm>
            <a:off x="6680835" y="5124450"/>
            <a:ext cx="4977765" cy="782955"/>
            <a:chOff x="6680835" y="5124450"/>
            <a:chExt cx="4977765" cy="782955"/>
          </a:xfrm>
        </p:grpSpPr>
        <p:sp>
          <p:nvSpPr>
            <p:cNvPr id="39" name="Rectangle 39"/>
            <p:cNvSpPr/>
            <p:nvPr/>
          </p:nvSpPr>
          <p:spPr>
            <a:xfrm>
              <a:off x="6680835" y="512445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885623" y="5415915"/>
              <a:ext cx="200026" cy="200025"/>
              <a:chOff x="6885623" y="541591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85623" y="54159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925361" y="54603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60077" y="55714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187565" y="5273040"/>
              <a:ext cx="3749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例：x* = 0.28×10⁻¹ 时 α₁ = 2，m = −1，有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0.02 ≤ 0.028 &lt; 0.03。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7841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1951" y="407194"/>
              <a:ext cx="2462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误差与有效数字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习题3 证明：分母用下界放小，乘数用上界放大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5410200" cy="2646045"/>
            <a:chOff x="533400" y="1524000"/>
            <a:chExt cx="5410200" cy="26460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6045"/>
            </a:xfrm>
            <a:prstGeom prst="roundRect">
              <a:avLst>
                <a:gd name="adj" fmla="val 50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9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8602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445" y="1769269"/>
              <a:ext cx="1708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有效数字 ⇒ 相对误差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185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有 n 位有效数字，由定义 |e*| ≤ 0.5×10ᵐ⁻ⁿ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43268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446020"/>
              <a:ext cx="355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由下界 |x*| ≥ α₁×10ᵐ⁻¹，分母不会更小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27679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27813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两式相除：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0"/>
                <p:cNvSpPr txBox="1">
                  <a:spLocks noGrp="1"/>
                </p:cNvSpPr>
                <p:nvPr/>
              </p:nvSpPr>
              <p:spPr>
                <a:xfrm>
                  <a:off x="781050" y="3091815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0.5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</m:sSup>
                          </m:num>
                          <m:den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×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73430" y="3726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(1.2.14) 成立。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360545"/>
            <a:ext cx="5410200" cy="782955"/>
            <a:chOff x="533400" y="4360545"/>
            <a:chExt cx="5410200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36054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652010"/>
              <a:ext cx="200026" cy="200025"/>
              <a:chOff x="738188" y="4652010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6520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6964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8075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509135"/>
              <a:ext cx="4063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例：x* = 3.1416，α₁ = 3，n = 5，得 |eᵣ*| 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10⁻⁴/6 ≈ 1.67×10⁻⁵，与习题1 的对照表一致。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765108"/>
            <a:chOff x="6248400" y="1524000"/>
            <a:chExt cx="5410200" cy="276510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765108"/>
            </a:xfrm>
            <a:prstGeom prst="roundRect">
              <a:avLst>
                <a:gd name="adj" fmla="val 48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4984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96050" y="1733550"/>
              <a:ext cx="18602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72445" y="1769269"/>
              <a:ext cx="1708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(2) 相对误差 ⇒ 有效数字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6050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7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97040" y="2110740"/>
              <a:ext cx="3205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eᵣ* = e*/x* 得 |e*| = |eᵣ*|·|x*|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6050" y="243268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7899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0" y="2446020"/>
              <a:ext cx="460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代入条件 (1.2.15) 和上界 |x*| &lt; (α₁+1)×10ᵐ⁻¹：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31"/>
                <p:cNvSpPr txBox="1">
                  <a:spLocks noGrp="1"/>
                </p:cNvSpPr>
                <p:nvPr/>
              </p:nvSpPr>
              <p:spPr>
                <a:xfrm>
                  <a:off x="6496050" y="2756535"/>
                  <a:ext cx="495300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Ellipse 41"/>
            <p:cNvSpPr/>
            <p:nvPr/>
          </p:nvSpPr>
          <p:spPr>
            <a:xfrm>
              <a:off x="6496050" y="3300412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7899" y="334270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97040" y="3313748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由定义，x* 至少具有 n 位有效数字。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9573" y="3645694"/>
              <a:ext cx="46459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说“至少”：误差可能比 0.5×10ᵐ⁻ⁿ 小得多，从而满足 n + 1 位甚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至更多位的条件。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248400" y="4479608"/>
            <a:ext cx="5410200" cy="1059180"/>
            <a:chOff x="6248400" y="4479608"/>
            <a:chExt cx="5410200" cy="1059180"/>
          </a:xfrm>
        </p:grpSpPr>
        <p:sp>
          <p:nvSpPr>
            <p:cNvPr id="46" name="Rectangle 46"/>
            <p:cNvSpPr/>
            <p:nvPr/>
          </p:nvSpPr>
          <p:spPr>
            <a:xfrm>
              <a:off x="6248400" y="4479608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453188" y="4909185"/>
              <a:ext cx="200026" cy="200025"/>
              <a:chOff x="6453188" y="4909185"/>
              <a:chExt cx="200026" cy="2000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453188" y="49091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492926" y="49536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527642" y="50647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755130" y="4628198"/>
              <a:ext cx="3996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例：x* = 2.72，α₁ = 2，m = 1。若 |eᵣ*| 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10⁻²/6，则 |e*| ≤ 2.72×10⁻²/6 ≈ 4.5×10⁻³ ≤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0.5×10⁻²，至少 3 位有效数字。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87689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(1.2.15) 的常数用 α₁ + 1，是因为方向 (2) 要从相对误差放大回绝对误差，必须用 |x*| 的上界。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546427" cy="2643187"/>
            <a:chOff x="667512" y="1835468"/>
            <a:chExt cx="5546427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第2章 习题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线性方程组的直接法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365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两道 4 阶方程组，精确解都是 (1, 1, 1, 1)ᵀ，便于验算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152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分解：A = LU，再解两个三角方程组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列主元消去：每步把列中绝对值最大的元素换到主元位置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5367" cy="909257"/>
            <a:chOff x="520446" y="342900"/>
            <a:chExt cx="83153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53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分解：先求 A = LU，再解 Ly = b 与 Ux = y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834830" cy="308039"/>
            <a:chOff x="525399" y="1550194"/>
            <a:chExt cx="683483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834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题目：先用 Doolittle 分解法求 A 的 LU 分解，再由此解方程组 AX = b。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5"/>
              <p:cNvSpPr txBox="1">
                <a:spLocks noGrp="1"/>
              </p:cNvSpPr>
              <p:nvPr/>
            </p:nvSpPr>
            <p:spPr>
              <a:xfrm>
                <a:off x="533400" y="1967865"/>
                <a:ext cx="5626418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2"/>
          <p:cNvGrpSpPr/>
          <p:nvPr/>
        </p:nvGrpSpPr>
        <p:grpSpPr>
          <a:xfrm>
            <a:off x="533400" y="3598545"/>
            <a:ext cx="5626418" cy="2687955"/>
            <a:chOff x="533400" y="3598545"/>
            <a:chExt cx="5626418" cy="2687955"/>
          </a:xfrm>
        </p:grpSpPr>
        <p:sp>
          <p:nvSpPr>
            <p:cNvPr id="10" name="Rectangle 10"/>
            <p:cNvSpPr/>
            <p:nvPr/>
          </p:nvSpPr>
          <p:spPr>
            <a:xfrm>
              <a:off x="533400" y="3598545"/>
              <a:ext cx="5626418" cy="2687955"/>
            </a:xfrm>
            <a:prstGeom prst="roundRect">
              <a:avLst>
                <a:gd name="adj" fmla="val 49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731895"/>
              <a:ext cx="47625" cy="24212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808095"/>
              <a:ext cx="116586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9046" y="3843814"/>
              <a:ext cx="102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Doolittle 公式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4185285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为单位下三角矩阵，U 为上三角矩阵，对 i = 1, 2,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6"/>
                <p:cNvSpPr txBox="1">
                  <a:spLocks noGrp="1"/>
                </p:cNvSpPr>
                <p:nvPr/>
              </p:nvSpPr>
              <p:spPr>
                <a:xfrm>
                  <a:off x="781050" y="4781550"/>
                  <a:ext cx="5169218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jk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37"/>
                <p:cNvSpPr txBox="1">
                  <a:spLocks noGrp="1"/>
                </p:cNvSpPr>
                <p:nvPr/>
              </p:nvSpPr>
              <p:spPr>
                <a:xfrm>
                  <a:off x="781050" y="5467350"/>
                  <a:ext cx="5169218" cy="5905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ji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c2-cells-1"/>
          <p:cNvGrpSpPr/>
          <p:nvPr/>
        </p:nvGrpSpPr>
        <p:grpSpPr>
          <a:xfrm>
            <a:off x="6458141" y="1967865"/>
            <a:ext cx="2921127" cy="2266950"/>
            <a:chOff x="6458141" y="1967865"/>
            <a:chExt cx="2921127" cy="2266950"/>
          </a:xfrm>
        </p:grpSpPr>
        <p:sp>
          <p:nvSpPr>
            <p:cNvPr id="18" name="TextBox 18"/>
            <p:cNvSpPr txBox="1"/>
            <p:nvPr/>
          </p:nvSpPr>
          <p:spPr>
            <a:xfrm>
              <a:off x="6458141" y="210740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第1行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17068" y="19678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56110" y="21074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07618" y="19678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6660" y="21074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198168" y="19678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37210" y="21074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788718" y="19678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27760" y="21074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8141" y="271700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17068" y="25774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56110" y="27170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07618" y="25774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46660" y="27170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8168" y="25774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7210" y="27170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88718" y="25774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27760" y="27170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8141" y="332660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第3行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017068" y="31870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56110" y="33266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07618" y="31870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660" y="33266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198168" y="31870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37210" y="33266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88718" y="31870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27760" y="33266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8141" y="393620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017068" y="37966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56110" y="3936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07618" y="37966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46660" y="3936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98168" y="3796665"/>
              <a:ext cx="590550" cy="4381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7210" y="3936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788718" y="3796665"/>
              <a:ext cx="590550" cy="438150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27760" y="39362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56" name="c2-text-2"/>
          <p:cNvGrpSpPr/>
          <p:nvPr/>
        </p:nvGrpSpPr>
        <p:grpSpPr>
          <a:xfrm>
            <a:off x="6458141" y="4445794"/>
            <a:ext cx="4775962" cy="500824"/>
            <a:chOff x="6458141" y="4445794"/>
            <a:chExt cx="4775962" cy="500824"/>
          </a:xfrm>
        </p:grpSpPr>
        <p:sp>
          <p:nvSpPr>
            <p:cNvPr id="55" name="TextBox 55"/>
            <p:cNvSpPr txBox="1"/>
            <p:nvPr/>
          </p:nvSpPr>
          <p:spPr>
            <a:xfrm>
              <a:off x="6458141" y="4445794"/>
              <a:ext cx="47759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数字表示计算顺序：绿框是 U 的元素（按行求），橙框是 L 的元素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（按列求），同一数字的元素一次算完。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464618" y="5086350"/>
            <a:ext cx="5193982" cy="782955"/>
            <a:chOff x="6464618" y="5086350"/>
            <a:chExt cx="5193982" cy="782955"/>
          </a:xfrm>
        </p:grpSpPr>
        <p:sp>
          <p:nvSpPr>
            <p:cNvPr id="57" name="Rectangle 57"/>
            <p:cNvSpPr/>
            <p:nvPr/>
          </p:nvSpPr>
          <p:spPr>
            <a:xfrm>
              <a:off x="6464618" y="5086350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69405" y="5377815"/>
              <a:ext cx="200026" cy="200026"/>
              <a:chOff x="6669405" y="537781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669405" y="53778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9418" y="54444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58305" y="54778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1348" y="5234940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顺序主子式 D₁ = 1，D₂ = 1，D₃ = 3，D₄ = 9 都不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0，分解存在且唯一，且 uₖₖ = Dₖ/Dₖ₋₁。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0594" cy="909257"/>
            <a:chOff x="520446" y="342900"/>
            <a:chExt cx="6990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0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 解：一行 U、一列 L 交替计算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6492240" cy="3822382"/>
            <a:chOff x="533400" y="1524000"/>
            <a:chExt cx="6492240" cy="38223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817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6551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665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436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076" y="20764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0356" y="2076450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第1行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4179" y="2076450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u₁ₖ = a₁ₖ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77077" y="207645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1, −2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3076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0356" y="2501265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第1列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4179" y="2501265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lₖ₁ = aₖ₁/u₁₁ = aₖ₁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0158" y="250126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−2,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927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3076" y="30327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0356" y="3032760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第2行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94179" y="2926080"/>
              <a:ext cx="31287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u₂₂ = 5 − 2·2；u₂₃ = 3 − 2·1；u₂₄ = −2 − 2·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(−2)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4583" y="3032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4299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43471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3076" y="35633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0356" y="3563302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第2列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94179" y="3563302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l₃₂ = (−2 − (−2)·2)/1；l₄₂ = (3 − 1·2)/1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47664" y="3563302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54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076" y="40947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0356" y="4094798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第3行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94179" y="3988118"/>
              <a:ext cx="29687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u₃₃ = 3 − (−2)·1 − 2·1；u₃₄ = 5 − (−2)(−</a:t>
              </a:r>
            </a:p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2) − 2·2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03239" y="4094798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−3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4929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497705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3076" y="4625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0356" y="4625340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第3列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94179" y="4625340"/>
              <a:ext cx="177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l₄₃ = (2 − 1·1 − 1·1)/3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60744" y="462534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91680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3076" y="50501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20356" y="5050155"/>
              <a:ext cx="569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第4行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194179" y="5050155"/>
              <a:ext cx="24434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u₄₄ = 3 − 1·(−2) − 1·2 − 0·(−3)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60744" y="50501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6492240" cy="382238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12520" y="1524000"/>
              <a:ext cx="9525" cy="3822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86928" y="1524000"/>
              <a:ext cx="9525" cy="3822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92128" y="1524000"/>
              <a:ext cx="9525" cy="3822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allout-2"/>
          <p:cNvGrpSpPr/>
          <p:nvPr/>
        </p:nvGrpSpPr>
        <p:grpSpPr>
          <a:xfrm>
            <a:off x="533400" y="5526405"/>
            <a:ext cx="6492240" cy="756285"/>
            <a:chOff x="533400" y="5526405"/>
            <a:chExt cx="6492240" cy="756285"/>
          </a:xfrm>
        </p:grpSpPr>
        <p:sp>
          <p:nvSpPr>
            <p:cNvPr id="54" name="Rectangle 54"/>
            <p:cNvSpPr/>
            <p:nvPr/>
          </p:nvSpPr>
          <p:spPr>
            <a:xfrm>
              <a:off x="533400" y="5526405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804535"/>
              <a:ext cx="200026" cy="200025"/>
              <a:chOff x="738188" y="5804535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8045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58489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59601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5673566"/>
              <a:ext cx="54787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每个元素只用到它上方已求出的 U 行和左侧已求出的 L 列，所以可以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 A 的存储位置上就地计算。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formula42"/>
              <p:cNvSpPr txBox="1">
                <a:spLocks noGrp="1"/>
              </p:cNvSpPr>
              <p:nvPr/>
            </p:nvSpPr>
            <p:spPr>
              <a:xfrm>
                <a:off x="7330440" y="1524000"/>
                <a:ext cx="4328160" cy="1560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formula43"/>
              <p:cNvSpPr txBox="1">
                <a:spLocks noGrp="1"/>
              </p:cNvSpPr>
              <p:nvPr/>
            </p:nvSpPr>
            <p:spPr>
              <a:xfrm>
                <a:off x="7330440" y="3264218"/>
                <a:ext cx="4328160" cy="15601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8" name="c2-callout-3"/>
          <p:cNvGrpSpPr/>
          <p:nvPr/>
        </p:nvGrpSpPr>
        <p:grpSpPr>
          <a:xfrm>
            <a:off x="7330440" y="5004435"/>
            <a:ext cx="4328160" cy="1018222"/>
            <a:chOff x="7330440" y="5004435"/>
            <a:chExt cx="4328160" cy="1018222"/>
          </a:xfrm>
        </p:grpSpPr>
        <p:sp>
          <p:nvSpPr>
            <p:cNvPr id="63" name="Rectangle 63"/>
            <p:cNvSpPr/>
            <p:nvPr/>
          </p:nvSpPr>
          <p:spPr>
            <a:xfrm>
              <a:off x="7330440" y="5004435"/>
              <a:ext cx="4328160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535228" y="5414010"/>
              <a:ext cx="200026" cy="200026"/>
              <a:chOff x="7535228" y="5414010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535228" y="54140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601903" y="549179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837551" y="5152549"/>
              <a:ext cx="338683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验算第 3 行：(−2)·(1, 2, 1, −2) + 2·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(0, 1, 1, 2) + (0, 0, 3, −3) = (−2, −2,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3, 5)，与 A 的第 3 行相同。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84936" cy="909257"/>
            <a:chOff x="520446" y="342900"/>
            <a:chExt cx="718493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8493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 解（续）：前代求 y，回代求 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4101465"/>
            <a:chOff x="533400" y="1524000"/>
            <a:chExt cx="5410200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01465"/>
            </a:xfrm>
            <a:prstGeom prst="roundRect">
              <a:avLst>
                <a:gd name="adj" fmla="val 32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34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281" y="1756886"/>
              <a:ext cx="1734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Ly = b（从上往下）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3598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通用公式（L 的对角元为 1，不做除法）：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6"/>
                <p:cNvSpPr txBox="1">
                  <a:spLocks noGrp="1"/>
                </p:cNvSpPr>
                <p:nvPr/>
              </p:nvSpPr>
              <p:spPr>
                <a:xfrm>
                  <a:off x="769620" y="2394585"/>
                  <a:ext cx="497586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128486"/>
              <a:ext cx="1747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代入本题的 L 和 b：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57"/>
                <p:cNvSpPr txBox="1">
                  <a:spLocks noGrp="1"/>
                </p:cNvSpPr>
                <p:nvPr/>
              </p:nvSpPr>
              <p:spPr>
                <a:xfrm>
                  <a:off x="769620" y="3422332"/>
                  <a:ext cx="4975860" cy="14401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d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⋅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58"/>
                <p:cNvSpPr txBox="1">
                  <a:spLocks noGrp="1"/>
                </p:cNvSpPr>
                <p:nvPr/>
              </p:nvSpPr>
              <p:spPr>
                <a:xfrm>
                  <a:off x="769620" y="4952048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4101465"/>
            <a:chOff x="6248400" y="1524000"/>
            <a:chExt cx="5410200" cy="410146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101465"/>
            </a:xfrm>
            <a:prstGeom prst="roundRect">
              <a:avLst>
                <a:gd name="adj" fmla="val 32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1657350"/>
              <a:ext cx="47625" cy="3834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84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72060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01281" y="1756886"/>
              <a:ext cx="1734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Ux = y（从下往上）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7381" y="2100739"/>
              <a:ext cx="306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通用公式（最后除以对角元 uᵢᵢ）：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59"/>
                <p:cNvSpPr txBox="1">
                  <a:spLocks noGrp="1"/>
                </p:cNvSpPr>
                <p:nvPr/>
              </p:nvSpPr>
              <p:spPr>
                <a:xfrm>
                  <a:off x="6484620" y="2394585"/>
                  <a:ext cx="497586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77381" y="3128486"/>
              <a:ext cx="1747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代入本题的 U 和 y：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60"/>
                <p:cNvSpPr txBox="1">
                  <a:spLocks noGrp="1"/>
                </p:cNvSpPr>
                <p:nvPr/>
              </p:nvSpPr>
              <p:spPr>
                <a:xfrm>
                  <a:off x="6484620" y="3422332"/>
                  <a:ext cx="4975860" cy="14401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>
                                      <m:e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8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61"/>
                <p:cNvSpPr txBox="1">
                  <a:spLocks noGrp="1"/>
                </p:cNvSpPr>
                <p:nvPr/>
              </p:nvSpPr>
              <p:spPr>
                <a:xfrm>
                  <a:off x="6484620" y="4952048"/>
                  <a:ext cx="497586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9" name="Rectangle 2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4863" y="60890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6011704"/>
              <a:ext cx="82807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验算：x 全为 1 时 Ax 就是 A 的各行元素之和 (2, 8, 4, 9)ᵀ = b。原课件的 L、U、y、x 均正确。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07327" cy="909257"/>
            <a:chOff x="520446" y="342900"/>
            <a:chExt cx="68073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073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 分解的用处：一次分解，多次求解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22948" y="1752600"/>
            <a:ext cx="5031105" cy="4019550"/>
            <a:chOff x="722948" y="1752600"/>
            <a:chExt cx="5031105" cy="4019550"/>
          </a:xfrm>
        </p:grpSpPr>
        <p:sp>
          <p:nvSpPr>
            <p:cNvPr id="7" name="Freeform 7"/>
            <p:cNvSpPr/>
            <p:nvPr/>
          </p:nvSpPr>
          <p:spPr>
            <a:xfrm>
              <a:off x="1885950" y="219075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33562" y="25431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308610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3562" y="3438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5950" y="398145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33562" y="43338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487680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33562" y="52292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153728" y="376237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48952" y="3709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53728" y="286702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048952" y="2814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53728" y="4657725"/>
              <a:ext cx="274320" cy="9525"/>
            </a:xfrm>
            <a:custGeom>
              <a:avLst/>
              <a:gdLst/>
              <a:ahLst/>
              <a:cxnLst/>
              <a:rect l="l" t="t" r="r" b="b"/>
              <a:pathLst>
                <a:path w="274320" h="9525">
                  <a:moveTo>
                    <a:pt x="2743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3048952" y="4605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2948" y="1752600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2948" y="264795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2948" y="354330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2948" y="4438650"/>
              <a:ext cx="232600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2948" y="5334000"/>
              <a:ext cx="2326005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28048" y="2552700"/>
              <a:ext cx="2326005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428048" y="3543300"/>
              <a:ext cx="2326005" cy="438150"/>
            </a:xfrm>
            <a:custGeom>
              <a:avLst/>
              <a:gdLst/>
              <a:ahLst/>
              <a:cxnLst/>
              <a:rect l="l" t="t" r="r" b="b"/>
              <a:pathLst>
                <a:path w="2326005" h="438150">
                  <a:moveTo>
                    <a:pt x="133350" y="0"/>
                  </a:moveTo>
                  <a:lnTo>
                    <a:pt x="2326005" y="0"/>
                  </a:lnTo>
                  <a:lnTo>
                    <a:pt x="219265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5F2EA"/>
            </a:solidFill>
            <a:ln w="13335">
              <a:solidFill>
                <a:srgbClr val="2E7D4F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28048" y="4438650"/>
              <a:ext cx="232600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53598" y="1882616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系数矩阵 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24955" y="2777966"/>
              <a:ext cx="9219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 A = LU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35034" y="3673316"/>
              <a:ext cx="901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前代 Ly = 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35034" y="4568666"/>
              <a:ext cx="9018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Ux = 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16421" y="5464016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 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06749" y="2668429"/>
              <a:ext cx="17686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只做一次，约 n³/3 次乘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29781" y="3673316"/>
              <a:ext cx="13225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右端 b、b′、b″…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48852" y="456866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每个右端约 n² 次乘除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2558415"/>
            <a:chOff x="6248400" y="1524000"/>
            <a:chExt cx="5410200" cy="2558415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顺带得到的量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59880" y="2110740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行列式：det A = det L·det U = u₁₁u₂₂u₃₃u₄₄ = 1·1</a:t>
              </a:r>
            </a:p>
            <a:p>
              <a:pPr algn="l" marL="161925" indent="-161925">
                <a:lnSpc>
                  <a:spcPts val="2250"/>
                </a:lnSpc>
                <a:buClr>
                  <a:srgbClr val="1F2937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3·3 = 9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59880" y="2731770"/>
              <a:ext cx="4358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顺序主子式：D₁ = u₁₁ = 1，D₂ = u₁₁u₂₂ = 1，D₃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3，D₄ = 9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01765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335280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逆矩阵：右端依次取单位矩阵的各列，解 n 个方程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组，共用同一组 L、U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4272915"/>
            <a:ext cx="5410200" cy="1727835"/>
            <a:chOff x="6248400" y="4272915"/>
            <a:chExt cx="5410200" cy="1727835"/>
          </a:xfrm>
        </p:grpSpPr>
        <p:sp>
          <p:nvSpPr>
            <p:cNvPr id="49" name="Rectangle 49"/>
            <p:cNvSpPr/>
            <p:nvPr/>
          </p:nvSpPr>
          <p:spPr>
            <a:xfrm>
              <a:off x="6248400" y="4272915"/>
              <a:ext cx="5410200" cy="1727835"/>
            </a:xfrm>
            <a:prstGeom prst="roundRect">
              <a:avLst>
                <a:gd name="adj" fmla="val 77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406265"/>
              <a:ext cx="47625" cy="14611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6050" y="44824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6258" y="45181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01765" y="49225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9880" y="485965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的公式最后要除以 uᵢᵢ，u 的公式不除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01765" y="52578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9880" y="5194935"/>
              <a:ext cx="375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前代 Ly = b 时 L 的对角元是 1，不用再除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501765" y="559308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59880" y="5530215"/>
              <a:ext cx="2320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Ux = y 时要除以 uᵢᵢ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列主元消去法：每一步先把本列绝对值最大的元素换到主元位置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3693795" cy="293370"/>
            <a:chOff x="525780" y="1548765"/>
            <a:chExt cx="369379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36937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题目：利用列主元法求解方程组 AX = b。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68"/>
              <p:cNvSpPr txBox="1">
                <a:spLocks noGrp="1"/>
              </p:cNvSpPr>
              <p:nvPr/>
            </p:nvSpPr>
            <p:spPr>
              <a:xfrm>
                <a:off x="533400" y="1954530"/>
                <a:ext cx="4760595" cy="1260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2"/>
          <p:cNvGrpSpPr/>
          <p:nvPr/>
        </p:nvGrpSpPr>
        <p:grpSpPr>
          <a:xfrm>
            <a:off x="533400" y="3394710"/>
            <a:ext cx="4760595" cy="2472690"/>
            <a:chOff x="533400" y="3394710"/>
            <a:chExt cx="4760595" cy="2472690"/>
          </a:xfrm>
        </p:grpSpPr>
        <p:sp>
          <p:nvSpPr>
            <p:cNvPr id="10" name="Rectangle 10"/>
            <p:cNvSpPr/>
            <p:nvPr/>
          </p:nvSpPr>
          <p:spPr>
            <a:xfrm>
              <a:off x="533400" y="3394710"/>
              <a:ext cx="4760595" cy="2472690"/>
            </a:xfrm>
            <a:prstGeom prst="roundRect">
              <a:avLst>
                <a:gd name="adj" fmla="val 5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528060"/>
              <a:ext cx="47625" cy="22059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3592830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4680" y="3627120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 k 步的做法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9620" y="394144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7965" y="39817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514" y="3953351"/>
              <a:ext cx="40766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在第 k 列的 aₖₖ, …, aₙₖ 中找绝对值最大者 aₚₖ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9620" y="425958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965" y="42989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514" y="4271486"/>
              <a:ext cx="4000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 ≠ k，交换第 k 行与第 p 行（右端一起换）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9620" y="457676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965" y="46171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514" y="4589621"/>
              <a:ext cx="36843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 mᵢₖ = aᵢₖ/aₖₖ，第 i 行减去 mᵢₖ 倍第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行（i &gt; k）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524" y="5174932"/>
              <a:ext cx="38907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主元绝对值最大，所以 |mᵢₖ| ≤ 1，舍入误差不会被乘数放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26" name="c2-text-1"/>
          <p:cNvGrpSpPr/>
          <p:nvPr/>
        </p:nvGrpSpPr>
        <p:grpSpPr>
          <a:xfrm>
            <a:off x="5591556" y="1977866"/>
            <a:ext cx="5129452" cy="278702"/>
            <a:chOff x="5591556" y="1977866"/>
            <a:chExt cx="5129452" cy="278702"/>
          </a:xfrm>
        </p:grpSpPr>
        <p:sp>
          <p:nvSpPr>
            <p:cNvPr id="25" name="TextBox 25"/>
            <p:cNvSpPr txBox="1"/>
            <p:nvPr/>
          </p:nvSpPr>
          <p:spPr>
            <a:xfrm>
              <a:off x="5591556" y="1977866"/>
              <a:ext cx="5129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：第 1 列 (4, 8, 4, 12) 中 12 最大，交换第 1、4 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69"/>
              <p:cNvSpPr txBox="1">
                <a:spLocks noGrp="1"/>
              </p:cNvSpPr>
              <p:nvPr/>
            </p:nvSpPr>
            <p:spPr>
              <a:xfrm>
                <a:off x="5598795" y="2381250"/>
                <a:ext cx="6059805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9" name="c2-text-3"/>
          <p:cNvGrpSpPr/>
          <p:nvPr/>
        </p:nvGrpSpPr>
        <p:grpSpPr>
          <a:xfrm>
            <a:off x="5591556" y="4024789"/>
            <a:ext cx="4602328" cy="278702"/>
            <a:chOff x="5591556" y="4024789"/>
            <a:chExt cx="4602328" cy="278702"/>
          </a:xfrm>
        </p:grpSpPr>
        <p:sp>
          <p:nvSpPr>
            <p:cNvPr id="28" name="TextBox 28"/>
            <p:cNvSpPr txBox="1"/>
            <p:nvPr/>
          </p:nvSpPr>
          <p:spPr>
            <a:xfrm>
              <a:off x="5591556" y="402478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m₂₁ = 8/12 = 2/3，m₃₁ = m₄₁ = 4/12 = 1/3，消元得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70"/>
              <p:cNvSpPr txBox="1">
                <a:spLocks noGrp="1"/>
              </p:cNvSpPr>
              <p:nvPr/>
            </p:nvSpPr>
            <p:spPr>
              <a:xfrm>
                <a:off x="5598795" y="4427220"/>
                <a:ext cx="6059805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69137" cy="909257"/>
            <a:chOff x="520446" y="342900"/>
            <a:chExt cx="72691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691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 解（续）：第 2、3 步选主元与消元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5033872" cy="278702"/>
            <a:chOff x="526161" y="1547336"/>
            <a:chExt cx="503387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0338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：第 2 列下方 (3, 6, 0) 中 6 最大，交换第 2、3 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77"/>
              <p:cNvSpPr txBox="1">
                <a:spLocks noGrp="1"/>
              </p:cNvSpPr>
              <p:nvPr/>
            </p:nvSpPr>
            <p:spPr>
              <a:xfrm>
                <a:off x="533400" y="1950720"/>
                <a:ext cx="5410200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17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3594259"/>
            <a:ext cx="3073044" cy="278702"/>
            <a:chOff x="526161" y="3594259"/>
            <a:chExt cx="3073044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359425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m₃₂ = 3/6 = 1/2，m₄₂ = 0，消元得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78"/>
              <p:cNvSpPr txBox="1">
                <a:spLocks noGrp="1"/>
              </p:cNvSpPr>
              <p:nvPr/>
            </p:nvSpPr>
            <p:spPr>
              <a:xfrm>
                <a:off x="533400" y="3996690"/>
                <a:ext cx="5410200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2-text-1"/>
          <p:cNvGrpSpPr/>
          <p:nvPr/>
        </p:nvGrpSpPr>
        <p:grpSpPr>
          <a:xfrm>
            <a:off x="6241161" y="1547336"/>
            <a:ext cx="5047317" cy="558736"/>
            <a:chOff x="6241161" y="1547336"/>
            <a:chExt cx="5047317" cy="558736"/>
          </a:xfrm>
        </p:grpSpPr>
        <p:sp>
          <p:nvSpPr>
            <p:cNvPr id="13" name="TextBox 13"/>
            <p:cNvSpPr txBox="1"/>
            <p:nvPr/>
          </p:nvSpPr>
          <p:spPr>
            <a:xfrm>
              <a:off x="6241161" y="1547336"/>
              <a:ext cx="5047317" cy="558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：第 3 列下方 (−5, −8/3) 中 −5 的绝对值最大，不用换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行。m₄₃ = (−8/3)/(−5) = 8/15，消元得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79"/>
              <p:cNvSpPr txBox="1">
                <a:spLocks noGrp="1"/>
              </p:cNvSpPr>
              <p:nvPr/>
            </p:nvSpPr>
            <p:spPr>
              <a:xfrm>
                <a:off x="6248400" y="2230755"/>
                <a:ext cx="5410200" cy="1440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2-card-3"/>
          <p:cNvGrpSpPr/>
          <p:nvPr/>
        </p:nvGrpSpPr>
        <p:grpSpPr>
          <a:xfrm>
            <a:off x="6248400" y="3850958"/>
            <a:ext cx="5410200" cy="2119312"/>
            <a:chOff x="6248400" y="3850958"/>
            <a:chExt cx="5410200" cy="2119312"/>
          </a:xfrm>
        </p:grpSpPr>
        <p:sp>
          <p:nvSpPr>
            <p:cNvPr id="16" name="Rectangle 16"/>
            <p:cNvSpPr/>
            <p:nvPr/>
          </p:nvSpPr>
          <p:spPr>
            <a:xfrm>
              <a:off x="6248400" y="3850958"/>
              <a:ext cx="5410200" cy="2119312"/>
            </a:xfrm>
            <a:prstGeom prst="roundRect">
              <a:avLst>
                <a:gd name="adj" fmla="val 6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57925" y="3984308"/>
              <a:ext cx="47625" cy="18526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84620" y="40490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76060" y="40833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492240" y="447008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48831" y="4410551"/>
              <a:ext cx="41713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步后第 3 行右端：原课件写作 13/3，应为 21 −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49/3 = 14/3，后面的 −8 就是按 14/3 算出的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92240" y="505968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48831" y="4999196"/>
              <a:ext cx="44328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步后第 4 行：原课件写作 −1/3、−1/3，应为 −5/3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(8/15)×3 = −1/15 和 −13/3 + (8/15)×8 = −1/15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8524" y="558450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两处笔误都不影响最终解。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4433" cy="909257"/>
            <a:chOff x="520446" y="342900"/>
            <a:chExt cx="76244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线性方程组的直接法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44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列主元消去 解（续）：回代得 x = (1, 1, 1, 1)ᵀ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2495550"/>
            <a:chOff x="533400" y="1524000"/>
            <a:chExt cx="5193982" cy="2495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495550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8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回代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83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782502" cy="12258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15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15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49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6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20</m:t>
                                    </m:r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1332" y="3364230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验算：A 的各行元素之和 4+2+1+5 = 12，8+7+2+10 = 27，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4+8+3+6 = 21，12+6+11+20 = 49，恰好等于 b。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4189095"/>
            <a:ext cx="5193982" cy="729615"/>
            <a:chOff x="533400" y="4189095"/>
            <a:chExt cx="5193982" cy="729615"/>
          </a:xfrm>
        </p:grpSpPr>
        <p:sp>
          <p:nvSpPr>
            <p:cNvPr id="14" name="Rectangle 14"/>
            <p:cNvSpPr/>
            <p:nvPr/>
          </p:nvSpPr>
          <p:spPr>
            <a:xfrm>
              <a:off x="533400" y="418909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453890"/>
              <a:ext cx="200026" cy="200025"/>
              <a:chOff x="738188" y="4453890"/>
              <a:chExt cx="200026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4538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7926" y="44983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12642" y="46094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335780"/>
              <a:ext cx="41113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补充：主元之积 12×6×(−5)×(−1/15) = 24，换行两次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符号不变，所以 det A = 24。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027230" y="1524000"/>
            <a:ext cx="5631370" cy="1863756"/>
            <a:chOff x="6027230" y="1524000"/>
            <a:chExt cx="5631370" cy="1863756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75870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01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候选元素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8264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27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458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0772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8015" y="2045494"/>
              <a:ext cx="810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4, 8, 4, 12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54328" y="1933575"/>
              <a:ext cx="7686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50497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63914" y="204549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↔ 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195250" y="204549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2/3, 1/3, 1/3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0772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55020" y="244554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3, 6, 0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54328" y="2333625"/>
              <a:ext cx="7686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9196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63914" y="2445544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↔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66644" y="244554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1/2,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0772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94711" y="284559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−5, −8/3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54328" y="2733675"/>
              <a:ext cx="7686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50497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2761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30723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8/15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700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40040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72775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41218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7230" y="319706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三步选主元一览</a:t>
              </a:r>
            </a:p>
          </p:txBody>
        </p:sp>
      </p:grpSp>
      <p:grpSp>
        <p:nvGrpSpPr>
          <p:cNvPr id="75" name="c2-compare-2"/>
          <p:cNvGrpSpPr/>
          <p:nvPr/>
        </p:nvGrpSpPr>
        <p:grpSpPr>
          <a:xfrm>
            <a:off x="6032182" y="3519488"/>
            <a:ext cx="5626418" cy="2038350"/>
            <a:chOff x="6032182" y="3519488"/>
            <a:chExt cx="5626418" cy="2038350"/>
          </a:xfrm>
        </p:grpSpPr>
        <p:sp>
          <p:nvSpPr>
            <p:cNvPr id="55" name="Rectangle 55"/>
            <p:cNvSpPr/>
            <p:nvPr/>
          </p:nvSpPr>
          <p:spPr>
            <a:xfrm>
              <a:off x="6032182" y="3519488"/>
              <a:ext cx="2642235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41708" y="3652838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50114" y="37290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不选主元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65545" y="41014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21564" y="4045268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主元可能很小甚至为 0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65545" y="44024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21564" y="4346258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乘数很大，舍入误差被放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65545" y="495966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21564" y="4903470"/>
              <a:ext cx="1899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小主元时结果可能完全失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016365" y="3519488"/>
              <a:ext cx="2642235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025890" y="3652838"/>
              <a:ext cx="47625" cy="1771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34297" y="37290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9249728" y="41014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405747" y="4045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主元是本列最大者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9249728" y="44024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05747" y="434625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所有乘数 |m| ≤ 1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9249728" y="470249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405747" y="4646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只多了比较和换行的开销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682990" y="437673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753330" y="44729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8373"/>
              <a:ext cx="7044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列主元消去 = 每步先选主元并换行，再做普通 Gauss 消元；换行时右端 b 必须一起换。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第2章 习题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范数与迭代法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原课件三道作业题：矩阵范数、两种迭代法的计算、含参数的收敛范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995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‖A‖∞、‖A‖₁、‖A‖₂ 与 ρ(A)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045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Jacobi 与 Gauss-Seidel 迭代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919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a 取何值时 Jacobi 迭代收敛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79361" cy="909257"/>
            <a:chOff x="520446" y="342900"/>
            <a:chExt cx="70793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793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范数题：‖A‖∞ 取行和最大，‖A‖₁ 取列和最大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32125" cy="264033"/>
            <a:chOff x="526542" y="1545907"/>
            <a:chExt cx="60321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32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题目（原题 1）：已知 A = [2 1; −1 4]，求 ‖A‖∞、‖A‖₁、‖A‖₂、ρ(A)。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28812"/>
            <a:ext cx="4977765" cy="3685222"/>
            <a:chOff x="533400" y="1928812"/>
            <a:chExt cx="4977765" cy="368522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3685222"/>
            </a:xfrm>
            <a:prstGeom prst="roundRect">
              <a:avLst>
                <a:gd name="adj" fmla="val 3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4185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759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计算公式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3"/>
                <p:cNvSpPr txBox="1">
                  <a:spLocks noGrp="1"/>
                </p:cNvSpPr>
                <p:nvPr/>
              </p:nvSpPr>
              <p:spPr>
                <a:xfrm>
                  <a:off x="758190" y="2437448"/>
                  <a:ext cx="4566285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94"/>
                <p:cNvSpPr txBox="1">
                  <a:spLocks noGrp="1"/>
                </p:cNvSpPr>
                <p:nvPr/>
              </p:nvSpPr>
              <p:spPr>
                <a:xfrm>
                  <a:off x="758190" y="3052762"/>
                  <a:ext cx="4566285" cy="5314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ρ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p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66762" y="374618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689985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∞-范数：每行元素绝对值求和，取最大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404622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990022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1-范数：每列元素绝对值求和，取最大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434721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429101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谱半径：特征值模的最大值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1012" y="1928812"/>
            <a:ext cx="5847588" cy="1863757"/>
            <a:chOff x="5811012" y="1928812"/>
            <a:chExt cx="5847588" cy="1863757"/>
          </a:xfrm>
        </p:grpSpPr>
        <p:sp>
          <p:nvSpPr>
            <p:cNvPr id="22" name="Rectangle 22"/>
            <p:cNvSpPr/>
            <p:nvPr/>
          </p:nvSpPr>
          <p:spPr>
            <a:xfrm>
              <a:off x="5815965" y="1928812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61763" y="205025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|aᵢⱼ|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6689" y="205025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67824" y="205025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第2列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7154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45554" y="245030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第1行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59537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20672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80855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7241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728912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5554" y="2850356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59537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20672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206990" y="2738438"/>
              <a:ext cx="14420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8085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31242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909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59537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746808" y="3138488"/>
              <a:ext cx="144208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420672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1928812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271385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732520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19270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11012" y="3601879"/>
              <a:ext cx="18371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|aᵢⱼ| 表上同时求行和与列和</a:t>
              </a:r>
            </a:p>
          </p:txBody>
        </p:sp>
      </p:grpSp>
      <p:grpSp>
        <p:nvGrpSpPr>
          <p:cNvPr id="50" name="c2-text-2"/>
          <p:cNvGrpSpPr/>
          <p:nvPr/>
        </p:nvGrpSpPr>
        <p:grpSpPr>
          <a:xfrm>
            <a:off x="5809107" y="3946208"/>
            <a:ext cx="5448681" cy="529780"/>
            <a:chOff x="5809107" y="3946208"/>
            <a:chExt cx="5448681" cy="529780"/>
          </a:xfrm>
        </p:grpSpPr>
        <p:sp>
          <p:nvSpPr>
            <p:cNvPr id="49" name="TextBox 49"/>
            <p:cNvSpPr txBox="1"/>
            <p:nvPr/>
          </p:nvSpPr>
          <p:spPr>
            <a:xfrm>
              <a:off x="5809107" y="3946208"/>
              <a:ext cx="5448681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‖A‖∞ = max{3, 5} = 5，‖A‖₁ = max{3, 5} = 5。求 ρ(A)，解特征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方程：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95"/>
              <p:cNvSpPr txBox="1">
                <a:spLocks noGrp="1"/>
              </p:cNvSpPr>
              <p:nvPr/>
            </p:nvSpPr>
            <p:spPr>
              <a:xfrm>
                <a:off x="5815965" y="4592955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|"/>
                          <m:sepChr m:val=""/>
                          <m:endChr m:val="|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6λ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9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3" name="c2-text-4"/>
          <p:cNvGrpSpPr/>
          <p:nvPr/>
        </p:nvGrpSpPr>
        <p:grpSpPr>
          <a:xfrm>
            <a:off x="5809107" y="5402580"/>
            <a:ext cx="2260054" cy="264033"/>
            <a:chOff x="5809107" y="5402580"/>
            <a:chExt cx="2260054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809107" y="5402580"/>
              <a:ext cx="2260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λ₁ = λ₂ = 3，ρ(A) = 3。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4" name="Rectangle 5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892" y="6028373"/>
              <a:ext cx="8591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不对称，‖A‖₂ 不等于 ρ(A)；只有对称矩阵才有 ‖A‖₂ = ρ(A)。‖A‖₂ 要用 AᵀA 的特征值来算（下页）。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27430" cy="909257"/>
            <a:chOff x="520446" y="342900"/>
            <a:chExt cx="73274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274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范数题（续）：‖A‖₂ 要先算 AᵀA 的最大特征值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951220" cy="4806315"/>
            <a:chOff x="533400" y="1524000"/>
            <a:chExt cx="5951220" cy="48063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806315"/>
            </a:xfrm>
            <a:prstGeom prst="roundRect">
              <a:avLst>
                <a:gd name="adj" fmla="val 27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396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6103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834" y="1743551"/>
              <a:ext cx="507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求 ‖A‖₂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8190" y="2043112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3868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987" y="2054542"/>
              <a:ext cx="17474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AᵀA（Aᵀ 在左）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05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553974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17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Ellipse 15"/>
            <p:cNvSpPr/>
            <p:nvPr/>
          </p:nvSpPr>
          <p:spPr>
            <a:xfrm>
              <a:off x="758190" y="3044190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30825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305657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解特征方程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06"/>
                <p:cNvSpPr txBox="1">
                  <a:spLocks noGrp="1"/>
                </p:cNvSpPr>
                <p:nvPr/>
              </p:nvSpPr>
              <p:spPr>
                <a:xfrm>
                  <a:off x="758190" y="3333750"/>
                  <a:ext cx="5539740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5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17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22λ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9" name="Ellipse 19"/>
            <p:cNvSpPr/>
            <p:nvPr/>
          </p:nvSpPr>
          <p:spPr>
            <a:xfrm>
              <a:off x="758190" y="404526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3868" y="40836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8987" y="4057650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λ₁ = 11 + 2√10，λ₂ = 11 − 2√10，于是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07"/>
                <p:cNvSpPr txBox="1">
                  <a:spLocks noGrp="1"/>
                </p:cNvSpPr>
                <p:nvPr/>
              </p:nvSpPr>
              <p:spPr>
                <a:xfrm>
                  <a:off x="758190" y="4335780"/>
                  <a:ext cx="553974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</m:d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4.1623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TextBox 23"/>
            <p:cNvSpPr txBox="1"/>
            <p:nvPr/>
          </p:nvSpPr>
          <p:spPr>
            <a:xfrm>
              <a:off x="752475" y="4781074"/>
              <a:ext cx="3614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化简依据：(1 + √10)² = 1 + 2√10 + 10 = 11 + 2√10。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789420" y="1524000"/>
            <a:ext cx="4869180" cy="1911668"/>
            <a:chOff x="6789420" y="1524000"/>
            <a:chExt cx="4869180" cy="1911668"/>
          </a:xfrm>
        </p:grpSpPr>
        <p:sp>
          <p:nvSpPr>
            <p:cNvPr id="25" name="Rectangle 25"/>
            <p:cNvSpPr/>
            <p:nvPr/>
          </p:nvSpPr>
          <p:spPr>
            <a:xfrm>
              <a:off x="6789420" y="1524000"/>
              <a:ext cx="4869180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8945" y="1657350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1421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0688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7352" y="2054542"/>
              <a:ext cx="42142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AᵀA = [2 1; −1 4]·[2 −1; 1 4]，这个乘积是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AAᵀ = [5 2; 2 17]。AᵀA 应为 [2 −1; 1 4]·[2 1; −1 4]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[5 −2; −2 17]。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8495" y="2865596"/>
              <a:ext cx="41363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AᵀA 与 AAᵀ 的特征值相同，所以原课件的特征方程和 ‖A‖₂ 结果正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确。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784467" y="3605212"/>
            <a:ext cx="4874133" cy="1863757"/>
            <a:chOff x="6784467" y="3605212"/>
            <a:chExt cx="4874133" cy="1863757"/>
          </a:xfrm>
        </p:grpSpPr>
        <p:sp>
          <p:nvSpPr>
            <p:cNvPr id="32" name="Rectangle 32"/>
            <p:cNvSpPr/>
            <p:nvPr/>
          </p:nvSpPr>
          <p:spPr>
            <a:xfrm>
              <a:off x="6789420" y="3605212"/>
              <a:ext cx="486918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25613" y="3726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60203" y="3726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21927" y="4126706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ρ(A)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233535" y="4014788"/>
              <a:ext cx="241554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394127" y="41267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89420" y="44005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89420" y="4405312"/>
              <a:ext cx="486918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16998" y="4526756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9033" y="452675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√10 ≈ 4.162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89420" y="48006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36814" y="4926806"/>
              <a:ext cx="939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‖A‖₁ = ‖A‖∞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94127" y="4926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789420" y="3605212"/>
              <a:ext cx="4869180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219248" y="36052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4467" y="527827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检验谱半径不超过任何算子范数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789420" y="5600700"/>
            <a:ext cx="4869180" cy="729615"/>
            <a:chOff x="6789420" y="5600700"/>
            <a:chExt cx="4869180" cy="729615"/>
          </a:xfrm>
        </p:grpSpPr>
        <p:sp>
          <p:nvSpPr>
            <p:cNvPr id="49" name="Rectangle 49"/>
            <p:cNvSpPr/>
            <p:nvPr/>
          </p:nvSpPr>
          <p:spPr>
            <a:xfrm>
              <a:off x="6789420" y="5600700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994208" y="5865495"/>
              <a:ext cx="200026" cy="200025"/>
              <a:chOff x="6994208" y="586549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94208" y="58654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033946" y="59099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68662" y="60210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296912" y="5747385"/>
              <a:ext cx="37598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ρ(A) ≤ ‖A‖₂ ≤ ‖A‖₁ = ‖A‖∞，与 ρ(A) ≤ ‖A‖ 的结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论一致。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11157" cy="909257"/>
            <a:chOff x="520446" y="342900"/>
            <a:chExt cx="94111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111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迭代题：Jacobi 全用上一轮的值，Gauss-Seidel 立即用新值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130900" cy="308039"/>
            <a:chOff x="525399" y="1550194"/>
            <a:chExt cx="913090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1309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题目（原题 2）：用 Jacobi 和 Gauss-Seidel 迭代法解线性方程组（精确解 x* = (1, 1, 1)ᵀ）。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1"/>
              <p:cNvSpPr txBox="1">
                <a:spLocks noGrp="1"/>
              </p:cNvSpPr>
              <p:nvPr/>
            </p:nvSpPr>
            <p:spPr>
              <a:xfrm>
                <a:off x="533400" y="1967865"/>
                <a:ext cx="4544378" cy="1131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20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25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e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15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3289935"/>
            <a:ext cx="4544378" cy="2726055"/>
            <a:chOff x="533400" y="3289935"/>
            <a:chExt cx="4544378" cy="2726055"/>
          </a:xfrm>
        </p:grpSpPr>
        <p:sp>
          <p:nvSpPr>
            <p:cNvPr id="10" name="Rectangle 10"/>
            <p:cNvSpPr/>
            <p:nvPr/>
          </p:nvSpPr>
          <p:spPr>
            <a:xfrm>
              <a:off x="533400" y="3289935"/>
              <a:ext cx="4544378" cy="2726055"/>
            </a:xfrm>
            <a:prstGeom prst="roundRect">
              <a:avLst>
                <a:gd name="adj" fmla="val 48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423285"/>
              <a:ext cx="47625" cy="24593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4994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3359" y="3535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收敛前提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5922" y="35347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系数矩阵严格对角占优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895725"/>
              <a:ext cx="3834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|20| &gt; |2| + |3|，|8| &gt; |1| + |1|，|15| &gt; |2| + |−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3|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516755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Jacobi 和 Gauss-Seidel 迭代对任意初值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都收敛。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5133499"/>
              <a:ext cx="3719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补充：迭代矩阵的谱半径 ρ(B_J) ≈ 0.147，ρ(B_G)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≈ 0.041（数值计算）。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5382578" y="1967865"/>
            <a:ext cx="6276022" cy="1780222"/>
            <a:chOff x="5382578" y="1967865"/>
            <a:chExt cx="6276022" cy="1780222"/>
          </a:xfrm>
        </p:grpSpPr>
        <p:sp>
          <p:nvSpPr>
            <p:cNvPr id="19" name="Rectangle 19"/>
            <p:cNvSpPr/>
            <p:nvPr/>
          </p:nvSpPr>
          <p:spPr>
            <a:xfrm>
              <a:off x="5382578" y="1967865"/>
              <a:ext cx="6276022" cy="1780222"/>
            </a:xfrm>
            <a:prstGeom prst="roundRect">
              <a:avLst>
                <a:gd name="adj" fmla="val 74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92102" y="2101215"/>
              <a:ext cx="47625" cy="15135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630228" y="2177415"/>
              <a:ext cx="99441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03267" y="2213134"/>
              <a:ext cx="84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Jacobi 迭代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formula112"/>
                <p:cNvSpPr txBox="1">
                  <a:spLocks noGrp="1"/>
                </p:cNvSpPr>
                <p:nvPr/>
              </p:nvSpPr>
              <p:spPr>
                <a:xfrm>
                  <a:off x="5630228" y="2529840"/>
                  <a:ext cx="5818822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1" name="c2-card-2"/>
          <p:cNvGrpSpPr/>
          <p:nvPr/>
        </p:nvGrpSpPr>
        <p:grpSpPr>
          <a:xfrm>
            <a:off x="5382578" y="3938588"/>
            <a:ext cx="6276022" cy="2077402"/>
            <a:chOff x="5382578" y="3938588"/>
            <a:chExt cx="6276022" cy="2077402"/>
          </a:xfrm>
        </p:grpSpPr>
        <p:sp>
          <p:nvSpPr>
            <p:cNvPr id="25" name="Rectangle 25"/>
            <p:cNvSpPr/>
            <p:nvPr/>
          </p:nvSpPr>
          <p:spPr>
            <a:xfrm>
              <a:off x="5382578" y="3938588"/>
              <a:ext cx="6276022" cy="2077402"/>
            </a:xfrm>
            <a:prstGeom prst="roundRect">
              <a:avLst>
                <a:gd name="adj" fmla="val 6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92102" y="4071938"/>
              <a:ext cx="47625" cy="181070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30228" y="4148138"/>
              <a:ext cx="1449705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86775" y="4183856"/>
              <a:ext cx="1336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Gauss-Seidel 迭代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13"/>
                <p:cNvSpPr txBox="1">
                  <a:spLocks noGrp="1"/>
                </p:cNvSpPr>
                <p:nvPr/>
              </p:nvSpPr>
              <p:spPr>
                <a:xfrm>
                  <a:off x="5630228" y="4500562"/>
                  <a:ext cx="5818822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  <m:sSub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+</m:t>
                                            </m:r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5623751" y="5606891"/>
              <a:ext cx="4813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区别只在上标：G-S 求 x₂、x₃ 时，已算出的新分量立刻代入。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5607" cy="909257"/>
            <a:chOff x="520446" y="342900"/>
            <a:chExt cx="67656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56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迭代过程：初值 x⁽⁰⁾ = (0, 0, 1)ᵀ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table-1"/>
          <p:cNvGrpSpPr/>
          <p:nvPr/>
        </p:nvGrpSpPr>
        <p:grpSpPr>
          <a:xfrm>
            <a:off x="533400" y="1524000"/>
            <a:ext cx="6817042" cy="3817620"/>
            <a:chOff x="533400" y="1524000"/>
            <a:chExt cx="6817042" cy="38176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817042" cy="67532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5292" y="17730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1130" y="177307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x₁⁽ᵏ⁾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91743" y="177307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x₂⁽ᵏ⁾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82355" y="177307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5394" y="1659731"/>
              <a:ext cx="124190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514" y="1773079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x*‖∞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5292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2522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93134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3747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12484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962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4318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47950"/>
              <a:ext cx="681704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5292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0818" y="278368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1.100000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1431" y="278368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1.125000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52043" y="278368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0.933333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75553" y="278368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1.5748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67872" y="278368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1.25×10⁻¹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9276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5292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0818" y="323230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0.997500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61431" y="323230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0.995833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52043" y="323230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1.011667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75553" y="323230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0.1826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67872" y="3232309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1.17×10⁻²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541395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546158"/>
              <a:ext cx="681704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5292" y="36809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70818" y="368093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0.998667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61431" y="368093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0.998854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52043" y="368093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0.999500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75553" y="368093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0.0126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7872" y="368093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1.33×10⁻³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990022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5292" y="4130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0818" y="413051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1.000190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61431" y="413051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1.000229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52043" y="413051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0.999949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33394" y="413051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2.10×10⁻³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67872" y="413051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2.29×10⁻⁴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438650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443412"/>
              <a:ext cx="681704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5292" y="45791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70818" y="457914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0.999985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61431" y="457914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0.999983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352043" y="457914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1.000021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33394" y="457914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3.28×10⁻⁴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67872" y="4579144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2.06×10⁻⁵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88727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5292" y="50277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70818" y="50277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261431" y="50277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52043" y="502777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291965" y="4901565"/>
              <a:ext cx="154876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633394" y="502777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3.08×10⁻⁵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67872" y="5027771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1.43×10⁻⁶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6817042" cy="38176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05840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09645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187065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277678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45492" y="1524000"/>
              <a:ext cx="9525" cy="38176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1-callout-2"/>
          <p:cNvGrpSpPr/>
          <p:nvPr/>
        </p:nvGrpSpPr>
        <p:grpSpPr>
          <a:xfrm>
            <a:off x="533400" y="5532120"/>
            <a:ext cx="6817042" cy="782955"/>
            <a:chOff x="533400" y="5532120"/>
            <a:chExt cx="6817042" cy="782955"/>
          </a:xfrm>
        </p:grpSpPr>
        <p:sp>
          <p:nvSpPr>
            <p:cNvPr id="73" name="Rectangle 73"/>
            <p:cNvSpPr/>
            <p:nvPr/>
          </p:nvSpPr>
          <p:spPr>
            <a:xfrm>
              <a:off x="533400" y="5532120"/>
              <a:ext cx="681704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823585"/>
              <a:ext cx="200026" cy="200025"/>
              <a:chOff x="738188" y="582358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8235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7926" y="58680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12642" y="59791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130" y="5680710"/>
              <a:ext cx="55778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步：x₁ = (25 − 0 − 3)/20 = 1.1，x₂ = (10 − 0 − 1)/8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1.125，x₃ = (14 − 0 + 0)/15 ≈ 0.9333，三个分量都只用 x⁽⁰⁾。</a:t>
              </a:r>
            </a:p>
          </p:txBody>
        </p:sp>
      </p:grpSp>
      <p:grpSp>
        <p:nvGrpSpPr>
          <p:cNvPr id="86" name="c2-card-1"/>
          <p:cNvGrpSpPr/>
          <p:nvPr/>
        </p:nvGrpSpPr>
        <p:grpSpPr>
          <a:xfrm>
            <a:off x="7655242" y="1524000"/>
            <a:ext cx="4003358" cy="2705100"/>
            <a:chOff x="7655242" y="1524000"/>
            <a:chExt cx="4003358" cy="2705100"/>
          </a:xfrm>
        </p:grpSpPr>
        <p:sp>
          <p:nvSpPr>
            <p:cNvPr id="80" name="Rectangle 80"/>
            <p:cNvSpPr/>
            <p:nvPr/>
          </p:nvSpPr>
          <p:spPr>
            <a:xfrm>
              <a:off x="7655242" y="1524000"/>
              <a:ext cx="4003358" cy="2705100"/>
            </a:xfrm>
            <a:prstGeom prst="roundRect">
              <a:avLst>
                <a:gd name="adj" fmla="val 49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664768" y="1657350"/>
              <a:ext cx="47625" cy="24384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90289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99310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95273" y="2110740"/>
              <a:ext cx="3358515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(0.9975, 0.9958, 1.0117)ᵀ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标为 x⁽¹⁾，把 (0.9987, 0.9989,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0.9995)ᵀ 标为 x⁽²⁾，它们实际是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 和 x⁽³⁾。从 (0, 0, 1)ᵀ 出发第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次得到 (1.1, 1.125, 0.9333)ᵀ。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96416" y="3585686"/>
              <a:ext cx="3296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原课件的两个差值 1.5748、0.1826 与正确编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号一致。</a:t>
              </a:r>
            </a:p>
          </p:txBody>
        </p:sp>
      </p:grpSp>
      <p:grpSp>
        <p:nvGrpSpPr>
          <p:cNvPr id="92" name="c2-card-2"/>
          <p:cNvGrpSpPr/>
          <p:nvPr/>
        </p:nvGrpSpPr>
        <p:grpSpPr>
          <a:xfrm>
            <a:off x="7655242" y="4419600"/>
            <a:ext cx="4003358" cy="1895475"/>
            <a:chOff x="7655242" y="4419600"/>
            <a:chExt cx="4003358" cy="1895475"/>
          </a:xfrm>
        </p:grpSpPr>
        <p:sp>
          <p:nvSpPr>
            <p:cNvPr id="87" name="Rectangle 87"/>
            <p:cNvSpPr/>
            <p:nvPr/>
          </p:nvSpPr>
          <p:spPr>
            <a:xfrm>
              <a:off x="7655242" y="4419600"/>
              <a:ext cx="4003358" cy="1895475"/>
            </a:xfrm>
            <a:prstGeom prst="roundRect">
              <a:avLst>
                <a:gd name="adj" fmla="val 70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664768" y="4552950"/>
              <a:ext cx="47625" cy="16287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902892" y="46291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984249" y="4664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停止准则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895273" y="5006340"/>
              <a:ext cx="33394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原课件没有写停止准则。取 ‖x⁽ᵏ⁾ − x⁽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ᵏ⁻¹⁾‖₂ &lt; 10⁻⁴ 时，Jacobi 在第 6 次停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止，与原课件“迭代 6 次后”一致，此时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真实误差约 1.4×10⁻⁶。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05712" cy="909257"/>
            <a:chOff x="520446" y="342900"/>
            <a:chExt cx="75057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057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迭代过程：同样的初值，收敛更快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table-1"/>
          <p:cNvGrpSpPr/>
          <p:nvPr/>
        </p:nvGrpSpPr>
        <p:grpSpPr>
          <a:xfrm>
            <a:off x="533400" y="1524000"/>
            <a:ext cx="6817042" cy="3185160"/>
            <a:chOff x="533400" y="1524000"/>
            <a:chExt cx="6817042" cy="31851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817042" cy="63817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8783" y="17592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7060" y="175926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x₁⁽ᵏ⁾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7672" y="175926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x₂⁽ᵏ⁾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98285" y="175926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x₃⁽ᵏ⁾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84180" y="1652588"/>
              <a:ext cx="1164336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x⁽ᵏ⁻¹⁾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77384" y="1759268"/>
              <a:ext cx="1046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‖x⁽ᵏ⁾ − x*‖∞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8783" y="22898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5864" y="2289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96477" y="2289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7089" y="2289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15827" y="2289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0304" y="2289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581275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586038"/>
              <a:ext cx="68170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8783" y="27146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4892" y="271462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1.100000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85505" y="271462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0.987500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76117" y="271462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0.984167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93704" y="271462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1.4783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94908" y="271462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1.00×10⁻¹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06090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8783" y="31394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4892" y="313944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1.003625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85505" y="313944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1.001526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76117" y="313944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0.999822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93704" y="313944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0.0986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94908" y="313944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3.63×10⁻³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29952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434715"/>
              <a:ext cx="68170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8783" y="35633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94892" y="356330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0.999874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85505" y="356330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1.000038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76117" y="356330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1.000024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0430" y="356330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4.04×10⁻³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94908" y="356330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1.26×10⁻⁴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854768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8783" y="39881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94892" y="398811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85505" y="398811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0.999998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76117" y="3988118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291965" y="3869055"/>
              <a:ext cx="154876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60430" y="398811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1.27×10⁻⁴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94908" y="3988118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7.46×10⁻⁶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279582"/>
              <a:ext cx="68170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4284345"/>
              <a:ext cx="681704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8783" y="4411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94892" y="44119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85505" y="44119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76117" y="441198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1.000000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291965" y="4293870"/>
              <a:ext cx="154876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660430" y="441198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7.87×10⁻⁶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94908" y="4411980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1.26×10⁻⁷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1524000"/>
              <a:ext cx="6817042" cy="31842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05840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096452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187065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277678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45492" y="1524000"/>
              <a:ext cx="9525" cy="3184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1-callout-2"/>
          <p:cNvGrpSpPr/>
          <p:nvPr/>
        </p:nvGrpSpPr>
        <p:grpSpPr>
          <a:xfrm>
            <a:off x="533400" y="4888230"/>
            <a:ext cx="6817042" cy="756285"/>
            <a:chOff x="533400" y="4888230"/>
            <a:chExt cx="6817042" cy="756285"/>
          </a:xfrm>
        </p:grpSpPr>
        <p:sp>
          <p:nvSpPr>
            <p:cNvPr id="67" name="Rectangle 67"/>
            <p:cNvSpPr/>
            <p:nvPr/>
          </p:nvSpPr>
          <p:spPr>
            <a:xfrm>
              <a:off x="533400" y="4888230"/>
              <a:ext cx="681704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166360"/>
              <a:ext cx="200026" cy="200025"/>
              <a:chOff x="738188" y="5166360"/>
              <a:chExt cx="200026" cy="20002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1663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77926" y="52108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12642" y="53219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511" y="5036344"/>
              <a:ext cx="576732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 步：x₁ = 1.1；x₂ = (10 − 1.1 − 1)/8 = 0.9875，已用新 x₁；x₃ =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(14 − 2.2 + 3×0.9875)/15 ≈ 0.9842。与原课件一致。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7649909" y="1524000"/>
            <a:ext cx="4008691" cy="1977961"/>
            <a:chOff x="7649909" y="1524000"/>
            <a:chExt cx="4008691" cy="1977961"/>
          </a:xfrm>
        </p:grpSpPr>
        <p:sp>
          <p:nvSpPr>
            <p:cNvPr id="74" name="Rectangle 74"/>
            <p:cNvSpPr/>
            <p:nvPr/>
          </p:nvSpPr>
          <p:spPr>
            <a:xfrm>
              <a:off x="7655242" y="1524000"/>
              <a:ext cx="4003358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135287" y="1652588"/>
              <a:ext cx="640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‖Δx‖₂ &lt;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590214" y="1652588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Jacobi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04571" y="165258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G-S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62663" y="207645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80690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00800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655242" y="2367915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655242" y="2372678"/>
              <a:ext cx="40033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262663" y="250126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10⁻³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80690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467022" y="2382202"/>
              <a:ext cx="118205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0800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655242" y="2792730"/>
              <a:ext cx="40033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262663" y="292608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265920" y="2807018"/>
              <a:ext cx="118205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80690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00800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655242" y="1524000"/>
              <a:ext cx="4003358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251632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452735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49909" y="32966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不同停止准则下的迭代次数</a:t>
              </a:r>
            </a:p>
          </p:txBody>
        </p:sp>
      </p:grpSp>
      <p:grpSp>
        <p:nvGrpSpPr>
          <p:cNvPr id="103" name="c2-card-2"/>
          <p:cNvGrpSpPr/>
          <p:nvPr/>
        </p:nvGrpSpPr>
        <p:grpSpPr>
          <a:xfrm>
            <a:off x="7655242" y="3640455"/>
            <a:ext cx="4003358" cy="2022158"/>
            <a:chOff x="7655242" y="3640455"/>
            <a:chExt cx="4003358" cy="2022158"/>
          </a:xfrm>
        </p:grpSpPr>
        <p:sp>
          <p:nvSpPr>
            <p:cNvPr id="97" name="Rectangle 97"/>
            <p:cNvSpPr/>
            <p:nvPr/>
          </p:nvSpPr>
          <p:spPr>
            <a:xfrm>
              <a:off x="7655242" y="3640455"/>
              <a:ext cx="4003358" cy="2022158"/>
            </a:xfrm>
            <a:prstGeom prst="roundRect">
              <a:avLst>
                <a:gd name="adj" fmla="val 6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664768" y="3773805"/>
              <a:ext cx="47625" cy="17554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891462" y="38385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982902" y="38728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884224" y="4199096"/>
              <a:ext cx="340487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原课件“Jacobi 6 次、G-S 4 次”不是同一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个准则下的次数：10⁻⁴ 对应 6 次和 5 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10⁻³ 对应 5 次和 4 次。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885366" y="5055870"/>
              <a:ext cx="30678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每迭代一次误差约乘以谱半径，0.041 远小于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0.147，所以 G-S 快。</a:t>
              </a:r>
            </a:p>
          </p:txBody>
        </p:sp>
      </p:grpSp>
      <p:grpSp>
        <p:nvGrpSpPr>
          <p:cNvPr id="11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04" name="Rectangle 10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040511" y="6011704"/>
              <a:ext cx="85797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G-S 并非总比 Jacobi 快：存在 Jacobi 收敛而 G-S 发散的方程组。本题严格对角占优，两者都收敛。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89721" cy="909257"/>
            <a:chOff x="520446" y="342900"/>
            <a:chExt cx="71897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897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收敛范围题：写出 Jacobi 迭代公式与迭代矩阵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990911" cy="308039"/>
            <a:chOff x="525399" y="1550194"/>
            <a:chExt cx="999091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9909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题目（原题 3）：设 A、b 如下，试给出方程组 Ax = b 的 Jacobi 迭代公式，并讨论 a 取何值时迭代收敛。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7"/>
              <p:cNvSpPr txBox="1">
                <a:spLocks noGrp="1"/>
              </p:cNvSpPr>
              <p:nvPr/>
            </p:nvSpPr>
            <p:spPr>
              <a:xfrm>
                <a:off x="533400" y="1967865"/>
                <a:ext cx="5410200" cy="1131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3a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2a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3289935"/>
            <a:ext cx="5410200" cy="2932748"/>
            <a:chOff x="533400" y="3289935"/>
            <a:chExt cx="5410200" cy="2932748"/>
          </a:xfrm>
        </p:grpSpPr>
        <p:sp>
          <p:nvSpPr>
            <p:cNvPr id="10" name="Rectangle 10"/>
            <p:cNvSpPr/>
            <p:nvPr/>
          </p:nvSpPr>
          <p:spPr>
            <a:xfrm>
              <a:off x="533400" y="3289935"/>
              <a:ext cx="5410200" cy="2932748"/>
            </a:xfrm>
            <a:prstGeom prst="roundRect">
              <a:avLst>
                <a:gd name="adj" fmla="val 45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423285"/>
              <a:ext cx="47625" cy="26660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499485"/>
              <a:ext cx="12792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5238" y="3535204"/>
              <a:ext cx="1149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Jacobi 迭代公式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876675"/>
              <a:ext cx="37408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对角元都是 1，第 i 个方程解出 xᵢ 即可：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18"/>
                <p:cNvSpPr txBox="1">
                  <a:spLocks noGrp="1"/>
                </p:cNvSpPr>
                <p:nvPr/>
              </p:nvSpPr>
              <p:spPr>
                <a:xfrm>
                  <a:off x="781050" y="4187190"/>
                  <a:ext cx="4953000" cy="10372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3a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2a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bSup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6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2-card-1"/>
          <p:cNvGrpSpPr/>
          <p:nvPr/>
        </p:nvGrpSpPr>
        <p:grpSpPr>
          <a:xfrm>
            <a:off x="6248400" y="1967865"/>
            <a:ext cx="5410200" cy="2402205"/>
            <a:chOff x="6248400" y="1967865"/>
            <a:chExt cx="5410200" cy="2402205"/>
          </a:xfrm>
        </p:grpSpPr>
        <p:sp>
          <p:nvSpPr>
            <p:cNvPr id="17" name="Rectangle 17"/>
            <p:cNvSpPr/>
            <p:nvPr/>
          </p:nvSpPr>
          <p:spPr>
            <a:xfrm>
              <a:off x="6248400" y="1967865"/>
              <a:ext cx="5410200" cy="2402205"/>
            </a:xfrm>
            <a:prstGeom prst="roundRect">
              <a:avLst>
                <a:gd name="adj" fmla="val 5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57925" y="2101215"/>
              <a:ext cx="47625" cy="21355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96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8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迭代矩阵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430" y="255460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x⁽ᵏ⁺¹⁾ = Hx⁽ᵏ⁾ + g，D 为 A 的对角部分，这里 D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I：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119"/>
                <p:cNvSpPr txBox="1">
                  <a:spLocks noGrp="1"/>
                </p:cNvSpPr>
                <p:nvPr/>
              </p:nvSpPr>
              <p:spPr>
                <a:xfrm>
                  <a:off x="6496050" y="3150870"/>
                  <a:ext cx="4953000" cy="990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3a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2a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2"/>
          <p:cNvGrpSpPr/>
          <p:nvPr/>
        </p:nvGrpSpPr>
        <p:grpSpPr>
          <a:xfrm>
            <a:off x="6248400" y="4559618"/>
            <a:ext cx="5410200" cy="1662112"/>
            <a:chOff x="6248400" y="4559618"/>
            <a:chExt cx="5410200" cy="1662112"/>
          </a:xfrm>
        </p:grpSpPr>
        <p:sp>
          <p:nvSpPr>
            <p:cNvPr id="24" name="Rectangle 24"/>
            <p:cNvSpPr/>
            <p:nvPr/>
          </p:nvSpPr>
          <p:spPr>
            <a:xfrm>
              <a:off x="6248400" y="4559618"/>
              <a:ext cx="5410200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4692968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47691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6258" y="48048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501765" y="520922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5146358"/>
              <a:ext cx="3487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充要条件：对任意初值收敛 ⇔ ρ(H) &lt; 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554450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5481638"/>
              <a:ext cx="48760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充分条件：某种算子范数 ‖H‖ &lt; 1，或 A 严格对角占优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9573" y="5813584"/>
              <a:ext cx="4682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题目问“取何值时收敛”，要给出完整范围，应该用充要条件。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602" cy="909257"/>
            <a:chOff x="520446" y="342900"/>
            <a:chExt cx="76346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6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收敛范围题 解：ρ(H) = √3|a| &lt; 1，即 |a| &lt; √3/3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951220" cy="4261485"/>
            <a:chOff x="533400" y="1524000"/>
            <a:chExt cx="5951220" cy="4261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261485"/>
            </a:xfrm>
            <a:prstGeom prst="roundRect">
              <a:avLst>
                <a:gd name="adj" fmla="val 31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994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999" y="1769269"/>
              <a:ext cx="957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求 H 的特征值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22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494020" cy="9429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3a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74573" y="3145631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按第 3 列展开，只有 (3, 3) 位置的 λ 非零。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445192"/>
              <a:ext cx="4815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λ(λ² − 3a²) = 0，得 λ₁ = 0，λ₂ = −√3|a|，λ₃ = √3|a|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（a 为实数），所以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3"/>
                <p:cNvSpPr txBox="1">
                  <a:spLocks noGrp="1"/>
                </p:cNvSpPr>
                <p:nvPr/>
              </p:nvSpPr>
              <p:spPr>
                <a:xfrm>
                  <a:off x="781050" y="4041458"/>
                  <a:ext cx="549402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rad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⟺−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701540"/>
              <a:ext cx="4939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结论：|a| &lt; √3/3 ≈ 0.577 时 Jacobi 迭代收敛，|a| ≥ √3/3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时对一般初值不收敛。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6789420" y="1524000"/>
            <a:ext cx="4869180" cy="1602105"/>
            <a:chOff x="6789420" y="1524000"/>
            <a:chExt cx="4869180" cy="1602105"/>
          </a:xfrm>
        </p:grpSpPr>
        <p:sp>
          <p:nvSpPr>
            <p:cNvPr id="17" name="Rectangle 17"/>
            <p:cNvSpPr/>
            <p:nvPr/>
          </p:nvSpPr>
          <p:spPr>
            <a:xfrm>
              <a:off x="6789420" y="1524000"/>
              <a:ext cx="486918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9894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3707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2727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29450" y="2110740"/>
              <a:ext cx="4139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 det(λI − H) = λ³ − 3λa，漏了平方，应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λ³ − 3a²λ。原课件后面的特征值 ±√3|a| 和收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敛范围是按 a² 得出的，结论正确。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789420" y="3316605"/>
            <a:ext cx="4869180" cy="2468880"/>
            <a:chOff x="6789420" y="3316605"/>
            <a:chExt cx="4869180" cy="2468880"/>
          </a:xfrm>
        </p:grpSpPr>
        <p:sp>
          <p:nvSpPr>
            <p:cNvPr id="23" name="Rectangle 23"/>
            <p:cNvSpPr/>
            <p:nvPr/>
          </p:nvSpPr>
          <p:spPr>
            <a:xfrm>
              <a:off x="6789420" y="3316605"/>
              <a:ext cx="4869180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8945" y="3449955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37070" y="35261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10527" y="35618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对比充分条件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042785" y="39662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00900" y="3903345"/>
              <a:ext cx="3949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严格对角占优：|3a| &lt; 1、|a| &lt; 1、|2a| &lt; 1，得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|a| &lt; 1/3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42785" y="45872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00900" y="4524375"/>
              <a:ext cx="3844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‖H‖∞ = max{3|a|, |a|, 2|a|} = 3|a| &lt; 1，同样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|a| &lt; 1/3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0593" y="5142071"/>
              <a:ext cx="40119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充分条件只给出一部分范围：1/3 ≤ |a| &lt; √3/3 时迭代同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样收敛。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2888" cy="909257"/>
            <a:chOff x="520446" y="342900"/>
            <a:chExt cx="96128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3649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901" y="407194"/>
              <a:ext cx="2311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范数与迭代法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28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收敛范围题 验证：a 越过 √3/3 ≈ 0.577，误差由缩小变为放大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28447" y="1524000"/>
            <a:ext cx="5198935" cy="2263806"/>
            <a:chOff x="528447" y="1524000"/>
            <a:chExt cx="5198935" cy="22638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989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9684" y="1645444"/>
              <a:ext cx="3695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ρ(H)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50087" y="164544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6877" y="164544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20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23667" y="1645444"/>
              <a:ext cx="454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289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2827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144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40021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2.8×10⁻³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6811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3.9×10⁻⁶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3601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5.7×10⁻⁹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53940" y="1933575"/>
              <a:ext cx="86391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28933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2827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144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40021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9.5×10⁻¹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26811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2.3×10⁻¹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13601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5.3×10⁻²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53940" y="2333625"/>
              <a:ext cx="86391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53546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收敛慢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2827" y="28455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1443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1.039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1484" y="28455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1.5×10¹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68274" y="28455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2.2×10¹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55064" y="284559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3.2×10¹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853940" y="2733675"/>
              <a:ext cx="86391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128933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2827" y="32456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8144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81484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1.6×10¹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68274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55064" y="324564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7.6×10²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853940" y="3133725"/>
              <a:ext cx="86391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128933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发散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524000"/>
              <a:ext cx="5193982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0013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87928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86607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85286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83965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8447" y="3597116"/>
              <a:ext cx="2991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初值 x⁽⁰⁾ = 0，x* 由直接法求出（补充数值实验）</a:t>
              </a:r>
            </a:p>
          </p:txBody>
        </p:sp>
      </p:grpSp>
      <p:grpSp>
        <p:nvGrpSpPr>
          <p:cNvPr id="56" name="c1-text-2"/>
          <p:cNvGrpSpPr/>
          <p:nvPr/>
        </p:nvGrpSpPr>
        <p:grpSpPr>
          <a:xfrm>
            <a:off x="527685" y="3938111"/>
            <a:ext cx="1881033" cy="220028"/>
            <a:chOff x="527685" y="3938111"/>
            <a:chExt cx="1881033" cy="220028"/>
          </a:xfrm>
        </p:grpSpPr>
        <p:sp>
          <p:nvSpPr>
            <p:cNvPr id="55" name="TextBox 55"/>
            <p:cNvSpPr txBox="1"/>
            <p:nvPr/>
          </p:nvSpPr>
          <p:spPr>
            <a:xfrm>
              <a:off x="527685" y="3938111"/>
              <a:ext cx="1881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表中数值为 ‖x⁽ᵏ⁾ − x*‖∞。</a:t>
              </a:r>
            </a:p>
          </p:txBody>
        </p:sp>
      </p:grpSp>
      <p:grpSp>
        <p:nvGrpSpPr>
          <p:cNvPr id="65" name="c1-card-3"/>
          <p:cNvGrpSpPr/>
          <p:nvPr/>
        </p:nvGrpSpPr>
        <p:grpSpPr>
          <a:xfrm>
            <a:off x="533400" y="4284345"/>
            <a:ext cx="5193982" cy="1743075"/>
            <a:chOff x="533400" y="4284345"/>
            <a:chExt cx="5193982" cy="1743075"/>
          </a:xfrm>
        </p:grpSpPr>
        <p:sp>
          <p:nvSpPr>
            <p:cNvPr id="57" name="Rectangle 57"/>
            <p:cNvSpPr/>
            <p:nvPr/>
          </p:nvSpPr>
          <p:spPr>
            <a:xfrm>
              <a:off x="533400" y="4284345"/>
              <a:ext cx="5193982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2925" y="4417695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8190" y="44710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0862" y="45038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66762" y="48710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2782" y="4814887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的非零特征值是 ±√3|a|，误差每两步约乘以 ρ(H)²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3a²：a = 0.5 时为 0.75，a = 0.6 时为 1.08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66762" y="542829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2782" y="5372100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Gauss-Seidel 迭代矩阵的特征值为 0、0、3a²，谱半径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3a² = ρ(H)²，收敛范围同样是 |a| &lt; √3/3</a:t>
              </a:r>
            </a:p>
          </p:txBody>
        </p:sp>
      </p:grpSp>
      <p:grpSp>
        <p:nvGrpSpPr>
          <p:cNvPr id="174" name="c2-graph-1"/>
          <p:cNvGrpSpPr/>
          <p:nvPr/>
        </p:nvGrpSpPr>
        <p:grpSpPr>
          <a:xfrm>
            <a:off x="6424765" y="1656398"/>
            <a:ext cx="5136642" cy="3430904"/>
            <a:chOff x="6424765" y="1656398"/>
            <a:chExt cx="5136642" cy="3430904"/>
          </a:xfrm>
        </p:grpSpPr>
        <p:sp>
          <p:nvSpPr>
            <p:cNvPr id="66" name="Freeform 66"/>
            <p:cNvSpPr/>
            <p:nvPr/>
          </p:nvSpPr>
          <p:spPr>
            <a:xfrm>
              <a:off x="6774180" y="4413885"/>
              <a:ext cx="4705350" cy="9525"/>
            </a:xfrm>
            <a:custGeom>
              <a:avLst/>
              <a:gdLst/>
              <a:ahLst/>
              <a:cxnLst/>
              <a:rect l="l" t="t" r="r" b="b"/>
              <a:pathLst>
                <a:path w="4705350" h="9525">
                  <a:moveTo>
                    <a:pt x="0" y="0"/>
                  </a:moveTo>
                  <a:lnTo>
                    <a:pt x="47053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774180" y="3788092"/>
              <a:ext cx="4705350" cy="9525"/>
            </a:xfrm>
            <a:custGeom>
              <a:avLst/>
              <a:gdLst/>
              <a:ahLst/>
              <a:cxnLst/>
              <a:rect l="l" t="t" r="r" b="b"/>
              <a:pathLst>
                <a:path w="4705350" h="9525">
                  <a:moveTo>
                    <a:pt x="0" y="0"/>
                  </a:moveTo>
                  <a:lnTo>
                    <a:pt x="47053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774180" y="3163252"/>
              <a:ext cx="4705350" cy="9525"/>
            </a:xfrm>
            <a:custGeom>
              <a:avLst/>
              <a:gdLst/>
              <a:ahLst/>
              <a:cxnLst/>
              <a:rect l="l" t="t" r="r" b="b"/>
              <a:pathLst>
                <a:path w="4705350" h="9525">
                  <a:moveTo>
                    <a:pt x="0" y="0"/>
                  </a:moveTo>
                  <a:lnTo>
                    <a:pt x="47053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774180" y="2537460"/>
              <a:ext cx="4705350" cy="9525"/>
            </a:xfrm>
            <a:custGeom>
              <a:avLst/>
              <a:gdLst/>
              <a:ahLst/>
              <a:cxnLst/>
              <a:rect l="l" t="t" r="r" b="b"/>
              <a:pathLst>
                <a:path w="4705350" h="9525">
                  <a:moveTo>
                    <a:pt x="0" y="0"/>
                  </a:moveTo>
                  <a:lnTo>
                    <a:pt x="47053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774180" y="1911668"/>
              <a:ext cx="4705350" cy="9525"/>
            </a:xfrm>
            <a:custGeom>
              <a:avLst/>
              <a:gdLst/>
              <a:ahLst/>
              <a:cxnLst/>
              <a:rect l="l" t="t" r="r" b="b"/>
              <a:pathLst>
                <a:path w="4705350" h="9525">
                  <a:moveTo>
                    <a:pt x="0" y="0"/>
                  </a:moveTo>
                  <a:lnTo>
                    <a:pt x="4705350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763702" y="1851660"/>
              <a:ext cx="4715828" cy="2562225"/>
            </a:xfrm>
            <a:custGeom>
              <a:avLst/>
              <a:gdLst/>
              <a:ahLst/>
              <a:cxnLst/>
              <a:rect l="l" t="t" r="r" b="b"/>
              <a:pathLst>
                <a:path w="4715828" h="2562225">
                  <a:moveTo>
                    <a:pt x="0" y="0"/>
                  </a:moveTo>
                  <a:lnTo>
                    <a:pt x="0" y="2562225"/>
                  </a:lnTo>
                  <a:lnTo>
                    <a:pt x="4715828" y="2562225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763702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7551420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339138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9126855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914572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702290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1490008" y="4424362"/>
              <a:ext cx="9525" cy="35242"/>
            </a:xfrm>
            <a:custGeom>
              <a:avLst/>
              <a:gdLst/>
              <a:ahLst/>
              <a:cxnLst/>
              <a:rect l="l" t="t" r="r" b="b"/>
              <a:pathLst>
                <a:path w="9525" h="35242">
                  <a:moveTo>
                    <a:pt x="0" y="0"/>
                  </a:moveTo>
                  <a:lnTo>
                    <a:pt x="0" y="35242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6806565" y="2548890"/>
              <a:ext cx="4642485" cy="1692592"/>
            </a:xfrm>
            <a:custGeom>
              <a:avLst/>
              <a:gdLst/>
              <a:ahLst/>
              <a:cxnLst/>
              <a:rect l="l" t="t" r="r" b="b"/>
              <a:pathLst>
                <a:path w="4642485" h="1692592">
                  <a:moveTo>
                    <a:pt x="0" y="0"/>
                  </a:moveTo>
                  <a:lnTo>
                    <a:pt x="272415" y="47625"/>
                  </a:lnTo>
                  <a:lnTo>
                    <a:pt x="586740" y="166688"/>
                  </a:lnTo>
                  <a:lnTo>
                    <a:pt x="902017" y="284797"/>
                  </a:lnTo>
                  <a:lnTo>
                    <a:pt x="1217295" y="403860"/>
                  </a:lnTo>
                  <a:lnTo>
                    <a:pt x="1532572" y="521970"/>
                  </a:lnTo>
                  <a:lnTo>
                    <a:pt x="1847850" y="641032"/>
                  </a:lnTo>
                  <a:lnTo>
                    <a:pt x="2162175" y="759142"/>
                  </a:lnTo>
                  <a:lnTo>
                    <a:pt x="2477452" y="878205"/>
                  </a:lnTo>
                  <a:lnTo>
                    <a:pt x="2792730" y="996315"/>
                  </a:lnTo>
                  <a:lnTo>
                    <a:pt x="3108008" y="1115377"/>
                  </a:lnTo>
                  <a:lnTo>
                    <a:pt x="3423285" y="1233488"/>
                  </a:lnTo>
                  <a:lnTo>
                    <a:pt x="3737610" y="1352550"/>
                  </a:lnTo>
                  <a:lnTo>
                    <a:pt x="4052887" y="1470660"/>
                  </a:lnTo>
                  <a:lnTo>
                    <a:pt x="4368165" y="1589722"/>
                  </a:lnTo>
                  <a:lnTo>
                    <a:pt x="4642485" y="1692592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6807518" y="2437448"/>
              <a:ext cx="4638675" cy="361950"/>
            </a:xfrm>
            <a:custGeom>
              <a:avLst/>
              <a:gdLst/>
              <a:ahLst/>
              <a:cxnLst/>
              <a:rect l="l" t="t" r="r" b="b"/>
              <a:pathLst>
                <a:path w="4638675" h="361950">
                  <a:moveTo>
                    <a:pt x="0" y="0"/>
                  </a:moveTo>
                  <a:lnTo>
                    <a:pt x="271462" y="0"/>
                  </a:lnTo>
                  <a:lnTo>
                    <a:pt x="585788" y="26670"/>
                  </a:lnTo>
                  <a:lnTo>
                    <a:pt x="901065" y="52387"/>
                  </a:lnTo>
                  <a:lnTo>
                    <a:pt x="1216342" y="78105"/>
                  </a:lnTo>
                  <a:lnTo>
                    <a:pt x="1531620" y="104775"/>
                  </a:lnTo>
                  <a:lnTo>
                    <a:pt x="1846897" y="130493"/>
                  </a:lnTo>
                  <a:lnTo>
                    <a:pt x="2161222" y="156210"/>
                  </a:lnTo>
                  <a:lnTo>
                    <a:pt x="2476500" y="182880"/>
                  </a:lnTo>
                  <a:lnTo>
                    <a:pt x="2791777" y="208598"/>
                  </a:lnTo>
                  <a:lnTo>
                    <a:pt x="3107055" y="234315"/>
                  </a:lnTo>
                  <a:lnTo>
                    <a:pt x="3422332" y="260985"/>
                  </a:lnTo>
                  <a:lnTo>
                    <a:pt x="3736657" y="286702"/>
                  </a:lnTo>
                  <a:lnTo>
                    <a:pt x="4051935" y="313373"/>
                  </a:lnTo>
                  <a:lnTo>
                    <a:pt x="4367212" y="339090"/>
                  </a:lnTo>
                  <a:lnTo>
                    <a:pt x="4638675" y="36195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6807518" y="2225040"/>
              <a:ext cx="4638675" cy="97155"/>
            </a:xfrm>
            <a:custGeom>
              <a:avLst/>
              <a:gdLst/>
              <a:ahLst/>
              <a:cxnLst/>
              <a:rect l="l" t="t" r="r" b="b"/>
              <a:pathLst>
                <a:path w="4638675" h="97155">
                  <a:moveTo>
                    <a:pt x="0" y="95250"/>
                  </a:moveTo>
                  <a:lnTo>
                    <a:pt x="271462" y="97155"/>
                  </a:lnTo>
                  <a:lnTo>
                    <a:pt x="585788" y="89535"/>
                  </a:lnTo>
                  <a:lnTo>
                    <a:pt x="901065" y="82868"/>
                  </a:lnTo>
                  <a:lnTo>
                    <a:pt x="1216342" y="75248"/>
                  </a:lnTo>
                  <a:lnTo>
                    <a:pt x="1531620" y="68580"/>
                  </a:lnTo>
                  <a:lnTo>
                    <a:pt x="1846897" y="61912"/>
                  </a:lnTo>
                  <a:lnTo>
                    <a:pt x="2161222" y="55245"/>
                  </a:lnTo>
                  <a:lnTo>
                    <a:pt x="2476500" y="47625"/>
                  </a:lnTo>
                  <a:lnTo>
                    <a:pt x="2791777" y="40958"/>
                  </a:lnTo>
                  <a:lnTo>
                    <a:pt x="3107055" y="34290"/>
                  </a:lnTo>
                  <a:lnTo>
                    <a:pt x="3422332" y="26670"/>
                  </a:lnTo>
                  <a:lnTo>
                    <a:pt x="3736657" y="20002"/>
                  </a:lnTo>
                  <a:lnTo>
                    <a:pt x="4051935" y="13335"/>
                  </a:lnTo>
                  <a:lnTo>
                    <a:pt x="4367212" y="5715"/>
                  </a:lnTo>
                  <a:lnTo>
                    <a:pt x="4638675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6762750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1489055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6762750" y="37871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1489055" y="378714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6762750" y="31623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1489055" y="316230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6762750" y="25365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1489055" y="25365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6762750" y="191071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1489055" y="191071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762750" y="18402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6762750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11489055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6762750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6762750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7550467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7550467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8338185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8338185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9125902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9125902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9913620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9913620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10701338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10701338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1489055" y="441293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11489055" y="446913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6729412" y="250698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7044690" y="2562225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7359015" y="268128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7674292" y="279939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7989570" y="291846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8304848" y="303657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8620125" y="3155632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8934450" y="3273742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9249728" y="3392805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9565005" y="3510915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9880283" y="3629977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10195560" y="374808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10509885" y="386715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10825162" y="398526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11140440" y="4104322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11455718" y="4222432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6729412" y="240315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7044690" y="240315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7359015" y="242982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7674292" y="2455545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7989570" y="2481262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8304848" y="2507932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8620125" y="253365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8934450" y="255936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9249728" y="258603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9565005" y="2611755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9880283" y="2637472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10195560" y="2664142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10509885" y="268986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10825162" y="271653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11140440" y="27422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11455718" y="2767965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6729412" y="2286000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7044690" y="228790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7359015" y="228028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7674292" y="2273618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7989570" y="2265998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8304848" y="2259330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8620125" y="2252662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8934450" y="224599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9249728" y="223837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9565005" y="2231708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9880283" y="2225040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10195560" y="2217420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10509885" y="2210752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10825162" y="220408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11140440" y="2196465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11455718" y="2189798"/>
              <a:ext cx="68580" cy="6858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6424765" y="43624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10⁻⁹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6424765" y="373665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424765" y="311086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10⁻³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6491402" y="2485073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10⁰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491402" y="1860232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6725622" y="4534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7513339" y="45348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8267738" y="4534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9055456" y="4534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9843173" y="4534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10630891" y="4534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11418608" y="45348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8828284" y="4911090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迭代次数 k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702742" y="1656398"/>
              <a:ext cx="147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‖x⁽ᵏ⁾ − x*‖∞（对数刻度）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10163067" y="1960245"/>
              <a:ext cx="9203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 = 0.6（发散）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10102488" y="2898458"/>
              <a:ext cx="1041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= 0.5（收敛慢）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7424058" y="3857625"/>
              <a:ext cx="10414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 = 0.3（收敛快）</a:t>
              </a:r>
            </a:p>
          </p:txBody>
        </p:sp>
      </p:grpSp>
      <p:grpSp>
        <p:nvGrpSpPr>
          <p:cNvPr id="176" name="c2-text-2"/>
          <p:cNvGrpSpPr/>
          <p:nvPr/>
        </p:nvGrpSpPr>
        <p:grpSpPr>
          <a:xfrm>
            <a:off x="6026467" y="5236369"/>
            <a:ext cx="5484541" cy="220028"/>
            <a:chOff x="6026467" y="5236369"/>
            <a:chExt cx="5484541" cy="220028"/>
          </a:xfrm>
        </p:grpSpPr>
        <p:sp>
          <p:nvSpPr>
            <p:cNvPr id="175" name="TextBox 175"/>
            <p:cNvSpPr txBox="1"/>
            <p:nvPr/>
          </p:nvSpPr>
          <p:spPr>
            <a:xfrm>
              <a:off x="6026467" y="5236369"/>
              <a:ext cx="5484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每隔一步取一个点作图；a = 0.5 的误差恰好两步一降，a = 0.6 的误差两步一升。</a:t>
              </a:r>
            </a:p>
          </p:txBody>
        </p:sp>
      </p:grpSp>
      <p:grpSp>
        <p:nvGrpSpPr>
          <p:cNvPr id="1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7" name="TextBox 177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5579745" cy="2643187"/>
            <a:chOff x="667512" y="1835468"/>
            <a:chExt cx="5579745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上机实验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舍入误差与截断误差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两个小实验：浮点数减法的残差，数值微分中步长怎么选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实验1 计算 1 − 0.2 − 0.2 − 0.2 − 0.2 − 0.2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实验2 向前差商与中心差商求导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12457" cy="909257"/>
            <a:chOff x="520446" y="342900"/>
            <a:chExt cx="74124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124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实验1：五次减去 0.2，计算机给出的结果不是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74198" cy="264033"/>
            <a:chOff x="526542" y="1545907"/>
            <a:chExt cx="707419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题目：计算 1 − 0.2 − 0.2 − 0.2 − 0.2 − 0.2。实验要求：得到了什么结果？分析原因。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4544378" cy="1265872"/>
            <a:chOff x="533400" y="1928812"/>
            <a:chExt cx="4544378" cy="126587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544378" cy="1265872"/>
            </a:xfrm>
            <a:prstGeom prst="roundRect">
              <a:avLst>
                <a:gd name="adj" fmla="val 752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40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逐步输出（Python，IEEE 754 双精度）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378" y="2342340"/>
              <a:ext cx="1343482" cy="7783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 = 1.0</a:t>
              </a:r>
              <a:br/>
              <a:r>
                <a:rPr lang="en-US" sz="10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</a:t>
              </a:r>
              <a:r>
                <a:rPr lang="en-US" sz="106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range(5):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 = r - 0.2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print(repr(r))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364230"/>
            <a:ext cx="4544378" cy="1456372"/>
            <a:chOff x="533400" y="3364230"/>
            <a:chExt cx="4544378" cy="1456372"/>
          </a:xfrm>
        </p:grpSpPr>
        <p:sp>
          <p:nvSpPr>
            <p:cNvPr id="13" name="Rectangle 13"/>
            <p:cNvSpPr/>
            <p:nvPr/>
          </p:nvSpPr>
          <p:spPr>
            <a:xfrm>
              <a:off x="533400" y="3364230"/>
              <a:ext cx="4544378" cy="1456372"/>
            </a:xfrm>
            <a:prstGeom prst="roundRect">
              <a:avLst>
                <a:gd name="adj" fmla="val 6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5161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378" y="3777758"/>
              <a:ext cx="1565605" cy="9688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0.8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0.6000000000000001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0.4000000000000001</a:t>
              </a:r>
              <a:br/>
              <a:r>
                <a:rPr lang="zh-CN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0.20000000000000007</a:t>
              </a:r>
              <a:br/>
              <a:r>
                <a:rPr lang="en-US" sz="10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5.551115123125783e-17</a:t>
              </a:r>
            </a:p>
          </p:txBody>
        </p:sp>
      </p:grpSp>
      <p:grpSp>
        <p:nvGrpSpPr>
          <p:cNvPr id="23" name="c1-callout-3"/>
          <p:cNvGrpSpPr/>
          <p:nvPr/>
        </p:nvGrpSpPr>
        <p:grpSpPr>
          <a:xfrm>
            <a:off x="533400" y="4990148"/>
            <a:ext cx="4544378" cy="978218"/>
            <a:chOff x="533400" y="4990148"/>
            <a:chExt cx="4544378" cy="978218"/>
          </a:xfrm>
        </p:grpSpPr>
        <p:sp>
          <p:nvSpPr>
            <p:cNvPr id="17" name="Rectangle 17"/>
            <p:cNvSpPr/>
            <p:nvPr/>
          </p:nvSpPr>
          <p:spPr>
            <a:xfrm>
              <a:off x="533400" y="4990148"/>
              <a:ext cx="454437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378768"/>
              <a:ext cx="200026" cy="200026"/>
              <a:chOff x="738188" y="537876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378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445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478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5135880"/>
              <a:ext cx="36141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MATLAB 输入 1-0.2-0.2-0.2-0.2-0.2 显示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5.5511e-17，C 语言的 double 结果相同，它们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都用 IEEE 754 双精度。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377624" y="1928812"/>
            <a:ext cx="6280976" cy="2663857"/>
            <a:chOff x="5377624" y="1928812"/>
            <a:chExt cx="6280976" cy="2663857"/>
          </a:xfrm>
        </p:grpSpPr>
        <p:sp>
          <p:nvSpPr>
            <p:cNvPr id="24" name="Rectangle 24"/>
            <p:cNvSpPr/>
            <p:nvPr/>
          </p:nvSpPr>
          <p:spPr>
            <a:xfrm>
              <a:off x="5382578" y="1928812"/>
              <a:ext cx="627602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52935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0524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4677" y="2050256"/>
              <a:ext cx="2089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实际存储值（小数点后 20 位）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390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84786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31631" y="2450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5128" y="24503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0.80000000000000004441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60050" y="245030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+4.4×10⁻¹⁷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27241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82578" y="27289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84786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1631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35128" y="285035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0.60000000000000008882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60050" y="28503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+8.9×10⁻¹⁷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31242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84786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31631" y="32504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5128" y="32504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0.40000000000000007772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60050" y="325040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+7.8×10⁻¹⁷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352425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3529012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84786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31631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5128" y="365045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0.20000000000000006661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60050" y="365045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+6.7×10⁻¹⁷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39243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584786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4557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5128" y="40505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0.00000000000000005551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10762" y="3938588"/>
              <a:ext cx="173831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360050" y="405050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+5.6×10⁻¹⁷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1928812"/>
              <a:ext cx="6276022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7978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3321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89647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377624" y="440197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每一步实际存储的值与十进制真值之差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5382578" y="4724400"/>
            <a:ext cx="6276022" cy="1243965"/>
            <a:chOff x="5382578" y="4724400"/>
            <a:chExt cx="6276022" cy="1243965"/>
          </a:xfrm>
        </p:grpSpPr>
        <p:sp>
          <p:nvSpPr>
            <p:cNvPr id="62" name="Rectangle 62"/>
            <p:cNvSpPr/>
            <p:nvPr/>
          </p:nvSpPr>
          <p:spPr>
            <a:xfrm>
              <a:off x="5382578" y="4724400"/>
              <a:ext cx="6276022" cy="1243965"/>
            </a:xfrm>
            <a:prstGeom prst="roundRect">
              <a:avLst>
                <a:gd name="adj" fmla="val 1072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569268" y="49110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61939" y="49439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62410" y="5254942"/>
              <a:ext cx="55858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 5.551115123125783×10⁻¹⁷ = 2⁻⁵⁴，而不是 0。偏差只有 10⁻¹⁷ 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级，但真值是 0，这个残差无法被“四舍五入”掩盖，相对误差无从谈起。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0931" cy="909257"/>
            <a:chOff x="520446" y="342900"/>
            <a:chExt cx="68709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09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实验1 分析：0.2 在二进制下是无限循环小数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6059805" cy="1986915"/>
            <a:chOff x="533400" y="1524000"/>
            <a:chExt cx="6059805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5063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= (0.00110011⋯)₂ 无限循环，双精度只保留 53 位二进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制有效位，存入的是 0.20000000000000001110⋯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每次减法的结果还要舍入到最近的双精度数，偏差逐步积累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0537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067050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真值是 0，积累下来的 2⁻⁵⁴ 全部暴露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701415"/>
            <a:ext cx="6059805" cy="1701165"/>
            <a:chOff x="533400" y="3701415"/>
            <a:chExt cx="6059805" cy="1701165"/>
          </a:xfrm>
        </p:grpSpPr>
        <p:sp>
          <p:nvSpPr>
            <p:cNvPr id="21" name="Rectangle 21"/>
            <p:cNvSpPr/>
            <p:nvPr/>
          </p:nvSpPr>
          <p:spPr>
            <a:xfrm>
              <a:off x="533400" y="3701415"/>
              <a:ext cx="605980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3476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91096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507" y="39466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编程时怎么办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6765" y="435102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428815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浮点数不用 == 比较，改为 |a − b| &lt; tol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623435"/>
              <a:ext cx="4469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要精确十进制结果时用整数或 Decimal、Fraction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502158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958715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1 − 5×0.2 恰好得 0 是舍入凑巧抵消，不能依赖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898005" y="1524000"/>
            <a:ext cx="4760595" cy="4078129"/>
            <a:chOff x="6898005" y="1524000"/>
            <a:chExt cx="4760595" cy="4078129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6" t="0" r="7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071424" y="5189696"/>
              <a:ext cx="441375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量杯看起来倒空了，杯底还挂着一滴水：0.2 存不精确，减到最后留下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2⁻⁵⁴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9132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舍入误差来自计算机只能用有限位数表示实数，和算法是否正确无关；结果本应为 0 时最容易看到它。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9616" cy="909257"/>
            <a:chOff x="520446" y="342900"/>
            <a:chExt cx="81196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96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实验2：用两种差商近似导数，比较精度与步长的影响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38544" cy="293370"/>
            <a:chOff x="525780" y="1548765"/>
            <a:chExt cx="663854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38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由导数定义去掉极限，就得到两个近似公式（原课件式 1.3.1、1.3.2）。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33"/>
              <p:cNvSpPr txBox="1">
                <a:spLocks noGrp="1"/>
              </p:cNvSpPr>
              <p:nvPr/>
            </p:nvSpPr>
            <p:spPr>
              <a:xfrm>
                <a:off x="533400" y="1954530"/>
                <a:ext cx="5410200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f'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5" name="c1-card-2"/>
          <p:cNvGrpSpPr/>
          <p:nvPr/>
        </p:nvGrpSpPr>
        <p:grpSpPr>
          <a:xfrm>
            <a:off x="533400" y="2754630"/>
            <a:ext cx="5410200" cy="1291590"/>
            <a:chOff x="533400" y="2754630"/>
            <a:chExt cx="5410200" cy="1291590"/>
          </a:xfrm>
        </p:grpSpPr>
        <p:sp>
          <p:nvSpPr>
            <p:cNvPr id="10" name="Rectangle 10"/>
            <p:cNvSpPr/>
            <p:nvPr/>
          </p:nvSpPr>
          <p:spPr>
            <a:xfrm>
              <a:off x="533400" y="2754630"/>
              <a:ext cx="5410200" cy="1291590"/>
            </a:xfrm>
            <a:prstGeom prst="roundRect">
              <a:avLst>
                <a:gd name="adj" fmla="val 103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887980"/>
              <a:ext cx="47625" cy="10248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2952750"/>
              <a:ext cx="132397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5603" y="2987040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(1.3.1) 向前差商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34"/>
                <p:cNvSpPr txBox="1">
                  <a:spLocks noGrp="1"/>
                </p:cNvSpPr>
                <p:nvPr/>
              </p:nvSpPr>
              <p:spPr>
                <a:xfrm>
                  <a:off x="769620" y="3289935"/>
                  <a:ext cx="49758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3"/>
          <p:cNvGrpSpPr/>
          <p:nvPr/>
        </p:nvGrpSpPr>
        <p:grpSpPr>
          <a:xfrm>
            <a:off x="533400" y="4226242"/>
            <a:ext cx="5410200" cy="1787842"/>
            <a:chOff x="533400" y="4226242"/>
            <a:chExt cx="5410200" cy="1787842"/>
          </a:xfrm>
        </p:grpSpPr>
        <p:sp>
          <p:nvSpPr>
            <p:cNvPr id="16" name="Rectangle 16"/>
            <p:cNvSpPr/>
            <p:nvPr/>
          </p:nvSpPr>
          <p:spPr>
            <a:xfrm>
              <a:off x="533400" y="4226242"/>
              <a:ext cx="5410200" cy="1787842"/>
            </a:xfrm>
            <a:prstGeom prst="roundRect">
              <a:avLst>
                <a:gd name="adj" fmla="val 7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359592"/>
              <a:ext cx="47625" cy="15211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4424362"/>
              <a:ext cx="132397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5603" y="4458652"/>
              <a:ext cx="1192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(1.3.2) 中心差商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35"/>
                <p:cNvSpPr txBox="1">
                  <a:spLocks noGrp="1"/>
                </p:cNvSpPr>
                <p:nvPr/>
              </p:nvSpPr>
              <p:spPr>
                <a:xfrm>
                  <a:off x="769620" y="4761548"/>
                  <a:ext cx="49758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2h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1"/>
          <p:cNvGrpSpPr/>
          <p:nvPr/>
        </p:nvGrpSpPr>
        <p:grpSpPr>
          <a:xfrm>
            <a:off x="6248400" y="1954530"/>
            <a:ext cx="5410200" cy="1886902"/>
            <a:chOff x="6248400" y="1954530"/>
            <a:chExt cx="5410200" cy="1886902"/>
          </a:xfrm>
        </p:grpSpPr>
        <p:sp>
          <p:nvSpPr>
            <p:cNvPr id="22" name="Rectangle 22"/>
            <p:cNvSpPr/>
            <p:nvPr/>
          </p:nvSpPr>
          <p:spPr>
            <a:xfrm>
              <a:off x="6248400" y="1954530"/>
              <a:ext cx="541020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208788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84620" y="2152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8059" y="2186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实验要求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84620" y="250126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2965" y="254065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5514" y="2513171"/>
              <a:ext cx="469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选择有代表性的函数 f(x)，分别用上面两种方法求导数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84620" y="2818448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2965" y="285878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5514" y="2831306"/>
              <a:ext cx="4382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对同样的步长 h，比较两种方法的精度，并解释原因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84620" y="313658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2965" y="31769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5514" y="3148489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对同一种方法，比较步长从 10⁻² 变到 10⁻¹⁴ 时精度的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变化，思考原因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4021455"/>
            <a:ext cx="5410200" cy="1992630"/>
            <a:chOff x="6248400" y="4021455"/>
            <a:chExt cx="5410200" cy="1992630"/>
          </a:xfrm>
        </p:grpSpPr>
        <p:sp>
          <p:nvSpPr>
            <p:cNvPr id="36" name="Rectangle 36"/>
            <p:cNvSpPr/>
            <p:nvPr/>
          </p:nvSpPr>
          <p:spPr>
            <a:xfrm>
              <a:off x="6248400" y="4021455"/>
              <a:ext cx="5410200" cy="1992630"/>
            </a:xfrm>
            <a:prstGeom prst="roundRect">
              <a:avLst>
                <a:gd name="adj" fmla="val 66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4154805"/>
              <a:ext cx="47625" cy="17259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84620" y="421957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6058" y="42538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原课件选的函数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formula136"/>
                <p:cNvSpPr txBox="1">
                  <a:spLocks noGrp="1"/>
                </p:cNvSpPr>
                <p:nvPr/>
              </p:nvSpPr>
              <p:spPr>
                <a:xfrm>
                  <a:off x="6484620" y="4556760"/>
                  <a:ext cx="497586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1" name="TextBox 41"/>
            <p:cNvSpPr txBox="1"/>
            <p:nvPr/>
          </p:nvSpPr>
          <p:spPr>
            <a:xfrm>
              <a:off x="6477381" y="5050631"/>
              <a:ext cx="46852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精确导数 f′(x) = 4x − 3 + cos x + eˣ，误差取 |近似值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f′(x)|。后面还要用到 f″(x) = 4 − sin x + eˣ，f‴(x) =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x + eˣ。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90985" cy="909257"/>
            <a:chOff x="520446" y="342900"/>
            <a:chExt cx="96909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90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实验2（2）：同一步长下中心差商准得多，因为截断误差高一阶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4173855"/>
            <a:chOff x="533400" y="1524000"/>
            <a:chExt cx="5193982" cy="4173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173855"/>
            </a:xfrm>
            <a:prstGeom prst="roundRect">
              <a:avLst>
                <a:gd name="adj" fmla="val 3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9071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泰勒展开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46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478250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f'''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51332" y="257556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(1.3.1)：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47"/>
                <p:cNvSpPr txBox="1">
                  <a:spLocks noGrp="1"/>
                </p:cNvSpPr>
                <p:nvPr/>
              </p:nvSpPr>
              <p:spPr>
                <a:xfrm>
                  <a:off x="758190" y="2853690"/>
                  <a:ext cx="478250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39756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(1.3.2)，偶次项相互抵消：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48"/>
                <p:cNvSpPr txBox="1">
                  <a:spLocks noGrp="1"/>
                </p:cNvSpPr>
                <p:nvPr/>
              </p:nvSpPr>
              <p:spPr>
                <a:xfrm>
                  <a:off x="758190" y="3674745"/>
                  <a:ext cx="478250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2h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f'''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O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2475" y="4214336"/>
              <a:ext cx="44564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前提：f 足够光滑，且 h 不太小，舍入误差可以忽略。第 (3) 问会看到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太小时前提不成立。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6027230" y="1524000"/>
            <a:ext cx="5631370" cy="3063906"/>
            <a:chOff x="6027230" y="1524000"/>
            <a:chExt cx="5631370" cy="3063906"/>
          </a:xfrm>
        </p:grpSpPr>
        <p:sp>
          <p:nvSpPr>
            <p:cNvPr id="18" name="Rectangle 18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6391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56868" y="1645444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(1.3.1) 误差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0798" y="1645444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h·f″/2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88613" y="1645444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(1.3.2) 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81513" y="1645444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h²·|f‴|/6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6847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0050" y="20454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2.5000×10⁻³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45922" y="20454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2.5000×10⁻³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4721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1.1×10⁻¹³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229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76847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0050" y="24455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2.5114×10⁻³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45922" y="24455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2.5114×10⁻³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94721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4.02×10⁻⁸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60593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4.02×10⁻⁸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76847" y="28455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80050" y="28455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2.5513×10⁻³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45922" y="28455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2.5512×10⁻³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94721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9.51×10⁻⁸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60593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9.51×10⁻⁸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76847" y="32456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0050" y="32456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2.6289×10⁻³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45922" y="32456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2.6287×10⁻³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4721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1.66×10⁻⁷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60593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1.66×10⁻⁷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35194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76847" y="36456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80050" y="36456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2.7543×10⁻³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045922" y="364569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2.7541×10⁻³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94721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2.55×10⁻⁷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60593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2.55×10⁻⁷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39195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32182" y="39243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76847" y="40457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80050" y="40457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2.9388×10⁻³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45922" y="4045744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2.9384×10⁻³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94721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3.63×10⁻⁷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60593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3.63×10⁻⁷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1524000"/>
              <a:ext cx="562641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9034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88384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12209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41558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27230" y="4397216"/>
              <a:ext cx="20877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 = 0.001 时的实测误差与主项估计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6032182" y="4719638"/>
            <a:ext cx="5626418" cy="978218"/>
            <a:chOff x="6032182" y="4719638"/>
            <a:chExt cx="5626418" cy="978218"/>
          </a:xfrm>
        </p:grpSpPr>
        <p:sp>
          <p:nvSpPr>
            <p:cNvPr id="69" name="Rectangle 69"/>
            <p:cNvSpPr/>
            <p:nvPr/>
          </p:nvSpPr>
          <p:spPr>
            <a:xfrm>
              <a:off x="6032182" y="4719638"/>
              <a:ext cx="562641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236970" y="5109210"/>
              <a:ext cx="200026" cy="200026"/>
              <a:chOff x="6236970" y="5109210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236970" y="5109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36983" y="5175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25870" y="5209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539674" y="4866322"/>
              <a:ext cx="45228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 1.3 中，(1.3.1) 的误差曲线在 0.0025～0.0029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之间，(1.3.2) 的曲线贴着 0 轴，与上表一致；两者相差约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10⁴ 倍。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8373"/>
              <a:ext cx="10236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向前差商误差与 h 同阶，中心差商与 h² 同阶；h = 10⁻³ 时后者小约 10³～10⁴ 倍。x = 0 处 f‴(0) = 0，中心差商的误差更小。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6778" cy="909257"/>
            <a:chOff x="520446" y="342900"/>
            <a:chExt cx="83667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67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实验2（3）：步长从 10⁻² 缩到 10⁻¹⁴，误差先降后升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33400" y="1524000"/>
            <a:ext cx="4652962" cy="4800600"/>
            <a:chOff x="533400" y="1524000"/>
            <a:chExt cx="4652962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65296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311" y="1645444"/>
              <a:ext cx="843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h（x₀ = 0）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98228" y="1645444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(1.3.1) 误差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3658" y="1645444"/>
              <a:ext cx="969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(1.3.2) 误差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4116" y="20454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04336" y="20454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98303" y="20454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1.67×10⁻¹⁰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4116" y="24455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04336" y="24455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2.50×10⁻³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0458" y="2333625"/>
              <a:ext cx="151638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8303" y="24455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1.10×10⁻¹³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193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44116" y="28455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04336" y="28455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98303" y="28455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2.33×10⁻¹²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194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1242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44116" y="32456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04336" y="32456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98303" y="324564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6.55×10⁻¹²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5194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44116" y="36456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04336" y="36456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2.50×10⁻⁶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8303" y="3645694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3.04×10⁻¹⁰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9195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9243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44116" y="404574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04336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2.46×10⁻⁷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39766" y="40457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2.80×10⁻⁹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3195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44116" y="444579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10⁻⁸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25028" y="4333875"/>
              <a:ext cx="151638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04336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6.08×10⁻⁹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39766" y="44457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6.08×10⁻⁹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7196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7244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1048" y="4845844"/>
              <a:ext cx="945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10⁻⁹～10⁻¹¹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04336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8.27×10⁻⁸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39766" y="48458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8.27×10⁻⁸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51196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00579" y="52458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10⁻¹²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04336" y="52458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8.89×10⁻⁵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39766" y="52458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8.89×10⁻⁵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51973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5524500"/>
              <a:ext cx="46529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00579" y="56459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10⁻¹³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504336" y="56459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3.64×10⁻³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039766" y="564594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7.99×10⁻⁴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5919788"/>
              <a:ext cx="4652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0579" y="60459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10⁻¹⁴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125028" y="5934075"/>
              <a:ext cx="151638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504336" y="60459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2.30×10⁻²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39766" y="604599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2.14×10⁻²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524000"/>
              <a:ext cx="4652962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211074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64617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4" name="c2-graph-1"/>
          <p:cNvGrpSpPr/>
          <p:nvPr/>
        </p:nvGrpSpPr>
        <p:grpSpPr>
          <a:xfrm>
            <a:off x="5880926" y="1637348"/>
            <a:ext cx="5764244" cy="3164204"/>
            <a:chOff x="5880926" y="1637348"/>
            <a:chExt cx="5764244" cy="3164204"/>
          </a:xfrm>
        </p:grpSpPr>
        <p:sp>
          <p:nvSpPr>
            <p:cNvPr id="66" name="Freeform 66"/>
            <p:cNvSpPr/>
            <p:nvPr/>
          </p:nvSpPr>
          <p:spPr>
            <a:xfrm>
              <a:off x="6303645" y="4179570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303645" y="3850958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303645" y="3522345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303645" y="3193732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303645" y="2866072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303645" y="2537460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303645" y="2208848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303645" y="1880235"/>
              <a:ext cx="5159692" cy="9525"/>
            </a:xfrm>
            <a:custGeom>
              <a:avLst/>
              <a:gdLst/>
              <a:ahLst/>
              <a:cxnLst/>
              <a:rect l="l" t="t" r="r" b="b"/>
              <a:pathLst>
                <a:path w="5159692" h="9525">
                  <a:moveTo>
                    <a:pt x="0" y="0"/>
                  </a:moveTo>
                  <a:lnTo>
                    <a:pt x="5159692" y="0"/>
                  </a:lnTo>
                </a:path>
              </a:pathLst>
            </a:custGeom>
            <a:noFill/>
            <a:ln w="9525">
              <a:solidFill>
                <a:srgbClr val="D9DFEA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6293168" y="1825942"/>
              <a:ext cx="5170170" cy="2353628"/>
            </a:xfrm>
            <a:custGeom>
              <a:avLst/>
              <a:gdLst/>
              <a:ahLst/>
              <a:cxnLst/>
              <a:rect l="l" t="t" r="r" b="b"/>
              <a:pathLst>
                <a:path w="5170170" h="2353628">
                  <a:moveTo>
                    <a:pt x="0" y="0"/>
                  </a:moveTo>
                  <a:lnTo>
                    <a:pt x="0" y="2353628"/>
                  </a:lnTo>
                  <a:lnTo>
                    <a:pt x="5170170" y="2353628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6293168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156132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8020050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8883015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9746932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609898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1473815" y="4190048"/>
              <a:ext cx="9525" cy="30480"/>
            </a:xfrm>
            <a:custGeom>
              <a:avLst/>
              <a:gdLst/>
              <a:ahLst/>
              <a:cxnLst/>
              <a:rect l="l" t="t" r="r" b="b"/>
              <a:pathLst>
                <a:path w="9525" h="30480">
                  <a:moveTo>
                    <a:pt x="0" y="0"/>
                  </a:moveTo>
                  <a:lnTo>
                    <a:pt x="0" y="3048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6334125" y="2158365"/>
              <a:ext cx="5097780" cy="1071563"/>
            </a:xfrm>
            <a:custGeom>
              <a:avLst/>
              <a:gdLst/>
              <a:ahLst/>
              <a:cxnLst/>
              <a:rect l="l" t="t" r="r" b="b"/>
              <a:pathLst>
                <a:path w="5097780" h="1071563">
                  <a:moveTo>
                    <a:pt x="0" y="0"/>
                  </a:moveTo>
                  <a:lnTo>
                    <a:pt x="390525" y="149543"/>
                  </a:lnTo>
                  <a:lnTo>
                    <a:pt x="822007" y="313373"/>
                  </a:lnTo>
                  <a:lnTo>
                    <a:pt x="1253490" y="478155"/>
                  </a:lnTo>
                  <a:lnTo>
                    <a:pt x="1685925" y="641985"/>
                  </a:lnTo>
                  <a:lnTo>
                    <a:pt x="2117407" y="807720"/>
                  </a:lnTo>
                  <a:lnTo>
                    <a:pt x="2548890" y="1071563"/>
                  </a:lnTo>
                  <a:lnTo>
                    <a:pt x="2980372" y="884872"/>
                  </a:lnTo>
                  <a:lnTo>
                    <a:pt x="3412807" y="884872"/>
                  </a:lnTo>
                  <a:lnTo>
                    <a:pt x="3844290" y="884872"/>
                  </a:lnTo>
                  <a:lnTo>
                    <a:pt x="4275773" y="386715"/>
                  </a:lnTo>
                  <a:lnTo>
                    <a:pt x="4707255" y="122873"/>
                  </a:lnTo>
                  <a:lnTo>
                    <a:pt x="5097780" y="381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6320790" y="2175510"/>
              <a:ext cx="5113972" cy="1832610"/>
            </a:xfrm>
            <a:custGeom>
              <a:avLst/>
              <a:gdLst/>
              <a:ahLst/>
              <a:cxnLst/>
              <a:rect l="l" t="t" r="r" b="b"/>
              <a:pathLst>
                <a:path w="5113972" h="1832610">
                  <a:moveTo>
                    <a:pt x="0" y="1344930"/>
                  </a:moveTo>
                  <a:lnTo>
                    <a:pt x="403860" y="1832610"/>
                  </a:lnTo>
                  <a:lnTo>
                    <a:pt x="835342" y="1615440"/>
                  </a:lnTo>
                  <a:lnTo>
                    <a:pt x="1266825" y="1541145"/>
                  </a:lnTo>
                  <a:lnTo>
                    <a:pt x="1699260" y="1267778"/>
                  </a:lnTo>
                  <a:lnTo>
                    <a:pt x="2130742" y="1109662"/>
                  </a:lnTo>
                  <a:lnTo>
                    <a:pt x="2562225" y="1054418"/>
                  </a:lnTo>
                  <a:lnTo>
                    <a:pt x="2993707" y="867728"/>
                  </a:lnTo>
                  <a:lnTo>
                    <a:pt x="3426142" y="867728"/>
                  </a:lnTo>
                  <a:lnTo>
                    <a:pt x="3857625" y="867728"/>
                  </a:lnTo>
                  <a:lnTo>
                    <a:pt x="4289108" y="369570"/>
                  </a:lnTo>
                  <a:lnTo>
                    <a:pt x="4720590" y="213360"/>
                  </a:lnTo>
                  <a:lnTo>
                    <a:pt x="5113972" y="0"/>
                  </a:lnTo>
                </a:path>
              </a:pathLst>
            </a:custGeom>
            <a:noFill/>
            <a:ln w="22860">
              <a:solidFill>
                <a:srgbClr val="2E7D4F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6292215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1472862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6292215" y="38500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1472862" y="385000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6292215" y="35213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1472862" y="352139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6292215" y="31927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11472862" y="319278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6292215" y="28651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11472862" y="2865120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6292215" y="25365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11472862" y="2536507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6292215" y="22078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11472862" y="2207895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6292215" y="18792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1472862" y="187928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6292215" y="181451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6292215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11472862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6292215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6292215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7155180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7155180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8019098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8019098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8882062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8882062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9745980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9745980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10608945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10608945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11472862" y="4178618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11472862" y="4230052"/>
              <a:ext cx="1905" cy="19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6258878" y="2108835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6690360" y="227361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7121842" y="24374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7553325" y="260223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7985760" y="276606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8417242" y="2931795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8848725" y="319563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9280208" y="30089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9712642" y="30089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10144125" y="30089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10575608" y="2510790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11007090" y="2246948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11439525" y="2115502"/>
              <a:ext cx="68580" cy="6858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6258878" y="345186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6690360" y="397383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7121842" y="375666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7553325" y="3682365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7985760" y="340899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8417242" y="3250882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8848725" y="319563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9280208" y="300894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9712642" y="300894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10144125" y="3008948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10575608" y="251079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11007090" y="2354580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11439525" y="2120265"/>
              <a:ext cx="68580" cy="6858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5880926" y="412813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10⁻¹⁴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5880926" y="3799523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10⁻¹²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5880926" y="347091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10⁻¹⁰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5947562" y="3142298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10⁻⁸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5947562" y="281368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5947562" y="2485073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5947562" y="215646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6014199" y="18288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10⁰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6155131" y="429577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7018096" y="429577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7882014" y="429577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8744979" y="4295775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10⁻⁸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9575578" y="429577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10⁻¹⁰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10438543" y="429577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10⁻¹²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1302460" y="4295775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10⁻¹⁴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8111928" y="4625340"/>
              <a:ext cx="15421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步长 h（向右减小），x₀ = 0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226492" y="1637348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误差（对数刻度）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9653307" y="3679984"/>
              <a:ext cx="1223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11081" indent="-111081">
                <a:buClr>
                  <a:srgbClr val="C2410C"/>
                </a:buClr>
                <a:buSzTx/>
                <a:buFontTx/>
                <a:buChar char="●"/>
              </a:pPr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向前差商 (1.3.1)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9653307" y="3910489"/>
              <a:ext cx="12235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marL="111081" indent="-111081">
                <a:buClr>
                  <a:srgbClr val="2E7D4F"/>
                </a:buClr>
                <a:buSzTx/>
                <a:buFontTx/>
                <a:buChar char="●"/>
              </a:pPr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中心差商 (1.3.2)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219379" y="198024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截断误差主导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9508236" y="198024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舍入误差主导</a:t>
              </a:r>
            </a:p>
          </p:txBody>
        </p:sp>
      </p:grpSp>
      <p:grpSp>
        <p:nvGrpSpPr>
          <p:cNvPr id="166" name="c2-text-2"/>
          <p:cNvGrpSpPr/>
          <p:nvPr/>
        </p:nvGrpSpPr>
        <p:grpSpPr>
          <a:xfrm>
            <a:off x="5485448" y="4950619"/>
            <a:ext cx="6102716" cy="220028"/>
            <a:chOff x="5485448" y="4950619"/>
            <a:chExt cx="6102716" cy="220028"/>
          </a:xfrm>
        </p:grpSpPr>
        <p:sp>
          <p:nvSpPr>
            <p:cNvPr id="165" name="TextBox 165"/>
            <p:cNvSpPr txBox="1"/>
            <p:nvPr/>
          </p:nvSpPr>
          <p:spPr>
            <a:xfrm>
              <a:off x="5485448" y="4950619"/>
              <a:ext cx="6102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原课件的图只画 (1.3.1)、纵轴线性：两端约 0.025 和 0.023，中间贴近 0，与左表一致。</a:t>
              </a:r>
            </a:p>
          </p:txBody>
        </p:sp>
      </p:grpSp>
      <p:grpSp>
        <p:nvGrpSpPr>
          <p:cNvPr id="173" name="c2-callout-3"/>
          <p:cNvGrpSpPr/>
          <p:nvPr/>
        </p:nvGrpSpPr>
        <p:grpSpPr>
          <a:xfrm>
            <a:off x="5491162" y="5296852"/>
            <a:ext cx="6167438" cy="978218"/>
            <a:chOff x="5491162" y="5296852"/>
            <a:chExt cx="6167438" cy="978218"/>
          </a:xfrm>
        </p:grpSpPr>
        <p:sp>
          <p:nvSpPr>
            <p:cNvPr id="167" name="Rectangle 167"/>
            <p:cNvSpPr/>
            <p:nvPr/>
          </p:nvSpPr>
          <p:spPr>
            <a:xfrm>
              <a:off x="5491162" y="5296852"/>
              <a:ext cx="616743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1" name="Group 171"/>
            <p:cNvGrpSpPr/>
            <p:nvPr/>
          </p:nvGrpSpPr>
          <p:grpSpPr>
            <a:xfrm>
              <a:off x="5695950" y="5685473"/>
              <a:ext cx="200026" cy="200026"/>
              <a:chOff x="5695950" y="5685473"/>
              <a:chExt cx="200026" cy="200026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5695950" y="56854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9" name="Freeform 169"/>
              <p:cNvSpPr/>
              <p:nvPr/>
            </p:nvSpPr>
            <p:spPr>
              <a:xfrm>
                <a:off x="5795963" y="5752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5784850" y="57854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2" name="TextBox 172"/>
            <p:cNvSpPr txBox="1"/>
            <p:nvPr/>
          </p:nvSpPr>
          <p:spPr>
            <a:xfrm>
              <a:off x="5998654" y="5442585"/>
              <a:ext cx="52086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0 处 f‴(0) = 0，中心差商的截断误差主项变为 h⁴f⁽⁵⁾(0)/120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h⁴/60：h = 10⁻² 时约 1.67×10⁻¹⁰，所以它在 h = 10⁻³ 就已接近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舍入误差的水平。</a:t>
              </a:r>
            </a:p>
          </p:txBody>
        </p:sp>
      </p:grpSp>
      <p:grpSp>
        <p:nvGrpSpPr>
          <p:cNvPr id="1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4" name="TextBox 174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3603" cy="909257"/>
            <a:chOff x="520446" y="342900"/>
            <a:chExt cx="88036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36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实验2（3）分析：截断误差随 h 减小，舍入误差随 h 增大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4065270"/>
            <a:chOff x="533400" y="1524000"/>
            <a:chExt cx="5626418" cy="40652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65270"/>
            </a:xfrm>
            <a:prstGeom prst="roundRect">
              <a:avLst>
                <a:gd name="adj" fmla="val 3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79857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998345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5347" y="1756410"/>
              <a:ext cx="1906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总误差 = 截断误差 + 舍入误差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6401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f 值的舍入误差不超过 δ（双精度下 δ ≈ 2.2×10⁻¹⁶×|f|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1.1×10⁻¹⁵），M₂ = |f″(0)| = 5，向前差商的总误差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3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519207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2δ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77240" y="336137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3301841"/>
              <a:ext cx="2662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第一项是截断误差，h 越小越小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6795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619024"/>
              <a:ext cx="43442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第二项来自分子中两个相近数相减，2δ 被 1/h 放大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381" y="3937159"/>
              <a:ext cx="1389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E′(h) = 0 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formula154"/>
                <p:cNvSpPr txBox="1">
                  <a:spLocks noGrp="1"/>
                </p:cNvSpPr>
                <p:nvPr/>
              </p:nvSpPr>
              <p:spPr>
                <a:xfrm>
                  <a:off x="769620" y="4231005"/>
                  <a:ext cx="519207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opt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min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1.5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2-table-1"/>
          <p:cNvGrpSpPr/>
          <p:nvPr/>
        </p:nvGrpSpPr>
        <p:grpSpPr>
          <a:xfrm>
            <a:off x="6459284" y="1524000"/>
            <a:ext cx="5199316" cy="2404682"/>
            <a:chOff x="6459284" y="1524000"/>
            <a:chExt cx="5199316" cy="2404682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7230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901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主导误差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9270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9905" y="2183130"/>
              <a:ext cx="920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10⁻²～10⁻⁷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0558" y="21831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64574" y="2076450"/>
              <a:ext cx="2130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 ≈ 2.5h，h 缩小 10 倍误差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也缩小 10 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5812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2586038"/>
              <a:ext cx="519398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1046" y="2821305"/>
              <a:ext cx="597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10⁻⁸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9014" y="28213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两者相当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64574" y="2714625"/>
              <a:ext cx="21000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误差最小，实测 6.1×10⁻⁹，低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于上界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32194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0274" y="3352800"/>
              <a:ext cx="759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10⁻⁹ 以下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0558" y="3352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64574" y="3352800"/>
              <a:ext cx="2184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10⁻¹⁴ 时回升到 2.3×10⁻²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10500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057322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9284" y="372332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向前差商误差曲线的三段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4067175"/>
            <a:ext cx="5193982" cy="1522095"/>
            <a:chOff x="6464618" y="4067175"/>
            <a:chExt cx="5193982" cy="1522095"/>
          </a:xfrm>
        </p:grpSpPr>
        <p:sp>
          <p:nvSpPr>
            <p:cNvPr id="41" name="Rectangle 41"/>
            <p:cNvSpPr/>
            <p:nvPr/>
          </p:nvSpPr>
          <p:spPr>
            <a:xfrm>
              <a:off x="6464618" y="4067175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420052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00838" y="42652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4277" y="42995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中心差商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93598" y="4625816"/>
              <a:ext cx="438772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E(h) ≤ h²M₃/6 + δ/h，最佳步长约 ∛(3δ/M₃)。在 x₀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处（M₃ = |f‴(1)| ≈ 2.18）约 1.3×10⁻⁵；实测 h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 时误差最小，为 7.1×10⁻¹¹。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7" name="Rectangle 4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11704"/>
              <a:ext cx="8349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步长不是越小越好：向前差商取 h 约 10⁻⁸，中心差商取 h 约 10⁻⁵ 量级，再小舍入误差就占主导。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76169" cy="909257"/>
            <a:chOff x="520446" y="342900"/>
            <a:chExt cx="28761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28725"/>
            <a:chOff x="533400" y="1524000"/>
            <a:chExt cx="5410200" cy="12287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756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四舍五入得到的 0.0340 有几位有效数字？误差限是多少？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702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位；误差限 0.5×10⁻⁴，相对误差限约 1.47×10⁻³。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22270"/>
            <a:ext cx="5410200" cy="1228725"/>
            <a:chOff x="533400" y="2922270"/>
            <a:chExt cx="5410200" cy="1228725"/>
          </a:xfrm>
        </p:grpSpPr>
        <p:sp>
          <p:nvSpPr>
            <p:cNvPr id="13" name="Rectangle 13"/>
            <p:cNvSpPr/>
            <p:nvPr/>
          </p:nvSpPr>
          <p:spPr>
            <a:xfrm>
              <a:off x="533400" y="292227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1089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1418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453765"/>
              <a:ext cx="4594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列主元法第 k 步在哪些元素中选主元？右端要一起换吗？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3753802"/>
              <a:ext cx="4975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aₖₖ, …, aₙₖ 中选绝对值最大者；右端 b 随行一起换。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21492"/>
            <a:ext cx="5410200" cy="1743075"/>
            <a:chOff x="533400" y="4321492"/>
            <a:chExt cx="5410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533400" y="4321492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45081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45410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4852035"/>
              <a:ext cx="4430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谱半径为 0.5 时，约迭代多少次误差缩小到 10⁻⁶ 倍？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152073"/>
              <a:ext cx="432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0.5ᵏ ≤ 10⁻⁶ 得 k ≥ 6/lg2 ≈ 19.9，约 20 次。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759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怎样计算 √1001 − √1000 才不损失有效数字？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改写为 1/(√1001 + √1000) ≈ 0.0158074，避开相近数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228725"/>
            <a:chOff x="6248400" y="3179445"/>
            <a:chExt cx="5410200" cy="1228725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3721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[3 1; 0 2]，求 ‖A‖∞、‖A‖₁ 和 ρ(A)。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5039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‖A‖∞ = 4，‖A‖₁ = 3；特征值为对角元 3、2，ρ(A) = 3。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578668"/>
            <a:ext cx="5410200" cy="1485900"/>
            <a:chOff x="6248400" y="4578668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578668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476535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479821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109210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双精度下向前差商取 h = 10⁻¹⁴ 为什么反而不准？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409248"/>
              <a:ext cx="46685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分子是两个极接近的数相减，舍入误差被很小的 h 除后放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大，超过截断误差。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876169" cy="909257"/>
            <a:chOff x="520446" y="342900"/>
            <a:chExt cx="28761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6321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099" y="407194"/>
              <a:ext cx="276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第1–2章 作业讲解 · 舍入误差与截断误差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6492240" cy="4488180"/>
            <a:chOff x="533400" y="1524000"/>
            <a:chExt cx="6492240" cy="4488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84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445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781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8736" y="2108359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9940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误差限是最后一位的半个单位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90426" y="2108359"/>
              <a:ext cx="1132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5、2、4、1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8736" y="2556986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9940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避免相近数相减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7803" y="2556986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6.0919×10⁻⁴ 最准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8736" y="3005614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940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|x*| 的上下界分别代入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9652" y="30056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1.1 两个方向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8464" y="3454241"/>
              <a:ext cx="777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Doolittle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9940" y="3454241"/>
              <a:ext cx="1583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 U、一列 L 交替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52575" y="3454241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 1, 1, 1)ᵀ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2335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9940" y="390382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每列选绝对值最大者换行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52575" y="3903821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(1, 1, 1, 1)ᵀ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2335" y="435244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9940" y="4352449"/>
              <a:ext cx="173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行和、列和、√ρ(AᵀA)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61191" y="435244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5、5、1 + √10、3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66058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2335" y="48010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09940" y="480107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严格对角占优，两法都收敛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25809" y="4801076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(1, 1, 1)ᵀ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101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1492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6178" y="52497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收敛范围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09940" y="5249704"/>
              <a:ext cx="12945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ρ(H) = √3|a| &lt; 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62740" y="5249704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|a| &lt; √3/3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5587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824" y="5698331"/>
              <a:ext cx="7289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实验1、2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09940" y="56983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舍入误差与截断误差的权衡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199962" y="5698331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2⁻⁵⁴；h 约 10⁻⁸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6492240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697355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68344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1"/>
          <p:cNvGrpSpPr/>
          <p:nvPr/>
        </p:nvGrpSpPr>
        <p:grpSpPr>
          <a:xfrm>
            <a:off x="7330440" y="1524000"/>
            <a:ext cx="4328160" cy="2607945"/>
            <a:chOff x="7330440" y="1524000"/>
            <a:chExt cx="4328160" cy="2607945"/>
          </a:xfrm>
        </p:grpSpPr>
        <p:sp>
          <p:nvSpPr>
            <p:cNvPr id="54" name="Rectangle 54"/>
            <p:cNvSpPr/>
            <p:nvPr/>
          </p:nvSpPr>
          <p:spPr>
            <a:xfrm>
              <a:off x="7330440" y="1524000"/>
              <a:ext cx="4328160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3996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7809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34796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41920" y="2110740"/>
              <a:ext cx="3320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列主元：第 1 步第 3 行右端 13/3 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14/3，第 3 步第 4 行 −1/3 应为 −1/15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583805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41920" y="2731770"/>
              <a:ext cx="305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范数题：AᵀA 的两个因子次序写反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83805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1920" y="3067050"/>
              <a:ext cx="3129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迭代题：Jacobi 的 x⁽¹⁾、x⁽²⁾ 实为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x⁽²⁾、x⁽³⁾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83805" y="375094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41920" y="3688080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收敛范围题：λ³ − 3λa 应为 λ³ − 3a²λ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7330440" y="4322445"/>
            <a:ext cx="4328160" cy="1937385"/>
            <a:chOff x="7330440" y="4322445"/>
            <a:chExt cx="4328160" cy="1937385"/>
          </a:xfrm>
        </p:grpSpPr>
        <p:sp>
          <p:nvSpPr>
            <p:cNvPr id="67" name="Rectangle 67"/>
            <p:cNvSpPr/>
            <p:nvPr/>
          </p:nvSpPr>
          <p:spPr>
            <a:xfrm>
              <a:off x="7330440" y="4322445"/>
              <a:ext cx="432816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339965" y="445579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78090" y="453199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55496" y="45677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本讲义补写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583805" y="497205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41920" y="4909185"/>
              <a:ext cx="3463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习题1 和定理 1.1 证明的完整解答（原课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件为空白页）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583805" y="559308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741920" y="5530215"/>
              <a:ext cx="3415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习题2 的误差分析、迭代停止准则、实验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的结果与原因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339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第1–2章 作业与实验讲解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hw12">
  <a:themeElements>
    <a:clrScheme name="numa_hw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hw1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hw1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2026-09-17T09:23:00Z</dcterms:created>
  <dcterms:modified xsi:type="dcterms:W3CDTF">2026-09-17T09:23:00Z</dcterms:modified>
  <cp:category/>
  <cp:contentStatus/>
</cp:coreProperties>
</file>