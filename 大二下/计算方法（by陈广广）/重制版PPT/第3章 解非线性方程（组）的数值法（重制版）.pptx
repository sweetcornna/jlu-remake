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2d934a7dfab5ca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5d057b1e87dee8c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e6eed60d610dcd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72100" cy="4077843"/>
            <a:chOff x="666750" y="1619250"/>
            <a:chExt cx="537210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72100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解非线性方程（组）的</a:t>
              </a:r>
              <a:br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45825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二分法、不动点迭代、Newton 法与割线法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3.1–3.2 问题与重根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3.3 二分法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3.4 不动点迭代与收敛阶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653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3.5–3.6 Newton 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自学复习版｜据吉林大学《计算方法》第三章课件整理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引入：开方公式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预报校正思想，例 3.1 求 √90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非线性方程（组）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代数方程与超越方程、方程组记号、m 重根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有根区间、算法、误差与二分次数、例 3.3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0192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迭代格式、几何解释、定理 3.1 与误差估计、收敛阶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220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法与割线法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切线法、平方收敛、初值选择、用差商代替导数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0926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方程组的 Newton 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798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Jacobi 矩阵、Newton 方程、例 3.8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用二分法求根，并算出满足精度所需的二分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构造迭代函数，用定理 3.1 判断收敛并估计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迭代次数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根据误差比值或 φ′(x*) 判断迭代法的收敛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Newton 法和割线法的迭代公式并列表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187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写出方程组的 Jacobi 矩阵，完成一步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迭代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357622" cy="2643187"/>
            <a:chOff x="667512" y="1835468"/>
            <a:chExt cx="5357622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3.1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引入：开方公式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古巴比伦人造平方根表时，面对的就是一个非线性方程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98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 − a = 0 的预报校正思路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3.1 用开方公式求 √90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3917" cy="909257"/>
            <a:chOff x="520446" y="342900"/>
            <a:chExt cx="67439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引入：开方公式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39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预报校正：把 x² = a 线性化，得到开方公式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735002" cy="1522095"/>
            <a:chOff x="533400" y="1524000"/>
            <a:chExt cx="5735002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0008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√4 = 2、√81 = 9、√100 = 10 可以直接写出，√90 = ? 求 a &gt;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的平方根，就是解非线性方程 x² − a = 0，初等方法不好直接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236595"/>
            <a:ext cx="5631180" cy="2002536"/>
            <a:chOff x="533400" y="3236595"/>
            <a:chExt cx="5631180" cy="2002536"/>
          </a:xfrm>
        </p:grpSpPr>
        <p:sp>
          <p:nvSpPr>
            <p:cNvPr id="13" name="Rectangle 13"/>
            <p:cNvSpPr/>
            <p:nvPr/>
          </p:nvSpPr>
          <p:spPr>
            <a:xfrm>
              <a:off x="666750" y="337947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23659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10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528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26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6910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764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269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549968"/>
              <a:ext cx="5218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给定预报值 x₀，找校正量 Δx，使 x₁ = x₀ + Δx 近似满足 (x₀ + Δx)² ≈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88572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166235"/>
              <a:ext cx="4949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展开得 x₀² + 2x₀Δx + Δx² ≈ a。Δx 是小量，舍去 Δx²，得到关于 Δx 的一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次方程，Δx ≈ (a − x₀²)/(2x₀)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72392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5004435"/>
              <a:ext cx="4443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Δx 代回 x₁ = x₀ + Δx，再把 x₁ 当作新的预报值，反复进行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7"/>
              <p:cNvSpPr txBox="1">
                <a:spLocks noGrp="1"/>
              </p:cNvSpPr>
              <p:nvPr/>
            </p:nvSpPr>
            <p:spPr>
              <a:xfrm>
                <a:off x="533400" y="5410200"/>
                <a:ext cx="573500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num>
                            <m:den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rd-1"/>
          <p:cNvGrpSpPr/>
          <p:nvPr/>
        </p:nvGrpSpPr>
        <p:grpSpPr>
          <a:xfrm>
            <a:off x="6573202" y="1524000"/>
            <a:ext cx="5085398" cy="1957388"/>
            <a:chOff x="6573202" y="1524000"/>
            <a:chExt cx="5085398" cy="1957388"/>
          </a:xfrm>
        </p:grpSpPr>
        <p:sp>
          <p:nvSpPr>
            <p:cNvPr id="28" name="Rectangle 28"/>
            <p:cNvSpPr/>
            <p:nvPr/>
          </p:nvSpPr>
          <p:spPr>
            <a:xfrm>
              <a:off x="6573202" y="1524000"/>
              <a:ext cx="5085398" cy="1957388"/>
            </a:xfrm>
            <a:prstGeom prst="roundRect">
              <a:avLst>
                <a:gd name="adj" fmla="val 681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71322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4762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开方公式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8"/>
                <p:cNvSpPr txBox="1">
                  <a:spLocks noGrp="1"/>
                </p:cNvSpPr>
                <p:nvPr/>
              </p:nvSpPr>
              <p:spPr>
                <a:xfrm>
                  <a:off x="6771322" y="2059305"/>
                  <a:ext cx="468915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764084" y="2789396"/>
              <a:ext cx="44147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从任意 x₀ &gt; 0 出发反复迭代，可以得到满足精度要求的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平方根近似值。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573202" y="3662362"/>
            <a:ext cx="5085398" cy="2339340"/>
            <a:chOff x="6573202" y="3662362"/>
            <a:chExt cx="5085398" cy="2339340"/>
          </a:xfrm>
        </p:grpSpPr>
        <p:sp>
          <p:nvSpPr>
            <p:cNvPr id="34" name="Rectangle 34"/>
            <p:cNvSpPr/>
            <p:nvPr/>
          </p:nvSpPr>
          <p:spPr>
            <a:xfrm>
              <a:off x="6573202" y="3662362"/>
              <a:ext cx="5085398" cy="2339340"/>
            </a:xfrm>
            <a:prstGeom prst="roundRect">
              <a:avLst>
                <a:gd name="adj" fmla="val 57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82728" y="3795712"/>
              <a:ext cx="47625" cy="20726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09422" y="38604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00862" y="38947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92734" y="389524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为什么收敛得这么快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9"/>
                <p:cNvSpPr txBox="1">
                  <a:spLocks noGrp="1"/>
                </p:cNvSpPr>
                <p:nvPr/>
              </p:nvSpPr>
              <p:spPr>
                <a:xfrm>
                  <a:off x="6809422" y="4214812"/>
                  <a:ext cx="465105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Ellipse 40"/>
            <p:cNvSpPr/>
            <p:nvPr/>
          </p:nvSpPr>
          <p:spPr>
            <a:xfrm>
              <a:off x="6817042" y="49796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73634" y="4920139"/>
              <a:ext cx="3187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≥ 1 时 xₖ ≥ √a，序列单调下降到 √a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17042" y="52978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73634" y="5237321"/>
              <a:ext cx="4401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新误差与旧误差的平方成正比，3.4 节称为平方收敛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03326" y="5551170"/>
              <a:ext cx="4347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3.5 节会看到，这就是 f(x) = x² − a 的 Newton 迭代公式。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16981" cy="909257"/>
            <a:chOff x="520446" y="342900"/>
            <a:chExt cx="6216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引入：开方公式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16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3.1 用开方公式求 √90，误差到 10⁻⁶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28050" cy="264033"/>
            <a:chOff x="526542" y="1545907"/>
            <a:chExt cx="862805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28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分别取 x₀ = 9 和 x₀ = 20，按 xₖ₊₁ = (xₖ + 90/xₖ)/2 迭代。表中误差为 |xₖ − √90|，√90 = 9.486832980…</a:t>
              </a:r>
            </a:p>
          </p:txBody>
        </p:sp>
      </p:grpSp>
      <p:grpSp>
        <p:nvGrpSpPr>
          <p:cNvPr id="61" name="c1-table-1"/>
          <p:cNvGrpSpPr/>
          <p:nvPr/>
        </p:nvGrpSpPr>
        <p:grpSpPr>
          <a:xfrm>
            <a:off x="528447" y="1928812"/>
            <a:ext cx="6172391" cy="3063907"/>
            <a:chOff x="528447" y="1928812"/>
            <a:chExt cx="6172391" cy="30639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57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0024" y="2050256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6581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8258" y="2050256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20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5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657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39959" y="2450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9.000000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84889" y="2450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4.9×10⁻¹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0266" y="245030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20.000000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99079" y="24503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241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28912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6574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39959" y="28503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9.500000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4889" y="28503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1.3×10⁻²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30266" y="28503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12.250000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64931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242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6574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39959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9.486842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84889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9.1×10⁻⁶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71729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9.798469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7616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3.1×10⁻¹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242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529012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574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246822" y="3538538"/>
              <a:ext cx="126015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39959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9.486833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3426" y="36504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4.4×10⁻¹²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71729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9.491789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7616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5.0×10⁻³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9243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657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39959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9.486833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11050" y="405050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1729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9.486834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57616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1.3×10⁻⁶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3243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4329112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6574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39959" y="4450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9.486833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11050" y="445055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37635" y="4338638"/>
              <a:ext cx="134207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71729" y="4450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9.486833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6153" y="44505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8.9×10⁻¹⁴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928812"/>
              <a:ext cx="616743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3253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51174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92334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28447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447" y="4802029"/>
              <a:ext cx="42711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绿色格为误差首次小于 10⁻⁶ 的一步；“≈ 0”表示已在双精度舍入误差以内</a:t>
              </a:r>
            </a:p>
          </p:txBody>
        </p:sp>
      </p:grpSp>
      <p:grpSp>
        <p:nvGrpSpPr>
          <p:cNvPr id="66" name="c1-card-2"/>
          <p:cNvGrpSpPr/>
          <p:nvPr/>
        </p:nvGrpSpPr>
        <p:grpSpPr>
          <a:xfrm>
            <a:off x="533400" y="5124450"/>
            <a:ext cx="6167438" cy="1175385"/>
            <a:chOff x="533400" y="5124450"/>
            <a:chExt cx="6167438" cy="1175385"/>
          </a:xfrm>
        </p:grpSpPr>
        <p:sp>
          <p:nvSpPr>
            <p:cNvPr id="62" name="Rectangle 62"/>
            <p:cNvSpPr/>
            <p:nvPr/>
          </p:nvSpPr>
          <p:spPr>
            <a:xfrm>
              <a:off x="533400" y="5124450"/>
              <a:ext cx="6167438" cy="1175385"/>
            </a:xfrm>
            <a:prstGeom prst="roundRect">
              <a:avLst>
                <a:gd name="adj" fmla="val 113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0090" y="531114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9158" y="534400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用上一页的误差公式核对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formula13"/>
                <p:cNvSpPr txBox="1">
                  <a:spLocks noGrp="1"/>
                </p:cNvSpPr>
                <p:nvPr/>
              </p:nvSpPr>
              <p:spPr>
                <a:xfrm>
                  <a:off x="720090" y="5633085"/>
                  <a:ext cx="579405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90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0.01316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9.5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9.12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76" name="c2-steps-1"/>
          <p:cNvGrpSpPr/>
          <p:nvPr/>
        </p:nvGrpSpPr>
        <p:grpSpPr>
          <a:xfrm>
            <a:off x="7005638" y="1938338"/>
            <a:ext cx="4243958" cy="1516855"/>
            <a:chOff x="7005638" y="1938338"/>
            <a:chExt cx="4243958" cy="1516855"/>
          </a:xfrm>
        </p:grpSpPr>
        <p:sp>
          <p:nvSpPr>
            <p:cNvPr id="67" name="Rectangle 67"/>
            <p:cNvSpPr/>
            <p:nvPr/>
          </p:nvSpPr>
          <p:spPr>
            <a:xfrm>
              <a:off x="7138988" y="2081212"/>
              <a:ext cx="19050" cy="7896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7005638" y="19383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9926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05638" y="27279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99261" y="2801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7880" y="1969770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19022" y="2237899"/>
              <a:ext cx="35176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(9 + 90/9)/2 = 9.5；x₂ = (9.5 + 9.473684)/2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9.486842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17880" y="2760345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20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19022" y="3027521"/>
              <a:ext cx="3830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(20 + 4.5)/2 = 12.25；x₂ = (12.25 + 7.346939)/2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9.798469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7005638" y="3618548"/>
            <a:ext cx="4652962" cy="729615"/>
            <a:chOff x="7005638" y="3618548"/>
            <a:chExt cx="4652962" cy="729615"/>
          </a:xfrm>
        </p:grpSpPr>
        <p:sp>
          <p:nvSpPr>
            <p:cNvPr id="77" name="Rectangle 77"/>
            <p:cNvSpPr/>
            <p:nvPr/>
          </p:nvSpPr>
          <p:spPr>
            <a:xfrm>
              <a:off x="7005638" y="3618548"/>
              <a:ext cx="465296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210425" y="3883343"/>
              <a:ext cx="200026" cy="200026"/>
              <a:chOff x="7210425" y="3883343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210425" y="38833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77100" y="39611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513130" y="3764280"/>
              <a:ext cx="34855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误差小于 10⁻⁶：x₀ = 9 需 3 步，x₀ = 20 需 5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步。初值离根越近，步数越少。</a:t>
              </a:r>
            </a:p>
          </p:txBody>
        </p:sp>
      </p:grpSp>
      <p:grpSp>
        <p:nvGrpSpPr>
          <p:cNvPr id="91" name="c2-card-3"/>
          <p:cNvGrpSpPr/>
          <p:nvPr/>
        </p:nvGrpSpPr>
        <p:grpSpPr>
          <a:xfrm>
            <a:off x="7005638" y="4517708"/>
            <a:ext cx="4652962" cy="1781175"/>
            <a:chOff x="7005638" y="4517708"/>
            <a:chExt cx="4652962" cy="1781175"/>
          </a:xfrm>
        </p:grpSpPr>
        <p:sp>
          <p:nvSpPr>
            <p:cNvPr id="83" name="Rectangle 83"/>
            <p:cNvSpPr/>
            <p:nvPr/>
          </p:nvSpPr>
          <p:spPr>
            <a:xfrm>
              <a:off x="7005638" y="4517708"/>
              <a:ext cx="4652962" cy="1781175"/>
            </a:xfrm>
            <a:prstGeom prst="roundRect">
              <a:avLst>
                <a:gd name="adj" fmla="val 7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7015162" y="4651058"/>
              <a:ext cx="47625" cy="15144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230428" y="47043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323099" y="47372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239000" y="51054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395020" y="5049202"/>
              <a:ext cx="33912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误差大致按平方缩小：9.1×10⁻⁶ 的下一步是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4.4×10⁻¹²，有效数字每步约翻一倍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239000" y="566261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95020" y="5606415"/>
              <a:ext cx="37770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实际计算时不知道 √90，用 |xₖ₊₁ − xₖ| &lt; 10⁻⁶ 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为停止条件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3.2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非线性方程（组）问题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先弄清要解的是什么：方程的分类、方程组的记号、根的重数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3.2 解的个数与性质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代数方程、超越方程与方程组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 3.1 m 重根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2529" cy="909257"/>
            <a:chOff x="520446" y="342900"/>
            <a:chExt cx="7702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非线性方程（组）问题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2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3.2 三个非线性方程：解的个数和性质各不相同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11125200" cy="2360295"/>
            <a:chOff x="533400" y="1524000"/>
            <a:chExt cx="11125200" cy="2360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6004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091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847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eˣ + 1 =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26493" y="21197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76491" y="2119789"/>
              <a:ext cx="1859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eˣ &gt; 0，左边恒大于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582704"/>
              <a:ext cx="387736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x⁶ − 2x⁵ − 8x⁴ + 14x³ + 11x² − 28x + 12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6824" y="2709386"/>
              <a:ext cx="1084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3, −2,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76491" y="2582704"/>
              <a:ext cx="437870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3 是单根，x = −2 是二重根，x = 1 是三重根；区间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只要包含 [−2, 3]，根的个数和性质就不变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62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425666"/>
              <a:ext cx="1248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cos x =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86824" y="3425666"/>
              <a:ext cx="1084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π/2 + kπ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6491" y="3298984"/>
              <a:ext cx="43426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整个实数轴上有无穷多个根；所取区间不同，根的个数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97871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70382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4064318"/>
            <a:ext cx="11125200" cy="1468755"/>
            <a:chOff x="533400" y="4064318"/>
            <a:chExt cx="11125200" cy="1468755"/>
          </a:xfrm>
        </p:grpSpPr>
        <p:sp>
          <p:nvSpPr>
            <p:cNvPr id="27" name="Rectangle 27"/>
            <p:cNvSpPr/>
            <p:nvPr/>
          </p:nvSpPr>
          <p:spPr>
            <a:xfrm>
              <a:off x="533400" y="4064318"/>
              <a:ext cx="11125200" cy="1468755"/>
            </a:xfrm>
            <a:prstGeom prst="roundRect">
              <a:avLst>
                <a:gd name="adj" fmla="val 90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1520" y="4262438"/>
              <a:ext cx="14582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3149" y="4296728"/>
              <a:ext cx="1334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方程 (2) 的因式分解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6"/>
                <p:cNvSpPr txBox="1">
                  <a:spLocks noGrp="1"/>
                </p:cNvSpPr>
                <p:nvPr/>
              </p:nvSpPr>
              <p:spPr>
                <a:xfrm>
                  <a:off x="731520" y="4599622"/>
                  <a:ext cx="107289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14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28x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725424" y="5147310"/>
              <a:ext cx="4842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因子 (x + 2) 出现 2 次、(x − 1) 出现 3 次，对应二重根和三重根。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3" name="Rectangle 3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601170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讨论非线性方程时要先指定自变量的范围（定义域），通常求的是某个区间内的根。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31838" cy="909257"/>
            <a:chOff x="520446" y="342900"/>
            <a:chExt cx="67318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非线性方程（组）问题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318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代数方程与超越方程；方程组写成 F(x) =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3083242"/>
            <a:chOff x="533400" y="1524000"/>
            <a:chExt cx="5410200" cy="30832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083242"/>
            </a:xfrm>
            <a:prstGeom prst="roundRect">
              <a:avLst>
                <a:gd name="adj" fmla="val 43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165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4781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324" y="1769269"/>
              <a:ext cx="1430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非线性方程 f(x) = 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f(x) = 0 的根，f(x) 是非线性函数；方程的根也叫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 f(x) 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922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代数方程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：f(x) 是多项式，n 次代数方程为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0"/>
                <p:cNvSpPr txBox="1">
                  <a:spLocks noGrp="1"/>
                </p:cNvSpPr>
                <p:nvPr/>
              </p:nvSpPr>
              <p:spPr>
                <a:xfrm>
                  <a:off x="781050" y="304228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4573" y="3578066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&gt; 1 时方程是非线性的。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940493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877628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超越方程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：f(x) 不是多项式，如三角方程、指数方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程、对数方程，例如 sin x − x²/4 = 0、x eˣ − 1 = 0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797742"/>
            <a:ext cx="5410200" cy="1059180"/>
            <a:chOff x="533400" y="4797742"/>
            <a:chExt cx="5410200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479774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227320"/>
              <a:ext cx="200026" cy="200026"/>
              <a:chOff x="738188" y="522732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27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293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327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946332"/>
              <a:ext cx="43681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次以上的代数方程和超越方程一般很难甚至无法求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出精确解（5 次及以上代数方程没有通用的根式求解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公式），本章讲求近似根的数值方法。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4332922"/>
            <a:chOff x="6248400" y="1524000"/>
            <a:chExt cx="5410200" cy="433292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4332922"/>
            </a:xfrm>
            <a:prstGeom prst="roundRect">
              <a:avLst>
                <a:gd name="adj" fmla="val 3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40662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168306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0570" y="1769269"/>
              <a:ext cx="1573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非线性方程组 (3.2.1)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21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88430" y="2625090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引入向量和向量函数记号 (3.2.2)：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2"/>
                <p:cNvSpPr txBox="1">
                  <a:spLocks noGrp="1"/>
                </p:cNvSpPr>
                <p:nvPr/>
              </p:nvSpPr>
              <p:spPr>
                <a:xfrm>
                  <a:off x="6496050" y="2935605"/>
                  <a:ext cx="4953000" cy="14401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b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b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488430" y="4495800"/>
              <a:ext cx="457676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方程组可写成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。n = 1 时就是单个非线性方程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 (3.2.3)。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1413" cy="909257"/>
            <a:chOff x="520446" y="342900"/>
            <a:chExt cx="7261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非线性方程（组）问题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1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 3.1：m 重根让 f(x) 含有因子 (x − x*)ᵐ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518785" cy="2386012"/>
            <a:chOff x="533400" y="1524000"/>
            <a:chExt cx="5518785" cy="2386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18785" cy="2386012"/>
            </a:xfrm>
            <a:prstGeom prst="roundRect">
              <a:avLst>
                <a:gd name="adj" fmla="val 5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193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559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6298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根与重根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f(x*) = 0，称 x* 为方程 f(x) = 0 的根或零点。若存在正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 m，使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7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508444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3.2.4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218021"/>
              <a:ext cx="47578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 x* 为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重根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。m = 1 时 x* 为单根，满足 f(x*) = 0，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f′(x*) ≠ 0。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090035"/>
            <a:ext cx="5518785" cy="2198370"/>
            <a:chOff x="533400" y="4090035"/>
            <a:chExt cx="5518785" cy="2198370"/>
          </a:xfrm>
        </p:grpSpPr>
        <p:sp>
          <p:nvSpPr>
            <p:cNvPr id="16" name="Rectangle 16"/>
            <p:cNvSpPr/>
            <p:nvPr/>
          </p:nvSpPr>
          <p:spPr>
            <a:xfrm>
              <a:off x="533400" y="4090035"/>
              <a:ext cx="5518785" cy="2198370"/>
            </a:xfrm>
            <a:prstGeom prst="roundRect">
              <a:avLst>
                <a:gd name="adj" fmla="val 60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23385"/>
              <a:ext cx="47625" cy="1931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42881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1060" y="43224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4648676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原课件把条件写作 0 &lt; g(x*) &lt; +∞。g(x*) 也可以为负：例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中 x = 1 是三重根，g(x) = (x + 2)²(x − 3)，g(1) =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18。条件应为 g(x*) 有限且不为 0。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356985" y="1524000"/>
            <a:ext cx="5301615" cy="1448752"/>
            <a:chOff x="6356985" y="1524000"/>
            <a:chExt cx="5301615" cy="1448752"/>
          </a:xfrm>
        </p:grpSpPr>
        <p:sp>
          <p:nvSpPr>
            <p:cNvPr id="22" name="Rectangle 22"/>
            <p:cNvSpPr/>
            <p:nvPr/>
          </p:nvSpPr>
          <p:spPr>
            <a:xfrm>
              <a:off x="6356985" y="1524000"/>
              <a:ext cx="5301615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66510" y="1657350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9320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8464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76516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用导数判断重数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85966" y="2100739"/>
              <a:ext cx="42104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有 m 阶连续导数时，x* 是 m 重根的充要条件是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8"/>
                <p:cNvSpPr txBox="1">
                  <a:spLocks noGrp="1"/>
                </p:cNvSpPr>
                <p:nvPr/>
              </p:nvSpPr>
              <p:spPr>
                <a:xfrm>
                  <a:off x="6593205" y="2394585"/>
                  <a:ext cx="486727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=⋯=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2" name="c2-table-2"/>
          <p:cNvGrpSpPr/>
          <p:nvPr/>
        </p:nvGrpSpPr>
        <p:grpSpPr>
          <a:xfrm>
            <a:off x="6351651" y="3152775"/>
            <a:ext cx="5306949" cy="1977962"/>
            <a:chOff x="6351651" y="3152775"/>
            <a:chExt cx="5306949" cy="1977962"/>
          </a:xfrm>
        </p:grpSpPr>
        <p:sp>
          <p:nvSpPr>
            <p:cNvPr id="30" name="Rectangle 30"/>
            <p:cNvSpPr/>
            <p:nvPr/>
          </p:nvSpPr>
          <p:spPr>
            <a:xfrm>
              <a:off x="6356985" y="3152775"/>
              <a:ext cx="530161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2087" y="32813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91083" y="32813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6915" y="32813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7975" y="32813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82850" y="32813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40428" y="32813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2035" y="3706177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93304" y="37061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933" y="370617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57547" y="37061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56985" y="3997642"/>
              <a:ext cx="53016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56985" y="4002405"/>
              <a:ext cx="530161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5389" y="4130040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−2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93304" y="4130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5782" y="4130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37993" y="413004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57547" y="4130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56985" y="4421505"/>
              <a:ext cx="53016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82035" y="4554855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93304" y="45548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5782" y="45548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26842" y="45548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98443" y="455485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57547" y="45548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56985" y="3152775"/>
              <a:ext cx="530161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97115" y="315277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81962" y="315277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942070" y="315277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803130" y="315277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751820" y="315277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1651" y="4925378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p(x) 为例 3.2 中的 6 次多项式，表中是各阶导数在根处的值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356985" y="5269230"/>
            <a:ext cx="5301615" cy="1018222"/>
            <a:chOff x="6356985" y="5269230"/>
            <a:chExt cx="5301615" cy="1018222"/>
          </a:xfrm>
        </p:grpSpPr>
        <p:sp>
          <p:nvSpPr>
            <p:cNvPr id="63" name="Rectangle 63"/>
            <p:cNvSpPr/>
            <p:nvPr/>
          </p:nvSpPr>
          <p:spPr>
            <a:xfrm>
              <a:off x="6356985" y="5269230"/>
              <a:ext cx="530161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561773" y="5678805"/>
              <a:ext cx="200026" cy="200025"/>
              <a:chOff x="6561773" y="567880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561773" y="56788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601511" y="57232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36227" y="58343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864096" y="5417344"/>
              <a:ext cx="433362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偶数重根处 f(x) 不变号，曲线与 x 轴相切。这会影响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二分法（3.3 节）和 Newton 法的收敛速度（3.5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节）。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3.3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只看函数值的符号，每一步把有根区间砍掉一半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介值定理与有根区间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二分法算法与误差估计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3.3 与方法评价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二分法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有根区间：f 连续且端点异号，区间内必有根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graph-1"/>
          <p:cNvGrpSpPr/>
          <p:nvPr/>
        </p:nvGrpSpPr>
        <p:grpSpPr>
          <a:xfrm>
            <a:off x="688658" y="1764982"/>
            <a:ext cx="4883467" cy="4308158"/>
            <a:chOff x="688658" y="1764982"/>
            <a:chExt cx="4883467" cy="4308158"/>
          </a:xfrm>
        </p:grpSpPr>
        <p:sp>
          <p:nvSpPr>
            <p:cNvPr id="7" name="Freeform 7"/>
            <p:cNvSpPr/>
            <p:nvPr/>
          </p:nvSpPr>
          <p:spPr>
            <a:xfrm>
              <a:off x="700088" y="4636770"/>
              <a:ext cx="4765358" cy="9525"/>
            </a:xfrm>
            <a:custGeom>
              <a:avLst/>
              <a:gdLst/>
              <a:ahLst/>
              <a:cxnLst/>
              <a:rect l="l" t="t" r="r" b="b"/>
              <a:pathLst>
                <a:path w="4765358" h="9525">
                  <a:moveTo>
                    <a:pt x="0" y="0"/>
                  </a:moveTo>
                  <a:lnTo>
                    <a:pt x="476535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465445" y="4589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82252" y="1871662"/>
              <a:ext cx="9525" cy="4190048"/>
            </a:xfrm>
            <a:custGeom>
              <a:avLst/>
              <a:gdLst/>
              <a:ahLst/>
              <a:cxnLst/>
              <a:rect l="l" t="t" r="r" b="b"/>
              <a:pathLst>
                <a:path w="9525" h="4190048">
                  <a:moveTo>
                    <a:pt x="0" y="4190048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34628" y="17764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86840" y="4647248"/>
              <a:ext cx="9525" cy="747712"/>
            </a:xfrm>
            <a:custGeom>
              <a:avLst/>
              <a:gdLst/>
              <a:ahLst/>
              <a:cxnLst/>
              <a:rect l="l" t="t" r="r" b="b"/>
              <a:pathLst>
                <a:path w="9525" h="747712">
                  <a:moveTo>
                    <a:pt x="0" y="0"/>
                  </a:moveTo>
                  <a:lnTo>
                    <a:pt x="0" y="747712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786312" y="2406015"/>
              <a:ext cx="9525" cy="2220278"/>
            </a:xfrm>
            <a:custGeom>
              <a:avLst/>
              <a:gdLst/>
              <a:ahLst/>
              <a:cxnLst/>
              <a:rect l="l" t="t" r="r" b="b"/>
              <a:pathLst>
                <a:path w="9525" h="2220278">
                  <a:moveTo>
                    <a:pt x="0" y="2220278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1397318" y="2405062"/>
              <a:ext cx="3386138" cy="2999422"/>
            </a:xfrm>
            <a:custGeom>
              <a:avLst/>
              <a:gdLst/>
              <a:ahLst/>
              <a:cxnLst/>
              <a:rect l="l" t="t" r="r" b="b"/>
              <a:pathLst>
                <a:path w="3386138" h="2999422">
                  <a:moveTo>
                    <a:pt x="0" y="2999422"/>
                  </a:moveTo>
                  <a:lnTo>
                    <a:pt x="74295" y="2991802"/>
                  </a:lnTo>
                  <a:lnTo>
                    <a:pt x="159068" y="2982278"/>
                  </a:lnTo>
                  <a:lnTo>
                    <a:pt x="244793" y="2972752"/>
                  </a:lnTo>
                  <a:lnTo>
                    <a:pt x="329565" y="2961322"/>
                  </a:lnTo>
                  <a:lnTo>
                    <a:pt x="414338" y="2948940"/>
                  </a:lnTo>
                  <a:lnTo>
                    <a:pt x="499110" y="2936557"/>
                  </a:lnTo>
                  <a:lnTo>
                    <a:pt x="583883" y="2921318"/>
                  </a:lnTo>
                  <a:lnTo>
                    <a:pt x="669608" y="2906078"/>
                  </a:lnTo>
                  <a:lnTo>
                    <a:pt x="754380" y="2888932"/>
                  </a:lnTo>
                  <a:lnTo>
                    <a:pt x="839153" y="2869882"/>
                  </a:lnTo>
                  <a:lnTo>
                    <a:pt x="923925" y="2849880"/>
                  </a:lnTo>
                  <a:lnTo>
                    <a:pt x="1009650" y="2827020"/>
                  </a:lnTo>
                  <a:lnTo>
                    <a:pt x="1094423" y="2802255"/>
                  </a:lnTo>
                  <a:lnTo>
                    <a:pt x="1179195" y="2775585"/>
                  </a:lnTo>
                  <a:lnTo>
                    <a:pt x="1264920" y="2747010"/>
                  </a:lnTo>
                  <a:lnTo>
                    <a:pt x="1348740" y="2715578"/>
                  </a:lnTo>
                  <a:lnTo>
                    <a:pt x="1434465" y="2680335"/>
                  </a:lnTo>
                  <a:lnTo>
                    <a:pt x="1519238" y="2643188"/>
                  </a:lnTo>
                  <a:lnTo>
                    <a:pt x="1604010" y="2602230"/>
                  </a:lnTo>
                  <a:lnTo>
                    <a:pt x="1689735" y="2556510"/>
                  </a:lnTo>
                  <a:lnTo>
                    <a:pt x="1774508" y="2507932"/>
                  </a:lnTo>
                  <a:lnTo>
                    <a:pt x="1859280" y="2453640"/>
                  </a:lnTo>
                  <a:lnTo>
                    <a:pt x="1944053" y="2395538"/>
                  </a:lnTo>
                  <a:lnTo>
                    <a:pt x="2029778" y="2330768"/>
                  </a:lnTo>
                  <a:lnTo>
                    <a:pt x="2114550" y="2261235"/>
                  </a:lnTo>
                  <a:lnTo>
                    <a:pt x="2199323" y="2185035"/>
                  </a:lnTo>
                  <a:lnTo>
                    <a:pt x="2284095" y="2101215"/>
                  </a:lnTo>
                  <a:lnTo>
                    <a:pt x="2368868" y="2010728"/>
                  </a:lnTo>
                  <a:lnTo>
                    <a:pt x="2454592" y="1911668"/>
                  </a:lnTo>
                  <a:lnTo>
                    <a:pt x="2539365" y="1803082"/>
                  </a:lnTo>
                  <a:lnTo>
                    <a:pt x="2624138" y="1684972"/>
                  </a:lnTo>
                  <a:lnTo>
                    <a:pt x="2709862" y="1555432"/>
                  </a:lnTo>
                  <a:lnTo>
                    <a:pt x="2794635" y="1414462"/>
                  </a:lnTo>
                  <a:lnTo>
                    <a:pt x="2879408" y="1260158"/>
                  </a:lnTo>
                  <a:lnTo>
                    <a:pt x="2964180" y="1092518"/>
                  </a:lnTo>
                  <a:lnTo>
                    <a:pt x="3049905" y="908685"/>
                  </a:lnTo>
                  <a:lnTo>
                    <a:pt x="3134678" y="708660"/>
                  </a:lnTo>
                  <a:lnTo>
                    <a:pt x="3219450" y="490538"/>
                  </a:lnTo>
                  <a:lnTo>
                    <a:pt x="3304223" y="251460"/>
                  </a:lnTo>
                  <a:lnTo>
                    <a:pt x="3386138" y="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88658" y="46358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570220" y="46358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781300" y="60712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781300" y="17649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385888" y="46358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385888" y="54044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785360" y="46358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785360" y="23945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385888" y="54044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785360" y="23945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343978" y="5362575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743450" y="2352675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488055" y="457962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4427" y="4321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6077" y="18378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39662" y="43943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39135" y="48296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22878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86304" y="4829651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84948" y="564689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f(a) &lt;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8755" y="234648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f(b) &gt;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8751" y="398192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032182" y="1524000"/>
            <a:ext cx="5626418" cy="1316355"/>
            <a:chOff x="6032182" y="1524000"/>
            <a:chExt cx="5626418" cy="1316355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79832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558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介值定理（零点定理）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2212" y="2110740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f(x) 在 [a, b] 上连续，且 f(a)·f(b) &lt; 0，则至少存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在一个 ξ ∈ (a, b)，使 f(ξ) = 0。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032182" y="3030855"/>
            <a:ext cx="5626418" cy="1316355"/>
            <a:chOff x="6032182" y="3030855"/>
            <a:chExt cx="5626418" cy="1316355"/>
          </a:xfrm>
        </p:grpSpPr>
        <p:sp>
          <p:nvSpPr>
            <p:cNvPr id="43" name="Rectangle 43"/>
            <p:cNvSpPr/>
            <p:nvPr/>
          </p:nvSpPr>
          <p:spPr>
            <a:xfrm>
              <a:off x="6032182" y="3030855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316420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79832" y="32404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66091" y="32761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唯一性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2212" y="361759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若同时 f′(x) 在 (a, b) 内存在且保持定号（恒 &gt; 0 或恒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0），f 严格单调，这样的 ξ 在 [a, b] 内唯一。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032182" y="4537710"/>
            <a:ext cx="5626418" cy="1602105"/>
            <a:chOff x="6032182" y="4537710"/>
            <a:chExt cx="5626418" cy="1602105"/>
          </a:xfrm>
        </p:grpSpPr>
        <p:sp>
          <p:nvSpPr>
            <p:cNvPr id="49" name="Rectangle 49"/>
            <p:cNvSpPr/>
            <p:nvPr/>
          </p:nvSpPr>
          <p:spPr>
            <a:xfrm>
              <a:off x="6032182" y="453771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1732" y="474726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6337" y="478297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二分法的基本思想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34112" y="5124450"/>
              <a:ext cx="4996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先确定有根区间，把区间二等分，根据中点处 f 的符号保留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端点仍然异号的那一半；有根区间逐步缩小，足够小时取中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点作为满足精度的近似根。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二分法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二分法算法与误差估计：次数可以事先算出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088832"/>
            <a:chOff x="533400" y="1524000"/>
            <a:chExt cx="5410200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81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3.1 二分法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405761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输入：a, b, f(x), 精度 ε；输出：x</a:t>
              </a:r>
              <a:br/>
              <a:r>
                <a:rPr lang="el-GR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(b − a) &gt; ε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:= a + (b − a)/2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sign(f(x)) = sign(f(a))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:= x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根在右半段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:= x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根在左半段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:= a + (b − a)/2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782378"/>
            <a:ext cx="5410200" cy="729615"/>
            <a:chOff x="533400" y="3782378"/>
            <a:chExt cx="5410200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37823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047173"/>
              <a:ext cx="200026" cy="200025"/>
              <a:chOff x="738188" y="404717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0471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0916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2027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3929062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比较符号而不算乘积 f(a)f(x)，可避免两个很小的函数值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相乘下溢；中点恰有 f(x) = 0 时直接输出。</a:t>
              </a:r>
            </a:p>
          </p:txBody>
        </p:sp>
      </p:grpSp>
      <p:grpSp>
        <p:nvGrpSpPr>
          <p:cNvPr id="42" name="c1-table-3"/>
          <p:cNvGrpSpPr/>
          <p:nvPr/>
        </p:nvGrpSpPr>
        <p:grpSpPr>
          <a:xfrm>
            <a:off x="533400" y="4681538"/>
            <a:ext cx="5410200" cy="1600200"/>
            <a:chOff x="533400" y="4681538"/>
            <a:chExt cx="5410200" cy="1600200"/>
          </a:xfrm>
        </p:grpSpPr>
        <p:sp>
          <p:nvSpPr>
            <p:cNvPr id="18" name="Rectangle 18"/>
            <p:cNvSpPr/>
            <p:nvPr/>
          </p:nvSpPr>
          <p:spPr>
            <a:xfrm>
              <a:off x="533400" y="4681538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614" y="4802981"/>
              <a:ext cx="867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区间长 b −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01280" y="480298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精度 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10586" y="4802981"/>
              <a:ext cx="1198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log₂((b − a)/ε)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2937" y="48029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需算的中点个数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7089" y="5203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3486" y="52030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38408" y="52030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39185" y="52030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76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48163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47089" y="5603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53486" y="56030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96945" y="56030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13.29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7722" y="56030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876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47089" y="60031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53486" y="60031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96945" y="60031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97722" y="60031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681538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55470" y="468153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85110" y="468153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424362" y="468153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758315"/>
            <a:chOff x="6248400" y="1524000"/>
            <a:chExt cx="5410200" cy="1758315"/>
          </a:xfrm>
        </p:grpSpPr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1758315"/>
            </a:xfrm>
            <a:prstGeom prst="roundRect">
              <a:avLst>
                <a:gd name="adj" fmla="val 7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1657350"/>
              <a:ext cx="47625" cy="14916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6332" y="2054542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[a₀, b₀] = [a, b]；第 n 步的有根区间记为 [aₙ, bₙ]，它的中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点记为 xₙ₊₁，区间长度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38"/>
                <p:cNvSpPr txBox="1">
                  <a:spLocks noGrp="1"/>
                </p:cNvSpPr>
                <p:nvPr/>
              </p:nvSpPr>
              <p:spPr>
                <a:xfrm>
                  <a:off x="6473190" y="2589848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8" name="c2-card-2"/>
          <p:cNvGrpSpPr/>
          <p:nvPr/>
        </p:nvGrpSpPr>
        <p:grpSpPr>
          <a:xfrm>
            <a:off x="6248400" y="3451860"/>
            <a:ext cx="5410200" cy="2829878"/>
            <a:chOff x="6248400" y="3451860"/>
            <a:chExt cx="5410200" cy="2829878"/>
          </a:xfrm>
        </p:grpSpPr>
        <p:sp>
          <p:nvSpPr>
            <p:cNvPr id="50" name="Rectangle 50"/>
            <p:cNvSpPr/>
            <p:nvPr/>
          </p:nvSpPr>
          <p:spPr>
            <a:xfrm>
              <a:off x="6248400" y="3451860"/>
              <a:ext cx="5410200" cy="2829878"/>
            </a:xfrm>
            <a:prstGeom prst="roundRect">
              <a:avLst>
                <a:gd name="adj" fmla="val 47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585210"/>
              <a:ext cx="47625" cy="25631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3190" y="36385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7759" y="36714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误差估计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39"/>
                <p:cNvSpPr txBox="1">
                  <a:spLocks noGrp="1"/>
                </p:cNvSpPr>
                <p:nvPr/>
              </p:nvSpPr>
              <p:spPr>
                <a:xfrm>
                  <a:off x="6473190" y="3960495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5" name="TextBox 55"/>
            <p:cNvSpPr txBox="1"/>
            <p:nvPr/>
          </p:nvSpPr>
          <p:spPr>
            <a:xfrm>
              <a:off x="6466332" y="455580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要使误差不超过 ε，只需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formula40"/>
                <p:cNvSpPr txBox="1">
                  <a:spLocks noGrp="1"/>
                </p:cNvSpPr>
                <p:nvPr/>
              </p:nvSpPr>
              <p:spPr>
                <a:xfrm>
                  <a:off x="6473190" y="4832985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unc>
                          <m:funcPr/>
                          <m:fNam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7" name="TextBox 57"/>
            <p:cNvSpPr txBox="1"/>
            <p:nvPr/>
          </p:nvSpPr>
          <p:spPr>
            <a:xfrm>
              <a:off x="6467475" y="5424011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所需中点个数只由区间长度和精度决定，与 f 无关。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4569" cy="909257"/>
            <a:chOff x="520446" y="342900"/>
            <a:chExt cx="93545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二分法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45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3.3 二分法求 sin x − x²/4 = 0 的非零实根，误差 ≤ 10⁻²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54507" cy="264033"/>
            <a:chOff x="526542" y="1545907"/>
            <a:chExt cx="1045450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54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0 是一个根。f(1.5) = 0.434995 &gt; 0，f(2) = −0.090703 &lt; 0，取 [1.5, 2]；需 n + 1 ≥ log₂(0.5/0.01) ≈ 5.64，算到 x₆。</a:t>
              </a:r>
            </a:p>
          </p:txBody>
        </p:sp>
      </p:grpSp>
      <p:grpSp>
        <p:nvGrpSpPr>
          <p:cNvPr id="69" name="c1-table-1"/>
          <p:cNvGrpSpPr/>
          <p:nvPr/>
        </p:nvGrpSpPr>
        <p:grpSpPr>
          <a:xfrm>
            <a:off x="528447" y="1928812"/>
            <a:ext cx="6064758" cy="3237263"/>
            <a:chOff x="528447" y="1928812"/>
            <a:chExt cx="6064758" cy="3237263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27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3603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13253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77741" y="20502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xₙ₊₁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20612" y="20502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f(xₙ₊₁)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73636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276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6286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5886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86033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93661" y="2450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0.218361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3946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241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289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2276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4823" y="2850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886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44570" y="28503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93661" y="28503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0.075180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2483" y="28503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1242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2276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3360" y="32504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886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03107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1.9375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52198" y="325040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−0.004962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51020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5242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5290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276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83360" y="36504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51547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1.9375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61644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1.90625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3661" y="36504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0.035814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09557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0.03125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9243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2276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00434" y="4050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1.90625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51547" y="40505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1.9375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20181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1.921875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93661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0.015601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8094" y="40505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0.015625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3243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3291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2276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58971" y="4450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1.921875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351547" y="44505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1.9375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079432" y="4338638"/>
              <a:ext cx="115538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78718" y="44505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1.9296875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93661" y="44505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0.005363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428298" y="4338638"/>
              <a:ext cx="115538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626631" y="44505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0.0078125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928812"/>
              <a:ext cx="605980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584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13741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06514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23957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41401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447" y="4802029"/>
              <a:ext cx="5710174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误差界为 (bₙ − aₙ)/2。n = 5 时 0.0078 &lt; 10⁻²，取 x* ≈ x₆ = 1.9296875；真根 1.933754，实际误差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0.0041</a:t>
              </a:r>
            </a:p>
          </p:txBody>
        </p:sp>
      </p:grpSp>
      <p:grpSp>
        <p:nvGrpSpPr>
          <p:cNvPr id="153" name="c2-graph-1"/>
          <p:cNvGrpSpPr/>
          <p:nvPr/>
        </p:nvGrpSpPr>
        <p:grpSpPr>
          <a:xfrm>
            <a:off x="7324725" y="2213610"/>
            <a:ext cx="4191952" cy="3089434"/>
            <a:chOff x="7324725" y="2213610"/>
            <a:chExt cx="4191952" cy="3089434"/>
          </a:xfrm>
        </p:grpSpPr>
        <p:sp>
          <p:nvSpPr>
            <p:cNvPr id="70" name="Freeform 70"/>
            <p:cNvSpPr/>
            <p:nvPr/>
          </p:nvSpPr>
          <p:spPr>
            <a:xfrm>
              <a:off x="7336155" y="3506152"/>
              <a:ext cx="4073843" cy="9525"/>
            </a:xfrm>
            <a:custGeom>
              <a:avLst/>
              <a:gdLst/>
              <a:ahLst/>
              <a:cxnLst/>
              <a:rect l="l" t="t" r="r" b="b"/>
              <a:pathLst>
                <a:path w="4073843" h="9525">
                  <a:moveTo>
                    <a:pt x="0" y="0"/>
                  </a:moveTo>
                  <a:lnTo>
                    <a:pt x="4073843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1409998" y="34585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7471410" y="2217420"/>
              <a:ext cx="3900488" cy="1699260"/>
            </a:xfrm>
            <a:custGeom>
              <a:avLst/>
              <a:gdLst/>
              <a:ahLst/>
              <a:cxnLst/>
              <a:rect l="l" t="t" r="r" b="b"/>
              <a:pathLst>
                <a:path w="3900488" h="1699260">
                  <a:moveTo>
                    <a:pt x="0" y="0"/>
                  </a:moveTo>
                  <a:lnTo>
                    <a:pt x="120015" y="31432"/>
                  </a:lnTo>
                  <a:lnTo>
                    <a:pt x="251460" y="67627"/>
                  </a:lnTo>
                  <a:lnTo>
                    <a:pt x="381953" y="104775"/>
                  </a:lnTo>
                  <a:lnTo>
                    <a:pt x="512445" y="143827"/>
                  </a:lnTo>
                  <a:lnTo>
                    <a:pt x="642938" y="184785"/>
                  </a:lnTo>
                  <a:lnTo>
                    <a:pt x="773430" y="226695"/>
                  </a:lnTo>
                  <a:lnTo>
                    <a:pt x="904875" y="270510"/>
                  </a:lnTo>
                  <a:lnTo>
                    <a:pt x="1035368" y="315277"/>
                  </a:lnTo>
                  <a:lnTo>
                    <a:pt x="1165860" y="362902"/>
                  </a:lnTo>
                  <a:lnTo>
                    <a:pt x="1296353" y="411480"/>
                  </a:lnTo>
                  <a:lnTo>
                    <a:pt x="1426845" y="461010"/>
                  </a:lnTo>
                  <a:lnTo>
                    <a:pt x="1557338" y="512445"/>
                  </a:lnTo>
                  <a:lnTo>
                    <a:pt x="1687830" y="565785"/>
                  </a:lnTo>
                  <a:lnTo>
                    <a:pt x="1819275" y="621030"/>
                  </a:lnTo>
                  <a:lnTo>
                    <a:pt x="1949768" y="677227"/>
                  </a:lnTo>
                  <a:lnTo>
                    <a:pt x="2080260" y="734377"/>
                  </a:lnTo>
                  <a:lnTo>
                    <a:pt x="2210752" y="794385"/>
                  </a:lnTo>
                  <a:lnTo>
                    <a:pt x="2341245" y="855345"/>
                  </a:lnTo>
                  <a:lnTo>
                    <a:pt x="2472690" y="918210"/>
                  </a:lnTo>
                  <a:lnTo>
                    <a:pt x="2603183" y="982027"/>
                  </a:lnTo>
                  <a:lnTo>
                    <a:pt x="2732722" y="1046797"/>
                  </a:lnTo>
                  <a:lnTo>
                    <a:pt x="2864167" y="1114425"/>
                  </a:lnTo>
                  <a:lnTo>
                    <a:pt x="2994660" y="1183005"/>
                  </a:lnTo>
                  <a:lnTo>
                    <a:pt x="3125152" y="1253490"/>
                  </a:lnTo>
                  <a:lnTo>
                    <a:pt x="3255645" y="1324927"/>
                  </a:lnTo>
                  <a:lnTo>
                    <a:pt x="3386138" y="1397318"/>
                  </a:lnTo>
                  <a:lnTo>
                    <a:pt x="3517583" y="1472565"/>
                  </a:lnTo>
                  <a:lnTo>
                    <a:pt x="3648075" y="1548765"/>
                  </a:lnTo>
                  <a:lnTo>
                    <a:pt x="3778567" y="1625918"/>
                  </a:lnTo>
                  <a:lnTo>
                    <a:pt x="3900488" y="169926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662285" y="3180398"/>
              <a:ext cx="9525" cy="2108835"/>
            </a:xfrm>
            <a:custGeom>
              <a:avLst/>
              <a:gdLst/>
              <a:ahLst/>
              <a:cxnLst/>
              <a:rect l="l" t="t" r="r" b="b"/>
              <a:pathLst>
                <a:path w="9525" h="2108835">
                  <a:moveTo>
                    <a:pt x="0" y="0"/>
                  </a:moveTo>
                  <a:lnTo>
                    <a:pt x="0" y="2108835"/>
                  </a:lnTo>
                </a:path>
              </a:pathLst>
            </a:custGeom>
            <a:noFill/>
            <a:ln w="11430">
              <a:solidFill>
                <a:srgbClr val="F26B3A"/>
              </a:solidFill>
              <a:custDash>
                <a:ds d="500000" sp="333333"/>
              </a:custDash>
            </a:ln>
          </p:spPr>
        </p:sp>
        <p:sp>
          <p:nvSpPr>
            <p:cNvPr id="74" name="Freeform 74"/>
            <p:cNvSpPr/>
            <p:nvPr/>
          </p:nvSpPr>
          <p:spPr>
            <a:xfrm>
              <a:off x="7741920" y="3842385"/>
              <a:ext cx="3357562" cy="9525"/>
            </a:xfrm>
            <a:custGeom>
              <a:avLst/>
              <a:gdLst/>
              <a:ahLst/>
              <a:cxnLst/>
              <a:rect l="l" t="t" r="r" b="b"/>
              <a:pathLst>
                <a:path w="3357562" h="9525">
                  <a:moveTo>
                    <a:pt x="0" y="0"/>
                  </a:moveTo>
                  <a:lnTo>
                    <a:pt x="3357562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731442" y="3783330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11109960" y="3783330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9431655" y="4109085"/>
              <a:ext cx="1667827" cy="9525"/>
            </a:xfrm>
            <a:custGeom>
              <a:avLst/>
              <a:gdLst/>
              <a:ahLst/>
              <a:cxnLst/>
              <a:rect l="l" t="t" r="r" b="b"/>
              <a:pathLst>
                <a:path w="1667827" h="9525">
                  <a:moveTo>
                    <a:pt x="0" y="0"/>
                  </a:moveTo>
                  <a:lnTo>
                    <a:pt x="1667827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9421178" y="4049078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1109960" y="4049078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275570" y="4374832"/>
              <a:ext cx="823912" cy="9525"/>
            </a:xfrm>
            <a:custGeom>
              <a:avLst/>
              <a:gdLst/>
              <a:ahLst/>
              <a:cxnLst/>
              <a:rect l="l" t="t" r="r" b="b"/>
              <a:pathLst>
                <a:path w="823912" h="9525">
                  <a:moveTo>
                    <a:pt x="0" y="0"/>
                  </a:moveTo>
                  <a:lnTo>
                    <a:pt x="823912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0265092" y="4315778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1109960" y="4315778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0275570" y="4641532"/>
              <a:ext cx="401955" cy="9525"/>
            </a:xfrm>
            <a:custGeom>
              <a:avLst/>
              <a:gdLst/>
              <a:ahLst/>
              <a:cxnLst/>
              <a:rect l="l" t="t" r="r" b="b"/>
              <a:pathLst>
                <a:path w="401955" h="9525">
                  <a:moveTo>
                    <a:pt x="0" y="0"/>
                  </a:moveTo>
                  <a:lnTo>
                    <a:pt x="401955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265092" y="4581525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688002" y="4581525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487025" y="490728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476548" y="4848225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0688002" y="4848225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10592752" y="5173980"/>
              <a:ext cx="84773" cy="9525"/>
            </a:xfrm>
            <a:custGeom>
              <a:avLst/>
              <a:gdLst/>
              <a:ahLst/>
              <a:cxnLst/>
              <a:rect l="l" t="t" r="r" b="b"/>
              <a:pathLst>
                <a:path w="84773" h="9525">
                  <a:moveTo>
                    <a:pt x="0" y="0"/>
                  </a:moveTo>
                  <a:lnTo>
                    <a:pt x="84773" y="0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0582275" y="5113972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688002" y="5113972"/>
              <a:ext cx="9525" cy="119062"/>
            </a:xfrm>
            <a:custGeom>
              <a:avLst/>
              <a:gdLst/>
              <a:ahLst/>
              <a:cxnLst/>
              <a:rect l="l" t="t" r="r" b="b"/>
              <a:pathLst>
                <a:path w="9525" h="119062">
                  <a:moveTo>
                    <a:pt x="0" y="0"/>
                  </a:moveTo>
                  <a:lnTo>
                    <a:pt x="0" y="119062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7324725" y="35052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11514772" y="35052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7459980" y="22136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1379518" y="392144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10661333" y="31689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0661333" y="52987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10614660" y="345852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7730490" y="38414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11109008" y="38414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7730490" y="37719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7730490" y="39119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11109008" y="37719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11109008" y="39119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9387840" y="380904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9420225" y="41081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1109008" y="41081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9420225" y="40376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9420225" y="41776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11109008" y="40376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11109008" y="41776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10231755" y="407574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10264140" y="43738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11109008" y="43738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10264140" y="43043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10264140" y="44443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11109008" y="43043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11109008" y="44443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654665" y="434149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10264140" y="46405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10687050" y="46405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10264140" y="45700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10264140" y="47101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687050" y="45700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10687050" y="47101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10443210" y="460819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10475595" y="49063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10687050" y="49063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10475595" y="48367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10475595" y="49768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10687050" y="48367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0687050" y="49768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10548938" y="487394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10581322" y="51730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10687050" y="51730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10581322" y="510254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10581322" y="52425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10687050" y="510254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10687050" y="52425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10601325" y="514064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1366774" y="33132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304498" y="3002280"/>
              <a:ext cx="715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x* ≈ 1.9338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523607" y="3037046"/>
              <a:ext cx="1249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f(x) = sin x − x²/4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635610" y="334660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294988" y="334660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074841" y="33466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344728" y="381047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n=0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344728" y="407622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n=1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344728" y="434292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n=2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344728" y="460867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n=3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7344728" y="487537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n=4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7344728" y="514111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n=5</a:t>
              </a:r>
            </a:p>
          </p:txBody>
        </p:sp>
      </p:grpSp>
      <p:grpSp>
        <p:nvGrpSpPr>
          <p:cNvPr id="16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54" name="Rectangle 15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8" name="Group 158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9" name="TextBox 159"/>
            <p:cNvSpPr txBox="1"/>
            <p:nvPr/>
          </p:nvSpPr>
          <p:spPr>
            <a:xfrm>
              <a:off x="1040892" y="5779770"/>
              <a:ext cx="99320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 n = 2 行 f 写作 −0.0496228，n = 3 行写作 1.90265、0.0404208，n = 4 行 f 写作 0.156014，应为表中数值；区间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端点和结论不变。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二分法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二分法：稳妥但收敛慢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528762"/>
            <a:chOff x="533400" y="1524000"/>
            <a:chExt cx="5951220" cy="15287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只要求 f 连续、端点异号，不需要导数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每步算一次函数值，程序简单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65557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一定收敛，二分次数可事先算出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223260"/>
            <a:ext cx="5951220" cy="1528762"/>
            <a:chOff x="533400" y="3223260"/>
            <a:chExt cx="5951220" cy="1528762"/>
          </a:xfrm>
        </p:grpSpPr>
        <p:sp>
          <p:nvSpPr>
            <p:cNvPr id="18" name="Rectangle 18"/>
            <p:cNvSpPr/>
            <p:nvPr/>
          </p:nvSpPr>
          <p:spPr>
            <a:xfrm>
              <a:off x="533400" y="3223260"/>
              <a:ext cx="595122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35661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34099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862" y="34428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38100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3753802"/>
              <a:ext cx="498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收敛慢：误差界每步只减半，区间长 1 时要约 20 次才到 10⁻⁶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41100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4053840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偶数重根处 f 不变号，如 (x − 1)² = 0，找不到有根区间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441007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435387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不能求复根，不能直接推广到方程组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921568"/>
            <a:ext cx="5951220" cy="1185862"/>
            <a:chOff x="533400" y="4921568"/>
            <a:chExt cx="5951220" cy="1185862"/>
          </a:xfrm>
        </p:grpSpPr>
        <p:sp>
          <p:nvSpPr>
            <p:cNvPr id="29" name="Rectangle 29"/>
            <p:cNvSpPr/>
            <p:nvPr/>
          </p:nvSpPr>
          <p:spPr>
            <a:xfrm>
              <a:off x="533400" y="4921568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05491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51082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0862" y="5141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5453062"/>
              <a:ext cx="51657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原课件备注称二分法对单实根“收敛速度快”。它的误差界固定按 1/2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缩小，属于慢方法，长处是稳妥，常用来给快速方法提供初值。</a:t>
              </a:r>
            </a:p>
          </p:txBody>
        </p:sp>
      </p:grpSp>
      <p:grpSp>
        <p:nvGrpSpPr>
          <p:cNvPr id="37" name="c2-image-1"/>
          <p:cNvGrpSpPr/>
          <p:nvPr/>
        </p:nvGrpSpPr>
        <p:grpSpPr>
          <a:xfrm>
            <a:off x="6789420" y="1524000"/>
            <a:ext cx="4869180" cy="4858416"/>
            <a:chOff x="6789420" y="1524000"/>
            <a:chExt cx="4869180" cy="4858416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10088" t="0" r="10087" b="0"/>
            <a:stretch>
              <a:fillRect/>
            </a:stretch>
          </p:blipFill>
          <p:spPr>
            <a:xfrm>
              <a:off x="6789420" y="1524000"/>
              <a:ext cx="4869180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174179" y="6191726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一串灯里有一只坏灯泡：每次检测一半，只在有问题的那一半里继续找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68594" cy="3351847"/>
            <a:chOff x="667512" y="1835468"/>
            <a:chExt cx="566859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3.4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不动点迭代法及其收敛性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586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f(x) = 0 改写成 x = φ(x)，用 xₖ₊₁ = φ(xₖ) 逐次逼近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迭代格式与几何解释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 与误差估计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3.4 估计迭代次数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稳定性与收敛阶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4590" cy="909257"/>
            <a:chOff x="520446" y="342900"/>
            <a:chExt cx="65945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45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不动点迭代：把 f(x) = 0 改写成 x = φ(x)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31632"/>
            <a:chOff x="533400" y="1524000"/>
            <a:chExt cx="5626418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3.2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f(x) = 0 改写成等价形式 x = φ(x) (3.4.1)，满足 x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 的点 x 称为此方程的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 f(x) = 0 的根，等价于求 x = φ(x) 的不动点。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355658"/>
            <a:ext cx="5294249" cy="2112931"/>
            <a:chOff x="533400" y="3355658"/>
            <a:chExt cx="5294249" cy="2112931"/>
          </a:xfrm>
        </p:grpSpPr>
        <p:sp>
          <p:nvSpPr>
            <p:cNvPr id="15" name="Rectangle 15"/>
            <p:cNvSpPr/>
            <p:nvPr/>
          </p:nvSpPr>
          <p:spPr>
            <a:xfrm>
              <a:off x="666750" y="349853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35565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294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062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0800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657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731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8994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取初值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8379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给定初始近似值 x₀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0405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334351"/>
              <a:ext cx="306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φ(xₖ)，k = 0, 1, 2, … (3.4.2)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6920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取极限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984909"/>
              <a:ext cx="4881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{xₖ} 收敛于 x* (3.4.3)，且 φ 连续，对 (3.4.2) 两边取极限得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下式 (3.4.4)，x* 就是 f(x) = 0 的根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43"/>
              <p:cNvSpPr txBox="1">
                <a:spLocks noGrp="1"/>
              </p:cNvSpPr>
              <p:nvPr/>
            </p:nvSpPr>
            <p:spPr>
              <a:xfrm>
                <a:off x="533400" y="5647372"/>
                <a:ext cx="5626418" cy="708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7" name="c2-kv-1"/>
          <p:cNvGrpSpPr/>
          <p:nvPr/>
        </p:nvGrpSpPr>
        <p:grpSpPr>
          <a:xfrm>
            <a:off x="6456998" y="1548765"/>
            <a:ext cx="5201602" cy="2775585"/>
            <a:chOff x="6456998" y="1548765"/>
            <a:chExt cx="5201602" cy="2775585"/>
          </a:xfrm>
        </p:grpSpPr>
        <p:sp>
          <p:nvSpPr>
            <p:cNvPr id="30" name="TextBox 30"/>
            <p:cNvSpPr txBox="1"/>
            <p:nvPr/>
          </p:nvSpPr>
          <p:spPr>
            <a:xfrm>
              <a:off x="645699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迭代函数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6755" y="154876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6998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初始值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6755" y="198882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308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6998" y="2428875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迭代格式（迭代过</a:t>
              </a:r>
              <a:br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程）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6755" y="24288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φ(xₖ)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0308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6998" y="3150870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 k 次近似值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6755" y="315087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4709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6998" y="3590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迭代数列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6755" y="35909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{xₖ}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9109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6998" y="4030980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收敛的 / 发散的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6755" y="403098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极限 (3.4.3) 成立 / 不成立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455795"/>
            <a:ext cx="5193982" cy="1900238"/>
            <a:chOff x="6464618" y="4455795"/>
            <a:chExt cx="5193982" cy="1900238"/>
          </a:xfrm>
        </p:grpSpPr>
        <p:sp>
          <p:nvSpPr>
            <p:cNvPr id="48" name="Rectangle 48"/>
            <p:cNvSpPr/>
            <p:nvPr/>
          </p:nvSpPr>
          <p:spPr>
            <a:xfrm>
              <a:off x="6464618" y="4455795"/>
              <a:ext cx="5193982" cy="1900238"/>
            </a:xfrm>
            <a:prstGeom prst="roundRect">
              <a:avLst>
                <a:gd name="adj" fmla="val 701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74168" y="466534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7624" y="47010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两个基本问题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74167" y="50292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6017" y="50714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75158" y="504253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化成等价方程，构造迭代函数 φ(x)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74167" y="536448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36017" y="54067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75158" y="5377815"/>
              <a:ext cx="4168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研究迭代数列 {xₖ} 的收敛性、收敛速度和误差估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同一个方程，迭代函数选得不同，结果大不相同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081004" cy="293370"/>
            <a:chOff x="525780" y="1548765"/>
            <a:chExt cx="1108100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081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实验题 1：x² − 3x + 2 = 0 的根为 1 和 2。在 x* = 2 附近比较四种等价形式 x = φ(x)，初值都取 x₀ = 2.5，列出 x₁ 到 x₆。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54530"/>
            <a:ext cx="11125200" cy="2316480"/>
            <a:chOff x="533400" y="1954530"/>
            <a:chExt cx="11125200" cy="231648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4020" y="2086451"/>
              <a:ext cx="1280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迭代函数 φ(x)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32488" y="208645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φ′(x)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11758" y="208645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φ′(2)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0060" y="2086451"/>
              <a:ext cx="1299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x₁, x₂, …, x₆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792498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4746" y="2550319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(x² + 2)/3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36901" y="2550319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2x/3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30039" y="255031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97346" y="2550319"/>
              <a:ext cx="3350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2.75, 3.19, 4.05, 6.14, 13.2, 59.2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92498" y="25503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765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81312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746" y="3013234"/>
              <a:ext cx="907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√(3x − 2)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6901" y="3013234"/>
              <a:ext cx="1390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3/(2√(3x − 2))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30039" y="301323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97346" y="3013234"/>
              <a:ext cx="3981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2.345, 2.244, 2.175, 2.127, 2.093, 2.069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1338" y="30132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收敛，慢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394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746" y="3476149"/>
              <a:ext cx="686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3 − 2/x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36901" y="3476149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2/x²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30039" y="347614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97346" y="3476149"/>
              <a:ext cx="3981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2.200, 2.091, 2.043, 2.021, 2.011, 2.005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92498" y="347614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033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80809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746" y="3940016"/>
              <a:ext cx="16904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(x² − 2)/(2x − 3)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36901" y="3940016"/>
              <a:ext cx="2251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2(x² − 3x + 2)/(2x − 3)²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35177" y="39400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97346" y="3940016"/>
              <a:ext cx="36082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2.125, 2.0125, 2.000152, 2.000000, 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92498" y="39400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最快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11125200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30792" y="195453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090160" y="195453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1238" y="195453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18432" y="195453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ompare-2"/>
          <p:cNvGrpSpPr/>
          <p:nvPr/>
        </p:nvGrpSpPr>
        <p:grpSpPr>
          <a:xfrm>
            <a:off x="533400" y="4451032"/>
            <a:ext cx="11125200" cy="1295400"/>
            <a:chOff x="533400" y="4451032"/>
            <a:chExt cx="11125200" cy="1295400"/>
          </a:xfrm>
        </p:grpSpPr>
        <p:sp>
          <p:nvSpPr>
            <p:cNvPr id="46" name="Rectangle 46"/>
            <p:cNvSpPr/>
            <p:nvPr/>
          </p:nvSpPr>
          <p:spPr>
            <a:xfrm>
              <a:off x="533400" y="4451032"/>
              <a:ext cx="5391150" cy="1295400"/>
            </a:xfrm>
            <a:prstGeom prst="roundRect">
              <a:avLst>
                <a:gd name="adj" fmla="val 10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584382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381" y="4672489"/>
              <a:ext cx="1138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&gt; 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77240" y="50682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3831" y="50087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迭代点离根越来越远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77240" y="538638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3831" y="5325904"/>
              <a:ext cx="3101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种形式从 2 附近出发都会离开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67450" y="4451032"/>
              <a:ext cx="5391150" cy="1295400"/>
            </a:xfrm>
            <a:prstGeom prst="roundRect">
              <a:avLst>
                <a:gd name="adj" fmla="val 10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76975" y="4584382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96431" y="4672489"/>
              <a:ext cx="1138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&lt; 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11290" y="50682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67881" y="5008721"/>
              <a:ext cx="25377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迭代收敛，|φ′(x*)| 越小越快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11290" y="538638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67881" y="5325904"/>
              <a:ext cx="42751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种 φ′(2) = 0，它就是 3.5 节的 Newton 公式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934075" y="493680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04415" y="5033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7675" cy="909257"/>
            <a:chOff x="520446" y="342900"/>
            <a:chExt cx="81676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76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几何解释：迭代折线在 y = x 与 y = φ(x) 之间来回走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11180" cy="597598"/>
            <a:chOff x="525399" y="1550194"/>
            <a:chExt cx="1071118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1118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 x* 是曲线 y = φ(x) 与直线 y = x 交点 P* 的横坐标。从 xₖ 竖直走到曲线，高度 φ(xₖ) 就是 xₖ₊₁；再水平走到直线，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横坐标就变成 xₖ₊₁。</a:t>
              </a:r>
            </a:p>
          </p:txBody>
        </p:sp>
      </p:grpSp>
      <p:grpSp>
        <p:nvGrpSpPr>
          <p:cNvPr id="37" name="c1-graph-1"/>
          <p:cNvGrpSpPr/>
          <p:nvPr/>
        </p:nvGrpSpPr>
        <p:grpSpPr>
          <a:xfrm>
            <a:off x="617220" y="2358390"/>
            <a:ext cx="2423160" cy="2313241"/>
            <a:chOff x="617220" y="2358390"/>
            <a:chExt cx="2423160" cy="2313241"/>
          </a:xfrm>
        </p:grpSpPr>
        <p:sp>
          <p:nvSpPr>
            <p:cNvPr id="9" name="Freeform 9"/>
            <p:cNvSpPr/>
            <p:nvPr/>
          </p:nvSpPr>
          <p:spPr>
            <a:xfrm>
              <a:off x="675322" y="4424362"/>
              <a:ext cx="2258378" cy="9525"/>
            </a:xfrm>
            <a:custGeom>
              <a:avLst/>
              <a:gdLst/>
              <a:ahLst/>
              <a:cxnLst/>
              <a:rect l="l" t="t" r="r" b="b"/>
              <a:pathLst>
                <a:path w="2258378" h="9525">
                  <a:moveTo>
                    <a:pt x="0" y="0"/>
                  </a:moveTo>
                  <a:lnTo>
                    <a:pt x="225837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33700" y="4376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64845" y="2482215"/>
              <a:ext cx="9525" cy="1931670"/>
            </a:xfrm>
            <a:custGeom>
              <a:avLst/>
              <a:gdLst/>
              <a:ahLst/>
              <a:cxnLst/>
              <a:rect l="l" t="t" r="r" b="b"/>
              <a:pathLst>
                <a:path w="9525" h="1931670">
                  <a:moveTo>
                    <a:pt x="0" y="19316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7220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73418" y="2434590"/>
              <a:ext cx="2299335" cy="1983105"/>
            </a:xfrm>
            <a:custGeom>
              <a:avLst/>
              <a:gdLst/>
              <a:ahLst/>
              <a:cxnLst/>
              <a:rect l="l" t="t" r="r" b="b"/>
              <a:pathLst>
                <a:path w="2299335" h="1983105">
                  <a:moveTo>
                    <a:pt x="0" y="1983105"/>
                  </a:moveTo>
                  <a:lnTo>
                    <a:pt x="22993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35330" y="2808922"/>
              <a:ext cx="2236470" cy="964883"/>
            </a:xfrm>
            <a:custGeom>
              <a:avLst/>
              <a:gdLst/>
              <a:ahLst/>
              <a:cxnLst/>
              <a:rect l="l" t="t" r="r" b="b"/>
              <a:pathLst>
                <a:path w="2236470" h="964883">
                  <a:moveTo>
                    <a:pt x="0" y="964883"/>
                  </a:moveTo>
                  <a:lnTo>
                    <a:pt x="45720" y="953453"/>
                  </a:lnTo>
                  <a:lnTo>
                    <a:pt x="101918" y="939165"/>
                  </a:lnTo>
                  <a:lnTo>
                    <a:pt x="158115" y="924878"/>
                  </a:lnTo>
                  <a:lnTo>
                    <a:pt x="215265" y="909638"/>
                  </a:lnTo>
                  <a:lnTo>
                    <a:pt x="271462" y="894398"/>
                  </a:lnTo>
                  <a:lnTo>
                    <a:pt x="327660" y="878205"/>
                  </a:lnTo>
                  <a:lnTo>
                    <a:pt x="383858" y="861060"/>
                  </a:lnTo>
                  <a:lnTo>
                    <a:pt x="440055" y="843915"/>
                  </a:lnTo>
                  <a:lnTo>
                    <a:pt x="497205" y="825818"/>
                  </a:lnTo>
                  <a:lnTo>
                    <a:pt x="553403" y="806768"/>
                  </a:lnTo>
                  <a:lnTo>
                    <a:pt x="609600" y="787718"/>
                  </a:lnTo>
                  <a:lnTo>
                    <a:pt x="665797" y="768668"/>
                  </a:lnTo>
                  <a:lnTo>
                    <a:pt x="722947" y="748665"/>
                  </a:lnTo>
                  <a:lnTo>
                    <a:pt x="779145" y="727710"/>
                  </a:lnTo>
                  <a:lnTo>
                    <a:pt x="835342" y="706755"/>
                  </a:lnTo>
                  <a:lnTo>
                    <a:pt x="891540" y="684848"/>
                  </a:lnTo>
                  <a:lnTo>
                    <a:pt x="947737" y="661988"/>
                  </a:lnTo>
                  <a:lnTo>
                    <a:pt x="1003935" y="639128"/>
                  </a:lnTo>
                  <a:lnTo>
                    <a:pt x="1061085" y="615315"/>
                  </a:lnTo>
                  <a:lnTo>
                    <a:pt x="1117282" y="591503"/>
                  </a:lnTo>
                  <a:lnTo>
                    <a:pt x="1173480" y="566738"/>
                  </a:lnTo>
                  <a:lnTo>
                    <a:pt x="1229678" y="541973"/>
                  </a:lnTo>
                  <a:lnTo>
                    <a:pt x="1286828" y="516255"/>
                  </a:lnTo>
                  <a:lnTo>
                    <a:pt x="1343025" y="489585"/>
                  </a:lnTo>
                  <a:lnTo>
                    <a:pt x="1399222" y="462915"/>
                  </a:lnTo>
                  <a:lnTo>
                    <a:pt x="1455420" y="435293"/>
                  </a:lnTo>
                  <a:lnTo>
                    <a:pt x="1511618" y="407670"/>
                  </a:lnTo>
                  <a:lnTo>
                    <a:pt x="1568768" y="379095"/>
                  </a:lnTo>
                  <a:lnTo>
                    <a:pt x="1624965" y="350520"/>
                  </a:lnTo>
                  <a:lnTo>
                    <a:pt x="1681162" y="320993"/>
                  </a:lnTo>
                  <a:lnTo>
                    <a:pt x="1737360" y="290512"/>
                  </a:lnTo>
                  <a:lnTo>
                    <a:pt x="1794510" y="260033"/>
                  </a:lnTo>
                  <a:lnTo>
                    <a:pt x="1850708" y="228600"/>
                  </a:lnTo>
                  <a:lnTo>
                    <a:pt x="1906905" y="197168"/>
                  </a:lnTo>
                  <a:lnTo>
                    <a:pt x="1963103" y="164783"/>
                  </a:lnTo>
                  <a:lnTo>
                    <a:pt x="2019300" y="131445"/>
                  </a:lnTo>
                  <a:lnTo>
                    <a:pt x="2076450" y="98108"/>
                  </a:lnTo>
                  <a:lnTo>
                    <a:pt x="2132648" y="63818"/>
                  </a:lnTo>
                  <a:lnTo>
                    <a:pt x="2188845" y="29528"/>
                  </a:lnTo>
                  <a:lnTo>
                    <a:pt x="2236470" y="0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52612" y="3410902"/>
              <a:ext cx="9525" cy="1002982"/>
            </a:xfrm>
            <a:custGeom>
              <a:avLst/>
              <a:gdLst/>
              <a:ahLst/>
              <a:cxnLst/>
              <a:rect l="l" t="t" r="r" b="b"/>
              <a:pathLst>
                <a:path w="9525" h="1002982">
                  <a:moveTo>
                    <a:pt x="0" y="1002982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939290" y="2912745"/>
              <a:ext cx="862965" cy="1490662"/>
            </a:xfrm>
            <a:custGeom>
              <a:avLst/>
              <a:gdLst/>
              <a:ahLst/>
              <a:cxnLst/>
              <a:rect l="l" t="t" r="r" b="b"/>
              <a:pathLst>
                <a:path w="862965" h="1490662">
                  <a:moveTo>
                    <a:pt x="862965" y="1490662"/>
                  </a:moveTo>
                  <a:lnTo>
                    <a:pt x="862965" y="0"/>
                  </a:lnTo>
                  <a:lnTo>
                    <a:pt x="479108" y="0"/>
                  </a:lnTo>
                  <a:lnTo>
                    <a:pt x="479108" y="216217"/>
                  </a:lnTo>
                  <a:lnTo>
                    <a:pt x="228600" y="216217"/>
                  </a:lnTo>
                  <a:lnTo>
                    <a:pt x="228600" y="342900"/>
                  </a:lnTo>
                  <a:lnTo>
                    <a:pt x="80962" y="342900"/>
                  </a:lnTo>
                  <a:lnTo>
                    <a:pt x="80962" y="413385"/>
                  </a:lnTo>
                  <a:lnTo>
                    <a:pt x="0" y="413385"/>
                  </a:lnTo>
                  <a:lnTo>
                    <a:pt x="0" y="34385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91665" y="32565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63892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03847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63892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63892" y="23755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63892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979420" y="24269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23900" y="37747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9420" y="28022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85166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851660" y="33994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801302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938338" y="33613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14512" y="33623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917298" y="42157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6186" y="23583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15291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65648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91880" y="2454116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017" y="3531394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φ(x)</a:t>
              </a:r>
            </a:p>
          </p:txBody>
        </p:sp>
      </p:grpSp>
      <p:grpSp>
        <p:nvGrpSpPr>
          <p:cNvPr id="39" name="c1-text-2"/>
          <p:cNvGrpSpPr/>
          <p:nvPr/>
        </p:nvGrpSpPr>
        <p:grpSpPr>
          <a:xfrm>
            <a:off x="620230" y="4850606"/>
            <a:ext cx="2464765" cy="500824"/>
            <a:chOff x="620230" y="4850606"/>
            <a:chExt cx="2464765" cy="500824"/>
          </a:xfrm>
        </p:grpSpPr>
        <p:sp>
          <p:nvSpPr>
            <p:cNvPr id="38" name="TextBox 38"/>
            <p:cNvSpPr txBox="1"/>
            <p:nvPr/>
          </p:nvSpPr>
          <p:spPr>
            <a:xfrm>
              <a:off x="620230" y="4850606"/>
              <a:ext cx="2464765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(a) 0 &lt; φ′(x*) &lt;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：阶梯状单调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3447098" y="2358390"/>
            <a:ext cx="2422207" cy="2313241"/>
            <a:chOff x="3447098" y="2358390"/>
            <a:chExt cx="2422207" cy="2313241"/>
          </a:xfrm>
        </p:grpSpPr>
        <p:sp>
          <p:nvSpPr>
            <p:cNvPr id="40" name="Freeform 40"/>
            <p:cNvSpPr/>
            <p:nvPr/>
          </p:nvSpPr>
          <p:spPr>
            <a:xfrm>
              <a:off x="3505200" y="4424362"/>
              <a:ext cx="2257425" cy="9525"/>
            </a:xfrm>
            <a:custGeom>
              <a:avLst/>
              <a:gdLst/>
              <a:ahLst/>
              <a:cxnLst/>
              <a:rect l="l" t="t" r="r" b="b"/>
              <a:pathLst>
                <a:path w="2257425" h="9525">
                  <a:moveTo>
                    <a:pt x="0" y="0"/>
                  </a:moveTo>
                  <a:lnTo>
                    <a:pt x="225742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762625" y="4376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494722" y="2482215"/>
              <a:ext cx="9525" cy="1931670"/>
            </a:xfrm>
            <a:custGeom>
              <a:avLst/>
              <a:gdLst/>
              <a:ahLst/>
              <a:cxnLst/>
              <a:rect l="l" t="t" r="r" b="b"/>
              <a:pathLst>
                <a:path w="9525" h="1931670">
                  <a:moveTo>
                    <a:pt x="0" y="19316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447098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3502342" y="2434590"/>
              <a:ext cx="2299335" cy="1983105"/>
            </a:xfrm>
            <a:custGeom>
              <a:avLst/>
              <a:gdLst/>
              <a:ahLst/>
              <a:cxnLst/>
              <a:rect l="l" t="t" r="r" b="b"/>
              <a:pathLst>
                <a:path w="2299335" h="1983105">
                  <a:moveTo>
                    <a:pt x="0" y="1983105"/>
                  </a:moveTo>
                  <a:lnTo>
                    <a:pt x="22993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621405" y="2695575"/>
              <a:ext cx="2119313" cy="1279208"/>
            </a:xfrm>
            <a:custGeom>
              <a:avLst/>
              <a:gdLst/>
              <a:ahLst/>
              <a:cxnLst/>
              <a:rect l="l" t="t" r="r" b="b"/>
              <a:pathLst>
                <a:path w="2119313" h="1279208">
                  <a:moveTo>
                    <a:pt x="0" y="0"/>
                  </a:moveTo>
                  <a:lnTo>
                    <a:pt x="44767" y="32385"/>
                  </a:lnTo>
                  <a:lnTo>
                    <a:pt x="98108" y="70485"/>
                  </a:lnTo>
                  <a:lnTo>
                    <a:pt x="151448" y="108585"/>
                  </a:lnTo>
                  <a:lnTo>
                    <a:pt x="205740" y="146685"/>
                  </a:lnTo>
                  <a:lnTo>
                    <a:pt x="258128" y="183833"/>
                  </a:lnTo>
                  <a:lnTo>
                    <a:pt x="312420" y="220980"/>
                  </a:lnTo>
                  <a:lnTo>
                    <a:pt x="365760" y="257175"/>
                  </a:lnTo>
                  <a:lnTo>
                    <a:pt x="419100" y="294322"/>
                  </a:lnTo>
                  <a:lnTo>
                    <a:pt x="472440" y="330517"/>
                  </a:lnTo>
                  <a:lnTo>
                    <a:pt x="525780" y="365760"/>
                  </a:lnTo>
                  <a:lnTo>
                    <a:pt x="579120" y="401003"/>
                  </a:lnTo>
                  <a:lnTo>
                    <a:pt x="632460" y="436245"/>
                  </a:lnTo>
                  <a:lnTo>
                    <a:pt x="685800" y="471488"/>
                  </a:lnTo>
                  <a:lnTo>
                    <a:pt x="739140" y="505778"/>
                  </a:lnTo>
                  <a:lnTo>
                    <a:pt x="792480" y="539115"/>
                  </a:lnTo>
                  <a:lnTo>
                    <a:pt x="846773" y="573405"/>
                  </a:lnTo>
                  <a:lnTo>
                    <a:pt x="900112" y="606742"/>
                  </a:lnTo>
                  <a:lnTo>
                    <a:pt x="953453" y="640080"/>
                  </a:lnTo>
                  <a:lnTo>
                    <a:pt x="1006792" y="672465"/>
                  </a:lnTo>
                  <a:lnTo>
                    <a:pt x="1060132" y="704850"/>
                  </a:lnTo>
                  <a:lnTo>
                    <a:pt x="1113473" y="737235"/>
                  </a:lnTo>
                  <a:lnTo>
                    <a:pt x="1166812" y="768667"/>
                  </a:lnTo>
                  <a:lnTo>
                    <a:pt x="1220153" y="800100"/>
                  </a:lnTo>
                  <a:lnTo>
                    <a:pt x="1273492" y="831533"/>
                  </a:lnTo>
                  <a:lnTo>
                    <a:pt x="1326832" y="862012"/>
                  </a:lnTo>
                  <a:lnTo>
                    <a:pt x="1381125" y="892492"/>
                  </a:lnTo>
                  <a:lnTo>
                    <a:pt x="1434465" y="922972"/>
                  </a:lnTo>
                  <a:lnTo>
                    <a:pt x="1487805" y="952500"/>
                  </a:lnTo>
                  <a:lnTo>
                    <a:pt x="1541145" y="982028"/>
                  </a:lnTo>
                  <a:lnTo>
                    <a:pt x="1594485" y="1010603"/>
                  </a:lnTo>
                  <a:lnTo>
                    <a:pt x="1647825" y="1040130"/>
                  </a:lnTo>
                  <a:lnTo>
                    <a:pt x="1701165" y="1067753"/>
                  </a:lnTo>
                  <a:lnTo>
                    <a:pt x="1754505" y="1096328"/>
                  </a:lnTo>
                  <a:lnTo>
                    <a:pt x="1807845" y="1123950"/>
                  </a:lnTo>
                  <a:lnTo>
                    <a:pt x="1861185" y="1151572"/>
                  </a:lnTo>
                  <a:lnTo>
                    <a:pt x="1914525" y="1178242"/>
                  </a:lnTo>
                  <a:lnTo>
                    <a:pt x="1967865" y="1204912"/>
                  </a:lnTo>
                  <a:lnTo>
                    <a:pt x="2022158" y="1231582"/>
                  </a:lnTo>
                  <a:lnTo>
                    <a:pt x="2075498" y="1258253"/>
                  </a:lnTo>
                  <a:lnTo>
                    <a:pt x="2119313" y="1279208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681538" y="3410902"/>
              <a:ext cx="9525" cy="1002982"/>
            </a:xfrm>
            <a:custGeom>
              <a:avLst/>
              <a:gdLst/>
              <a:ahLst/>
              <a:cxnLst/>
              <a:rect l="l" t="t" r="r" b="b"/>
              <a:pathLst>
                <a:path w="9525" h="1002982">
                  <a:moveTo>
                    <a:pt x="0" y="1002982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4111942" y="3037522"/>
              <a:ext cx="1460182" cy="1365885"/>
            </a:xfrm>
            <a:custGeom>
              <a:avLst/>
              <a:gdLst/>
              <a:ahLst/>
              <a:cxnLst/>
              <a:rect l="l" t="t" r="r" b="b"/>
              <a:pathLst>
                <a:path w="1460182" h="1365885">
                  <a:moveTo>
                    <a:pt x="1460182" y="1365885"/>
                  </a:moveTo>
                  <a:lnTo>
                    <a:pt x="1460182" y="854393"/>
                  </a:lnTo>
                  <a:lnTo>
                    <a:pt x="0" y="854393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6743"/>
                  </a:lnTo>
                  <a:lnTo>
                    <a:pt x="286703" y="606743"/>
                  </a:lnTo>
                  <a:lnTo>
                    <a:pt x="286703" y="187643"/>
                  </a:lnTo>
                  <a:lnTo>
                    <a:pt x="772477" y="187643"/>
                  </a:lnTo>
                  <a:lnTo>
                    <a:pt x="772477" y="482918"/>
                  </a:lnTo>
                  <a:lnTo>
                    <a:pt x="429578" y="482918"/>
                  </a:lnTo>
                  <a:lnTo>
                    <a:pt x="429578" y="383858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4493895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49377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86740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49377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493770" y="23755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49377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5808345" y="24269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611880" y="26879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749290" y="39785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468058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4680585" y="33994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5571172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540568" y="33147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4643438" y="33623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46223" y="42157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555111" y="23583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85161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94573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20805" y="2454116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716464" y="2557939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φ(x)</a:t>
              </a:r>
            </a:p>
          </p:txBody>
        </p:sp>
      </p:grpSp>
      <p:grpSp>
        <p:nvGrpSpPr>
          <p:cNvPr id="70" name="c2-text-2"/>
          <p:cNvGrpSpPr/>
          <p:nvPr/>
        </p:nvGrpSpPr>
        <p:grpSpPr>
          <a:xfrm>
            <a:off x="3483496" y="4850606"/>
            <a:ext cx="2396084" cy="500824"/>
            <a:chOff x="3483496" y="4850606"/>
            <a:chExt cx="2396084" cy="500824"/>
          </a:xfrm>
        </p:grpSpPr>
        <p:sp>
          <p:nvSpPr>
            <p:cNvPr id="69" name="TextBox 69"/>
            <p:cNvSpPr txBox="1"/>
            <p:nvPr/>
          </p:nvSpPr>
          <p:spPr>
            <a:xfrm>
              <a:off x="3483496" y="4850606"/>
              <a:ext cx="239608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 −1 &lt; φ′(x*) &lt; 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：螺旋状振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荡收敛</a:t>
              </a:r>
            </a:p>
          </p:txBody>
        </p:sp>
      </p:grpSp>
      <p:grpSp>
        <p:nvGrpSpPr>
          <p:cNvPr id="99" name="c3-graph-1"/>
          <p:cNvGrpSpPr/>
          <p:nvPr/>
        </p:nvGrpSpPr>
        <p:grpSpPr>
          <a:xfrm>
            <a:off x="6276022" y="2328386"/>
            <a:ext cx="2422208" cy="2343245"/>
            <a:chOff x="6276022" y="2328386"/>
            <a:chExt cx="2422208" cy="2343245"/>
          </a:xfrm>
        </p:grpSpPr>
        <p:sp>
          <p:nvSpPr>
            <p:cNvPr id="71" name="Freeform 71"/>
            <p:cNvSpPr/>
            <p:nvPr/>
          </p:nvSpPr>
          <p:spPr>
            <a:xfrm>
              <a:off x="6334125" y="4424362"/>
              <a:ext cx="2257425" cy="9525"/>
            </a:xfrm>
            <a:custGeom>
              <a:avLst/>
              <a:gdLst/>
              <a:ahLst/>
              <a:cxnLst/>
              <a:rect l="l" t="t" r="r" b="b"/>
              <a:pathLst>
                <a:path w="2257425" h="9525">
                  <a:moveTo>
                    <a:pt x="0" y="0"/>
                  </a:moveTo>
                  <a:lnTo>
                    <a:pt x="225742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591550" y="4376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6323648" y="2482215"/>
              <a:ext cx="9525" cy="1931670"/>
            </a:xfrm>
            <a:custGeom>
              <a:avLst/>
              <a:gdLst/>
              <a:ahLst/>
              <a:cxnLst/>
              <a:rect l="l" t="t" r="r" b="b"/>
              <a:pathLst>
                <a:path w="9525" h="1931670">
                  <a:moveTo>
                    <a:pt x="0" y="19316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276022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6331268" y="2434590"/>
              <a:ext cx="2299335" cy="1983105"/>
            </a:xfrm>
            <a:custGeom>
              <a:avLst/>
              <a:gdLst/>
              <a:ahLst/>
              <a:cxnLst/>
              <a:rect l="l" t="t" r="r" b="b"/>
              <a:pathLst>
                <a:path w="2299335" h="1983105">
                  <a:moveTo>
                    <a:pt x="0" y="1983105"/>
                  </a:moveTo>
                  <a:lnTo>
                    <a:pt x="22993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894195" y="2371725"/>
              <a:ext cx="1311593" cy="1824038"/>
            </a:xfrm>
            <a:custGeom>
              <a:avLst/>
              <a:gdLst/>
              <a:ahLst/>
              <a:cxnLst/>
              <a:rect l="l" t="t" r="r" b="b"/>
              <a:pathLst>
                <a:path w="1311593" h="1824038">
                  <a:moveTo>
                    <a:pt x="0" y="1824038"/>
                  </a:moveTo>
                  <a:lnTo>
                    <a:pt x="25718" y="1792605"/>
                  </a:lnTo>
                  <a:lnTo>
                    <a:pt x="59055" y="1752600"/>
                  </a:lnTo>
                  <a:lnTo>
                    <a:pt x="92393" y="1711642"/>
                  </a:lnTo>
                  <a:lnTo>
                    <a:pt x="125730" y="1671638"/>
                  </a:lnTo>
                  <a:lnTo>
                    <a:pt x="158115" y="1629728"/>
                  </a:lnTo>
                  <a:lnTo>
                    <a:pt x="191453" y="1588770"/>
                  </a:lnTo>
                  <a:lnTo>
                    <a:pt x="224790" y="1546860"/>
                  </a:lnTo>
                  <a:lnTo>
                    <a:pt x="258128" y="1504950"/>
                  </a:lnTo>
                  <a:lnTo>
                    <a:pt x="290512" y="1462088"/>
                  </a:lnTo>
                  <a:lnTo>
                    <a:pt x="323850" y="1420178"/>
                  </a:lnTo>
                  <a:lnTo>
                    <a:pt x="357188" y="1376362"/>
                  </a:lnTo>
                  <a:lnTo>
                    <a:pt x="390525" y="1333500"/>
                  </a:lnTo>
                  <a:lnTo>
                    <a:pt x="422910" y="1289685"/>
                  </a:lnTo>
                  <a:lnTo>
                    <a:pt x="456248" y="1245870"/>
                  </a:lnTo>
                  <a:lnTo>
                    <a:pt x="489585" y="1201103"/>
                  </a:lnTo>
                  <a:lnTo>
                    <a:pt x="522923" y="1157288"/>
                  </a:lnTo>
                  <a:lnTo>
                    <a:pt x="555308" y="1111568"/>
                  </a:lnTo>
                  <a:lnTo>
                    <a:pt x="588645" y="1066800"/>
                  </a:lnTo>
                  <a:lnTo>
                    <a:pt x="621983" y="1021080"/>
                  </a:lnTo>
                  <a:lnTo>
                    <a:pt x="654368" y="975360"/>
                  </a:lnTo>
                  <a:lnTo>
                    <a:pt x="687705" y="928688"/>
                  </a:lnTo>
                  <a:lnTo>
                    <a:pt x="721043" y="882967"/>
                  </a:lnTo>
                  <a:lnTo>
                    <a:pt x="754380" y="835342"/>
                  </a:lnTo>
                  <a:lnTo>
                    <a:pt x="786765" y="788670"/>
                  </a:lnTo>
                  <a:lnTo>
                    <a:pt x="820103" y="741045"/>
                  </a:lnTo>
                  <a:lnTo>
                    <a:pt x="853440" y="693420"/>
                  </a:lnTo>
                  <a:lnTo>
                    <a:pt x="886778" y="644842"/>
                  </a:lnTo>
                  <a:lnTo>
                    <a:pt x="920115" y="597217"/>
                  </a:lnTo>
                  <a:lnTo>
                    <a:pt x="952500" y="547688"/>
                  </a:lnTo>
                  <a:lnTo>
                    <a:pt x="985838" y="499110"/>
                  </a:lnTo>
                  <a:lnTo>
                    <a:pt x="1019175" y="449580"/>
                  </a:lnTo>
                  <a:lnTo>
                    <a:pt x="1052512" y="400050"/>
                  </a:lnTo>
                  <a:lnTo>
                    <a:pt x="1084898" y="349567"/>
                  </a:lnTo>
                  <a:lnTo>
                    <a:pt x="1118235" y="300038"/>
                  </a:lnTo>
                  <a:lnTo>
                    <a:pt x="1151573" y="248603"/>
                  </a:lnTo>
                  <a:lnTo>
                    <a:pt x="1183958" y="198120"/>
                  </a:lnTo>
                  <a:lnTo>
                    <a:pt x="1217295" y="146685"/>
                  </a:lnTo>
                  <a:lnTo>
                    <a:pt x="1250633" y="95250"/>
                  </a:lnTo>
                  <a:lnTo>
                    <a:pt x="1283970" y="42862"/>
                  </a:lnTo>
                  <a:lnTo>
                    <a:pt x="1311593" y="0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510462" y="3410902"/>
              <a:ext cx="9525" cy="1002982"/>
            </a:xfrm>
            <a:custGeom>
              <a:avLst/>
              <a:gdLst/>
              <a:ahLst/>
              <a:cxnLst/>
              <a:rect l="l" t="t" r="r" b="b"/>
              <a:pathLst>
                <a:path w="9525" h="1002982">
                  <a:moveTo>
                    <a:pt x="0" y="1002982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7778115" y="2766060"/>
              <a:ext cx="361950" cy="1637348"/>
            </a:xfrm>
            <a:custGeom>
              <a:avLst/>
              <a:gdLst/>
              <a:ahLst/>
              <a:cxnLst/>
              <a:rect l="l" t="t" r="r" b="b"/>
              <a:pathLst>
                <a:path w="361950" h="1637348">
                  <a:moveTo>
                    <a:pt x="0" y="1637348"/>
                  </a:moveTo>
                  <a:lnTo>
                    <a:pt x="0" y="255270"/>
                  </a:lnTo>
                  <a:lnTo>
                    <a:pt x="171450" y="255270"/>
                  </a:lnTo>
                  <a:lnTo>
                    <a:pt x="171450" y="0"/>
                  </a:ln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140065" y="2718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632269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869632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632269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6322695" y="23755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632269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8637270" y="24269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6886575" y="42033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8209598" y="2361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750951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7509510" y="33994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7777162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8244840" y="27651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7472362" y="33623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75148" y="42157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384036" y="23583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691151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423498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360073" y="2618899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612966" y="2328386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φ(x)</a:t>
              </a:r>
            </a:p>
          </p:txBody>
        </p:sp>
      </p:grpSp>
      <p:grpSp>
        <p:nvGrpSpPr>
          <p:cNvPr id="101" name="c3-text-2"/>
          <p:cNvGrpSpPr/>
          <p:nvPr/>
        </p:nvGrpSpPr>
        <p:grpSpPr>
          <a:xfrm>
            <a:off x="6423165" y="4850606"/>
            <a:ext cx="2174596" cy="500824"/>
            <a:chOff x="6423165" y="4850606"/>
            <a:chExt cx="2174596" cy="500824"/>
          </a:xfrm>
        </p:grpSpPr>
        <p:sp>
          <p:nvSpPr>
            <p:cNvPr id="100" name="TextBox 100"/>
            <p:cNvSpPr txBox="1"/>
            <p:nvPr/>
          </p:nvSpPr>
          <p:spPr>
            <a:xfrm>
              <a:off x="6423165" y="4850606"/>
              <a:ext cx="217459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(c) φ′(x*) &gt;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：阶梯状离开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x*，发散</a:t>
              </a:r>
            </a:p>
          </p:txBody>
        </p:sp>
      </p:grpSp>
      <p:grpSp>
        <p:nvGrpSpPr>
          <p:cNvPr id="130" name="c4-graph-1"/>
          <p:cNvGrpSpPr/>
          <p:nvPr/>
        </p:nvGrpSpPr>
        <p:grpSpPr>
          <a:xfrm>
            <a:off x="9104948" y="2358390"/>
            <a:ext cx="2423160" cy="2313241"/>
            <a:chOff x="9104948" y="2358390"/>
            <a:chExt cx="2423160" cy="2313241"/>
          </a:xfrm>
        </p:grpSpPr>
        <p:sp>
          <p:nvSpPr>
            <p:cNvPr id="102" name="Freeform 102"/>
            <p:cNvSpPr/>
            <p:nvPr/>
          </p:nvSpPr>
          <p:spPr>
            <a:xfrm>
              <a:off x="9163050" y="4424362"/>
              <a:ext cx="2258377" cy="9525"/>
            </a:xfrm>
            <a:custGeom>
              <a:avLst/>
              <a:gdLst/>
              <a:ahLst/>
              <a:cxnLst/>
              <a:rect l="l" t="t" r="r" b="b"/>
              <a:pathLst>
                <a:path w="2258377" h="9525">
                  <a:moveTo>
                    <a:pt x="0" y="0"/>
                  </a:moveTo>
                  <a:lnTo>
                    <a:pt x="2258377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11421428" y="4376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152572" y="2482215"/>
              <a:ext cx="9525" cy="1931670"/>
            </a:xfrm>
            <a:custGeom>
              <a:avLst/>
              <a:gdLst/>
              <a:ahLst/>
              <a:cxnLst/>
              <a:rect l="l" t="t" r="r" b="b"/>
              <a:pathLst>
                <a:path w="9525" h="1931670">
                  <a:moveTo>
                    <a:pt x="0" y="19316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9104948" y="2386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6" name="Freeform 106"/>
            <p:cNvSpPr/>
            <p:nvPr/>
          </p:nvSpPr>
          <p:spPr>
            <a:xfrm>
              <a:off x="9160192" y="2434590"/>
              <a:ext cx="2299335" cy="1983105"/>
            </a:xfrm>
            <a:custGeom>
              <a:avLst/>
              <a:gdLst/>
              <a:ahLst/>
              <a:cxnLst/>
              <a:rect l="l" t="t" r="r" b="b"/>
              <a:pathLst>
                <a:path w="2299335" h="1983105">
                  <a:moveTo>
                    <a:pt x="0" y="1983105"/>
                  </a:moveTo>
                  <a:lnTo>
                    <a:pt x="22993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9550718" y="2406968"/>
              <a:ext cx="1554480" cy="2009775"/>
            </a:xfrm>
            <a:custGeom>
              <a:avLst/>
              <a:gdLst/>
              <a:ahLst/>
              <a:cxnLst/>
              <a:rect l="l" t="t" r="r" b="b"/>
              <a:pathLst>
                <a:path w="1554480" h="2009775">
                  <a:moveTo>
                    <a:pt x="0" y="0"/>
                  </a:moveTo>
                  <a:lnTo>
                    <a:pt x="32385" y="40005"/>
                  </a:lnTo>
                  <a:lnTo>
                    <a:pt x="71438" y="88583"/>
                  </a:lnTo>
                  <a:lnTo>
                    <a:pt x="110490" y="136208"/>
                  </a:lnTo>
                  <a:lnTo>
                    <a:pt x="149542" y="184785"/>
                  </a:lnTo>
                  <a:lnTo>
                    <a:pt x="188595" y="233362"/>
                  </a:lnTo>
                  <a:lnTo>
                    <a:pt x="228600" y="281940"/>
                  </a:lnTo>
                  <a:lnTo>
                    <a:pt x="267652" y="331470"/>
                  </a:lnTo>
                  <a:lnTo>
                    <a:pt x="306705" y="380048"/>
                  </a:lnTo>
                  <a:lnTo>
                    <a:pt x="345757" y="429578"/>
                  </a:lnTo>
                  <a:lnTo>
                    <a:pt x="384810" y="478155"/>
                  </a:lnTo>
                  <a:lnTo>
                    <a:pt x="423862" y="527685"/>
                  </a:lnTo>
                  <a:lnTo>
                    <a:pt x="462915" y="577215"/>
                  </a:lnTo>
                  <a:lnTo>
                    <a:pt x="501968" y="626745"/>
                  </a:lnTo>
                  <a:lnTo>
                    <a:pt x="541972" y="677228"/>
                  </a:lnTo>
                  <a:lnTo>
                    <a:pt x="581025" y="726758"/>
                  </a:lnTo>
                  <a:lnTo>
                    <a:pt x="620077" y="776288"/>
                  </a:lnTo>
                  <a:lnTo>
                    <a:pt x="659130" y="826770"/>
                  </a:lnTo>
                  <a:lnTo>
                    <a:pt x="698182" y="877253"/>
                  </a:lnTo>
                  <a:lnTo>
                    <a:pt x="738188" y="927735"/>
                  </a:lnTo>
                  <a:lnTo>
                    <a:pt x="777240" y="978217"/>
                  </a:lnTo>
                  <a:lnTo>
                    <a:pt x="816293" y="1028700"/>
                  </a:lnTo>
                  <a:lnTo>
                    <a:pt x="855345" y="1080135"/>
                  </a:lnTo>
                  <a:lnTo>
                    <a:pt x="894397" y="1130618"/>
                  </a:lnTo>
                  <a:lnTo>
                    <a:pt x="933450" y="1182053"/>
                  </a:lnTo>
                  <a:lnTo>
                    <a:pt x="972502" y="1233488"/>
                  </a:lnTo>
                  <a:lnTo>
                    <a:pt x="1011555" y="1284923"/>
                  </a:lnTo>
                  <a:lnTo>
                    <a:pt x="1050607" y="1336358"/>
                  </a:lnTo>
                  <a:lnTo>
                    <a:pt x="1090612" y="1387792"/>
                  </a:lnTo>
                  <a:lnTo>
                    <a:pt x="1129665" y="1439228"/>
                  </a:lnTo>
                  <a:lnTo>
                    <a:pt x="1168718" y="1491615"/>
                  </a:lnTo>
                  <a:lnTo>
                    <a:pt x="1207770" y="1543050"/>
                  </a:lnTo>
                  <a:lnTo>
                    <a:pt x="1246822" y="1595438"/>
                  </a:lnTo>
                  <a:lnTo>
                    <a:pt x="1285875" y="1647825"/>
                  </a:lnTo>
                  <a:lnTo>
                    <a:pt x="1324927" y="1700212"/>
                  </a:lnTo>
                  <a:lnTo>
                    <a:pt x="1363980" y="1752600"/>
                  </a:lnTo>
                  <a:lnTo>
                    <a:pt x="1403985" y="1805940"/>
                  </a:lnTo>
                  <a:lnTo>
                    <a:pt x="1443038" y="1858328"/>
                  </a:lnTo>
                  <a:lnTo>
                    <a:pt x="1482090" y="1911668"/>
                  </a:lnTo>
                  <a:lnTo>
                    <a:pt x="1521143" y="1965008"/>
                  </a:lnTo>
                  <a:lnTo>
                    <a:pt x="1554480" y="2009775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10339388" y="3410902"/>
              <a:ext cx="9525" cy="1002982"/>
            </a:xfrm>
            <a:custGeom>
              <a:avLst/>
              <a:gdLst/>
              <a:ahLst/>
              <a:cxnLst/>
              <a:rect l="l" t="t" r="r" b="b"/>
              <a:pathLst>
                <a:path w="9525" h="1002982">
                  <a:moveTo>
                    <a:pt x="0" y="1002982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09" name="Freeform 109"/>
            <p:cNvSpPr/>
            <p:nvPr/>
          </p:nvSpPr>
          <p:spPr>
            <a:xfrm>
              <a:off x="9632632" y="2941320"/>
              <a:ext cx="1239203" cy="1462088"/>
            </a:xfrm>
            <a:custGeom>
              <a:avLst/>
              <a:gdLst/>
              <a:ahLst/>
              <a:cxnLst/>
              <a:rect l="l" t="t" r="r" b="b"/>
              <a:pathLst>
                <a:path w="1239203" h="1462088">
                  <a:moveTo>
                    <a:pt x="943928" y="1462088"/>
                  </a:moveTo>
                  <a:lnTo>
                    <a:pt x="943928" y="768667"/>
                  </a:lnTo>
                  <a:lnTo>
                    <a:pt x="347662" y="768667"/>
                  </a:lnTo>
                  <a:lnTo>
                    <a:pt x="347662" y="0"/>
                  </a:lnTo>
                  <a:lnTo>
                    <a:pt x="1239203" y="0"/>
                  </a:lnTo>
                  <a:lnTo>
                    <a:pt x="1239203" y="1160145"/>
                  </a:lnTo>
                  <a:lnTo>
                    <a:pt x="0" y="116014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9537382" y="40538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915162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11526203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915162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9151620" y="23755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9151620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11466195" y="24269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9543098" y="23983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11109960" y="4424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338435" y="44234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10338435" y="33994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10575608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9525952" y="41005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10301288" y="33623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11404073" y="42157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212961" y="23583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489596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252423" y="44662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878655" y="2454116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644824" y="2365534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φ(x)</a:t>
              </a:r>
            </a:p>
          </p:txBody>
        </p:sp>
      </p:grpSp>
      <p:grpSp>
        <p:nvGrpSpPr>
          <p:cNvPr id="132" name="c4-text-2"/>
          <p:cNvGrpSpPr/>
          <p:nvPr/>
        </p:nvGrpSpPr>
        <p:grpSpPr>
          <a:xfrm>
            <a:off x="9123870" y="4850606"/>
            <a:ext cx="2431034" cy="500824"/>
            <a:chOff x="9123870" y="4850606"/>
            <a:chExt cx="2431034" cy="500824"/>
          </a:xfrm>
        </p:grpSpPr>
        <p:sp>
          <p:nvSpPr>
            <p:cNvPr id="131" name="TextBox 131"/>
            <p:cNvSpPr txBox="1"/>
            <p:nvPr/>
          </p:nvSpPr>
          <p:spPr>
            <a:xfrm>
              <a:off x="9123870" y="4850606"/>
              <a:ext cx="243103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(d) φ′(x*) &lt; −1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：螺旋状向外，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</p:grpSp>
      <p:grpSp>
        <p:nvGrpSpPr>
          <p:cNvPr id="1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33" name="Rectangle 1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1040130" y="5991225"/>
              <a:ext cx="9505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判断规则：|φ′| 在 x* 附近小于 1 时折线向 P* 收拢；大于 1 时远离。φ′ &gt; 0 走成阶梯，φ′ &lt; 0 绕成螺旋。</a:t>
              </a:r>
            </a:p>
          </p:txBody>
        </p:sp>
      </p:grpSp>
      <p:grpSp>
        <p:nvGrpSpPr>
          <p:cNvPr id="1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9" name="TextBox 1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2678" cy="909257"/>
            <a:chOff x="520446" y="342900"/>
            <a:chExt cx="9612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2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3.1：φ 把 [a, b] 映到自身且 |φ′| ≤ L &lt; 1 时迭代必收敛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735002" cy="4789170"/>
            <a:chOff x="533400" y="1524000"/>
            <a:chExt cx="5735002" cy="4789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4789170"/>
            </a:xfrm>
            <a:prstGeom prst="roundRect">
              <a:avLst>
                <a:gd name="adj" fmla="val 27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224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559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6298" y="17568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收敛性定理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2021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设方程 x = φ(x) 满足：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9620" y="240601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965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514" y="2418874"/>
              <a:ext cx="19547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 在 [a, b] 上连续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9620" y="272415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965" y="2763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514" y="2736056"/>
              <a:ext cx="2834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x ∈ [a, b] 时，φ(x) ∈ [a, b]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9620" y="304133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965" y="30816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514" y="3054191"/>
              <a:ext cx="31495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φ′(x) 存在，且对任意 x ∈ [a, b]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50"/>
                <p:cNvSpPr txBox="1">
                  <a:spLocks noGrp="1"/>
                </p:cNvSpPr>
                <p:nvPr/>
              </p:nvSpPr>
              <p:spPr>
                <a:xfrm>
                  <a:off x="769620" y="3348038"/>
                  <a:ext cx="530066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3.4.6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62381" y="3899059"/>
              <a:ext cx="48475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x = φ(x) 在 [a, b] 上存在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唯一不动点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x*，且对任意 x₀ 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[a, b]，由 xₖ₊₁ = φ(xₖ) 产生的 {xₖ} 收敛于 x*。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573202" y="1524000"/>
            <a:ext cx="5085398" cy="1972628"/>
            <a:chOff x="6573202" y="1524000"/>
            <a:chExt cx="5085398" cy="1972628"/>
          </a:xfrm>
        </p:grpSpPr>
        <p:sp>
          <p:nvSpPr>
            <p:cNvPr id="25" name="Rectangle 25"/>
            <p:cNvSpPr/>
            <p:nvPr/>
          </p:nvSpPr>
          <p:spPr>
            <a:xfrm>
              <a:off x="6573202" y="1524000"/>
              <a:ext cx="5085398" cy="1972628"/>
            </a:xfrm>
            <a:prstGeom prst="roundRect">
              <a:avLst>
                <a:gd name="adj" fmla="val 67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82728" y="1657350"/>
              <a:ext cx="47625" cy="170592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09422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88861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误差估计式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51"/>
                <p:cNvSpPr txBox="1">
                  <a:spLocks noGrp="1"/>
                </p:cNvSpPr>
                <p:nvPr/>
              </p:nvSpPr>
              <p:spPr>
                <a:xfrm>
                  <a:off x="6809422" y="2059305"/>
                  <a:ext cx="465105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3.4.7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52"/>
                <p:cNvSpPr txBox="1">
                  <a:spLocks noGrp="1"/>
                </p:cNvSpPr>
                <p:nvPr/>
              </p:nvSpPr>
              <p:spPr>
                <a:xfrm>
                  <a:off x="6809422" y="2714625"/>
                  <a:ext cx="465105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3.4.8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3" name="c2-table-2"/>
          <p:cNvGrpSpPr/>
          <p:nvPr/>
        </p:nvGrpSpPr>
        <p:grpSpPr>
          <a:xfrm>
            <a:off x="6573202" y="3676650"/>
            <a:ext cx="5085398" cy="1700213"/>
            <a:chOff x="6573202" y="3676650"/>
            <a:chExt cx="5085398" cy="1700213"/>
          </a:xfrm>
        </p:grpSpPr>
        <p:sp>
          <p:nvSpPr>
            <p:cNvPr id="32" name="Rectangle 32"/>
            <p:cNvSpPr/>
            <p:nvPr/>
          </p:nvSpPr>
          <p:spPr>
            <a:xfrm>
              <a:off x="6573202" y="3676650"/>
              <a:ext cx="5085398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87743" y="38052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10737" y="38052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75692" y="4229100"/>
              <a:ext cx="113347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(3.4.7) 事后估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01597" y="433578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用相邻两次迭代值控制上机计算何时停止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73202" y="473392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73202" y="4738688"/>
              <a:ext cx="508539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75692" y="4867275"/>
              <a:ext cx="113347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(3.4.8) 事前估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01597" y="4973955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迭代开始前估计达到精度所需的次数 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73202" y="3676650"/>
              <a:ext cx="5085398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4345" y="367665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3"/>
          <p:cNvGrpSpPr/>
          <p:nvPr/>
        </p:nvGrpSpPr>
        <p:grpSpPr>
          <a:xfrm>
            <a:off x="6573202" y="5556885"/>
            <a:ext cx="5085398" cy="756285"/>
            <a:chOff x="6573202" y="5556885"/>
            <a:chExt cx="5085398" cy="756285"/>
          </a:xfrm>
        </p:grpSpPr>
        <p:sp>
          <p:nvSpPr>
            <p:cNvPr id="44" name="Rectangle 44"/>
            <p:cNvSpPr/>
            <p:nvPr/>
          </p:nvSpPr>
          <p:spPr>
            <a:xfrm>
              <a:off x="6573202" y="5556885"/>
              <a:ext cx="508539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777990" y="5835015"/>
              <a:ext cx="200026" cy="200025"/>
              <a:chOff x="6777990" y="583501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777990" y="5835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17729" y="5879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52444" y="5990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080314" y="5704046"/>
              <a:ext cx="391883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(3.4.7) 也常写成 |x* − xₖ| ≤ L|xₖ − xₖ₋₁|/(1 −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L)，算出 xₖ 就能判断能否停止。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091" cy="909257"/>
            <a:chOff x="520446" y="342900"/>
            <a:chExt cx="8389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 的证明（一）：不动点存在、唯一，迭代收敛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301996" cy="2665476"/>
            <a:chOff x="533400" y="1533525"/>
            <a:chExt cx="5301996" cy="26654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964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5927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6665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42995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5037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8889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h(x) = x − φ(x)，h 在 [a, b] 上连续。由条件 2，h(a) = a − φ(a) 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0，h(b) = b − φ(b) ≥ 0，由介值定理存在 x* ∈ [a, b] 使 h(x*) = 0，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x* = φ(x*)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62556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906077"/>
              <a:ext cx="4507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设另有不动点 y ∈ [a, b]，y ≠ x*。由拉格朗日中值定理，x* − y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φ(x*) − φ(y) = φ′(ξ)(x* − y)，ξ 介于 x* 与 y 之间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4628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得出矛盾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743325"/>
              <a:ext cx="47594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(x* − y)(1 − φ′(ξ)) = 0。x* ≠ y，只能 φ′(ξ) = 1，与条件 3 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|φ′(ξ)| ≤ L &lt; 1 矛盾，所以不动点唯一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370070"/>
            <a:ext cx="5626418" cy="1250632"/>
            <a:chOff x="533400" y="4370070"/>
            <a:chExt cx="5626418" cy="1250632"/>
          </a:xfrm>
        </p:grpSpPr>
        <p:sp>
          <p:nvSpPr>
            <p:cNvPr id="21" name="Rectangle 21"/>
            <p:cNvSpPr/>
            <p:nvPr/>
          </p:nvSpPr>
          <p:spPr>
            <a:xfrm>
              <a:off x="533400" y="437007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0342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568190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4680" y="4602480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 2 的作用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929664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2 既保证 h(a) ≤ 0 ≤ h(b)，又保证每个 xₖ 都留在 [a,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b] 内，后面对 xₖ 用中值定理和条件 3 才有依据。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2471738"/>
            <a:chOff x="6464618" y="1524000"/>
            <a:chExt cx="5193982" cy="2471738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2471738"/>
            </a:xfrm>
            <a:prstGeom prst="roundRect">
              <a:avLst>
                <a:gd name="adj" fmla="val 53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22050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0838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8277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收敛性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3598" y="2082641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x₀ ∈ [a, b]，由条件 2，所有 xₖ 都在 [a, b] 中。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k 用中值定理：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57"/>
                <p:cNvSpPr txBox="1">
                  <a:spLocks noGrp="1"/>
                </p:cNvSpPr>
                <p:nvPr/>
              </p:nvSpPr>
              <p:spPr>
                <a:xfrm>
                  <a:off x="6700838" y="2648902"/>
                  <a:ext cx="475964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ξ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58"/>
                <p:cNvSpPr txBox="1">
                  <a:spLocks noGrp="1"/>
                </p:cNvSpPr>
                <p:nvPr/>
              </p:nvSpPr>
              <p:spPr>
                <a:xfrm>
                  <a:off x="6700838" y="3100388"/>
                  <a:ext cx="475964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≤⋯≤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693598" y="3575209"/>
              <a:ext cx="40860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L &lt; 1，k → ∞ 时 Lᵏ → 0，所以 lim xₖ = x*。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464618" y="4175760"/>
            <a:ext cx="5193982" cy="756285"/>
            <a:chOff x="6464618" y="4175760"/>
            <a:chExt cx="5193982" cy="756285"/>
          </a:xfrm>
        </p:grpSpPr>
        <p:sp>
          <p:nvSpPr>
            <p:cNvPr id="36" name="Rectangle 36"/>
            <p:cNvSpPr/>
            <p:nvPr/>
          </p:nvSpPr>
          <p:spPr>
            <a:xfrm>
              <a:off x="6464618" y="417576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4453890"/>
              <a:ext cx="200026" cy="200026"/>
              <a:chOff x="6669405" y="445389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44538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45205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58305" y="45539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729" y="4322921"/>
              <a:ext cx="421640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每一步误差至少缩小为原来的 L 倍，所以 L 越小，收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敛越快。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3" name="Rectangle 4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11704"/>
              <a:ext cx="8329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三个条件的分工：条件 1、2 保证不动点存在；条件 3 保证它唯一，并让迭代误差按 Lᵏ 缩小到 0。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75653" cy="909257"/>
            <a:chOff x="520446" y="342900"/>
            <a:chExt cx="9075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75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 的证明（二）：两个误差估计式，以及条件的放宽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504602" cy="2998756"/>
            <a:chOff x="533400" y="1533525"/>
            <a:chExt cx="5504602" cy="2998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2566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由上页，|x* − xₖ₊₁| ≤ L|x* − xₖ|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299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推出 (3.4.7)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|xₖ₊₁ − xₖ| ≥ |x* − xₖ| − |x* − xₖ₊₁| ≥ (1 − L)|x* − xₖ|，两边除以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相邻差递推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091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|xₖ₊₁ − xₖ| = |φ(xₖ) − φ(xₖ₋₁)| ≤ L|xₖ − xₖ₋₁| ≤ … ≤ Lᵏ|x₁ − x₀|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1299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推出 (3.4.8)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(3.4.7)：|x* − xₖ| ≤ |xₖ₊₁ − xₖ|/(1 − L) ≤ Lᵏ|x₁ − x₀|/(1 −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L)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711065"/>
            <a:ext cx="5626418" cy="1601152"/>
            <a:chOff x="533400" y="4711065"/>
            <a:chExt cx="5626418" cy="1601152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626418" cy="1601152"/>
            </a:xfrm>
            <a:prstGeom prst="roundRect">
              <a:avLst>
                <a:gd name="adj" fmla="val 83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2950" y="4920615"/>
              <a:ext cx="1540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2372" y="4956334"/>
              <a:ext cx="14223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(3.4.7) 的常用变形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61"/>
                <p:cNvSpPr txBox="1">
                  <a:spLocks noGrp="1"/>
                </p:cNvSpPr>
                <p:nvPr/>
              </p:nvSpPr>
              <p:spPr>
                <a:xfrm>
                  <a:off x="742950" y="5273040"/>
                  <a:ext cx="5207318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736473" y="5903119"/>
              <a:ext cx="499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由相邻差递推的第一步得到，只用已算出的 xₖ₋₁、xₖ 就能判停。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651635"/>
            <a:chOff x="6464618" y="1524000"/>
            <a:chExt cx="5193982" cy="1651635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讨论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211074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大范围收敛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：定理对 [a, b] 的大小没有限制，只要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三个条件成立就收敛，所以可看作大范围收敛定理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2731770"/>
              <a:ext cx="3406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收敛快慢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：取决于 L，L 越小收敛越快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366135"/>
            <a:ext cx="5193982" cy="2946082"/>
            <a:chOff x="6464618" y="3366135"/>
            <a:chExt cx="5193982" cy="2946082"/>
          </a:xfrm>
        </p:grpSpPr>
        <p:sp>
          <p:nvSpPr>
            <p:cNvPr id="40" name="Rectangle 40"/>
            <p:cNvSpPr/>
            <p:nvPr/>
          </p:nvSpPr>
          <p:spPr>
            <a:xfrm>
              <a:off x="6464618" y="3366135"/>
              <a:ext cx="5193982" cy="2946082"/>
            </a:xfrm>
            <a:prstGeom prst="roundRect">
              <a:avLst>
                <a:gd name="adj" fmla="val 4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499485"/>
              <a:ext cx="47625" cy="26793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3575685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0419" y="361140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条件 3 可以放宽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4648" y="3952875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φ(x) 在 [a, b] 上满足 Lipschitz 条件，即对 [a,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b] 上任意两点 x₁、x₂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62"/>
                <p:cNvSpPr txBox="1">
                  <a:spLocks noGrp="1"/>
                </p:cNvSpPr>
                <p:nvPr/>
              </p:nvSpPr>
              <p:spPr>
                <a:xfrm>
                  <a:off x="6712268" y="4549140"/>
                  <a:ext cx="473678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TextBox 46"/>
            <p:cNvSpPr txBox="1"/>
            <p:nvPr/>
          </p:nvSpPr>
          <p:spPr>
            <a:xfrm>
              <a:off x="6704648" y="50882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定理依然成立：证明中用到中值定理的地方，直接换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成这个不等式。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59149" cy="909257"/>
            <a:chOff x="520446" y="342900"/>
            <a:chExt cx="5659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5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局部收敛：在根附近只需看 |φ′(x*)|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2152650"/>
            <a:chOff x="533400" y="1524000"/>
            <a:chExt cx="6059805" cy="2152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96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x* = φ(x*)，φ′ 在 x* 附近连续且 |φ′(x*)| &lt; 1，则存在 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0，只要 x₀ ∈ [x* − δ, x* + δ]，迭代 xₖ₊₁ = φ(xₖ) 就收敛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x*。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954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证明：由连续性取 δ 使该区间上 |φ′(x)| ≤ L &lt; 1，此时 |φ(x) − x*|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|φ′(ξ)||x − x*| ≤ δ，φ 把区间映到自身，再用定理 3.1。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67150"/>
            <a:ext cx="6059805" cy="1916430"/>
            <a:chOff x="533400" y="3867150"/>
            <a:chExt cx="6059805" cy="1916430"/>
          </a:xfrm>
        </p:grpSpPr>
        <p:sp>
          <p:nvSpPr>
            <p:cNvPr id="15" name="Rectangle 15"/>
            <p:cNvSpPr/>
            <p:nvPr/>
          </p:nvSpPr>
          <p:spPr>
            <a:xfrm>
              <a:off x="533400" y="3867150"/>
              <a:ext cx="6059805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0050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07670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6160" y="41124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9202" y="4111942"/>
              <a:ext cx="4364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 = √(3x − 2) 在 [1.5, 3] 上满足定理 3.1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5358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472940"/>
              <a:ext cx="4972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单调增，φ([1.5, 3]) = [1.581, 2.646] ⊂ [1.5, 3]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8710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808220"/>
              <a:ext cx="474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|φ′(x)| = 3/(2√(3x − 2)) ≤ 3/(2√2.5) = 0.949 &lt;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5139214"/>
              <a:ext cx="5157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[1.5, 3] 中任一点出发都收敛到 2。φ(x) = (x² + 2)/3 在 2 处 φ′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4/3 &gt; 1，在含 2 的任何区间上都不满足条件 3。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898005" y="1524000"/>
            <a:ext cx="4760595" cy="4863942"/>
            <a:chOff x="6898005" y="1524000"/>
            <a:chExt cx="4760595" cy="4863942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9024" t="0" r="9024" b="0"/>
            <a:stretch>
              <a:fillRect/>
            </a:stretch>
          </p:blipFill>
          <p:spPr>
            <a:xfrm>
              <a:off x="6898005" y="1524000"/>
              <a:ext cx="4760595" cy="4356735"/>
            </a:xfrm>
            <a:prstGeom prst="roundRect">
              <a:avLst>
                <a:gd name="adj" fmla="val 3060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6996748" y="5975509"/>
              <a:ext cx="4563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公园地图铺在公园里，恰有一点压在它所代表的实地位置上：压缩映射的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不动点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4774" cy="909257"/>
            <a:chOff x="520446" y="342900"/>
            <a:chExt cx="6974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4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3.4 x = e⁻ˣ：先验证定理 3.1 的三个条件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63838" cy="308039"/>
            <a:chOff x="525399" y="1550194"/>
            <a:chExt cx="1036383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638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求方程 f(x) = x eˣ − 1 = 0 在 [1/2, ln 2] 中的解。若要求 |x* − xₖ| &lt; ε = 10⁻⁶，迭代次数 k 至少应为多少？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172329" cy="2763488"/>
            <a:chOff x="533400" y="1977390"/>
            <a:chExt cx="5172329" cy="2763488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构造迭代函数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3097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eˣ = 1 等价于 x = e⁻ˣ，取 φ(x) = e⁻ˣ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220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在 [1/2, ln 2] 上连续可微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φ′(x) = −e⁻ˣ &lt; 0，φ 单调下降，所以 φ(x) 介于 φ(ln 2) = 1/2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φ(1/2) = 0.606531 之间，而 ln 2 = 0.693147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19862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491514"/>
              <a:ext cx="3228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|φ′(x)| = e⁻ˣ ≤ 1/√e = 0.606531 = L &lt; 1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919662"/>
            <a:ext cx="5842635" cy="782955"/>
            <a:chOff x="533400" y="4919662"/>
            <a:chExt cx="584263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91966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211128"/>
              <a:ext cx="200026" cy="200026"/>
              <a:chOff x="738188" y="521112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2111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52889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068252"/>
              <a:ext cx="4901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φ 满足定理 3.1 的全部条件，x = e⁻ˣ 在 [1/2, ln 2] 上有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唯一不动点，由 xₖ₊₁ = exp(−xₖ) 产生的序列收敛到它。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65"/>
              <p:cNvSpPr txBox="1">
                <a:spLocks noGrp="1"/>
              </p:cNvSpPr>
              <p:nvPr/>
            </p:nvSpPr>
            <p:spPr>
              <a:xfrm>
                <a:off x="6680835" y="1967865"/>
                <a:ext cx="497776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2" name="c2-graph-2"/>
          <p:cNvGrpSpPr/>
          <p:nvPr/>
        </p:nvGrpSpPr>
        <p:grpSpPr>
          <a:xfrm>
            <a:off x="7031355" y="2811780"/>
            <a:ext cx="4429125" cy="1760886"/>
            <a:chOff x="7031355" y="2811780"/>
            <a:chExt cx="4429125" cy="1760886"/>
          </a:xfrm>
        </p:grpSpPr>
        <p:sp>
          <p:nvSpPr>
            <p:cNvPr id="34" name="Freeform 34"/>
            <p:cNvSpPr/>
            <p:nvPr/>
          </p:nvSpPr>
          <p:spPr>
            <a:xfrm>
              <a:off x="7089458" y="4368165"/>
              <a:ext cx="4264342" cy="9525"/>
            </a:xfrm>
            <a:custGeom>
              <a:avLst/>
              <a:gdLst/>
              <a:ahLst/>
              <a:cxnLst/>
              <a:rect l="l" t="t" r="r" b="b"/>
              <a:pathLst>
                <a:path w="4264342" h="9525">
                  <a:moveTo>
                    <a:pt x="0" y="0"/>
                  </a:moveTo>
                  <a:lnTo>
                    <a:pt x="4264342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353800" y="4320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078980" y="2939415"/>
              <a:ext cx="9525" cy="1418272"/>
            </a:xfrm>
            <a:custGeom>
              <a:avLst/>
              <a:gdLst/>
              <a:ahLst/>
              <a:cxnLst/>
              <a:rect l="l" t="t" r="r" b="b"/>
              <a:pathLst>
                <a:path w="9525" h="1418272">
                  <a:moveTo>
                    <a:pt x="0" y="141827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31355" y="28441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121968" y="3296602"/>
              <a:ext cx="2014538" cy="705802"/>
            </a:xfrm>
            <a:custGeom>
              <a:avLst/>
              <a:gdLst/>
              <a:ahLst/>
              <a:cxnLst/>
              <a:rect l="l" t="t" r="r" b="b"/>
              <a:pathLst>
                <a:path w="2014538" h="705802">
                  <a:moveTo>
                    <a:pt x="10477" y="705802"/>
                  </a:moveTo>
                  <a:lnTo>
                    <a:pt x="2014538" y="705802"/>
                  </a:lnTo>
                  <a:lnTo>
                    <a:pt x="2014538" y="0"/>
                  </a:lnTo>
                  <a:lnTo>
                    <a:pt x="0" y="0"/>
                  </a:lnTo>
                  <a:lnTo>
                    <a:pt x="0" y="695325"/>
                  </a:lnTo>
                </a:path>
              </a:pathLst>
            </a:custGeom>
            <a:noFill/>
            <a:ln w="13335">
              <a:solidFill>
                <a:srgbClr val="F26B3A"/>
              </a:solidFill>
              <a:custDash>
                <a:ds d="428571" sp="285714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7194232" y="2909888"/>
              <a:ext cx="4047173" cy="1418272"/>
            </a:xfrm>
            <a:custGeom>
              <a:avLst/>
              <a:gdLst/>
              <a:ahLst/>
              <a:cxnLst/>
              <a:rect l="l" t="t" r="r" b="b"/>
              <a:pathLst>
                <a:path w="4047173" h="1418272">
                  <a:moveTo>
                    <a:pt x="0" y="1418272"/>
                  </a:moveTo>
                  <a:lnTo>
                    <a:pt x="404717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98055" y="3430905"/>
              <a:ext cx="3942397" cy="755333"/>
            </a:xfrm>
            <a:custGeom>
              <a:avLst/>
              <a:gdLst/>
              <a:ahLst/>
              <a:cxnLst/>
              <a:rect l="l" t="t" r="r" b="b"/>
              <a:pathLst>
                <a:path w="3942397" h="755333">
                  <a:moveTo>
                    <a:pt x="0" y="0"/>
                  </a:moveTo>
                  <a:lnTo>
                    <a:pt x="121920" y="28575"/>
                  </a:lnTo>
                  <a:lnTo>
                    <a:pt x="254317" y="58103"/>
                  </a:lnTo>
                  <a:lnTo>
                    <a:pt x="385762" y="87630"/>
                  </a:lnTo>
                  <a:lnTo>
                    <a:pt x="518160" y="116205"/>
                  </a:lnTo>
                  <a:lnTo>
                    <a:pt x="650557" y="145733"/>
                  </a:lnTo>
                  <a:lnTo>
                    <a:pt x="782002" y="173355"/>
                  </a:lnTo>
                  <a:lnTo>
                    <a:pt x="914400" y="201930"/>
                  </a:lnTo>
                  <a:lnTo>
                    <a:pt x="1046797" y="229553"/>
                  </a:lnTo>
                  <a:lnTo>
                    <a:pt x="1179195" y="257175"/>
                  </a:lnTo>
                  <a:lnTo>
                    <a:pt x="1310640" y="283845"/>
                  </a:lnTo>
                  <a:lnTo>
                    <a:pt x="1443038" y="310515"/>
                  </a:lnTo>
                  <a:lnTo>
                    <a:pt x="1575435" y="336233"/>
                  </a:lnTo>
                  <a:lnTo>
                    <a:pt x="1706880" y="362903"/>
                  </a:lnTo>
                  <a:lnTo>
                    <a:pt x="1839277" y="387667"/>
                  </a:lnTo>
                  <a:lnTo>
                    <a:pt x="1971675" y="413385"/>
                  </a:lnTo>
                  <a:lnTo>
                    <a:pt x="2103120" y="438150"/>
                  </a:lnTo>
                  <a:lnTo>
                    <a:pt x="2235517" y="462915"/>
                  </a:lnTo>
                  <a:lnTo>
                    <a:pt x="2367915" y="487680"/>
                  </a:lnTo>
                  <a:lnTo>
                    <a:pt x="2500312" y="511492"/>
                  </a:lnTo>
                  <a:lnTo>
                    <a:pt x="2631757" y="535305"/>
                  </a:lnTo>
                  <a:lnTo>
                    <a:pt x="2764155" y="559117"/>
                  </a:lnTo>
                  <a:lnTo>
                    <a:pt x="2896552" y="581978"/>
                  </a:lnTo>
                  <a:lnTo>
                    <a:pt x="3027997" y="604838"/>
                  </a:lnTo>
                  <a:lnTo>
                    <a:pt x="3160395" y="627698"/>
                  </a:lnTo>
                  <a:lnTo>
                    <a:pt x="3292793" y="649605"/>
                  </a:lnTo>
                  <a:lnTo>
                    <a:pt x="3424238" y="671512"/>
                  </a:lnTo>
                  <a:lnTo>
                    <a:pt x="3556635" y="693420"/>
                  </a:lnTo>
                  <a:lnTo>
                    <a:pt x="3689032" y="715328"/>
                  </a:lnTo>
                  <a:lnTo>
                    <a:pt x="3821430" y="736283"/>
                  </a:lnTo>
                  <a:lnTo>
                    <a:pt x="3942397" y="755333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822055" y="3768090"/>
              <a:ext cx="9525" cy="589597"/>
            </a:xfrm>
            <a:custGeom>
              <a:avLst/>
              <a:gdLst/>
              <a:ahLst/>
              <a:cxnLst/>
              <a:rect l="l" t="t" r="r" b="b"/>
              <a:pathLst>
                <a:path w="9525" h="589597">
                  <a:moveTo>
                    <a:pt x="0" y="589597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42" name="Ellipse 42"/>
            <p:cNvSpPr/>
            <p:nvPr/>
          </p:nvSpPr>
          <p:spPr>
            <a:xfrm>
              <a:off x="7078028" y="43672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58575" y="43672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078028" y="43672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078028" y="28327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121015" y="40014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121015" y="40014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182802" y="43310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249978" y="290512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286625" y="34280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1249978" y="41871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821102" y="43672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821102" y="37566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769668" y="3705225"/>
              <a:ext cx="104775" cy="1047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67204" y="4209098"/>
              <a:ext cx="997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x* = 0.567143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7019" y="3266123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e⁻ˣ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74191" y="281178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8174" y="438197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19414" y="4381976"/>
              <a:ext cx="234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ln 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302155" y="42090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17015" y="3145631"/>
              <a:ext cx="1560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 把 [1/2, ln 2] 映入自身</a:t>
              </a:r>
            </a:p>
          </p:txBody>
        </p:sp>
      </p:grpSp>
      <p:grpSp>
        <p:nvGrpSpPr>
          <p:cNvPr id="69" name="c2-card-3"/>
          <p:cNvGrpSpPr/>
          <p:nvPr/>
        </p:nvGrpSpPr>
        <p:grpSpPr>
          <a:xfrm>
            <a:off x="6680835" y="4741545"/>
            <a:ext cx="4977765" cy="1621155"/>
            <a:chOff x="6680835" y="4741545"/>
            <a:chExt cx="4977765" cy="1621155"/>
          </a:xfrm>
        </p:grpSpPr>
        <p:sp>
          <p:nvSpPr>
            <p:cNvPr id="63" name="Rectangle 63"/>
            <p:cNvSpPr/>
            <p:nvPr/>
          </p:nvSpPr>
          <p:spPr>
            <a:xfrm>
              <a:off x="6680835" y="4741545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90360" y="48748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28485" y="49510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19646" y="4986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9512" y="4986338"/>
              <a:ext cx="1989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x = −ln x 行不行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20865" y="5347335"/>
              <a:ext cx="4149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同一方程也可写成 x = −ln x，此时 |φ′(x)| = 1/x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1/ln 2 ≈ 1.44 &gt; 1，不满足条件 3；在根附近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≈ 1.76，迭代发散。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8763" cy="909257"/>
            <a:chOff x="520446" y="342900"/>
            <a:chExt cx="74287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87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3.4 迭代表：误差每步约乘 0.567，线性收敛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5" name="c1-table-1"/>
          <p:cNvGrpSpPr/>
          <p:nvPr/>
        </p:nvGrpSpPr>
        <p:grpSpPr>
          <a:xfrm>
            <a:off x="528447" y="1524000"/>
            <a:ext cx="11130153" cy="3063906"/>
            <a:chOff x="528447" y="1524000"/>
            <a:chExt cx="11130153" cy="30639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27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837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71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357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967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384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487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097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97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0617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5227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010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27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74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0.606531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7626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3.9×10⁻²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4565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4504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0.568438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756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1.3×10⁻³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5489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634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0.567186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886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4.3×10⁻⁵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66789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764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2016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1.4×10⁻⁶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27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374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0.545239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7626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2.2×10⁻²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4565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4504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0.566409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5756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7.3×10⁻⁴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5489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634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3886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2.4×10⁻⁵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6789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43085" y="2333625"/>
              <a:ext cx="120491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70764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667048" y="2333625"/>
              <a:ext cx="98202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82016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8.1×10⁻⁷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27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6374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0.579703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7626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1.3×10⁻²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4565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4504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0.567560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5756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4.2×10⁻⁴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85489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2634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0.567157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3886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1.4×10⁻⁵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66789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0764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016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4.6×10⁻⁷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227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6374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0.560065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47626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7.1×10⁻³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04189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4504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0.566907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5756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2.4×10⁻⁴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85489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2634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0.567135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886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7.9×10⁻⁶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66789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0764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2016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2.6×10⁻⁷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227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6374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0.571172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47626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4.0×10⁻³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504189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14504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0.567277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25756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1.3×10⁻⁴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5489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2634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03886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4.5×10⁻⁶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066789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0764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2016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1.5×10⁻⁷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6227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36374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0.564863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47626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2.3×10⁻³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504189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14504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0.567067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25756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7.6×10⁻⁵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285489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2634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03886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2.5×10⁻⁶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66789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70764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82016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8.4×10⁻⁸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3400" y="1524000"/>
              <a:ext cx="11125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0848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230886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33099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38661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09016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0912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6474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87146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8725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94287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65276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28447" y="4397216"/>
              <a:ext cx="491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 = 0.5，x* = 0.5671433，误差为 |xₖ − x*|；绿色格为误差首次小于 10⁻⁶ 的一步</a:t>
              </a:r>
            </a:p>
          </p:txBody>
        </p:sp>
      </p:grpSp>
      <p:grpSp>
        <p:nvGrpSpPr>
          <p:cNvPr id="122" name="c1-callout-2"/>
          <p:cNvGrpSpPr/>
          <p:nvPr/>
        </p:nvGrpSpPr>
        <p:grpSpPr>
          <a:xfrm>
            <a:off x="533400" y="4719638"/>
            <a:ext cx="11125200" cy="729615"/>
            <a:chOff x="533400" y="4719638"/>
            <a:chExt cx="11125200" cy="729615"/>
          </a:xfrm>
        </p:grpSpPr>
        <p:sp>
          <p:nvSpPr>
            <p:cNvPr id="116" name="Rectangle 116"/>
            <p:cNvSpPr/>
            <p:nvPr/>
          </p:nvSpPr>
          <p:spPr>
            <a:xfrm>
              <a:off x="533400" y="4719638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38188" y="4984433"/>
              <a:ext cx="200026" cy="200025"/>
              <a:chOff x="738188" y="4984433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738188" y="49844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777926" y="50288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812642" y="51400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040892" y="4866322"/>
              <a:ext cx="979493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读表：xₖ 在 x* 两侧交替出现，因为 φ′(x) = −e⁻ˣ &lt; 0（上一页图 (b) 的螺旋情形）；相邻误差之比趋于 |φ′(x*)| = exp(−x*)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x* ≈ 0.567，是线性收敛。</a:t>
              </a:r>
            </a:p>
          </p:txBody>
        </p:sp>
      </p:grpSp>
      <p:grpSp>
        <p:nvGrpSpPr>
          <p:cNvPr id="12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23" name="Rectangle 12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8" name="TextBox 128"/>
            <p:cNvSpPr txBox="1"/>
            <p:nvPr/>
          </p:nvSpPr>
          <p:spPr>
            <a:xfrm>
              <a:off x="1040892" y="6028373"/>
              <a:ext cx="10472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更正：表中数值按 6 位小数重算。原课件 x₈、x₁₁、x₁₃、x₁₇ 写作 0.566410、0.567278、0.567187、0.567147，末位各差 1。</a:t>
              </a:r>
            </a:p>
          </p:txBody>
        </p:sp>
      </p:grpSp>
      <p:grpSp>
        <p:nvGrpSpPr>
          <p:cNvPr id="1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0" name="TextBox 1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1945" cy="909257"/>
            <a:chOff x="520446" y="342900"/>
            <a:chExt cx="6071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1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(3.4.8) 事前估计迭代次数：k ≥ 26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301694" cy="1878615"/>
            <a:chOff x="533400" y="1533525"/>
            <a:chExt cx="5301694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889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(3.4.8)，只要 Lᵏ|x₁ − x₀|/(1 − L) ≤ ε，就有 |x* − xₖ| ≤ 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856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ln L + ln(|x₁ − x₀|/(1 − L)) ≤ ln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2909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L &lt; 0，两边除以 ln L 时不等号反向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68"/>
              <p:cNvSpPr txBox="1">
                <a:spLocks noGrp="1"/>
              </p:cNvSpPr>
              <p:nvPr/>
            </p:nvSpPr>
            <p:spPr>
              <a:xfrm>
                <a:off x="533400" y="3590925"/>
                <a:ext cx="5301615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llout-3"/>
          <p:cNvGrpSpPr/>
          <p:nvPr/>
        </p:nvGrpSpPr>
        <p:grpSpPr>
          <a:xfrm>
            <a:off x="533400" y="4450080"/>
            <a:ext cx="5301615" cy="1059180"/>
            <a:chOff x="533400" y="4450080"/>
            <a:chExt cx="5301615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4450080"/>
              <a:ext cx="530161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79658"/>
              <a:ext cx="200026" cy="200025"/>
              <a:chOff x="738188" y="487965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879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4924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035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598670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事前估计偏保守：实际 k = 20 时误差已是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8.1×10⁻⁷；用 (3.4.7) 判停，算到 k = 23 就能保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证误差小于 10⁻⁶。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139815" y="1524000"/>
            <a:ext cx="5518785" cy="2261235"/>
            <a:chOff x="6139815" y="1524000"/>
            <a:chExt cx="5518785" cy="2261235"/>
          </a:xfrm>
        </p:grpSpPr>
        <p:sp>
          <p:nvSpPr>
            <p:cNvPr id="29" name="Rectangle 29"/>
            <p:cNvSpPr/>
            <p:nvPr/>
          </p:nvSpPr>
          <p:spPr>
            <a:xfrm>
              <a:off x="6139815" y="1524000"/>
              <a:ext cx="5518785" cy="2261235"/>
            </a:xfrm>
            <a:prstGeom prst="roundRect">
              <a:avLst>
                <a:gd name="adj" fmla="val 5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49340" y="1657350"/>
              <a:ext cx="47625" cy="19945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38746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6977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9845" y="211074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10⁻⁶，L = 1/√e = 0.606531，ln L = −0.5，x₀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0.5，x₁ = 0.606531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69"/>
                <p:cNvSpPr txBox="1">
                  <a:spLocks noGrp="1"/>
                </p:cNvSpPr>
                <p:nvPr/>
              </p:nvSpPr>
              <p:spPr>
                <a:xfrm>
                  <a:off x="6387465" y="2707005"/>
                  <a:ext cx="506158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0.393469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s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0.106531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12.508940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25.02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379845" y="3341370"/>
              <a:ext cx="2254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k 取整数，所以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≥ 26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139815" y="3975735"/>
            <a:ext cx="5518785" cy="1602105"/>
            <a:chOff x="6139815" y="3975735"/>
            <a:chExt cx="5518785" cy="1602105"/>
          </a:xfrm>
        </p:grpSpPr>
        <p:sp>
          <p:nvSpPr>
            <p:cNvPr id="37" name="Rectangle 37"/>
            <p:cNvSpPr/>
            <p:nvPr/>
          </p:nvSpPr>
          <p:spPr>
            <a:xfrm>
              <a:off x="6139815" y="3975735"/>
              <a:ext cx="551878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49340" y="41090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87465" y="41852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78626" y="4221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79845" y="4562475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原课件由此式得“k ≥ 25，约需迭代 25 次”。25.02 应向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上取整为 26：k = 25 时 (3.4.8) 右端为 1.009×10⁻⁶，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还大于 10⁻⁶。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收敛的迭代法总是稳定的；快慢要看误差怎样缩小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4191952"/>
            <a:chOff x="533400" y="1524000"/>
            <a:chExt cx="4544378" cy="4191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191952"/>
            </a:xfrm>
            <a:prstGeom prst="roundRect">
              <a:avLst>
                <a:gd name="adj" fmla="val 3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92525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9156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528" y="1769269"/>
              <a:ext cx="94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3.4.4 稳定性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迭代法每步都可以用判停准则检查精度，误差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容易及时发现和纠正。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只要迭代过程收敛，误差随迭代步数增加趋于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零，舍入误差不会逐步累积，所以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收敛的迭代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法总是稳定的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635216"/>
              <a:ext cx="39143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后面不再单独讨论稳定性，重点看收敛性和收敛速度。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收敛速度决定达到指定精度需要多少步，也就是计算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5382578" y="1524000"/>
            <a:ext cx="6276022" cy="4191952"/>
            <a:chOff x="5382578" y="1524000"/>
            <a:chExt cx="6276022" cy="4191952"/>
          </a:xfrm>
        </p:grpSpPr>
        <p:sp>
          <p:nvSpPr>
            <p:cNvPr id="15" name="Rectangle 15"/>
            <p:cNvSpPr/>
            <p:nvPr/>
          </p:nvSpPr>
          <p:spPr>
            <a:xfrm>
              <a:off x="5382578" y="1524000"/>
              <a:ext cx="6276022" cy="4191952"/>
            </a:xfrm>
            <a:prstGeom prst="roundRect">
              <a:avLst>
                <a:gd name="adj" fmla="val 3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92102" y="1657350"/>
              <a:ext cx="47625" cy="3925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30228" y="1733550"/>
              <a:ext cx="6429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16715" y="1769269"/>
              <a:ext cx="470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9845" y="1768792"/>
              <a:ext cx="3687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三个迭代过程的误差 |e(xₖ)| = |xₖ − x*|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30228" y="2105025"/>
              <a:ext cx="58188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01004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3158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误差序列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3077" y="2240756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|eₖ₊₁|/|eₖ|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37789" y="2240756"/>
              <a:ext cx="1026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|eₖ₊₁|/|eₖ|²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24051" y="2802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6233" y="2689384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10⁻², 10⁻³, 10⁻⁴,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10⁻⁵, 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2217" y="2802731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10⁻¹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771" y="280273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∞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630228" y="3224212"/>
              <a:ext cx="58188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30228" y="3228975"/>
              <a:ext cx="58188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4051" y="347805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6233" y="3364706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10⁻², 10⁻⁴, 10⁻⁶,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10⁻⁸, 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02217" y="3478054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10⁻²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23771" y="3478054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∞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630228" y="3900488"/>
              <a:ext cx="58188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24051" y="415337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6233" y="4040029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10⁻², 10⁻⁴, 10⁻⁸,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10⁻¹⁶, 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49411" y="4040029"/>
              <a:ext cx="1093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10⁻², 10⁻⁴, 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98844" y="4153376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30228" y="2105025"/>
              <a:ext cx="5818822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23648" y="210502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35352" y="210502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047922" y="210502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22608" y="4700588"/>
              <a:ext cx="5568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最快，(1) 最慢。(1)(2) 的相邻误差比是常数；(3) 的比值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越来越小，表现出更快趋于 0 的收敛过程，但误差与上一步误差平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方之比是常数。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0772" cy="909257"/>
            <a:chOff x="520446" y="342900"/>
            <a:chExt cx="81307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不动点迭代法及其收敛性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0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 3.3 收敛阶：|εₖ₊₁| 与 |εₖ|ᵖ 之比趋于非零常数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642235"/>
            <a:chOff x="533400" y="1524000"/>
            <a:chExt cx="5410200" cy="2642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2235"/>
            </a:xfrm>
            <a:prstGeom prst="roundRect">
              <a:avLst>
                <a:gd name="adj" fmla="val 50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553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3.3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设迭代格式 xₖ₊₁ = φ(xₖ) 收敛于不动点 x*，误差 εₖ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 − x*。若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1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ε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|"/>
                                        <m:sepChr m:val=""/>
                                        <m:endChr m:val="|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ε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*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|"/>
                                        <m:sepChr m:val=""/>
                                        <m:endChr m:val="|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*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36620"/>
              <a:ext cx="45858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则称迭代格式是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阶收敛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的。p = 1 为线性收敛，p &gt;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为超线性收敛，p = 2 为平方收敛（二次收敛）。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4356735"/>
            <a:ext cx="5410200" cy="1795462"/>
            <a:chOff x="533400" y="4356735"/>
            <a:chExt cx="5410200" cy="1795462"/>
          </a:xfrm>
        </p:grpSpPr>
        <p:sp>
          <p:nvSpPr>
            <p:cNvPr id="16" name="Rectangle 16"/>
            <p:cNvSpPr/>
            <p:nvPr/>
          </p:nvSpPr>
          <p:spPr>
            <a:xfrm>
              <a:off x="533400" y="4356735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63520" y="4492466"/>
              <a:ext cx="538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3.5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56665" y="449246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收敛阶 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45399" y="449246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6816" y="494109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4644" y="49410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08426" y="494109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2492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2539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76816" y="53897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44644" y="53897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8426" y="53897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6988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76816" y="583834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44644" y="58383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0584" y="58383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5673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26005" y="43567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61485" y="43567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537460"/>
            <a:chOff x="6248400" y="1524000"/>
            <a:chExt cx="5410200" cy="253746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537460"/>
            </a:xfrm>
            <a:prstGeom prst="roundRect">
              <a:avLst>
                <a:gd name="adj" fmla="val 5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22707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用导数判断收敛阶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2129790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设迭代收敛于 x*，φ 在 x* 附近有 p 阶连续导数：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2465070"/>
              <a:ext cx="3853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|φ′(x*)| &lt; 1：线性收敛，C = |φ′(x*)|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280035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φ′(x*) = … = φ⁽ᵖ⁻¹⁾(x*) = 0，φ⁽ᵖ⁾(x*) ≠ 0（p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2）：p 阶收敛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9573" y="3418046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Taylor 展开 xₖ₊₁ − x* = φ(xₖ) − φ(x*) = φ⁽ᵖ⁾(ξₖ)(xₖ − x*)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ᵖ/p! 得到。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248400" y="4251960"/>
            <a:ext cx="5410200" cy="1059180"/>
            <a:chOff x="6248400" y="4251960"/>
            <a:chExt cx="5410200" cy="1059180"/>
          </a:xfrm>
        </p:grpSpPr>
        <p:sp>
          <p:nvSpPr>
            <p:cNvPr id="48" name="Rectangle 48"/>
            <p:cNvSpPr/>
            <p:nvPr/>
          </p:nvSpPr>
          <p:spPr>
            <a:xfrm>
              <a:off x="6248400" y="425196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4681540"/>
              <a:ext cx="200023" cy="200023"/>
              <a:chOff x="6453188" y="468154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46815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86538" y="47482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400550"/>
              <a:ext cx="4349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不动点迭代一般只有线性收敛，例 3.4 中 C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0.567。收敛阶越高，达到同样精度的步数越少，所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以总希望找收敛阶尽量高的方法。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3.5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423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迭代法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f 在 xₖ 处线性化，用切线与 x 轴的交点作为新的近似根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01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公式与切线法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3.2：单根附近平方收敛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初值的选择：定理 3.3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割线法：用差商代替导数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00322" cy="909257"/>
            <a:chOff x="520446" y="342900"/>
            <a:chExt cx="8100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00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公式：用 Taylor 展开的线性部分代替 f(x)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085398" cy="1316355"/>
            <a:chOff x="533400" y="1524000"/>
            <a:chExt cx="508539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579" y="1769269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3.5.1 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把非线性函数 f(x) 逐步线性化，从而把非线性方程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 近似地转化为线性方程求解。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040380"/>
            <a:ext cx="4505833" cy="2347246"/>
            <a:chOff x="533400" y="3040380"/>
            <a:chExt cx="4505833" cy="2347246"/>
          </a:xfrm>
        </p:grpSpPr>
        <p:sp>
          <p:nvSpPr>
            <p:cNvPr id="13" name="Rectangle 13"/>
            <p:cNvSpPr/>
            <p:nvPr/>
          </p:nvSpPr>
          <p:spPr>
            <a:xfrm>
              <a:off x="666750" y="318325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62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0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767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50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074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68516"/>
              <a:ext cx="40850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xₖ 是 f(x) = 0 的近似根，f′(xₖ) ≠ 0，把 f 在 xₖ 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Taylor 展开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604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53389"/>
              <a:ext cx="3373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舍去二次及以上的项，f(x) 近似为一次函数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6110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903946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 f(xₖ) + f′(xₖ)(x − xₖ) = 0，把它的根记为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567362"/>
            <a:ext cx="5085398" cy="782955"/>
            <a:chOff x="533400" y="5567362"/>
            <a:chExt cx="5085398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567362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858828"/>
              <a:ext cx="200026" cy="200025"/>
              <a:chOff x="738188" y="5858828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8588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9032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60144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715952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引入中的开方公式就是 f(x) = x² − a 的 Newton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公式：xₖ − (xₖ² − a)/(2xₖ) = (xₖ + a/xₖ)/2。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76"/>
              <p:cNvSpPr txBox="1">
                <a:spLocks noGrp="1"/>
              </p:cNvSpPr>
              <p:nvPr/>
            </p:nvSpPr>
            <p:spPr>
              <a:xfrm>
                <a:off x="5923598" y="1524000"/>
                <a:ext cx="573500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77"/>
              <p:cNvSpPr txBox="1">
                <a:spLocks noGrp="1"/>
              </p:cNvSpPr>
              <p:nvPr/>
            </p:nvSpPr>
            <p:spPr>
              <a:xfrm>
                <a:off x="5923598" y="2254568"/>
                <a:ext cx="573500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78"/>
              <p:cNvSpPr txBox="1">
                <a:spLocks noGrp="1"/>
              </p:cNvSpPr>
              <p:nvPr/>
            </p:nvSpPr>
            <p:spPr>
              <a:xfrm>
                <a:off x="5923598" y="2985135"/>
                <a:ext cx="573500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rd-4"/>
          <p:cNvGrpSpPr/>
          <p:nvPr/>
        </p:nvGrpSpPr>
        <p:grpSpPr>
          <a:xfrm>
            <a:off x="5923598" y="3632835"/>
            <a:ext cx="5735002" cy="2717482"/>
            <a:chOff x="5923598" y="3632835"/>
            <a:chExt cx="5735002" cy="2717482"/>
          </a:xfrm>
        </p:grpSpPr>
        <p:sp>
          <p:nvSpPr>
            <p:cNvPr id="37" name="Rectangle 37"/>
            <p:cNvSpPr/>
            <p:nvPr/>
          </p:nvSpPr>
          <p:spPr>
            <a:xfrm>
              <a:off x="5923598" y="3632835"/>
              <a:ext cx="5735002" cy="2717482"/>
            </a:xfrm>
            <a:prstGeom prst="roundRect">
              <a:avLst>
                <a:gd name="adj" fmla="val 490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33148" y="3842385"/>
              <a:ext cx="191547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77965" y="3878104"/>
              <a:ext cx="182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迭代法（切线法）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79"/>
                <p:cNvSpPr txBox="1">
                  <a:spLocks noGrp="1"/>
                </p:cNvSpPr>
                <p:nvPr/>
              </p:nvSpPr>
              <p:spPr>
                <a:xfrm>
                  <a:off x="6133148" y="4194810"/>
                  <a:ext cx="5315902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3.5.1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125528" y="4983480"/>
              <a:ext cx="485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每步要计算一次函数值 f(xₖ) 和一次导数值 f′(xₖ)。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几何解释：切线与 x 轴的交点就是下一个近似值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694372" y="1563052"/>
            <a:ext cx="5088255" cy="4510088"/>
            <a:chOff x="694372" y="1563052"/>
            <a:chExt cx="5088255" cy="4510088"/>
          </a:xfrm>
        </p:grpSpPr>
        <p:sp>
          <p:nvSpPr>
            <p:cNvPr id="7" name="Freeform 7"/>
            <p:cNvSpPr/>
            <p:nvPr/>
          </p:nvSpPr>
          <p:spPr>
            <a:xfrm>
              <a:off x="705802" y="5336858"/>
              <a:ext cx="4970145" cy="9525"/>
            </a:xfrm>
            <a:custGeom>
              <a:avLst/>
              <a:gdLst/>
              <a:ahLst/>
              <a:cxnLst/>
              <a:rect l="l" t="t" r="r" b="b"/>
              <a:pathLst>
                <a:path w="4970145" h="9525">
                  <a:moveTo>
                    <a:pt x="0" y="0"/>
                  </a:moveTo>
                  <a:lnTo>
                    <a:pt x="497014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75948" y="52892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97280" y="1871662"/>
              <a:ext cx="9525" cy="4190048"/>
            </a:xfrm>
            <a:custGeom>
              <a:avLst/>
              <a:gdLst/>
              <a:ahLst/>
              <a:cxnLst/>
              <a:rect l="l" t="t" r="r" b="b"/>
              <a:pathLst>
                <a:path w="9525" h="4190048">
                  <a:moveTo>
                    <a:pt x="0" y="4190048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49655" y="17764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42085" y="1830705"/>
              <a:ext cx="3999548" cy="3850005"/>
            </a:xfrm>
            <a:custGeom>
              <a:avLst/>
              <a:gdLst/>
              <a:ahLst/>
              <a:cxnLst/>
              <a:rect l="l" t="t" r="r" b="b"/>
              <a:pathLst>
                <a:path w="3999548" h="3850005">
                  <a:moveTo>
                    <a:pt x="0" y="3850005"/>
                  </a:moveTo>
                  <a:lnTo>
                    <a:pt x="90488" y="3834765"/>
                  </a:lnTo>
                  <a:lnTo>
                    <a:pt x="190500" y="3815715"/>
                  </a:lnTo>
                  <a:lnTo>
                    <a:pt x="290512" y="3790950"/>
                  </a:lnTo>
                  <a:lnTo>
                    <a:pt x="391477" y="3762375"/>
                  </a:lnTo>
                  <a:lnTo>
                    <a:pt x="491490" y="3729990"/>
                  </a:lnTo>
                  <a:lnTo>
                    <a:pt x="592455" y="3693795"/>
                  </a:lnTo>
                  <a:lnTo>
                    <a:pt x="692467" y="3652838"/>
                  </a:lnTo>
                  <a:lnTo>
                    <a:pt x="792480" y="3608070"/>
                  </a:lnTo>
                  <a:lnTo>
                    <a:pt x="892492" y="3559492"/>
                  </a:lnTo>
                  <a:lnTo>
                    <a:pt x="993457" y="3506152"/>
                  </a:lnTo>
                  <a:lnTo>
                    <a:pt x="1093470" y="3449002"/>
                  </a:lnTo>
                  <a:lnTo>
                    <a:pt x="1194435" y="3388042"/>
                  </a:lnTo>
                  <a:lnTo>
                    <a:pt x="1294448" y="3322320"/>
                  </a:lnTo>
                  <a:lnTo>
                    <a:pt x="1395412" y="3252788"/>
                  </a:lnTo>
                  <a:lnTo>
                    <a:pt x="1495425" y="3179445"/>
                  </a:lnTo>
                  <a:lnTo>
                    <a:pt x="1595437" y="3101340"/>
                  </a:lnTo>
                  <a:lnTo>
                    <a:pt x="1695450" y="3018473"/>
                  </a:lnTo>
                  <a:lnTo>
                    <a:pt x="1796415" y="2932748"/>
                  </a:lnTo>
                  <a:lnTo>
                    <a:pt x="1897380" y="2843212"/>
                  </a:lnTo>
                  <a:lnTo>
                    <a:pt x="1997393" y="2747962"/>
                  </a:lnTo>
                  <a:lnTo>
                    <a:pt x="2097405" y="2649855"/>
                  </a:lnTo>
                  <a:lnTo>
                    <a:pt x="2197418" y="2546985"/>
                  </a:lnTo>
                  <a:lnTo>
                    <a:pt x="2298382" y="2440305"/>
                  </a:lnTo>
                  <a:lnTo>
                    <a:pt x="2398395" y="2328862"/>
                  </a:lnTo>
                  <a:lnTo>
                    <a:pt x="2499360" y="2213610"/>
                  </a:lnTo>
                  <a:lnTo>
                    <a:pt x="2599372" y="2094548"/>
                  </a:lnTo>
                  <a:lnTo>
                    <a:pt x="2700338" y="1971675"/>
                  </a:lnTo>
                  <a:lnTo>
                    <a:pt x="2800350" y="1844040"/>
                  </a:lnTo>
                  <a:lnTo>
                    <a:pt x="2900362" y="1711642"/>
                  </a:lnTo>
                  <a:lnTo>
                    <a:pt x="3000375" y="1576388"/>
                  </a:lnTo>
                  <a:lnTo>
                    <a:pt x="3101340" y="1436370"/>
                  </a:lnTo>
                  <a:lnTo>
                    <a:pt x="3201352" y="1292542"/>
                  </a:lnTo>
                  <a:lnTo>
                    <a:pt x="3302318" y="1143953"/>
                  </a:lnTo>
                  <a:lnTo>
                    <a:pt x="3402330" y="991553"/>
                  </a:lnTo>
                  <a:lnTo>
                    <a:pt x="3502343" y="835342"/>
                  </a:lnTo>
                  <a:lnTo>
                    <a:pt x="3603308" y="674370"/>
                  </a:lnTo>
                  <a:lnTo>
                    <a:pt x="3703320" y="510540"/>
                  </a:lnTo>
                  <a:lnTo>
                    <a:pt x="3804285" y="340995"/>
                  </a:lnTo>
                  <a:lnTo>
                    <a:pt x="3904298" y="167640"/>
                  </a:lnTo>
                  <a:lnTo>
                    <a:pt x="3999548" y="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12068" y="2406015"/>
              <a:ext cx="9525" cy="2920365"/>
            </a:xfrm>
            <a:custGeom>
              <a:avLst/>
              <a:gdLst/>
              <a:ahLst/>
              <a:cxnLst/>
              <a:rect l="l" t="t" r="r" b="b"/>
              <a:pathLst>
                <a:path w="9525" h="2920365">
                  <a:moveTo>
                    <a:pt x="0" y="292036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2798" y="2405062"/>
              <a:ext cx="1773555" cy="2923222"/>
            </a:xfrm>
            <a:custGeom>
              <a:avLst/>
              <a:gdLst/>
              <a:ahLst/>
              <a:cxnLst/>
              <a:rect l="l" t="t" r="r" b="b"/>
              <a:pathLst>
                <a:path w="1773555" h="2923222">
                  <a:moveTo>
                    <a:pt x="1773555" y="0"/>
                  </a:moveTo>
                  <a:lnTo>
                    <a:pt x="0" y="2923222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28035" y="4693920"/>
              <a:ext cx="9525" cy="632460"/>
            </a:xfrm>
            <a:custGeom>
              <a:avLst/>
              <a:gdLst/>
              <a:ahLst/>
              <a:cxnLst/>
              <a:rect l="l" t="t" r="r" b="b"/>
              <a:pathLst>
                <a:path w="9525" h="632460">
                  <a:moveTo>
                    <a:pt x="0" y="63246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622232" y="4691062"/>
              <a:ext cx="698183" cy="639128"/>
            </a:xfrm>
            <a:custGeom>
              <a:avLst/>
              <a:gdLst/>
              <a:ahLst/>
              <a:cxnLst/>
              <a:rect l="l" t="t" r="r" b="b"/>
              <a:pathLst>
                <a:path w="698183" h="639128">
                  <a:moveTo>
                    <a:pt x="698183" y="0"/>
                  </a:moveTo>
                  <a:lnTo>
                    <a:pt x="0" y="639128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28035" y="4693920"/>
              <a:ext cx="9525" cy="632460"/>
            </a:xfrm>
            <a:custGeom>
              <a:avLst/>
              <a:gdLst/>
              <a:ahLst/>
              <a:cxnLst/>
              <a:rect l="l" t="t" r="r" b="b"/>
              <a:pathLst>
                <a:path w="9525" h="632460">
                  <a:moveTo>
                    <a:pt x="0" y="63246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17" name="Ellipse 17"/>
            <p:cNvSpPr/>
            <p:nvPr/>
          </p:nvSpPr>
          <p:spPr>
            <a:xfrm>
              <a:off x="694372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780722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96328" y="60712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96328" y="17649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430655" y="56807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446395" y="18202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11115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111115" y="23945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111115" y="23945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27082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069205" y="2352675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327082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327082" y="4682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327082" y="4682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13660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285172" y="4640580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327082" y="53359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327082" y="4682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387918" y="52892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6683" y="5030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27201" y="18459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5103" y="55378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59441" y="553783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46018" y="553783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13323" y="51025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8977" y="23069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69113" y="449770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Pₖ₊₁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08889" y="15630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8440" y="38828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切线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524000"/>
            <a:ext cx="5410200" cy="1793558"/>
            <a:chOff x="6248400" y="1524000"/>
            <a:chExt cx="5410200" cy="1793558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1722120"/>
              <a:ext cx="116967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5081" y="1756410"/>
              <a:ext cx="1028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3.5.2 几何意义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7381" y="2082641"/>
              <a:ext cx="472135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x* 是曲线 y = f(x) 与 x 轴交点的横坐标。过 Pₖ = (xₖ,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f(xₖ)) 作切线 y = f(xₖ) + f′(xₖ)(x − xₖ)，令 y = 0 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到的横坐标就是 xₖ₊₁。一次次用切线代替曲线求根，所以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法也叫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切线法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3498532"/>
            <a:ext cx="5410200" cy="2689860"/>
            <a:chOff x="6248400" y="3498532"/>
            <a:chExt cx="5410200" cy="2689860"/>
          </a:xfrm>
        </p:grpSpPr>
        <p:sp>
          <p:nvSpPr>
            <p:cNvPr id="53" name="Rectangle 53"/>
            <p:cNvSpPr/>
            <p:nvPr/>
          </p:nvSpPr>
          <p:spPr>
            <a:xfrm>
              <a:off x="6248400" y="3498532"/>
              <a:ext cx="5410200" cy="2689860"/>
            </a:xfrm>
            <a:prstGeom prst="roundRect">
              <a:avLst>
                <a:gd name="adj" fmla="val 4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3631882"/>
              <a:ext cx="47625" cy="24231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84620" y="3696652"/>
              <a:ext cx="156972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43079" y="3730943"/>
              <a:ext cx="1452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3.5.3 看成不动点迭代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7381" y="405717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 ≠ 0 时，Newton 法就是取下面迭代函数的不动点迭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formula82"/>
                <p:cNvSpPr txBox="1">
                  <a:spLocks noGrp="1"/>
                </p:cNvSpPr>
                <p:nvPr/>
              </p:nvSpPr>
              <p:spPr>
                <a:xfrm>
                  <a:off x="6484620" y="4622482"/>
                  <a:ext cx="497586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9" name="TextBox 59"/>
            <p:cNvSpPr txBox="1"/>
            <p:nvPr/>
          </p:nvSpPr>
          <p:spPr>
            <a:xfrm>
              <a:off x="6477381" y="5223986"/>
              <a:ext cx="46852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单根处 f(x*) = 0 而 f′(x*) ≠ 0，所以 </a:t>
              </a:r>
              <a:r>
                <a:rPr lang="el-GR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φ′(x*) = 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。一般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的不动点迭代只有线性收敛，Newton 法在一定条件下可达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平方收敛。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9914" cy="909257"/>
            <a:chOff x="520446" y="342900"/>
            <a:chExt cx="63399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99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3.2：单根附近 Newton 法平方收敛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2358390"/>
            <a:chOff x="533400" y="1524000"/>
            <a:chExt cx="5085398" cy="23583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48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371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f(x) 在根 x* 附近二阶连续可导，且 f′(x*) ≠ 0，则存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x* 的邻域 D = {x | |x − x*| ≤ δ}，使对任意 x₀ ∈ D，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迭代 (3.5.1) 产生的 {xₖ} 收敛到 x*，且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6"/>
                <p:cNvSpPr txBox="1">
                  <a:spLocks noGrp="1"/>
                </p:cNvSpPr>
                <p:nvPr/>
              </p:nvSpPr>
              <p:spPr>
                <a:xfrm>
                  <a:off x="758190" y="2847022"/>
                  <a:ext cx="4673918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*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3.5.2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485198"/>
              <a:ext cx="4636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Newton 法是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平方收敛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的（f″(x*) = 0 时阶数更高）。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051935"/>
            <a:ext cx="5085398" cy="729615"/>
            <a:chOff x="533400" y="4051935"/>
            <a:chExt cx="5085398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4051935"/>
              <a:ext cx="508539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4313038"/>
              <a:ext cx="224134" cy="192560"/>
              <a:chOff x="726129" y="4313038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43834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43130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461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4198620"/>
              <a:ext cx="41970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这是局部收敛定理：只保证 x₀ 离 x* 足够近时收敛，初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值选得不好可能发散（见例 3.6）。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5923598" y="1533525"/>
            <a:ext cx="5388990" cy="2889409"/>
            <a:chOff x="5923598" y="1533525"/>
            <a:chExt cx="5388990" cy="2889409"/>
          </a:xfrm>
        </p:grpSpPr>
        <p:sp>
          <p:nvSpPr>
            <p:cNvPr id="22" name="Rectangle 22"/>
            <p:cNvSpPr/>
            <p:nvPr/>
          </p:nvSpPr>
          <p:spPr>
            <a:xfrm>
              <a:off x="6056948" y="1676400"/>
              <a:ext cx="19050" cy="23707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23598" y="2323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7221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923598" y="3113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7221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923598" y="390429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7221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35839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6982" y="1833086"/>
              <a:ext cx="49756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 = x − f(x)/f′(x) 满足 φ′(x*) = 0。由连续性，存在邻域 D，D 内 f′(x)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0 且 |φ′(x)| ≤ L &lt; 1，由局部收敛定理得 {xₖ} 收敛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5839" y="2355532"/>
              <a:ext cx="10650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xₖ 处展开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6982" y="2622709"/>
              <a:ext cx="48973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= f(x*) = f(xₖ) + (x* − xₖ)f′(xₖ) + ½(x* − xₖ)²f″(ξₖ)，ξₖ 介于 xₖ 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之间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5839" y="3145155"/>
              <a:ext cx="1666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f′(xₖ) 并移项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6982" y="3413284"/>
              <a:ext cx="4947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− [xₖ − f(xₖ)/f′(xₖ)] = −f″(ξₖ)(x* − xₖ)²/(2f′(xₖ))，方括号内正是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5839" y="39357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取极限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6982" y="4202906"/>
              <a:ext cx="400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→ ∞ 时 xₖ → x*、ξₖ → x*，由 f′、f″ 的连续性得 (3.5.2)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779770"/>
              <a:ext cx="98549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定理要求 f′(x*) ≠ 0。若 x* 是 m 重根（m ≥ 2），φ′(x*) = 1 − 1/m，Newton 法只有线性收敛：对 (x − 1)²(x + 2) = 0 从 x₀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出发，相邻误差比依次为 0.556、0.536、0.522、0.512，趋于 1/2。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79239" cy="909257"/>
            <a:chOff x="520446" y="342900"/>
            <a:chExt cx="103792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792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3.6 Newton 法求 exp(−x/4)(2 − x) − 1 = 0 在 [0, 2] 内的根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857582" cy="1685449"/>
            <a:chOff x="533400" y="1533525"/>
            <a:chExt cx="4857582" cy="168544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有根区间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871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 = 1 &gt; 0，f(2) = −1 &lt; 0，f(x) = 0 在 [0, 2] 内有根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478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6016"/>
              <a:ext cx="4444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 = −¼exp(−x/4)(2 − x) − exp(−x/4) = ¼(x − 6)exp(−x/4)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迭代格式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99894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(3.5.1)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90"/>
              <p:cNvSpPr txBox="1">
                <a:spLocks noGrp="1"/>
              </p:cNvSpPr>
              <p:nvPr/>
            </p:nvSpPr>
            <p:spPr>
              <a:xfrm>
                <a:off x="533400" y="3382328"/>
                <a:ext cx="508539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e>
                          </m:d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4041458"/>
            <a:ext cx="5085398" cy="2121218"/>
            <a:chOff x="533400" y="4041458"/>
            <a:chExt cx="5085398" cy="2121218"/>
          </a:xfrm>
        </p:grpSpPr>
        <p:sp>
          <p:nvSpPr>
            <p:cNvPr id="22" name="Rectangle 22"/>
            <p:cNvSpPr/>
            <p:nvPr/>
          </p:nvSpPr>
          <p:spPr>
            <a:xfrm>
              <a:off x="533400" y="4041458"/>
              <a:ext cx="5085398" cy="2121218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74808"/>
              <a:ext cx="47625" cy="18545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228148"/>
              <a:ext cx="11972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8607" y="4261009"/>
              <a:ext cx="1057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第一步（x₀ = 1）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332" y="4572000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 = −0.221199，f′(1) = −0.973501，x₁ = 1 − (−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0.221199)/(−0.973501) = 0.772780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5918644" y="1524000"/>
            <a:ext cx="5739956" cy="3063906"/>
            <a:chOff x="5918644" y="1524000"/>
            <a:chExt cx="5739956" cy="3063906"/>
          </a:xfrm>
        </p:grpSpPr>
        <p:sp>
          <p:nvSpPr>
            <p:cNvPr id="28" name="Rectangle 28"/>
            <p:cNvSpPr/>
            <p:nvPr/>
          </p:nvSpPr>
          <p:spPr>
            <a:xfrm>
              <a:off x="5923598" y="1524000"/>
              <a:ext cx="573500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488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8432" y="164544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1.0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64817" y="164544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3.0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04069" y="164544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8.0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4488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275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9139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8839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23598" y="23193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23598" y="23241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488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543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0.772780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00361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−1.156000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39613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34.778112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923598" y="27193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488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8543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0.783570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41824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0.189438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98150" y="28455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869.152842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923598" y="31194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923598" y="31242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488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74192" y="3133725"/>
              <a:ext cx="149637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85439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0.783596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41824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0.714043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62006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923598" y="35194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488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8543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0.783596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41824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0.782542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23598" y="39195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923598" y="39243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488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89620" y="3933825"/>
              <a:ext cx="15792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41824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0.783596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23598" y="1524000"/>
              <a:ext cx="573500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5990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7533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97362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18644" y="4397216"/>
              <a:ext cx="3855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 = 1.0 时 f(x₃) ≈ 1.6×10⁻¹⁰；x₀ = 3.0 时 f(x₅) ≈ 2.6×10⁻⁷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5923598" y="4719638"/>
            <a:ext cx="5735002" cy="1443038"/>
            <a:chOff x="5923598" y="4719638"/>
            <a:chExt cx="5735002" cy="1443038"/>
          </a:xfrm>
        </p:grpSpPr>
        <p:sp>
          <p:nvSpPr>
            <p:cNvPr id="70" name="Rectangle 70"/>
            <p:cNvSpPr/>
            <p:nvPr/>
          </p:nvSpPr>
          <p:spPr>
            <a:xfrm>
              <a:off x="5923598" y="4719638"/>
              <a:ext cx="573500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933122" y="485298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148388" y="49063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41059" y="49391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41530" y="5251133"/>
              <a:ext cx="50114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原课件左列标为 x₀ = 1.0，但所列 −1.15599、0.189433、… 是从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3.0 出发的结果；从 1.0 出发第一步应得 0.772780。本表分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成两列。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5784" cy="909257"/>
            <a:chOff x="520446" y="342900"/>
            <a:chExt cx="6635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5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初值不同结果不同：x₀ = 8 处切线几乎水平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714375" y="1764982"/>
            <a:ext cx="5697855" cy="4451509"/>
            <a:chOff x="714375" y="1764982"/>
            <a:chExt cx="5697855" cy="4451509"/>
          </a:xfrm>
        </p:grpSpPr>
        <p:sp>
          <p:nvSpPr>
            <p:cNvPr id="7" name="Freeform 7"/>
            <p:cNvSpPr/>
            <p:nvPr/>
          </p:nvSpPr>
          <p:spPr>
            <a:xfrm>
              <a:off x="725805" y="4627245"/>
              <a:ext cx="5579745" cy="9525"/>
            </a:xfrm>
            <a:custGeom>
              <a:avLst/>
              <a:gdLst/>
              <a:ahLst/>
              <a:cxnLst/>
              <a:rect l="l" t="t" r="r" b="b"/>
              <a:pathLst>
                <a:path w="5579745" h="9525">
                  <a:moveTo>
                    <a:pt x="0" y="0"/>
                  </a:moveTo>
                  <a:lnTo>
                    <a:pt x="557974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305550" y="4579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78292" y="1871662"/>
              <a:ext cx="9525" cy="4238625"/>
            </a:xfrm>
            <a:custGeom>
              <a:avLst/>
              <a:gdLst/>
              <a:ahLst/>
              <a:cxnLst/>
              <a:rect l="l" t="t" r="r" b="b"/>
              <a:pathLst>
                <a:path w="9525" h="4238625">
                  <a:moveTo>
                    <a:pt x="0" y="4238625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30668" y="17764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90588" y="1919288"/>
              <a:ext cx="5423535" cy="3885248"/>
            </a:xfrm>
            <a:custGeom>
              <a:avLst/>
              <a:gdLst/>
              <a:ahLst/>
              <a:cxnLst/>
              <a:rect l="l" t="t" r="r" b="b"/>
              <a:pathLst>
                <a:path w="5423535" h="3885248">
                  <a:moveTo>
                    <a:pt x="0" y="0"/>
                  </a:moveTo>
                  <a:lnTo>
                    <a:pt x="87630" y="344805"/>
                  </a:lnTo>
                  <a:lnTo>
                    <a:pt x="178118" y="673417"/>
                  </a:lnTo>
                  <a:lnTo>
                    <a:pt x="268605" y="975360"/>
                  </a:lnTo>
                  <a:lnTo>
                    <a:pt x="360045" y="1254442"/>
                  </a:lnTo>
                  <a:lnTo>
                    <a:pt x="450533" y="1510665"/>
                  </a:lnTo>
                  <a:lnTo>
                    <a:pt x="541020" y="1745932"/>
                  </a:lnTo>
                  <a:lnTo>
                    <a:pt x="631508" y="1961197"/>
                  </a:lnTo>
                  <a:lnTo>
                    <a:pt x="721995" y="2159318"/>
                  </a:lnTo>
                  <a:lnTo>
                    <a:pt x="812483" y="2341245"/>
                  </a:lnTo>
                  <a:lnTo>
                    <a:pt x="902970" y="2506980"/>
                  </a:lnTo>
                  <a:lnTo>
                    <a:pt x="994410" y="2658428"/>
                  </a:lnTo>
                  <a:lnTo>
                    <a:pt x="1083945" y="2796540"/>
                  </a:lnTo>
                  <a:lnTo>
                    <a:pt x="1175385" y="2922270"/>
                  </a:lnTo>
                  <a:lnTo>
                    <a:pt x="1265872" y="3036570"/>
                  </a:lnTo>
                  <a:lnTo>
                    <a:pt x="1356360" y="3140393"/>
                  </a:lnTo>
                  <a:lnTo>
                    <a:pt x="1446848" y="3234690"/>
                  </a:lnTo>
                  <a:lnTo>
                    <a:pt x="1537335" y="3318510"/>
                  </a:lnTo>
                  <a:lnTo>
                    <a:pt x="1628775" y="3395662"/>
                  </a:lnTo>
                  <a:lnTo>
                    <a:pt x="1718310" y="3464243"/>
                  </a:lnTo>
                  <a:lnTo>
                    <a:pt x="1809750" y="3525202"/>
                  </a:lnTo>
                  <a:lnTo>
                    <a:pt x="1900238" y="3580448"/>
                  </a:lnTo>
                  <a:lnTo>
                    <a:pt x="1990725" y="3629025"/>
                  </a:lnTo>
                  <a:lnTo>
                    <a:pt x="2081212" y="3671888"/>
                  </a:lnTo>
                  <a:lnTo>
                    <a:pt x="2171700" y="3709035"/>
                  </a:lnTo>
                  <a:lnTo>
                    <a:pt x="2262188" y="3742372"/>
                  </a:lnTo>
                  <a:lnTo>
                    <a:pt x="2353628" y="3770948"/>
                  </a:lnTo>
                  <a:lnTo>
                    <a:pt x="2444115" y="3795712"/>
                  </a:lnTo>
                  <a:lnTo>
                    <a:pt x="2534602" y="3817620"/>
                  </a:lnTo>
                  <a:lnTo>
                    <a:pt x="2625090" y="3834765"/>
                  </a:lnTo>
                  <a:lnTo>
                    <a:pt x="2715578" y="3849052"/>
                  </a:lnTo>
                  <a:lnTo>
                    <a:pt x="2806065" y="3860482"/>
                  </a:lnTo>
                  <a:lnTo>
                    <a:pt x="2896552" y="3870007"/>
                  </a:lnTo>
                  <a:lnTo>
                    <a:pt x="2987992" y="3877628"/>
                  </a:lnTo>
                  <a:lnTo>
                    <a:pt x="3077528" y="3881438"/>
                  </a:lnTo>
                  <a:lnTo>
                    <a:pt x="3168968" y="3884295"/>
                  </a:lnTo>
                  <a:lnTo>
                    <a:pt x="3259455" y="3885248"/>
                  </a:lnTo>
                  <a:lnTo>
                    <a:pt x="3349942" y="3885248"/>
                  </a:lnTo>
                  <a:lnTo>
                    <a:pt x="3440430" y="3883343"/>
                  </a:lnTo>
                  <a:lnTo>
                    <a:pt x="3530918" y="3880485"/>
                  </a:lnTo>
                  <a:lnTo>
                    <a:pt x="3622358" y="3875722"/>
                  </a:lnTo>
                  <a:lnTo>
                    <a:pt x="3711892" y="3870960"/>
                  </a:lnTo>
                  <a:lnTo>
                    <a:pt x="3803332" y="3864293"/>
                  </a:lnTo>
                  <a:lnTo>
                    <a:pt x="3893820" y="3857625"/>
                  </a:lnTo>
                  <a:lnTo>
                    <a:pt x="3984308" y="3850005"/>
                  </a:lnTo>
                  <a:lnTo>
                    <a:pt x="4074795" y="3842385"/>
                  </a:lnTo>
                  <a:lnTo>
                    <a:pt x="4165282" y="3832860"/>
                  </a:lnTo>
                  <a:lnTo>
                    <a:pt x="4255770" y="3824288"/>
                  </a:lnTo>
                  <a:lnTo>
                    <a:pt x="4347210" y="3814762"/>
                  </a:lnTo>
                  <a:lnTo>
                    <a:pt x="4437698" y="3804285"/>
                  </a:lnTo>
                  <a:lnTo>
                    <a:pt x="4528185" y="3794760"/>
                  </a:lnTo>
                  <a:lnTo>
                    <a:pt x="4618672" y="3784282"/>
                  </a:lnTo>
                  <a:lnTo>
                    <a:pt x="4709160" y="3773805"/>
                  </a:lnTo>
                  <a:lnTo>
                    <a:pt x="4799648" y="3763328"/>
                  </a:lnTo>
                  <a:lnTo>
                    <a:pt x="4890135" y="3752850"/>
                  </a:lnTo>
                  <a:lnTo>
                    <a:pt x="4981575" y="3741420"/>
                  </a:lnTo>
                  <a:lnTo>
                    <a:pt x="5071110" y="3730943"/>
                  </a:lnTo>
                  <a:lnTo>
                    <a:pt x="5162550" y="3720465"/>
                  </a:lnTo>
                  <a:lnTo>
                    <a:pt x="5253038" y="3709035"/>
                  </a:lnTo>
                  <a:lnTo>
                    <a:pt x="5343525" y="3698557"/>
                  </a:lnTo>
                  <a:lnTo>
                    <a:pt x="5423535" y="3689985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72740" y="4637722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1088708" y="4632008"/>
              <a:ext cx="1774508" cy="906780"/>
            </a:xfrm>
            <a:custGeom>
              <a:avLst/>
              <a:gdLst/>
              <a:ahLst/>
              <a:cxnLst/>
              <a:rect l="l" t="t" r="r" b="b"/>
              <a:pathLst>
                <a:path w="1774508" h="906780">
                  <a:moveTo>
                    <a:pt x="1774508" y="90678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030152" y="4637722"/>
              <a:ext cx="9525" cy="1106805"/>
            </a:xfrm>
            <a:custGeom>
              <a:avLst/>
              <a:gdLst/>
              <a:ahLst/>
              <a:cxnLst/>
              <a:rect l="l" t="t" r="r" b="b"/>
              <a:pathLst>
                <a:path w="9525" h="1106805">
                  <a:moveTo>
                    <a:pt x="0" y="0"/>
                  </a:moveTo>
                  <a:lnTo>
                    <a:pt x="0" y="1106805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040630" y="5638800"/>
              <a:ext cx="1179195" cy="115253"/>
            </a:xfrm>
            <a:custGeom>
              <a:avLst/>
              <a:gdLst/>
              <a:ahLst/>
              <a:cxnLst/>
              <a:rect l="l" t="t" r="r" b="b"/>
              <a:pathLst>
                <a:path w="1179195" h="115253">
                  <a:moveTo>
                    <a:pt x="0" y="115253"/>
                  </a:moveTo>
                  <a:lnTo>
                    <a:pt x="1179195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15062" y="5591175"/>
              <a:ext cx="99060" cy="95250"/>
            </a:xfrm>
            <a:custGeom>
              <a:avLst/>
              <a:gdLst/>
              <a:ahLst/>
              <a:cxnLst/>
              <a:rect l="l" t="t" r="r" b="b"/>
              <a:pathLst>
                <a:path w="99060" h="95250">
                  <a:moveTo>
                    <a:pt x="99060" y="38100"/>
                  </a:moveTo>
                  <a:lnTo>
                    <a:pt x="9525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14375" y="46262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410325" y="46262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577340" y="61198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577340" y="17649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86778" y="19078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323648" y="560736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871788" y="46262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871788" y="55425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871788" y="55425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78230" y="46262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829878" y="550068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1082" y="458914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029200" y="46262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029200" y="5754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029200" y="5754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323648" y="56273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987290" y="571214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129088" y="5767388"/>
              <a:ext cx="76200" cy="762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864042" y="4574858"/>
              <a:ext cx="104775" cy="1047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2324" y="432863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24787" y="1854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89875" y="4409122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x₀ =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396" y="4409122"/>
              <a:ext cx="715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x₁ = −1.156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47288" y="4409122"/>
              <a:ext cx="365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x₀ = 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11727" y="5399246"/>
              <a:ext cx="1074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切线与 x 轴交于 34.8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56097" y="605456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最低点 x = 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02155" y="4143375"/>
              <a:ext cx="715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 ≈ 0.7836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092" y="2199322"/>
              <a:ext cx="505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1185862"/>
            <a:chOff x="6898005" y="1524000"/>
            <a:chExt cx="4760595" cy="1185862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22795" y="1710690"/>
              <a:ext cx="71913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6813" y="1743551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x₀ = 3.0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15937" y="2054542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切线斜率 f′(3) = −0.354，切线与 x 轴交于 −1.156，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先跳到根的另一侧，之后逐步回到 x*。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898005" y="2879408"/>
            <a:ext cx="4760595" cy="1443038"/>
            <a:chOff x="6898005" y="2879408"/>
            <a:chExt cx="4760595" cy="1443038"/>
          </a:xfrm>
        </p:grpSpPr>
        <p:sp>
          <p:nvSpPr>
            <p:cNvPr id="52" name="Rectangle 52"/>
            <p:cNvSpPr/>
            <p:nvPr/>
          </p:nvSpPr>
          <p:spPr>
            <a:xfrm>
              <a:off x="6898005" y="2879408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7530" y="301275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2795" y="3066098"/>
              <a:ext cx="71913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6813" y="3098959"/>
              <a:ext cx="550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x₀ = 8.0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5937" y="3410902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在 x = 6 处取最小值。x &gt; 6 时 f′(x) &gt; 0 且很小，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f′(8) = 0.068，切线与 x 轴交于 34.8；x 越大 f 越接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 −1、切线越平，迭代一路发散。</a:t>
              </a:r>
            </a:p>
          </p:txBody>
        </p:sp>
      </p:grpSp>
      <p:grpSp>
        <p:nvGrpSpPr>
          <p:cNvPr id="77" name="c2-table-3"/>
          <p:cNvGrpSpPr/>
          <p:nvPr/>
        </p:nvGrpSpPr>
        <p:grpSpPr>
          <a:xfrm>
            <a:off x="6893052" y="4491990"/>
            <a:ext cx="4765548" cy="1864709"/>
            <a:chOff x="6893052" y="4491990"/>
            <a:chExt cx="4765548" cy="1864709"/>
          </a:xfrm>
        </p:grpSpPr>
        <p:sp>
          <p:nvSpPr>
            <p:cNvPr id="58" name="Rectangle 58"/>
            <p:cNvSpPr/>
            <p:nvPr/>
          </p:nvSpPr>
          <p:spPr>
            <a:xfrm>
              <a:off x="6898005" y="4491990"/>
              <a:ext cx="476059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03096" y="4613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69243" y="4613434"/>
              <a:ext cx="1642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eₖ = x* − xₖ（x₀ = 1）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62599" y="4613434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eₖ/eₖ₋₁²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03096" y="5013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11766" y="501348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1.08×10⁻²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98005" y="52873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98005" y="529209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03096" y="54135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11766" y="541353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2.58×10⁻⁵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703573" y="541353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898005" y="56873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303096" y="58135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70303" y="581358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1.47×10⁻¹⁰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03573" y="581358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898005" y="4491990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802880" y="449199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168890" y="449199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93052" y="616600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比值趋于 −f″(x*)/(2f′(x*)) = 0.2209，与定理 3.2 一致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01819" cy="909257"/>
            <a:chOff x="520446" y="342900"/>
            <a:chExt cx="94018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018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3.3：选 x₀ 使 f(x₀)f″(x₀) &gt; 0，Newton 迭代必收敛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3208972"/>
            <a:chOff x="533400" y="1524000"/>
            <a:chExt cx="5410200" cy="32089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208972"/>
            </a:xfrm>
            <a:prstGeom prst="roundRect">
              <a:avLst>
                <a:gd name="adj" fmla="val 41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422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48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f(x) 在 [a, b] 上二阶连续可导，且满足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34315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355532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f(a)·f(b) &lt; 0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6431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655570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 ≠ 0，x ∈ [a, b]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2943225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29816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2955608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f″(x) 在 [a, b] 上不变号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3255645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则对任意 x₀ ∈ [a, b]，只要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94"/>
                <p:cNvSpPr txBox="1">
                  <a:spLocks noGrp="1"/>
                </p:cNvSpPr>
                <p:nvPr/>
              </p:nvSpPr>
              <p:spPr>
                <a:xfrm>
                  <a:off x="758190" y="3533775"/>
                  <a:ext cx="49987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51332" y="4077652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x₀ 为初值的 Newton 序列 {xₖ} 必定收敛到 f(x) = 0 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[a, b] 内的唯一实根 x*。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02518"/>
            <a:ext cx="5410200" cy="729615"/>
            <a:chOff x="533400" y="4902518"/>
            <a:chExt cx="5410200" cy="729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9025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167313"/>
              <a:ext cx="200026" cy="200026"/>
              <a:chOff x="738188" y="516731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1673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233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2673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049202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直观理解：f(x₀) 与 f″ 同号时，x₁ 落在 x₀ 与 x* 之间且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不越过 x*，以后每一步都如此，序列单调地逼近 x*。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790700"/>
            <a:chOff x="6248400" y="1524000"/>
            <a:chExt cx="5410200" cy="1790700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1710690"/>
              <a:ext cx="190976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1576" y="1743551"/>
              <a:ext cx="1812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用于例 3.6，[a, b] = [0, 2]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3190" y="204311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288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3987" y="2054542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 = 1，f(2) = −1，异号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3190" y="234315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8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3987" y="2355532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 = ¼(x − 6)exp(−x/4) &lt; 0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3190" y="26431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28868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3987" y="2655570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f″(x) = (10 − x)exp(−x/4)/16 &gt;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7475" y="2952274"/>
              <a:ext cx="320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所以应取 f(x₀) &gt; 0 的初值，即 x₀ ∈ [0, x*)。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6248400" y="3484245"/>
            <a:ext cx="5410200" cy="1800225"/>
            <a:chOff x="6248400" y="3484245"/>
            <a:chExt cx="5410200" cy="1800225"/>
          </a:xfrm>
        </p:grpSpPr>
        <p:sp>
          <p:nvSpPr>
            <p:cNvPr id="47" name="Rectangle 47"/>
            <p:cNvSpPr/>
            <p:nvPr/>
          </p:nvSpPr>
          <p:spPr>
            <a:xfrm>
              <a:off x="6248400" y="3484245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8638" y="36056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6848" y="3605689"/>
              <a:ext cx="96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f(x₀)f″(x₀)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82569" y="36056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迭代结果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07774" y="4105751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60203" y="410575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18220" y="4005739"/>
              <a:ext cx="22090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0.666667, 0.780646, 0.783594,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0.783596，单调增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4796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448437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7774" y="460581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60203" y="460581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18220" y="4605814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定理不保证；实际先落到 0.772780，再收敛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8796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07774" y="500586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07656" y="5005864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∉ [0, 2]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18220" y="50058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条件不成立，发散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48424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17092" y="348424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516302" y="348424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3"/>
          <p:cNvGrpSpPr/>
          <p:nvPr/>
        </p:nvGrpSpPr>
        <p:grpSpPr>
          <a:xfrm>
            <a:off x="6248400" y="5454015"/>
            <a:ext cx="5410200" cy="729615"/>
            <a:chOff x="6248400" y="5454015"/>
            <a:chExt cx="5410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6248400" y="545401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453188" y="5718810"/>
              <a:ext cx="200026" cy="200025"/>
              <a:chOff x="6453188" y="571881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7188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92926" y="57632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27642" y="58743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55892" y="5600700"/>
              <a:ext cx="43856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3.3 是充分条件，条件不满足时也可能收敛（如 x₀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1）。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1356" cy="909257"/>
            <a:chOff x="520446" y="342900"/>
            <a:chExt cx="49013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13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3.5.4 割线法：用差商代替导数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602105"/>
            <a:chOff x="533400" y="1524000"/>
            <a:chExt cx="562641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为什么需要割线法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72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法适用性强、收敛快，缺点是对初值 x₀ 要求高，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而且每步要算导数 f′(xₖ)。f(x) 比较复杂时求导困难，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Newton 法就不方便。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16605"/>
            <a:ext cx="5626418" cy="2984182"/>
            <a:chOff x="533400" y="3316605"/>
            <a:chExt cx="5626418" cy="2984182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626418" cy="2984182"/>
            </a:xfrm>
            <a:prstGeom prst="roundRect">
              <a:avLst>
                <a:gd name="adj" fmla="val 4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271748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308" y="35618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割线法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用相邻两次迭代的函数值作差商，代替微商 (3.5.3)：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97"/>
                <p:cNvSpPr txBox="1">
                  <a:spLocks noGrp="1"/>
                </p:cNvSpPr>
                <p:nvPr/>
              </p:nvSpPr>
              <p:spPr>
                <a:xfrm>
                  <a:off x="781050" y="4213860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73430" y="4899660"/>
              <a:ext cx="3102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Newton 公式得到 (3.5.4)：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98"/>
                <p:cNvSpPr txBox="1">
                  <a:spLocks noGrp="1"/>
                </p:cNvSpPr>
                <p:nvPr/>
              </p:nvSpPr>
              <p:spPr>
                <a:xfrm>
                  <a:off x="781050" y="521017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4573" y="5892641"/>
              <a:ext cx="4579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必须先给出两个初值 x₀、x₁；每步只需算一个新的函数值。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6619875" y="1553051"/>
            <a:ext cx="4883468" cy="2336006"/>
            <a:chOff x="6619875" y="1553051"/>
            <a:chExt cx="4883468" cy="2336006"/>
          </a:xfrm>
        </p:grpSpPr>
        <p:sp>
          <p:nvSpPr>
            <p:cNvPr id="23" name="Freeform 23"/>
            <p:cNvSpPr/>
            <p:nvPr/>
          </p:nvSpPr>
          <p:spPr>
            <a:xfrm>
              <a:off x="6631305" y="3554730"/>
              <a:ext cx="4765358" cy="9525"/>
            </a:xfrm>
            <a:custGeom>
              <a:avLst/>
              <a:gdLst/>
              <a:ahLst/>
              <a:cxnLst/>
              <a:rect l="l" t="t" r="r" b="b"/>
              <a:pathLst>
                <a:path w="4765358" h="9525">
                  <a:moveTo>
                    <a:pt x="0" y="0"/>
                  </a:moveTo>
                  <a:lnTo>
                    <a:pt x="476535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396662" y="35071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005638" y="1755458"/>
              <a:ext cx="9525" cy="2122170"/>
            </a:xfrm>
            <a:custGeom>
              <a:avLst/>
              <a:gdLst/>
              <a:ahLst/>
              <a:cxnLst/>
              <a:rect l="l" t="t" r="r" b="b"/>
              <a:pathLst>
                <a:path w="9525" h="2122170">
                  <a:moveTo>
                    <a:pt x="0" y="21221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58012" y="1660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338060" y="1747838"/>
              <a:ext cx="3772852" cy="1863090"/>
            </a:xfrm>
            <a:custGeom>
              <a:avLst/>
              <a:gdLst/>
              <a:ahLst/>
              <a:cxnLst/>
              <a:rect l="l" t="t" r="r" b="b"/>
              <a:pathLst>
                <a:path w="3772852" h="1863090">
                  <a:moveTo>
                    <a:pt x="0" y="1863090"/>
                  </a:moveTo>
                  <a:lnTo>
                    <a:pt x="83820" y="1862138"/>
                  </a:lnTo>
                  <a:lnTo>
                    <a:pt x="178118" y="1860232"/>
                  </a:lnTo>
                  <a:lnTo>
                    <a:pt x="273368" y="1858328"/>
                  </a:lnTo>
                  <a:lnTo>
                    <a:pt x="367665" y="1854518"/>
                  </a:lnTo>
                  <a:lnTo>
                    <a:pt x="462915" y="1850708"/>
                  </a:lnTo>
                  <a:lnTo>
                    <a:pt x="557212" y="1844992"/>
                  </a:lnTo>
                  <a:lnTo>
                    <a:pt x="652462" y="1838325"/>
                  </a:lnTo>
                  <a:lnTo>
                    <a:pt x="746760" y="1829753"/>
                  </a:lnTo>
                  <a:lnTo>
                    <a:pt x="842010" y="1820228"/>
                  </a:lnTo>
                  <a:lnTo>
                    <a:pt x="937260" y="1808797"/>
                  </a:lnTo>
                  <a:lnTo>
                    <a:pt x="1031558" y="1795462"/>
                  </a:lnTo>
                  <a:lnTo>
                    <a:pt x="1126808" y="1780222"/>
                  </a:lnTo>
                  <a:lnTo>
                    <a:pt x="1221105" y="1763078"/>
                  </a:lnTo>
                  <a:lnTo>
                    <a:pt x="1316355" y="1743075"/>
                  </a:lnTo>
                  <a:lnTo>
                    <a:pt x="1410653" y="1721168"/>
                  </a:lnTo>
                  <a:lnTo>
                    <a:pt x="1504950" y="1696403"/>
                  </a:lnTo>
                  <a:lnTo>
                    <a:pt x="1600200" y="1669732"/>
                  </a:lnTo>
                  <a:lnTo>
                    <a:pt x="1694497" y="1639253"/>
                  </a:lnTo>
                  <a:lnTo>
                    <a:pt x="1789747" y="1606868"/>
                  </a:lnTo>
                  <a:lnTo>
                    <a:pt x="1884045" y="1570672"/>
                  </a:lnTo>
                  <a:lnTo>
                    <a:pt x="1979295" y="1531620"/>
                  </a:lnTo>
                  <a:lnTo>
                    <a:pt x="2073593" y="1488758"/>
                  </a:lnTo>
                  <a:lnTo>
                    <a:pt x="2168843" y="1442085"/>
                  </a:lnTo>
                  <a:lnTo>
                    <a:pt x="2263140" y="1392555"/>
                  </a:lnTo>
                  <a:lnTo>
                    <a:pt x="2357438" y="1339215"/>
                  </a:lnTo>
                  <a:lnTo>
                    <a:pt x="2452688" y="1282065"/>
                  </a:lnTo>
                  <a:lnTo>
                    <a:pt x="2546985" y="1220153"/>
                  </a:lnTo>
                  <a:lnTo>
                    <a:pt x="2642235" y="1154430"/>
                  </a:lnTo>
                  <a:lnTo>
                    <a:pt x="2736533" y="1084897"/>
                  </a:lnTo>
                  <a:lnTo>
                    <a:pt x="2831783" y="1010603"/>
                  </a:lnTo>
                  <a:lnTo>
                    <a:pt x="2926080" y="931545"/>
                  </a:lnTo>
                  <a:lnTo>
                    <a:pt x="3021330" y="847725"/>
                  </a:lnTo>
                  <a:lnTo>
                    <a:pt x="3115628" y="759142"/>
                  </a:lnTo>
                  <a:lnTo>
                    <a:pt x="3210878" y="665798"/>
                  </a:lnTo>
                  <a:lnTo>
                    <a:pt x="3306128" y="566738"/>
                  </a:lnTo>
                  <a:lnTo>
                    <a:pt x="3400425" y="462915"/>
                  </a:lnTo>
                  <a:lnTo>
                    <a:pt x="3495675" y="353377"/>
                  </a:lnTo>
                  <a:lnTo>
                    <a:pt x="3589972" y="239077"/>
                  </a:lnTo>
                  <a:lnTo>
                    <a:pt x="3684270" y="118110"/>
                  </a:lnTo>
                  <a:lnTo>
                    <a:pt x="3772852" y="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860405" y="2079308"/>
              <a:ext cx="9525" cy="1464945"/>
            </a:xfrm>
            <a:custGeom>
              <a:avLst/>
              <a:gdLst/>
              <a:ahLst/>
              <a:cxnLst/>
              <a:rect l="l" t="t" r="r" b="b"/>
              <a:pathLst>
                <a:path w="9525" h="1464945">
                  <a:moveTo>
                    <a:pt x="0" y="146494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9575482" y="316515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9110662" y="2075498"/>
              <a:ext cx="1742123" cy="1472565"/>
            </a:xfrm>
            <a:custGeom>
              <a:avLst/>
              <a:gdLst/>
              <a:ahLst/>
              <a:cxnLst/>
              <a:rect l="l" t="t" r="r" b="b"/>
              <a:pathLst>
                <a:path w="1742123" h="1472565">
                  <a:moveTo>
                    <a:pt x="1742123" y="0"/>
                  </a:moveTo>
                  <a:lnTo>
                    <a:pt x="0" y="147256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619875" y="35537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501438" y="35537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004685" y="38871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004685" y="16487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326630" y="36099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116628" y="17383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859453" y="35537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59453" y="20678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574530" y="35537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574530" y="315372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859453" y="20678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101138" y="35537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817542" y="2025968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532620" y="3111818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059228" y="351186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247698" y="3511868"/>
              <a:ext cx="85725" cy="8572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36597" y="3332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0415" y="16292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80546" y="359616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xₖ₋₁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82695" y="359616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22231" y="359616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xₖ₊₁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68233" y="33704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57147" y="195976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Pₖ₋₁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6226" y="30084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15956" y="2548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割线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06826" y="155305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464618" y="4229100"/>
            <a:ext cx="5193982" cy="2133600"/>
            <a:chOff x="6464618" y="4229100"/>
            <a:chExt cx="5193982" cy="2133600"/>
          </a:xfrm>
        </p:grpSpPr>
        <p:sp>
          <p:nvSpPr>
            <p:cNvPr id="58" name="Rectangle 58"/>
            <p:cNvSpPr/>
            <p:nvPr/>
          </p:nvSpPr>
          <p:spPr>
            <a:xfrm>
              <a:off x="6464618" y="4229100"/>
              <a:ext cx="5193982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43624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12268" y="44386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94576" y="4474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几何意义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04648" y="4815840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Pₖ₋₁ = (xₖ₋₁, f(xₖ₋₁)) 和 Pₖ = (xₖ, f(xₖ)) 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割线，它与 x 轴交点的横坐标就是 xₖ₊₁，所以也叫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弦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05791" y="5719286"/>
              <a:ext cx="4434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补充：单根附近割线法的收敛阶为 (1 + √5)/2 ≈ 1.618，是超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线性收敛。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1774" cy="909257"/>
            <a:chOff x="520446" y="342900"/>
            <a:chExt cx="8941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1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3.7 割线法求 x eˣ − 1 = 0，4 步胜过不动点迭代 14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606915" cy="293370"/>
            <a:chOff x="525780" y="1548765"/>
            <a:chExt cx="960691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606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 f(x) = x eˣ − 1 = 0 在 [0.5, 0.6] 内的根（与例 3.4 是同一个方程），取初始点 x₀ = 0.5，x₁ = 0.6。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1"/>
              <p:cNvSpPr txBox="1">
                <a:spLocks noGrp="1"/>
              </p:cNvSpPr>
              <p:nvPr/>
            </p:nvSpPr>
            <p:spPr>
              <a:xfrm>
                <a:off x="533400" y="1954530"/>
                <a:ext cx="573500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7" name="c1-steps-2"/>
          <p:cNvGrpSpPr/>
          <p:nvPr/>
        </p:nvGrpSpPr>
        <p:grpSpPr>
          <a:xfrm>
            <a:off x="533400" y="2632710"/>
            <a:ext cx="5393436" cy="3061716"/>
            <a:chOff x="533400" y="2632710"/>
            <a:chExt cx="5393436" cy="3061716"/>
          </a:xfrm>
        </p:grpSpPr>
        <p:sp>
          <p:nvSpPr>
            <p:cNvPr id="10" name="Rectangle 10"/>
            <p:cNvSpPr/>
            <p:nvPr/>
          </p:nvSpPr>
          <p:spPr>
            <a:xfrm>
              <a:off x="666750" y="2775585"/>
              <a:ext cx="19050" cy="22926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26327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7065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2499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3237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0871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160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9253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999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26655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算函数值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2946082"/>
              <a:ext cx="312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f(0.5) = −0.175639，f(0.6) = 0.093271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328279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563302"/>
              <a:ext cx="4370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0.6 − (0.6 − 0.5) × 0.093271/(0.093271 + 0.175639)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0.565315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412099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4401502"/>
              <a:ext cx="4309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f(x₂) = −0.005044，x₃ = 0.565315 − (0.565315 − 0.6) × (−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0.005044)/(−0.005044 − 0.093271) = 0.567095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49582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5238750"/>
              <a:ext cx="49804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f(x₃) = −0.000134，同样用 x₂、x₃ 算出 x₄ = 0.567143；每步只算一个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新函数值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567869" y="1954530"/>
            <a:ext cx="5090731" cy="3060001"/>
            <a:chOff x="6567869" y="1954530"/>
            <a:chExt cx="5090731" cy="3060001"/>
          </a:xfrm>
        </p:grpSpPr>
        <p:sp>
          <p:nvSpPr>
            <p:cNvPr id="28" name="Rectangle 28"/>
            <p:cNvSpPr/>
            <p:nvPr/>
          </p:nvSpPr>
          <p:spPr>
            <a:xfrm>
              <a:off x="6573202" y="1954530"/>
              <a:ext cx="5085398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04173" y="20864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01551" y="208645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64342" y="2086451"/>
              <a:ext cx="8073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|xₖ − x*|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04173" y="255031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4239" y="255031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40208" y="255031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6.7×10⁻²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73202" y="287655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73202" y="2881312"/>
              <a:ext cx="508539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4173" y="30132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54239" y="301323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40208" y="301323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3.3×10⁻²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73202" y="333946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04173" y="347614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1393" y="347614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0.565315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40208" y="347614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1.8×10⁻³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73202" y="380333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573202" y="3808095"/>
              <a:ext cx="508539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4173" y="394001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1393" y="394001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0.567095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40208" y="394001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4.9×10⁻⁵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573202" y="426624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4173" y="440293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91393" y="4402931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0.567143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40208" y="4402931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7.3×10⁻⁸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73202" y="1954530"/>
              <a:ext cx="5085398" cy="27793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56208" y="195453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673590" y="195453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7869" y="4809172"/>
              <a:ext cx="3770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x* = 0.5671433，原课件表 3.5 保留 5 位小数，与本表一致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573202" y="5153025"/>
            <a:ext cx="5085398" cy="1018222"/>
            <a:chOff x="6573202" y="5153025"/>
            <a:chExt cx="5085398" cy="1018222"/>
          </a:xfrm>
        </p:grpSpPr>
        <p:sp>
          <p:nvSpPr>
            <p:cNvPr id="58" name="Rectangle 58"/>
            <p:cNvSpPr/>
            <p:nvPr/>
          </p:nvSpPr>
          <p:spPr>
            <a:xfrm>
              <a:off x="6573202" y="5153025"/>
              <a:ext cx="5085398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777990" y="5562600"/>
              <a:ext cx="200026" cy="200026"/>
              <a:chOff x="6777990" y="556260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777990" y="55626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844665" y="56403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080314" y="5300186"/>
              <a:ext cx="412623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割线法迭代 4 次误差为 7.3×10⁻⁸；例 3.4 的不动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点迭代 14 次误差还有 2.4×10⁻⁵，要到 k = 25 才达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到同样精度。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119622" cy="3569017"/>
            <a:chOff x="667512" y="1835468"/>
            <a:chExt cx="6119622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3.6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119622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解非线性方程组的 Newton 迭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3032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把每个方程在 x⁽ᵏ⁾ 处线性化，每步解一个线性方程组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451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Taylor 展开与 Jacobi 矩阵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635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公式与 Newton 方程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3.8 三元非线性方程组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8071" cy="909257"/>
            <a:chOff x="520446" y="342900"/>
            <a:chExt cx="64580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80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逐个方程 Taylor 展开，得到 Jacobi 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80751" cy="597598"/>
            <a:chOff x="525399" y="1550194"/>
            <a:chExt cx="10580751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80751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x* 是方程组 (3.2.1) 的精确解，x⁽ᵏ⁾ 是第 k 次近似。把每个 fᵢ 在 x⁽ᵏ⁾ 处 Taylor 展开，舍去 (xⱼ − xⱼ⁽ᵏ⁾) 的二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次及以上的项，令其为 0，解记为 x⁽ᵏ⁺¹⁾。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2257425"/>
            <a:ext cx="5626418" cy="2486978"/>
            <a:chOff x="533400" y="2257425"/>
            <a:chExt cx="5626418" cy="2486978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626418" cy="2486978"/>
            </a:xfrm>
            <a:prstGeom prst="roundRect">
              <a:avLst>
                <a:gd name="adj" fmla="val 53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222027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262413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7994" y="2502694"/>
              <a:ext cx="2571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线性化后的方程组 (3.6.1)–(3.6.2)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5"/>
                <p:cNvSpPr txBox="1">
                  <a:spLocks noGrp="1"/>
                </p:cNvSpPr>
                <p:nvPr/>
              </p:nvSpPr>
              <p:spPr>
                <a:xfrm>
                  <a:off x="781050" y="2819400"/>
                  <a:ext cx="5169218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500438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这是关于 x⁽ᵏ⁺¹⁾ 的 n 个线性方程，写成矩阵形式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(3.6.3)：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06"/>
                <p:cNvSpPr txBox="1">
                  <a:spLocks noGrp="1"/>
                </p:cNvSpPr>
                <p:nvPr/>
              </p:nvSpPr>
              <p:spPr>
                <a:xfrm>
                  <a:off x="781050" y="4096702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b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llout-2"/>
          <p:cNvGrpSpPr/>
          <p:nvPr/>
        </p:nvGrpSpPr>
        <p:grpSpPr>
          <a:xfrm>
            <a:off x="533400" y="4934902"/>
            <a:ext cx="5626418" cy="1059180"/>
            <a:chOff x="533400" y="4934902"/>
            <a:chExt cx="5626418" cy="1059180"/>
          </a:xfrm>
        </p:grpSpPr>
        <p:sp>
          <p:nvSpPr>
            <p:cNvPr id="17" name="Rectangle 17"/>
            <p:cNvSpPr/>
            <p:nvPr/>
          </p:nvSpPr>
          <p:spPr>
            <a:xfrm>
              <a:off x="533400" y="4934902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364480"/>
              <a:ext cx="200026" cy="200025"/>
              <a:chOff x="738188" y="5364480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3644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4089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5200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083492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1 时 F′(x) 就是 f′(x)，(3.6.3) 退化为 f(xₖ) +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f′(xₖ)(xₖ₊₁ − xₖ) = 0，与单个方程的 Newton 法一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2257425"/>
            <a:ext cx="5193982" cy="3736658"/>
            <a:chOff x="6464618" y="2257425"/>
            <a:chExt cx="5193982" cy="3736658"/>
          </a:xfrm>
        </p:grpSpPr>
        <p:sp>
          <p:nvSpPr>
            <p:cNvPr id="24" name="Rectangle 24"/>
            <p:cNvSpPr/>
            <p:nvPr/>
          </p:nvSpPr>
          <p:spPr>
            <a:xfrm>
              <a:off x="6464618" y="2257425"/>
              <a:ext cx="5193982" cy="3736658"/>
            </a:xfrm>
            <a:prstGeom prst="roundRect">
              <a:avLst>
                <a:gd name="adj" fmla="val 35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2390775"/>
              <a:ext cx="47625" cy="3469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2466975"/>
              <a:ext cx="9944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5307" y="2502694"/>
              <a:ext cx="84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Jacobi 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07"/>
                <p:cNvSpPr txBox="1">
                  <a:spLocks noGrp="1"/>
                </p:cNvSpPr>
                <p:nvPr/>
              </p:nvSpPr>
              <p:spPr>
                <a:xfrm>
                  <a:off x="6712268" y="2819400"/>
                  <a:ext cx="4736782" cy="19392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  <m:e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704648" y="4878705"/>
              <a:ext cx="441912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F′(x⁽ᵏ⁾) 是 F(x) 在点 x⁽ᵏ⁾ 处的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矩阵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行是 fᵢ 对各变量的偏导数，第 j 列对应变量 xⱼ。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87579" cy="909257"/>
            <a:chOff x="520446" y="342900"/>
            <a:chExt cx="75875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87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方程：每步解一个线性方程组，不必求逆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44955"/>
            <a:chOff x="533400" y="1524000"/>
            <a:chExt cx="5626418" cy="1544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4955"/>
            </a:xfrm>
            <a:prstGeom prst="roundRect">
              <a:avLst>
                <a:gd name="adj" fmla="val 86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82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10788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0684" y="1769269"/>
              <a:ext cx="2029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Newton 法迭代公式 (3.6.4)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365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F′(x⁽ᵏ⁾) 可逆，由 (3.6.3) 解出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0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m:rPr>
                                <m:sty m:val="b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259455"/>
            <a:ext cx="5626418" cy="2510790"/>
            <a:chOff x="533400" y="3259455"/>
            <a:chExt cx="5626418" cy="2510790"/>
          </a:xfrm>
        </p:grpSpPr>
        <p:sp>
          <p:nvSpPr>
            <p:cNvPr id="14" name="Rectangle 14"/>
            <p:cNvSpPr/>
            <p:nvPr/>
          </p:nvSpPr>
          <p:spPr>
            <a:xfrm>
              <a:off x="533400" y="3259455"/>
              <a:ext cx="5626418" cy="2510790"/>
            </a:xfrm>
            <a:prstGeom prst="roundRect">
              <a:avLst>
                <a:gd name="adj" fmla="val 531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469005"/>
              <a:ext cx="196691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570" y="3504724"/>
              <a:ext cx="1874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实际计算用的形式 (3.6.5)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11"/>
                <p:cNvSpPr txBox="1">
                  <a:spLocks noGrp="1"/>
                </p:cNvSpPr>
                <p:nvPr/>
              </p:nvSpPr>
              <p:spPr>
                <a:xfrm>
                  <a:off x="742950" y="3821430"/>
                  <a:ext cx="5207318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+Δ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35330" y="4695825"/>
              <a:ext cx="499491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第一式是线性方程组，称为 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方程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。n 很大时求逆矩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阵很费事，改为先解 Newton 方程得 Δx⁽ᵏ⁾，再算 x⁽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ᵏ⁺¹⁾。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464618" y="1533525"/>
            <a:ext cx="5001641" cy="2998756"/>
            <a:chOff x="6464618" y="1533525"/>
            <a:chExt cx="5001641" cy="2998756"/>
          </a:xfrm>
        </p:grpSpPr>
        <p:sp>
          <p:nvSpPr>
            <p:cNvPr id="20" name="Rectangle 20"/>
            <p:cNvSpPr/>
            <p:nvPr/>
          </p:nvSpPr>
          <p:spPr>
            <a:xfrm>
              <a:off x="6597968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1861661"/>
              <a:ext cx="2580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取初始向量 x⁽⁰⁾ 和精度 ε，k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2512219"/>
              <a:ext cx="3819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算出函数向量 F(x⁽ᵏ⁾) 和 Jacobi 矩阵 F′(x⁽ᵏ⁾)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098" y="2868930"/>
              <a:ext cx="1498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Newton 方程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241" y="316277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解线性方程组 F′(x⁽ᵏ⁾)Δx⁽ᵏ⁾ = −F(x⁽ᵏ⁾)，可用第 2 章的消去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法或 LU 分解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098" y="37547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更新与判停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241" y="4048601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= x⁽ᵏ⁾ + Δx⁽ᵏ⁾；若 ‖Δx⁽ᵏ⁾‖∞ &lt; ε 则停止，否则 k 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1，回到第 2 步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4711065"/>
            <a:ext cx="5193982" cy="1059180"/>
            <a:chOff x="6464618" y="4711065"/>
            <a:chExt cx="5193982" cy="1059180"/>
          </a:xfrm>
        </p:grpSpPr>
        <p:sp>
          <p:nvSpPr>
            <p:cNvPr id="38" name="Rectangle 38"/>
            <p:cNvSpPr/>
            <p:nvPr/>
          </p:nvSpPr>
          <p:spPr>
            <a:xfrm>
              <a:off x="6464618" y="471106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5140643"/>
              <a:ext cx="200026" cy="200026"/>
              <a:chOff x="6669405" y="514064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5140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69418" y="5207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58305" y="52406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1348" y="4859655"/>
              <a:ext cx="4263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补充：F′(x*) 可逆、F 二阶连续可微时，只要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x⁽⁰⁾ 离 x* 足够近，方程组的 Newton 法也是平方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收敛的。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68540" cy="909257"/>
            <a:chOff x="520446" y="342900"/>
            <a:chExt cx="94685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685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3.8 三元非线性方程组：写出 F 与 Jacobi 矩阵，算第一步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076450"/>
            <a:chOff x="533400" y="1524000"/>
            <a:chExt cx="5626418" cy="2076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429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538" y="1769269"/>
              <a:ext cx="470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30668" y="1768792"/>
              <a:ext cx="1700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Newton 法求解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4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5169218" cy="12668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81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1.06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10π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790950"/>
            <a:ext cx="5626418" cy="1733550"/>
            <a:chOff x="533400" y="3790950"/>
            <a:chExt cx="5626418" cy="17335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90950"/>
              <a:ext cx="5626418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2430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000500"/>
              <a:ext cx="99441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4089" y="4036219"/>
              <a:ext cx="84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Jacobi 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15"/>
                <p:cNvSpPr txBox="1">
                  <a:spLocks noGrp="1"/>
                </p:cNvSpPr>
                <p:nvPr/>
              </p:nvSpPr>
              <p:spPr>
                <a:xfrm>
                  <a:off x="781050" y="4352925"/>
                  <a:ext cx="5169218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sub>
                                  </m:sSub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e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162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0.1</m:t>
                                      </m:r>
                                    </m:e>
                                  </m:d>
                                </m:e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p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steps-1"/>
          <p:cNvGrpSpPr/>
          <p:nvPr/>
        </p:nvGrpSpPr>
        <p:grpSpPr>
          <a:xfrm>
            <a:off x="6464618" y="1533525"/>
            <a:ext cx="4863465" cy="3883629"/>
            <a:chOff x="6464618" y="1533525"/>
            <a:chExt cx="4863465" cy="3883629"/>
          </a:xfrm>
        </p:grpSpPr>
        <p:sp>
          <p:nvSpPr>
            <p:cNvPr id="20" name="Rectangle 20"/>
            <p:cNvSpPr/>
            <p:nvPr/>
          </p:nvSpPr>
          <p:spPr>
            <a:xfrm>
              <a:off x="6597968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4618" y="46062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8241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1861661"/>
              <a:ext cx="211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x⁽⁰⁾ = (0.1, 0.1, −0.1)ᵀ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098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函数向量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241" y="2512219"/>
              <a:ext cx="4026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F(x⁽⁰⁾) = (−1.199950, −2.269833, 8.462025)ᵀ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098" y="2868930"/>
              <a:ext cx="113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矩阵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241" y="3162776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F′(x⁽⁰⁾) 三行依次为 (3, 0.001000, −0.001000)、(0.2,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32.4, 0.995004)、(−0.099005, −0.099005, 20)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6098" y="3754755"/>
              <a:ext cx="1498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Newton 方程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7241" y="4048601"/>
              <a:ext cx="4117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F′(x⁽⁰⁾)Δx⁽⁰⁾ = −F(x⁽⁰⁾)，得 Δx⁽⁰⁾ = (0.399870,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0.080533, −0.421520)ᵀ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6098" y="4640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7241" y="4933474"/>
              <a:ext cx="3808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x⁽¹⁾ = x⁽⁰⁾ + Δx⁽⁰⁾，即 (0.499870, 0.019467,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0.521520)ᵀ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10303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手算时每一步都是“代值算 F 与 F′ → 解 3×3 线性方程组 → 更新”；解方程组可以用第 2 章的列主元 Gauss 消去法。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3472" cy="909257"/>
            <a:chOff x="520446" y="342900"/>
            <a:chExt cx="5743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3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3.8 迭代结果：‖Δx‖∞ 按平方缩小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28066" y="1524000"/>
            <a:ext cx="6497574" cy="3522917"/>
            <a:chOff x="528066" y="1524000"/>
            <a:chExt cx="6497574" cy="352291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751" y="16559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32213" y="165592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x₁⁽ᵏ⁾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79048" y="165592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x₂⁽ᵏ⁾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77318" y="165592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15775" y="1655921"/>
              <a:ext cx="16804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x⁽ᵏ⁻¹⁾‖∞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751" y="211978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0494" y="211978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7329" y="211978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3030" y="2119789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4602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50782"/>
              <a:ext cx="649224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751" y="258270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510" y="2582704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0.49986967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9345" y="2582704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0.01946685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75046" y="2582704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−0.52152047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33341" y="2582704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0.4215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9089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751" y="304561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510" y="3045619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0.50001424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9345" y="3045619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0.00158859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5046" y="3045619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−0.52355696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75634" y="3045619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1.79×10⁻²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728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377565"/>
              <a:ext cx="649224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5751" y="350948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2510" y="350948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0.50000011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9345" y="350948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0.00001244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75046" y="3509486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−0.52359845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75634" y="350948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1.58×10⁻³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357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751" y="397240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2510" y="3972401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0.50000000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29345" y="3972401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75046" y="3972401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−0.52359878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5634" y="3972401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1.24×10⁻⁵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986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303395"/>
              <a:ext cx="649224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751" y="443626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2510" y="4436269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0.50000000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29345" y="4436269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0.00000000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75046" y="4436269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−0.52359878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75634" y="4436269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7.8×10⁻¹⁰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492240" cy="32432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7260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284095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29978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080635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066" y="4841558"/>
              <a:ext cx="2357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按公式 (3.6.5) 计算，保留 8 位小数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7330440" y="1524000"/>
            <a:ext cx="4328160" cy="2132648"/>
            <a:chOff x="7330440" y="1524000"/>
            <a:chExt cx="4328160" cy="2132648"/>
          </a:xfrm>
        </p:grpSpPr>
        <p:sp>
          <p:nvSpPr>
            <p:cNvPr id="57" name="Rectangle 57"/>
            <p:cNvSpPr/>
            <p:nvPr/>
          </p:nvSpPr>
          <p:spPr>
            <a:xfrm>
              <a:off x="7330440" y="1524000"/>
              <a:ext cx="4328160" cy="2132648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1657350"/>
              <a:ext cx="47625" cy="18659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6666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4609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验证精确解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50021" y="1756886"/>
              <a:ext cx="2021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(0.5, 0, −π/6)ᵀ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74280" y="216122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0871" y="2100739"/>
              <a:ext cx="23179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= 1.5 − cos 0 − 0.5 = 0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74280" y="24784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30871" y="2418874"/>
              <a:ext cx="3589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= 0.25 − 0.81 + sin(−π/6) + 1.06 = 0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574280" y="27965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30871" y="2736056"/>
              <a:ext cx="3006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f₃ = e⁰ − 10π/3 + (10π − 3)/3 = 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60564" y="3049905"/>
              <a:ext cx="36164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−π/6 = −0.5235987756，迭代 5 次后与精确解一致到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位小数。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7330440" y="3836670"/>
            <a:ext cx="4328160" cy="1018222"/>
            <a:chOff x="7330440" y="3836670"/>
            <a:chExt cx="4328160" cy="1018222"/>
          </a:xfrm>
        </p:grpSpPr>
        <p:sp>
          <p:nvSpPr>
            <p:cNvPr id="70" name="Rectangle 70"/>
            <p:cNvSpPr/>
            <p:nvPr/>
          </p:nvSpPr>
          <p:spPr>
            <a:xfrm>
              <a:off x="7330440" y="3836670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535228" y="4246247"/>
              <a:ext cx="200023" cy="200023"/>
              <a:chOff x="7535228" y="424624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535228" y="42462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668578" y="4312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837551" y="3984784"/>
              <a:ext cx="346798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‖Δx⁽ᵏ⁾‖∞ / ‖Δx⁽ᵏ⁻¹⁾‖∞² 依次约为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0.10、4.9、5.0、5.0，趋于常数，与平方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收敛相符。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6" name="Rectangle 7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511" y="5753576"/>
              <a:ext cx="899541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更正：原课件表 3.6 中 k = 1、2、3 行的 x₁ 写作 0.50003702、0.50004593、0.50000034，k = 4 行 x₃ 写作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0.53259877，k = 1 行范数写作 0.423，按题给方程重算应为上表数值。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0996" cy="909257"/>
            <a:chOff x="520446" y="342900"/>
            <a:chExt cx="52209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09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实验题：四种方法的 Python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647950"/>
            <a:chOff x="533400" y="1524000"/>
            <a:chExt cx="5410200" cy="2647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7950"/>
            </a:xfrm>
            <a:prstGeom prst="roundRect">
              <a:avLst>
                <a:gd name="adj" fmla="val 35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42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实验题 2：二分法与不动点迭代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21" y="1936242"/>
              <a:ext cx="2914421" cy="2152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bisect(f, a, b, eps):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= 0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 - a) / 2 &gt; eps: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 = a + (b - a) / 2; n += 1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(f(m) &gt; 0) == (f(a) &gt; 0): a = m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b = m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+ (b - a) / 2, n + 1</a:t>
              </a:r>
              <a:br/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fixed(phi, x, eps):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range(1, 1000):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x1 = phi(x)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abs(x1 - x) &lt; eps: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x1, k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 = x1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342448"/>
            <a:ext cx="5410200" cy="1398270"/>
            <a:chOff x="533400" y="4342448"/>
            <a:chExt cx="5410200" cy="1398270"/>
          </a:xfrm>
        </p:grpSpPr>
        <p:sp>
          <p:nvSpPr>
            <p:cNvPr id="11" name="Rectangle 11"/>
            <p:cNvSpPr/>
            <p:nvPr/>
          </p:nvSpPr>
          <p:spPr>
            <a:xfrm>
              <a:off x="533400" y="4342448"/>
              <a:ext cx="5410200" cy="1398270"/>
            </a:xfrm>
            <a:prstGeom prst="roundRect">
              <a:avLst>
                <a:gd name="adj" fmla="val 68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494371"/>
              <a:ext cx="16807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调用示例：x⁵ − 3x − 10 =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21" y="4754689"/>
              <a:ext cx="2763545" cy="90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   =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lambda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x: x**5 - 3*x - 10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df  =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lambda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x: 5*x**4 - 3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phi =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lambda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x: (3*x + 10) ** 0.2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print(bisect(f, 1, 2, 1e-8))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27 次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print(fixed(phi, 1.5, 1e-8))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8 次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248400" y="1524000"/>
            <a:ext cx="5410200" cy="2290762"/>
            <a:chOff x="6248400" y="1524000"/>
            <a:chExt cx="5410200" cy="2290762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2290762"/>
            </a:xfrm>
            <a:prstGeom prst="roundRect">
              <a:avLst>
                <a:gd name="adj" fmla="val 41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797" y="1675924"/>
              <a:ext cx="1846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实验题 2：Newton 法与割线法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721" y="1936242"/>
              <a:ext cx="3675088" cy="1796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newton(f, df, x, eps):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range(1, 100):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x1 = x - f(x) / df(x)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abs(x1 - x) &lt; eps: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x1, k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 = x1</a:t>
              </a:r>
              <a:br/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secant(f, x0, x1, eps):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range(1, 100):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x2 = x1 - (x1 - x0) / (f(x1) - f(x0)) * f(x1)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abs(x2 - x1) &lt; eps: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x2, k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x0, x1 = x1, x2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3985260"/>
            <a:ext cx="5410200" cy="2300288"/>
            <a:chOff x="6248400" y="3985260"/>
            <a:chExt cx="5410200" cy="2300288"/>
          </a:xfrm>
        </p:grpSpPr>
        <p:sp>
          <p:nvSpPr>
            <p:cNvPr id="19" name="Rectangle 19"/>
            <p:cNvSpPr/>
            <p:nvPr/>
          </p:nvSpPr>
          <p:spPr>
            <a:xfrm>
              <a:off x="6248400" y="3985260"/>
              <a:ext cx="5410200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411861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3190" y="41719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5862" y="42048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81762" y="45720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37782" y="4515802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代码已实际运行；每个函数返回 (近似根, 次数)，二分法的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次数是算过的中点个数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81762" y="512921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7782" y="5073015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二分法以半区间长 ≤ eps 判停，其余三种以 |xₖ₊₁ − xₖ| &lt;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eps 判停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81762" y="568737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37782" y="5631180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实用程序还要处理 f′(xₖ) = 0 或 f(xₖ) = f(xₖ₋₁) 时的除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零，以及超过最大次数仍不收敛（这时函数返回 None）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4298" cy="909257"/>
            <a:chOff x="520446" y="342900"/>
            <a:chExt cx="72442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42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实验题结果：Newton 法次数最少，二分法最多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8447" y="1524000"/>
            <a:ext cx="5415153" cy="2437162"/>
            <a:chOff x="528447" y="1524000"/>
            <a:chExt cx="5415153" cy="24371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31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5282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每步计算量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84821" y="1645444"/>
              <a:ext cx="89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x⁵ − 3x − 10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37308" y="1645444"/>
              <a:ext cx="1206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+ arctan x − 3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8672" y="204549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 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47168" y="204549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 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54011" y="204549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 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8672" y="244554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 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8631" y="24455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54011" y="244554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2845594"/>
              <a:ext cx="76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40359" y="2845594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f、f′ 各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88631" y="28455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95474" y="28455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割线法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98672" y="324564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 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88631" y="32456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5474" y="32456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8118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2515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3199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3597116"/>
              <a:ext cx="5193665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eps = 10⁻⁸；二分法用 [1, 2]，不动点迭代与 Newton 法取 x₀ = 1.5，割线法取 1 和 2；根为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1.7226003、1.9112521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4092892"/>
            <a:ext cx="5410200" cy="2043112"/>
            <a:chOff x="533400" y="4092892"/>
            <a:chExt cx="5410200" cy="2043112"/>
          </a:xfrm>
        </p:grpSpPr>
        <p:sp>
          <p:nvSpPr>
            <p:cNvPr id="39" name="Rectangle 39"/>
            <p:cNvSpPr/>
            <p:nvPr/>
          </p:nvSpPr>
          <p:spPr>
            <a:xfrm>
              <a:off x="533400" y="4092892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226242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8190" y="427958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6811" y="43124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6762" y="46805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2782" y="462438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二分法次数只由区间长度和精度决定，两题相同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498062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4924425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不动点迭代取 φ = (3x + 10)^(1/5) 与 3 − arctan x，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约 0.068 与 0.215，前者次数少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5378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481638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右表：不动点迭代每步约乘 0.068，Newton 法误差平方式下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降，割线法介于两者之间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243447" y="1524000"/>
            <a:ext cx="5415153" cy="3063906"/>
            <a:chOff x="6243447" y="1524000"/>
            <a:chExt cx="5415153" cy="3063906"/>
          </a:xfrm>
        </p:grpSpPr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015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309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不动点迭代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11678" y="1645444"/>
              <a:ext cx="76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7329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割线法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4015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48329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1.5×10⁻²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58994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8.7×10⁻²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67754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2.9×10⁻¹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015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4832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1.1×10⁻³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58994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8.4×10⁻³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67754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9.8×10⁻²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4015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4832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7.2×10⁻⁵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58994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8.8×10⁻⁵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67754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4.8×10⁻²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4015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48329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4.9×10⁻⁶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58994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9.6×10⁻⁹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567754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6.1×10⁻³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4015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4832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3.3×10⁻⁷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85155" y="364569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67754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3.5×10⁻⁴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40156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48329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2.3×10⁻⁸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567754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2.7×10⁻⁶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524000"/>
              <a:ext cx="5410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12565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63727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14698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43447" y="4397216"/>
              <a:ext cx="2100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x⁵ − 3x − 10 = 0 各步误差 |xₖ − x*|</a:t>
              </a:r>
            </a:p>
          </p:txBody>
        </p:sp>
      </p:grpSp>
      <p:grpSp>
        <p:nvGrpSpPr>
          <p:cNvPr id="98" name="c2-callout-2"/>
          <p:cNvGrpSpPr/>
          <p:nvPr/>
        </p:nvGrpSpPr>
        <p:grpSpPr>
          <a:xfrm>
            <a:off x="6248400" y="4719638"/>
            <a:ext cx="5410200" cy="1226820"/>
            <a:chOff x="6248400" y="4719638"/>
            <a:chExt cx="5410200" cy="1226820"/>
          </a:xfrm>
        </p:grpSpPr>
        <p:sp>
          <p:nvSpPr>
            <p:cNvPr id="92" name="Rectangle 92"/>
            <p:cNvSpPr/>
            <p:nvPr/>
          </p:nvSpPr>
          <p:spPr>
            <a:xfrm>
              <a:off x="6248400" y="4719638"/>
              <a:ext cx="5410200" cy="1226820"/>
            </a:xfrm>
            <a:prstGeom prst="roundRect">
              <a:avLst>
                <a:gd name="adj" fmla="val 93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453188" y="5233035"/>
              <a:ext cx="200026" cy="200025"/>
              <a:chOff x="6453188" y="5233035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453188" y="5233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492926" y="5277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527642" y="5388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755892" y="4866322"/>
              <a:ext cx="450570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另两题先画图找有根区间：sin 10x + 2cos x − x − 3 = 0 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[−6, 0] 内有 5 个根（约 −4.0913、−1.1063、−1.0773、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−0.5443、−0.4002）；(x + 2)ln(x² + x + 1) + 1 = 0 只有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个实根，约 −2.6072。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自测题（一）：二分法与不动点迭代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000250"/>
            <a:chOff x="533400" y="1524000"/>
            <a:chExt cx="5410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638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1：用二分法求 x³ − 2 = 0 在 [1, 2] 上的根。写出前 4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个中点；误差不超过 10⁻² 要算几个中点？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6771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 = −1，f(2) = 6。中点依次为 1.5（f &gt; 0）、1.25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 &lt; 0）、1.375、1.3125。需 1/2ⁿ⁺¹ ≤ 10⁻²，n + 1 ≥ 7，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x₇ = 1.2578125，真根 1.259921。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93795"/>
            <a:ext cx="5410200" cy="2257425"/>
            <a:chOff x="533400" y="3693795"/>
            <a:chExt cx="5410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693795"/>
              <a:ext cx="5410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225290"/>
              <a:ext cx="472216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3：用不动点迭代求 x² = 2 的正根，迭代公式中不含开方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运算，迭代一步。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782502"/>
              <a:ext cx="45742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xₖ₊₁ = (xₖ + 2/xₖ)/2，x₀ = 1 得 x₁ = 1.5（再一步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1.416667）。不能取 x = 2/x：φ′(√2) = −1，序列在 1 与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之间来回跳。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8232" y="2054542"/>
              <a:ext cx="46638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2：证明对任何 x₀，xₖ₊₁ = cos xₖ 都收敛于 x − cos x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 的根。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8232" y="2612708"/>
              <a:ext cx="46000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∈ [−1, 1]，x₂ = cos x₁ ∈ [cos 1, 1] ⊂ [0, 1]。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把 [0, 1] 映入自身，且 |sin x| ≤ sin 1 ≈ 0.841 &lt; 1，由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 从 x₂ 起收敛，根为 0.739085。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93795"/>
            <a:ext cx="5410200" cy="2257425"/>
            <a:chOff x="6248400" y="3693795"/>
            <a:chExt cx="5410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93795"/>
              <a:ext cx="5410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4225290"/>
              <a:ext cx="4792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为什么不能用二分法求 (x − 1)² = 0 的根？若在 [1/2, ln 2]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上用二分法求 x eˣ − 1 = 0 的根到误差 10⁻⁶，要算几个中点？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4782502"/>
              <a:ext cx="480574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− 1)² ≥ 0，任何区间端点都不异号，找不到有根区间。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第二问需 n + 1 ≥ log₂(0.193147/10⁻⁶) ≈ 17.56，算 18 个中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点；例 3.4 的不动点迭代实际 20 步达到，两者都是线性收敛，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速度相近。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1017" cy="909257"/>
            <a:chOff x="520446" y="342900"/>
            <a:chExt cx="69010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10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自测题（二）：Newton 法、割线法与方程组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57425"/>
            <a:chOff x="533400" y="1524000"/>
            <a:chExt cx="5410200" cy="2257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57385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4：求 x³ − 3x − 1 = 0 在 x₀ = 2 附近的根（x*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1.87938524…），要 4 位准确有效数字。(1) Newton 法；</a:t>
              </a:r>
            </a:p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割线法，x₀ = 2，x₁ = 1.9。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869882"/>
              <a:ext cx="45657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xₖ₊₁ = xₖ − (xₖ³ − 3xₖ − 1)/(3xₖ² − 3)，x₁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1.888889，x₂ = 1.879452 ≈ 1.879。(2) x₂ = 1.881094，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1.879411 ≈ 1.879。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50970"/>
            <a:ext cx="5410200" cy="2257425"/>
            <a:chOff x="533400" y="3950970"/>
            <a:chExt cx="5410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950970"/>
              <a:ext cx="5410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482465"/>
              <a:ext cx="467929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6：用 Newton 法解 x₁ + 2x₂ − 3 = 0，2x₁² + x₂² − 5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0，取 x⁽⁰⁾ = (1.5, 1.0)ᵀ，迭代一步。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5039678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F(x⁽⁰⁾) = (0.5, 0.5)ᵀ，F′ 两行为 (1, 2)、(6, 2)。解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方程得 Δx = (0, −0.25)ᵀ，x⁽¹⁾ = (1.5, 0.75)ᵀ；精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确解之一为 (1.488034, 0.755983)。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514600"/>
            <a:chOff x="6248400" y="1524000"/>
            <a:chExt cx="5410200" cy="25146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8232" y="2054542"/>
              <a:ext cx="46467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5：12 − 3x + 2cos x = 0。(1) 证明迭代对任意 x₀ 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敛；(2) 证明线性收敛；(3) x₀ = 0.4，求误差 ≤ 10⁻³ 的近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似根。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8232" y="2869882"/>
              <a:ext cx="484003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φ(x) = 4 + (2/3)cos x，φ 的值总在 [10/3, 14/3]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中，|φ′| ≤ 2/3，由定理 3.1 收敛；φ′(x*) ≈ 0.136 ≠ 0，线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性收敛。x₇ = 3.347504，x₈ = 3.347417，2|x₈ − x₇| &lt; 10⁻³，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3.3474。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4208145"/>
            <a:ext cx="5410200" cy="2000250"/>
            <a:chOff x="6248400" y="4208145"/>
            <a:chExt cx="54102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248400" y="420814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43948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44276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4739640"/>
              <a:ext cx="4846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是 f(x) = 0 的二重根时，Newton 法的收敛阶是多少？怎样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修改公式恢复平方收敛？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5296852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线性收敛，φ′(x*) = 1 − 1/2 = 1/2，误差每步约减半。已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知重数 m 时改用 xₖ₊₁ = xₖ − m·f(xₖ)/f′(xₖ)，此时 φ′(x*)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0，恢复平方收敛。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77284" cy="909257"/>
            <a:chOff x="520446" y="342900"/>
            <a:chExt cx="41772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1643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802" y="407194"/>
              <a:ext cx="414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非线性方程（组） · 解非线性方程组的 Newton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492240" cy="3826192"/>
            <a:chOff x="533400" y="1524000"/>
            <a:chExt cx="6492240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1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969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51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54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5170" y="22217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取有根区间的中点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93033" y="2221706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连续，端点异号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7517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线性，误差界每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步减半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不动点迭代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5170" y="2897029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φ(xₖ)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93033" y="2783681"/>
              <a:ext cx="13053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3.1；局部看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 &lt;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75173" y="2783681"/>
              <a:ext cx="10533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一般线性，C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|φ′(x*)|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572351"/>
              <a:ext cx="879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5170" y="3459004"/>
              <a:ext cx="1085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= xₖ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f(xₖ)/f′(xₖ)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93033" y="3459004"/>
              <a:ext cx="14678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局部收敛；定理 3.3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选初值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75173" y="3459004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单根 2 阶，重根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2476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割线法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5170" y="4247674"/>
              <a:ext cx="1494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用差商代替 f′(xₖ)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93033" y="413432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局部收敛，要两个初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75173" y="4247674"/>
              <a:ext cx="710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1.618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810601"/>
              <a:ext cx="82412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5170" y="4923949"/>
              <a:ext cx="16093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F′Δx = −F 再更新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93033" y="4810601"/>
              <a:ext cx="15735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局部收敛，F′(x*) 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75173" y="492394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3258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58044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6258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1"/>
          <p:cNvGrpSpPr/>
          <p:nvPr/>
        </p:nvGrpSpPr>
        <p:grpSpPr>
          <a:xfrm>
            <a:off x="7330440" y="1524000"/>
            <a:ext cx="4328160" cy="3850005"/>
            <a:chOff x="7330440" y="1524000"/>
            <a:chExt cx="4328160" cy="3850005"/>
          </a:xfrm>
        </p:grpSpPr>
        <p:sp>
          <p:nvSpPr>
            <p:cNvPr id="43" name="Rectangle 43"/>
            <p:cNvSpPr/>
            <p:nvPr/>
          </p:nvSpPr>
          <p:spPr>
            <a:xfrm>
              <a:off x="7330440" y="1524000"/>
              <a:ext cx="4328160" cy="3850005"/>
            </a:xfrm>
            <a:prstGeom prst="roundRect">
              <a:avLst>
                <a:gd name="adj" fmla="val 3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39965" y="1657350"/>
              <a:ext cx="47625" cy="35833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7809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479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1920" y="2110740"/>
              <a:ext cx="3225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重根定义应为 g(x*) ≠ 0（第 9 页）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83805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41920" y="244602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3.3 二分法表中 3 行数值（第 13 页）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83805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41920" y="2781300"/>
              <a:ext cx="3660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3.4 所需次数应为 k ≥ 26（第 25 页）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583805" y="31794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41920" y="3116580"/>
              <a:ext cx="3396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3.6 表左列实为 x₀ = 3.0 的结果（第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页）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583805" y="38004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41920" y="3737610"/>
              <a:ext cx="3263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3.8 表中 x₁、x₃ 与范数的数值（第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 页）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583805" y="44215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41920" y="4358640"/>
              <a:ext cx="3472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例题按出现顺序编为例 3.1–3.8；原课件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的例 2.1、两个例 3.5、定理 2.1、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(2.1.6) 等旧编号已统一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0" name="Rectangle 6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728335"/>
              <a:ext cx="9359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复习时重点练手算：二分次数、定理 3.1 的条件验证与次数估计、Newton 法与割线法的迭代表、方程组的一步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迭代。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第3章 解非线性方程（组）的数值法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3">
  <a:themeElements>
    <a:clrScheme name="numa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2026-09-17T08:31:52Z</dcterms:created>
  <dcterms:modified xsi:type="dcterms:W3CDTF">2026-09-17T08:31:52Z</dcterms:modified>
  <cp:category/>
  <cp:contentStatus/>
</cp:coreProperties>
</file>