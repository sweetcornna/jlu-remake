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uma_ch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uma_ch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2d934a7dfab5caf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5d057b1e87dee8c.png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ce6eed60d610dcd.png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8274" y="1619250"/>
            <a:ext cx="6072759" cy="3352038"/>
            <a:chOff x="668274" y="1619250"/>
            <a:chExt cx="6072759" cy="3352038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· 第三章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8274" y="2403158"/>
              <a:ext cx="607275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解非线性方程（组）的数值法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061335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381375"/>
              <a:ext cx="45825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二分法、不动点迭代、Newton 法与割线法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89096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8357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3.1–3.2 问题与重根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18147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126230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3.3 二分法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4719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416742"/>
              <a:ext cx="20037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3.4 不动点迭代与收敛阶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7625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07255"/>
              <a:ext cx="16538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3.5–3.6 Newton 法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自学复习版｜据吉林大学《计算方法》第三章课件整理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引入：开方公式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预报校正思想，例 3.1 求 √90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非线性方程（组）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2955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代数方程与超越方程、方程组记号、m 重根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2782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有根区间、算法、误差与二分次数、例 3.3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0192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迭代格式、几何解释、定理 3.1 与误差估计、收敛阶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20220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法与割线法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切线法、平方收敛、初值选择、用差商代替导数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20926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方程组的 Newton 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7988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Jacobi 矩阵、Newton 方程、例 3.8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用二分法求根，并算出满足精度所需的二分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构造迭代函数，用定理 3.1 判断收敛并估计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迭代次数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根据误差比值或 φ′(x*) 判断迭代法的收敛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阶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53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 Newton 法和割线法的迭代公式并列表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187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写出方程组的 Jacobi 矩阵，完成一步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迭代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5357622" cy="2643187"/>
            <a:chOff x="667512" y="1835468"/>
            <a:chExt cx="5357622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3.1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引入：开方公式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古巴比伦人造平方根表时，面对的就是一个非线性方程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3980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x² − a = 0 的预报校正思路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768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3.1 用开方公式求 √90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43917" cy="909257"/>
            <a:chOff x="520446" y="342900"/>
            <a:chExt cx="67439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引入：开方公式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439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预报校正：把 x² = a 线性化，得到开方公式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735002" cy="1545908"/>
            <a:chOff x="533400" y="1524000"/>
            <a:chExt cx="5735002" cy="15459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500087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√4 = 2、√81 = 9、√100 = 10 可以直接写出，√90 = ? 求 a &gt;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的平方根，就是解非线性方程 x² − a = 0，初等方法不好直接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求。</a:t>
              </a:r>
            </a:p>
          </p:txBody>
        </p:sp>
      </p:grpSp>
      <p:grpSp>
        <p:nvGrpSpPr>
          <p:cNvPr id="26" name="c1-steps-2"/>
          <p:cNvGrpSpPr/>
          <p:nvPr/>
        </p:nvGrpSpPr>
        <p:grpSpPr>
          <a:xfrm>
            <a:off x="533400" y="3265170"/>
            <a:ext cx="5631180" cy="2011108"/>
            <a:chOff x="533400" y="3265170"/>
            <a:chExt cx="5631180" cy="2011108"/>
          </a:xfrm>
        </p:grpSpPr>
        <p:sp>
          <p:nvSpPr>
            <p:cNvPr id="13" name="Rectangle 13"/>
            <p:cNvSpPr/>
            <p:nvPr/>
          </p:nvSpPr>
          <p:spPr>
            <a:xfrm>
              <a:off x="666750" y="3408045"/>
              <a:ext cx="19050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26517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389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88620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600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72821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8020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29803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578542"/>
              <a:ext cx="5218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给定预报值 x₀，找校正量 Δx，使 x₁ = x₀ + Δx 近似满足 (x₀ + Δx)² ≈ 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91906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4199572"/>
              <a:ext cx="49499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展开得 x₀² + 2x₀Δx + Δx² ≈ a。Δx 是小量，舍去 Δx²，得到关于 Δx 的一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次方程，Δx ≈ (a − x₀²)/(2x₀)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476107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校正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5041582"/>
              <a:ext cx="44436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Δx 代回 x₁ = x₀ + Δx，再把 x₁ 当作新的预报值，反复进行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7"/>
              <p:cNvSpPr txBox="1">
                <a:spLocks noGrp="1"/>
              </p:cNvSpPr>
              <p:nvPr/>
            </p:nvSpPr>
            <p:spPr>
              <a:xfrm>
                <a:off x="533400" y="5452110"/>
                <a:ext cx="5735002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f>
                            <m:fPr>
                              <m:type m:val="bar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num>
                            <m:den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3" name="c2-card-1"/>
          <p:cNvGrpSpPr/>
          <p:nvPr/>
        </p:nvGrpSpPr>
        <p:grpSpPr>
          <a:xfrm>
            <a:off x="6573202" y="1524000"/>
            <a:ext cx="5085398" cy="2009775"/>
            <a:chOff x="6573202" y="1524000"/>
            <a:chExt cx="5085398" cy="2009775"/>
          </a:xfrm>
        </p:grpSpPr>
        <p:sp>
          <p:nvSpPr>
            <p:cNvPr id="28" name="Rectangle 28"/>
            <p:cNvSpPr/>
            <p:nvPr/>
          </p:nvSpPr>
          <p:spPr>
            <a:xfrm>
              <a:off x="6573202" y="1524000"/>
              <a:ext cx="5085398" cy="2009775"/>
            </a:xfrm>
            <a:prstGeom prst="roundRect">
              <a:avLst>
                <a:gd name="adj" fmla="val 663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77038" y="17278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8394" y="17635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开方公式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formula8"/>
                <p:cNvSpPr txBox="1">
                  <a:spLocks noGrp="1"/>
                </p:cNvSpPr>
                <p:nvPr/>
              </p:nvSpPr>
              <p:spPr>
                <a:xfrm>
                  <a:off x="6777038" y="2077402"/>
                  <a:ext cx="4677728" cy="6429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f>
                              <m:fPr>
                                <m:type m:val="bar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2" name="TextBox 32"/>
            <p:cNvSpPr txBox="1"/>
            <p:nvPr/>
          </p:nvSpPr>
          <p:spPr>
            <a:xfrm>
              <a:off x="6769798" y="2836069"/>
              <a:ext cx="441477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从任意 x₀ &gt; 0 出发反复迭代，可以得到满足精度要求的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平方根近似值。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573202" y="3719512"/>
            <a:ext cx="5085398" cy="2324100"/>
            <a:chOff x="6573202" y="3719512"/>
            <a:chExt cx="5085398" cy="2324100"/>
          </a:xfrm>
        </p:grpSpPr>
        <p:sp>
          <p:nvSpPr>
            <p:cNvPr id="34" name="Rectangle 34"/>
            <p:cNvSpPr/>
            <p:nvPr/>
          </p:nvSpPr>
          <p:spPr>
            <a:xfrm>
              <a:off x="6573202" y="3719512"/>
              <a:ext cx="5085398" cy="2324100"/>
            </a:xfrm>
            <a:prstGeom prst="roundRect">
              <a:avLst>
                <a:gd name="adj" fmla="val 57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582728" y="3852862"/>
              <a:ext cx="47625" cy="20574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15138" y="392334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05346" y="39590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15594" y="396287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为什么收敛得这么快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9"/>
                <p:cNvSpPr txBox="1">
                  <a:spLocks noGrp="1"/>
                </p:cNvSpPr>
                <p:nvPr/>
              </p:nvSpPr>
              <p:spPr>
                <a:xfrm>
                  <a:off x="6815138" y="4291012"/>
                  <a:ext cx="4639628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7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degHide m:val="on"/>
                                        <m:ctrlP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7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</m:rad>
                                  </m:e>
                                </m:d>
                              </m:e>
                              <m:sup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0" name="Ellipse 40"/>
            <p:cNvSpPr/>
            <p:nvPr/>
          </p:nvSpPr>
          <p:spPr>
            <a:xfrm>
              <a:off x="6822758" y="5058727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79348" y="4999196"/>
              <a:ext cx="31877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≥ 1 时 xₖ ≥ √a，序列单调下降到 √a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822758" y="5378767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79348" y="5319236"/>
              <a:ext cx="44016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新误差与旧误差的平方成正比，3.4 节称为平方收敛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809042" y="5634990"/>
              <a:ext cx="4347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3.5 节会看到，这就是 f(x) = x² − a 的 Newton 迭代公式。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16981" cy="909257"/>
            <a:chOff x="520446" y="342900"/>
            <a:chExt cx="62169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引入：开方公式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169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3.1 用开方公式求 √90，误差到 10⁻⁶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628050" cy="264033"/>
            <a:chOff x="526542" y="1545907"/>
            <a:chExt cx="862805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6280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分别取 x₀ = 9 和 x₀ = 20，按 xₖ₊₁ = (xₖ + 90/xₖ)/2 迭代。表中误差为 |xₖ − √90|，√90 = 9.486832980…</a:t>
              </a:r>
            </a:p>
          </p:txBody>
        </p:sp>
      </p:grpSp>
      <p:grpSp>
        <p:nvGrpSpPr>
          <p:cNvPr id="61" name="c1-table-1"/>
          <p:cNvGrpSpPr/>
          <p:nvPr/>
        </p:nvGrpSpPr>
        <p:grpSpPr>
          <a:xfrm>
            <a:off x="528447" y="1928812"/>
            <a:ext cx="6172391" cy="3063907"/>
            <a:chOff x="528447" y="1928812"/>
            <a:chExt cx="6172391" cy="3063907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167438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6574" y="2050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50024" y="2050256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= 9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6581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8258" y="2050256"/>
              <a:ext cx="5417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= 20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838546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6574" y="24503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39959" y="24503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9.000000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84889" y="24503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4.9×10⁻¹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30266" y="245030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20.000000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99079" y="245030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1.1×10¹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2415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728912"/>
              <a:ext cx="616743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6574" y="28503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39959" y="28503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9.500000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84889" y="28503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1.3×10⁻²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30266" y="28503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12.250000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864931" y="28503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2.8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1242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6574" y="32504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39959" y="32504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9.486842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884889" y="32504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9.1×10⁻⁶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71729" y="32504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9.798469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57616" y="32504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3.1×10⁻¹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52425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529012"/>
              <a:ext cx="616743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6574" y="36504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246822" y="3538538"/>
              <a:ext cx="1260158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539959" y="36504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9.486833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843426" y="36504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4.4×10⁻¹²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271729" y="36504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9.491789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657616" y="36504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5.0×10⁻³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39243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6574" y="40505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39959" y="40505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9.486833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111050" y="405050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71729" y="40505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9.486834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657616" y="405050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1.3×10⁻⁶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432435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33400" y="4329112"/>
              <a:ext cx="616743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6574" y="4450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539959" y="44505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9.486833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111050" y="445055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0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3937635" y="4338638"/>
              <a:ext cx="134207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271729" y="44505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9.486833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616153" y="44505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8.9×10⁻¹⁴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1928812"/>
              <a:ext cx="6167438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232535" y="1928812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2511742" y="1928812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3923348" y="1928812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284470" y="1928812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8447" y="4802029"/>
              <a:ext cx="42711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绿色格为误差首次小于 10⁻⁶ 的一步；“≈ 0”表示已在双精度舍入误差以内</a:t>
              </a:r>
            </a:p>
          </p:txBody>
        </p:sp>
      </p:grpSp>
      <p:grpSp>
        <p:nvGrpSpPr>
          <p:cNvPr id="66" name="c1-card-2"/>
          <p:cNvGrpSpPr/>
          <p:nvPr/>
        </p:nvGrpSpPr>
        <p:grpSpPr>
          <a:xfrm>
            <a:off x="533400" y="5124450"/>
            <a:ext cx="6167438" cy="1175385"/>
            <a:chOff x="533400" y="5124450"/>
            <a:chExt cx="6167438" cy="1175385"/>
          </a:xfrm>
        </p:grpSpPr>
        <p:sp>
          <p:nvSpPr>
            <p:cNvPr id="62" name="Rectangle 62"/>
            <p:cNvSpPr/>
            <p:nvPr/>
          </p:nvSpPr>
          <p:spPr>
            <a:xfrm>
              <a:off x="533400" y="5124450"/>
              <a:ext cx="6167438" cy="1175385"/>
            </a:xfrm>
            <a:prstGeom prst="roundRect">
              <a:avLst>
                <a:gd name="adj" fmla="val 113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20090" y="5311140"/>
              <a:ext cx="157829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79158" y="5344001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用上一页的误差公式核对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formula15"/>
                <p:cNvSpPr txBox="1">
                  <a:spLocks noGrp="1"/>
                </p:cNvSpPr>
                <p:nvPr/>
              </p:nvSpPr>
              <p:spPr>
                <a:xfrm>
                  <a:off x="720090" y="5633085"/>
                  <a:ext cx="5794058" cy="46291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90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3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degHide m:val="on"/>
                                        <m:ctrlP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zh-CN" sz="13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90</m:t>
                                        </m:r>
                                      </m:e>
                                    </m:rad>
                                  </m:e>
                                </m:d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b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0.01316</m:t>
                            </m:r>
                            <m:sSup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</m:t>
                                </m:r>
                              </m:e>
                              <m:sup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9.5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9.12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76" name="c2-steps-1"/>
          <p:cNvGrpSpPr/>
          <p:nvPr/>
        </p:nvGrpSpPr>
        <p:grpSpPr>
          <a:xfrm>
            <a:off x="7005638" y="1938338"/>
            <a:ext cx="4243958" cy="1516855"/>
            <a:chOff x="7005638" y="1938338"/>
            <a:chExt cx="4243958" cy="1516855"/>
          </a:xfrm>
        </p:grpSpPr>
        <p:sp>
          <p:nvSpPr>
            <p:cNvPr id="67" name="Rectangle 67"/>
            <p:cNvSpPr/>
            <p:nvPr/>
          </p:nvSpPr>
          <p:spPr>
            <a:xfrm>
              <a:off x="7138988" y="2081212"/>
              <a:ext cx="19050" cy="7896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Ellipse 68"/>
            <p:cNvSpPr/>
            <p:nvPr/>
          </p:nvSpPr>
          <p:spPr>
            <a:xfrm>
              <a:off x="7005638" y="193833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099261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7005638" y="272796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099261" y="28017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417880" y="1969770"/>
              <a:ext cx="5480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9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419022" y="2237899"/>
              <a:ext cx="35176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= (9 + 90/9)/2 = 9.5；x₂ = (9.5 + 9.473684)/2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9.486842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417880" y="2760345"/>
              <a:ext cx="6529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20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419022" y="3027521"/>
              <a:ext cx="383057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= (20 + 4.5)/2 = 12.25；x₂ = (12.25 + 7.346939)/2 =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9.798469</a:t>
              </a:r>
            </a:p>
          </p:txBody>
        </p:sp>
      </p:grpSp>
      <p:grpSp>
        <p:nvGrpSpPr>
          <p:cNvPr id="82" name="c2-callout-2"/>
          <p:cNvGrpSpPr/>
          <p:nvPr/>
        </p:nvGrpSpPr>
        <p:grpSpPr>
          <a:xfrm>
            <a:off x="7005638" y="3618548"/>
            <a:ext cx="4652962" cy="729615"/>
            <a:chOff x="7005638" y="3618548"/>
            <a:chExt cx="4652962" cy="729615"/>
          </a:xfrm>
        </p:grpSpPr>
        <p:sp>
          <p:nvSpPr>
            <p:cNvPr id="77" name="Rectangle 77"/>
            <p:cNvSpPr/>
            <p:nvPr/>
          </p:nvSpPr>
          <p:spPr>
            <a:xfrm>
              <a:off x="7005638" y="3618548"/>
              <a:ext cx="4652962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210425" y="3883343"/>
              <a:ext cx="200026" cy="200026"/>
              <a:chOff x="7210425" y="3883343"/>
              <a:chExt cx="200026" cy="200026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210425" y="38833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277100" y="396113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7513130" y="3764280"/>
              <a:ext cx="34855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误差小于 10⁻⁶：x₀ = 9 需 3 步，x₀ = 20 需 5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步。初值离根越近，步数越少。</a:t>
              </a:r>
            </a:p>
          </p:txBody>
        </p:sp>
      </p:grpSp>
      <p:grpSp>
        <p:nvGrpSpPr>
          <p:cNvPr id="91" name="c2-card-3"/>
          <p:cNvGrpSpPr/>
          <p:nvPr/>
        </p:nvGrpSpPr>
        <p:grpSpPr>
          <a:xfrm>
            <a:off x="7005638" y="4517708"/>
            <a:ext cx="4652962" cy="1781175"/>
            <a:chOff x="7005638" y="4517708"/>
            <a:chExt cx="4652962" cy="1781175"/>
          </a:xfrm>
        </p:grpSpPr>
        <p:sp>
          <p:nvSpPr>
            <p:cNvPr id="83" name="Rectangle 83"/>
            <p:cNvSpPr/>
            <p:nvPr/>
          </p:nvSpPr>
          <p:spPr>
            <a:xfrm>
              <a:off x="7005638" y="4517708"/>
              <a:ext cx="4652962" cy="1781175"/>
            </a:xfrm>
            <a:prstGeom prst="roundRect">
              <a:avLst>
                <a:gd name="adj" fmla="val 74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7015162" y="4651058"/>
              <a:ext cx="47625" cy="15144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7230428" y="470439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323099" y="473725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观察</a:t>
              </a:r>
            </a:p>
          </p:txBody>
        </p:sp>
        <p:sp>
          <p:nvSpPr>
            <p:cNvPr id="87" name="Ellipse 87"/>
            <p:cNvSpPr/>
            <p:nvPr/>
          </p:nvSpPr>
          <p:spPr>
            <a:xfrm>
              <a:off x="7239000" y="510540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395020" y="5049202"/>
              <a:ext cx="33912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误差大致按平方缩小：9.1×10⁻⁶ 的下一步是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4.4×10⁻¹²，有效数字每步约翻一倍</a:t>
              </a:r>
            </a:p>
          </p:txBody>
        </p:sp>
        <p:sp>
          <p:nvSpPr>
            <p:cNvPr id="89" name="Ellipse 89"/>
            <p:cNvSpPr/>
            <p:nvPr/>
          </p:nvSpPr>
          <p:spPr>
            <a:xfrm>
              <a:off x="7239000" y="566261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7395020" y="5606415"/>
              <a:ext cx="37770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实际计算时不知道 √90，用 |xₖ₊₁ − xₖ| &lt; 10⁻⁶ 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为停止条件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023991" cy="2997517"/>
            <a:chOff x="667512" y="1835468"/>
            <a:chExt cx="602399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3.2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非线性方程（组）问题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先弄清要解的是什么：方程的分类、方程组的记号、根的重数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850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3.2 解的个数与性质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代数方程、超越方程与方程组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893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 3.1 m 重根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02529" cy="909257"/>
            <a:chOff x="520446" y="342900"/>
            <a:chExt cx="77025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非线性方程（组）问题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025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3.2 三个非线性方程：解的个数和性质各不相同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11125200" cy="2383155"/>
            <a:chOff x="533400" y="1524000"/>
            <a:chExt cx="11125200" cy="2383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560041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730913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68473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7604" y="2128361"/>
              <a:ext cx="13091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eˣ + 1 = 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26493" y="2128361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979348" y="2128361"/>
              <a:ext cx="18591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eˣ &gt; 0，左边恒大于 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574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62212"/>
              <a:ext cx="11125200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7604" y="2596991"/>
              <a:ext cx="3877361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x⁶ − 2x⁵ − 8x⁴ + 14x³ + 11x² − 28x + 12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86824" y="2723674"/>
              <a:ext cx="10849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3, −2, 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79348" y="2596991"/>
              <a:ext cx="4378706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3 是单根，x = −2 是二重根，x = 1 是三重根；区间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只要包含 [−2, 3]，根的个数和性质就不变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79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04" y="3445669"/>
              <a:ext cx="12488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cos x = 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86824" y="3445669"/>
              <a:ext cx="10849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π/2 + kπ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79348" y="3318986"/>
              <a:ext cx="43426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整个实数轴上有无穷多个根；所取区间不同，根的个数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也不同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11125200" cy="2383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978718" y="1524000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70382" y="1524000"/>
              <a:ext cx="9525" cy="2383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1-card-2"/>
          <p:cNvGrpSpPr/>
          <p:nvPr/>
        </p:nvGrpSpPr>
        <p:grpSpPr>
          <a:xfrm>
            <a:off x="533400" y="4091940"/>
            <a:ext cx="11125200" cy="1580198"/>
            <a:chOff x="533400" y="4091940"/>
            <a:chExt cx="11125200" cy="1580198"/>
          </a:xfrm>
        </p:grpSpPr>
        <p:sp>
          <p:nvSpPr>
            <p:cNvPr id="27" name="Rectangle 27"/>
            <p:cNvSpPr/>
            <p:nvPr/>
          </p:nvSpPr>
          <p:spPr>
            <a:xfrm>
              <a:off x="533400" y="4091940"/>
              <a:ext cx="11125200" cy="1580198"/>
            </a:xfrm>
            <a:prstGeom prst="roundRect">
              <a:avLst>
                <a:gd name="adj" fmla="val 84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7235" y="4295775"/>
              <a:ext cx="154114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96280" y="4331494"/>
              <a:ext cx="14230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方程 (2) 的因式分解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18"/>
                <p:cNvSpPr txBox="1">
                  <a:spLocks noGrp="1"/>
                </p:cNvSpPr>
                <p:nvPr/>
              </p:nvSpPr>
              <p:spPr>
                <a:xfrm>
                  <a:off x="737235" y="4645342"/>
                  <a:ext cx="10717530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8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14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11</m:t>
                        </m:r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28x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12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e>
                        </m:d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d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731139" y="5195888"/>
              <a:ext cx="48423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因子 (x + 2) 出现 2 次、(x − 1) 出现 3 次，对应二重根和三重根。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33" name="Rectangle 3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511" y="6004084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讨论非线性方程时要先指定自变量的范围（定义域），通常求的是某个区间内的根。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31838" cy="909257"/>
            <a:chOff x="520446" y="342900"/>
            <a:chExt cx="67318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非线性方程（组）问题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318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代数方程与超越方程；方程组写成 F(x) = 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410200" cy="3083242"/>
            <a:chOff x="533400" y="1524000"/>
            <a:chExt cx="5410200" cy="30832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083242"/>
            </a:xfrm>
            <a:prstGeom prst="roundRect">
              <a:avLst>
                <a:gd name="adj" fmla="val 43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81654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54781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0324" y="1769269"/>
              <a:ext cx="14302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非线性方程 f(x) = 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f(x) = 0 的根，f(x) 是非线性函数；方程的根也叫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 f(x) 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3922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代数方程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：f(x) 是多项式，n 次代数方程为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2"/>
                <p:cNvSpPr txBox="1">
                  <a:spLocks noGrp="1"/>
                </p:cNvSpPr>
                <p:nvPr/>
              </p:nvSpPr>
              <p:spPr>
                <a:xfrm>
                  <a:off x="781050" y="3042285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≠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4573" y="3578066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&gt; 1 时方程是非线性的。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940493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877628"/>
              <a:ext cx="4387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超越方程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：f(x) 不是多项式，如三角方程、指数方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程、对数方程，例如 sin x − x²/4 = 0、x eˣ − 1 = 0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797742"/>
            <a:ext cx="5410200" cy="1059180"/>
            <a:chOff x="533400" y="4797742"/>
            <a:chExt cx="5410200" cy="1059180"/>
          </a:xfrm>
        </p:grpSpPr>
        <p:sp>
          <p:nvSpPr>
            <p:cNvPr id="19" name="Rectangle 19"/>
            <p:cNvSpPr/>
            <p:nvPr/>
          </p:nvSpPr>
          <p:spPr>
            <a:xfrm>
              <a:off x="533400" y="4797742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227320"/>
              <a:ext cx="200026" cy="200026"/>
              <a:chOff x="738188" y="5227320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2273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52939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27088" y="53273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946332"/>
              <a:ext cx="43681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次以上的代数方程和超越方程一般很难甚至无法求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出精确解（5 次及以上代数方程没有通用的根式求解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公式），本章讲求近似根的数值方法。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248400" y="1524000"/>
            <a:ext cx="5410200" cy="4332922"/>
            <a:chOff x="6248400" y="1524000"/>
            <a:chExt cx="5410200" cy="4332922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4332922"/>
            </a:xfrm>
            <a:prstGeom prst="roundRect">
              <a:avLst>
                <a:gd name="adj" fmla="val 30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406622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96050" y="1733550"/>
              <a:ext cx="168306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50570" y="1769269"/>
              <a:ext cx="1573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非线性方程组 (3.2.1)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23"/>
                <p:cNvSpPr txBox="1">
                  <a:spLocks noGrp="1"/>
                </p:cNvSpPr>
                <p:nvPr/>
              </p:nvSpPr>
              <p:spPr>
                <a:xfrm>
                  <a:off x="6496050" y="2085975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,⋯,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6488430" y="2625090"/>
              <a:ext cx="32764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引入向量和向量函数记号 (3.2.2)：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24"/>
                <p:cNvSpPr txBox="1">
                  <a:spLocks noGrp="1"/>
                </p:cNvSpPr>
                <p:nvPr/>
              </p:nvSpPr>
              <p:spPr>
                <a:xfrm>
                  <a:off x="6496050" y="2935605"/>
                  <a:ext cx="4953000" cy="10744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b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b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e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f</m:t>
                                      </m:r>
                                    </m:e>
                                    <m:sub>
                                      <m: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b"/>
                                        </m:rPr>
                                        <a:rPr lang="zh-CN" sz="18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</m:d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m:rPr>
                            <m:sty m:val="b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3" name="TextBox 33"/>
            <p:cNvSpPr txBox="1"/>
            <p:nvPr/>
          </p:nvSpPr>
          <p:spPr>
            <a:xfrm>
              <a:off x="6488430" y="4130040"/>
              <a:ext cx="457676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方程组可写成 </a:t>
              </a: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0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。n = 1 时就是单个非线性方程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0 (3.2.3)。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61413" cy="909257"/>
            <a:chOff x="520446" y="342900"/>
            <a:chExt cx="72614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非线性方程（组）问题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614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 3.1：m 重根让 f(x) 含有因子 (x − x*)ᵐ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518785" cy="2377440"/>
            <a:chOff x="533400" y="1524000"/>
            <a:chExt cx="5518785" cy="2377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518785" cy="2377440"/>
            </a:xfrm>
            <a:prstGeom prst="roundRect">
              <a:avLst>
                <a:gd name="adj" fmla="val 56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1074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920" y="176355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3.1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7256" y="176736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根与重根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87464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f(x*) = 0，称 x* 为方程 f(x) = 0 的根或零点。若存在正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整数 m，使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9"/>
                <p:cNvSpPr txBox="1">
                  <a:spLocks noGrp="1"/>
                </p:cNvSpPr>
                <p:nvPr/>
              </p:nvSpPr>
              <p:spPr>
                <a:xfrm>
                  <a:off x="775335" y="2687002"/>
                  <a:ext cx="507301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sup>
                        </m:sSup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g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g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≠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3.2.4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8096" y="3203734"/>
              <a:ext cx="47578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则称 x* 为 </a:t>
              </a: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 重根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。m = 1 时 x* 为单根，满足 f(x*) = 0，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f′(x*) ≠ 0。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086225"/>
            <a:ext cx="5518785" cy="2274570"/>
            <a:chOff x="533400" y="4086225"/>
            <a:chExt cx="5518785" cy="2274570"/>
          </a:xfrm>
        </p:grpSpPr>
        <p:sp>
          <p:nvSpPr>
            <p:cNvPr id="16" name="Rectangle 16"/>
            <p:cNvSpPr/>
            <p:nvPr/>
          </p:nvSpPr>
          <p:spPr>
            <a:xfrm>
              <a:off x="533400" y="4086225"/>
              <a:ext cx="5518785" cy="2274570"/>
            </a:xfrm>
            <a:prstGeom prst="roundRect">
              <a:avLst>
                <a:gd name="adj" fmla="val 58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219575"/>
              <a:ext cx="47625" cy="20078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75335" y="429006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5543" y="43257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8096" y="4663916"/>
              <a:ext cx="471233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原课件把条件写作 0 &lt; g(x*) &lt; +∞。g(x*) 也可以为负：例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 中 x = 1 是三重根，g(x) = (x + 2)²(x − 3)，g(1)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−18。条件应为 g(x*) 有限且不为 0。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356985" y="1524000"/>
            <a:ext cx="5301615" cy="1476375"/>
            <a:chOff x="6356985" y="1524000"/>
            <a:chExt cx="5301615" cy="1476375"/>
          </a:xfrm>
        </p:grpSpPr>
        <p:sp>
          <p:nvSpPr>
            <p:cNvPr id="22" name="Rectangle 22"/>
            <p:cNvSpPr/>
            <p:nvPr/>
          </p:nvSpPr>
          <p:spPr>
            <a:xfrm>
              <a:off x="6356985" y="1524000"/>
              <a:ext cx="5301615" cy="1476375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366510" y="1657350"/>
              <a:ext cx="47625" cy="120967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598920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89128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99376" y="176736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用导数判断重数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91681" y="2119789"/>
              <a:ext cx="42104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有 m 阶连续导数时，x* 是 m 重根的充要条件是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30"/>
                <p:cNvSpPr txBox="1">
                  <a:spLocks noGrp="1"/>
                </p:cNvSpPr>
                <p:nvPr/>
              </p:nvSpPr>
              <p:spPr>
                <a:xfrm>
                  <a:off x="6598920" y="2415540"/>
                  <a:ext cx="4855845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=⋯=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</m:d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≠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62" name="c2-table-2"/>
          <p:cNvGrpSpPr/>
          <p:nvPr/>
        </p:nvGrpSpPr>
        <p:grpSpPr>
          <a:xfrm>
            <a:off x="6351270" y="3185160"/>
            <a:ext cx="5307330" cy="2016919"/>
            <a:chOff x="6351270" y="3185160"/>
            <a:chExt cx="5307330" cy="2016919"/>
          </a:xfrm>
        </p:grpSpPr>
        <p:sp>
          <p:nvSpPr>
            <p:cNvPr id="30" name="Rectangle 30"/>
            <p:cNvSpPr/>
            <p:nvPr/>
          </p:nvSpPr>
          <p:spPr>
            <a:xfrm>
              <a:off x="6356985" y="3185160"/>
              <a:ext cx="530161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92087" y="33166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91083" y="33166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16915" y="3316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p′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77975" y="3316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p″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182850" y="331660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p‴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40428" y="33166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82035" y="3747135"/>
              <a:ext cx="393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93304" y="37471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76933" y="374713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157547" y="37471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356985" y="4041458"/>
              <a:ext cx="53016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356985" y="4046220"/>
              <a:ext cx="530161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5389" y="4176712"/>
              <a:ext cx="4871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−2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93304" y="41767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65782" y="41767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37993" y="417671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157547" y="41767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356985" y="4471035"/>
              <a:ext cx="53016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82035" y="4607242"/>
              <a:ext cx="393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93304" y="4607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65782" y="4607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326842" y="4607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098443" y="460724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−108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157547" y="460724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356985" y="3185160"/>
              <a:ext cx="530161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397115" y="31851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081962" y="31851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942070" y="31851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803130" y="31851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751820" y="31851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51270" y="4982051"/>
              <a:ext cx="40672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p(x) 为例 3.2 中的 6 次多项式，表中是各阶导数在根处的值</a:t>
              </a:r>
            </a:p>
          </p:txBody>
        </p:sp>
      </p:grpSp>
      <p:grpSp>
        <p:nvGrpSpPr>
          <p:cNvPr id="69" name="c2-callout-3"/>
          <p:cNvGrpSpPr/>
          <p:nvPr/>
        </p:nvGrpSpPr>
        <p:grpSpPr>
          <a:xfrm>
            <a:off x="6356985" y="5342572"/>
            <a:ext cx="5301615" cy="1018222"/>
            <a:chOff x="6356985" y="5342572"/>
            <a:chExt cx="5301615" cy="1018222"/>
          </a:xfrm>
        </p:grpSpPr>
        <p:sp>
          <p:nvSpPr>
            <p:cNvPr id="63" name="Rectangle 63"/>
            <p:cNvSpPr/>
            <p:nvPr/>
          </p:nvSpPr>
          <p:spPr>
            <a:xfrm>
              <a:off x="6356985" y="5342572"/>
              <a:ext cx="5301615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561773" y="5752148"/>
              <a:ext cx="200026" cy="200025"/>
              <a:chOff x="6561773" y="5752148"/>
              <a:chExt cx="200026" cy="20002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6561773" y="57521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6601511" y="57965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636227" y="59077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6864096" y="5490686"/>
              <a:ext cx="433362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偶数重根处 f(x) 不变号，曲线与 x 轴相切。这会影响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二分法（3.3 节）和 Newton 法的收敛速度（3.5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节）。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3.3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4904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只看函数值的符号，每一步把有根区间砍掉一半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介值定理与有根区间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二分法算法与误差估计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811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3.3 与方法评价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54625" cy="909257"/>
            <a:chOff x="520446" y="342900"/>
            <a:chExt cx="68546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二分法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546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有根区间：f 连续且端点异号，区间内必有根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graph-1"/>
          <p:cNvGrpSpPr/>
          <p:nvPr/>
        </p:nvGrpSpPr>
        <p:grpSpPr>
          <a:xfrm>
            <a:off x="688658" y="1764982"/>
            <a:ext cx="4883467" cy="4308158"/>
            <a:chOff x="688658" y="1764982"/>
            <a:chExt cx="4883467" cy="4308158"/>
          </a:xfrm>
        </p:grpSpPr>
        <p:sp>
          <p:nvSpPr>
            <p:cNvPr id="7" name="Freeform 7"/>
            <p:cNvSpPr/>
            <p:nvPr/>
          </p:nvSpPr>
          <p:spPr>
            <a:xfrm>
              <a:off x="700088" y="4636770"/>
              <a:ext cx="4765358" cy="9525"/>
            </a:xfrm>
            <a:custGeom>
              <a:avLst/>
              <a:gdLst/>
              <a:ahLst/>
              <a:cxnLst/>
              <a:rect l="l" t="t" r="r" b="b"/>
              <a:pathLst>
                <a:path w="4765358" h="9525">
                  <a:moveTo>
                    <a:pt x="0" y="0"/>
                  </a:moveTo>
                  <a:lnTo>
                    <a:pt x="4765358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465445" y="45891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782252" y="1871662"/>
              <a:ext cx="9525" cy="4190048"/>
            </a:xfrm>
            <a:custGeom>
              <a:avLst/>
              <a:gdLst/>
              <a:ahLst/>
              <a:cxnLst/>
              <a:rect l="l" t="t" r="r" b="b"/>
              <a:pathLst>
                <a:path w="9525" h="4190048">
                  <a:moveTo>
                    <a:pt x="0" y="4190048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34628" y="177641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386840" y="4647248"/>
              <a:ext cx="9525" cy="747712"/>
            </a:xfrm>
            <a:custGeom>
              <a:avLst/>
              <a:gdLst/>
              <a:ahLst/>
              <a:cxnLst/>
              <a:rect l="l" t="t" r="r" b="b"/>
              <a:pathLst>
                <a:path w="9525" h="747712">
                  <a:moveTo>
                    <a:pt x="0" y="0"/>
                  </a:moveTo>
                  <a:lnTo>
                    <a:pt x="0" y="747712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428571" sp="285714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4786312" y="2406015"/>
              <a:ext cx="9525" cy="2220278"/>
            </a:xfrm>
            <a:custGeom>
              <a:avLst/>
              <a:gdLst/>
              <a:ahLst/>
              <a:cxnLst/>
              <a:rect l="l" t="t" r="r" b="b"/>
              <a:pathLst>
                <a:path w="9525" h="2220278">
                  <a:moveTo>
                    <a:pt x="0" y="2220278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  <a:custDash>
                <a:ds d="428571" sp="285714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1397318" y="2405062"/>
              <a:ext cx="3386138" cy="2999422"/>
            </a:xfrm>
            <a:custGeom>
              <a:avLst/>
              <a:gdLst/>
              <a:ahLst/>
              <a:cxnLst/>
              <a:rect l="l" t="t" r="r" b="b"/>
              <a:pathLst>
                <a:path w="3386138" h="2999422">
                  <a:moveTo>
                    <a:pt x="0" y="2999422"/>
                  </a:moveTo>
                  <a:lnTo>
                    <a:pt x="74295" y="2991802"/>
                  </a:lnTo>
                  <a:lnTo>
                    <a:pt x="159068" y="2982278"/>
                  </a:lnTo>
                  <a:lnTo>
                    <a:pt x="244793" y="2972752"/>
                  </a:lnTo>
                  <a:lnTo>
                    <a:pt x="329565" y="2961322"/>
                  </a:lnTo>
                  <a:lnTo>
                    <a:pt x="414338" y="2948940"/>
                  </a:lnTo>
                  <a:lnTo>
                    <a:pt x="499110" y="2936557"/>
                  </a:lnTo>
                  <a:lnTo>
                    <a:pt x="583883" y="2921318"/>
                  </a:lnTo>
                  <a:lnTo>
                    <a:pt x="669608" y="2906078"/>
                  </a:lnTo>
                  <a:lnTo>
                    <a:pt x="754380" y="2888932"/>
                  </a:lnTo>
                  <a:lnTo>
                    <a:pt x="839153" y="2869882"/>
                  </a:lnTo>
                  <a:lnTo>
                    <a:pt x="923925" y="2849880"/>
                  </a:lnTo>
                  <a:lnTo>
                    <a:pt x="1009650" y="2827020"/>
                  </a:lnTo>
                  <a:lnTo>
                    <a:pt x="1094423" y="2802255"/>
                  </a:lnTo>
                  <a:lnTo>
                    <a:pt x="1179195" y="2775585"/>
                  </a:lnTo>
                  <a:lnTo>
                    <a:pt x="1264920" y="2747010"/>
                  </a:lnTo>
                  <a:lnTo>
                    <a:pt x="1348740" y="2715578"/>
                  </a:lnTo>
                  <a:lnTo>
                    <a:pt x="1434465" y="2680335"/>
                  </a:lnTo>
                  <a:lnTo>
                    <a:pt x="1519238" y="2643188"/>
                  </a:lnTo>
                  <a:lnTo>
                    <a:pt x="1604010" y="2602230"/>
                  </a:lnTo>
                  <a:lnTo>
                    <a:pt x="1689735" y="2556510"/>
                  </a:lnTo>
                  <a:lnTo>
                    <a:pt x="1774508" y="2507932"/>
                  </a:lnTo>
                  <a:lnTo>
                    <a:pt x="1859280" y="2453640"/>
                  </a:lnTo>
                  <a:lnTo>
                    <a:pt x="1944053" y="2395538"/>
                  </a:lnTo>
                  <a:lnTo>
                    <a:pt x="2029778" y="2330768"/>
                  </a:lnTo>
                  <a:lnTo>
                    <a:pt x="2114550" y="2261235"/>
                  </a:lnTo>
                  <a:lnTo>
                    <a:pt x="2199323" y="2185035"/>
                  </a:lnTo>
                  <a:lnTo>
                    <a:pt x="2284095" y="2101215"/>
                  </a:lnTo>
                  <a:lnTo>
                    <a:pt x="2368868" y="2010728"/>
                  </a:lnTo>
                  <a:lnTo>
                    <a:pt x="2454592" y="1911668"/>
                  </a:lnTo>
                  <a:lnTo>
                    <a:pt x="2539365" y="1803082"/>
                  </a:lnTo>
                  <a:lnTo>
                    <a:pt x="2624138" y="1684972"/>
                  </a:lnTo>
                  <a:lnTo>
                    <a:pt x="2709862" y="1555432"/>
                  </a:lnTo>
                  <a:lnTo>
                    <a:pt x="2794635" y="1414462"/>
                  </a:lnTo>
                  <a:lnTo>
                    <a:pt x="2879408" y="1260158"/>
                  </a:lnTo>
                  <a:lnTo>
                    <a:pt x="2964180" y="1092518"/>
                  </a:lnTo>
                  <a:lnTo>
                    <a:pt x="3049905" y="908685"/>
                  </a:lnTo>
                  <a:lnTo>
                    <a:pt x="3134678" y="708660"/>
                  </a:lnTo>
                  <a:lnTo>
                    <a:pt x="3219450" y="490538"/>
                  </a:lnTo>
                  <a:lnTo>
                    <a:pt x="3304223" y="251460"/>
                  </a:lnTo>
                  <a:lnTo>
                    <a:pt x="3386138" y="0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688658" y="46358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5570220" y="46358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781300" y="60712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2781300" y="17649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1385888" y="46358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385888" y="54044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4785360" y="46358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4785360" y="23945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385888" y="54044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4785360" y="23945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343978" y="5362575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743450" y="2352675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3488055" y="4579620"/>
              <a:ext cx="114300" cy="1143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404427" y="43219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06077" y="18378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39662" y="43943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739135" y="48296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22878" y="437054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86304" y="4829651"/>
              <a:ext cx="130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84948" y="5646896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f(a) &lt; 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8755" y="2346484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f(b) &gt; 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48751" y="3981926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032182" y="1524000"/>
            <a:ext cx="5626418" cy="1316355"/>
            <a:chOff x="6032182" y="1524000"/>
            <a:chExt cx="5626418" cy="1316355"/>
          </a:xfrm>
        </p:grpSpPr>
        <p:sp>
          <p:nvSpPr>
            <p:cNvPr id="37" name="Rectangle 37"/>
            <p:cNvSpPr/>
            <p:nvPr/>
          </p:nvSpPr>
          <p:spPr>
            <a:xfrm>
              <a:off x="6032182" y="1524000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41708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79832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558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介值定理（零点定理）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72212" y="2110740"/>
              <a:ext cx="4853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f(x) 在 [a, b] 上连续，且 f(a)·f(b) &lt; 0，则至少存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在一个 ξ ∈ (a, b)，使 f(ξ) = 0。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032182" y="3030855"/>
            <a:ext cx="5626418" cy="1316355"/>
            <a:chOff x="6032182" y="3030855"/>
            <a:chExt cx="5626418" cy="1316355"/>
          </a:xfrm>
        </p:grpSpPr>
        <p:sp>
          <p:nvSpPr>
            <p:cNvPr id="43" name="Rectangle 43"/>
            <p:cNvSpPr/>
            <p:nvPr/>
          </p:nvSpPr>
          <p:spPr>
            <a:xfrm>
              <a:off x="6032182" y="3030855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41708" y="3164205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79832" y="324040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66091" y="327612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唯一性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72212" y="361759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若同时 f′(x) 在 (a, b) 内存在且保持定号（恒 &gt; 0 或恒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0），f 严格单调，这样的 ξ 在 [a, b] 内唯一。</a:t>
              </a:r>
            </a:p>
          </p:txBody>
        </p:sp>
      </p:grpSp>
      <p:grpSp>
        <p:nvGrpSpPr>
          <p:cNvPr id="53" name="c2-card-3"/>
          <p:cNvGrpSpPr/>
          <p:nvPr/>
        </p:nvGrpSpPr>
        <p:grpSpPr>
          <a:xfrm>
            <a:off x="6032182" y="4537710"/>
            <a:ext cx="5626418" cy="1602105"/>
            <a:chOff x="6032182" y="4537710"/>
            <a:chExt cx="5626418" cy="1602105"/>
          </a:xfrm>
        </p:grpSpPr>
        <p:sp>
          <p:nvSpPr>
            <p:cNvPr id="49" name="Rectangle 49"/>
            <p:cNvSpPr/>
            <p:nvPr/>
          </p:nvSpPr>
          <p:spPr>
            <a:xfrm>
              <a:off x="6032182" y="4537710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1732" y="474726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06337" y="478297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二分法的基本思想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34112" y="5124450"/>
              <a:ext cx="49968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先确定有根区间，把区间二等分，根据中点处 f 的符号保留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端点仍然异号的那一半；有根区间逐步缩小，足够小时取中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点作为满足精度的近似根。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二分法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二分法算法与误差估计：次数可以事先算出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088832"/>
            <a:chOff x="533400" y="1524000"/>
            <a:chExt cx="5410200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981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3.1 二分法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2405761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输入：a, b, f(x), 精度 ε；输出：x</a:t>
              </a:r>
              <a:br/>
              <a:r>
                <a:rPr lang="el-GR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(b − a) &gt; ε do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:= a + (b − a)/2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sign(f(x)) = sign(f(a)) then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 := x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根在右半段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 := x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根在左半段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 := a + (b − a)/2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3782378"/>
            <a:ext cx="5410200" cy="729615"/>
            <a:chOff x="533400" y="3782378"/>
            <a:chExt cx="5410200" cy="729615"/>
          </a:xfrm>
        </p:grpSpPr>
        <p:sp>
          <p:nvSpPr>
            <p:cNvPr id="11" name="Rectangle 11"/>
            <p:cNvSpPr/>
            <p:nvPr/>
          </p:nvSpPr>
          <p:spPr>
            <a:xfrm>
              <a:off x="533400" y="378237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4047173"/>
              <a:ext cx="200026" cy="200025"/>
              <a:chOff x="738188" y="4047173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0471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40916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42027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892" y="3929062"/>
              <a:ext cx="44199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比较符号而不算乘积 f(a)f(x)，可避免两个很小的函数值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相乘下溢；中点恰有 f(x) = 0 时直接输出。</a:t>
              </a:r>
            </a:p>
          </p:txBody>
        </p:sp>
      </p:grpSp>
      <p:grpSp>
        <p:nvGrpSpPr>
          <p:cNvPr id="42" name="c1-table-3"/>
          <p:cNvGrpSpPr/>
          <p:nvPr/>
        </p:nvGrpSpPr>
        <p:grpSpPr>
          <a:xfrm>
            <a:off x="533400" y="4681538"/>
            <a:ext cx="5410200" cy="1600200"/>
            <a:chOff x="533400" y="4681538"/>
            <a:chExt cx="5410200" cy="1600200"/>
          </a:xfrm>
        </p:grpSpPr>
        <p:sp>
          <p:nvSpPr>
            <p:cNvPr id="18" name="Rectangle 18"/>
            <p:cNvSpPr/>
            <p:nvPr/>
          </p:nvSpPr>
          <p:spPr>
            <a:xfrm>
              <a:off x="533400" y="4681538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614" y="4802981"/>
              <a:ext cx="8674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区间长 b − 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101280" y="4802981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精度 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10586" y="4802981"/>
              <a:ext cx="11987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log₂((b − a)/ε)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52937" y="48029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需算的中点个数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47089" y="5203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53486" y="52030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38408" y="52030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39185" y="52030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4768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548163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147089" y="56030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153486" y="56030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96945" y="56030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13.29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97722" y="560308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58769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47089" y="60031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153486" y="60031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396945" y="600313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19.93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97722" y="60031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68153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855470" y="468153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2785110" y="468153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424362" y="468153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1"/>
          <p:cNvGrpSpPr/>
          <p:nvPr/>
        </p:nvGrpSpPr>
        <p:grpSpPr>
          <a:xfrm>
            <a:off x="6248400" y="1524000"/>
            <a:ext cx="5410200" cy="1758315"/>
            <a:chOff x="6248400" y="1524000"/>
            <a:chExt cx="5410200" cy="1758315"/>
          </a:xfrm>
        </p:grpSpPr>
        <p:sp>
          <p:nvSpPr>
            <p:cNvPr id="43" name="Rectangle 43"/>
            <p:cNvSpPr/>
            <p:nvPr/>
          </p:nvSpPr>
          <p:spPr>
            <a:xfrm>
              <a:off x="6248400" y="1524000"/>
              <a:ext cx="5410200" cy="1758315"/>
            </a:xfrm>
            <a:prstGeom prst="roundRect">
              <a:avLst>
                <a:gd name="adj" fmla="val 75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57925" y="1657350"/>
              <a:ext cx="47625" cy="14916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记号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66332" y="2054542"/>
              <a:ext cx="4805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[a₀, b₀] = [a, b]；第 n 步的有根区间记为 [aₙ, bₙ]，它的中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点记为 xₙ₊₁，区间长度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formula46"/>
                <p:cNvSpPr txBox="1">
                  <a:spLocks noGrp="1"/>
                </p:cNvSpPr>
                <p:nvPr/>
              </p:nvSpPr>
              <p:spPr>
                <a:xfrm>
                  <a:off x="6473190" y="2589848"/>
                  <a:ext cx="499872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8" name="c2-card-2"/>
          <p:cNvGrpSpPr/>
          <p:nvPr/>
        </p:nvGrpSpPr>
        <p:grpSpPr>
          <a:xfrm>
            <a:off x="6248400" y="3451860"/>
            <a:ext cx="5410200" cy="2829878"/>
            <a:chOff x="6248400" y="3451860"/>
            <a:chExt cx="5410200" cy="2829878"/>
          </a:xfrm>
        </p:grpSpPr>
        <p:sp>
          <p:nvSpPr>
            <p:cNvPr id="50" name="Rectangle 50"/>
            <p:cNvSpPr/>
            <p:nvPr/>
          </p:nvSpPr>
          <p:spPr>
            <a:xfrm>
              <a:off x="6248400" y="3451860"/>
              <a:ext cx="5410200" cy="2829878"/>
            </a:xfrm>
            <a:prstGeom prst="roundRect">
              <a:avLst>
                <a:gd name="adj" fmla="val 47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57925" y="3585210"/>
              <a:ext cx="47625" cy="256317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473190" y="363855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57759" y="367141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误差估计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formula47"/>
                <p:cNvSpPr txBox="1">
                  <a:spLocks noGrp="1"/>
                </p:cNvSpPr>
                <p:nvPr/>
              </p:nvSpPr>
              <p:spPr>
                <a:xfrm>
                  <a:off x="6473190" y="3960495"/>
                  <a:ext cx="499872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5" name="TextBox 55"/>
            <p:cNvSpPr txBox="1"/>
            <p:nvPr/>
          </p:nvSpPr>
          <p:spPr>
            <a:xfrm>
              <a:off x="6466332" y="4555808"/>
              <a:ext cx="19855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要使误差不超过 ε，只需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formula48"/>
                <p:cNvSpPr txBox="1">
                  <a:spLocks noGrp="1"/>
                </p:cNvSpPr>
                <p:nvPr/>
              </p:nvSpPr>
              <p:spPr>
                <a:xfrm>
                  <a:off x="6473190" y="4832985"/>
                  <a:ext cx="4998720" cy="4886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e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ε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unc>
                          <m:funcPr/>
                          <m:fName>
                            <m:sSub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num>
                              <m:den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ε</m:t>
                                </m:r>
                              </m:den>
                            </m:f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7" name="TextBox 57"/>
            <p:cNvSpPr txBox="1"/>
            <p:nvPr/>
          </p:nvSpPr>
          <p:spPr>
            <a:xfrm>
              <a:off x="6467475" y="5424011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所需中点个数只由区间长度和精度决定，与 f 无关。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54569" cy="909257"/>
            <a:chOff x="520446" y="342900"/>
            <a:chExt cx="93545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二分法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545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3.3 二分法求 sin x − x²/4 = 0 的非零实根，误差 ≤ 10⁻²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10996643" cy="278702"/>
            <a:chOff x="526161" y="1547336"/>
            <a:chExt cx="1099664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9966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 = 0 是一个根。f(1.5) = 0.434995 &gt; 0，f(2) = −0.090703 &lt; 0，取 [1.5, 2]；需 n + 1 ≥ log₂(0.5/0.01) ≈ 5.64，算到 x₆。</a:t>
              </a:r>
            </a:p>
          </p:txBody>
        </p:sp>
      </p:grpSp>
      <p:grpSp>
        <p:nvGrpSpPr>
          <p:cNvPr id="69" name="c1-table-1"/>
          <p:cNvGrpSpPr/>
          <p:nvPr/>
        </p:nvGrpSpPr>
        <p:grpSpPr>
          <a:xfrm>
            <a:off x="528066" y="1941195"/>
            <a:ext cx="6065139" cy="3307652"/>
            <a:chOff x="528066" y="1941195"/>
            <a:chExt cx="6065139" cy="330765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059805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276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03603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13253" y="206549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477741" y="2065496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xₙ₊₁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20612" y="2065496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f(xₙ₊₁)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773636" y="20654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2276" y="24712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66286" y="24712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58862" y="24712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486033" y="24712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93661" y="24712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0.218361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33946" y="24712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0.25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479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75272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2276" y="28770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24823" y="28770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58862" y="287702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44570" y="287702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93661" y="28770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0.075180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92483" y="287702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1537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42276" y="32827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83360" y="328279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58862" y="328279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403107" y="328279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1.9375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52198" y="328279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−0.004962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51020" y="328279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0.0625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559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356425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42276" y="3688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383360" y="368855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351547" y="368855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1.9375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361644" y="3688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1.90625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93661" y="36885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0.035814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709557" y="368855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0.03125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39652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42276" y="40943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00434" y="4094321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1.90625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351547" y="409432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1.9375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320181" y="409432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1.921875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493661" y="409432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0.015601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668094" y="409432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0.015625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437102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3400" y="437578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2276" y="45000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258971" y="450008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1.921875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351547" y="450008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1.9375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079432" y="4385310"/>
              <a:ext cx="115538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278718" y="450008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1.9296875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493661" y="450008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0.005363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428298" y="4385310"/>
              <a:ext cx="115538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626631" y="450008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0.0078125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33400" y="1941195"/>
              <a:ext cx="605980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45845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2137410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3065145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4239578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5414010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28066" y="4856798"/>
              <a:ext cx="571804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误差界为 (bₙ − aₙ)/2。n = 5 时 0.0078 &lt; 10⁻²，取 x* ≈ x₆ = 1.9296875；真根 1.933754，实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际误差 0.0041</a:t>
              </a:r>
            </a:p>
          </p:txBody>
        </p:sp>
      </p:grpSp>
      <p:grpSp>
        <p:nvGrpSpPr>
          <p:cNvPr id="153" name="c2-graph-1"/>
          <p:cNvGrpSpPr/>
          <p:nvPr/>
        </p:nvGrpSpPr>
        <p:grpSpPr>
          <a:xfrm>
            <a:off x="7324725" y="2225992"/>
            <a:ext cx="4191952" cy="3084195"/>
            <a:chOff x="7324725" y="2225992"/>
            <a:chExt cx="4191952" cy="3084195"/>
          </a:xfrm>
        </p:grpSpPr>
        <p:sp>
          <p:nvSpPr>
            <p:cNvPr id="70" name="Freeform 70"/>
            <p:cNvSpPr/>
            <p:nvPr/>
          </p:nvSpPr>
          <p:spPr>
            <a:xfrm>
              <a:off x="7336155" y="3513772"/>
              <a:ext cx="4073843" cy="9525"/>
            </a:xfrm>
            <a:custGeom>
              <a:avLst/>
              <a:gdLst/>
              <a:ahLst/>
              <a:cxnLst/>
              <a:rect l="l" t="t" r="r" b="b"/>
              <a:pathLst>
                <a:path w="4073843" h="9525">
                  <a:moveTo>
                    <a:pt x="0" y="0"/>
                  </a:moveTo>
                  <a:lnTo>
                    <a:pt x="4073843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1409998" y="34661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72" name="Freeform 72"/>
            <p:cNvSpPr/>
            <p:nvPr/>
          </p:nvSpPr>
          <p:spPr>
            <a:xfrm>
              <a:off x="7471410" y="2229802"/>
              <a:ext cx="3900488" cy="1692593"/>
            </a:xfrm>
            <a:custGeom>
              <a:avLst/>
              <a:gdLst/>
              <a:ahLst/>
              <a:cxnLst/>
              <a:rect l="l" t="t" r="r" b="b"/>
              <a:pathLst>
                <a:path w="3900488" h="1692593">
                  <a:moveTo>
                    <a:pt x="0" y="0"/>
                  </a:moveTo>
                  <a:lnTo>
                    <a:pt x="120015" y="31433"/>
                  </a:lnTo>
                  <a:lnTo>
                    <a:pt x="251460" y="66675"/>
                  </a:lnTo>
                  <a:lnTo>
                    <a:pt x="381953" y="103823"/>
                  </a:lnTo>
                  <a:lnTo>
                    <a:pt x="512445" y="142875"/>
                  </a:lnTo>
                  <a:lnTo>
                    <a:pt x="642938" y="183833"/>
                  </a:lnTo>
                  <a:lnTo>
                    <a:pt x="773430" y="225743"/>
                  </a:lnTo>
                  <a:lnTo>
                    <a:pt x="904875" y="268605"/>
                  </a:lnTo>
                  <a:lnTo>
                    <a:pt x="1035368" y="314325"/>
                  </a:lnTo>
                  <a:lnTo>
                    <a:pt x="1165860" y="360998"/>
                  </a:lnTo>
                  <a:lnTo>
                    <a:pt x="1296353" y="409575"/>
                  </a:lnTo>
                  <a:lnTo>
                    <a:pt x="1426845" y="459105"/>
                  </a:lnTo>
                  <a:lnTo>
                    <a:pt x="1557338" y="510540"/>
                  </a:lnTo>
                  <a:lnTo>
                    <a:pt x="1687830" y="563880"/>
                  </a:lnTo>
                  <a:lnTo>
                    <a:pt x="1819275" y="618172"/>
                  </a:lnTo>
                  <a:lnTo>
                    <a:pt x="1949768" y="674370"/>
                  </a:lnTo>
                  <a:lnTo>
                    <a:pt x="2080260" y="731520"/>
                  </a:lnTo>
                  <a:lnTo>
                    <a:pt x="2210752" y="790575"/>
                  </a:lnTo>
                  <a:lnTo>
                    <a:pt x="2341245" y="851535"/>
                  </a:lnTo>
                  <a:lnTo>
                    <a:pt x="2472690" y="914400"/>
                  </a:lnTo>
                  <a:lnTo>
                    <a:pt x="2603183" y="977265"/>
                  </a:lnTo>
                  <a:lnTo>
                    <a:pt x="2732722" y="1042988"/>
                  </a:lnTo>
                  <a:lnTo>
                    <a:pt x="2864167" y="1109663"/>
                  </a:lnTo>
                  <a:lnTo>
                    <a:pt x="2994660" y="1178243"/>
                  </a:lnTo>
                  <a:lnTo>
                    <a:pt x="3125152" y="1247775"/>
                  </a:lnTo>
                  <a:lnTo>
                    <a:pt x="3255645" y="1319213"/>
                  </a:lnTo>
                  <a:lnTo>
                    <a:pt x="3386138" y="1391602"/>
                  </a:lnTo>
                  <a:lnTo>
                    <a:pt x="3517583" y="1466850"/>
                  </a:lnTo>
                  <a:lnTo>
                    <a:pt x="3648075" y="1542098"/>
                  </a:lnTo>
                  <a:lnTo>
                    <a:pt x="3778567" y="1619250"/>
                  </a:lnTo>
                  <a:lnTo>
                    <a:pt x="3900488" y="1692593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662285" y="3188970"/>
              <a:ext cx="9525" cy="2101215"/>
            </a:xfrm>
            <a:custGeom>
              <a:avLst/>
              <a:gdLst/>
              <a:ahLst/>
              <a:cxnLst/>
              <a:rect l="l" t="t" r="r" b="b"/>
              <a:pathLst>
                <a:path w="9525" h="2101215">
                  <a:moveTo>
                    <a:pt x="0" y="0"/>
                  </a:moveTo>
                  <a:lnTo>
                    <a:pt x="0" y="2101215"/>
                  </a:lnTo>
                </a:path>
              </a:pathLst>
            </a:custGeom>
            <a:noFill/>
            <a:ln w="11430">
              <a:solidFill>
                <a:srgbClr val="F26B3A"/>
              </a:solidFill>
              <a:custDash>
                <a:ds d="500000" sp="333333"/>
              </a:custDash>
            </a:ln>
          </p:spPr>
        </p:sp>
        <p:sp>
          <p:nvSpPr>
            <p:cNvPr id="74" name="Freeform 74"/>
            <p:cNvSpPr/>
            <p:nvPr/>
          </p:nvSpPr>
          <p:spPr>
            <a:xfrm>
              <a:off x="7741920" y="3848100"/>
              <a:ext cx="3357562" cy="9525"/>
            </a:xfrm>
            <a:custGeom>
              <a:avLst/>
              <a:gdLst/>
              <a:ahLst/>
              <a:cxnLst/>
              <a:rect l="l" t="t" r="r" b="b"/>
              <a:pathLst>
                <a:path w="3357562" h="9525">
                  <a:moveTo>
                    <a:pt x="0" y="0"/>
                  </a:moveTo>
                  <a:lnTo>
                    <a:pt x="3357562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7731442" y="3789045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1109960" y="3789045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9431655" y="4113848"/>
              <a:ext cx="1667827" cy="9525"/>
            </a:xfrm>
            <a:custGeom>
              <a:avLst/>
              <a:gdLst/>
              <a:ahLst/>
              <a:cxnLst/>
              <a:rect l="l" t="t" r="r" b="b"/>
              <a:pathLst>
                <a:path w="1667827" h="9525">
                  <a:moveTo>
                    <a:pt x="0" y="0"/>
                  </a:moveTo>
                  <a:lnTo>
                    <a:pt x="1667827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9421178" y="4054792"/>
              <a:ext cx="9525" cy="118110"/>
            </a:xfrm>
            <a:custGeom>
              <a:avLst/>
              <a:gdLst/>
              <a:ahLst/>
              <a:cxnLst/>
              <a:rect l="l" t="t" r="r" b="b"/>
              <a:pathLst>
                <a:path w="9525" h="118110">
                  <a:moveTo>
                    <a:pt x="0" y="0"/>
                  </a:moveTo>
                  <a:lnTo>
                    <a:pt x="0" y="118110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1109960" y="4054792"/>
              <a:ext cx="9525" cy="118110"/>
            </a:xfrm>
            <a:custGeom>
              <a:avLst/>
              <a:gdLst/>
              <a:ahLst/>
              <a:cxnLst/>
              <a:rect l="l" t="t" r="r" b="b"/>
              <a:pathLst>
                <a:path w="9525" h="118110">
                  <a:moveTo>
                    <a:pt x="0" y="0"/>
                  </a:moveTo>
                  <a:lnTo>
                    <a:pt x="0" y="118110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0275570" y="4378642"/>
              <a:ext cx="823912" cy="9525"/>
            </a:xfrm>
            <a:custGeom>
              <a:avLst/>
              <a:gdLst/>
              <a:ahLst/>
              <a:cxnLst/>
              <a:rect l="l" t="t" r="r" b="b"/>
              <a:pathLst>
                <a:path w="823912" h="9525">
                  <a:moveTo>
                    <a:pt x="0" y="0"/>
                  </a:moveTo>
                  <a:lnTo>
                    <a:pt x="823912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0265092" y="4319588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1109960" y="4319588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0275570" y="4644390"/>
              <a:ext cx="401955" cy="9525"/>
            </a:xfrm>
            <a:custGeom>
              <a:avLst/>
              <a:gdLst/>
              <a:ahLst/>
              <a:cxnLst/>
              <a:rect l="l" t="t" r="r" b="b"/>
              <a:pathLst>
                <a:path w="401955" h="9525">
                  <a:moveTo>
                    <a:pt x="0" y="0"/>
                  </a:moveTo>
                  <a:lnTo>
                    <a:pt x="401955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0265092" y="4584382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0688002" y="4584382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0487025" y="490918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0476548" y="4850130"/>
              <a:ext cx="9525" cy="119063"/>
            </a:xfrm>
            <a:custGeom>
              <a:avLst/>
              <a:gdLst/>
              <a:ahLst/>
              <a:cxnLst/>
              <a:rect l="l" t="t" r="r" b="b"/>
              <a:pathLst>
                <a:path w="9525" h="119063">
                  <a:moveTo>
                    <a:pt x="0" y="0"/>
                  </a:moveTo>
                  <a:lnTo>
                    <a:pt x="0" y="119063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0688002" y="4850130"/>
              <a:ext cx="9525" cy="119063"/>
            </a:xfrm>
            <a:custGeom>
              <a:avLst/>
              <a:gdLst/>
              <a:ahLst/>
              <a:cxnLst/>
              <a:rect l="l" t="t" r="r" b="b"/>
              <a:pathLst>
                <a:path w="9525" h="119063">
                  <a:moveTo>
                    <a:pt x="0" y="0"/>
                  </a:moveTo>
                  <a:lnTo>
                    <a:pt x="0" y="119063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0592752" y="5174932"/>
              <a:ext cx="84773" cy="9525"/>
            </a:xfrm>
            <a:custGeom>
              <a:avLst/>
              <a:gdLst/>
              <a:ahLst/>
              <a:cxnLst/>
              <a:rect l="l" t="t" r="r" b="b"/>
              <a:pathLst>
                <a:path w="84773" h="9525">
                  <a:moveTo>
                    <a:pt x="0" y="0"/>
                  </a:moveTo>
                  <a:lnTo>
                    <a:pt x="84773" y="0"/>
                  </a:lnTo>
                </a:path>
              </a:pathLst>
            </a:custGeom>
            <a:noFill/>
            <a:ln w="30480">
              <a:solidFill>
                <a:srgbClr val="2E7D4F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582275" y="5114925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0688002" y="5114925"/>
              <a:ext cx="9525" cy="119062"/>
            </a:xfrm>
            <a:custGeom>
              <a:avLst/>
              <a:gdLst/>
              <a:ahLst/>
              <a:cxnLst/>
              <a:rect l="l" t="t" r="r" b="b"/>
              <a:pathLst>
                <a:path w="9525" h="119062">
                  <a:moveTo>
                    <a:pt x="0" y="0"/>
                  </a:moveTo>
                  <a:lnTo>
                    <a:pt x="0" y="119062"/>
                  </a:lnTo>
                </a:path>
              </a:pathLst>
            </a:custGeom>
            <a:noFill/>
            <a:ln w="15240">
              <a:solidFill>
                <a:srgbClr val="2E7D4F"/>
              </a:solidFill>
            </a:ln>
          </p:spPr>
        </p:sp>
        <p:sp>
          <p:nvSpPr>
            <p:cNvPr id="92" name="Ellipse 92"/>
            <p:cNvSpPr/>
            <p:nvPr/>
          </p:nvSpPr>
          <p:spPr>
            <a:xfrm>
              <a:off x="7324725" y="351282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3" name="Ellipse 93"/>
            <p:cNvSpPr/>
            <p:nvPr/>
          </p:nvSpPr>
          <p:spPr>
            <a:xfrm>
              <a:off x="11514772" y="351282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4" name="Ellipse 94"/>
            <p:cNvSpPr/>
            <p:nvPr/>
          </p:nvSpPr>
          <p:spPr>
            <a:xfrm>
              <a:off x="7459980" y="22259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5" name="Ellipse 95"/>
            <p:cNvSpPr/>
            <p:nvPr/>
          </p:nvSpPr>
          <p:spPr>
            <a:xfrm>
              <a:off x="11379518" y="39271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6" name="Ellipse 96"/>
            <p:cNvSpPr/>
            <p:nvPr/>
          </p:nvSpPr>
          <p:spPr>
            <a:xfrm>
              <a:off x="10661333" y="317754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7" name="Ellipse 97"/>
            <p:cNvSpPr/>
            <p:nvPr/>
          </p:nvSpPr>
          <p:spPr>
            <a:xfrm>
              <a:off x="10661333" y="52997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8" name="Ellipse 98"/>
            <p:cNvSpPr/>
            <p:nvPr/>
          </p:nvSpPr>
          <p:spPr>
            <a:xfrm>
              <a:off x="10614660" y="3466148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9" name="Ellipse 99"/>
            <p:cNvSpPr/>
            <p:nvPr/>
          </p:nvSpPr>
          <p:spPr>
            <a:xfrm>
              <a:off x="7730490" y="384714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0" name="Ellipse 100"/>
            <p:cNvSpPr/>
            <p:nvPr/>
          </p:nvSpPr>
          <p:spPr>
            <a:xfrm>
              <a:off x="11109008" y="384714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1" name="Ellipse 101"/>
            <p:cNvSpPr/>
            <p:nvPr/>
          </p:nvSpPr>
          <p:spPr>
            <a:xfrm>
              <a:off x="7730490" y="377761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2" name="Ellipse 102"/>
            <p:cNvSpPr/>
            <p:nvPr/>
          </p:nvSpPr>
          <p:spPr>
            <a:xfrm>
              <a:off x="7730490" y="39176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3" name="Ellipse 103"/>
            <p:cNvSpPr/>
            <p:nvPr/>
          </p:nvSpPr>
          <p:spPr>
            <a:xfrm>
              <a:off x="11109008" y="377761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4" name="Ellipse 104"/>
            <p:cNvSpPr/>
            <p:nvPr/>
          </p:nvSpPr>
          <p:spPr>
            <a:xfrm>
              <a:off x="11109008" y="39176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5" name="Ellipse 105"/>
            <p:cNvSpPr/>
            <p:nvPr/>
          </p:nvSpPr>
          <p:spPr>
            <a:xfrm>
              <a:off x="9387840" y="381476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6" name="Ellipse 106"/>
            <p:cNvSpPr/>
            <p:nvPr/>
          </p:nvSpPr>
          <p:spPr>
            <a:xfrm>
              <a:off x="9420225" y="411289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7" name="Ellipse 107"/>
            <p:cNvSpPr/>
            <p:nvPr/>
          </p:nvSpPr>
          <p:spPr>
            <a:xfrm>
              <a:off x="11109008" y="411289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8" name="Ellipse 108"/>
            <p:cNvSpPr/>
            <p:nvPr/>
          </p:nvSpPr>
          <p:spPr>
            <a:xfrm>
              <a:off x="9420225" y="404336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9" name="Ellipse 109"/>
            <p:cNvSpPr/>
            <p:nvPr/>
          </p:nvSpPr>
          <p:spPr>
            <a:xfrm>
              <a:off x="9420225" y="418242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0" name="Ellipse 110"/>
            <p:cNvSpPr/>
            <p:nvPr/>
          </p:nvSpPr>
          <p:spPr>
            <a:xfrm>
              <a:off x="11109008" y="404336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1" name="Ellipse 111"/>
            <p:cNvSpPr/>
            <p:nvPr/>
          </p:nvSpPr>
          <p:spPr>
            <a:xfrm>
              <a:off x="11109008" y="418242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2" name="Ellipse 112"/>
            <p:cNvSpPr/>
            <p:nvPr/>
          </p:nvSpPr>
          <p:spPr>
            <a:xfrm>
              <a:off x="10231755" y="408051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3" name="Ellipse 113"/>
            <p:cNvSpPr/>
            <p:nvPr/>
          </p:nvSpPr>
          <p:spPr>
            <a:xfrm>
              <a:off x="10264140" y="43776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4" name="Ellipse 114"/>
            <p:cNvSpPr/>
            <p:nvPr/>
          </p:nvSpPr>
          <p:spPr>
            <a:xfrm>
              <a:off x="11109008" y="43776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5" name="Ellipse 115"/>
            <p:cNvSpPr/>
            <p:nvPr/>
          </p:nvSpPr>
          <p:spPr>
            <a:xfrm>
              <a:off x="10264140" y="43081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6" name="Ellipse 116"/>
            <p:cNvSpPr/>
            <p:nvPr/>
          </p:nvSpPr>
          <p:spPr>
            <a:xfrm>
              <a:off x="10264140" y="44481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7" name="Ellipse 117"/>
            <p:cNvSpPr/>
            <p:nvPr/>
          </p:nvSpPr>
          <p:spPr>
            <a:xfrm>
              <a:off x="11109008" y="43081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8" name="Ellipse 118"/>
            <p:cNvSpPr/>
            <p:nvPr/>
          </p:nvSpPr>
          <p:spPr>
            <a:xfrm>
              <a:off x="11109008" y="44481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9" name="Ellipse 119"/>
            <p:cNvSpPr/>
            <p:nvPr/>
          </p:nvSpPr>
          <p:spPr>
            <a:xfrm>
              <a:off x="10654665" y="434530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0" name="Ellipse 120"/>
            <p:cNvSpPr/>
            <p:nvPr/>
          </p:nvSpPr>
          <p:spPr>
            <a:xfrm>
              <a:off x="10264140" y="464343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1" name="Ellipse 121"/>
            <p:cNvSpPr/>
            <p:nvPr/>
          </p:nvSpPr>
          <p:spPr>
            <a:xfrm>
              <a:off x="10687050" y="464343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2" name="Ellipse 122"/>
            <p:cNvSpPr/>
            <p:nvPr/>
          </p:nvSpPr>
          <p:spPr>
            <a:xfrm>
              <a:off x="10264140" y="45729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3" name="Ellipse 123"/>
            <p:cNvSpPr/>
            <p:nvPr/>
          </p:nvSpPr>
          <p:spPr>
            <a:xfrm>
              <a:off x="10264140" y="4712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4" name="Ellipse 124"/>
            <p:cNvSpPr/>
            <p:nvPr/>
          </p:nvSpPr>
          <p:spPr>
            <a:xfrm>
              <a:off x="10687050" y="45729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5" name="Ellipse 125"/>
            <p:cNvSpPr/>
            <p:nvPr/>
          </p:nvSpPr>
          <p:spPr>
            <a:xfrm>
              <a:off x="10687050" y="4712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6" name="Ellipse 126"/>
            <p:cNvSpPr/>
            <p:nvPr/>
          </p:nvSpPr>
          <p:spPr>
            <a:xfrm>
              <a:off x="10443210" y="461105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7" name="Ellipse 127"/>
            <p:cNvSpPr/>
            <p:nvPr/>
          </p:nvSpPr>
          <p:spPr>
            <a:xfrm>
              <a:off x="10475595" y="49082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8" name="Ellipse 128"/>
            <p:cNvSpPr/>
            <p:nvPr/>
          </p:nvSpPr>
          <p:spPr>
            <a:xfrm>
              <a:off x="10687050" y="49082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9" name="Ellipse 129"/>
            <p:cNvSpPr/>
            <p:nvPr/>
          </p:nvSpPr>
          <p:spPr>
            <a:xfrm>
              <a:off x="10475595" y="483870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0" name="Ellipse 130"/>
            <p:cNvSpPr/>
            <p:nvPr/>
          </p:nvSpPr>
          <p:spPr>
            <a:xfrm>
              <a:off x="10475595" y="497871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1" name="Ellipse 131"/>
            <p:cNvSpPr/>
            <p:nvPr/>
          </p:nvSpPr>
          <p:spPr>
            <a:xfrm>
              <a:off x="10687050" y="483870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2" name="Ellipse 132"/>
            <p:cNvSpPr/>
            <p:nvPr/>
          </p:nvSpPr>
          <p:spPr>
            <a:xfrm>
              <a:off x="10687050" y="497871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3" name="Ellipse 133"/>
            <p:cNvSpPr/>
            <p:nvPr/>
          </p:nvSpPr>
          <p:spPr>
            <a:xfrm>
              <a:off x="10548938" y="487584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34" name="Ellipse 134"/>
            <p:cNvSpPr/>
            <p:nvPr/>
          </p:nvSpPr>
          <p:spPr>
            <a:xfrm>
              <a:off x="10581322" y="517398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5" name="Ellipse 135"/>
            <p:cNvSpPr/>
            <p:nvPr/>
          </p:nvSpPr>
          <p:spPr>
            <a:xfrm>
              <a:off x="10687050" y="517398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6" name="Ellipse 136"/>
            <p:cNvSpPr/>
            <p:nvPr/>
          </p:nvSpPr>
          <p:spPr>
            <a:xfrm>
              <a:off x="10581322" y="510349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7" name="Ellipse 137"/>
            <p:cNvSpPr/>
            <p:nvPr/>
          </p:nvSpPr>
          <p:spPr>
            <a:xfrm>
              <a:off x="10581322" y="52435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8" name="Ellipse 138"/>
            <p:cNvSpPr/>
            <p:nvPr/>
          </p:nvSpPr>
          <p:spPr>
            <a:xfrm>
              <a:off x="10687050" y="510349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9" name="Ellipse 139"/>
            <p:cNvSpPr/>
            <p:nvPr/>
          </p:nvSpPr>
          <p:spPr>
            <a:xfrm>
              <a:off x="10687050" y="52435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0" name="Ellipse 140"/>
            <p:cNvSpPr/>
            <p:nvPr/>
          </p:nvSpPr>
          <p:spPr>
            <a:xfrm>
              <a:off x="10601325" y="514159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1" name="TextBox 141"/>
            <p:cNvSpPr txBox="1"/>
            <p:nvPr/>
          </p:nvSpPr>
          <p:spPr>
            <a:xfrm>
              <a:off x="11361210" y="331279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10272928" y="3002756"/>
              <a:ext cx="7787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x* ≈ 1.9338</a:t>
              </a:r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7523226" y="3037523"/>
              <a:ext cx="1339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f(x) = sin x − x²/4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7626725" y="3346132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9283141" y="3346132"/>
              <a:ext cx="2760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11071879" y="3346132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7" name="TextBox 147"/>
            <p:cNvSpPr txBox="1"/>
            <p:nvPr/>
          </p:nvSpPr>
          <p:spPr>
            <a:xfrm>
              <a:off x="7344728" y="380809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n=0</a:t>
              </a:r>
            </a:p>
          </p:txBody>
        </p:sp>
        <p:sp>
          <p:nvSpPr>
            <p:cNvPr id="148" name="TextBox 148"/>
            <p:cNvSpPr txBox="1"/>
            <p:nvPr/>
          </p:nvSpPr>
          <p:spPr>
            <a:xfrm>
              <a:off x="7344728" y="4072890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n=1</a:t>
              </a:r>
            </a:p>
          </p:txBody>
        </p:sp>
        <p:sp>
          <p:nvSpPr>
            <p:cNvPr id="149" name="TextBox 149"/>
            <p:cNvSpPr txBox="1"/>
            <p:nvPr/>
          </p:nvSpPr>
          <p:spPr>
            <a:xfrm>
              <a:off x="7344728" y="4338638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n=2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344728" y="4603432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n=3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7344728" y="4868228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n=4</a:t>
              </a:r>
            </a:p>
          </p:txBody>
        </p:sp>
        <p:sp>
          <p:nvSpPr>
            <p:cNvPr id="152" name="TextBox 152"/>
            <p:cNvSpPr txBox="1"/>
            <p:nvPr/>
          </p:nvSpPr>
          <p:spPr>
            <a:xfrm>
              <a:off x="7344728" y="5133975"/>
              <a:ext cx="2094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n=5</a:t>
              </a:r>
            </a:p>
          </p:txBody>
        </p:sp>
      </p:grpSp>
      <p:grpSp>
        <p:nvGrpSpPr>
          <p:cNvPr id="160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154" name="Rectangle 154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8" name="Group 158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155" name="Freeform 155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6" name="Freeform 156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7" name="Freeform 157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59" name="TextBox 159"/>
            <p:cNvSpPr txBox="1"/>
            <p:nvPr/>
          </p:nvSpPr>
          <p:spPr>
            <a:xfrm>
              <a:off x="1040892" y="5779770"/>
              <a:ext cx="99320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 n = 2 行 f 写作 −0.0496228，n = 3 行写作 1.90265、0.0404208，n = 4 行 f 写作 0.156014，应为表中数值；区间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端点和结论不变。</a:t>
              </a:r>
            </a:p>
          </p:txBody>
        </p:sp>
      </p:grpSp>
      <p:grpSp>
        <p:nvGrpSpPr>
          <p:cNvPr id="1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61" name="TextBox 16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二分法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二分法：稳妥但收敛慢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951220" cy="1557338"/>
            <a:chOff x="533400" y="1524000"/>
            <a:chExt cx="5951220" cy="15573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31305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只要求 f 连续、端点异号，不需要导数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43173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37553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每步算一次函数值，程序简单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2734627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26784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一定收敛，二分次数可事先算出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256598"/>
            <a:ext cx="5951220" cy="1557338"/>
            <a:chOff x="533400" y="3256598"/>
            <a:chExt cx="5951220" cy="1557338"/>
          </a:xfrm>
        </p:grpSpPr>
        <p:sp>
          <p:nvSpPr>
            <p:cNvPr id="18" name="Rectangle 18"/>
            <p:cNvSpPr/>
            <p:nvPr/>
          </p:nvSpPr>
          <p:spPr>
            <a:xfrm>
              <a:off x="533400" y="3256598"/>
              <a:ext cx="595122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389948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3905" y="344900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5345" y="348329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局限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3861435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3805238"/>
              <a:ext cx="49842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收敛慢：误差界每步只减半，区间长 1 时要约 20 次才到 10⁻⁶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16433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108132"/>
              <a:ext cx="45662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偶数重根处 f 不变号，如 (x − 1)² = 0，找不到有根区间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446627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441007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不能求复根，不能直接推广到方程组</a:t>
              </a:r>
            </a:p>
          </p:txBody>
        </p:sp>
      </p:grpSp>
      <p:grpSp>
        <p:nvGrpSpPr>
          <p:cNvPr id="34" name="c1-card-3"/>
          <p:cNvGrpSpPr/>
          <p:nvPr/>
        </p:nvGrpSpPr>
        <p:grpSpPr>
          <a:xfrm>
            <a:off x="533400" y="4989195"/>
            <a:ext cx="5951220" cy="1209675"/>
            <a:chOff x="533400" y="4989195"/>
            <a:chExt cx="5951220" cy="1209675"/>
          </a:xfrm>
        </p:grpSpPr>
        <p:sp>
          <p:nvSpPr>
            <p:cNvPr id="29" name="Rectangle 29"/>
            <p:cNvSpPr/>
            <p:nvPr/>
          </p:nvSpPr>
          <p:spPr>
            <a:xfrm>
              <a:off x="533400" y="4989195"/>
              <a:ext cx="5951220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5122545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63905" y="5181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5345" y="5215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047" y="5537835"/>
              <a:ext cx="51657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原课件备注称二分法对单实根“收敛速度快”。它的误差界固定按 1/2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缩小，属于慢方法，长处是稳妥，常用来给快速方法提供初值。</a:t>
              </a:r>
            </a:p>
          </p:txBody>
        </p:sp>
      </p:grpSp>
      <p:grpSp>
        <p:nvGrpSpPr>
          <p:cNvPr id="37" name="c2-image-1"/>
          <p:cNvGrpSpPr/>
          <p:nvPr/>
        </p:nvGrpSpPr>
        <p:grpSpPr>
          <a:xfrm>
            <a:off x="6789420" y="1524000"/>
            <a:ext cx="4869180" cy="4861179"/>
            <a:chOff x="6789420" y="1524000"/>
            <a:chExt cx="4869180" cy="4861179"/>
          </a:xfrm>
        </p:grpSpPr>
        <p:pic>
          <p:nvPicPr>
            <p:cNvPr id="35" name="Image 35"/>
            <p:cNvPicPr>
              <a:picLocks noChangeAspect="1"/>
            </p:cNvPicPr>
            <p:nvPr/>
          </p:nvPicPr>
          <p:blipFill>
            <a:blip r:embed="rId2"/>
            <a:srcRect l="9979" t="0" r="9979" b="0"/>
            <a:stretch>
              <a:fillRect/>
            </a:stretch>
          </p:blipFill>
          <p:spPr>
            <a:xfrm>
              <a:off x="6789420" y="1524000"/>
              <a:ext cx="4869180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36" name="TextBox 36"/>
            <p:cNvSpPr txBox="1"/>
            <p:nvPr/>
          </p:nvSpPr>
          <p:spPr>
            <a:xfrm>
              <a:off x="7027736" y="6179820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一串灯里有一只坏灯泡：每次检测一半，只在有问题的那一半里继续找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668594" cy="3351847"/>
            <a:chOff x="667512" y="1835468"/>
            <a:chExt cx="566859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3.4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不动点迭代法及其收敛性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6586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 f(x) = 0 改写成 x = φ(x)，用 xₖ₊₁ = φ(xₖ) 逐次逼近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迭代格式与几何解释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830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 与误差估计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830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3.4 估计迭代次数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稳定性与收敛阶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94590" cy="909257"/>
            <a:chOff x="520446" y="342900"/>
            <a:chExt cx="65945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945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不动点迭代：把 f(x) = 0 改写成 x = φ(x)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631632"/>
            <a:chOff x="533400" y="1524000"/>
            <a:chExt cx="5626418" cy="1631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635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3.2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72590" y="176879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882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f(x) = 0 改写成等价形式 x = φ(x) (3.4.1)，满足 x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 的点 x 称为此方程的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747486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求 f(x) = 0 的根，等价于求 x = φ(x) 的不动点。</a:t>
              </a:r>
            </a:p>
          </p:txBody>
        </p:sp>
      </p:grpSp>
      <p:grpSp>
        <p:nvGrpSpPr>
          <p:cNvPr id="28" name="c1-steps-2"/>
          <p:cNvGrpSpPr/>
          <p:nvPr/>
        </p:nvGrpSpPr>
        <p:grpSpPr>
          <a:xfrm>
            <a:off x="533400" y="3355658"/>
            <a:ext cx="5294249" cy="2112931"/>
            <a:chOff x="533400" y="3355658"/>
            <a:chExt cx="5294249" cy="2112931"/>
          </a:xfrm>
        </p:grpSpPr>
        <p:sp>
          <p:nvSpPr>
            <p:cNvPr id="15" name="Rectangle 15"/>
            <p:cNvSpPr/>
            <p:nvPr/>
          </p:nvSpPr>
          <p:spPr>
            <a:xfrm>
              <a:off x="666750" y="3498532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33400" y="335565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4294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00621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0800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6577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4731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38994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取初值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683794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给定初始近似值 x₀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404050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334351"/>
              <a:ext cx="30629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φ(xₖ)，k = 0, 1, 2, … (3.4.2)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6920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取极限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984909"/>
              <a:ext cx="48816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{xₖ} 收敛于 x* (3.4.3)，且 φ 连续，对 (3.4.2) 两边取极限得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下式 (3.4.4)，x* 就是 f(x) = 0 的根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formula51"/>
              <p:cNvSpPr txBox="1">
                <a:spLocks noGrp="1"/>
              </p:cNvSpPr>
              <p:nvPr/>
            </p:nvSpPr>
            <p:spPr>
              <a:xfrm>
                <a:off x="533400" y="5647372"/>
                <a:ext cx="5626418" cy="7086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limLow>
                            <m:limLowPr/>
                            <m: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fun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limLow>
                            <m:limLowPr/>
                            <m: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φ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*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7" name="c2-kv-1"/>
          <p:cNvGrpSpPr/>
          <p:nvPr/>
        </p:nvGrpSpPr>
        <p:grpSpPr>
          <a:xfrm>
            <a:off x="6456998" y="1548765"/>
            <a:ext cx="5201602" cy="2775585"/>
            <a:chOff x="6456998" y="1548765"/>
            <a:chExt cx="5201602" cy="2775585"/>
          </a:xfrm>
        </p:grpSpPr>
        <p:sp>
          <p:nvSpPr>
            <p:cNvPr id="30" name="TextBox 30"/>
            <p:cNvSpPr txBox="1"/>
            <p:nvPr/>
          </p:nvSpPr>
          <p:spPr>
            <a:xfrm>
              <a:off x="6456998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迭代函数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6755" y="154876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64618" y="18688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56998" y="19888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初始值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26755" y="1988820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23088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56998" y="2428875"/>
              <a:ext cx="1539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迭代格式（迭代过</a:t>
              </a:r>
              <a:br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程）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6755" y="2428875"/>
              <a:ext cx="12470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φ(xₖ)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64618" y="303085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56998" y="3150870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 k 次近似值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26755" y="3150870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347091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56998" y="3590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迭代数列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26755" y="35909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{xₖ}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391096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56998" y="4030980"/>
              <a:ext cx="1470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收敛的 / 发散的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26755" y="4030980"/>
              <a:ext cx="25595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极限 (3.4.3) 成立 / 不成立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464618" y="4455795"/>
            <a:ext cx="5193982" cy="1900238"/>
            <a:chOff x="6464618" y="4455795"/>
            <a:chExt cx="5193982" cy="1900238"/>
          </a:xfrm>
        </p:grpSpPr>
        <p:sp>
          <p:nvSpPr>
            <p:cNvPr id="48" name="Rectangle 48"/>
            <p:cNvSpPr/>
            <p:nvPr/>
          </p:nvSpPr>
          <p:spPr>
            <a:xfrm>
              <a:off x="6464618" y="4455795"/>
              <a:ext cx="5193982" cy="1900238"/>
            </a:xfrm>
            <a:prstGeom prst="roundRect">
              <a:avLst>
                <a:gd name="adj" fmla="val 7018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674168" y="466534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47624" y="470106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两个基本问题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674167" y="502920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36017" y="50714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975158" y="5042535"/>
              <a:ext cx="31451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化成等价方程，构造迭代函数 φ(x)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674167" y="536448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36017" y="54067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75158" y="5377815"/>
              <a:ext cx="41681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研究迭代数列 {xₖ} 的收敛性、收敛速度和误差估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同一个方程，迭代函数选得不同，结果大不相同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1081004" cy="293370"/>
            <a:chOff x="525780" y="1548765"/>
            <a:chExt cx="1108100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10810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实验题 1：x² − 3x + 2 = 0 的根为 1 和 2。在 x* = 2 附近比较四种等价形式 x = φ(x)，初值都取 x₀ = 2.5，列出 x₁ 到 x₆。</a:t>
              </a:r>
            </a:p>
          </p:txBody>
        </p:sp>
      </p:grpSp>
      <p:grpSp>
        <p:nvGrpSpPr>
          <p:cNvPr id="45" name="c1-table-1"/>
          <p:cNvGrpSpPr/>
          <p:nvPr/>
        </p:nvGrpSpPr>
        <p:grpSpPr>
          <a:xfrm>
            <a:off x="533400" y="1954530"/>
            <a:ext cx="11125200" cy="2345055"/>
            <a:chOff x="533400" y="1954530"/>
            <a:chExt cx="11125200" cy="234505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94020" y="2089309"/>
              <a:ext cx="1280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迭代函数 φ(x)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32488" y="2089309"/>
              <a:ext cx="566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φ′(x)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11758" y="2089309"/>
              <a:ext cx="566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φ′(2)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60060" y="2089309"/>
              <a:ext cx="12990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x₁, x₂, …, x₆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792498" y="208930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7604" y="2558891"/>
              <a:ext cx="10180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(x² + 2)/3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39758" y="2558891"/>
              <a:ext cx="435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2x/3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30039" y="255889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4/3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00204" y="2558891"/>
              <a:ext cx="33502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2.75, 3.19, 4.05, 6.14, 13.2, 59.2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792498" y="255889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发散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88798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892742"/>
              <a:ext cx="1112520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7604" y="3027521"/>
              <a:ext cx="9076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√(3x − 2)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39758" y="3027521"/>
              <a:ext cx="13908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3/(2√(3x − 2))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30039" y="302752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3/4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00204" y="3027521"/>
              <a:ext cx="39810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2.345, 2.244, 2.175, 2.127, 2.093, 2.069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601338" y="30275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收敛，慢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5661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7604" y="3496151"/>
              <a:ext cx="6868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3 − 2/x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639758" y="3496151"/>
              <a:ext cx="435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2/x²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430039" y="349615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00204" y="3496151"/>
              <a:ext cx="39810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2.200, 2.091, 2.043, 2.021, 2.011, 2.005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792498" y="349615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8261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830955"/>
              <a:ext cx="1112520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7604" y="3965734"/>
              <a:ext cx="16904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(x² − 2)/(2x − 3)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39758" y="3965734"/>
              <a:ext cx="22510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2(x² − 3x + 2)/(2x − 3)²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35177" y="3965734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00204" y="3965734"/>
              <a:ext cx="36082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2.125, 2.0125, 2.000152, 2.000000, 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792498" y="396573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最快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954530"/>
              <a:ext cx="11125200" cy="23450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530792" y="1954530"/>
              <a:ext cx="9525" cy="23450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090160" y="1954530"/>
              <a:ext cx="9525" cy="23450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91238" y="1954530"/>
              <a:ext cx="9525" cy="23450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318432" y="1954530"/>
              <a:ext cx="9525" cy="23450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1-compare-2"/>
          <p:cNvGrpSpPr/>
          <p:nvPr/>
        </p:nvGrpSpPr>
        <p:grpSpPr>
          <a:xfrm>
            <a:off x="533400" y="4485322"/>
            <a:ext cx="11125200" cy="1877378"/>
            <a:chOff x="533400" y="4485322"/>
            <a:chExt cx="11125200" cy="1877378"/>
          </a:xfrm>
        </p:grpSpPr>
        <p:sp>
          <p:nvSpPr>
            <p:cNvPr id="46" name="Rectangle 46"/>
            <p:cNvSpPr/>
            <p:nvPr/>
          </p:nvSpPr>
          <p:spPr>
            <a:xfrm>
              <a:off x="533400" y="4485322"/>
              <a:ext cx="5353050" cy="1877378"/>
            </a:xfrm>
            <a:prstGeom prst="roundRect">
              <a:avLst>
                <a:gd name="adj" fmla="val 71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42925" y="4618672"/>
              <a:ext cx="47625" cy="161067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68096" y="4712494"/>
              <a:ext cx="11385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&gt; 1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82955" y="51111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39546" y="505063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迭代点离根越来越远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82955" y="54311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9546" y="5370671"/>
              <a:ext cx="31017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种形式从 2 附近出发都会离开 2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305550" y="4485322"/>
              <a:ext cx="5353050" cy="1877378"/>
            </a:xfrm>
            <a:prstGeom prst="roundRect">
              <a:avLst>
                <a:gd name="adj" fmla="val 71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315075" y="4618672"/>
              <a:ext cx="47625" cy="16106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40246" y="4712494"/>
              <a:ext cx="11385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&lt; 1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555105" y="511111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11696" y="5050631"/>
              <a:ext cx="25377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迭代收敛，|φ′(x*)| 越小越快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555105" y="543115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11696" y="5370671"/>
              <a:ext cx="42751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种 φ′(2) = 0，它就是 3.5 节的 Newton 公式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5934075" y="52616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004415" y="535876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67675" cy="909257"/>
            <a:chOff x="520446" y="342900"/>
            <a:chExt cx="81676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676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几何解释：迭代折线在 y = x 与 y = φ(x) 之间来回走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711180" cy="597598"/>
            <a:chOff x="525399" y="1550194"/>
            <a:chExt cx="10711180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711180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根 x* 是曲线 y = φ(x) 与直线 y = x 交点 P* 的横坐标。从 xₖ 竖直走到曲线，高度 φ(xₖ) 就是 xₖ₊₁；再水平走到直线，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横坐标就变成 xₖ₊₁。</a:t>
              </a:r>
            </a:p>
          </p:txBody>
        </p:sp>
      </p:grpSp>
      <p:grpSp>
        <p:nvGrpSpPr>
          <p:cNvPr id="37" name="c1-graph-1"/>
          <p:cNvGrpSpPr/>
          <p:nvPr/>
        </p:nvGrpSpPr>
        <p:grpSpPr>
          <a:xfrm>
            <a:off x="617220" y="2358390"/>
            <a:ext cx="2423160" cy="2313241"/>
            <a:chOff x="617220" y="2358390"/>
            <a:chExt cx="2423160" cy="2313241"/>
          </a:xfrm>
        </p:grpSpPr>
        <p:sp>
          <p:nvSpPr>
            <p:cNvPr id="9" name="Freeform 9"/>
            <p:cNvSpPr/>
            <p:nvPr/>
          </p:nvSpPr>
          <p:spPr>
            <a:xfrm>
              <a:off x="675322" y="4424362"/>
              <a:ext cx="2258378" cy="9525"/>
            </a:xfrm>
            <a:custGeom>
              <a:avLst/>
              <a:gdLst/>
              <a:ahLst/>
              <a:cxnLst/>
              <a:rect l="l" t="t" r="r" b="b"/>
              <a:pathLst>
                <a:path w="2258378" h="9525">
                  <a:moveTo>
                    <a:pt x="0" y="0"/>
                  </a:moveTo>
                  <a:lnTo>
                    <a:pt x="2258378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33700" y="43767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664845" y="2482215"/>
              <a:ext cx="9525" cy="1931670"/>
            </a:xfrm>
            <a:custGeom>
              <a:avLst/>
              <a:gdLst/>
              <a:ahLst/>
              <a:cxnLst/>
              <a:rect l="l" t="t" r="r" b="b"/>
              <a:pathLst>
                <a:path w="9525" h="1931670">
                  <a:moveTo>
                    <a:pt x="0" y="193167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617220" y="23869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73418" y="2434590"/>
              <a:ext cx="2299335" cy="1983105"/>
            </a:xfrm>
            <a:custGeom>
              <a:avLst/>
              <a:gdLst/>
              <a:ahLst/>
              <a:cxnLst/>
              <a:rect l="l" t="t" r="r" b="b"/>
              <a:pathLst>
                <a:path w="2299335" h="1983105">
                  <a:moveTo>
                    <a:pt x="0" y="1983105"/>
                  </a:moveTo>
                  <a:lnTo>
                    <a:pt x="22993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35330" y="2808922"/>
              <a:ext cx="2236470" cy="964883"/>
            </a:xfrm>
            <a:custGeom>
              <a:avLst/>
              <a:gdLst/>
              <a:ahLst/>
              <a:cxnLst/>
              <a:rect l="l" t="t" r="r" b="b"/>
              <a:pathLst>
                <a:path w="2236470" h="964883">
                  <a:moveTo>
                    <a:pt x="0" y="964883"/>
                  </a:moveTo>
                  <a:lnTo>
                    <a:pt x="45720" y="953453"/>
                  </a:lnTo>
                  <a:lnTo>
                    <a:pt x="101918" y="939165"/>
                  </a:lnTo>
                  <a:lnTo>
                    <a:pt x="158115" y="924878"/>
                  </a:lnTo>
                  <a:lnTo>
                    <a:pt x="215265" y="909638"/>
                  </a:lnTo>
                  <a:lnTo>
                    <a:pt x="271462" y="894398"/>
                  </a:lnTo>
                  <a:lnTo>
                    <a:pt x="327660" y="878205"/>
                  </a:lnTo>
                  <a:lnTo>
                    <a:pt x="383858" y="861060"/>
                  </a:lnTo>
                  <a:lnTo>
                    <a:pt x="440055" y="843915"/>
                  </a:lnTo>
                  <a:lnTo>
                    <a:pt x="497205" y="825818"/>
                  </a:lnTo>
                  <a:lnTo>
                    <a:pt x="553403" y="806768"/>
                  </a:lnTo>
                  <a:lnTo>
                    <a:pt x="609600" y="787718"/>
                  </a:lnTo>
                  <a:lnTo>
                    <a:pt x="665797" y="768668"/>
                  </a:lnTo>
                  <a:lnTo>
                    <a:pt x="722947" y="748665"/>
                  </a:lnTo>
                  <a:lnTo>
                    <a:pt x="779145" y="727710"/>
                  </a:lnTo>
                  <a:lnTo>
                    <a:pt x="835342" y="706755"/>
                  </a:lnTo>
                  <a:lnTo>
                    <a:pt x="891540" y="684848"/>
                  </a:lnTo>
                  <a:lnTo>
                    <a:pt x="947737" y="661988"/>
                  </a:lnTo>
                  <a:lnTo>
                    <a:pt x="1003935" y="639128"/>
                  </a:lnTo>
                  <a:lnTo>
                    <a:pt x="1061085" y="615315"/>
                  </a:lnTo>
                  <a:lnTo>
                    <a:pt x="1117282" y="591503"/>
                  </a:lnTo>
                  <a:lnTo>
                    <a:pt x="1173480" y="566738"/>
                  </a:lnTo>
                  <a:lnTo>
                    <a:pt x="1229678" y="541973"/>
                  </a:lnTo>
                  <a:lnTo>
                    <a:pt x="1286828" y="516255"/>
                  </a:lnTo>
                  <a:lnTo>
                    <a:pt x="1343025" y="489585"/>
                  </a:lnTo>
                  <a:lnTo>
                    <a:pt x="1399222" y="462915"/>
                  </a:lnTo>
                  <a:lnTo>
                    <a:pt x="1455420" y="435293"/>
                  </a:lnTo>
                  <a:lnTo>
                    <a:pt x="1511618" y="407670"/>
                  </a:lnTo>
                  <a:lnTo>
                    <a:pt x="1568768" y="379095"/>
                  </a:lnTo>
                  <a:lnTo>
                    <a:pt x="1624965" y="350520"/>
                  </a:lnTo>
                  <a:lnTo>
                    <a:pt x="1681162" y="320993"/>
                  </a:lnTo>
                  <a:lnTo>
                    <a:pt x="1737360" y="290512"/>
                  </a:lnTo>
                  <a:lnTo>
                    <a:pt x="1794510" y="260033"/>
                  </a:lnTo>
                  <a:lnTo>
                    <a:pt x="1850708" y="228600"/>
                  </a:lnTo>
                  <a:lnTo>
                    <a:pt x="1906905" y="197168"/>
                  </a:lnTo>
                  <a:lnTo>
                    <a:pt x="1963103" y="164783"/>
                  </a:lnTo>
                  <a:lnTo>
                    <a:pt x="2019300" y="131445"/>
                  </a:lnTo>
                  <a:lnTo>
                    <a:pt x="2076450" y="98108"/>
                  </a:lnTo>
                  <a:lnTo>
                    <a:pt x="2132648" y="63818"/>
                  </a:lnTo>
                  <a:lnTo>
                    <a:pt x="2188845" y="29528"/>
                  </a:lnTo>
                  <a:lnTo>
                    <a:pt x="2236470" y="0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852612" y="3410902"/>
              <a:ext cx="9525" cy="1002982"/>
            </a:xfrm>
            <a:custGeom>
              <a:avLst/>
              <a:gdLst/>
              <a:ahLst/>
              <a:cxnLst/>
              <a:rect l="l" t="t" r="r" b="b"/>
              <a:pathLst>
                <a:path w="9525" h="1002982">
                  <a:moveTo>
                    <a:pt x="0" y="1002982"/>
                  </a:moveTo>
                  <a:lnTo>
                    <a:pt x="0" y="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1939290" y="2912745"/>
              <a:ext cx="862965" cy="1490662"/>
            </a:xfrm>
            <a:custGeom>
              <a:avLst/>
              <a:gdLst/>
              <a:ahLst/>
              <a:cxnLst/>
              <a:rect l="l" t="t" r="r" b="b"/>
              <a:pathLst>
                <a:path w="862965" h="1490662">
                  <a:moveTo>
                    <a:pt x="862965" y="1490662"/>
                  </a:moveTo>
                  <a:lnTo>
                    <a:pt x="862965" y="0"/>
                  </a:lnTo>
                  <a:lnTo>
                    <a:pt x="479108" y="0"/>
                  </a:lnTo>
                  <a:lnTo>
                    <a:pt x="479108" y="216217"/>
                  </a:lnTo>
                  <a:lnTo>
                    <a:pt x="228600" y="216217"/>
                  </a:lnTo>
                  <a:lnTo>
                    <a:pt x="228600" y="342900"/>
                  </a:lnTo>
                  <a:lnTo>
                    <a:pt x="80962" y="342900"/>
                  </a:lnTo>
                  <a:lnTo>
                    <a:pt x="80962" y="413385"/>
                  </a:lnTo>
                  <a:lnTo>
                    <a:pt x="0" y="413385"/>
                  </a:lnTo>
                  <a:lnTo>
                    <a:pt x="0" y="343852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891665" y="32565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663892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03847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663892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63892" y="23755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63892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979420" y="2426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723900" y="377475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2979420" y="28022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85166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1851660" y="339947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2801302" y="44129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1938338" y="336137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1814512" y="33623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917298" y="421576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6186" y="235839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15291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65648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391880" y="2454116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 = x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98017" y="3531394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φ(x)</a:t>
              </a:r>
            </a:p>
          </p:txBody>
        </p:sp>
      </p:grpSp>
      <p:grpSp>
        <p:nvGrpSpPr>
          <p:cNvPr id="39" name="c1-text-2"/>
          <p:cNvGrpSpPr/>
          <p:nvPr/>
        </p:nvGrpSpPr>
        <p:grpSpPr>
          <a:xfrm>
            <a:off x="620230" y="4850606"/>
            <a:ext cx="2464765" cy="500824"/>
            <a:chOff x="620230" y="4850606"/>
            <a:chExt cx="2464765" cy="500824"/>
          </a:xfrm>
        </p:grpSpPr>
        <p:sp>
          <p:nvSpPr>
            <p:cNvPr id="38" name="TextBox 38"/>
            <p:cNvSpPr txBox="1"/>
            <p:nvPr/>
          </p:nvSpPr>
          <p:spPr>
            <a:xfrm>
              <a:off x="620230" y="4850606"/>
              <a:ext cx="2464765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(a) 0 &lt; φ′(x*) &lt; 1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：阶梯状单调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</a:t>
              </a:r>
            </a:p>
          </p:txBody>
        </p:sp>
      </p:grpSp>
      <p:grpSp>
        <p:nvGrpSpPr>
          <p:cNvPr id="68" name="c2-graph-1"/>
          <p:cNvGrpSpPr/>
          <p:nvPr/>
        </p:nvGrpSpPr>
        <p:grpSpPr>
          <a:xfrm>
            <a:off x="3447098" y="2358390"/>
            <a:ext cx="2422207" cy="2313241"/>
            <a:chOff x="3447098" y="2358390"/>
            <a:chExt cx="2422207" cy="2313241"/>
          </a:xfrm>
        </p:grpSpPr>
        <p:sp>
          <p:nvSpPr>
            <p:cNvPr id="40" name="Freeform 40"/>
            <p:cNvSpPr/>
            <p:nvPr/>
          </p:nvSpPr>
          <p:spPr>
            <a:xfrm>
              <a:off x="3505200" y="4424362"/>
              <a:ext cx="2257425" cy="9525"/>
            </a:xfrm>
            <a:custGeom>
              <a:avLst/>
              <a:gdLst/>
              <a:ahLst/>
              <a:cxnLst/>
              <a:rect l="l" t="t" r="r" b="b"/>
              <a:pathLst>
                <a:path w="2257425" h="9525">
                  <a:moveTo>
                    <a:pt x="0" y="0"/>
                  </a:moveTo>
                  <a:lnTo>
                    <a:pt x="225742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762625" y="43767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3494722" y="2482215"/>
              <a:ext cx="9525" cy="1931670"/>
            </a:xfrm>
            <a:custGeom>
              <a:avLst/>
              <a:gdLst/>
              <a:ahLst/>
              <a:cxnLst/>
              <a:rect l="l" t="t" r="r" b="b"/>
              <a:pathLst>
                <a:path w="9525" h="1931670">
                  <a:moveTo>
                    <a:pt x="0" y="193167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3447098" y="23869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3502342" y="2434590"/>
              <a:ext cx="2299335" cy="1983105"/>
            </a:xfrm>
            <a:custGeom>
              <a:avLst/>
              <a:gdLst/>
              <a:ahLst/>
              <a:cxnLst/>
              <a:rect l="l" t="t" r="r" b="b"/>
              <a:pathLst>
                <a:path w="2299335" h="1983105">
                  <a:moveTo>
                    <a:pt x="0" y="1983105"/>
                  </a:moveTo>
                  <a:lnTo>
                    <a:pt x="22993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621405" y="2695575"/>
              <a:ext cx="2119313" cy="1279208"/>
            </a:xfrm>
            <a:custGeom>
              <a:avLst/>
              <a:gdLst/>
              <a:ahLst/>
              <a:cxnLst/>
              <a:rect l="l" t="t" r="r" b="b"/>
              <a:pathLst>
                <a:path w="2119313" h="1279208">
                  <a:moveTo>
                    <a:pt x="0" y="0"/>
                  </a:moveTo>
                  <a:lnTo>
                    <a:pt x="44767" y="32385"/>
                  </a:lnTo>
                  <a:lnTo>
                    <a:pt x="98108" y="70485"/>
                  </a:lnTo>
                  <a:lnTo>
                    <a:pt x="151448" y="108585"/>
                  </a:lnTo>
                  <a:lnTo>
                    <a:pt x="205740" y="146685"/>
                  </a:lnTo>
                  <a:lnTo>
                    <a:pt x="258128" y="183833"/>
                  </a:lnTo>
                  <a:lnTo>
                    <a:pt x="312420" y="220980"/>
                  </a:lnTo>
                  <a:lnTo>
                    <a:pt x="365760" y="257175"/>
                  </a:lnTo>
                  <a:lnTo>
                    <a:pt x="419100" y="294322"/>
                  </a:lnTo>
                  <a:lnTo>
                    <a:pt x="472440" y="330517"/>
                  </a:lnTo>
                  <a:lnTo>
                    <a:pt x="525780" y="365760"/>
                  </a:lnTo>
                  <a:lnTo>
                    <a:pt x="579120" y="401003"/>
                  </a:lnTo>
                  <a:lnTo>
                    <a:pt x="632460" y="436245"/>
                  </a:lnTo>
                  <a:lnTo>
                    <a:pt x="685800" y="471488"/>
                  </a:lnTo>
                  <a:lnTo>
                    <a:pt x="739140" y="505778"/>
                  </a:lnTo>
                  <a:lnTo>
                    <a:pt x="792480" y="539115"/>
                  </a:lnTo>
                  <a:lnTo>
                    <a:pt x="846773" y="573405"/>
                  </a:lnTo>
                  <a:lnTo>
                    <a:pt x="900112" y="606742"/>
                  </a:lnTo>
                  <a:lnTo>
                    <a:pt x="953453" y="640080"/>
                  </a:lnTo>
                  <a:lnTo>
                    <a:pt x="1006792" y="672465"/>
                  </a:lnTo>
                  <a:lnTo>
                    <a:pt x="1060132" y="704850"/>
                  </a:lnTo>
                  <a:lnTo>
                    <a:pt x="1113473" y="737235"/>
                  </a:lnTo>
                  <a:lnTo>
                    <a:pt x="1166812" y="768667"/>
                  </a:lnTo>
                  <a:lnTo>
                    <a:pt x="1220153" y="800100"/>
                  </a:lnTo>
                  <a:lnTo>
                    <a:pt x="1273492" y="831533"/>
                  </a:lnTo>
                  <a:lnTo>
                    <a:pt x="1326832" y="862012"/>
                  </a:lnTo>
                  <a:lnTo>
                    <a:pt x="1381125" y="892492"/>
                  </a:lnTo>
                  <a:lnTo>
                    <a:pt x="1434465" y="922972"/>
                  </a:lnTo>
                  <a:lnTo>
                    <a:pt x="1487805" y="952500"/>
                  </a:lnTo>
                  <a:lnTo>
                    <a:pt x="1541145" y="982028"/>
                  </a:lnTo>
                  <a:lnTo>
                    <a:pt x="1594485" y="1010603"/>
                  </a:lnTo>
                  <a:lnTo>
                    <a:pt x="1647825" y="1040130"/>
                  </a:lnTo>
                  <a:lnTo>
                    <a:pt x="1701165" y="1067753"/>
                  </a:lnTo>
                  <a:lnTo>
                    <a:pt x="1754505" y="1096328"/>
                  </a:lnTo>
                  <a:lnTo>
                    <a:pt x="1807845" y="1123950"/>
                  </a:lnTo>
                  <a:lnTo>
                    <a:pt x="1861185" y="1151572"/>
                  </a:lnTo>
                  <a:lnTo>
                    <a:pt x="1914525" y="1178242"/>
                  </a:lnTo>
                  <a:lnTo>
                    <a:pt x="1967865" y="1204912"/>
                  </a:lnTo>
                  <a:lnTo>
                    <a:pt x="2022158" y="1231582"/>
                  </a:lnTo>
                  <a:lnTo>
                    <a:pt x="2075498" y="1258253"/>
                  </a:lnTo>
                  <a:lnTo>
                    <a:pt x="2119313" y="1279208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4681538" y="3410902"/>
              <a:ext cx="9525" cy="1002982"/>
            </a:xfrm>
            <a:custGeom>
              <a:avLst/>
              <a:gdLst/>
              <a:ahLst/>
              <a:cxnLst/>
              <a:rect l="l" t="t" r="r" b="b"/>
              <a:pathLst>
                <a:path w="9525" h="1002982">
                  <a:moveTo>
                    <a:pt x="0" y="1002982"/>
                  </a:moveTo>
                  <a:lnTo>
                    <a:pt x="0" y="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47" name="Freeform 47"/>
            <p:cNvSpPr/>
            <p:nvPr/>
          </p:nvSpPr>
          <p:spPr>
            <a:xfrm>
              <a:off x="4111942" y="3037522"/>
              <a:ext cx="1460182" cy="1365885"/>
            </a:xfrm>
            <a:custGeom>
              <a:avLst/>
              <a:gdLst/>
              <a:ahLst/>
              <a:cxnLst/>
              <a:rect l="l" t="t" r="r" b="b"/>
              <a:pathLst>
                <a:path w="1460182" h="1365885">
                  <a:moveTo>
                    <a:pt x="1460182" y="1365885"/>
                  </a:moveTo>
                  <a:lnTo>
                    <a:pt x="1460182" y="854393"/>
                  </a:lnTo>
                  <a:lnTo>
                    <a:pt x="0" y="854393"/>
                  </a:lnTo>
                  <a:lnTo>
                    <a:pt x="0" y="0"/>
                  </a:lnTo>
                  <a:lnTo>
                    <a:pt x="990600" y="0"/>
                  </a:lnTo>
                  <a:lnTo>
                    <a:pt x="990600" y="606743"/>
                  </a:lnTo>
                  <a:lnTo>
                    <a:pt x="286703" y="606743"/>
                  </a:lnTo>
                  <a:lnTo>
                    <a:pt x="286703" y="187643"/>
                  </a:lnTo>
                  <a:lnTo>
                    <a:pt x="772477" y="187643"/>
                  </a:lnTo>
                  <a:lnTo>
                    <a:pt x="772477" y="482918"/>
                  </a:lnTo>
                  <a:lnTo>
                    <a:pt x="429578" y="482918"/>
                  </a:lnTo>
                  <a:lnTo>
                    <a:pt x="429578" y="383858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4493895" y="33261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349377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586740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349377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3493770" y="23755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349377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5808345" y="2426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Ellipse 55"/>
            <p:cNvSpPr/>
            <p:nvPr/>
          </p:nvSpPr>
          <p:spPr>
            <a:xfrm>
              <a:off x="3611880" y="26879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Ellipse 56"/>
            <p:cNvSpPr/>
            <p:nvPr/>
          </p:nvSpPr>
          <p:spPr>
            <a:xfrm>
              <a:off x="5749290" y="39785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468058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4680585" y="339947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Ellipse 59"/>
            <p:cNvSpPr/>
            <p:nvPr/>
          </p:nvSpPr>
          <p:spPr>
            <a:xfrm>
              <a:off x="5571172" y="44129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4540568" y="331470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4643438" y="33623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746223" y="421576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555111" y="235839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485161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4594573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220805" y="2454116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 = x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3716464" y="2557939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φ(x)</a:t>
              </a:r>
            </a:p>
          </p:txBody>
        </p:sp>
      </p:grpSp>
      <p:grpSp>
        <p:nvGrpSpPr>
          <p:cNvPr id="70" name="c2-text-2"/>
          <p:cNvGrpSpPr/>
          <p:nvPr/>
        </p:nvGrpSpPr>
        <p:grpSpPr>
          <a:xfrm>
            <a:off x="3483496" y="4850606"/>
            <a:ext cx="2396084" cy="500824"/>
            <a:chOff x="3483496" y="4850606"/>
            <a:chExt cx="2396084" cy="500824"/>
          </a:xfrm>
        </p:grpSpPr>
        <p:sp>
          <p:nvSpPr>
            <p:cNvPr id="69" name="TextBox 69"/>
            <p:cNvSpPr txBox="1"/>
            <p:nvPr/>
          </p:nvSpPr>
          <p:spPr>
            <a:xfrm>
              <a:off x="3483496" y="4850606"/>
              <a:ext cx="239608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(b) −1 &lt; φ′(x*) &lt; 0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：螺旋状振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荡收敛</a:t>
              </a:r>
            </a:p>
          </p:txBody>
        </p:sp>
      </p:grpSp>
      <p:grpSp>
        <p:nvGrpSpPr>
          <p:cNvPr id="99" name="c3-graph-1"/>
          <p:cNvGrpSpPr/>
          <p:nvPr/>
        </p:nvGrpSpPr>
        <p:grpSpPr>
          <a:xfrm>
            <a:off x="6276022" y="2328386"/>
            <a:ext cx="2422208" cy="2343245"/>
            <a:chOff x="6276022" y="2328386"/>
            <a:chExt cx="2422208" cy="2343245"/>
          </a:xfrm>
        </p:grpSpPr>
        <p:sp>
          <p:nvSpPr>
            <p:cNvPr id="71" name="Freeform 71"/>
            <p:cNvSpPr/>
            <p:nvPr/>
          </p:nvSpPr>
          <p:spPr>
            <a:xfrm>
              <a:off x="6334125" y="4424362"/>
              <a:ext cx="2257425" cy="9525"/>
            </a:xfrm>
            <a:custGeom>
              <a:avLst/>
              <a:gdLst/>
              <a:ahLst/>
              <a:cxnLst/>
              <a:rect l="l" t="t" r="r" b="b"/>
              <a:pathLst>
                <a:path w="2257425" h="9525">
                  <a:moveTo>
                    <a:pt x="0" y="0"/>
                  </a:moveTo>
                  <a:lnTo>
                    <a:pt x="225742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591550" y="43767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73" name="Freeform 73"/>
            <p:cNvSpPr/>
            <p:nvPr/>
          </p:nvSpPr>
          <p:spPr>
            <a:xfrm>
              <a:off x="6323648" y="2482215"/>
              <a:ext cx="9525" cy="1931670"/>
            </a:xfrm>
            <a:custGeom>
              <a:avLst/>
              <a:gdLst/>
              <a:ahLst/>
              <a:cxnLst/>
              <a:rect l="l" t="t" r="r" b="b"/>
              <a:pathLst>
                <a:path w="9525" h="1931670">
                  <a:moveTo>
                    <a:pt x="0" y="193167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6276022" y="23869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75" name="Freeform 75"/>
            <p:cNvSpPr/>
            <p:nvPr/>
          </p:nvSpPr>
          <p:spPr>
            <a:xfrm>
              <a:off x="6331268" y="2434590"/>
              <a:ext cx="2299335" cy="1983105"/>
            </a:xfrm>
            <a:custGeom>
              <a:avLst/>
              <a:gdLst/>
              <a:ahLst/>
              <a:cxnLst/>
              <a:rect l="l" t="t" r="r" b="b"/>
              <a:pathLst>
                <a:path w="2299335" h="1983105">
                  <a:moveTo>
                    <a:pt x="0" y="1983105"/>
                  </a:moveTo>
                  <a:lnTo>
                    <a:pt x="22993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6894195" y="2371725"/>
              <a:ext cx="1311593" cy="1824038"/>
            </a:xfrm>
            <a:custGeom>
              <a:avLst/>
              <a:gdLst/>
              <a:ahLst/>
              <a:cxnLst/>
              <a:rect l="l" t="t" r="r" b="b"/>
              <a:pathLst>
                <a:path w="1311593" h="1824038">
                  <a:moveTo>
                    <a:pt x="0" y="1824038"/>
                  </a:moveTo>
                  <a:lnTo>
                    <a:pt x="25718" y="1792605"/>
                  </a:lnTo>
                  <a:lnTo>
                    <a:pt x="59055" y="1752600"/>
                  </a:lnTo>
                  <a:lnTo>
                    <a:pt x="92393" y="1711642"/>
                  </a:lnTo>
                  <a:lnTo>
                    <a:pt x="125730" y="1671638"/>
                  </a:lnTo>
                  <a:lnTo>
                    <a:pt x="158115" y="1629728"/>
                  </a:lnTo>
                  <a:lnTo>
                    <a:pt x="191453" y="1588770"/>
                  </a:lnTo>
                  <a:lnTo>
                    <a:pt x="224790" y="1546860"/>
                  </a:lnTo>
                  <a:lnTo>
                    <a:pt x="258128" y="1504950"/>
                  </a:lnTo>
                  <a:lnTo>
                    <a:pt x="290512" y="1462088"/>
                  </a:lnTo>
                  <a:lnTo>
                    <a:pt x="323850" y="1420178"/>
                  </a:lnTo>
                  <a:lnTo>
                    <a:pt x="357188" y="1376362"/>
                  </a:lnTo>
                  <a:lnTo>
                    <a:pt x="390525" y="1333500"/>
                  </a:lnTo>
                  <a:lnTo>
                    <a:pt x="422910" y="1289685"/>
                  </a:lnTo>
                  <a:lnTo>
                    <a:pt x="456248" y="1245870"/>
                  </a:lnTo>
                  <a:lnTo>
                    <a:pt x="489585" y="1201103"/>
                  </a:lnTo>
                  <a:lnTo>
                    <a:pt x="522923" y="1157288"/>
                  </a:lnTo>
                  <a:lnTo>
                    <a:pt x="555308" y="1111568"/>
                  </a:lnTo>
                  <a:lnTo>
                    <a:pt x="588645" y="1066800"/>
                  </a:lnTo>
                  <a:lnTo>
                    <a:pt x="621983" y="1021080"/>
                  </a:lnTo>
                  <a:lnTo>
                    <a:pt x="654368" y="975360"/>
                  </a:lnTo>
                  <a:lnTo>
                    <a:pt x="687705" y="928688"/>
                  </a:lnTo>
                  <a:lnTo>
                    <a:pt x="721043" y="882967"/>
                  </a:lnTo>
                  <a:lnTo>
                    <a:pt x="754380" y="835342"/>
                  </a:lnTo>
                  <a:lnTo>
                    <a:pt x="786765" y="788670"/>
                  </a:lnTo>
                  <a:lnTo>
                    <a:pt x="820103" y="741045"/>
                  </a:lnTo>
                  <a:lnTo>
                    <a:pt x="853440" y="693420"/>
                  </a:lnTo>
                  <a:lnTo>
                    <a:pt x="886778" y="644842"/>
                  </a:lnTo>
                  <a:lnTo>
                    <a:pt x="920115" y="597217"/>
                  </a:lnTo>
                  <a:lnTo>
                    <a:pt x="952500" y="547688"/>
                  </a:lnTo>
                  <a:lnTo>
                    <a:pt x="985838" y="499110"/>
                  </a:lnTo>
                  <a:lnTo>
                    <a:pt x="1019175" y="449580"/>
                  </a:lnTo>
                  <a:lnTo>
                    <a:pt x="1052512" y="400050"/>
                  </a:lnTo>
                  <a:lnTo>
                    <a:pt x="1084898" y="349567"/>
                  </a:lnTo>
                  <a:lnTo>
                    <a:pt x="1118235" y="300038"/>
                  </a:lnTo>
                  <a:lnTo>
                    <a:pt x="1151573" y="248603"/>
                  </a:lnTo>
                  <a:lnTo>
                    <a:pt x="1183958" y="198120"/>
                  </a:lnTo>
                  <a:lnTo>
                    <a:pt x="1217295" y="146685"/>
                  </a:lnTo>
                  <a:lnTo>
                    <a:pt x="1250633" y="95250"/>
                  </a:lnTo>
                  <a:lnTo>
                    <a:pt x="1283970" y="42862"/>
                  </a:lnTo>
                  <a:lnTo>
                    <a:pt x="1311593" y="0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7510462" y="3410902"/>
              <a:ext cx="9525" cy="1002982"/>
            </a:xfrm>
            <a:custGeom>
              <a:avLst/>
              <a:gdLst/>
              <a:ahLst/>
              <a:cxnLst/>
              <a:rect l="l" t="t" r="r" b="b"/>
              <a:pathLst>
                <a:path w="9525" h="1002982">
                  <a:moveTo>
                    <a:pt x="0" y="1002982"/>
                  </a:moveTo>
                  <a:lnTo>
                    <a:pt x="0" y="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78" name="Freeform 78"/>
            <p:cNvSpPr/>
            <p:nvPr/>
          </p:nvSpPr>
          <p:spPr>
            <a:xfrm>
              <a:off x="7778115" y="2766060"/>
              <a:ext cx="361950" cy="1637348"/>
            </a:xfrm>
            <a:custGeom>
              <a:avLst/>
              <a:gdLst/>
              <a:ahLst/>
              <a:cxnLst/>
              <a:rect l="l" t="t" r="r" b="b"/>
              <a:pathLst>
                <a:path w="361950" h="1637348">
                  <a:moveTo>
                    <a:pt x="0" y="1637348"/>
                  </a:moveTo>
                  <a:lnTo>
                    <a:pt x="0" y="255270"/>
                  </a:lnTo>
                  <a:lnTo>
                    <a:pt x="171450" y="255270"/>
                  </a:lnTo>
                  <a:lnTo>
                    <a:pt x="171450" y="0"/>
                  </a:lnTo>
                  <a:lnTo>
                    <a:pt x="361950" y="0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8140065" y="271843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80" name="Ellipse 80"/>
            <p:cNvSpPr/>
            <p:nvPr/>
          </p:nvSpPr>
          <p:spPr>
            <a:xfrm>
              <a:off x="632269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1" name="Ellipse 81"/>
            <p:cNvSpPr/>
            <p:nvPr/>
          </p:nvSpPr>
          <p:spPr>
            <a:xfrm>
              <a:off x="869632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2" name="Ellipse 82"/>
            <p:cNvSpPr/>
            <p:nvPr/>
          </p:nvSpPr>
          <p:spPr>
            <a:xfrm>
              <a:off x="632269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3" name="Ellipse 83"/>
            <p:cNvSpPr/>
            <p:nvPr/>
          </p:nvSpPr>
          <p:spPr>
            <a:xfrm>
              <a:off x="6322695" y="23755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4" name="Ellipse 84"/>
            <p:cNvSpPr/>
            <p:nvPr/>
          </p:nvSpPr>
          <p:spPr>
            <a:xfrm>
              <a:off x="632269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5" name="Ellipse 85"/>
            <p:cNvSpPr/>
            <p:nvPr/>
          </p:nvSpPr>
          <p:spPr>
            <a:xfrm>
              <a:off x="8637270" y="2426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6" name="Ellipse 86"/>
            <p:cNvSpPr/>
            <p:nvPr/>
          </p:nvSpPr>
          <p:spPr>
            <a:xfrm>
              <a:off x="6886575" y="42033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7" name="Ellipse 87"/>
            <p:cNvSpPr/>
            <p:nvPr/>
          </p:nvSpPr>
          <p:spPr>
            <a:xfrm>
              <a:off x="8209598" y="236124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8" name="Ellipse 88"/>
            <p:cNvSpPr/>
            <p:nvPr/>
          </p:nvSpPr>
          <p:spPr>
            <a:xfrm>
              <a:off x="750951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9" name="Ellipse 89"/>
            <p:cNvSpPr/>
            <p:nvPr/>
          </p:nvSpPr>
          <p:spPr>
            <a:xfrm>
              <a:off x="7509510" y="339947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0" name="Ellipse 90"/>
            <p:cNvSpPr/>
            <p:nvPr/>
          </p:nvSpPr>
          <p:spPr>
            <a:xfrm>
              <a:off x="7777162" y="44129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1" name="Ellipse 91"/>
            <p:cNvSpPr/>
            <p:nvPr/>
          </p:nvSpPr>
          <p:spPr>
            <a:xfrm>
              <a:off x="8244840" y="276510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2" name="Ellipse 92"/>
            <p:cNvSpPr/>
            <p:nvPr/>
          </p:nvSpPr>
          <p:spPr>
            <a:xfrm>
              <a:off x="7472362" y="33623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8575148" y="421576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6384036" y="235839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691151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423498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360073" y="2618899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 = x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7612966" y="2328386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l-GR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φ(x)</a:t>
              </a:r>
            </a:p>
          </p:txBody>
        </p:sp>
      </p:grpSp>
      <p:grpSp>
        <p:nvGrpSpPr>
          <p:cNvPr id="101" name="c3-text-2"/>
          <p:cNvGrpSpPr/>
          <p:nvPr/>
        </p:nvGrpSpPr>
        <p:grpSpPr>
          <a:xfrm>
            <a:off x="6423165" y="4850606"/>
            <a:ext cx="2174596" cy="500824"/>
            <a:chOff x="6423165" y="4850606"/>
            <a:chExt cx="2174596" cy="500824"/>
          </a:xfrm>
        </p:grpSpPr>
        <p:sp>
          <p:nvSpPr>
            <p:cNvPr id="100" name="TextBox 100"/>
            <p:cNvSpPr txBox="1"/>
            <p:nvPr/>
          </p:nvSpPr>
          <p:spPr>
            <a:xfrm>
              <a:off x="6423165" y="4850606"/>
              <a:ext cx="217459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(c) φ′(x*) &gt; 1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：阶梯状离开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x*，发散</a:t>
              </a:r>
            </a:p>
          </p:txBody>
        </p:sp>
      </p:grpSp>
      <p:grpSp>
        <p:nvGrpSpPr>
          <p:cNvPr id="130" name="c4-graph-1"/>
          <p:cNvGrpSpPr/>
          <p:nvPr/>
        </p:nvGrpSpPr>
        <p:grpSpPr>
          <a:xfrm>
            <a:off x="9104948" y="2358390"/>
            <a:ext cx="2423160" cy="2313241"/>
            <a:chOff x="9104948" y="2358390"/>
            <a:chExt cx="2423160" cy="2313241"/>
          </a:xfrm>
        </p:grpSpPr>
        <p:sp>
          <p:nvSpPr>
            <p:cNvPr id="102" name="Freeform 102"/>
            <p:cNvSpPr/>
            <p:nvPr/>
          </p:nvSpPr>
          <p:spPr>
            <a:xfrm>
              <a:off x="9163050" y="4424362"/>
              <a:ext cx="2258377" cy="9525"/>
            </a:xfrm>
            <a:custGeom>
              <a:avLst/>
              <a:gdLst/>
              <a:ahLst/>
              <a:cxnLst/>
              <a:rect l="l" t="t" r="r" b="b"/>
              <a:pathLst>
                <a:path w="2258377" h="9525">
                  <a:moveTo>
                    <a:pt x="0" y="0"/>
                  </a:moveTo>
                  <a:lnTo>
                    <a:pt x="2258377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11421428" y="43767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04" name="Freeform 104"/>
            <p:cNvSpPr/>
            <p:nvPr/>
          </p:nvSpPr>
          <p:spPr>
            <a:xfrm>
              <a:off x="9152572" y="2482215"/>
              <a:ext cx="9525" cy="1931670"/>
            </a:xfrm>
            <a:custGeom>
              <a:avLst/>
              <a:gdLst/>
              <a:ahLst/>
              <a:cxnLst/>
              <a:rect l="l" t="t" r="r" b="b"/>
              <a:pathLst>
                <a:path w="9525" h="1931670">
                  <a:moveTo>
                    <a:pt x="0" y="193167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9104948" y="23869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06" name="Freeform 106"/>
            <p:cNvSpPr/>
            <p:nvPr/>
          </p:nvSpPr>
          <p:spPr>
            <a:xfrm>
              <a:off x="9160192" y="2434590"/>
              <a:ext cx="2299335" cy="1983105"/>
            </a:xfrm>
            <a:custGeom>
              <a:avLst/>
              <a:gdLst/>
              <a:ahLst/>
              <a:cxnLst/>
              <a:rect l="l" t="t" r="r" b="b"/>
              <a:pathLst>
                <a:path w="2299335" h="1983105">
                  <a:moveTo>
                    <a:pt x="0" y="1983105"/>
                  </a:moveTo>
                  <a:lnTo>
                    <a:pt x="22993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9550718" y="2406968"/>
              <a:ext cx="1554480" cy="2009775"/>
            </a:xfrm>
            <a:custGeom>
              <a:avLst/>
              <a:gdLst/>
              <a:ahLst/>
              <a:cxnLst/>
              <a:rect l="l" t="t" r="r" b="b"/>
              <a:pathLst>
                <a:path w="1554480" h="2009775">
                  <a:moveTo>
                    <a:pt x="0" y="0"/>
                  </a:moveTo>
                  <a:lnTo>
                    <a:pt x="32385" y="40005"/>
                  </a:lnTo>
                  <a:lnTo>
                    <a:pt x="71438" y="88583"/>
                  </a:lnTo>
                  <a:lnTo>
                    <a:pt x="110490" y="136208"/>
                  </a:lnTo>
                  <a:lnTo>
                    <a:pt x="149542" y="184785"/>
                  </a:lnTo>
                  <a:lnTo>
                    <a:pt x="188595" y="233362"/>
                  </a:lnTo>
                  <a:lnTo>
                    <a:pt x="228600" y="281940"/>
                  </a:lnTo>
                  <a:lnTo>
                    <a:pt x="267652" y="331470"/>
                  </a:lnTo>
                  <a:lnTo>
                    <a:pt x="306705" y="380048"/>
                  </a:lnTo>
                  <a:lnTo>
                    <a:pt x="345757" y="429578"/>
                  </a:lnTo>
                  <a:lnTo>
                    <a:pt x="384810" y="478155"/>
                  </a:lnTo>
                  <a:lnTo>
                    <a:pt x="423862" y="527685"/>
                  </a:lnTo>
                  <a:lnTo>
                    <a:pt x="462915" y="577215"/>
                  </a:lnTo>
                  <a:lnTo>
                    <a:pt x="501968" y="626745"/>
                  </a:lnTo>
                  <a:lnTo>
                    <a:pt x="541972" y="677228"/>
                  </a:lnTo>
                  <a:lnTo>
                    <a:pt x="581025" y="726758"/>
                  </a:lnTo>
                  <a:lnTo>
                    <a:pt x="620077" y="776288"/>
                  </a:lnTo>
                  <a:lnTo>
                    <a:pt x="659130" y="826770"/>
                  </a:lnTo>
                  <a:lnTo>
                    <a:pt x="698182" y="877253"/>
                  </a:lnTo>
                  <a:lnTo>
                    <a:pt x="738188" y="927735"/>
                  </a:lnTo>
                  <a:lnTo>
                    <a:pt x="777240" y="978217"/>
                  </a:lnTo>
                  <a:lnTo>
                    <a:pt x="816293" y="1028700"/>
                  </a:lnTo>
                  <a:lnTo>
                    <a:pt x="855345" y="1080135"/>
                  </a:lnTo>
                  <a:lnTo>
                    <a:pt x="894397" y="1130618"/>
                  </a:lnTo>
                  <a:lnTo>
                    <a:pt x="933450" y="1182053"/>
                  </a:lnTo>
                  <a:lnTo>
                    <a:pt x="972502" y="1233488"/>
                  </a:lnTo>
                  <a:lnTo>
                    <a:pt x="1011555" y="1284923"/>
                  </a:lnTo>
                  <a:lnTo>
                    <a:pt x="1050607" y="1336358"/>
                  </a:lnTo>
                  <a:lnTo>
                    <a:pt x="1090612" y="1387792"/>
                  </a:lnTo>
                  <a:lnTo>
                    <a:pt x="1129665" y="1439228"/>
                  </a:lnTo>
                  <a:lnTo>
                    <a:pt x="1168718" y="1491615"/>
                  </a:lnTo>
                  <a:lnTo>
                    <a:pt x="1207770" y="1543050"/>
                  </a:lnTo>
                  <a:lnTo>
                    <a:pt x="1246822" y="1595438"/>
                  </a:lnTo>
                  <a:lnTo>
                    <a:pt x="1285875" y="1647825"/>
                  </a:lnTo>
                  <a:lnTo>
                    <a:pt x="1324927" y="1700212"/>
                  </a:lnTo>
                  <a:lnTo>
                    <a:pt x="1363980" y="1752600"/>
                  </a:lnTo>
                  <a:lnTo>
                    <a:pt x="1403985" y="1805940"/>
                  </a:lnTo>
                  <a:lnTo>
                    <a:pt x="1443038" y="1858328"/>
                  </a:lnTo>
                  <a:lnTo>
                    <a:pt x="1482090" y="1911668"/>
                  </a:lnTo>
                  <a:lnTo>
                    <a:pt x="1521143" y="1965008"/>
                  </a:lnTo>
                  <a:lnTo>
                    <a:pt x="1554480" y="2009775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10339388" y="3410902"/>
              <a:ext cx="9525" cy="1002982"/>
            </a:xfrm>
            <a:custGeom>
              <a:avLst/>
              <a:gdLst/>
              <a:ahLst/>
              <a:cxnLst/>
              <a:rect l="l" t="t" r="r" b="b"/>
              <a:pathLst>
                <a:path w="9525" h="1002982">
                  <a:moveTo>
                    <a:pt x="0" y="1002982"/>
                  </a:moveTo>
                  <a:lnTo>
                    <a:pt x="0" y="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109" name="Freeform 109"/>
            <p:cNvSpPr/>
            <p:nvPr/>
          </p:nvSpPr>
          <p:spPr>
            <a:xfrm>
              <a:off x="9632632" y="2941320"/>
              <a:ext cx="1239203" cy="1462088"/>
            </a:xfrm>
            <a:custGeom>
              <a:avLst/>
              <a:gdLst/>
              <a:ahLst/>
              <a:cxnLst/>
              <a:rect l="l" t="t" r="r" b="b"/>
              <a:pathLst>
                <a:path w="1239203" h="1462088">
                  <a:moveTo>
                    <a:pt x="943928" y="1462088"/>
                  </a:moveTo>
                  <a:lnTo>
                    <a:pt x="943928" y="768667"/>
                  </a:lnTo>
                  <a:lnTo>
                    <a:pt x="347662" y="768667"/>
                  </a:lnTo>
                  <a:lnTo>
                    <a:pt x="347662" y="0"/>
                  </a:lnTo>
                  <a:lnTo>
                    <a:pt x="1239203" y="0"/>
                  </a:lnTo>
                  <a:lnTo>
                    <a:pt x="1239203" y="1160145"/>
                  </a:lnTo>
                  <a:lnTo>
                    <a:pt x="0" y="1160145"/>
                  </a:lnTo>
                </a:path>
              </a:pathLst>
            </a:custGeom>
            <a:noFill/>
            <a:ln w="19050">
              <a:solidFill>
                <a:srgbClr val="F26B3A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9537382" y="40538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11" name="Ellipse 111"/>
            <p:cNvSpPr/>
            <p:nvPr/>
          </p:nvSpPr>
          <p:spPr>
            <a:xfrm>
              <a:off x="915162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2" name="Ellipse 112"/>
            <p:cNvSpPr/>
            <p:nvPr/>
          </p:nvSpPr>
          <p:spPr>
            <a:xfrm>
              <a:off x="11526203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3" name="Ellipse 113"/>
            <p:cNvSpPr/>
            <p:nvPr/>
          </p:nvSpPr>
          <p:spPr>
            <a:xfrm>
              <a:off x="915162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4" name="Ellipse 114"/>
            <p:cNvSpPr/>
            <p:nvPr/>
          </p:nvSpPr>
          <p:spPr>
            <a:xfrm>
              <a:off x="9151620" y="23755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5" name="Ellipse 115"/>
            <p:cNvSpPr/>
            <p:nvPr/>
          </p:nvSpPr>
          <p:spPr>
            <a:xfrm>
              <a:off x="9151620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6" name="Ellipse 116"/>
            <p:cNvSpPr/>
            <p:nvPr/>
          </p:nvSpPr>
          <p:spPr>
            <a:xfrm>
              <a:off x="11466195" y="2426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7" name="Ellipse 117"/>
            <p:cNvSpPr/>
            <p:nvPr/>
          </p:nvSpPr>
          <p:spPr>
            <a:xfrm>
              <a:off x="9543098" y="239839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8" name="Ellipse 118"/>
            <p:cNvSpPr/>
            <p:nvPr/>
          </p:nvSpPr>
          <p:spPr>
            <a:xfrm>
              <a:off x="11109960" y="442436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9" name="Ellipse 119"/>
            <p:cNvSpPr/>
            <p:nvPr/>
          </p:nvSpPr>
          <p:spPr>
            <a:xfrm>
              <a:off x="10338435" y="44234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0" name="Ellipse 120"/>
            <p:cNvSpPr/>
            <p:nvPr/>
          </p:nvSpPr>
          <p:spPr>
            <a:xfrm>
              <a:off x="10338435" y="339947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1" name="Ellipse 121"/>
            <p:cNvSpPr/>
            <p:nvPr/>
          </p:nvSpPr>
          <p:spPr>
            <a:xfrm>
              <a:off x="10575608" y="44129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2" name="Ellipse 122"/>
            <p:cNvSpPr/>
            <p:nvPr/>
          </p:nvSpPr>
          <p:spPr>
            <a:xfrm>
              <a:off x="9525952" y="41005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3" name="Ellipse 123"/>
            <p:cNvSpPr/>
            <p:nvPr/>
          </p:nvSpPr>
          <p:spPr>
            <a:xfrm>
              <a:off x="10301288" y="336232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4" name="TextBox 124"/>
            <p:cNvSpPr txBox="1"/>
            <p:nvPr/>
          </p:nvSpPr>
          <p:spPr>
            <a:xfrm>
              <a:off x="11404073" y="421576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9212961" y="235839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10489596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x₀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10252423" y="446627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10878655" y="2454116"/>
              <a:ext cx="3067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 = x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644824" y="2365534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φ(x)</a:t>
              </a:r>
            </a:p>
          </p:txBody>
        </p:sp>
      </p:grpSp>
      <p:grpSp>
        <p:nvGrpSpPr>
          <p:cNvPr id="132" name="c4-text-2"/>
          <p:cNvGrpSpPr/>
          <p:nvPr/>
        </p:nvGrpSpPr>
        <p:grpSpPr>
          <a:xfrm>
            <a:off x="9123870" y="4850606"/>
            <a:ext cx="2431034" cy="500824"/>
            <a:chOff x="9123870" y="4850606"/>
            <a:chExt cx="2431034" cy="500824"/>
          </a:xfrm>
        </p:grpSpPr>
        <p:sp>
          <p:nvSpPr>
            <p:cNvPr id="131" name="TextBox 131"/>
            <p:cNvSpPr txBox="1"/>
            <p:nvPr/>
          </p:nvSpPr>
          <p:spPr>
            <a:xfrm>
              <a:off x="9123870" y="4850606"/>
              <a:ext cx="243103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(d) φ′(x*) &lt; −1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：螺旋状向外，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发散</a:t>
              </a:r>
            </a:p>
          </p:txBody>
        </p:sp>
      </p:grpSp>
      <p:grpSp>
        <p:nvGrpSpPr>
          <p:cNvPr id="1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133" name="Rectangle 13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136" name="Group 136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134" name="Freeform 134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5" name="Freeform 135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37" name="TextBox 137"/>
            <p:cNvSpPr txBox="1"/>
            <p:nvPr/>
          </p:nvSpPr>
          <p:spPr>
            <a:xfrm>
              <a:off x="1040130" y="5991225"/>
              <a:ext cx="95051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判断规则：|φ′| 在 x* 附近小于 1 时折线向 P* 收拢；大于 1 时远离。φ′ &gt; 0 走成阶梯，φ′ &lt; 0 绕成螺旋。</a:t>
              </a:r>
            </a:p>
          </p:txBody>
        </p:sp>
      </p:grpSp>
      <p:grpSp>
        <p:nvGrpSpPr>
          <p:cNvPr id="1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9" name="TextBox 13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12678" cy="909257"/>
            <a:chOff x="520446" y="342900"/>
            <a:chExt cx="96126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126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3.1：φ 把 [a, b] 映到自身且 |φ′| ≤ L &lt; 1 时迭代必收敛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735002" cy="4789170"/>
            <a:chOff x="533400" y="1524000"/>
            <a:chExt cx="5735002" cy="47891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4789170"/>
            </a:xfrm>
            <a:prstGeom prst="roundRect">
              <a:avLst>
                <a:gd name="adj" fmla="val 27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5224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2559" y="1756410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6298" y="17568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收敛性定理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20216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设方程 x = φ(x) 满足：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9620" y="2406015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7965" y="24463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60514" y="2418874"/>
              <a:ext cx="19547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 在 [a, b] 上连续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9620" y="2724150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7965" y="276353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60514" y="2736056"/>
              <a:ext cx="28340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x ∈ [a, b] 时，φ(x) ∈ [a, b]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9620" y="3041332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7965" y="30816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0514" y="3054191"/>
              <a:ext cx="31495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φ′(x) 存在，且对任意 x ∈ [a, b]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61"/>
                <p:cNvSpPr txBox="1">
                  <a:spLocks noGrp="1"/>
                </p:cNvSpPr>
                <p:nvPr/>
              </p:nvSpPr>
              <p:spPr>
                <a:xfrm>
                  <a:off x="769620" y="3348038"/>
                  <a:ext cx="5300662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φ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3.4.6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TextBox 23"/>
            <p:cNvSpPr txBox="1"/>
            <p:nvPr/>
          </p:nvSpPr>
          <p:spPr>
            <a:xfrm>
              <a:off x="762381" y="3899059"/>
              <a:ext cx="484759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 x = φ(x) 在 [a, b] 上存在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唯一不动点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x*，且对任意 x₀ 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[a, b]，由 xₖ₊₁ = φ(xₖ) 产生的 {xₖ} 收敛于 x*。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573202" y="1524000"/>
            <a:ext cx="5085398" cy="1972628"/>
            <a:chOff x="6573202" y="1524000"/>
            <a:chExt cx="5085398" cy="1972628"/>
          </a:xfrm>
        </p:grpSpPr>
        <p:sp>
          <p:nvSpPr>
            <p:cNvPr id="25" name="Rectangle 25"/>
            <p:cNvSpPr/>
            <p:nvPr/>
          </p:nvSpPr>
          <p:spPr>
            <a:xfrm>
              <a:off x="6573202" y="1524000"/>
              <a:ext cx="5085398" cy="1972628"/>
            </a:xfrm>
            <a:prstGeom prst="roundRect">
              <a:avLst>
                <a:gd name="adj" fmla="val 67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582728" y="1657350"/>
              <a:ext cx="47625" cy="170592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09422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88861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误差估计式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formula62"/>
                <p:cNvSpPr txBox="1">
                  <a:spLocks noGrp="1"/>
                </p:cNvSpPr>
                <p:nvPr/>
              </p:nvSpPr>
              <p:spPr>
                <a:xfrm>
                  <a:off x="6809422" y="2059305"/>
                  <a:ext cx="465105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3.4.7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63"/>
                <p:cNvSpPr txBox="1">
                  <a:spLocks noGrp="1"/>
                </p:cNvSpPr>
                <p:nvPr/>
              </p:nvSpPr>
              <p:spPr>
                <a:xfrm>
                  <a:off x="6809422" y="2714625"/>
                  <a:ext cx="465105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3.4.8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3" name="c2-table-2"/>
          <p:cNvGrpSpPr/>
          <p:nvPr/>
        </p:nvGrpSpPr>
        <p:grpSpPr>
          <a:xfrm>
            <a:off x="6573202" y="3676650"/>
            <a:ext cx="5085398" cy="1700213"/>
            <a:chOff x="6573202" y="3676650"/>
            <a:chExt cx="5085398" cy="1700213"/>
          </a:xfrm>
        </p:grpSpPr>
        <p:sp>
          <p:nvSpPr>
            <p:cNvPr id="32" name="Rectangle 32"/>
            <p:cNvSpPr/>
            <p:nvPr/>
          </p:nvSpPr>
          <p:spPr>
            <a:xfrm>
              <a:off x="6573202" y="3676650"/>
              <a:ext cx="5085398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87743" y="380523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710737" y="380523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5692" y="4229100"/>
              <a:ext cx="1133475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(3.4.7) 事后估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01597" y="433578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用相邻两次迭代值控制上机计算何时停止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73202" y="4733925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573202" y="4738688"/>
              <a:ext cx="5085398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75692" y="4867275"/>
              <a:ext cx="1133475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(3.4.8) 事前估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01597" y="4973955"/>
              <a:ext cx="27342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迭代开始前估计达到精度所需的次数 k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573202" y="3676650"/>
              <a:ext cx="5085398" cy="1700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094345" y="3676650"/>
              <a:ext cx="9525" cy="1700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llout-3"/>
          <p:cNvGrpSpPr/>
          <p:nvPr/>
        </p:nvGrpSpPr>
        <p:grpSpPr>
          <a:xfrm>
            <a:off x="6573202" y="5556885"/>
            <a:ext cx="5085398" cy="756285"/>
            <a:chOff x="6573202" y="5556885"/>
            <a:chExt cx="5085398" cy="756285"/>
          </a:xfrm>
        </p:grpSpPr>
        <p:sp>
          <p:nvSpPr>
            <p:cNvPr id="44" name="Rectangle 44"/>
            <p:cNvSpPr/>
            <p:nvPr/>
          </p:nvSpPr>
          <p:spPr>
            <a:xfrm>
              <a:off x="6573202" y="5556885"/>
              <a:ext cx="508539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777990" y="5835015"/>
              <a:ext cx="200026" cy="200025"/>
              <a:chOff x="6777990" y="5835015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777990" y="58350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817729" y="58794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852444" y="59905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7080314" y="5704046"/>
              <a:ext cx="391883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(3.4.7) 也常写成 |x* − xₖ| ≤ L|xₖ − xₖ₋₁|/(1 −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L)，算出 xₖ 就能判断能否停止。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9091" cy="909257"/>
            <a:chOff x="520446" y="342900"/>
            <a:chExt cx="83890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90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 的证明（一）：不动点存在、唯一，迭代收敛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301996" cy="2674049"/>
            <a:chOff x="533400" y="1533525"/>
            <a:chExt cx="5301996" cy="267404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050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59651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6703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438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512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261" y="15663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1846898"/>
              <a:ext cx="488899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h(x) = x − φ(x)，h 在 [a, b] 上连续。由条件 2，h(a) = a − φ(a) ≤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0，h(b) = b − φ(b) ≥ 0，由介值定理存在 x* ∈ [a, b] 使 h(x*) = 0，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x* = φ(x*)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262937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唯一性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909888"/>
              <a:ext cx="4507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设另有不动点 y ∈ [a, b]，y ≠ x*。由拉格朗日中值定理，x* − y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φ(x*) − φ(y) = φ′(ξ)(x* − y)，ξ 介于 x* 与 y 之间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3471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得出矛盾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751898"/>
              <a:ext cx="47594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于是 (x* − y)(1 − φ′(ξ)) = 0。x* ≠ y，只能 φ′(ξ) = 1，与条件 3 中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|φ′(ξ)| ≤ L &lt; 1 矛盾，所以不动点唯一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383405"/>
            <a:ext cx="5626418" cy="1274445"/>
            <a:chOff x="533400" y="4383405"/>
            <a:chExt cx="5626418" cy="1274445"/>
          </a:xfrm>
        </p:grpSpPr>
        <p:sp>
          <p:nvSpPr>
            <p:cNvPr id="21" name="Rectangle 21"/>
            <p:cNvSpPr/>
            <p:nvPr/>
          </p:nvSpPr>
          <p:spPr>
            <a:xfrm>
              <a:off x="533400" y="4383405"/>
              <a:ext cx="5626418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516755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75335" y="4587240"/>
              <a:ext cx="109251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7436" y="4622959"/>
              <a:ext cx="947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条件 2 的作用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8096" y="4960144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 2 既保证 h(a) ≤ 0 ≤ h(b)，又保证每个 xₖ 都留在 [a,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b] 内，后面对 xₖ 用中值定理和条件 3 才有依据。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464618" y="1524000"/>
            <a:ext cx="5193982" cy="2503170"/>
            <a:chOff x="6464618" y="1524000"/>
            <a:chExt cx="5193982" cy="2503170"/>
          </a:xfrm>
        </p:grpSpPr>
        <p:sp>
          <p:nvSpPr>
            <p:cNvPr id="27" name="Rectangle 27"/>
            <p:cNvSpPr/>
            <p:nvPr/>
          </p:nvSpPr>
          <p:spPr>
            <a:xfrm>
              <a:off x="6464618" y="1524000"/>
              <a:ext cx="5193982" cy="2503170"/>
            </a:xfrm>
            <a:prstGeom prst="roundRect">
              <a:avLst>
                <a:gd name="adj" fmla="val 53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4142" y="1657350"/>
              <a:ext cx="47625" cy="22364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06552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92811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收敛性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99314" y="2100739"/>
              <a:ext cx="448691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任取 x₀ ∈ [a, b]，由条件 2，所有 xₖ 都在 [a, b] 中。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 k 用中值定理：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68"/>
                <p:cNvSpPr txBox="1">
                  <a:spLocks noGrp="1"/>
                </p:cNvSpPr>
                <p:nvPr/>
              </p:nvSpPr>
              <p:spPr>
                <a:xfrm>
                  <a:off x="6706552" y="2668905"/>
                  <a:ext cx="4748212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φ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69"/>
                <p:cNvSpPr txBox="1">
                  <a:spLocks noGrp="1"/>
                </p:cNvSpPr>
                <p:nvPr/>
              </p:nvSpPr>
              <p:spPr>
                <a:xfrm>
                  <a:off x="6706552" y="3123248"/>
                  <a:ext cx="4748212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≤⋯≤</m:t>
                        </m:r>
                        <m:s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e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p>
                        </m:sSup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4" name="TextBox 34"/>
            <p:cNvSpPr txBox="1"/>
            <p:nvPr/>
          </p:nvSpPr>
          <p:spPr>
            <a:xfrm>
              <a:off x="6699314" y="3600926"/>
              <a:ext cx="40860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L &lt; 1，k → ∞ 时 Lᵏ → 0，所以 lim xₖ = x*。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6464618" y="4212908"/>
            <a:ext cx="5193982" cy="1445895"/>
            <a:chOff x="6464618" y="4212908"/>
            <a:chExt cx="5193982" cy="1445895"/>
          </a:xfrm>
        </p:grpSpPr>
        <p:sp>
          <p:nvSpPr>
            <p:cNvPr id="36" name="Rectangle 36"/>
            <p:cNvSpPr/>
            <p:nvPr/>
          </p:nvSpPr>
          <p:spPr>
            <a:xfrm>
              <a:off x="6464618" y="4212908"/>
              <a:ext cx="5193982" cy="1445895"/>
            </a:xfrm>
            <a:prstGeom prst="roundRect">
              <a:avLst>
                <a:gd name="adj" fmla="val 790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69405" y="4835843"/>
              <a:ext cx="200026" cy="200026"/>
              <a:chOff x="6669405" y="4835843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669405" y="48358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769418" y="49025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58305" y="49358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1729" y="4704874"/>
              <a:ext cx="421640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每一步误差至少缩小为原来的 L 倍，所以 L 越小，收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敛越快。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3" name="Rectangle 4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6004084"/>
              <a:ext cx="83292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三个条件的分工：条件 1、2 保证不动点存在；条件 3 保证它唯一，并让迭代误差按 Lᵏ 缩小到 0。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75653" cy="909257"/>
            <a:chOff x="520446" y="342900"/>
            <a:chExt cx="90756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756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 的证明（二）：两个误差估计式，以及条件的放宽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555132" cy="2632139"/>
            <a:chOff x="533400" y="1533525"/>
            <a:chExt cx="5555132" cy="263213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0831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965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0703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61664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6904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24064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由上页，|x* − xₖ₊₁| ≤ L|x* − xₖ|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1229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推出 (3.4.7)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48127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|xₖ₊₁ − xₖ| ≥ |x* − xₖ| − |x* − xₖ₊₁| ≥ (1 − L)|x* − xₖ|，两边除以 1 −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02942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相邻差递推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309938"/>
              <a:ext cx="47737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|xₖ₊₁ − xₖ| = |φ(xₖ) − φ(xₖ₋₁)| ≤ L|xₖ − xₖ₋₁| ≤ … ≤ Lᵏ|x₁ − x₀|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650456"/>
              <a:ext cx="1229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推出 (3.4.8)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930968"/>
              <a:ext cx="51421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(3.4.7)：|x* − xₖ| ≤ |xₖ₊₁ − xₖ|/(1 − L) ≤ Lᵏ|x₁ − x₀|/(1 − L)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341495"/>
            <a:ext cx="5626418" cy="1597342"/>
            <a:chOff x="533400" y="4341495"/>
            <a:chExt cx="5626418" cy="1597342"/>
          </a:xfrm>
        </p:grpSpPr>
        <p:sp>
          <p:nvSpPr>
            <p:cNvPr id="25" name="Rectangle 25"/>
            <p:cNvSpPr/>
            <p:nvPr/>
          </p:nvSpPr>
          <p:spPr>
            <a:xfrm>
              <a:off x="533400" y="4341495"/>
              <a:ext cx="5626418" cy="1597342"/>
            </a:xfrm>
            <a:prstGeom prst="roundRect">
              <a:avLst>
                <a:gd name="adj" fmla="val 834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37235" y="4545330"/>
              <a:ext cx="1540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96657" y="4581049"/>
              <a:ext cx="14223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(3.4.7) 的常用变形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74"/>
                <p:cNvSpPr txBox="1">
                  <a:spLocks noGrp="1"/>
                </p:cNvSpPr>
                <p:nvPr/>
              </p:nvSpPr>
              <p:spPr>
                <a:xfrm>
                  <a:off x="737235" y="4894898"/>
                  <a:ext cx="5218748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</m:den>
                        </m:f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731139" y="5547360"/>
              <a:ext cx="46808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由相邻差递推的第一步得到，只用已算出的 xₖ₋₁、xₖ 就能判停。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6464618" y="1524000"/>
            <a:ext cx="5193982" cy="1594485"/>
            <a:chOff x="6464618" y="1524000"/>
            <a:chExt cx="5193982" cy="1594485"/>
          </a:xfrm>
        </p:grpSpPr>
        <p:sp>
          <p:nvSpPr>
            <p:cNvPr id="31" name="Rectangle 31"/>
            <p:cNvSpPr/>
            <p:nvPr/>
          </p:nvSpPr>
          <p:spPr>
            <a:xfrm>
              <a:off x="6464618" y="1524000"/>
              <a:ext cx="5193982" cy="1594485"/>
            </a:xfrm>
            <a:prstGeom prst="roundRect">
              <a:avLst>
                <a:gd name="adj" fmla="val 83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4142" y="1657350"/>
              <a:ext cx="47625" cy="13277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706552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9771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讨论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14172" y="216122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70764" y="2100739"/>
              <a:ext cx="427951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大范围收敛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：定理对 [a, b] 的大小没有限制，只要三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个条件成立就收敛，所以可看作大范围收敛定理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14172" y="275272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70764" y="2692241"/>
              <a:ext cx="32252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收敛快慢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：取决于 L，L 越小收敛越快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464618" y="3304222"/>
            <a:ext cx="5193982" cy="2634615"/>
            <a:chOff x="6464618" y="3304222"/>
            <a:chExt cx="5193982" cy="2634615"/>
          </a:xfrm>
        </p:grpSpPr>
        <p:sp>
          <p:nvSpPr>
            <p:cNvPr id="40" name="Rectangle 40"/>
            <p:cNvSpPr/>
            <p:nvPr/>
          </p:nvSpPr>
          <p:spPr>
            <a:xfrm>
              <a:off x="6464618" y="3304222"/>
              <a:ext cx="5193982" cy="2634615"/>
            </a:xfrm>
            <a:prstGeom prst="roundRect">
              <a:avLst>
                <a:gd name="adj" fmla="val 50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3437572"/>
              <a:ext cx="47625" cy="23679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06552" y="3508058"/>
              <a:ext cx="123444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74704" y="3543776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条件 3 可以放宽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99314" y="3880961"/>
              <a:ext cx="44959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φ(x) 在 [a, b] 上满足 Lipschitz 条件，即对 [a, b]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上任意两点 x₁、x₂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formula75"/>
                <p:cNvSpPr txBox="1">
                  <a:spLocks noGrp="1"/>
                </p:cNvSpPr>
                <p:nvPr/>
              </p:nvSpPr>
              <p:spPr>
                <a:xfrm>
                  <a:off x="6706552" y="4449128"/>
                  <a:ext cx="4748212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6" name="TextBox 46"/>
            <p:cNvSpPr txBox="1"/>
            <p:nvPr/>
          </p:nvSpPr>
          <p:spPr>
            <a:xfrm>
              <a:off x="6699314" y="4964906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定理依然成立：证明中用到中值定理的地方，直接换成这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个不等式。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59149" cy="909257"/>
            <a:chOff x="520446" y="342900"/>
            <a:chExt cx="56591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591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局部收敛：在根附近只需看 |φ′(x*)|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6059805" cy="2152650"/>
            <a:chOff x="533400" y="1524000"/>
            <a:chExt cx="6059805" cy="21526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局部收敛定理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1968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x* = φ(x*)，φ′ 在 x* 附近连续且 |φ′(x*)| &lt; 1，则存在 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 0，只要 x₀ ∈ [x* − δ, x* + δ]，迭代 xₖ₊₁ = φ(xₖ) 就收敛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x*。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3033236"/>
              <a:ext cx="49547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证明：由连续性取 δ 使该区间上 |φ′(x)| ≤ L &lt; 1，此时 |φ(x) − x*|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|φ′(ξ)||x − x*| ≤ δ，φ 把区间映到自身，再用定理 3.1。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867150"/>
            <a:ext cx="6059805" cy="1916430"/>
            <a:chOff x="533400" y="3867150"/>
            <a:chExt cx="6059805" cy="1916430"/>
          </a:xfrm>
        </p:grpSpPr>
        <p:sp>
          <p:nvSpPr>
            <p:cNvPr id="15" name="Rectangle 15"/>
            <p:cNvSpPr/>
            <p:nvPr/>
          </p:nvSpPr>
          <p:spPr>
            <a:xfrm>
              <a:off x="533400" y="3867150"/>
              <a:ext cx="6059805" cy="1916430"/>
            </a:xfrm>
            <a:prstGeom prst="roundRect">
              <a:avLst>
                <a:gd name="adj" fmla="val 69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000500"/>
              <a:ext cx="47625" cy="16497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07670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6160" y="41124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39202" y="4111942"/>
              <a:ext cx="43648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 = √(3x − 2) 在 [1.5, 3] 上满足定理 3.1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5358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472940"/>
              <a:ext cx="49726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 单调增，φ([1.5, 3]) = [1.581, 2.646] ⊂ [1.5, 3]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48710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4808220"/>
              <a:ext cx="4740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|φ′(x)| = 3/(2√(3x − 2)) ≤ 3/(2√2.5) = 0.949 &lt; 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4573" y="5139214"/>
              <a:ext cx="51579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 [1.5, 3] 中任一点出发都收敛到 2。φ(x) = (x² + 2)/3 在 2 处 φ′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4/3 &gt; 1，在含 2 的任何区间上都不满足条件 3。</a:t>
              </a:r>
            </a:p>
          </p:txBody>
        </p:sp>
      </p:grpSp>
      <p:grpSp>
        <p:nvGrpSpPr>
          <p:cNvPr id="28" name="c2-image-1"/>
          <p:cNvGrpSpPr/>
          <p:nvPr/>
        </p:nvGrpSpPr>
        <p:grpSpPr>
          <a:xfrm>
            <a:off x="6898005" y="1524000"/>
            <a:ext cx="4760595" cy="4863942"/>
            <a:chOff x="6898005" y="1524000"/>
            <a:chExt cx="4760595" cy="4863942"/>
          </a:xfrm>
        </p:grpSpPr>
        <p:pic>
          <p:nvPicPr>
            <p:cNvPr id="26" name="Image 26"/>
            <p:cNvPicPr>
              <a:picLocks noChangeAspect="1"/>
            </p:cNvPicPr>
            <p:nvPr/>
          </p:nvPicPr>
          <p:blipFill>
            <a:blip r:embed="rId2"/>
            <a:srcRect l="9024" t="0" r="9024" b="0"/>
            <a:stretch>
              <a:fillRect/>
            </a:stretch>
          </p:blipFill>
          <p:spPr>
            <a:xfrm>
              <a:off x="6898005" y="1524000"/>
              <a:ext cx="4760595" cy="4356735"/>
            </a:xfrm>
            <a:prstGeom prst="roundRect">
              <a:avLst>
                <a:gd name="adj" fmla="val 3060"/>
              </a:avLst>
            </a:prstGeom>
          </p:spPr>
        </p:pic>
        <p:sp>
          <p:nvSpPr>
            <p:cNvPr id="27" name="TextBox 27"/>
            <p:cNvSpPr txBox="1"/>
            <p:nvPr/>
          </p:nvSpPr>
          <p:spPr>
            <a:xfrm>
              <a:off x="6996748" y="5975509"/>
              <a:ext cx="456311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公园地图铺在公园里，恰有一点压在它所代表的实地位置上：压缩映射的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不动点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74774" cy="909257"/>
            <a:chOff x="520446" y="342900"/>
            <a:chExt cx="69747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747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3.4 x = e⁻ˣ：先验证定理 3.1 的三个条件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363838" cy="308039"/>
            <a:chOff x="525399" y="1550194"/>
            <a:chExt cx="1036383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36383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求方程 f(x) = x eˣ − 1 = 0 在 [1/2, ln 2] 中的解。若要求 |x* − xₖ| &lt; ε = 10⁻⁶，迭代次数 k 至少应为多少？</a:t>
              </a:r>
            </a:p>
          </p:txBody>
        </p:sp>
      </p:grpSp>
      <p:grpSp>
        <p:nvGrpSpPr>
          <p:cNvPr id="26" name="c1-steps-1"/>
          <p:cNvGrpSpPr/>
          <p:nvPr/>
        </p:nvGrpSpPr>
        <p:grpSpPr>
          <a:xfrm>
            <a:off x="533400" y="1977390"/>
            <a:ext cx="5172329" cy="2763488"/>
            <a:chOff x="533400" y="1977390"/>
            <a:chExt cx="5172329" cy="2763488"/>
          </a:xfrm>
        </p:grpSpPr>
        <p:sp>
          <p:nvSpPr>
            <p:cNvPr id="9" name="Rectangle 9"/>
            <p:cNvSpPr/>
            <p:nvPr/>
          </p:nvSpPr>
          <p:spPr>
            <a:xfrm>
              <a:off x="666750" y="2120265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7739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62794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7850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16433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2381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01168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构造迭代函数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304574"/>
              <a:ext cx="30973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eˣ = 1 等价于 x = e⁻ˣ，取 φ(x) = e⁻ˣ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662238"/>
              <a:ext cx="5993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 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955131"/>
              <a:ext cx="220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 在 [1/2, ln 2] 上连续可微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312795"/>
              <a:ext cx="5993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 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606641"/>
              <a:ext cx="47597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φ′(x) = −e⁻ˣ &lt; 0，φ 单调下降，所以 φ(x) 介于 φ(ln 2) = 1/2 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φ(1/2) = 0.606531 之间，而 ln 2 = 0.693147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4198620"/>
              <a:ext cx="5993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491514"/>
              <a:ext cx="32281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|φ′(x)| = e⁻ˣ ≤ 1/√e = 0.606531 = L &lt; 1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919662"/>
            <a:ext cx="5842635" cy="782955"/>
            <a:chOff x="533400" y="4919662"/>
            <a:chExt cx="584263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91966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211128"/>
              <a:ext cx="200026" cy="200026"/>
              <a:chOff x="738188" y="5211128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2111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04863" y="528891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068252"/>
              <a:ext cx="49015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φ 满足定理 3.1 的全部条件，x = e⁻ˣ 在 [1/2, ln 2] 上有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唯一不动点，由 xₖ₊₁ = exp(−xₖ) 产生的序列收敛到它。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formula78"/>
              <p:cNvSpPr txBox="1">
                <a:spLocks noGrp="1"/>
              </p:cNvSpPr>
              <p:nvPr/>
            </p:nvSpPr>
            <p:spPr>
              <a:xfrm>
                <a:off x="6680835" y="1967865"/>
                <a:ext cx="4977765" cy="5400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func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ln</m:t>
                          </m:r>
                        </m:fNam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∀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bar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func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62" name="c2-graph-2"/>
          <p:cNvGrpSpPr/>
          <p:nvPr/>
        </p:nvGrpSpPr>
        <p:grpSpPr>
          <a:xfrm>
            <a:off x="7031355" y="2788920"/>
            <a:ext cx="4429125" cy="1782794"/>
            <a:chOff x="7031355" y="2788920"/>
            <a:chExt cx="4429125" cy="1782794"/>
          </a:xfrm>
        </p:grpSpPr>
        <p:sp>
          <p:nvSpPr>
            <p:cNvPr id="34" name="Freeform 34"/>
            <p:cNvSpPr/>
            <p:nvPr/>
          </p:nvSpPr>
          <p:spPr>
            <a:xfrm>
              <a:off x="7089458" y="4365308"/>
              <a:ext cx="4264342" cy="9525"/>
            </a:xfrm>
            <a:custGeom>
              <a:avLst/>
              <a:gdLst/>
              <a:ahLst/>
              <a:cxnLst/>
              <a:rect l="l" t="t" r="r" b="b"/>
              <a:pathLst>
                <a:path w="4264342" h="9525">
                  <a:moveTo>
                    <a:pt x="0" y="0"/>
                  </a:moveTo>
                  <a:lnTo>
                    <a:pt x="4264342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1353800" y="43176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7078980" y="2914650"/>
              <a:ext cx="9525" cy="1440180"/>
            </a:xfrm>
            <a:custGeom>
              <a:avLst/>
              <a:gdLst/>
              <a:ahLst/>
              <a:cxnLst/>
              <a:rect l="l" t="t" r="r" b="b"/>
              <a:pathLst>
                <a:path w="9525" h="1440180">
                  <a:moveTo>
                    <a:pt x="0" y="144018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031355" y="28194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8121968" y="3279458"/>
              <a:ext cx="2014538" cy="715327"/>
            </a:xfrm>
            <a:custGeom>
              <a:avLst/>
              <a:gdLst/>
              <a:ahLst/>
              <a:cxnLst/>
              <a:rect l="l" t="t" r="r" b="b"/>
              <a:pathLst>
                <a:path w="2014538" h="715327">
                  <a:moveTo>
                    <a:pt x="10477" y="715327"/>
                  </a:moveTo>
                  <a:lnTo>
                    <a:pt x="2014538" y="715327"/>
                  </a:lnTo>
                  <a:lnTo>
                    <a:pt x="2014538" y="0"/>
                  </a:lnTo>
                  <a:lnTo>
                    <a:pt x="0" y="0"/>
                  </a:lnTo>
                  <a:lnTo>
                    <a:pt x="0" y="704850"/>
                  </a:lnTo>
                </a:path>
              </a:pathLst>
            </a:custGeom>
            <a:noFill/>
            <a:ln w="13335">
              <a:solidFill>
                <a:srgbClr val="F26B3A"/>
              </a:solidFill>
              <a:custDash>
                <a:ds d="428571" sp="285714"/>
              </a:custDash>
            </a:ln>
          </p:spPr>
        </p:sp>
        <p:sp>
          <p:nvSpPr>
            <p:cNvPr id="39" name="Freeform 39"/>
            <p:cNvSpPr/>
            <p:nvPr/>
          </p:nvSpPr>
          <p:spPr>
            <a:xfrm>
              <a:off x="7194232" y="2887028"/>
              <a:ext cx="4047173" cy="1438275"/>
            </a:xfrm>
            <a:custGeom>
              <a:avLst/>
              <a:gdLst/>
              <a:ahLst/>
              <a:cxnLst/>
              <a:rect l="l" t="t" r="r" b="b"/>
              <a:pathLst>
                <a:path w="4047173" h="1438275">
                  <a:moveTo>
                    <a:pt x="0" y="1438275"/>
                  </a:moveTo>
                  <a:lnTo>
                    <a:pt x="4047173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298055" y="3415665"/>
              <a:ext cx="3942397" cy="765810"/>
            </a:xfrm>
            <a:custGeom>
              <a:avLst/>
              <a:gdLst/>
              <a:ahLst/>
              <a:cxnLst/>
              <a:rect l="l" t="t" r="r" b="b"/>
              <a:pathLst>
                <a:path w="3942397" h="765810">
                  <a:moveTo>
                    <a:pt x="0" y="0"/>
                  </a:moveTo>
                  <a:lnTo>
                    <a:pt x="121920" y="27622"/>
                  </a:lnTo>
                  <a:lnTo>
                    <a:pt x="254317" y="58102"/>
                  </a:lnTo>
                  <a:lnTo>
                    <a:pt x="385762" y="88582"/>
                  </a:lnTo>
                  <a:lnTo>
                    <a:pt x="518160" y="118110"/>
                  </a:lnTo>
                  <a:lnTo>
                    <a:pt x="650557" y="146685"/>
                  </a:lnTo>
                  <a:lnTo>
                    <a:pt x="782002" y="175260"/>
                  </a:lnTo>
                  <a:lnTo>
                    <a:pt x="914400" y="203835"/>
                  </a:lnTo>
                  <a:lnTo>
                    <a:pt x="1046797" y="232410"/>
                  </a:lnTo>
                  <a:lnTo>
                    <a:pt x="1179195" y="260032"/>
                  </a:lnTo>
                  <a:lnTo>
                    <a:pt x="1310640" y="286702"/>
                  </a:lnTo>
                  <a:lnTo>
                    <a:pt x="1443038" y="314325"/>
                  </a:lnTo>
                  <a:lnTo>
                    <a:pt x="1575435" y="340995"/>
                  </a:lnTo>
                  <a:lnTo>
                    <a:pt x="1706880" y="366712"/>
                  </a:lnTo>
                  <a:lnTo>
                    <a:pt x="1839277" y="393382"/>
                  </a:lnTo>
                  <a:lnTo>
                    <a:pt x="1971675" y="419100"/>
                  </a:lnTo>
                  <a:lnTo>
                    <a:pt x="2103120" y="443865"/>
                  </a:lnTo>
                  <a:lnTo>
                    <a:pt x="2235517" y="469582"/>
                  </a:lnTo>
                  <a:lnTo>
                    <a:pt x="2367915" y="494347"/>
                  </a:lnTo>
                  <a:lnTo>
                    <a:pt x="2500312" y="518160"/>
                  </a:lnTo>
                  <a:lnTo>
                    <a:pt x="2631757" y="541972"/>
                  </a:lnTo>
                  <a:lnTo>
                    <a:pt x="2764155" y="565785"/>
                  </a:lnTo>
                  <a:lnTo>
                    <a:pt x="2896552" y="589597"/>
                  </a:lnTo>
                  <a:lnTo>
                    <a:pt x="3027997" y="612457"/>
                  </a:lnTo>
                  <a:lnTo>
                    <a:pt x="3160395" y="636270"/>
                  </a:lnTo>
                  <a:lnTo>
                    <a:pt x="3292793" y="658177"/>
                  </a:lnTo>
                  <a:lnTo>
                    <a:pt x="3424238" y="681038"/>
                  </a:lnTo>
                  <a:lnTo>
                    <a:pt x="3556635" y="702945"/>
                  </a:lnTo>
                  <a:lnTo>
                    <a:pt x="3689032" y="724852"/>
                  </a:lnTo>
                  <a:lnTo>
                    <a:pt x="3821430" y="745807"/>
                  </a:lnTo>
                  <a:lnTo>
                    <a:pt x="3942397" y="765810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822055" y="3756660"/>
              <a:ext cx="9525" cy="598170"/>
            </a:xfrm>
            <a:custGeom>
              <a:avLst/>
              <a:gdLst/>
              <a:ahLst/>
              <a:cxnLst/>
              <a:rect l="l" t="t" r="r" b="b"/>
              <a:pathLst>
                <a:path w="9525" h="598170">
                  <a:moveTo>
                    <a:pt x="0" y="598170"/>
                  </a:moveTo>
                  <a:lnTo>
                    <a:pt x="0" y="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42" name="Ellipse 42"/>
            <p:cNvSpPr/>
            <p:nvPr/>
          </p:nvSpPr>
          <p:spPr>
            <a:xfrm>
              <a:off x="7078028" y="43643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1458575" y="43643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078028" y="43643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7078028" y="28079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8121015" y="39938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8121015" y="399383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7182802" y="432816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11249978" y="288226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7286625" y="34118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11249978" y="41814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8821102" y="436435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8821102" y="374523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8769668" y="3693795"/>
              <a:ext cx="104775" cy="1047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867204" y="4206240"/>
              <a:ext cx="9976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x* = 0.567143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87019" y="3249930"/>
              <a:ext cx="507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e⁻ˣ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674191" y="2788920"/>
              <a:ext cx="3287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 = x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008174" y="4381024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1/2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019414" y="4381024"/>
              <a:ext cx="2341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ln 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302155" y="420624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17015" y="3127534"/>
              <a:ext cx="15600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φ 把 [1/2, ln 2] 映入自身</a:t>
              </a:r>
            </a:p>
          </p:txBody>
        </p:sp>
      </p:grpSp>
      <p:grpSp>
        <p:nvGrpSpPr>
          <p:cNvPr id="69" name="c2-card-3"/>
          <p:cNvGrpSpPr/>
          <p:nvPr/>
        </p:nvGrpSpPr>
        <p:grpSpPr>
          <a:xfrm>
            <a:off x="6680835" y="4741545"/>
            <a:ext cx="4977765" cy="1621155"/>
            <a:chOff x="6680835" y="4741545"/>
            <a:chExt cx="4977765" cy="1621155"/>
          </a:xfrm>
        </p:grpSpPr>
        <p:sp>
          <p:nvSpPr>
            <p:cNvPr id="63" name="Rectangle 63"/>
            <p:cNvSpPr/>
            <p:nvPr/>
          </p:nvSpPr>
          <p:spPr>
            <a:xfrm>
              <a:off x="6680835" y="4741545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690360" y="487489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928485" y="49510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019646" y="49868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29512" y="4986338"/>
              <a:ext cx="19896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 x = −ln x 行不行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920865" y="5347335"/>
              <a:ext cx="41490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同一方程也可写成 x = −ln x，此时 |φ′(x)| = 1/x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≥ 1/ln 2 ≈ 1.44 &gt; 1，不满足条件 3；在根附近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≈ 1.76，迭代发散。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28763" cy="909257"/>
            <a:chOff x="520446" y="342900"/>
            <a:chExt cx="74287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287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3.4 迭代表：误差每步约乘 0.567，线性收敛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5" name="c1-table-1"/>
          <p:cNvGrpSpPr/>
          <p:nvPr/>
        </p:nvGrpSpPr>
        <p:grpSpPr>
          <a:xfrm>
            <a:off x="528066" y="1524000"/>
            <a:ext cx="11130534" cy="3120009"/>
            <a:chOff x="528066" y="1524000"/>
            <a:chExt cx="11130534" cy="312000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2279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08378" y="16483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5719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43579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389678" y="16483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3849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24879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70978" y="16483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1979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06179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952278" y="164830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00109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279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374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0.606531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7626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3.9×10⁻²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545652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14504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0.568438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5756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1.3×10⁻³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85489" y="205406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2634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0.567186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3886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4.3×10⁻⁵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66789" y="205406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70764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820166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1.4×10⁻⁶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279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6374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0.545239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47626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2.2×10⁻²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45652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14504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0.566409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5756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7.3×10⁻⁴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85489" y="24598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2634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0.567119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3886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2.4×10⁻⁵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66789" y="24598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443085" y="2345055"/>
              <a:ext cx="120491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70764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0667048" y="2345055"/>
              <a:ext cx="98202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820166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8.1×10⁻⁷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62279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6374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0.579703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47626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1.3×10⁻²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545652" y="28655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14504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0.567560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25756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4.2×10⁻⁴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85489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2634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0.567157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3886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1.4×10⁻⁵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066789" y="286559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70764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820166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4.6×10⁻⁷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2279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36374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0.560065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47626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7.1×10⁻³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504189" y="32713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14504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0.566907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25756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2.4×10⁻⁴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85489" y="32713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2634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0.567135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3886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7.9×10⁻⁶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066789" y="32713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70764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0.567143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820166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2.6×10⁻⁷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62279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36374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0.571172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247626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4.0×10⁻³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3504189" y="36771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414504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0.567277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25756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1.3×10⁻⁴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285489" y="36771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92634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0.567148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03886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4.5×10⁻⁶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066789" y="36771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70764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0.567143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20166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1.5×10⁻⁷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33400" y="3953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533400" y="395859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762279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36374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0.564863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247626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2.3×10⁻³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3504189" y="40828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414504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0.567067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525756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7.6×10⁻⁵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6285489" y="40828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692634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0.567141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03886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2.5×10⁻⁶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9066789" y="40828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970764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0.567143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0820166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8.4×10⁻⁸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533400" y="1524000"/>
              <a:ext cx="11125200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108489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230886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330993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386619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509016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609123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664749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787146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Rectangle 111"/>
            <p:cNvSpPr/>
            <p:nvPr/>
          </p:nvSpPr>
          <p:spPr>
            <a:xfrm>
              <a:off x="887253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2" name="Rectangle 112"/>
            <p:cNvSpPr/>
            <p:nvPr/>
          </p:nvSpPr>
          <p:spPr>
            <a:xfrm>
              <a:off x="942879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3" name="Rectangle 113"/>
            <p:cNvSpPr/>
            <p:nvPr/>
          </p:nvSpPr>
          <p:spPr>
            <a:xfrm>
              <a:off x="1065276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528066" y="4438650"/>
              <a:ext cx="5261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x₀ = 0.5，x* = 0.5671433，误差为 |xₖ − x*|；绿色格为误差首次小于 10⁻⁶ 的一步</a:t>
              </a:r>
            </a:p>
          </p:txBody>
        </p:sp>
      </p:grpSp>
      <p:grpSp>
        <p:nvGrpSpPr>
          <p:cNvPr id="122" name="c1-callout-2"/>
          <p:cNvGrpSpPr/>
          <p:nvPr/>
        </p:nvGrpSpPr>
        <p:grpSpPr>
          <a:xfrm>
            <a:off x="533400" y="4777740"/>
            <a:ext cx="11125200" cy="924878"/>
            <a:chOff x="533400" y="4777740"/>
            <a:chExt cx="11125200" cy="924878"/>
          </a:xfrm>
        </p:grpSpPr>
        <p:sp>
          <p:nvSpPr>
            <p:cNvPr id="116" name="Rectangle 116"/>
            <p:cNvSpPr/>
            <p:nvPr/>
          </p:nvSpPr>
          <p:spPr>
            <a:xfrm>
              <a:off x="533400" y="4777740"/>
              <a:ext cx="11125200" cy="924878"/>
            </a:xfrm>
            <a:prstGeom prst="roundRect">
              <a:avLst>
                <a:gd name="adj" fmla="val 1235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20" name="Group 120"/>
            <p:cNvGrpSpPr/>
            <p:nvPr/>
          </p:nvGrpSpPr>
          <p:grpSpPr>
            <a:xfrm>
              <a:off x="738188" y="5140643"/>
              <a:ext cx="200026" cy="200025"/>
              <a:chOff x="738188" y="5140643"/>
              <a:chExt cx="200026" cy="200025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738188" y="51406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8" name="Freeform 118"/>
              <p:cNvSpPr/>
              <p:nvPr/>
            </p:nvSpPr>
            <p:spPr>
              <a:xfrm>
                <a:off x="777926" y="51850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9" name="Freeform 119"/>
              <p:cNvSpPr/>
              <p:nvPr/>
            </p:nvSpPr>
            <p:spPr>
              <a:xfrm>
                <a:off x="812642" y="52962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21" name="TextBox 121"/>
            <p:cNvSpPr txBox="1"/>
            <p:nvPr/>
          </p:nvSpPr>
          <p:spPr>
            <a:xfrm>
              <a:off x="1040892" y="5021580"/>
              <a:ext cx="979493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读表：xₖ 在 x* 两侧交替出现，因为 φ′(x) = −e⁻ˣ &lt; 0（上一页图 (b) 的螺旋情形）；相邻误差之比趋于 |φ′(x*)| = exp(−x*) =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x* ≈ 0.567，是线性收敛。</a:t>
              </a:r>
            </a:p>
          </p:txBody>
        </p:sp>
      </p:grpSp>
      <p:grpSp>
        <p:nvGrpSpPr>
          <p:cNvPr id="12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123" name="Rectangle 12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7" name="Group 12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124" name="Freeform 12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5" name="Freeform 12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6" name="Freeform 12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8" name="TextBox 128"/>
            <p:cNvSpPr txBox="1"/>
            <p:nvPr/>
          </p:nvSpPr>
          <p:spPr>
            <a:xfrm>
              <a:off x="1040892" y="6023610"/>
              <a:ext cx="10472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更正：表中数值按 6 位小数重算。原课件 x₈、x₁₁、x₁₃、x₁₇ 写作 0.566410、0.567278、0.567187、0.567147，末位各差 1。</a:t>
              </a:r>
            </a:p>
          </p:txBody>
        </p:sp>
      </p:grpSp>
      <p:grpSp>
        <p:nvGrpSpPr>
          <p:cNvPr id="1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30" name="TextBox 13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71945" cy="909257"/>
            <a:chOff x="520446" y="342900"/>
            <a:chExt cx="60719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71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(3.4.8) 事前估计迭代次数：k ≥ 26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301694" cy="1878615"/>
            <a:chOff x="533400" y="1533525"/>
            <a:chExt cx="5301694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48890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(3.4.8)，只要 Lᵏ|x₁ − x₀|/(1 − L) ≤ ε，就有 |x* − xₖ| ≤ 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取对数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28568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ln L + ln(|x₁ − x₀|/(1 − L)) ≤ ln 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5993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 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29091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ln L &lt; 0，两边除以 ln L 时不等号反向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81"/>
              <p:cNvSpPr txBox="1">
                <a:spLocks noGrp="1"/>
              </p:cNvSpPr>
              <p:nvPr/>
            </p:nvSpPr>
            <p:spPr>
              <a:xfrm>
                <a:off x="533400" y="3590925"/>
                <a:ext cx="5301615" cy="6686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f>
                        <m:fPr>
                          <m:type m:val="bar"/>
                          <m:ctrl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 m:val="on"/>
                                  <m:ctrl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ε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a:rPr lang="zh-CN" sz="19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d>
                                    <m:dPr>
                                      <m:begChr m:val="|"/>
                                      <m:sepChr m:val=""/>
                                      <m:endChr m:val="|"/>
                                      <m:grow m:val="on"/>
                                      <m:ctrl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9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9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zh-CN" sz="19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8" name="c1-callout-3"/>
          <p:cNvGrpSpPr/>
          <p:nvPr/>
        </p:nvGrpSpPr>
        <p:grpSpPr>
          <a:xfrm>
            <a:off x="533400" y="4450080"/>
            <a:ext cx="5301615" cy="1059180"/>
            <a:chOff x="533400" y="4450080"/>
            <a:chExt cx="5301615" cy="1059180"/>
          </a:xfrm>
        </p:grpSpPr>
        <p:sp>
          <p:nvSpPr>
            <p:cNvPr id="22" name="Rectangle 22"/>
            <p:cNvSpPr/>
            <p:nvPr/>
          </p:nvSpPr>
          <p:spPr>
            <a:xfrm>
              <a:off x="533400" y="4450080"/>
              <a:ext cx="530161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4879658"/>
              <a:ext cx="200026" cy="200025"/>
              <a:chOff x="738188" y="4879658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4879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4924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035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4598670"/>
              <a:ext cx="42538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事前估计偏保守：实际 k = 20 时误差已是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8.1×10⁻⁷；用 (3.4.7) 判停，算到 k = 23 就能保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证误差小于 10⁻⁶。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139815" y="1524000"/>
            <a:ext cx="5518785" cy="2184082"/>
            <a:chOff x="6139815" y="1524000"/>
            <a:chExt cx="5518785" cy="2184082"/>
          </a:xfrm>
        </p:grpSpPr>
        <p:sp>
          <p:nvSpPr>
            <p:cNvPr id="29" name="Rectangle 29"/>
            <p:cNvSpPr/>
            <p:nvPr/>
          </p:nvSpPr>
          <p:spPr>
            <a:xfrm>
              <a:off x="6139815" y="1524000"/>
              <a:ext cx="5518785" cy="2184082"/>
            </a:xfrm>
            <a:prstGeom prst="roundRect">
              <a:avLst>
                <a:gd name="adj" fmla="val 61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149340" y="1657350"/>
              <a:ext cx="47625" cy="1917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38746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6977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代入数据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79845" y="211074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ε = 10⁻⁶，L = 1/√e = 0.606531，ln L = −0.5，x₀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0.5，x₁ = 0.606531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82"/>
                <p:cNvSpPr txBox="1">
                  <a:spLocks noGrp="1"/>
                </p:cNvSpPr>
                <p:nvPr/>
              </p:nvSpPr>
              <p:spPr>
                <a:xfrm>
                  <a:off x="6387465" y="2707005"/>
                  <a:ext cx="5061585" cy="4371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0.393469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×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sSup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6</m:t>
                                        </m:r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/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0.106531</m:t>
                                    </m:r>
                                  </m:e>
                                </m:d>
                              </m:e>
                            </m:func>
                          </m:num>
                          <m:den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12.508940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0.5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25.02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5" name="TextBox 35"/>
            <p:cNvSpPr txBox="1"/>
            <p:nvPr/>
          </p:nvSpPr>
          <p:spPr>
            <a:xfrm>
              <a:off x="6379845" y="3264218"/>
              <a:ext cx="22546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k 取整数，所以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k ≥ 26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2" name="c2-card-2"/>
          <p:cNvGrpSpPr/>
          <p:nvPr/>
        </p:nvGrpSpPr>
        <p:grpSpPr>
          <a:xfrm>
            <a:off x="6139815" y="3898582"/>
            <a:ext cx="5518785" cy="1610678"/>
            <a:chOff x="6139815" y="3898582"/>
            <a:chExt cx="5518785" cy="1610678"/>
          </a:xfrm>
        </p:grpSpPr>
        <p:sp>
          <p:nvSpPr>
            <p:cNvPr id="37" name="Rectangle 37"/>
            <p:cNvSpPr/>
            <p:nvPr/>
          </p:nvSpPr>
          <p:spPr>
            <a:xfrm>
              <a:off x="6139815" y="3898582"/>
              <a:ext cx="5518785" cy="1610678"/>
            </a:xfrm>
            <a:prstGeom prst="roundRect">
              <a:avLst>
                <a:gd name="adj" fmla="val 82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149340" y="4031932"/>
              <a:ext cx="47625" cy="13439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387465" y="410813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78626" y="41438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79845" y="4485322"/>
              <a:ext cx="47301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原课件由此式得“k ≥ 25，约需迭代 25 次”。25.02 应向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上取整为 26：k = 25 时 (3.4.8) 右端为 1.009×10⁻⁶，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还大于 10⁻⁶。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收敛的迭代法总是稳定的；快慢要看误差怎样缩小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544378" cy="4191952"/>
            <a:chOff x="533400" y="1524000"/>
            <a:chExt cx="4544378" cy="41919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4191952"/>
            </a:xfrm>
            <a:prstGeom prst="roundRect">
              <a:avLst>
                <a:gd name="adj" fmla="val 31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92525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91565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528" y="1769269"/>
              <a:ext cx="94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3.4.4 稳定性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迭代法每步都可以用判停准则检查精度，误差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容易及时发现和纠正。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31770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只要迭代过程收敛，误差随迭代步数增加趋于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零，舍入误差不会逐步累积，所以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收敛的迭代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法总是稳定的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3635216"/>
              <a:ext cx="391439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后面不再单独讨论稳定性，重点看收敛性和收敛速度。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收敛速度决定达到指定精度需要多少步，也就是计算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量。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5382578" y="1524000"/>
            <a:ext cx="6276022" cy="4191952"/>
            <a:chOff x="5382578" y="1524000"/>
            <a:chExt cx="6276022" cy="4191952"/>
          </a:xfrm>
        </p:grpSpPr>
        <p:sp>
          <p:nvSpPr>
            <p:cNvPr id="15" name="Rectangle 15"/>
            <p:cNvSpPr/>
            <p:nvPr/>
          </p:nvSpPr>
          <p:spPr>
            <a:xfrm>
              <a:off x="5382578" y="1524000"/>
              <a:ext cx="6276022" cy="4191952"/>
            </a:xfrm>
            <a:prstGeom prst="roundRect">
              <a:avLst>
                <a:gd name="adj" fmla="val 31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92102" y="1657350"/>
              <a:ext cx="47625" cy="39252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630228" y="1733550"/>
              <a:ext cx="64293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716715" y="1769269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3.5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79845" y="1768792"/>
              <a:ext cx="36878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三个迭代过程的误差 |e(xₖ)| = |xₖ − x*|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630228" y="2105025"/>
              <a:ext cx="581882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801004" y="22407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3158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误差序列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33077" y="2240756"/>
              <a:ext cx="9266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|eₖ₊₁|/|eₖ|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237789" y="2240756"/>
              <a:ext cx="10261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|eₖ₊₁|/|eₖ|²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824051" y="280273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36233" y="2689384"/>
              <a:ext cx="14516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10⁻², 10⁻³, 10⁻⁴,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10⁻⁵, 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902217" y="2802731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恒为 10⁻¹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23771" y="2802731"/>
              <a:ext cx="2541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 ∞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630228" y="3224212"/>
              <a:ext cx="58188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630228" y="3228975"/>
              <a:ext cx="58188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24051" y="3478054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36233" y="3364706"/>
              <a:ext cx="14516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10⁻², 10⁻⁴, 10⁻⁶,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10⁻⁸, 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02217" y="3478054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恒为 10⁻²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623771" y="3478054"/>
              <a:ext cx="2541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 ∞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630228" y="3900488"/>
              <a:ext cx="58188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824051" y="415337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36233" y="4040029"/>
              <a:ext cx="14516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10⁻², 10⁻⁴, 10⁻⁸,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10⁻¹⁶, 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749411" y="4040029"/>
              <a:ext cx="10939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10⁻², 10⁻⁴, 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 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98844" y="4153376"/>
              <a:ext cx="504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恒为 1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630228" y="2105025"/>
              <a:ext cx="5818822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323648" y="210502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535352" y="210502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047922" y="2105025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622608" y="4700588"/>
              <a:ext cx="5568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最快，(1) 最慢。(1)(2) 的相邻误差比是常数；(3) 的比值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越来越小，表现出更快趋于 0 的收敛过程，但误差与上一步误差平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方之比是常数。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30772" cy="909257"/>
            <a:chOff x="520446" y="342900"/>
            <a:chExt cx="81307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552825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2653" y="407194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不动点迭代法及其收敛性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307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 3.3 收敛阶：|εₖ₊₁| 与 |εₖ|ᵖ 之比趋于非零常数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642235"/>
            <a:chOff x="533400" y="1524000"/>
            <a:chExt cx="5410200" cy="26422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42235"/>
            </a:xfrm>
            <a:prstGeom prst="roundRect">
              <a:avLst>
                <a:gd name="adj" fmla="val 50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7553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635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3.3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72590" y="176879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653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设迭代格式 xₖ₊₁ = φ(xₖ) 收敛于不动点 x*，误差 εₖ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 − x*。若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84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4953000" cy="5905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ε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p>
                                  <m:e>
                                    <m:d>
                                      <m:dPr>
                                        <m:begChr m:val="|"/>
                                        <m:sepChr m:val=""/>
                                        <m:endChr m:val="|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ε</m:t>
                                            </m:r>
                                          </m:e>
                                          <m:sub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p>
                                </m:sSup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p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*</m:t>
                                        </m:r>
                                      </m:sup>
                                    </m:sSup>
                                  </m:e>
                                </m:d>
                              </m:num>
                              <m:den>
                                <m:sSup>
                                  <m:e>
                                    <m:d>
                                      <m:dPr>
                                        <m:begChr m:val="|"/>
                                        <m:sepChr m:val=""/>
                                        <m:endChr m:val="|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p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*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p>
                                </m:sSup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≠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436620"/>
              <a:ext cx="45858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则称迭代格式是 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阶收敛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的。p = 1 为线性收敛，p &gt; 1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为超线性收敛，p = 2 为平方收敛（二次收敛）。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4356735"/>
            <a:ext cx="5410200" cy="1795462"/>
            <a:chOff x="533400" y="4356735"/>
            <a:chExt cx="5410200" cy="1795462"/>
          </a:xfrm>
        </p:grpSpPr>
        <p:sp>
          <p:nvSpPr>
            <p:cNvPr id="16" name="Rectangle 16"/>
            <p:cNvSpPr/>
            <p:nvPr/>
          </p:nvSpPr>
          <p:spPr>
            <a:xfrm>
              <a:off x="533400" y="4356735"/>
              <a:ext cx="541020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63520" y="4492466"/>
              <a:ext cx="5380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 3.5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56665" y="4492466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收敛阶 p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45399" y="449246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76816" y="4941094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244644" y="494109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08426" y="494109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10⁻¹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2492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525399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276816" y="538972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44644" y="53897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08426" y="53897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10⁻²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6988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276816" y="5838349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44644" y="58383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50584" y="583834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356735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326005" y="435673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261485" y="435673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card-1"/>
          <p:cNvGrpSpPr/>
          <p:nvPr/>
        </p:nvGrpSpPr>
        <p:grpSpPr>
          <a:xfrm>
            <a:off x="6248400" y="1524000"/>
            <a:ext cx="5410200" cy="2537460"/>
            <a:chOff x="6248400" y="1524000"/>
            <a:chExt cx="5410200" cy="2537460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2537460"/>
            </a:xfrm>
            <a:prstGeom prst="roundRect">
              <a:avLst>
                <a:gd name="adj" fmla="val 52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1657350"/>
              <a:ext cx="47625" cy="227076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6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86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97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用导数判断收敛阶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88430" y="2129790"/>
              <a:ext cx="44778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设迭代收敛于 x*，φ 在 x* 附近有 p 阶连续导数：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01765" y="25279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9880" y="2465070"/>
              <a:ext cx="38530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&lt; |φ′(x*)| &lt; 1：线性收敛，C = |φ′(x*)|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01765" y="28632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9880" y="2800350"/>
              <a:ext cx="4368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φ′(x*) = … = φ⁽ᵖ⁻¹⁾(x*) = 0，φ⁽ᵖ⁾(x*) ≠ 0（p 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2）：p 阶收敛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89573" y="3418046"/>
              <a:ext cx="4442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 Taylor 展开 xₖ₊₁ − x* = φ(xₖ) − φ(x*) = φ⁽ᵖ⁾(ξₖ)(xₖ −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x*)ᵖ/p! 得到。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6248400" y="4251960"/>
            <a:ext cx="5410200" cy="1900238"/>
            <a:chOff x="6248400" y="4251960"/>
            <a:chExt cx="5410200" cy="1900238"/>
          </a:xfrm>
        </p:grpSpPr>
        <p:sp>
          <p:nvSpPr>
            <p:cNvPr id="48" name="Rectangle 48"/>
            <p:cNvSpPr/>
            <p:nvPr/>
          </p:nvSpPr>
          <p:spPr>
            <a:xfrm>
              <a:off x="6248400" y="4251960"/>
              <a:ext cx="5410200" cy="1900238"/>
            </a:xfrm>
            <a:prstGeom prst="roundRect">
              <a:avLst>
                <a:gd name="adj" fmla="val 6015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453188" y="5101592"/>
              <a:ext cx="200023" cy="200023"/>
              <a:chOff x="6453188" y="5101592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510159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86538" y="51682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755130" y="4820602"/>
              <a:ext cx="43491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不动点迭代一般只有线性收敛，例 3.4 中 C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0.567。收敛阶越高，达到同样精度的步数越少，所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以总希望找收敛阶尽量高的方法。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01868" cy="3351847"/>
            <a:chOff x="667512" y="1835468"/>
            <a:chExt cx="580186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3.5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423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迭代法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791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 f 在 xₖ 处线性化，用切线与 x 轴的交点作为新的近似根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013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公式与切线法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3.2：单根附近平方收敛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24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初值的选择：定理 3.3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割线法：用差商代替导数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00322" cy="909257"/>
            <a:chOff x="520446" y="342900"/>
            <a:chExt cx="81003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003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公式：用 Taylor 展开的线性部分代替 f(x)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085398" cy="1316355"/>
            <a:chOff x="533400" y="1524000"/>
            <a:chExt cx="5085398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23444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579" y="1769269"/>
              <a:ext cx="1097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3.5.1 基本思想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把非线性函数 f(x) 逐步线性化，从而把非线性方程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f(x) = 0 近似地转化为线性方程求解。</a:t>
              </a:r>
            </a:p>
          </p:txBody>
        </p:sp>
      </p:grpSp>
      <p:grpSp>
        <p:nvGrpSpPr>
          <p:cNvPr id="26" name="c1-steps-2"/>
          <p:cNvGrpSpPr/>
          <p:nvPr/>
        </p:nvGrpSpPr>
        <p:grpSpPr>
          <a:xfrm>
            <a:off x="533400" y="3040380"/>
            <a:ext cx="4505833" cy="2347246"/>
            <a:chOff x="533400" y="3040380"/>
            <a:chExt cx="4505833" cy="2347246"/>
          </a:xfrm>
        </p:grpSpPr>
        <p:sp>
          <p:nvSpPr>
            <p:cNvPr id="13" name="Rectangle 13"/>
            <p:cNvSpPr/>
            <p:nvPr/>
          </p:nvSpPr>
          <p:spPr>
            <a:xfrm>
              <a:off x="666750" y="3183255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04038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114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2620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000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5767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6505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07467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368516"/>
              <a:ext cx="408508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xₖ 是 f(x) = 0 的近似根，f′(xₖ) ≠ 0，把 f 在 xₖ 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Taylor 展开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9604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253389"/>
              <a:ext cx="3373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舍去二次及以上的项，f(x) 近似为一次函数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461105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903946"/>
              <a:ext cx="40932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解线性方程 f(xₖ) + f′(xₖ)(x − xₖ) = 0，把它的根记为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</a:t>
              </a:r>
            </a:p>
          </p:txBody>
        </p:sp>
      </p:grpSp>
      <p:grpSp>
        <p:nvGrpSpPr>
          <p:cNvPr id="33" name="c1-callout-3"/>
          <p:cNvGrpSpPr/>
          <p:nvPr/>
        </p:nvGrpSpPr>
        <p:grpSpPr>
          <a:xfrm>
            <a:off x="533400" y="5567362"/>
            <a:ext cx="5085398" cy="782955"/>
            <a:chOff x="533400" y="5567362"/>
            <a:chExt cx="5085398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5567362"/>
              <a:ext cx="508539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858828"/>
              <a:ext cx="200026" cy="200025"/>
              <a:chOff x="738188" y="5858828"/>
              <a:chExt cx="200026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8588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77926" y="59032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2642" y="60144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5715952"/>
              <a:ext cx="4168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引入中的开方公式就是 f(x) = x² − a 的 Newton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公式：xₖ − (xₖ² − a)/(2xₖ) = (xₖ + a/xₖ)/2。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formula89"/>
              <p:cNvSpPr txBox="1">
                <a:spLocks noGrp="1"/>
              </p:cNvSpPr>
              <p:nvPr/>
            </p:nvSpPr>
            <p:spPr>
              <a:xfrm>
                <a:off x="5923598" y="1524000"/>
                <a:ext cx="5735002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′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′′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+⋯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formula90"/>
              <p:cNvSpPr txBox="1">
                <a:spLocks noGrp="1"/>
              </p:cNvSpPr>
              <p:nvPr/>
            </p:nvSpPr>
            <p:spPr>
              <a:xfrm>
                <a:off x="5923598" y="2280285"/>
                <a:ext cx="5735002" cy="56578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ξ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!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formula91"/>
              <p:cNvSpPr txBox="1">
                <a:spLocks noGrp="1"/>
              </p:cNvSpPr>
              <p:nvPr/>
            </p:nvSpPr>
            <p:spPr>
              <a:xfrm>
                <a:off x="5923598" y="3036570"/>
                <a:ext cx="5735002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′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2" name="c2-card-4"/>
          <p:cNvGrpSpPr/>
          <p:nvPr/>
        </p:nvGrpSpPr>
        <p:grpSpPr>
          <a:xfrm>
            <a:off x="5923598" y="3684270"/>
            <a:ext cx="5735002" cy="2666048"/>
            <a:chOff x="5923598" y="3684270"/>
            <a:chExt cx="5735002" cy="2666048"/>
          </a:xfrm>
        </p:grpSpPr>
        <p:sp>
          <p:nvSpPr>
            <p:cNvPr id="37" name="Rectangle 37"/>
            <p:cNvSpPr/>
            <p:nvPr/>
          </p:nvSpPr>
          <p:spPr>
            <a:xfrm>
              <a:off x="5923598" y="3684270"/>
              <a:ext cx="5735002" cy="2666048"/>
            </a:xfrm>
            <a:prstGeom prst="roundRect">
              <a:avLst>
                <a:gd name="adj" fmla="val 5002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133148" y="3893820"/>
              <a:ext cx="191547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77965" y="3929539"/>
              <a:ext cx="1824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迭代法（切线法）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92"/>
                <p:cNvSpPr txBox="1">
                  <a:spLocks noGrp="1"/>
                </p:cNvSpPr>
                <p:nvPr/>
              </p:nvSpPr>
              <p:spPr>
                <a:xfrm>
                  <a:off x="6133148" y="4246245"/>
                  <a:ext cx="5315902" cy="6429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p>
                              <m:e>
                                <m: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8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  <m:r>
                          <a:rPr lang="zh-CN" sz="188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3.5.1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125528" y="5009198"/>
              <a:ext cx="48514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每步要计算一次函数值 f(xₖ) 和一次导数值 f′(xₖ)。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06040" cy="909257"/>
            <a:chOff x="520446" y="342900"/>
            <a:chExt cx="730604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060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几何解释：切线与 x 轴的交点就是下一个近似值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6" name="c1-graph-1"/>
          <p:cNvGrpSpPr/>
          <p:nvPr/>
        </p:nvGrpSpPr>
        <p:grpSpPr>
          <a:xfrm>
            <a:off x="694372" y="1554956"/>
            <a:ext cx="5088255" cy="4518184"/>
            <a:chOff x="694372" y="1554956"/>
            <a:chExt cx="5088255" cy="4518184"/>
          </a:xfrm>
        </p:grpSpPr>
        <p:sp>
          <p:nvSpPr>
            <p:cNvPr id="7" name="Freeform 7"/>
            <p:cNvSpPr/>
            <p:nvPr/>
          </p:nvSpPr>
          <p:spPr>
            <a:xfrm>
              <a:off x="705802" y="5336858"/>
              <a:ext cx="4970145" cy="9525"/>
            </a:xfrm>
            <a:custGeom>
              <a:avLst/>
              <a:gdLst/>
              <a:ahLst/>
              <a:cxnLst/>
              <a:rect l="l" t="t" r="r" b="b"/>
              <a:pathLst>
                <a:path w="4970145" h="9525">
                  <a:moveTo>
                    <a:pt x="0" y="0"/>
                  </a:moveTo>
                  <a:lnTo>
                    <a:pt x="497014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675948" y="52892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97280" y="1871662"/>
              <a:ext cx="9525" cy="4190048"/>
            </a:xfrm>
            <a:custGeom>
              <a:avLst/>
              <a:gdLst/>
              <a:ahLst/>
              <a:cxnLst/>
              <a:rect l="l" t="t" r="r" b="b"/>
              <a:pathLst>
                <a:path w="9525" h="4190048">
                  <a:moveTo>
                    <a:pt x="0" y="4190048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049655" y="177641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42085" y="1830705"/>
              <a:ext cx="3999548" cy="3850005"/>
            </a:xfrm>
            <a:custGeom>
              <a:avLst/>
              <a:gdLst/>
              <a:ahLst/>
              <a:cxnLst/>
              <a:rect l="l" t="t" r="r" b="b"/>
              <a:pathLst>
                <a:path w="3999548" h="3850005">
                  <a:moveTo>
                    <a:pt x="0" y="3850005"/>
                  </a:moveTo>
                  <a:lnTo>
                    <a:pt x="90488" y="3834765"/>
                  </a:lnTo>
                  <a:lnTo>
                    <a:pt x="190500" y="3815715"/>
                  </a:lnTo>
                  <a:lnTo>
                    <a:pt x="290512" y="3790950"/>
                  </a:lnTo>
                  <a:lnTo>
                    <a:pt x="391477" y="3762375"/>
                  </a:lnTo>
                  <a:lnTo>
                    <a:pt x="491490" y="3729990"/>
                  </a:lnTo>
                  <a:lnTo>
                    <a:pt x="592455" y="3693795"/>
                  </a:lnTo>
                  <a:lnTo>
                    <a:pt x="692467" y="3652838"/>
                  </a:lnTo>
                  <a:lnTo>
                    <a:pt x="792480" y="3608070"/>
                  </a:lnTo>
                  <a:lnTo>
                    <a:pt x="892492" y="3559492"/>
                  </a:lnTo>
                  <a:lnTo>
                    <a:pt x="993457" y="3506152"/>
                  </a:lnTo>
                  <a:lnTo>
                    <a:pt x="1093470" y="3449002"/>
                  </a:lnTo>
                  <a:lnTo>
                    <a:pt x="1194435" y="3388042"/>
                  </a:lnTo>
                  <a:lnTo>
                    <a:pt x="1294448" y="3322320"/>
                  </a:lnTo>
                  <a:lnTo>
                    <a:pt x="1395412" y="3252788"/>
                  </a:lnTo>
                  <a:lnTo>
                    <a:pt x="1495425" y="3179445"/>
                  </a:lnTo>
                  <a:lnTo>
                    <a:pt x="1595437" y="3101340"/>
                  </a:lnTo>
                  <a:lnTo>
                    <a:pt x="1695450" y="3018473"/>
                  </a:lnTo>
                  <a:lnTo>
                    <a:pt x="1796415" y="2932748"/>
                  </a:lnTo>
                  <a:lnTo>
                    <a:pt x="1897380" y="2843212"/>
                  </a:lnTo>
                  <a:lnTo>
                    <a:pt x="1997393" y="2747962"/>
                  </a:lnTo>
                  <a:lnTo>
                    <a:pt x="2097405" y="2649855"/>
                  </a:lnTo>
                  <a:lnTo>
                    <a:pt x="2197418" y="2546985"/>
                  </a:lnTo>
                  <a:lnTo>
                    <a:pt x="2298382" y="2440305"/>
                  </a:lnTo>
                  <a:lnTo>
                    <a:pt x="2398395" y="2328862"/>
                  </a:lnTo>
                  <a:lnTo>
                    <a:pt x="2499360" y="2213610"/>
                  </a:lnTo>
                  <a:lnTo>
                    <a:pt x="2599372" y="2094548"/>
                  </a:lnTo>
                  <a:lnTo>
                    <a:pt x="2700338" y="1971675"/>
                  </a:lnTo>
                  <a:lnTo>
                    <a:pt x="2800350" y="1844040"/>
                  </a:lnTo>
                  <a:lnTo>
                    <a:pt x="2900362" y="1711642"/>
                  </a:lnTo>
                  <a:lnTo>
                    <a:pt x="3000375" y="1576388"/>
                  </a:lnTo>
                  <a:lnTo>
                    <a:pt x="3101340" y="1436370"/>
                  </a:lnTo>
                  <a:lnTo>
                    <a:pt x="3201352" y="1292542"/>
                  </a:lnTo>
                  <a:lnTo>
                    <a:pt x="3302318" y="1143953"/>
                  </a:lnTo>
                  <a:lnTo>
                    <a:pt x="3402330" y="991553"/>
                  </a:lnTo>
                  <a:lnTo>
                    <a:pt x="3502343" y="835342"/>
                  </a:lnTo>
                  <a:lnTo>
                    <a:pt x="3603308" y="674370"/>
                  </a:lnTo>
                  <a:lnTo>
                    <a:pt x="3703320" y="510540"/>
                  </a:lnTo>
                  <a:lnTo>
                    <a:pt x="3804285" y="340995"/>
                  </a:lnTo>
                  <a:lnTo>
                    <a:pt x="3904298" y="167640"/>
                  </a:lnTo>
                  <a:lnTo>
                    <a:pt x="3999548" y="0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12068" y="2406015"/>
              <a:ext cx="9525" cy="2920365"/>
            </a:xfrm>
            <a:custGeom>
              <a:avLst/>
              <a:gdLst/>
              <a:ahLst/>
              <a:cxnLst/>
              <a:rect l="l" t="t" r="r" b="b"/>
              <a:pathLst>
                <a:path w="9525" h="2920365">
                  <a:moveTo>
                    <a:pt x="0" y="292036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3332798" y="2405062"/>
              <a:ext cx="1773555" cy="2923222"/>
            </a:xfrm>
            <a:custGeom>
              <a:avLst/>
              <a:gdLst/>
              <a:ahLst/>
              <a:cxnLst/>
              <a:rect l="l" t="t" r="r" b="b"/>
              <a:pathLst>
                <a:path w="1773555" h="2923222">
                  <a:moveTo>
                    <a:pt x="1773555" y="0"/>
                  </a:moveTo>
                  <a:lnTo>
                    <a:pt x="0" y="2923222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28035" y="4693920"/>
              <a:ext cx="9525" cy="632460"/>
            </a:xfrm>
            <a:custGeom>
              <a:avLst/>
              <a:gdLst/>
              <a:ahLst/>
              <a:cxnLst/>
              <a:rect l="l" t="t" r="r" b="b"/>
              <a:pathLst>
                <a:path w="9525" h="632460">
                  <a:moveTo>
                    <a:pt x="0" y="632460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2622232" y="4691062"/>
              <a:ext cx="698183" cy="639128"/>
            </a:xfrm>
            <a:custGeom>
              <a:avLst/>
              <a:gdLst/>
              <a:ahLst/>
              <a:cxnLst/>
              <a:rect l="l" t="t" r="r" b="b"/>
              <a:pathLst>
                <a:path w="698183" h="639128">
                  <a:moveTo>
                    <a:pt x="698183" y="0"/>
                  </a:moveTo>
                  <a:lnTo>
                    <a:pt x="0" y="639128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28035" y="4693920"/>
              <a:ext cx="9525" cy="632460"/>
            </a:xfrm>
            <a:custGeom>
              <a:avLst/>
              <a:gdLst/>
              <a:ahLst/>
              <a:cxnLst/>
              <a:rect l="l" t="t" r="r" b="b"/>
              <a:pathLst>
                <a:path w="9525" h="632460">
                  <a:moveTo>
                    <a:pt x="0" y="632460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17" name="Ellipse 17"/>
            <p:cNvSpPr/>
            <p:nvPr/>
          </p:nvSpPr>
          <p:spPr>
            <a:xfrm>
              <a:off x="694372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5780722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096328" y="607123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1096328" y="17649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430655" y="568071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5446395" y="182022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111115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5111115" y="23945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111115" y="239458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3327082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5069205" y="2352675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3327082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3327082" y="46824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3327082" y="46824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2613660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3285172" y="4640580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3327082" y="533590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3327082" y="468249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2387918" y="528923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611119" y="50220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26820" y="18378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019280" y="552973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148176" y="552973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34753" y="552973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207500" y="509444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787096" y="229885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Pₖ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845732" y="448960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Pₖ₊₁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769919" y="1554956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78058" y="38747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切线</a:t>
              </a:r>
            </a:p>
          </p:txBody>
        </p:sp>
      </p:grpSp>
      <p:grpSp>
        <p:nvGrpSpPr>
          <p:cNvPr id="52" name="c2-card-1"/>
          <p:cNvGrpSpPr/>
          <p:nvPr/>
        </p:nvGrpSpPr>
        <p:grpSpPr>
          <a:xfrm>
            <a:off x="6248400" y="1524000"/>
            <a:ext cx="5410200" cy="1817370"/>
            <a:chOff x="6248400" y="1524000"/>
            <a:chExt cx="5410200" cy="1817370"/>
          </a:xfrm>
        </p:grpSpPr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1817370"/>
            </a:xfrm>
            <a:prstGeom prst="roundRect">
              <a:avLst>
                <a:gd name="adj" fmla="val 73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57925" y="1657350"/>
              <a:ext cx="47625" cy="155067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90335" y="1727835"/>
              <a:ext cx="123444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58864" y="1763554"/>
              <a:ext cx="1097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3.5.2 几何意义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83096" y="2100739"/>
              <a:ext cx="4721352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 x* 是曲线 y = f(x) 与 x 轴交点的横坐标。过 Pₖ = (xₖ,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f(xₖ)) 作切线 y = f(xₖ) + f′(xₖ)(x − xₖ)，令 y = 0 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到的横坐标就是 xₖ₊₁。一次次用切线代替曲线求根，所以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法也叫</a:t>
              </a: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切线法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248400" y="3527108"/>
            <a:ext cx="5410200" cy="2744152"/>
            <a:chOff x="6248400" y="3527108"/>
            <a:chExt cx="5410200" cy="2744152"/>
          </a:xfrm>
        </p:grpSpPr>
        <p:sp>
          <p:nvSpPr>
            <p:cNvPr id="53" name="Rectangle 53"/>
            <p:cNvSpPr/>
            <p:nvPr/>
          </p:nvSpPr>
          <p:spPr>
            <a:xfrm>
              <a:off x="6248400" y="3527108"/>
              <a:ext cx="5410200" cy="2744152"/>
            </a:xfrm>
            <a:prstGeom prst="roundRect">
              <a:avLst>
                <a:gd name="adj" fmla="val 48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257925" y="3660458"/>
              <a:ext cx="47625" cy="247745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90335" y="3730942"/>
              <a:ext cx="16611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46062" y="3766661"/>
              <a:ext cx="15497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3.5.3 看成不动点迭代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83096" y="4103846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f′(x) ≠ 0 时，Newton 法就是取下面迭代函数的不动点迭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formula95"/>
                <p:cNvSpPr txBox="1">
                  <a:spLocks noGrp="1"/>
                </p:cNvSpPr>
                <p:nvPr/>
              </p:nvSpPr>
              <p:spPr>
                <a:xfrm>
                  <a:off x="6490335" y="4672012"/>
                  <a:ext cx="496443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φ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num>
                          <m:den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φ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num>
                          <m:den>
                            <m:sSup>
                              <m:e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f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59" name="TextBox 59"/>
            <p:cNvSpPr txBox="1"/>
            <p:nvPr/>
          </p:nvSpPr>
          <p:spPr>
            <a:xfrm>
              <a:off x="6483096" y="5302091"/>
              <a:ext cx="468528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单根处 f(x*) = 0 而 f′(x*) ≠ 0，所以 </a:t>
              </a:r>
              <a:r>
                <a:rPr lang="el-GR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φ′(x*) = 0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。一般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的不动点迭代只有线性收敛，Newton 法在一定条件下可达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平方收敛。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39914" cy="909257"/>
            <a:chOff x="520446" y="342900"/>
            <a:chExt cx="63399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399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3.2：单根附近 Newton 法平方收敛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869180" cy="2930842"/>
            <a:chOff x="533400" y="1524000"/>
            <a:chExt cx="4869180" cy="29308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930842"/>
            </a:xfrm>
            <a:prstGeom prst="roundRect">
              <a:avLst>
                <a:gd name="adj" fmla="val 45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6414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44" y="175069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10279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f(x) 在根 x* 附近二阶连续可导，且 f′(x*) ≠ 0，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则存在 x* 的邻域 D = {x | |x − x*| ≤ δ}，使对任意 x₀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∈ D，Newton 迭代 (3.5.1) 产生的 {xₖ} 收敛到 x*，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00"/>
                <p:cNvSpPr txBox="1">
                  <a:spLocks noGrp="1"/>
                </p:cNvSpPr>
                <p:nvPr/>
              </p:nvSpPr>
              <p:spPr>
                <a:xfrm>
                  <a:off x="763905" y="3125152"/>
                  <a:ext cx="4446270" cy="56102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p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e>
                                            <m: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*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−</m:t>
                                        </m:r>
                                        <m:sSub>
                                          <m:e>
                                            <m: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num>
                          <m:den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′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*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3.5.2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7047" y="3794760"/>
              <a:ext cx="38541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Newton 法是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平方收敛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的（f″(x*) = 0 时阶数更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高）。</a:t>
              </a:r>
            </a:p>
          </p:txBody>
        </p:sp>
      </p:grpSp>
      <p:grpSp>
        <p:nvGrpSpPr>
          <p:cNvPr id="21" name="c1-callout-2"/>
          <p:cNvGrpSpPr/>
          <p:nvPr/>
        </p:nvGrpSpPr>
        <p:grpSpPr>
          <a:xfrm>
            <a:off x="533400" y="4630102"/>
            <a:ext cx="4869180" cy="744855"/>
            <a:chOff x="533400" y="4630102"/>
            <a:chExt cx="4869180" cy="744855"/>
          </a:xfrm>
        </p:grpSpPr>
        <p:sp>
          <p:nvSpPr>
            <p:cNvPr id="15" name="Rectangle 15"/>
            <p:cNvSpPr/>
            <p:nvPr/>
          </p:nvSpPr>
          <p:spPr>
            <a:xfrm>
              <a:off x="533400" y="4630102"/>
              <a:ext cx="4869180" cy="744855"/>
            </a:xfrm>
            <a:prstGeom prst="roundRect">
              <a:avLst>
                <a:gd name="adj" fmla="val 1534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26129" y="4898826"/>
              <a:ext cx="224134" cy="192560"/>
              <a:chOff x="726129" y="4898826"/>
              <a:chExt cx="224134" cy="19256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38200" y="496919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26129" y="489882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38200" y="504698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892" y="4784408"/>
              <a:ext cx="36827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这是局部收敛定理：只保证 x₀ 离 x* 足够近时收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敛，初值选得不好可能发散（见例 3.6）。</a:t>
              </a:r>
            </a:p>
          </p:txBody>
        </p:sp>
      </p:grpSp>
      <p:grpSp>
        <p:nvGrpSpPr>
          <p:cNvPr id="39" name="c2-steps-1"/>
          <p:cNvGrpSpPr/>
          <p:nvPr/>
        </p:nvGrpSpPr>
        <p:grpSpPr>
          <a:xfrm>
            <a:off x="5707380" y="1533525"/>
            <a:ext cx="6033623" cy="2694147"/>
            <a:chOff x="5707380" y="1533525"/>
            <a:chExt cx="6033623" cy="2694147"/>
          </a:xfrm>
        </p:grpSpPr>
        <p:sp>
          <p:nvSpPr>
            <p:cNvPr id="22" name="Rectangle 22"/>
            <p:cNvSpPr/>
            <p:nvPr/>
          </p:nvSpPr>
          <p:spPr>
            <a:xfrm>
              <a:off x="5840730" y="1676400"/>
              <a:ext cx="19050" cy="21755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707380" y="232791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01004" y="24017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707380" y="312134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801004" y="31951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707380" y="370903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01004" y="37828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19622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20765" y="1833086"/>
              <a:ext cx="521741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φ(x) = x − f(x)/f′(x) 满足 φ′(x*) = 0。由连续性，存在邻域 D，D 内 f′(x) ≠ 0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且 |φ′(x)| ≤ L &lt; 1，由局部收敛定理得 {xₖ} 收敛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19622" y="2359342"/>
              <a:ext cx="10650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xₖ 处展开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20765" y="2627471"/>
              <a:ext cx="528142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= f(x*) = f(xₖ) + (x* − xₖ)f′(xₖ) + ½(x* − xₖ)²f″(ξₖ)，ξₖ 介于 xₖ 与 x* 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19622" y="3153727"/>
              <a:ext cx="16666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除以 f′(xₖ) 并移项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20765" y="3420904"/>
              <a:ext cx="5620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− [xₖ − f(xₖ)/f′(xₖ)] = −f″(ξₖ)(x* − xₖ)²/(2f′(xₖ))，方括号内正是 xₖ₊₁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19622" y="3740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取极限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20765" y="4007644"/>
              <a:ext cx="4006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→ ∞ 时 xₖ → x*、ξₖ → x*，由 f′、f″ 的连续性得 (3.5.2)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5707380" y="4396740"/>
            <a:ext cx="5951220" cy="978218"/>
            <a:chOff x="5707380" y="4396740"/>
            <a:chExt cx="5951220" cy="978218"/>
          </a:xfrm>
        </p:grpSpPr>
        <p:sp>
          <p:nvSpPr>
            <p:cNvPr id="40" name="Rectangle 40"/>
            <p:cNvSpPr/>
            <p:nvPr/>
          </p:nvSpPr>
          <p:spPr>
            <a:xfrm>
              <a:off x="5707380" y="4396740"/>
              <a:ext cx="595122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912168" y="4786313"/>
              <a:ext cx="200026" cy="200025"/>
              <a:chOff x="5912168" y="4786313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912168" y="47863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951906" y="48307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986622" y="49418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14872" y="4543425"/>
              <a:ext cx="450570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 3.6（x₀ = 1）：误差 eₖ = x* − xₖ 依次为 1.08×10⁻²、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2.58×10⁻⁵、1.47×10⁻¹⁰；eₖ/eₖ₋₁² 为 0.231、0.220、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0.2209，趋于 −f″(x*)/(2f′(x*)) = 0.2209。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47" name="Rectangle 47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897880"/>
              <a:ext cx="200026" cy="200026"/>
              <a:chOff x="738188" y="5897880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7088" y="5997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5779770"/>
              <a:ext cx="98549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定理要求 f′(x*) ≠ 0。若 x* 是 m 重根（m ≥ 2），φ′(x*) = 1 − 1/m，Newton 法只有线性收敛：对 (x − 1)²(x + 2) = 0 从 x₀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出发，相邻误差比依次为 0.556、0.536、0.522、0.512，趋于 1/2。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379239" cy="909257"/>
            <a:chOff x="520446" y="342900"/>
            <a:chExt cx="103792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37923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3.6 Newton 法求 exp(−x/4)(2 − x) − 1 = 0 在 [0, 2] 内的根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857582" cy="1693069"/>
            <a:chOff x="533400" y="1533525"/>
            <a:chExt cx="4857582" cy="169306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有根区间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1833086"/>
              <a:ext cx="3871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f(0) = 1 &gt; 0，f(2) = −1 &lt; 0，f(x) = 0 在 [0, 2] 内有根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1526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419826"/>
              <a:ext cx="4444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f′(x) = −¼exp(−x/4)(2 − x) − exp(−x/4) = ¼(x − 6)exp(−x/4)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7393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迭代格式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00656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(3.5.1)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105"/>
              <p:cNvSpPr txBox="1">
                <a:spLocks noGrp="1"/>
              </p:cNvSpPr>
              <p:nvPr/>
            </p:nvSpPr>
            <p:spPr>
              <a:xfrm>
                <a:off x="533400" y="3395662"/>
                <a:ext cx="5085398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f>
                            <m:fPr>
                              <m:type m:val="bar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</m:t>
                              </m:r>
                            </m:e>
                          </m:d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,⋯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7" name="c1-card-3"/>
          <p:cNvGrpSpPr/>
          <p:nvPr/>
        </p:nvGrpSpPr>
        <p:grpSpPr>
          <a:xfrm>
            <a:off x="533400" y="4085272"/>
            <a:ext cx="5085398" cy="2159318"/>
            <a:chOff x="533400" y="4085272"/>
            <a:chExt cx="5085398" cy="2159318"/>
          </a:xfrm>
        </p:grpSpPr>
        <p:sp>
          <p:nvSpPr>
            <p:cNvPr id="22" name="Rectangle 22"/>
            <p:cNvSpPr/>
            <p:nvPr/>
          </p:nvSpPr>
          <p:spPr>
            <a:xfrm>
              <a:off x="533400" y="4085272"/>
              <a:ext cx="5085398" cy="2159318"/>
            </a:xfrm>
            <a:prstGeom prst="roundRect">
              <a:avLst>
                <a:gd name="adj" fmla="val 61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218622"/>
              <a:ext cx="47625" cy="18926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277678"/>
              <a:ext cx="126873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73" y="4311968"/>
              <a:ext cx="11329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第一步（x₀ = 1）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7047" y="4633912"/>
              <a:ext cx="39227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f(1) = −0.221199，f′(1) = −0.973501，x₁ = 1 −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(−0.221199)/(−0.973501) = 0.772780</a:t>
              </a:r>
            </a:p>
          </p:txBody>
        </p:sp>
      </p:grpSp>
      <p:grpSp>
        <p:nvGrpSpPr>
          <p:cNvPr id="69" name="c2-table-1"/>
          <p:cNvGrpSpPr/>
          <p:nvPr/>
        </p:nvGrpSpPr>
        <p:grpSpPr>
          <a:xfrm>
            <a:off x="5918264" y="1524000"/>
            <a:ext cx="5740336" cy="3120009"/>
            <a:chOff x="5918264" y="1524000"/>
            <a:chExt cx="5740336" cy="3120009"/>
          </a:xfrm>
        </p:grpSpPr>
        <p:sp>
          <p:nvSpPr>
            <p:cNvPr id="28" name="Rectangle 28"/>
            <p:cNvSpPr/>
            <p:nvPr/>
          </p:nvSpPr>
          <p:spPr>
            <a:xfrm>
              <a:off x="5923598" y="1524000"/>
              <a:ext cx="573500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44881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08432" y="1648301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= 1.0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864817" y="1648301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= 3.0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04069" y="1648301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x₀ = 8.0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44881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92754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049139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688391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923598" y="233076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923598" y="2335530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44881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85439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0.772780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00361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−1.156000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39613" y="245983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34.778112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923598" y="273653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4881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85439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0.783570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841824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0.189438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98150" y="2865596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869.152842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923598" y="314229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923598" y="3147060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4881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874192" y="3156585"/>
              <a:ext cx="149637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85439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0.783596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41824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0.714043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62006" y="327136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发散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923598" y="3548062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44881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85439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0.783596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41824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0.782542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23598" y="395382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923598" y="3958590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44881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89620" y="3968115"/>
              <a:ext cx="1579245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841824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0.783596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923598" y="1524000"/>
              <a:ext cx="5735002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859905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37533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97362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918264" y="4438650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x₀ = 1.0 时 f(x₃) ≈ 1.6×10⁻¹⁰；x₀ = 3.0 时 f(x₅) ≈ 2.6×10⁻⁷</a:t>
              </a:r>
            </a:p>
          </p:txBody>
        </p:sp>
      </p:grpSp>
      <p:grpSp>
        <p:nvGrpSpPr>
          <p:cNvPr id="75" name="c2-card-2"/>
          <p:cNvGrpSpPr/>
          <p:nvPr/>
        </p:nvGrpSpPr>
        <p:grpSpPr>
          <a:xfrm>
            <a:off x="5923598" y="4777740"/>
            <a:ext cx="5735002" cy="1466850"/>
            <a:chOff x="5923598" y="4777740"/>
            <a:chExt cx="5735002" cy="1466850"/>
          </a:xfrm>
        </p:grpSpPr>
        <p:sp>
          <p:nvSpPr>
            <p:cNvPr id="70" name="Rectangle 70"/>
            <p:cNvSpPr/>
            <p:nvPr/>
          </p:nvSpPr>
          <p:spPr>
            <a:xfrm>
              <a:off x="5923598" y="4777740"/>
              <a:ext cx="5735002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5933122" y="491109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154102" y="49701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245542" y="50044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147244" y="5327333"/>
              <a:ext cx="50114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原课件左列标为 x₀ = 1.0，但所列 −1.15599、0.189433、… 是从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3.0 出发的结果；从 1.0 出发第一步应得 0.772780。本表分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成两列。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35784" cy="909257"/>
            <a:chOff x="520446" y="342900"/>
            <a:chExt cx="66357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357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初值不同结果不同：x₀ = 8 处切线几乎水平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c1-graph-1"/>
          <p:cNvGrpSpPr/>
          <p:nvPr/>
        </p:nvGrpSpPr>
        <p:grpSpPr>
          <a:xfrm>
            <a:off x="714375" y="1764982"/>
            <a:ext cx="5697855" cy="4451509"/>
            <a:chOff x="714375" y="1764982"/>
            <a:chExt cx="5697855" cy="4451509"/>
          </a:xfrm>
        </p:grpSpPr>
        <p:sp>
          <p:nvSpPr>
            <p:cNvPr id="7" name="Freeform 7"/>
            <p:cNvSpPr/>
            <p:nvPr/>
          </p:nvSpPr>
          <p:spPr>
            <a:xfrm>
              <a:off x="725805" y="4627245"/>
              <a:ext cx="5579745" cy="9525"/>
            </a:xfrm>
            <a:custGeom>
              <a:avLst/>
              <a:gdLst/>
              <a:ahLst/>
              <a:cxnLst/>
              <a:rect l="l" t="t" r="r" b="b"/>
              <a:pathLst>
                <a:path w="5579745" h="9525">
                  <a:moveTo>
                    <a:pt x="0" y="0"/>
                  </a:moveTo>
                  <a:lnTo>
                    <a:pt x="5579745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6305550" y="45796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578292" y="1871662"/>
              <a:ext cx="9525" cy="4238625"/>
            </a:xfrm>
            <a:custGeom>
              <a:avLst/>
              <a:gdLst/>
              <a:ahLst/>
              <a:cxnLst/>
              <a:rect l="l" t="t" r="r" b="b"/>
              <a:pathLst>
                <a:path w="9525" h="4238625">
                  <a:moveTo>
                    <a:pt x="0" y="4238625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30668" y="177641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890588" y="1919288"/>
              <a:ext cx="5423535" cy="3885248"/>
            </a:xfrm>
            <a:custGeom>
              <a:avLst/>
              <a:gdLst/>
              <a:ahLst/>
              <a:cxnLst/>
              <a:rect l="l" t="t" r="r" b="b"/>
              <a:pathLst>
                <a:path w="5423535" h="3885248">
                  <a:moveTo>
                    <a:pt x="0" y="0"/>
                  </a:moveTo>
                  <a:lnTo>
                    <a:pt x="87630" y="344805"/>
                  </a:lnTo>
                  <a:lnTo>
                    <a:pt x="178118" y="673417"/>
                  </a:lnTo>
                  <a:lnTo>
                    <a:pt x="268605" y="975360"/>
                  </a:lnTo>
                  <a:lnTo>
                    <a:pt x="360045" y="1254442"/>
                  </a:lnTo>
                  <a:lnTo>
                    <a:pt x="450533" y="1510665"/>
                  </a:lnTo>
                  <a:lnTo>
                    <a:pt x="541020" y="1745932"/>
                  </a:lnTo>
                  <a:lnTo>
                    <a:pt x="631508" y="1961197"/>
                  </a:lnTo>
                  <a:lnTo>
                    <a:pt x="721995" y="2159318"/>
                  </a:lnTo>
                  <a:lnTo>
                    <a:pt x="812483" y="2341245"/>
                  </a:lnTo>
                  <a:lnTo>
                    <a:pt x="902970" y="2506980"/>
                  </a:lnTo>
                  <a:lnTo>
                    <a:pt x="994410" y="2658428"/>
                  </a:lnTo>
                  <a:lnTo>
                    <a:pt x="1083945" y="2796540"/>
                  </a:lnTo>
                  <a:lnTo>
                    <a:pt x="1175385" y="2922270"/>
                  </a:lnTo>
                  <a:lnTo>
                    <a:pt x="1265872" y="3036570"/>
                  </a:lnTo>
                  <a:lnTo>
                    <a:pt x="1356360" y="3140393"/>
                  </a:lnTo>
                  <a:lnTo>
                    <a:pt x="1446848" y="3234690"/>
                  </a:lnTo>
                  <a:lnTo>
                    <a:pt x="1537335" y="3318510"/>
                  </a:lnTo>
                  <a:lnTo>
                    <a:pt x="1628775" y="3395662"/>
                  </a:lnTo>
                  <a:lnTo>
                    <a:pt x="1718310" y="3464243"/>
                  </a:lnTo>
                  <a:lnTo>
                    <a:pt x="1809750" y="3525202"/>
                  </a:lnTo>
                  <a:lnTo>
                    <a:pt x="1900238" y="3580448"/>
                  </a:lnTo>
                  <a:lnTo>
                    <a:pt x="1990725" y="3629025"/>
                  </a:lnTo>
                  <a:lnTo>
                    <a:pt x="2081212" y="3671888"/>
                  </a:lnTo>
                  <a:lnTo>
                    <a:pt x="2171700" y="3709035"/>
                  </a:lnTo>
                  <a:lnTo>
                    <a:pt x="2262188" y="3742372"/>
                  </a:lnTo>
                  <a:lnTo>
                    <a:pt x="2353628" y="3770948"/>
                  </a:lnTo>
                  <a:lnTo>
                    <a:pt x="2444115" y="3795712"/>
                  </a:lnTo>
                  <a:lnTo>
                    <a:pt x="2534602" y="3817620"/>
                  </a:lnTo>
                  <a:lnTo>
                    <a:pt x="2625090" y="3834765"/>
                  </a:lnTo>
                  <a:lnTo>
                    <a:pt x="2715578" y="3849052"/>
                  </a:lnTo>
                  <a:lnTo>
                    <a:pt x="2806065" y="3860482"/>
                  </a:lnTo>
                  <a:lnTo>
                    <a:pt x="2896552" y="3870007"/>
                  </a:lnTo>
                  <a:lnTo>
                    <a:pt x="2987992" y="3877628"/>
                  </a:lnTo>
                  <a:lnTo>
                    <a:pt x="3077528" y="3881438"/>
                  </a:lnTo>
                  <a:lnTo>
                    <a:pt x="3168968" y="3884295"/>
                  </a:lnTo>
                  <a:lnTo>
                    <a:pt x="3259455" y="3885248"/>
                  </a:lnTo>
                  <a:lnTo>
                    <a:pt x="3349942" y="3885248"/>
                  </a:lnTo>
                  <a:lnTo>
                    <a:pt x="3440430" y="3883343"/>
                  </a:lnTo>
                  <a:lnTo>
                    <a:pt x="3530918" y="3880485"/>
                  </a:lnTo>
                  <a:lnTo>
                    <a:pt x="3622358" y="3875722"/>
                  </a:lnTo>
                  <a:lnTo>
                    <a:pt x="3711892" y="3870960"/>
                  </a:lnTo>
                  <a:lnTo>
                    <a:pt x="3803332" y="3864293"/>
                  </a:lnTo>
                  <a:lnTo>
                    <a:pt x="3893820" y="3857625"/>
                  </a:lnTo>
                  <a:lnTo>
                    <a:pt x="3984308" y="3850005"/>
                  </a:lnTo>
                  <a:lnTo>
                    <a:pt x="4074795" y="3842385"/>
                  </a:lnTo>
                  <a:lnTo>
                    <a:pt x="4165282" y="3832860"/>
                  </a:lnTo>
                  <a:lnTo>
                    <a:pt x="4255770" y="3824288"/>
                  </a:lnTo>
                  <a:lnTo>
                    <a:pt x="4347210" y="3814762"/>
                  </a:lnTo>
                  <a:lnTo>
                    <a:pt x="4437698" y="3804285"/>
                  </a:lnTo>
                  <a:lnTo>
                    <a:pt x="4528185" y="3794760"/>
                  </a:lnTo>
                  <a:lnTo>
                    <a:pt x="4618672" y="3784282"/>
                  </a:lnTo>
                  <a:lnTo>
                    <a:pt x="4709160" y="3773805"/>
                  </a:lnTo>
                  <a:lnTo>
                    <a:pt x="4799648" y="3763328"/>
                  </a:lnTo>
                  <a:lnTo>
                    <a:pt x="4890135" y="3752850"/>
                  </a:lnTo>
                  <a:lnTo>
                    <a:pt x="4981575" y="3741420"/>
                  </a:lnTo>
                  <a:lnTo>
                    <a:pt x="5071110" y="3730943"/>
                  </a:lnTo>
                  <a:lnTo>
                    <a:pt x="5162550" y="3720465"/>
                  </a:lnTo>
                  <a:lnTo>
                    <a:pt x="5253038" y="3709035"/>
                  </a:lnTo>
                  <a:lnTo>
                    <a:pt x="5343525" y="3698557"/>
                  </a:lnTo>
                  <a:lnTo>
                    <a:pt x="5423535" y="3689985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872740" y="4637722"/>
              <a:ext cx="9525" cy="895350"/>
            </a:xfrm>
            <a:custGeom>
              <a:avLst/>
              <a:gdLst/>
              <a:ahLst/>
              <a:cxnLst/>
              <a:rect l="l" t="t" r="r" b="b"/>
              <a:pathLst>
                <a:path w="9525" h="895350">
                  <a:moveTo>
                    <a:pt x="0" y="0"/>
                  </a:moveTo>
                  <a:lnTo>
                    <a:pt x="0" y="895350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1088708" y="4632008"/>
              <a:ext cx="1774508" cy="906780"/>
            </a:xfrm>
            <a:custGeom>
              <a:avLst/>
              <a:gdLst/>
              <a:ahLst/>
              <a:cxnLst/>
              <a:rect l="l" t="t" r="r" b="b"/>
              <a:pathLst>
                <a:path w="1774508" h="906780">
                  <a:moveTo>
                    <a:pt x="1774508" y="906780"/>
                  </a:moveTo>
                  <a:lnTo>
                    <a:pt x="0" y="0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030152" y="4637722"/>
              <a:ext cx="9525" cy="1106805"/>
            </a:xfrm>
            <a:custGeom>
              <a:avLst/>
              <a:gdLst/>
              <a:ahLst/>
              <a:cxnLst/>
              <a:rect l="l" t="t" r="r" b="b"/>
              <a:pathLst>
                <a:path w="9525" h="1106805">
                  <a:moveTo>
                    <a:pt x="0" y="0"/>
                  </a:moveTo>
                  <a:lnTo>
                    <a:pt x="0" y="1106805"/>
                  </a:lnTo>
                </a:path>
              </a:pathLst>
            </a:custGeom>
            <a:noFill/>
            <a:ln w="10478">
              <a:solidFill>
                <a:srgbClr val="5B6475"/>
              </a:solidFill>
              <a:custDash>
                <a:ds d="545455" sp="363636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5040630" y="5638800"/>
              <a:ext cx="1179195" cy="115253"/>
            </a:xfrm>
            <a:custGeom>
              <a:avLst/>
              <a:gdLst/>
              <a:ahLst/>
              <a:cxnLst/>
              <a:rect l="l" t="t" r="r" b="b"/>
              <a:pathLst>
                <a:path w="1179195" h="115253">
                  <a:moveTo>
                    <a:pt x="0" y="115253"/>
                  </a:moveTo>
                  <a:lnTo>
                    <a:pt x="1179195" y="0"/>
                  </a:lnTo>
                </a:path>
              </a:pathLst>
            </a:custGeom>
            <a:noFill/>
            <a:ln w="20955">
              <a:solidFill>
                <a:srgbClr val="B4231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215062" y="5591175"/>
              <a:ext cx="99060" cy="95250"/>
            </a:xfrm>
            <a:custGeom>
              <a:avLst/>
              <a:gdLst/>
              <a:ahLst/>
              <a:cxnLst/>
              <a:rect l="l" t="t" r="r" b="b"/>
              <a:pathLst>
                <a:path w="99060" h="95250">
                  <a:moveTo>
                    <a:pt x="99060" y="38100"/>
                  </a:moveTo>
                  <a:lnTo>
                    <a:pt x="9525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714375" y="46262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6410325" y="46262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1577340" y="61198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1577340" y="176498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886778" y="190785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323648" y="560736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2871788" y="46262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2871788" y="55425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2871788" y="55425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1078230" y="46262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2829878" y="5500688"/>
              <a:ext cx="85725" cy="8572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1041082" y="4589145"/>
              <a:ext cx="76200" cy="762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5029200" y="462629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5029200" y="57540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029200" y="57540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6323648" y="5627370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4987290" y="5712142"/>
              <a:ext cx="85725" cy="85725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4129088" y="5767388"/>
              <a:ext cx="76200" cy="7620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864042" y="4574858"/>
              <a:ext cx="104775" cy="10477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2324" y="432863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724787" y="185404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89875" y="4409122"/>
              <a:ext cx="3657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x₀ = 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21396" y="4409122"/>
              <a:ext cx="715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x₁ = −1.156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47288" y="4409122"/>
              <a:ext cx="3657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x₀ = 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11727" y="5399246"/>
              <a:ext cx="107477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切线与 x 轴交于 34.8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856097" y="6054566"/>
              <a:ext cx="62218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最低点 x = 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002155" y="4143375"/>
              <a:ext cx="7155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 ≈ 0.7836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1092" y="2199322"/>
              <a:ext cx="50566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898005" y="1524000"/>
            <a:ext cx="4760595" cy="1185862"/>
            <a:chOff x="6898005" y="1524000"/>
            <a:chExt cx="4760595" cy="1185862"/>
          </a:xfrm>
        </p:grpSpPr>
        <p:sp>
          <p:nvSpPr>
            <p:cNvPr id="46" name="Rectangle 46"/>
            <p:cNvSpPr/>
            <p:nvPr/>
          </p:nvSpPr>
          <p:spPr>
            <a:xfrm>
              <a:off x="6898005" y="1524000"/>
              <a:ext cx="476059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907530" y="165735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22795" y="1710690"/>
              <a:ext cx="71913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06813" y="1743551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x₀ = 3.0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15937" y="2054542"/>
              <a:ext cx="41713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切线斜率 f′(3) = −0.354，切线与 x 轴交于 −1.156，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先跳到根的另一侧，之后逐步回到 x*。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898005" y="2879408"/>
            <a:ext cx="4760595" cy="1443038"/>
            <a:chOff x="6898005" y="2879408"/>
            <a:chExt cx="4760595" cy="1443038"/>
          </a:xfrm>
        </p:grpSpPr>
        <p:sp>
          <p:nvSpPr>
            <p:cNvPr id="52" name="Rectangle 52"/>
            <p:cNvSpPr/>
            <p:nvPr/>
          </p:nvSpPr>
          <p:spPr>
            <a:xfrm>
              <a:off x="6898005" y="2879408"/>
              <a:ext cx="476059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907530" y="301275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122795" y="3066098"/>
              <a:ext cx="71913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06813" y="3098959"/>
              <a:ext cx="5501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x₀ = 8.0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115937" y="3410902"/>
              <a:ext cx="41799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在 x = 6 处取最小值。x &gt; 6 时 f′(x) &gt; 0 且很小，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f′(8) = 0.068，切线与 x 轴交于 34.8；x 越大 f 越接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 −1、切线越平，迭代一路发散。</a:t>
              </a:r>
            </a:p>
          </p:txBody>
        </p:sp>
      </p:grpSp>
      <p:grpSp>
        <p:nvGrpSpPr>
          <p:cNvPr id="77" name="c2-table-3"/>
          <p:cNvGrpSpPr/>
          <p:nvPr/>
        </p:nvGrpSpPr>
        <p:grpSpPr>
          <a:xfrm>
            <a:off x="6893052" y="4491990"/>
            <a:ext cx="4765548" cy="1864709"/>
            <a:chOff x="6893052" y="4491990"/>
            <a:chExt cx="4765548" cy="1864709"/>
          </a:xfrm>
        </p:grpSpPr>
        <p:sp>
          <p:nvSpPr>
            <p:cNvPr id="58" name="Rectangle 58"/>
            <p:cNvSpPr/>
            <p:nvPr/>
          </p:nvSpPr>
          <p:spPr>
            <a:xfrm>
              <a:off x="6898005" y="4491990"/>
              <a:ext cx="4760595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303096" y="46134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69243" y="4613434"/>
              <a:ext cx="1642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eₖ = x* − xₖ（x₀ = 1）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562599" y="4613434"/>
              <a:ext cx="708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eₖ/eₖ₋₁²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03096" y="50134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11766" y="501348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1.08×10⁻²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898005" y="52873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898005" y="529209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303096" y="54135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611766" y="541353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2.58×10⁻⁵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703573" y="541353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0.220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898005" y="568737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303096" y="58135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570303" y="581358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1.47×10⁻¹⁰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03573" y="581358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0.221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898005" y="4491990"/>
              <a:ext cx="476059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7802880" y="449199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10168890" y="449199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893052" y="6166009"/>
              <a:ext cx="34861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比值趋于 −f″(x*)/(2f′(x*)) = 0.2209，与定理 3.2 一致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01819" cy="909257"/>
            <a:chOff x="520446" y="342900"/>
            <a:chExt cx="94018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018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3.3：选 x₀ 使 f(x₀)f″(x₀) &gt; 0，Newton 迭代必收敛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410200" cy="3266122"/>
            <a:chOff x="533400" y="1524000"/>
            <a:chExt cx="5410200" cy="32661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266122"/>
            </a:xfrm>
            <a:prstGeom prst="roundRect">
              <a:avLst>
                <a:gd name="adj" fmla="val 40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99942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44" y="175069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35485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f(x) 在 [a, b] 上二阶连续可导，且满足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3905" y="2363152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583" y="24015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4702" y="2375535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f(a)·f(b) &lt; 0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3905" y="266604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9583" y="270443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4702" y="2678430"/>
              <a:ext cx="18674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f′(x) ≠ 0，x ∈ [a, b]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3905" y="2967990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9583" y="30073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4702" y="2980372"/>
              <a:ext cx="21400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f″(x) 在 [a, b] 上不变号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32832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则对任意 x₀ ∈ [a, b]，只要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110"/>
                <p:cNvSpPr txBox="1">
                  <a:spLocks noGrp="1"/>
                </p:cNvSpPr>
                <p:nvPr/>
              </p:nvSpPr>
              <p:spPr>
                <a:xfrm>
                  <a:off x="763905" y="3563302"/>
                  <a:ext cx="498729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TextBox 23"/>
            <p:cNvSpPr txBox="1"/>
            <p:nvPr/>
          </p:nvSpPr>
          <p:spPr>
            <a:xfrm>
              <a:off x="757047" y="4129088"/>
              <a:ext cx="44885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x₀ 为初值的 Newton 序列 {xₖ} 必定收敛到 f(x) = 0 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[a, b] 内的唯一实根 x*。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965382"/>
            <a:ext cx="5410200" cy="1283018"/>
            <a:chOff x="533400" y="4965382"/>
            <a:chExt cx="5410200" cy="1283018"/>
          </a:xfrm>
        </p:grpSpPr>
        <p:sp>
          <p:nvSpPr>
            <p:cNvPr id="25" name="Rectangle 25"/>
            <p:cNvSpPr/>
            <p:nvPr/>
          </p:nvSpPr>
          <p:spPr>
            <a:xfrm>
              <a:off x="533400" y="4965382"/>
              <a:ext cx="5410200" cy="1283018"/>
            </a:xfrm>
            <a:prstGeom prst="roundRect">
              <a:avLst>
                <a:gd name="adj" fmla="val 890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506403"/>
              <a:ext cx="200026" cy="200026"/>
              <a:chOff x="738188" y="5506403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5064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55730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56064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892" y="5387340"/>
              <a:ext cx="43942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直观理解：f(x₀) 与 f″ 同号时，x₁ 落在 x₀ 与 x* 之间且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不越过 x*，以后每一步都如此，序列单调地逼近 x*。</a:t>
              </a:r>
            </a:p>
          </p:txBody>
        </p:sp>
      </p:grpSp>
      <p:grpSp>
        <p:nvGrpSpPr>
          <p:cNvPr id="46" name="c2-card-1"/>
          <p:cNvGrpSpPr/>
          <p:nvPr/>
        </p:nvGrpSpPr>
        <p:grpSpPr>
          <a:xfrm>
            <a:off x="6248400" y="1524000"/>
            <a:ext cx="5410200" cy="1821180"/>
            <a:chOff x="6248400" y="1524000"/>
            <a:chExt cx="5410200" cy="1821180"/>
          </a:xfrm>
        </p:grpSpPr>
        <p:sp>
          <p:nvSpPr>
            <p:cNvPr id="32" name="Rectangle 32"/>
            <p:cNvSpPr/>
            <p:nvPr/>
          </p:nvSpPr>
          <p:spPr>
            <a:xfrm>
              <a:off x="6248400" y="1524000"/>
              <a:ext cx="5410200" cy="1821180"/>
            </a:xfrm>
            <a:prstGeom prst="roundRect">
              <a:avLst>
                <a:gd name="adj" fmla="val 73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1657350"/>
              <a:ext cx="47625" cy="15544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78905" y="1716405"/>
              <a:ext cx="203073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23509" y="1750695"/>
              <a:ext cx="19415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用于例 3.6，[a, b] = [0, 2]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78905" y="2061210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34583" y="209959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59702" y="2072640"/>
              <a:ext cx="22581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f(0) = 1，f(2) = −1，异号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78905" y="2363152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34583" y="24015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59702" y="2375535"/>
              <a:ext cx="26398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f′(x) = ¼(x − 6)exp(−x/4) &lt; 0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78905" y="266604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34583" y="270443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59702" y="2678430"/>
              <a:ext cx="2939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f″(x) = (10 − x)exp(−x/4)/16 &gt; 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73190" y="2977039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所以应取 f(x₀) &gt; 0 的初值，即 x₀ ∈ [0, x*)。</a:t>
              </a:r>
            </a:p>
          </p:txBody>
        </p:sp>
      </p:grpSp>
      <p:grpSp>
        <p:nvGrpSpPr>
          <p:cNvPr id="66" name="c2-table-2"/>
          <p:cNvGrpSpPr/>
          <p:nvPr/>
        </p:nvGrpSpPr>
        <p:grpSpPr>
          <a:xfrm>
            <a:off x="6248400" y="3520440"/>
            <a:ext cx="5410200" cy="1823085"/>
            <a:chOff x="6248400" y="3520440"/>
            <a:chExt cx="5410200" cy="1823085"/>
          </a:xfrm>
        </p:grpSpPr>
        <p:sp>
          <p:nvSpPr>
            <p:cNvPr id="47" name="Rectangle 47"/>
            <p:cNvSpPr/>
            <p:nvPr/>
          </p:nvSpPr>
          <p:spPr>
            <a:xfrm>
              <a:off x="6248400" y="3520440"/>
              <a:ext cx="5410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78638" y="36447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初值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86848" y="3644741"/>
              <a:ext cx="9692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f(x₀)f″(x₀)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782569" y="36447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迭代结果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07774" y="4150519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60203" y="4150519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 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621078" y="4050506"/>
              <a:ext cx="22090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0.666667, 0.780646, 0.783594,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0.783596，单调增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45272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453199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07774" y="4656296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60203" y="465629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621078" y="4656296"/>
              <a:ext cx="2981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定理不保证；实际先落到 0.772780，再收敛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49329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07774" y="5062061"/>
              <a:ext cx="4547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x₀ = 8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07656" y="5062061"/>
              <a:ext cx="727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∉ [0, 2]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621078" y="506206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条件不成立，发散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248400" y="3520440"/>
              <a:ext cx="5410200" cy="18230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7217092" y="352044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8516302" y="352044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3" name="c2-callout-3"/>
          <p:cNvGrpSpPr/>
          <p:nvPr/>
        </p:nvGrpSpPr>
        <p:grpSpPr>
          <a:xfrm>
            <a:off x="6248400" y="5517832"/>
            <a:ext cx="5410200" cy="729615"/>
            <a:chOff x="6248400" y="5517832"/>
            <a:chExt cx="5410200" cy="729615"/>
          </a:xfrm>
        </p:grpSpPr>
        <p:sp>
          <p:nvSpPr>
            <p:cNvPr id="67" name="Rectangle 67"/>
            <p:cNvSpPr/>
            <p:nvPr/>
          </p:nvSpPr>
          <p:spPr>
            <a:xfrm>
              <a:off x="6248400" y="551783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6453188" y="5782628"/>
              <a:ext cx="200026" cy="200025"/>
              <a:chOff x="6453188" y="5782628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453188" y="57826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492926" y="58270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527642" y="59382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6755892" y="5664518"/>
              <a:ext cx="438569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3.3 是充分条件，条件不满足时也可能收敛（如 x₀ =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1）。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901356" cy="909257"/>
            <a:chOff x="520446" y="342900"/>
            <a:chExt cx="49013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9013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3.5.4 割线法：用差商代替导数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602105"/>
            <a:chOff x="533400" y="1524000"/>
            <a:chExt cx="5626418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为什么需要割线法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8729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法适用性强、收敛快，缺点是对初值 x₀ 要求高，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而且每步要算导数 f′(xₖ)。f(x) 比较复杂时求导困难，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Newton 法就不方便。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316605"/>
            <a:ext cx="5626418" cy="2984182"/>
            <a:chOff x="533400" y="3316605"/>
            <a:chExt cx="5626418" cy="2984182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5626418" cy="2984182"/>
            </a:xfrm>
            <a:prstGeom prst="roundRect">
              <a:avLst>
                <a:gd name="adj" fmla="val 4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449955"/>
              <a:ext cx="47625" cy="271748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52615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7308" y="356187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割线法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903345"/>
              <a:ext cx="48918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用相邻两次迭代的函数值作差商，代替微商 (3.5.3)：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113"/>
                <p:cNvSpPr txBox="1">
                  <a:spLocks noGrp="1"/>
                </p:cNvSpPr>
                <p:nvPr/>
              </p:nvSpPr>
              <p:spPr>
                <a:xfrm>
                  <a:off x="781050" y="4213860"/>
                  <a:ext cx="516921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≈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TextBox 19"/>
            <p:cNvSpPr txBox="1"/>
            <p:nvPr/>
          </p:nvSpPr>
          <p:spPr>
            <a:xfrm>
              <a:off x="773430" y="4899660"/>
              <a:ext cx="31024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 Newton 公式得到 (3.5.4)：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114"/>
                <p:cNvSpPr txBox="1">
                  <a:spLocks noGrp="1"/>
                </p:cNvSpPr>
                <p:nvPr/>
              </p:nvSpPr>
              <p:spPr>
                <a:xfrm>
                  <a:off x="781050" y="5210175"/>
                  <a:ext cx="5169218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1" name="TextBox 21"/>
            <p:cNvSpPr txBox="1"/>
            <p:nvPr/>
          </p:nvSpPr>
          <p:spPr>
            <a:xfrm>
              <a:off x="774573" y="5892641"/>
              <a:ext cx="4579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必须先给出两个初值 x₀、x₁；每步只需算一个新的函数值。</a:t>
              </a:r>
            </a:p>
          </p:txBody>
        </p:sp>
      </p:grpSp>
      <p:grpSp>
        <p:nvGrpSpPr>
          <p:cNvPr id="57" name="c2-graph-1"/>
          <p:cNvGrpSpPr/>
          <p:nvPr/>
        </p:nvGrpSpPr>
        <p:grpSpPr>
          <a:xfrm>
            <a:off x="6619875" y="1553051"/>
            <a:ext cx="4883468" cy="2336006"/>
            <a:chOff x="6619875" y="1553051"/>
            <a:chExt cx="4883468" cy="2336006"/>
          </a:xfrm>
        </p:grpSpPr>
        <p:sp>
          <p:nvSpPr>
            <p:cNvPr id="23" name="Freeform 23"/>
            <p:cNvSpPr/>
            <p:nvPr/>
          </p:nvSpPr>
          <p:spPr>
            <a:xfrm>
              <a:off x="6631305" y="3554730"/>
              <a:ext cx="4765358" cy="9525"/>
            </a:xfrm>
            <a:custGeom>
              <a:avLst/>
              <a:gdLst/>
              <a:ahLst/>
              <a:cxnLst/>
              <a:rect l="l" t="t" r="r" b="b"/>
              <a:pathLst>
                <a:path w="4765358" h="9525">
                  <a:moveTo>
                    <a:pt x="0" y="0"/>
                  </a:moveTo>
                  <a:lnTo>
                    <a:pt x="4765358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1396662" y="350710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7005638" y="1755458"/>
              <a:ext cx="9525" cy="2122170"/>
            </a:xfrm>
            <a:custGeom>
              <a:avLst/>
              <a:gdLst/>
              <a:ahLst/>
              <a:cxnLst/>
              <a:rect l="l" t="t" r="r" b="b"/>
              <a:pathLst>
                <a:path w="9525" h="2122170">
                  <a:moveTo>
                    <a:pt x="0" y="2122170"/>
                  </a:moveTo>
                  <a:lnTo>
                    <a:pt x="0" y="0"/>
                  </a:lnTo>
                </a:path>
              </a:pathLst>
            </a:custGeom>
            <a:noFill/>
            <a:ln w="13335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958012" y="16602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7338060" y="1747838"/>
              <a:ext cx="3772852" cy="1863090"/>
            </a:xfrm>
            <a:custGeom>
              <a:avLst/>
              <a:gdLst/>
              <a:ahLst/>
              <a:cxnLst/>
              <a:rect l="l" t="t" r="r" b="b"/>
              <a:pathLst>
                <a:path w="3772852" h="1863090">
                  <a:moveTo>
                    <a:pt x="0" y="1863090"/>
                  </a:moveTo>
                  <a:lnTo>
                    <a:pt x="83820" y="1862138"/>
                  </a:lnTo>
                  <a:lnTo>
                    <a:pt x="178118" y="1860232"/>
                  </a:lnTo>
                  <a:lnTo>
                    <a:pt x="273368" y="1858328"/>
                  </a:lnTo>
                  <a:lnTo>
                    <a:pt x="367665" y="1854518"/>
                  </a:lnTo>
                  <a:lnTo>
                    <a:pt x="462915" y="1850708"/>
                  </a:lnTo>
                  <a:lnTo>
                    <a:pt x="557212" y="1844992"/>
                  </a:lnTo>
                  <a:lnTo>
                    <a:pt x="652462" y="1838325"/>
                  </a:lnTo>
                  <a:lnTo>
                    <a:pt x="746760" y="1829753"/>
                  </a:lnTo>
                  <a:lnTo>
                    <a:pt x="842010" y="1820228"/>
                  </a:lnTo>
                  <a:lnTo>
                    <a:pt x="937260" y="1808797"/>
                  </a:lnTo>
                  <a:lnTo>
                    <a:pt x="1031558" y="1795462"/>
                  </a:lnTo>
                  <a:lnTo>
                    <a:pt x="1126808" y="1780222"/>
                  </a:lnTo>
                  <a:lnTo>
                    <a:pt x="1221105" y="1763078"/>
                  </a:lnTo>
                  <a:lnTo>
                    <a:pt x="1316355" y="1743075"/>
                  </a:lnTo>
                  <a:lnTo>
                    <a:pt x="1410653" y="1721168"/>
                  </a:lnTo>
                  <a:lnTo>
                    <a:pt x="1504950" y="1696403"/>
                  </a:lnTo>
                  <a:lnTo>
                    <a:pt x="1600200" y="1669732"/>
                  </a:lnTo>
                  <a:lnTo>
                    <a:pt x="1694497" y="1639253"/>
                  </a:lnTo>
                  <a:lnTo>
                    <a:pt x="1789747" y="1606868"/>
                  </a:lnTo>
                  <a:lnTo>
                    <a:pt x="1884045" y="1570672"/>
                  </a:lnTo>
                  <a:lnTo>
                    <a:pt x="1979295" y="1531620"/>
                  </a:lnTo>
                  <a:lnTo>
                    <a:pt x="2073593" y="1488758"/>
                  </a:lnTo>
                  <a:lnTo>
                    <a:pt x="2168843" y="1442085"/>
                  </a:lnTo>
                  <a:lnTo>
                    <a:pt x="2263140" y="1392555"/>
                  </a:lnTo>
                  <a:lnTo>
                    <a:pt x="2357438" y="1339215"/>
                  </a:lnTo>
                  <a:lnTo>
                    <a:pt x="2452688" y="1282065"/>
                  </a:lnTo>
                  <a:lnTo>
                    <a:pt x="2546985" y="1220153"/>
                  </a:lnTo>
                  <a:lnTo>
                    <a:pt x="2642235" y="1154430"/>
                  </a:lnTo>
                  <a:lnTo>
                    <a:pt x="2736533" y="1084897"/>
                  </a:lnTo>
                  <a:lnTo>
                    <a:pt x="2831783" y="1010603"/>
                  </a:lnTo>
                  <a:lnTo>
                    <a:pt x="2926080" y="931545"/>
                  </a:lnTo>
                  <a:lnTo>
                    <a:pt x="3021330" y="847725"/>
                  </a:lnTo>
                  <a:lnTo>
                    <a:pt x="3115628" y="759142"/>
                  </a:lnTo>
                  <a:lnTo>
                    <a:pt x="3210878" y="665798"/>
                  </a:lnTo>
                  <a:lnTo>
                    <a:pt x="3306128" y="566738"/>
                  </a:lnTo>
                  <a:lnTo>
                    <a:pt x="3400425" y="462915"/>
                  </a:lnTo>
                  <a:lnTo>
                    <a:pt x="3495675" y="353377"/>
                  </a:lnTo>
                  <a:lnTo>
                    <a:pt x="3589972" y="239077"/>
                  </a:lnTo>
                  <a:lnTo>
                    <a:pt x="3684270" y="118110"/>
                  </a:lnTo>
                  <a:lnTo>
                    <a:pt x="3772852" y="0"/>
                  </a:lnTo>
                </a:path>
              </a:pathLst>
            </a:custGeom>
            <a:noFill/>
            <a:ln w="26670">
              <a:solidFill>
                <a:srgbClr val="2E7D4F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0860405" y="2079308"/>
              <a:ext cx="9525" cy="1464945"/>
            </a:xfrm>
            <a:custGeom>
              <a:avLst/>
              <a:gdLst/>
              <a:ahLst/>
              <a:cxnLst/>
              <a:rect l="l" t="t" r="r" b="b"/>
              <a:pathLst>
                <a:path w="9525" h="1464945">
                  <a:moveTo>
                    <a:pt x="0" y="146494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29" name="Freeform 29"/>
            <p:cNvSpPr/>
            <p:nvPr/>
          </p:nvSpPr>
          <p:spPr>
            <a:xfrm>
              <a:off x="9575482" y="3165158"/>
              <a:ext cx="9525" cy="379095"/>
            </a:xfrm>
            <a:custGeom>
              <a:avLst/>
              <a:gdLst/>
              <a:ahLst/>
              <a:cxnLst/>
              <a:rect l="l" t="t" r="r" b="b"/>
              <a:pathLst>
                <a:path w="9525" h="379095">
                  <a:moveTo>
                    <a:pt x="0" y="37909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  <a:custDash>
                <a:ds d="500000" sp="333333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9110662" y="2075498"/>
              <a:ext cx="1742123" cy="1472565"/>
            </a:xfrm>
            <a:custGeom>
              <a:avLst/>
              <a:gdLst/>
              <a:ahLst/>
              <a:cxnLst/>
              <a:rect l="l" t="t" r="r" b="b"/>
              <a:pathLst>
                <a:path w="1742123" h="1472565">
                  <a:moveTo>
                    <a:pt x="1742123" y="0"/>
                  </a:moveTo>
                  <a:lnTo>
                    <a:pt x="0" y="1472565"/>
                  </a:lnTo>
                </a:path>
              </a:pathLst>
            </a:custGeom>
            <a:noFill/>
            <a:ln w="20955">
              <a:solidFill>
                <a:srgbClr val="F26B3A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6619875" y="355377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11501438" y="355377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7004685" y="388715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7004685" y="16487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7326630" y="3609975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1116628" y="1738312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10859453" y="355377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10859453" y="20678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9574530" y="355377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9574530" y="315372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10859453" y="20678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9101138" y="3553777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0817542" y="2025968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9532620" y="3111818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9059228" y="3511868"/>
              <a:ext cx="85725" cy="8572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8247698" y="3511868"/>
              <a:ext cx="85725" cy="8572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336597" y="33323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30415" y="162925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680546" y="359616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xₖ₋₁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482695" y="359616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922231" y="359616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xₖ₊₁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068233" y="337042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x*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357147" y="1959769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Pₖ₋₁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256226" y="300847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Pₖ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315956" y="2548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割线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506826" y="1553051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y = f(x)</a:t>
              </a:r>
            </a:p>
          </p:txBody>
        </p:sp>
      </p:grpSp>
      <p:grpSp>
        <p:nvGrpSpPr>
          <p:cNvPr id="64" name="c2-card-2"/>
          <p:cNvGrpSpPr/>
          <p:nvPr/>
        </p:nvGrpSpPr>
        <p:grpSpPr>
          <a:xfrm>
            <a:off x="6464618" y="4229100"/>
            <a:ext cx="5193982" cy="2133600"/>
            <a:chOff x="6464618" y="4229100"/>
            <a:chExt cx="5193982" cy="2133600"/>
          </a:xfrm>
        </p:grpSpPr>
        <p:sp>
          <p:nvSpPr>
            <p:cNvPr id="58" name="Rectangle 58"/>
            <p:cNvSpPr/>
            <p:nvPr/>
          </p:nvSpPr>
          <p:spPr>
            <a:xfrm>
              <a:off x="6464618" y="4229100"/>
              <a:ext cx="5193982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74142" y="43624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712268" y="44386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94576" y="44743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几何意义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704648" y="4815840"/>
              <a:ext cx="45205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 Pₖ₋₁ = (xₖ₋₁, f(xₖ₋₁)) 和 Pₖ = (xₖ, f(xₖ)) 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割线，它与 x 轴交点的横坐标就是 xₖ₊₁，所以也叫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弦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截法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705791" y="5719286"/>
              <a:ext cx="44345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补充：单根附近割线法的收敛阶为 (1 + √5)/2 ≈ 1.618，是超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线性收敛。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41774" cy="909257"/>
            <a:chOff x="520446" y="342900"/>
            <a:chExt cx="89417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227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509" y="407194"/>
              <a:ext cx="2897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417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3.7 割线法求 x eˣ − 1 = 0，4 步胜过不动点迭代 14 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606915" cy="293370"/>
            <a:chOff x="525780" y="1548765"/>
            <a:chExt cx="9606915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6069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求 f(x) = x eˣ − 1 = 0 在 [0.5, 0.6] 内的根（与例 3.4 是同一个方程），取初始点 x₀ = 0.5，x₁ = 0.6。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17"/>
              <p:cNvSpPr txBox="1">
                <a:spLocks noGrp="1"/>
              </p:cNvSpPr>
              <p:nvPr/>
            </p:nvSpPr>
            <p:spPr>
              <a:xfrm>
                <a:off x="533400" y="1954530"/>
                <a:ext cx="5735002" cy="4886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type m:val="bar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b>
                          </m:sSub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,⋯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7" name="c1-steps-2"/>
          <p:cNvGrpSpPr/>
          <p:nvPr/>
        </p:nvGrpSpPr>
        <p:grpSpPr>
          <a:xfrm>
            <a:off x="533400" y="2638425"/>
            <a:ext cx="5393436" cy="3073146"/>
            <a:chOff x="533400" y="2638425"/>
            <a:chExt cx="5393436" cy="3073146"/>
          </a:xfrm>
        </p:grpSpPr>
        <p:sp>
          <p:nvSpPr>
            <p:cNvPr id="10" name="Rectangle 10"/>
            <p:cNvSpPr/>
            <p:nvPr/>
          </p:nvSpPr>
          <p:spPr>
            <a:xfrm>
              <a:off x="666750" y="2781300"/>
              <a:ext cx="19050" cy="23040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533400" y="26384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27122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325850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33323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410051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41743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49425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7024" y="5016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5261" y="26712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算函数值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404" y="2951798"/>
              <a:ext cx="3121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f(0.5) = −0.175639，f(0.6) = 0.093271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261" y="329231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404" y="3572827"/>
              <a:ext cx="43708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x₂ = 0.6 − (0.6 − 0.5) × 0.093271/(0.093271 + 0.175639)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0.565315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5261" y="413337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404" y="4413885"/>
              <a:ext cx="40965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f(x₂) = −0.005044，x₃ = 0.565315 − (0.565315 − 0.6) 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(−0.005044)/(−0.005044 − 0.093271) = 0.567095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261" y="497538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404" y="5255895"/>
              <a:ext cx="49804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f(x₃) = −0.000134，同样用 x₂、x₃ 算出 x₄ = 0.567143；每步只算一个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新函数值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6567488" y="1954530"/>
            <a:ext cx="5091112" cy="3109437"/>
            <a:chOff x="6567488" y="1954530"/>
            <a:chExt cx="5091112" cy="3109437"/>
          </a:xfrm>
        </p:grpSpPr>
        <p:sp>
          <p:nvSpPr>
            <p:cNvPr id="28" name="Rectangle 28"/>
            <p:cNvSpPr/>
            <p:nvPr/>
          </p:nvSpPr>
          <p:spPr>
            <a:xfrm>
              <a:off x="6573202" y="1954530"/>
              <a:ext cx="5085398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104173" y="2089309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01551" y="2089309"/>
              <a:ext cx="2352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64342" y="2089309"/>
              <a:ext cx="8073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|xₖ − x*|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04173" y="255889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54239" y="255889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40208" y="255889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6.7×10⁻²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573202" y="288798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573202" y="2892742"/>
              <a:ext cx="5085398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104173" y="30275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54239" y="302752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240208" y="302752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3.3×10⁻²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573202" y="335661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04173" y="349615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91393" y="349615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0.565315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40208" y="3496151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1.8×10⁻³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573202" y="382619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573202" y="3830955"/>
              <a:ext cx="5085398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04173" y="396573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91393" y="3965734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0.567095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40208" y="3965734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4.9×10⁻⁵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573202" y="429482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04173" y="443436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91393" y="4434364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0.567143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240208" y="4434364"/>
              <a:ext cx="8555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7.3×10⁻⁸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573202" y="1954530"/>
              <a:ext cx="5085398" cy="28136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756208" y="1954530"/>
              <a:ext cx="9525" cy="28136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673590" y="1954530"/>
              <a:ext cx="9525" cy="28136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67488" y="4843939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x* = 0.5671433，原课件表 3.5 保留 5 位小数，与本表一致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6573202" y="5205412"/>
            <a:ext cx="5085398" cy="1018222"/>
            <a:chOff x="6573202" y="5205412"/>
            <a:chExt cx="5085398" cy="1018222"/>
          </a:xfrm>
        </p:grpSpPr>
        <p:sp>
          <p:nvSpPr>
            <p:cNvPr id="58" name="Rectangle 58"/>
            <p:cNvSpPr/>
            <p:nvPr/>
          </p:nvSpPr>
          <p:spPr>
            <a:xfrm>
              <a:off x="6573202" y="5205412"/>
              <a:ext cx="5085398" cy="1018222"/>
            </a:xfrm>
            <a:prstGeom prst="roundRect">
              <a:avLst>
                <a:gd name="adj" fmla="val 1122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6777990" y="5614988"/>
              <a:ext cx="200026" cy="200026"/>
              <a:chOff x="6777990" y="561498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777990" y="5614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844665" y="56927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7080314" y="5352574"/>
              <a:ext cx="4126230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割线法迭代 4 次误差为 7.3×10⁻⁸；例 3.4 的不动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点迭代 14 次误差还有 2.4×10⁻⁵，要到 k = 25 才达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到同样精度。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119622" cy="3569017"/>
            <a:chOff x="667512" y="1835468"/>
            <a:chExt cx="6119622" cy="35690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3.6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119622" cy="1275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解非线性方程组的 Newton 迭</a:t>
              </a:r>
              <a:br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6128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949065"/>
              <a:ext cx="53032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把每个方程在 x⁽ᵏ⁾ 处线性化，每步解一个线性方程组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4596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402455"/>
              <a:ext cx="24517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Taylor 展开与 Jacobi 矩阵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8139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756785"/>
              <a:ext cx="26351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公式与 Newton 方程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51682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5111115"/>
              <a:ext cx="2286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3.8 三元非线性方程组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58071" cy="909257"/>
            <a:chOff x="520446" y="342900"/>
            <a:chExt cx="64580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580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逐个方程 Taylor 展开，得到 Jacobi 矩阵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580751" cy="597598"/>
            <a:chOff x="525399" y="1550194"/>
            <a:chExt cx="10580751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580751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 x* 是方程组 (3.2.1) 的精确解，x⁽ᵏ⁾ 是第 k 次近似。把每个 fᵢ 在 x⁽ᵏ⁾ 处 Taylor 展开，舍去 (xⱼ − xⱼ⁽ᵏ⁾) 的二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次及以上的项，令其为 0，解记为 x⁽ᵏ⁺¹⁾。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2257425"/>
            <a:ext cx="5626418" cy="2559368"/>
            <a:chOff x="533400" y="2257425"/>
            <a:chExt cx="5626418" cy="2559368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626418" cy="2559368"/>
            </a:xfrm>
            <a:prstGeom prst="roundRect">
              <a:avLst>
                <a:gd name="adj" fmla="val 52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390775"/>
              <a:ext cx="47625" cy="229266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466975"/>
              <a:ext cx="262413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07994" y="2502694"/>
              <a:ext cx="25712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线性化后的方程组 (3.6.1)–(3.6.2)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21"/>
                <p:cNvSpPr txBox="1">
                  <a:spLocks noGrp="1"/>
                </p:cNvSpPr>
                <p:nvPr/>
              </p:nvSpPr>
              <p:spPr>
                <a:xfrm>
                  <a:off x="781050" y="2819400"/>
                  <a:ext cx="5169218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∂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∂</m:t>
                                </m:r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den>
                            </m:f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572828"/>
              <a:ext cx="4215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这是关于 x⁽ᵏ⁺¹⁾ 的 n 个线性方程，写成矩阵形式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(3.6.3)：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122"/>
                <p:cNvSpPr txBox="1">
                  <a:spLocks noGrp="1"/>
                </p:cNvSpPr>
                <p:nvPr/>
              </p:nvSpPr>
              <p:spPr>
                <a:xfrm>
                  <a:off x="781050" y="4169092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m:rPr>
                            <m:sty m:val="b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3" name="c1-callout-2"/>
          <p:cNvGrpSpPr/>
          <p:nvPr/>
        </p:nvGrpSpPr>
        <p:grpSpPr>
          <a:xfrm>
            <a:off x="533400" y="5007292"/>
            <a:ext cx="5626418" cy="1059180"/>
            <a:chOff x="533400" y="5007292"/>
            <a:chExt cx="5626418" cy="1059180"/>
          </a:xfrm>
        </p:grpSpPr>
        <p:sp>
          <p:nvSpPr>
            <p:cNvPr id="17" name="Rectangle 17"/>
            <p:cNvSpPr/>
            <p:nvPr/>
          </p:nvSpPr>
          <p:spPr>
            <a:xfrm>
              <a:off x="533400" y="5007292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436870"/>
              <a:ext cx="200026" cy="200025"/>
              <a:chOff x="738188" y="5436870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4368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77926" y="54813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12642" y="55924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5155882"/>
              <a:ext cx="4587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 = 1 时 F′(x) 就是 f′(x)，(3.6.3) 退化为 f(xₖ) +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f′(xₖ)(xₖ₊₁ − xₖ) = 0，与单个方程的 Newton 法一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致。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464618" y="2257425"/>
            <a:ext cx="5193982" cy="3809048"/>
            <a:chOff x="6464618" y="2257425"/>
            <a:chExt cx="5193982" cy="3809048"/>
          </a:xfrm>
        </p:grpSpPr>
        <p:sp>
          <p:nvSpPr>
            <p:cNvPr id="24" name="Rectangle 24"/>
            <p:cNvSpPr/>
            <p:nvPr/>
          </p:nvSpPr>
          <p:spPr>
            <a:xfrm>
              <a:off x="6464618" y="2257425"/>
              <a:ext cx="5193982" cy="3809048"/>
            </a:xfrm>
            <a:prstGeom prst="roundRect">
              <a:avLst>
                <a:gd name="adj" fmla="val 35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4142" y="2390775"/>
              <a:ext cx="47625" cy="354234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12268" y="2466975"/>
              <a:ext cx="99441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85307" y="2502694"/>
              <a:ext cx="848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Jacobi 矩阵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23"/>
                <p:cNvSpPr txBox="1">
                  <a:spLocks noGrp="1"/>
                </p:cNvSpPr>
                <p:nvPr/>
              </p:nvSpPr>
              <p:spPr>
                <a:xfrm>
                  <a:off x="6712268" y="2819400"/>
                  <a:ext cx="4736782" cy="185070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b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⋯</m:t>
                                  </m:r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mr>
                              <m:mr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⋯</m:t>
                                  </m:r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  <m:e/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⋯</m:t>
                                  </m:r>
                                </m:e>
                                <m:e>
                                  <m:f>
                                    <m:fPr>
                                      <m:type m:val="bar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f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∂</m:t>
                                      </m:r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n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704648" y="4791075"/>
              <a:ext cx="441912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F′(x⁽ᵏ⁾) 是 F(x) 在点 x⁽ᵏ⁾ 处的 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矩阵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行是 fᵢ 对各变量的偏导数，第 j 列对应变量 xⱼ。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87579" cy="909257"/>
            <a:chOff x="520446" y="342900"/>
            <a:chExt cx="75875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875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方程：每步解一个线性方程组，不必求逆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544955"/>
            <a:chOff x="533400" y="1524000"/>
            <a:chExt cx="5626418" cy="15449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544955"/>
            </a:xfrm>
            <a:prstGeom prst="roundRect">
              <a:avLst>
                <a:gd name="adj" fmla="val 86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7825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10788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0684" y="1769269"/>
              <a:ext cx="20295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Newton 法迭代公式 (3.6.4)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3655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F′(x⁽ᵏ⁾) 可逆，由 (3.6.3) 解出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26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m:rPr>
                                <m:sty m:val="b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m:rPr>
                                <m:sty m:val="b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sSup>
                          <m:e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65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6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65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9" name="c1-card-2"/>
          <p:cNvGrpSpPr/>
          <p:nvPr/>
        </p:nvGrpSpPr>
        <p:grpSpPr>
          <a:xfrm>
            <a:off x="533400" y="3259455"/>
            <a:ext cx="5626418" cy="2510790"/>
            <a:chOff x="533400" y="3259455"/>
            <a:chExt cx="5626418" cy="2510790"/>
          </a:xfrm>
        </p:grpSpPr>
        <p:sp>
          <p:nvSpPr>
            <p:cNvPr id="14" name="Rectangle 14"/>
            <p:cNvSpPr/>
            <p:nvPr/>
          </p:nvSpPr>
          <p:spPr>
            <a:xfrm>
              <a:off x="533400" y="3259455"/>
              <a:ext cx="5626418" cy="2510790"/>
            </a:xfrm>
            <a:prstGeom prst="roundRect">
              <a:avLst>
                <a:gd name="adj" fmla="val 5311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42950" y="3469005"/>
              <a:ext cx="196691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89570" y="3504724"/>
              <a:ext cx="1874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实际计算用的形式 (3.6.5)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formula127"/>
                <p:cNvSpPr txBox="1">
                  <a:spLocks noGrp="1"/>
                </p:cNvSpPr>
                <p:nvPr/>
              </p:nvSpPr>
              <p:spPr>
                <a:xfrm>
                  <a:off x="742950" y="3821430"/>
                  <a:ext cx="5207318" cy="7962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6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6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  <m:sSup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6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650" dirty="0">
                                                <a:solidFill>
                                                  <a:srgbClr val="FFFFFF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+Δ</m:t>
                                </m:r>
                                <m:sSup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65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65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8" name="TextBox 18"/>
            <p:cNvSpPr txBox="1"/>
            <p:nvPr/>
          </p:nvSpPr>
          <p:spPr>
            <a:xfrm>
              <a:off x="735330" y="4737735"/>
              <a:ext cx="499491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第一式是线性方程组，称为 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方程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。n 很大时求逆矩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阵很费事，改为先解 Newton 方程得 Δx⁽ᵏ⁾，再算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x⁽ᵏ⁺¹⁾。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6464618" y="1533525"/>
            <a:ext cx="5001641" cy="2998756"/>
            <a:chOff x="6464618" y="1533525"/>
            <a:chExt cx="5001641" cy="2998756"/>
          </a:xfrm>
        </p:grpSpPr>
        <p:sp>
          <p:nvSpPr>
            <p:cNvPr id="20" name="Rectangle 20"/>
            <p:cNvSpPr/>
            <p:nvPr/>
          </p:nvSpPr>
          <p:spPr>
            <a:xfrm>
              <a:off x="6597968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64618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8241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64618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8241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098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7241" y="1861661"/>
              <a:ext cx="25804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取初始向量 x⁽⁰⁾ 和精度 ε，k = 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098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7241" y="2512219"/>
              <a:ext cx="38199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算出函数向量 F(x⁽ᵏ⁾) 和 Jacobi 矩阵 F′(x⁽ᵏ⁾)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6098" y="2868930"/>
              <a:ext cx="1498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Newton 方程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7241" y="3162776"/>
              <a:ext cx="45890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解线性方程组 F′(x⁽ᵏ⁾)Δx⁽ᵏ⁾ = −F(x⁽ᵏ⁾)，可用第 2 章的消去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法或 LU 分解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6098" y="37547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更新与判停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7241" y="4048601"/>
              <a:ext cx="44670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x⁽ᵏ⁺¹⁾ = x⁽ᵏ⁾ + Δx⁽ᵏ⁾；若 ‖Δx⁽ᵏ⁾‖∞ &lt; ε 则停止，否则 k 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1，回到第 2 步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464618" y="4711065"/>
            <a:ext cx="5193982" cy="1059180"/>
            <a:chOff x="6464618" y="4711065"/>
            <a:chExt cx="5193982" cy="1059180"/>
          </a:xfrm>
        </p:grpSpPr>
        <p:sp>
          <p:nvSpPr>
            <p:cNvPr id="38" name="Rectangle 38"/>
            <p:cNvSpPr/>
            <p:nvPr/>
          </p:nvSpPr>
          <p:spPr>
            <a:xfrm>
              <a:off x="6464618" y="4711065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669405" y="5140643"/>
              <a:ext cx="200026" cy="200026"/>
              <a:chOff x="6669405" y="514064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669405" y="5140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769418" y="52073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758305" y="52406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71348" y="4859655"/>
              <a:ext cx="42633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补充：F′(x*) 可逆、F 二阶连续可微时，只要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x⁽⁰⁾ 离 x* 足够近，方程组的 Newton 法也是平方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收敛的。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68540" cy="909257"/>
            <a:chOff x="520446" y="342900"/>
            <a:chExt cx="946854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6854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3.8 三元非线性方程组：写出 F 与 Jacobi 矩阵，算第一步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2133600"/>
            <a:chOff x="533400" y="1524000"/>
            <a:chExt cx="5626418" cy="2133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4293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538" y="1769269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3.8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30668" y="1768792"/>
              <a:ext cx="1700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Newton 法求解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30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5169218" cy="13239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sSub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bSup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81</m:t>
                                </m:r>
                                <m:sSup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x</m:t>
                                            </m:r>
                                          </m:e>
                                          <m:sub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0.1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func>
                                  <m:funcPr/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func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1.06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sSup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20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bar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10π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9" name="c1-card-2"/>
          <p:cNvGrpSpPr/>
          <p:nvPr/>
        </p:nvGrpSpPr>
        <p:grpSpPr>
          <a:xfrm>
            <a:off x="533400" y="3848100"/>
            <a:ext cx="5626418" cy="1557338"/>
            <a:chOff x="533400" y="3848100"/>
            <a:chExt cx="5626418" cy="1557338"/>
          </a:xfrm>
        </p:grpSpPr>
        <p:sp>
          <p:nvSpPr>
            <p:cNvPr id="14" name="Rectangle 14"/>
            <p:cNvSpPr/>
            <p:nvPr/>
          </p:nvSpPr>
          <p:spPr>
            <a:xfrm>
              <a:off x="533400" y="3848100"/>
              <a:ext cx="5626418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81450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057650"/>
              <a:ext cx="99441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4089" y="4093369"/>
              <a:ext cx="848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Jacobi 矩阵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131"/>
                <p:cNvSpPr txBox="1">
                  <a:spLocks noGrp="1"/>
                </p:cNvSpPr>
                <p:nvPr/>
              </p:nvSpPr>
              <p:spPr>
                <a:xfrm>
                  <a:off x="781050" y="4410075"/>
                  <a:ext cx="5169218" cy="695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F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sty m:val="b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e>
                                <m:e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3</m:t>
                                      </m:r>
                                    </m:sub>
                                  </m:sSub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e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  <m:e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sSub>
                                            <m:e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50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3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162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0.1</m:t>
                                      </m:r>
                                    </m:e>
                                  </m:d>
                                </m:e>
                                <m:e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b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p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e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e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lang="zh-CN" sz="150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1" name="c2-steps-1"/>
          <p:cNvGrpSpPr/>
          <p:nvPr/>
        </p:nvGrpSpPr>
        <p:grpSpPr>
          <a:xfrm>
            <a:off x="6464618" y="1533525"/>
            <a:ext cx="4725289" cy="3883629"/>
            <a:chOff x="6464618" y="1533525"/>
            <a:chExt cx="4725289" cy="3883629"/>
          </a:xfrm>
        </p:grpSpPr>
        <p:sp>
          <p:nvSpPr>
            <p:cNvPr id="20" name="Rectangle 20"/>
            <p:cNvSpPr/>
            <p:nvPr/>
          </p:nvSpPr>
          <p:spPr>
            <a:xfrm>
              <a:off x="6597968" y="1676400"/>
              <a:ext cx="19050" cy="30727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64618" y="283464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8241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64618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8241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64618" y="460629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58241" y="46801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098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7241" y="1861661"/>
              <a:ext cx="21151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x⁽⁰⁾ = (0.1, 0.1, −0.1)ᵀ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6098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函数向量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7241" y="2512219"/>
              <a:ext cx="40263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F(x⁽⁰⁾) = (−1.199950, −2.269833, 8.462025)ᵀ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6098" y="2868930"/>
              <a:ext cx="1136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矩阵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7241" y="3162776"/>
              <a:ext cx="43126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F′(x⁽⁰⁾) 三行依次为 (3, 0.001000, −0.001000)、(0.2,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−32.4, 0.995004)、(−0.099005, −0.099005, 20)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76098" y="3754755"/>
              <a:ext cx="1498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Newton 方程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77241" y="4048601"/>
              <a:ext cx="39794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F′(x⁽⁰⁾)Δx⁽⁰⁾ = −F(x⁽⁰⁾)，得 Δx⁽⁰⁾ = (0.399870,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−0.080533, −0.421520)ᵀ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76098" y="46405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77241" y="4933474"/>
              <a:ext cx="36705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x⁽¹⁾ = x⁽⁰⁾ + Δx⁽⁰⁾，即 (0.499870, 0.019467,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−0.521520)ᵀ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2" name="Rectangle 4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130" y="5991225"/>
              <a:ext cx="10303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手算时每一步都是“代值算 F 与 F′ → 解 3×3 线性方程组 → 更新”；解方程组可以用第 2 章的列主元 Gauss 消去法。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43472" cy="909257"/>
            <a:chOff x="520446" y="342900"/>
            <a:chExt cx="5743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43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3.8 迭代结果：‖Δx‖∞ 按平方缩小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6" name="c1-table-1"/>
          <p:cNvGrpSpPr/>
          <p:nvPr/>
        </p:nvGrpSpPr>
        <p:grpSpPr>
          <a:xfrm>
            <a:off x="527685" y="1524000"/>
            <a:ext cx="6497955" cy="3579019"/>
            <a:chOff x="527685" y="1524000"/>
            <a:chExt cx="6497955" cy="357901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686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5751" y="1658779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32213" y="1658779"/>
              <a:ext cx="566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x₁⁽ᵏ⁾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79048" y="1658779"/>
              <a:ext cx="566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x₂⁽ᵏ⁾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077318" y="1658779"/>
              <a:ext cx="5664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x₃⁽ᵏ⁾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15775" y="1658779"/>
              <a:ext cx="16804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‖x⁽ᵏ⁾ − x⁽ᵏ⁻¹⁾‖∞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5751" y="212836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50494" y="212836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797329" y="212836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43030" y="2128361"/>
              <a:ext cx="435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45745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462212"/>
              <a:ext cx="649224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5751" y="259699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510" y="2596991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0.49986967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29345" y="2596991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0.01946685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75046" y="2596991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−0.52152047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33341" y="2596991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0.4215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292608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5751" y="306562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2510" y="3065621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0.50001424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29345" y="3065621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0.00158859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75046" y="3065621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−0.52355696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75634" y="3065621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1.79×10⁻²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3956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400425"/>
              <a:ext cx="649224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5751" y="353520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82510" y="3535204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0.50000011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29345" y="3535204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0.00001244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75046" y="3535204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−0.52359845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575634" y="3535204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1.58×10⁻³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8642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5751" y="400383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82510" y="4003834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0.50000000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29345" y="4003834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0.00000000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75046" y="4003834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−0.52359878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575634" y="4003834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1.24×10⁻⁵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3329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4337685"/>
              <a:ext cx="649224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5751" y="447341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82510" y="4473416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0.50000000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429345" y="4473416"/>
              <a:ext cx="1065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0.00000000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775046" y="4473416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−0.52359878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75634" y="4473416"/>
              <a:ext cx="9607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7.8×10⁻¹⁰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6492240" cy="328326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937260" y="1524000"/>
              <a:ext cx="9525" cy="32832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2284095" y="1524000"/>
              <a:ext cx="9525" cy="32832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629978" y="1524000"/>
              <a:ext cx="9525" cy="32832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080635" y="1524000"/>
              <a:ext cx="9525" cy="32832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27685" y="4882991"/>
              <a:ext cx="2514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按公式 (3.6.5) 计算，保留 8 位小数</a:t>
              </a:r>
            </a:p>
          </p:txBody>
        </p:sp>
      </p:grpSp>
      <p:grpSp>
        <p:nvGrpSpPr>
          <p:cNvPr id="69" name="c2-card-1"/>
          <p:cNvGrpSpPr/>
          <p:nvPr/>
        </p:nvGrpSpPr>
        <p:grpSpPr>
          <a:xfrm>
            <a:off x="7330440" y="1524000"/>
            <a:ext cx="4328160" cy="2164080"/>
            <a:chOff x="7330440" y="1524000"/>
            <a:chExt cx="4328160" cy="2164080"/>
          </a:xfrm>
        </p:grpSpPr>
        <p:sp>
          <p:nvSpPr>
            <p:cNvPr id="57" name="Rectangle 57"/>
            <p:cNvSpPr/>
            <p:nvPr/>
          </p:nvSpPr>
          <p:spPr>
            <a:xfrm>
              <a:off x="7330440" y="1524000"/>
              <a:ext cx="4328160" cy="2164080"/>
            </a:xfrm>
            <a:prstGeom prst="roundRect">
              <a:avLst>
                <a:gd name="adj" fmla="val 616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39965" y="1657350"/>
              <a:ext cx="47625" cy="18973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572375" y="17278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49781" y="17635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验证精确解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600504" y="1767364"/>
              <a:ext cx="20216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= (0.5, 0, −π/6)ᵀ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579995" y="217932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736586" y="2119789"/>
              <a:ext cx="23179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f₁ = 1.5 − cos 0 − 0.5 = 0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579995" y="249936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736586" y="2439829"/>
              <a:ext cx="3589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f₂ = 0.25 − 0.81 + sin(−π/6) + 1.06 = 0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579995" y="281940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736586" y="2759869"/>
              <a:ext cx="30061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f₃ = e⁰ − 10π/3 + (10π − 3)/3 = 0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566279" y="3075622"/>
              <a:ext cx="36164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−π/6 = −0.5235987756，迭代 5 次后与精确解一致到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位小数。</a:t>
              </a:r>
            </a:p>
          </p:txBody>
        </p:sp>
      </p:grpSp>
      <p:grpSp>
        <p:nvGrpSpPr>
          <p:cNvPr id="75" name="c2-callout-2"/>
          <p:cNvGrpSpPr/>
          <p:nvPr/>
        </p:nvGrpSpPr>
        <p:grpSpPr>
          <a:xfrm>
            <a:off x="7330440" y="3873818"/>
            <a:ext cx="4328160" cy="1184910"/>
            <a:chOff x="7330440" y="3873818"/>
            <a:chExt cx="4328160" cy="1184910"/>
          </a:xfrm>
        </p:grpSpPr>
        <p:sp>
          <p:nvSpPr>
            <p:cNvPr id="70" name="Rectangle 70"/>
            <p:cNvSpPr/>
            <p:nvPr/>
          </p:nvSpPr>
          <p:spPr>
            <a:xfrm>
              <a:off x="7330440" y="3873818"/>
              <a:ext cx="4328160" cy="1184910"/>
            </a:xfrm>
            <a:prstGeom prst="roundRect">
              <a:avLst>
                <a:gd name="adj" fmla="val 9646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535228" y="4366262"/>
              <a:ext cx="200023" cy="200023"/>
              <a:chOff x="7535228" y="4366262"/>
              <a:chExt cx="200023" cy="200023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535228" y="43662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668578" y="44329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7837551" y="4103846"/>
              <a:ext cx="3467989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‖Δx⁽ᵏ⁾‖∞ / ‖Δx⁽ᵏ⁻¹⁾‖∞² 依次约为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0.10、4.9、5.0、5.0，趋于常数，与平方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收敛相符。</a:t>
              </a:r>
            </a:p>
          </p:txBody>
        </p:sp>
      </p:grpSp>
      <p:grpSp>
        <p:nvGrpSpPr>
          <p:cNvPr id="82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76" name="Rectangle 76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1040511" y="5753576"/>
              <a:ext cx="884212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更正：原课件表 3.6 中 k = 1、2、3 行的 x₁ 写作 0.50003702、0.50004593、0.50000034，k = 4 行 x₃ 写作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−0.53259877，k = 1 行范数写作 0.423，按题给方程重算应为上表数值。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20996" cy="909257"/>
            <a:chOff x="520446" y="342900"/>
            <a:chExt cx="52209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209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实验题：四种方法的 Python 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647950"/>
            <a:chOff x="533400" y="1524000"/>
            <a:chExt cx="5410200" cy="26479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47950"/>
            </a:xfrm>
            <a:prstGeom prst="roundRect">
              <a:avLst>
                <a:gd name="adj" fmla="val 359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427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实验题 2：二分法与不动点迭代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21" y="1936242"/>
              <a:ext cx="2914421" cy="21529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bisect(f, a, b, eps):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 = 0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 - a) / 2 &gt; eps: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 = a + (b - a) / 2; n += 1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(f(m) &gt; 0) == (f(a) &gt; 0): a = m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: b = m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+ (b - a) / 2, n + 1</a:t>
              </a:r>
              <a:br/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fixed(phi, x, eps):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range(1, 1000):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x1 = phi(x)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abs(x1 - x) &lt; eps: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x1, k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 = x1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4342448"/>
            <a:ext cx="5410200" cy="1398270"/>
            <a:chOff x="533400" y="4342448"/>
            <a:chExt cx="5410200" cy="1398270"/>
          </a:xfrm>
        </p:grpSpPr>
        <p:sp>
          <p:nvSpPr>
            <p:cNvPr id="11" name="Rectangle 11"/>
            <p:cNvSpPr/>
            <p:nvPr/>
          </p:nvSpPr>
          <p:spPr>
            <a:xfrm>
              <a:off x="533400" y="4342448"/>
              <a:ext cx="5410200" cy="1398270"/>
            </a:xfrm>
            <a:prstGeom prst="roundRect">
              <a:avLst>
                <a:gd name="adj" fmla="val 68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4494371"/>
              <a:ext cx="16807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调用示例：x⁵ − 3x − 10 = 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721" y="4754689"/>
              <a:ext cx="2763545" cy="9060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   =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lambda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x: x**5 - 3*x - 10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df  =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lambda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x: 5*x**4 - 3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phi =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lambda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x: (3*x + 10) ** 0.2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print(bisect(f, 1, 2, 1e-8))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27 次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print(fixed(phi, 1.5, 1e-8))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8 次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6248400" y="1524000"/>
            <a:ext cx="5410200" cy="2290762"/>
            <a:chOff x="6248400" y="1524000"/>
            <a:chExt cx="5410200" cy="2290762"/>
          </a:xfrm>
        </p:grpSpPr>
        <p:sp>
          <p:nvSpPr>
            <p:cNvPr id="15" name="Rectangle 15"/>
            <p:cNvSpPr/>
            <p:nvPr/>
          </p:nvSpPr>
          <p:spPr>
            <a:xfrm>
              <a:off x="6248400" y="1524000"/>
              <a:ext cx="5410200" cy="2290762"/>
            </a:xfrm>
            <a:prstGeom prst="roundRect">
              <a:avLst>
                <a:gd name="adj" fmla="val 41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76797" y="1675924"/>
              <a:ext cx="18463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实验题 2：Newton 法与割线法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76721" y="1936242"/>
              <a:ext cx="3675088" cy="1796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newton(f, df, x, eps):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range(1, 100):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x1 = x - f(x) / df(x)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abs(x1 - x) &lt; eps: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x1, k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 = x1</a:t>
              </a:r>
              <a:br/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secant(f, x0, x1, eps):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range(1, 100):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x2 = x1 - (x1 - x0) / (f(x1) - f(x0)) * f(x1)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abs(x2 - x1) &lt; eps: </a:t>
              </a:r>
              <a:r>
                <a:rPr lang="en-US" sz="99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x2, k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x0, x1 = x1, x2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6248400" y="3985260"/>
            <a:ext cx="5410200" cy="2300288"/>
            <a:chOff x="6248400" y="3985260"/>
            <a:chExt cx="5410200" cy="2300288"/>
          </a:xfrm>
        </p:grpSpPr>
        <p:sp>
          <p:nvSpPr>
            <p:cNvPr id="19" name="Rectangle 19"/>
            <p:cNvSpPr/>
            <p:nvPr/>
          </p:nvSpPr>
          <p:spPr>
            <a:xfrm>
              <a:off x="6248400" y="3985260"/>
              <a:ext cx="5410200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57925" y="4118610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473190" y="417195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65862" y="420481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81762" y="457200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37782" y="4515802"/>
              <a:ext cx="45142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代码已实际运行；每个函数返回 (近似根, 次数)，二分法的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次数是算过的中点个数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81762" y="512921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37782" y="5073015"/>
              <a:ext cx="43514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二分法以半区间长 ≤ eps 判停，其余三种以 |xₖ₊₁ − xₖ| &lt;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eps 判停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81762" y="568737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37782" y="5631180"/>
              <a:ext cx="44628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实用程序还要处理 f′(xₖ) = 0 或 f(xₖ) = f(xₖ₋₁) 时的除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零，以及超过最大次数仍不收敛（这时函数返回 None）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44298" cy="909257"/>
            <a:chOff x="520446" y="342900"/>
            <a:chExt cx="72442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442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实验题结果：Newton 法次数最少，二分法最多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28066" y="1524000"/>
            <a:ext cx="5415534" cy="2495169"/>
            <a:chOff x="528066" y="1524000"/>
            <a:chExt cx="5415534" cy="249516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318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25282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每步计算量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84821" y="1648301"/>
              <a:ext cx="897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x⁵ − 3x − 10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637308" y="1648301"/>
              <a:ext cx="12066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 + arctan x − 3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0540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98672" y="2054066"/>
              <a:ext cx="418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 f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47168" y="2054066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 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54011" y="2054066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 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30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3553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98672" y="2459831"/>
              <a:ext cx="418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 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8631" y="245983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054011" y="2459831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 次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36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2865596"/>
              <a:ext cx="769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40359" y="2865596"/>
              <a:ext cx="7351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f、f′ 各 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88631" y="286559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次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5474" y="286559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次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1422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14706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27136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割线法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98672" y="3271361"/>
              <a:ext cx="418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 f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88631" y="327136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95474" y="3271361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541020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881188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125152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531995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066" y="3627120"/>
              <a:ext cx="505129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eps = 10⁻⁸；二分法用 [1, 2]，不动点迭代与 Newton 法取 x₀ = 1.5，割线法取 1 和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2；根为 1.7226003、1.9112521</a:t>
              </a:r>
            </a:p>
          </p:txBody>
        </p:sp>
      </p:grpSp>
      <p:grpSp>
        <p:nvGrpSpPr>
          <p:cNvPr id="49" name="c1-card-2"/>
          <p:cNvGrpSpPr/>
          <p:nvPr/>
        </p:nvGrpSpPr>
        <p:grpSpPr>
          <a:xfrm>
            <a:off x="533400" y="4152900"/>
            <a:ext cx="5410200" cy="2071688"/>
            <a:chOff x="533400" y="4152900"/>
            <a:chExt cx="5410200" cy="2071688"/>
          </a:xfrm>
        </p:grpSpPr>
        <p:sp>
          <p:nvSpPr>
            <p:cNvPr id="39" name="Rectangle 39"/>
            <p:cNvSpPr/>
            <p:nvPr/>
          </p:nvSpPr>
          <p:spPr>
            <a:xfrm>
              <a:off x="533400" y="4152900"/>
              <a:ext cx="5410200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286250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3905" y="43453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51344" y="43795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读结果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72478" y="475869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8497" y="470249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二分法次数只由区间长度和精度决定，两题相同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06063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004435"/>
              <a:ext cx="41628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不动点迭代取 φ = (3x + 10)^(1/5) 与 3 − arctan x，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约 0.068 与 0.215，前者次数少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2478" y="562070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8497" y="5564505"/>
              <a:ext cx="46171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右表：不动点迭代每步约乘 0.068，Newton 法误差平方式下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降，割线法介于两者之间</a:t>
              </a:r>
            </a:p>
          </p:txBody>
        </p:sp>
      </p:grpSp>
      <p:grpSp>
        <p:nvGrpSpPr>
          <p:cNvPr id="91" name="c2-table-1"/>
          <p:cNvGrpSpPr/>
          <p:nvPr/>
        </p:nvGrpSpPr>
        <p:grpSpPr>
          <a:xfrm>
            <a:off x="6243066" y="1524000"/>
            <a:ext cx="5415534" cy="3120009"/>
            <a:chOff x="6243066" y="1524000"/>
            <a:chExt cx="5415534" cy="3120009"/>
          </a:xfrm>
        </p:grpSpPr>
        <p:sp>
          <p:nvSpPr>
            <p:cNvPr id="50" name="Rectangle 50"/>
            <p:cNvSpPr/>
            <p:nvPr/>
          </p:nvSpPr>
          <p:spPr>
            <a:xfrm>
              <a:off x="6248400" y="1524000"/>
              <a:ext cx="5410200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40156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03096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不动点迭代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11678" y="1648301"/>
              <a:ext cx="769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7329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割线法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40156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48329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1.5×10⁻²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058994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8.7×10⁻²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567754" y="205406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2.9×10⁻¹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2330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248400" y="233553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640156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548329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1.1×10⁻³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058994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8.4×10⁻³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567754" y="245983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9.8×10⁻²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248400" y="2736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640156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48329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7.2×10⁻⁵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058994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8.8×10⁻⁵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567754" y="286559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4.8×10⁻²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248400" y="31422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248400" y="314706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640156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548329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4.9×10⁻⁶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058994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9.6×10⁻⁹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567754" y="327136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6.1×10⁻³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248400" y="35480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640156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548329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3.3×10⁻⁷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285155" y="3677126"/>
              <a:ext cx="222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0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567754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3.5×10⁻⁴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248400" y="39538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248400" y="395859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640156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548329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2.3×10⁻⁸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0567754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2.7×10⁻⁶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248400" y="1524000"/>
              <a:ext cx="5410200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712565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863727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14698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243066" y="4438650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x⁵ − 3x − 10 = 0 各步误差 |xₖ − x*|</a:t>
              </a:r>
            </a:p>
          </p:txBody>
        </p:sp>
      </p:grpSp>
      <p:grpSp>
        <p:nvGrpSpPr>
          <p:cNvPr id="98" name="c2-callout-2"/>
          <p:cNvGrpSpPr/>
          <p:nvPr/>
        </p:nvGrpSpPr>
        <p:grpSpPr>
          <a:xfrm>
            <a:off x="6248400" y="4777740"/>
            <a:ext cx="5410200" cy="1446848"/>
            <a:chOff x="6248400" y="4777740"/>
            <a:chExt cx="5410200" cy="1446848"/>
          </a:xfrm>
        </p:grpSpPr>
        <p:sp>
          <p:nvSpPr>
            <p:cNvPr id="92" name="Rectangle 92"/>
            <p:cNvSpPr/>
            <p:nvPr/>
          </p:nvSpPr>
          <p:spPr>
            <a:xfrm>
              <a:off x="6248400" y="4777740"/>
              <a:ext cx="5410200" cy="1446848"/>
            </a:xfrm>
            <a:prstGeom prst="roundRect">
              <a:avLst>
                <a:gd name="adj" fmla="val 790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6453188" y="5401628"/>
              <a:ext cx="200026" cy="200025"/>
              <a:chOff x="6453188" y="5401628"/>
              <a:chExt cx="200026" cy="200025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6453188" y="54016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492926" y="54460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6527642" y="55572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6755892" y="5033962"/>
              <a:ext cx="4505706" cy="10098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另两题先画图找有根区间：sin 10x + 2cos x − x − 3 = 0 在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[−6, 0] 内有 5 个根（约 −4.0913、−1.1063、−1.0773、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−0.5443、−0.4002）；(x + 2)ln(x² + x + 1) + 1 = 0 只有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 个实根，约 −2.6072。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自测题（一）：二分法与不动点迭代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025968"/>
            <a:chOff x="533400" y="1524000"/>
            <a:chExt cx="5410200" cy="20259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46381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1：用二分法求 x³ − 2 = 0 在 [1, 2] 上的根。写出前 4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个中点；误差不超过 10⁻² 要算几个中点？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632710"/>
              <a:ext cx="467715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f(1) = −1，f(2) = 6。中点依次为 1.5（f &gt; 0）、1.25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（f &lt; 0）、1.375、1.3125。需 1/2ⁿ⁺¹ ≤ 10⁻²，n + 1 ≥ 7，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x₇ = 1.2578125，真根 1.259921。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725228"/>
            <a:ext cx="5410200" cy="2283142"/>
            <a:chOff x="533400" y="3725228"/>
            <a:chExt cx="5410200" cy="2283142"/>
          </a:xfrm>
        </p:grpSpPr>
        <p:sp>
          <p:nvSpPr>
            <p:cNvPr id="13" name="Rectangle 13"/>
            <p:cNvSpPr/>
            <p:nvPr/>
          </p:nvSpPr>
          <p:spPr>
            <a:xfrm>
              <a:off x="533400" y="3725228"/>
              <a:ext cx="5410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9176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95192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4274820"/>
              <a:ext cx="4722162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3：用不动点迭代求 x² = 2 的正根，迭代公式中不含开方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运算，迭代一步。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4833937"/>
              <a:ext cx="457428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xₖ₊₁ = (xₖ + 2/xₖ)/2，x₀ = 1 得 x₁ = 1.5（再一步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1.416667）。不能取 x = 2/x：φ′(√2) = −1，序列在 1 与 2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之间来回跳。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2025968"/>
            <a:chOff x="6248400" y="1524000"/>
            <a:chExt cx="5410200" cy="2025968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3947" y="2072640"/>
              <a:ext cx="466386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2：证明对任何 x₀，xₖ₊₁ = cos xₖ 都收敛于 x − cos x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 的根。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3947" y="2632710"/>
              <a:ext cx="460000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x₁ ∈ [−1, 1]，x₂ = cos x₁ ∈ [cos 1, 1] ⊂ [0, 1]。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cos 把 [0, 1] 映入自身，且 |sin x| ≤ sin 1 ≈ 0.841 &lt; 1，由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 从 x₂ 起收敛，根为 0.739085。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725228"/>
            <a:ext cx="5410200" cy="2283142"/>
            <a:chOff x="6248400" y="3725228"/>
            <a:chExt cx="5410200" cy="2283142"/>
          </a:xfrm>
        </p:grpSpPr>
        <p:sp>
          <p:nvSpPr>
            <p:cNvPr id="25" name="Rectangle 25"/>
            <p:cNvSpPr/>
            <p:nvPr/>
          </p:nvSpPr>
          <p:spPr>
            <a:xfrm>
              <a:off x="6248400" y="3725228"/>
              <a:ext cx="5410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391763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3951923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4274820"/>
              <a:ext cx="47924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为什么不能用二分法求 (x − 1)² = 0 的根？若在 [1/2, ln 2]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上用二分法求 x eˣ − 1 = 0 的根到误差 10⁻⁶，要算几个中点？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4833937"/>
              <a:ext cx="474573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(x − 1)² ≥ 0，任何区间端点都不异号，找不到有根区间。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第二问需 n + 1 ≥ log₂(0.193147/10⁻⁶) ≈ 17.56，算 18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中点；例 3.4 的不动点迭代实际 20 步达到，两者都是线性收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敛，速度相近。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01017" cy="909257"/>
            <a:chOff x="520446" y="342900"/>
            <a:chExt cx="69010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1643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0802" y="407194"/>
              <a:ext cx="41495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 · 解非线性方程组的 Newton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010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自测题（二）：Newton 法、割线法与方程组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83142"/>
            <a:chOff x="533400" y="1524000"/>
            <a:chExt cx="5410200" cy="22831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4573857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4：求 x³ − 3x − 1 = 0 在 x₀ = 2 附近的根（x* =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1.87938524…），要 4 位准确有效数字。(1) Newton 法；</a:t>
              </a:r>
            </a:p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割线法，x₀ = 2，x₁ = 1.9。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889885"/>
              <a:ext cx="456571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xₖ₊₁ = xₖ − (xₖ³ − 3xₖ − 1)/(3xₖ² − 3)，x₁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1.888889，x₂ = 1.879452 ≈ 1.879。(2) x₂ = 1.881094，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x₃ = 1.879411 ≈ 1.879。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82402"/>
            <a:ext cx="5410200" cy="2283142"/>
            <a:chOff x="533400" y="3982402"/>
            <a:chExt cx="5410200" cy="2283142"/>
          </a:xfrm>
        </p:grpSpPr>
        <p:sp>
          <p:nvSpPr>
            <p:cNvPr id="13" name="Rectangle 13"/>
            <p:cNvSpPr/>
            <p:nvPr/>
          </p:nvSpPr>
          <p:spPr>
            <a:xfrm>
              <a:off x="533400" y="3982402"/>
              <a:ext cx="5410200" cy="2283142"/>
            </a:xfrm>
            <a:prstGeom prst="roundRect">
              <a:avLst>
                <a:gd name="adj" fmla="val 584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41748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42090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4531995"/>
              <a:ext cx="467929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6：用 Newton 法解 x₁ + 2x₂ − 3 = 0，2x₁² + x₂² − 5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0，取 x⁽⁰⁾ = (1.5, 1.0)ᵀ，迭代一步。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5091112"/>
              <a:ext cx="478859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F(x⁽⁰⁾) = (0.5, 0.5)ᵀ，F′ 两行为 (1, 2)、(6, 2)。解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方程得 Δx = (0, −0.25)ᵀ，x⁽¹⁾ = (1.5, 0.75)ᵀ；精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确解之一为 (1.488034, 0.755983)。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2540318"/>
            <a:chOff x="6248400" y="1524000"/>
            <a:chExt cx="5410200" cy="2540318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540318"/>
            </a:xfrm>
            <a:prstGeom prst="roundRect">
              <a:avLst>
                <a:gd name="adj" fmla="val 524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3947" y="2072640"/>
              <a:ext cx="464672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习题 5：12 − 3x + 2cos x = 0。(1) 证明迭代对任意 x₀ 收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敛；(2) 证明线性收敛；(3) x₀ = 0.4，求误差 ≤ 10⁻³ 的近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似根。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3947" y="2889885"/>
              <a:ext cx="484003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φ(x) = 4 + (2/3)cos x，φ 的值总在 [10/3, 14/3]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中，|φ′| ≤ 2/3，由定理 3.1 收敛；φ′(x*) ≈ 0.136 ≠ 0，线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性收敛。x₇ = 3.347504，x₈ = 3.347417，2|x₈ − x₇| &lt; 10⁻³，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3.3474。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4239578"/>
            <a:ext cx="5410200" cy="2025968"/>
            <a:chOff x="6248400" y="4239578"/>
            <a:chExt cx="5410200" cy="2025968"/>
          </a:xfrm>
        </p:grpSpPr>
        <p:sp>
          <p:nvSpPr>
            <p:cNvPr id="25" name="Rectangle 25"/>
            <p:cNvSpPr/>
            <p:nvPr/>
          </p:nvSpPr>
          <p:spPr>
            <a:xfrm>
              <a:off x="6248400" y="4239578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443198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446627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4789170"/>
              <a:ext cx="46745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x* 是 f(x) = 0 的二重根时，Newton 法的收敛阶是多少？怎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样修改公式恢复平方收敛？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5348288"/>
              <a:ext cx="477145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线性收敛，φ′(x*) = 1 − 1/2 = 1/2，误差每步约减半。已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知重数 m 时改用 xₖ₊₁ = xₖ − m·f(xₖ)/f′(xₖ)，此时 φ′(x*)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0，恢复平方收敛。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829372" cy="909257"/>
            <a:chOff x="520446" y="342900"/>
            <a:chExt cx="18293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第3章 非线性方程（组）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33400" y="1524000"/>
            <a:ext cx="6492240" cy="3826192"/>
            <a:chOff x="533400" y="1524000"/>
            <a:chExt cx="6492240" cy="38261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61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5969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迭代公式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7517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收敛条件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8154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收敛阶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2217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45170" y="222170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取有根区间的中点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93033" y="2221706"/>
              <a:ext cx="1365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连续，端点异号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75173" y="2108359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线性，误差界每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步减半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431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647950"/>
              <a:ext cx="649224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28970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不动点迭代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45170" y="2897029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φ(xₖ)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93033" y="2783681"/>
              <a:ext cx="130530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3.1；局部看</a:t>
              </a:r>
              <a:br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 &lt; 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575173" y="2783681"/>
              <a:ext cx="105333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一般线性，C =</a:t>
              </a:r>
              <a:br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|φ′(x*)|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3194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572351"/>
              <a:ext cx="879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45170" y="3459004"/>
              <a:ext cx="10858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xₖ₊₁ = xₖ −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f(xₖ)/f′(xₖ)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93033" y="3459004"/>
              <a:ext cx="146786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局部收敛；定理 3.3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选初值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575173" y="3459004"/>
              <a:ext cx="11752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单根 2 阶，重根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99478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999548"/>
              <a:ext cx="649224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24767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割线法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45170" y="4247674"/>
              <a:ext cx="14948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用差商代替 f′(xₖ)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93033" y="4134326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局部收敛，要两个初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575173" y="4247674"/>
              <a:ext cx="7108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1.618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67010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810601"/>
              <a:ext cx="82412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方程组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Newton 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745170" y="4923949"/>
              <a:ext cx="16093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F′Δx = −F 再更新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693033" y="4810601"/>
              <a:ext cx="15735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局部收敛，F′(x*) 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75173" y="4923949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阶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6492240" cy="38261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632585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580448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462588" y="1524000"/>
              <a:ext cx="9525" cy="38261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rd-1"/>
          <p:cNvGrpSpPr/>
          <p:nvPr/>
        </p:nvGrpSpPr>
        <p:grpSpPr>
          <a:xfrm>
            <a:off x="7330440" y="1524000"/>
            <a:ext cx="4328160" cy="3850005"/>
            <a:chOff x="7330440" y="1524000"/>
            <a:chExt cx="4328160" cy="3850005"/>
          </a:xfrm>
        </p:grpSpPr>
        <p:sp>
          <p:nvSpPr>
            <p:cNvPr id="43" name="Rectangle 43"/>
            <p:cNvSpPr/>
            <p:nvPr/>
          </p:nvSpPr>
          <p:spPr>
            <a:xfrm>
              <a:off x="7330440" y="1524000"/>
              <a:ext cx="4328160" cy="3850005"/>
            </a:xfrm>
            <a:prstGeom prst="roundRect">
              <a:avLst>
                <a:gd name="adj" fmla="val 34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339965" y="1657350"/>
              <a:ext cx="47625" cy="35833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7578090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3479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583805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741920" y="2110740"/>
              <a:ext cx="32259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重根定义应为 g(x*) ≠ 0（第 9 页）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583805" y="250888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741920" y="2446020"/>
              <a:ext cx="36701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3.3 二分法表中 3 行数值（第 13 页）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583805" y="284416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741920" y="2781300"/>
              <a:ext cx="36600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3.4 所需次数应为 k ≥ 26（第 25 页）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583805" y="31794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741920" y="3116580"/>
              <a:ext cx="3396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3.6 表左列实为 x₀ = 3.0 的结果（第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页）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583805" y="380047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741920" y="3737610"/>
              <a:ext cx="3263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3.8 表中 x₁、x₃ 与范数的数值（第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 页）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583805" y="44215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741920" y="4358640"/>
              <a:ext cx="34728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例题按出现顺序编为例 3.1–3.8；原课件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的例 2.1、两个例 3.5、定理 2.1、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(2.1.6) 等旧编号已统一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0" name="Rectangle 60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130" y="5728335"/>
              <a:ext cx="9359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复习时重点练手算：二分次数、定理 3.1 的条件验证与次数估计、Newton 法与割线法的迭代表、方程组的一步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Newton 迭代。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第3章 解非线性方程（组）的数值法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numa_ch3">
  <a:themeElements>
    <a:clrScheme name="numa_ch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uma_ch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uma_ch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2026-09-23T06:15:18Z</dcterms:created>
  <dcterms:modified xsi:type="dcterms:W3CDTF">2026-09-23T06:15:18Z</dcterms:modified>
  <cp:category/>
  <cp:contentStatus/>
</cp:coreProperties>
</file>