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uma_review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uma_review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b7dd126e88c321b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8f176507bba9d99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1db1c29d4dbbd00.png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174030" cy="3437763"/>
            <a:chOff x="666750" y="1619250"/>
            <a:chExt cx="41740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· 总复习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17403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计算方法 总复习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1683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六章要点、核心公式与典型题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误差与有效数字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线性方程组的直接法与迭代法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非线性方程与特征值计算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插值与数值积分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自学复习版｜据吉林大学《计算方法》总复习课件整理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总复习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696111"/>
            <a:chOff x="521970" y="1515428"/>
            <a:chExt cx="6287453" cy="4696111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973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浮点运算注意事项、误差概念、有效数字、误差传播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29743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第二章 解线性方程组的数值法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0510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高斯消去、LU 分解、选主元、范数与条件数、Jacobi 与 G-S 迭代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34185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第三章 非线性方程（组）的数值法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3164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二分法、不动点迭代、Newton 法、方程组的 Newton 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34185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第四章 矩阵特征值特征向量的计算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0419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乘幂法、反幂法、原点平移、Jacobi 旋转法与过关法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6415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第五章 函数插值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6483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Lagrange、Newton、Hermite 插值与插值余项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6415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55156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代数精度、Newton-Cotes、复合公式、Romberg；最后是易错点、自测与速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637722"/>
            <a:chOff x="7114222" y="1524000"/>
            <a:chExt cx="4544378" cy="4637722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637722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37102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判断近似数的有效数字位数，估计运算结果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的误差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44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 LU 分解和列主元消去，写出 Jacobi、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G-S 迭代并判断收敛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用二分法、不动点迭代、Newton 法求根，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并估计迭代次数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758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用乘幂法、反幂法求特征值，完成 Jacobi 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转的一步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构造插值多项式，判定代数精度，计算复合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公式与 Romberg 表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总复习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全课主线：化成迭代或多项式近似，再估计误差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c1-table-1"/>
          <p:cNvGrpSpPr/>
          <p:nvPr/>
        </p:nvGrpSpPr>
        <p:grpSpPr>
          <a:xfrm>
            <a:off x="533400" y="1524000"/>
            <a:ext cx="6708458" cy="4792980"/>
            <a:chOff x="533400" y="1524000"/>
            <a:chExt cx="6708458" cy="47929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4481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38593" y="1651635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章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58683" y="16516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要解决的问题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7785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主要方法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34584" y="165163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收敛或误差的判据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2270" y="2216468"/>
              <a:ext cx="616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 绪论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38110" y="2096452"/>
              <a:ext cx="10424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结果算得准不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80182" y="2096452"/>
              <a:ext cx="18996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误差限、有效数字、误差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193792" y="2216468"/>
              <a:ext cx="17402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|x* − x| ≤ 0.5×10ᵐ⁻ⁿ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4890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653665"/>
              <a:ext cx="6708458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2270" y="2781300"/>
              <a:ext cx="753523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 线性方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38110" y="2901315"/>
              <a:ext cx="5321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 = 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80182" y="2781300"/>
              <a:ext cx="1753933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 消去、LU、选主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元；Jacobi、G-S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193792" y="2781300"/>
              <a:ext cx="136817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&lt; 1；条件数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33279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2270" y="3466148"/>
              <a:ext cx="753523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 非线性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38110" y="3586162"/>
              <a:ext cx="7224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80182" y="3466148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二分法、不动点迭代、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93792" y="3466148"/>
              <a:ext cx="168535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|φ′(x)| ≤ L &lt; 1；收敛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017645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022408"/>
              <a:ext cx="6708458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2270" y="4271010"/>
              <a:ext cx="7979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 特征值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38110" y="4271010"/>
              <a:ext cx="6311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 = λx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80182" y="4150995"/>
              <a:ext cx="13853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乘幂法、反幂法、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93792" y="4150995"/>
              <a:ext cx="178822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|λ₂/λ₁|；非对角元平方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70249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2270" y="5074920"/>
              <a:ext cx="616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 插值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638110" y="4954905"/>
              <a:ext cx="93097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Pₙ(x) 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 f(x)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80182" y="4954905"/>
              <a:ext cx="171107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Lagrange、Newton、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193792" y="4834890"/>
              <a:ext cx="1805368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</a:t>
              </a:r>
              <a:br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f⁽ⁿ⁺¹⁾(ξ)ωₙ₊₁(x)/(n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+1)!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62737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5632132"/>
              <a:ext cx="6708458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2270" y="5759768"/>
              <a:ext cx="753523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 数值积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638110" y="5879783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∫f(x)dx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80182" y="5759768"/>
              <a:ext cx="18996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插值型公式、复合公式、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Romberg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193792" y="5879783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代数精度、求积余项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1524000"/>
              <a:ext cx="6708458" cy="47929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534478" y="1524000"/>
              <a:ext cx="9525" cy="47929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2876550" y="1524000"/>
              <a:ext cx="9525" cy="47929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090160" y="1524000"/>
              <a:ext cx="9525" cy="47929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rd-1"/>
          <p:cNvGrpSpPr/>
          <p:nvPr/>
        </p:nvGrpSpPr>
        <p:grpSpPr>
          <a:xfrm>
            <a:off x="7546658" y="1524000"/>
            <a:ext cx="4111942" cy="2540318"/>
            <a:chOff x="7546658" y="1524000"/>
            <a:chExt cx="4111942" cy="2540318"/>
          </a:xfrm>
        </p:grpSpPr>
        <p:sp>
          <p:nvSpPr>
            <p:cNvPr id="49" name="Rectangle 49"/>
            <p:cNvSpPr/>
            <p:nvPr/>
          </p:nvSpPr>
          <p:spPr>
            <a:xfrm>
              <a:off x="7546658" y="1524000"/>
              <a:ext cx="4111942" cy="2540318"/>
            </a:xfrm>
            <a:prstGeom prst="roundRect">
              <a:avLst>
                <a:gd name="adj" fmla="val 524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739062" y="1716405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02499" y="175069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两条贯穿全课的线索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32204" y="2072640"/>
              <a:ext cx="352844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：x⁽ᵏ⁺¹⁾ = Hx⁽ᵏ⁾ + g、xₖ₊₁ = φ(xₖ)、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x⁽ᵏ⁺¹⁾ = Ay⁽ᵏ⁾ 都是反复代入。误差每步乘上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一个因子（H、φ′、λ₂/λ₁），因子的模小于 1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才收敛。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32204" y="3147060"/>
              <a:ext cx="324554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多项式近似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：插值用 Lₙ(x) 代替 f(x)；对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Lₙ(x) 积分得到插值型求积公式，对余项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Rₙ(x) 积分得到求积余项。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7546658" y="4239578"/>
            <a:ext cx="4111942" cy="729615"/>
            <a:chOff x="7546658" y="4239578"/>
            <a:chExt cx="4111942" cy="729615"/>
          </a:xfrm>
        </p:grpSpPr>
        <p:sp>
          <p:nvSpPr>
            <p:cNvPr id="55" name="Rectangle 55"/>
            <p:cNvSpPr/>
            <p:nvPr/>
          </p:nvSpPr>
          <p:spPr>
            <a:xfrm>
              <a:off x="7546658" y="4239578"/>
              <a:ext cx="411194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751445" y="4504373"/>
              <a:ext cx="200026" cy="200025"/>
              <a:chOff x="7751445" y="4504373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751445" y="4504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791184" y="4548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825899" y="4659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8054149" y="4386262"/>
              <a:ext cx="32712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复习每个方法时问三件事：公式怎么写，什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么条件下收敛，误差怎么估计。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246114" cy="3706177"/>
            <a:chOff x="667512" y="1835468"/>
            <a:chExt cx="6246114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0058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绪论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计算机只做有限位的四则运算，要知道误差从哪里来、怎样控制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学习计算方法的必要性与主要内容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浮点数四则计算的注意事项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误差的来源及有关概念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绝对误差、相对误差、有效数字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误差的传播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误差有四个来源，计算方法主要控制截断误差和舍入误差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700088" y="1795462"/>
            <a:ext cx="4427219" cy="4295775"/>
            <a:chOff x="700088" y="1795462"/>
            <a:chExt cx="4427219" cy="4295775"/>
          </a:xfrm>
        </p:grpSpPr>
        <p:sp>
          <p:nvSpPr>
            <p:cNvPr id="7" name="Freeform 7"/>
            <p:cNvSpPr/>
            <p:nvPr/>
          </p:nvSpPr>
          <p:spPr>
            <a:xfrm>
              <a:off x="1724025" y="2220278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671638" y="26584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24025" y="3188018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71638" y="36261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724025" y="4155758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71638" y="45939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724025" y="5123498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671638" y="55616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851785" y="297561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22860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2747010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851785" y="39433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22860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2747010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851785" y="491109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22860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2747010" y="48587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00088" y="1795462"/>
              <a:ext cx="2046922" cy="4248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00088" y="2763202"/>
              <a:ext cx="204692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0088" y="3730942"/>
              <a:ext cx="204692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00088" y="4698682"/>
              <a:ext cx="2046922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0088" y="5666422"/>
              <a:ext cx="2046922" cy="4248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3080385" y="2763202"/>
              <a:ext cx="2046922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3080385" y="3730942"/>
              <a:ext cx="2046922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080385" y="4698682"/>
              <a:ext cx="2046922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94841" y="19240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实际问题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94841" y="28917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数学模型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94841" y="385953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数值方法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14069" y="482727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计算机计算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94841" y="57950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近似结果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71278" y="289179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模型误差、观测误差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90506" y="385953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截断误差（方法误差）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75138" y="482727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舍入误差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5598795" y="1524000"/>
            <a:ext cx="6059805" cy="2185988"/>
            <a:chOff x="5598795" y="1524000"/>
            <a:chExt cx="6059805" cy="2185988"/>
          </a:xfrm>
        </p:grpSpPr>
        <p:sp>
          <p:nvSpPr>
            <p:cNvPr id="38" name="Rectangle 38"/>
            <p:cNvSpPr/>
            <p:nvPr/>
          </p:nvSpPr>
          <p:spPr>
            <a:xfrm>
              <a:off x="5598795" y="1524000"/>
              <a:ext cx="6059805" cy="2185988"/>
            </a:xfrm>
            <a:prstGeom prst="roundRect">
              <a:avLst>
                <a:gd name="adj" fmla="val 61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608320" y="1657350"/>
              <a:ext cx="47625" cy="191928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40730" y="172783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06287" y="17635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计算方法研究什么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48350" y="2161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04941" y="2100739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多数实际问题没有解析解，或解析解算起来代价太大，只能用有限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步四则运算求近似解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48350" y="275272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004941" y="2692241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本课内容：线性方程组、非线性方程（组）、矩阵特征值、函数插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值、数值积分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48350" y="334422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004941" y="3283744"/>
              <a:ext cx="55581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每个算法都要回答：是否收敛、误差多大、是否稳定、计算量多少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5598795" y="3895725"/>
            <a:ext cx="6059805" cy="2265998"/>
            <a:chOff x="5598795" y="3895725"/>
            <a:chExt cx="6059805" cy="2265998"/>
          </a:xfrm>
        </p:grpSpPr>
        <p:sp>
          <p:nvSpPr>
            <p:cNvPr id="49" name="Rectangle 49"/>
            <p:cNvSpPr/>
            <p:nvPr/>
          </p:nvSpPr>
          <p:spPr>
            <a:xfrm>
              <a:off x="5598795" y="3895725"/>
              <a:ext cx="6059805" cy="2265998"/>
            </a:xfrm>
            <a:prstGeom prst="roundRect">
              <a:avLst>
                <a:gd name="adj" fmla="val 58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608320" y="4029075"/>
              <a:ext cx="47625" cy="19992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40730" y="409956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10237" y="413527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截断误差的例子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833491" y="4472464"/>
              <a:ext cx="538861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Taylor 多项式 Pₙ(x) = 1 + x + x²/2! + … + xⁿ/n! 近似 eˣ，截断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formula3"/>
                <p:cNvSpPr txBox="1">
                  <a:spLocks noGrp="1"/>
                </p:cNvSpPr>
                <p:nvPr/>
              </p:nvSpPr>
              <p:spPr>
                <a:xfrm>
                  <a:off x="5840730" y="5040630"/>
                  <a:ext cx="561403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θx</m:t>
                                </m:r>
                              </m:sup>
                            </m:sSup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5" name="TextBox 55"/>
            <p:cNvSpPr txBox="1"/>
            <p:nvPr/>
          </p:nvSpPr>
          <p:spPr>
            <a:xfrm>
              <a:off x="5834634" y="5770245"/>
              <a:ext cx="4289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|x| &lt; 1 时 |Rₙ(x)| &lt; e/(n+1)!，n = 8 时已小于 7.5×10⁻⁶。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绝对误差、相对误差与有效数字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481262"/>
            <a:chOff x="533400" y="1524000"/>
            <a:chExt cx="5626418" cy="24812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481262"/>
            </a:xfrm>
            <a:prstGeom prst="roundRect">
              <a:avLst>
                <a:gd name="adj" fmla="val 53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1456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141095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273" y="1750695"/>
              <a:ext cx="9983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1.1 – 1.4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12442" y="175641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误差与误差限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2476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 为准确值，x* 为近似值：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4"/>
                <p:cNvSpPr txBox="1">
                  <a:spLocks noGrp="1"/>
                </p:cNvSpPr>
                <p:nvPr/>
              </p:nvSpPr>
              <p:spPr>
                <a:xfrm>
                  <a:off x="763905" y="2370772"/>
                  <a:ext cx="520350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5"/>
                <p:cNvSpPr txBox="1">
                  <a:spLocks noGrp="1"/>
                </p:cNvSpPr>
                <p:nvPr/>
              </p:nvSpPr>
              <p:spPr>
                <a:xfrm>
                  <a:off x="763905" y="2914650"/>
                  <a:ext cx="520350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num>
                          <m:den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num>
                          <m:den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58190" y="3637121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绝对误差带量纲；比较两个近似值谁更准，要看相对误差。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180522"/>
            <a:ext cx="5626418" cy="2073592"/>
            <a:chOff x="533400" y="4180522"/>
            <a:chExt cx="5626418" cy="2073592"/>
          </a:xfrm>
        </p:grpSpPr>
        <p:sp>
          <p:nvSpPr>
            <p:cNvPr id="17" name="Rectangle 17"/>
            <p:cNvSpPr/>
            <p:nvPr/>
          </p:nvSpPr>
          <p:spPr>
            <a:xfrm>
              <a:off x="533400" y="4180522"/>
              <a:ext cx="5626418" cy="2073592"/>
            </a:xfrm>
            <a:prstGeom prst="roundRect">
              <a:avLst>
                <a:gd name="adj" fmla="val 64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313872"/>
              <a:ext cx="47625" cy="180689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3905" y="4372928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6844" y="4407218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1.6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20964" y="44119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有效数字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7047" y="4746308"/>
              <a:ext cx="49842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x* 写成规格化形式 x* = ±0.α₁α₂…αₖ × 10ᵐ（α₁ ≠ 0），若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26"/>
                <p:cNvSpPr txBox="1">
                  <a:spLocks noGrp="1"/>
                </p:cNvSpPr>
                <p:nvPr/>
              </p:nvSpPr>
              <p:spPr>
                <a:xfrm>
                  <a:off x="763905" y="5026342"/>
                  <a:ext cx="520350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0.5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TextBox 24"/>
            <p:cNvSpPr txBox="1"/>
            <p:nvPr/>
          </p:nvSpPr>
          <p:spPr>
            <a:xfrm>
              <a:off x="757047" y="5593080"/>
              <a:ext cx="4967335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则称 x* 有 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位有效数字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：从第一个非零数字数到误差限所在的那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一位。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464618" y="1524000"/>
            <a:ext cx="5193982" cy="2982278"/>
            <a:chOff x="6464618" y="1524000"/>
            <a:chExt cx="5193982" cy="2982278"/>
          </a:xfrm>
        </p:grpSpPr>
        <p:sp>
          <p:nvSpPr>
            <p:cNvPr id="26" name="Rectangle 26"/>
            <p:cNvSpPr/>
            <p:nvPr/>
          </p:nvSpPr>
          <p:spPr>
            <a:xfrm>
              <a:off x="6464618" y="1524000"/>
              <a:ext cx="5193982" cy="2982278"/>
            </a:xfrm>
            <a:prstGeom prst="roundRect">
              <a:avLst>
                <a:gd name="adj" fmla="val 44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74142" y="1657350"/>
              <a:ext cx="47625" cy="271557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95122" y="1716405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79014" y="175069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1.1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52182" y="175641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有效数字与相对误差的换算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88264" y="2090738"/>
              <a:ext cx="17220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有 n 位有效数字 ⇒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27"/>
                <p:cNvSpPr txBox="1">
                  <a:spLocks noGrp="1"/>
                </p:cNvSpPr>
                <p:nvPr/>
              </p:nvSpPr>
              <p:spPr>
                <a:xfrm>
                  <a:off x="6695122" y="2370772"/>
                  <a:ext cx="4771072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b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3" name="TextBox 33"/>
            <p:cNvSpPr txBox="1"/>
            <p:nvPr/>
          </p:nvSpPr>
          <p:spPr>
            <a:xfrm>
              <a:off x="6688264" y="309657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反之，若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28"/>
                <p:cNvSpPr txBox="1">
                  <a:spLocks noGrp="1"/>
                </p:cNvSpPr>
                <p:nvPr/>
              </p:nvSpPr>
              <p:spPr>
                <a:xfrm>
                  <a:off x="6695122" y="3376612"/>
                  <a:ext cx="4771072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b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α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5" name="TextBox 35"/>
            <p:cNvSpPr txBox="1"/>
            <p:nvPr/>
          </p:nvSpPr>
          <p:spPr>
            <a:xfrm>
              <a:off x="6688264" y="4103370"/>
              <a:ext cx="23490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 x* 至少有 n 位有效数字。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464618" y="4681538"/>
            <a:ext cx="5193982" cy="1571625"/>
            <a:chOff x="6464618" y="4681538"/>
            <a:chExt cx="5193982" cy="1571625"/>
          </a:xfrm>
        </p:grpSpPr>
        <p:sp>
          <p:nvSpPr>
            <p:cNvPr id="37" name="Rectangle 37"/>
            <p:cNvSpPr/>
            <p:nvPr/>
          </p:nvSpPr>
          <p:spPr>
            <a:xfrm>
              <a:off x="6464618" y="4681538"/>
              <a:ext cx="5193982" cy="1571625"/>
            </a:xfrm>
            <a:prstGeom prst="roundRect">
              <a:avLst>
                <a:gd name="adj" fmla="val 727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669405" y="5367338"/>
              <a:ext cx="200026" cy="200025"/>
              <a:chOff x="6669405" y="5367338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669405" y="536733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09144" y="541178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743859" y="552291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972110" y="5124450"/>
              <a:ext cx="409422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四舍五入得到的数，末位的半个单位就是误差限。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0.0450 = 0.450×10⁻¹，误差限 0.5×10⁻⁴，有 3 位有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效数字（末尾的 0 也算）。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浮点运算避开几个坑，误差按微分规律传播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5951220" cy="3221355"/>
            <a:chOff x="533400" y="1524000"/>
            <a:chExt cx="5951220" cy="3221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6708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注意事项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34825" y="1655445"/>
              <a:ext cx="19333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例子（4 位十进制浮点数）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8746" y="219170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避免大数吃小数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23732" y="2085022"/>
              <a:ext cx="35783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0.1000×10⁵ + 0.4 的结果仍是 0.1000×10⁵；许多小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数要先相加再加到大数上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270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597468"/>
              <a:ext cx="595122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8746" y="283559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避免相近数相减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23732" y="2728912"/>
              <a:ext cx="3364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x² − 62x + 1 = 0：x₂ = 31 − √960 = 31 − 30.98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0.02，只剩 1 位有效数字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23659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8746" y="34794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改写公式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23732" y="3372802"/>
              <a:ext cx="35021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 = 1/(31 + √960) = 1/61.98 = 0.01613，精确值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0.016133…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87953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88429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8746" y="401574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避免小数作除数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23732" y="4015740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分母的一点误差会被放大，商的绝对值过大甚至溢出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31006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8746" y="444627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减少运算次数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23732" y="4446270"/>
              <a:ext cx="37438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多项式求值用嵌套形式 (…(aₙx + aₙ₋₁)x + …)x + a₀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5951220" cy="3221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313622" y="1524000"/>
              <a:ext cx="9525" cy="3221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llout-2"/>
          <p:cNvGrpSpPr/>
          <p:nvPr/>
        </p:nvGrpSpPr>
        <p:grpSpPr>
          <a:xfrm>
            <a:off x="533400" y="4930140"/>
            <a:ext cx="5951220" cy="1290638"/>
            <a:chOff x="533400" y="4930140"/>
            <a:chExt cx="5951220" cy="1290638"/>
          </a:xfrm>
        </p:grpSpPr>
        <p:sp>
          <p:nvSpPr>
            <p:cNvPr id="29" name="Rectangle 29"/>
            <p:cNvSpPr/>
            <p:nvPr/>
          </p:nvSpPr>
          <p:spPr>
            <a:xfrm>
              <a:off x="533400" y="4930140"/>
              <a:ext cx="5951220" cy="1290638"/>
            </a:xfrm>
            <a:prstGeom prst="roundRect">
              <a:avLst>
                <a:gd name="adj" fmla="val 885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475923"/>
              <a:ext cx="200026" cy="200026"/>
              <a:chOff x="738188" y="547592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4759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5425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5759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511" y="5213509"/>
              <a:ext cx="487464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嵌套求值例：p(x) = 2x³ − 3x² + x − 5，p(2) = ((2×2 −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3)×2 + 1)×2 − 5 = 1。n 次多项式只需 n 次乘法，逐项计算约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 n(n + 1)/2 次。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789420" y="1524000"/>
            <a:ext cx="4869180" cy="3492818"/>
            <a:chOff x="6789420" y="1524000"/>
            <a:chExt cx="4869180" cy="3492818"/>
          </a:xfrm>
        </p:grpSpPr>
        <p:sp>
          <p:nvSpPr>
            <p:cNvPr id="36" name="Rectangle 36"/>
            <p:cNvSpPr/>
            <p:nvPr/>
          </p:nvSpPr>
          <p:spPr>
            <a:xfrm>
              <a:off x="6789420" y="1524000"/>
              <a:ext cx="4869180" cy="3492818"/>
            </a:xfrm>
            <a:prstGeom prst="roundRect">
              <a:avLst>
                <a:gd name="adj" fmla="val 38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98945" y="1657350"/>
              <a:ext cx="47625" cy="322611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3135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11366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误差传播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16608" y="1767364"/>
              <a:ext cx="1974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把误差看成微分 e = dx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formula37"/>
                <p:cNvSpPr txBox="1">
                  <a:spLocks noGrp="1"/>
                </p:cNvSpPr>
                <p:nvPr/>
              </p:nvSpPr>
              <p:spPr>
                <a:xfrm>
                  <a:off x="7031355" y="2095500"/>
                  <a:ext cx="442341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±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±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formula38"/>
                <p:cNvSpPr txBox="1">
                  <a:spLocks noGrp="1"/>
                </p:cNvSpPr>
                <p:nvPr/>
              </p:nvSpPr>
              <p:spPr>
                <a:xfrm>
                  <a:off x="7031355" y="2664142"/>
                  <a:ext cx="4423410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y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formula39"/>
                <p:cNvSpPr txBox="1">
                  <a:spLocks noGrp="1"/>
                </p:cNvSpPr>
                <p:nvPr/>
              </p:nvSpPr>
              <p:spPr>
                <a:xfrm>
                  <a:off x="7031355" y="3080385"/>
                  <a:ext cx="4423410" cy="6429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num>
                              <m:den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formula40"/>
                <p:cNvSpPr txBox="1">
                  <a:spLocks noGrp="1"/>
                </p:cNvSpPr>
                <p:nvPr/>
              </p:nvSpPr>
              <p:spPr>
                <a:xfrm>
                  <a:off x="7031355" y="3815715"/>
                  <a:ext cx="442341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5" name="TextBox 45"/>
            <p:cNvSpPr txBox="1"/>
            <p:nvPr/>
          </p:nvSpPr>
          <p:spPr>
            <a:xfrm>
              <a:off x="7025259" y="4404360"/>
              <a:ext cx="4126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乘除时相对误差相加减；函数值的误差约等于导数乘自变量的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误差。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6789420" y="5202555"/>
            <a:ext cx="4869180" cy="1018222"/>
            <a:chOff x="6789420" y="5202555"/>
            <a:chExt cx="4869180" cy="1018222"/>
          </a:xfrm>
        </p:grpSpPr>
        <p:sp>
          <p:nvSpPr>
            <p:cNvPr id="47" name="Rectangle 47"/>
            <p:cNvSpPr/>
            <p:nvPr/>
          </p:nvSpPr>
          <p:spPr>
            <a:xfrm>
              <a:off x="6789420" y="5202555"/>
              <a:ext cx="486918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994208" y="5611178"/>
              <a:ext cx="200026" cy="200025"/>
              <a:chOff x="6994208" y="5611178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994208" y="56111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033946" y="56556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068662" y="57667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296531" y="5349716"/>
              <a:ext cx="397294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例：x* = 2.00，y* = 3.00，误差限都是 0.005。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|eᵣ(xy)| ≤ 0.005/2 + 0.005/3 ≈ 0.42%，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|e(xy)| ≤ 3×0.005 + 2×0.005 = 0.025。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算法稳定性：同一个递推式，正着算发散，倒着算稳定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977765" cy="3276600"/>
            <a:chOff x="533400" y="1524000"/>
            <a:chExt cx="4977765" cy="3276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276600"/>
            </a:xfrm>
            <a:prstGeom prst="roundRect">
              <a:avLst>
                <a:gd name="adj" fmla="val 40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009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616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39202" y="1768792"/>
              <a:ext cx="22345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Iₙ = ∫₀¹ xⁿ/(x + 5) dx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2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4520565" cy="6934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5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6765" y="29813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918460"/>
              <a:ext cx="3987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正推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Iₙ = 1/n − 5Iₙ₋₁，从 I₀ = ln1.2 ≈ 0.1823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出发：误差每步乘 −5，n 步后放大 5ⁿ 倍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6023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539490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倒推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Iₙ₋₁ = (1/n − Iₙ)/5，从粗估 I₈ ≈ (1/54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1/45)/2 = 0.02037 出发：误差每步缩小为 1/5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4573" y="4157186"/>
              <a:ext cx="37843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粗估依据：x + 5 在 5 与 6 之间，1/(6(n+1)) &lt; Iₙ &lt;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1/(5(n+1))。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991100"/>
            <a:ext cx="4977765" cy="1272540"/>
            <a:chOff x="533400" y="4991100"/>
            <a:chExt cx="4977765" cy="1272540"/>
          </a:xfrm>
        </p:grpSpPr>
        <p:sp>
          <p:nvSpPr>
            <p:cNvPr id="19" name="Rectangle 19"/>
            <p:cNvSpPr/>
            <p:nvPr/>
          </p:nvSpPr>
          <p:spPr>
            <a:xfrm>
              <a:off x="533400" y="4991100"/>
              <a:ext cx="4977765" cy="1272540"/>
            </a:xfrm>
            <a:prstGeom prst="roundRect">
              <a:avLst>
                <a:gd name="adj" fmla="val 898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527360"/>
              <a:ext cx="200023" cy="200023"/>
              <a:chOff x="738188" y="5527360"/>
              <a:chExt cx="200023" cy="200023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5273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71538" y="55940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5384482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初始误差在计算过程中不增长的算法称为数值稳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定的。本例正推不稳定，倒推稳定。</a:t>
              </a:r>
            </a:p>
          </p:txBody>
        </p:sp>
      </p:grpSp>
      <p:grpSp>
        <p:nvGrpSpPr>
          <p:cNvPr id="90" name="c2-table-1"/>
          <p:cNvGrpSpPr/>
          <p:nvPr/>
        </p:nvGrpSpPr>
        <p:grpSpPr>
          <a:xfrm>
            <a:off x="5810250" y="1524000"/>
            <a:ext cx="5848350" cy="4783932"/>
            <a:chOff x="5810250" y="1524000"/>
            <a:chExt cx="5848350" cy="4783932"/>
          </a:xfrm>
        </p:grpSpPr>
        <p:sp>
          <p:nvSpPr>
            <p:cNvPr id="25" name="Rectangle 25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191215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7598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51739" y="1659731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正推（4 位）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280527" y="1659731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倒推（4 位）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91215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55363" y="210835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0.182322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75101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0.1823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939338" y="1982152"/>
              <a:ext cx="170973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503888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0.1823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815965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815965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91215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55363" y="255698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0.088392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75101" y="255698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0.0885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939338" y="2430780"/>
              <a:ext cx="170973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456502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0.08839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815965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91215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55363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0.058039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775101" y="300561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0.0575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939338" y="2880360"/>
              <a:ext cx="170973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456502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0.05804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33147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15965" y="331946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91215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55363" y="34542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0.043139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727714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0.04583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939338" y="3328988"/>
              <a:ext cx="170973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456502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0.04314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815965" y="37633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191215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55363" y="390382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0.034306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727714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0.02085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456502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0.03431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15965" y="421195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815965" y="421671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191215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55363" y="435244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0.028468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727714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0.09575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456502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0.02846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815965" y="46605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191215" y="480107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055363" y="480107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0.024325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8211502" y="4674870"/>
              <a:ext cx="170973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727714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−0.3121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456502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0.02439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815965" y="51101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5815965" y="511492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191215" y="524970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055363" y="524970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0.021233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211502" y="5124450"/>
              <a:ext cx="170973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822487" y="524970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1.703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456502" y="524970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0.02093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815965" y="55587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191215" y="56983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055363" y="569833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0.018837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8211502" y="5573078"/>
              <a:ext cx="170973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822487" y="569833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−8.39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456502" y="569833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0.02037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5815965" y="1524000"/>
              <a:ext cx="5842635" cy="44881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6675120" y="1524000"/>
              <a:ext cx="9525" cy="44881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8197215" y="1524000"/>
              <a:ext cx="9525" cy="44881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925050" y="1524000"/>
              <a:ext cx="9525" cy="44881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5810250" y="6087904"/>
              <a:ext cx="436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Iₙ 应为正数且随 n 递减；正推到 I₆ 已出现负数，倒推越往前越准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第一章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典型题：有效数字位数、所需位数与面积的误差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28066" y="1524000"/>
            <a:ext cx="5631752" cy="1902714"/>
            <a:chOff x="528066" y="1524000"/>
            <a:chExt cx="5631752" cy="19027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57833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近似值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09423" y="1648301"/>
              <a:ext cx="5496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|x* − x|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3342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有效数字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 ≈ 3.1416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46032" y="2054066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7.35×10⁻⁶ ≤ 0.5×10⁻⁴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22532" y="205406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位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15074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 ≈ 22/7 = 3.142857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46032" y="2459831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1.26×10⁻³ ≤ 0.5×10⁻²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022532" y="245983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≈ 2.7183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46032" y="2865596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1.82×10⁻⁵ ≤ 0.5×10⁻⁴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22532" y="286559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626418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41258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917758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8066" y="3221355"/>
              <a:ext cx="38978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三个数都是 0.…×10¹，m = 1；由 m − n 等于误差限的指数得 n</a:t>
              </a:r>
            </a:p>
          </p:txBody>
        </p:sp>
      </p:grpSp>
      <p:grpSp>
        <p:nvGrpSpPr>
          <p:cNvPr id="48" name="c1-table-2"/>
          <p:cNvGrpSpPr/>
          <p:nvPr/>
        </p:nvGrpSpPr>
        <p:grpSpPr>
          <a:xfrm>
            <a:off x="528066" y="3560445"/>
            <a:ext cx="5631752" cy="1496949"/>
            <a:chOff x="528066" y="3560445"/>
            <a:chExt cx="5631752" cy="1496949"/>
          </a:xfrm>
        </p:grpSpPr>
        <p:sp>
          <p:nvSpPr>
            <p:cNvPr id="28" name="Rectangle 28"/>
            <p:cNvSpPr/>
            <p:nvPr/>
          </p:nvSpPr>
          <p:spPr>
            <a:xfrm>
              <a:off x="533400" y="3560445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13549" y="368474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四舍五入得到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99729" y="36847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有效数字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25407" y="3684746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误差限 ε*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10329" y="3684746"/>
              <a:ext cx="10740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相对误差限 εᵣ*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3412" y="4090511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0.0450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110740" y="409051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位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303270" y="409051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0.5×10⁻⁴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33912" y="409051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1.11×10⁻³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672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37197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4496276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123.40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110740" y="449627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位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03270" y="449627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0.5×10⁻²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633912" y="449627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4.05×10⁻⁵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560445"/>
              <a:ext cx="5626418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2005965" y="356044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198495" y="356044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529138" y="356044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8066" y="4852035"/>
              <a:ext cx="879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εᵣ* = ε*/|x*|</a:t>
              </a:r>
            </a:p>
          </p:txBody>
        </p:sp>
      </p:grpSp>
      <p:grpSp>
        <p:nvGrpSpPr>
          <p:cNvPr id="55" name="c1-callout-3"/>
          <p:cNvGrpSpPr/>
          <p:nvPr/>
        </p:nvGrpSpPr>
        <p:grpSpPr>
          <a:xfrm>
            <a:off x="533400" y="5191125"/>
            <a:ext cx="5626418" cy="1061085"/>
            <a:chOff x="533400" y="5191125"/>
            <a:chExt cx="5626418" cy="1061085"/>
          </a:xfrm>
        </p:grpSpPr>
        <p:sp>
          <p:nvSpPr>
            <p:cNvPr id="49" name="Rectangle 49"/>
            <p:cNvSpPr/>
            <p:nvPr/>
          </p:nvSpPr>
          <p:spPr>
            <a:xfrm>
              <a:off x="533400" y="5191125"/>
              <a:ext cx="5626418" cy="1061085"/>
            </a:xfrm>
            <a:prstGeom prst="roundRect">
              <a:avLst>
                <a:gd name="adj" fmla="val 1077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622608"/>
              <a:ext cx="200026" cy="200025"/>
              <a:chOff x="738188" y="562260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5622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7926" y="5667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12642" y="5778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5379720"/>
              <a:ext cx="467715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用定理 1.1 核对：0.0450 的 α₁ = 4、n = 3，相对误差限不超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过 10⁻²/(2×4) = 1.25×10⁻³；123.40 的 α₁ = 1、n = 5，不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超过 10⁻⁴/2 = 5×10⁻⁵。都不小于表中的值。</a:t>
              </a:r>
            </a:p>
          </p:txBody>
        </p:sp>
      </p:grpSp>
      <p:grpSp>
        <p:nvGrpSpPr>
          <p:cNvPr id="64" name="c2-card-1"/>
          <p:cNvGrpSpPr/>
          <p:nvPr/>
        </p:nvGrpSpPr>
        <p:grpSpPr>
          <a:xfrm>
            <a:off x="6464618" y="1524000"/>
            <a:ext cx="5193982" cy="2233612"/>
            <a:chOff x="6464618" y="1524000"/>
            <a:chExt cx="5193982" cy="2233612"/>
          </a:xfrm>
        </p:grpSpPr>
        <p:sp>
          <p:nvSpPr>
            <p:cNvPr id="56" name="Rectangle 56"/>
            <p:cNvSpPr/>
            <p:nvPr/>
          </p:nvSpPr>
          <p:spPr>
            <a:xfrm>
              <a:off x="6464618" y="1524000"/>
              <a:ext cx="5193982" cy="223361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1657350"/>
              <a:ext cx="47625" cy="19669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95122" y="171640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62560" y="175069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需要几位有效数字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78914" y="1756410"/>
              <a:ext cx="3139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 √20 的近似值相对误差不超过 0.1%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88264" y="2090738"/>
              <a:ext cx="36302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√20 = 4.47…，首位 α₁ = 4，由定理 1.1 只需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formula47"/>
                <p:cNvSpPr txBox="1">
                  <a:spLocks noGrp="1"/>
                </p:cNvSpPr>
                <p:nvPr/>
              </p:nvSpPr>
              <p:spPr>
                <a:xfrm>
                  <a:off x="6695122" y="2370772"/>
                  <a:ext cx="4771072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3" name="TextBox 63"/>
            <p:cNvSpPr txBox="1"/>
            <p:nvPr/>
          </p:nvSpPr>
          <p:spPr>
            <a:xfrm>
              <a:off x="6688264" y="3096577"/>
              <a:ext cx="35027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3 时左边为 1.25×10⁻³，不够；n = 4 时为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1.25×10⁻⁴。取 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位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，√20 ≈ 4.472。</a:t>
              </a:r>
            </a:p>
          </p:txBody>
        </p:sp>
      </p:grpSp>
      <p:grpSp>
        <p:nvGrpSpPr>
          <p:cNvPr id="74" name="c2-card-2"/>
          <p:cNvGrpSpPr/>
          <p:nvPr/>
        </p:nvGrpSpPr>
        <p:grpSpPr>
          <a:xfrm>
            <a:off x="6464618" y="3931920"/>
            <a:ext cx="5193982" cy="2320290"/>
            <a:chOff x="6464618" y="3931920"/>
            <a:chExt cx="5193982" cy="2320290"/>
          </a:xfrm>
        </p:grpSpPr>
        <p:sp>
          <p:nvSpPr>
            <p:cNvPr id="65" name="Rectangle 65"/>
            <p:cNvSpPr/>
            <p:nvPr/>
          </p:nvSpPr>
          <p:spPr>
            <a:xfrm>
              <a:off x="6464618" y="3931920"/>
              <a:ext cx="5193982" cy="2320290"/>
            </a:xfrm>
            <a:prstGeom prst="roundRect">
              <a:avLst>
                <a:gd name="adj" fmla="val 57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74142" y="4065270"/>
              <a:ext cx="47625" cy="20535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695122" y="412432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78562" y="415861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误差传播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688264" y="4481512"/>
              <a:ext cx="4474416" cy="4954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22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半径 r* = 2.00 cm（误差限 0.005），求面积 S = πr² 的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703695" y="508920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859714" y="5033010"/>
              <a:ext cx="32884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相对误差：eᵣ(S) ≈ 2eᵣ(r)，|eᵣ(S)| ≤ 2 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0.005/2.00 = 0.5%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703695" y="564832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859714" y="5592128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绝对误差：e(S) ≈ 2πr·e(r)，|e(S)| ≤ 2π × 2.00 ×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0.005 ≈ 0.063 cm²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5135499" cy="3706177"/>
            <a:chOff x="667512" y="1835468"/>
            <a:chExt cx="5135499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解线性方程组的数值法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直接法经有限步得到解，迭代法从初值出发逐步逼近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高斯消去法：消元、回代、计算量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1679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矩阵三角分解：Doolittle 与 Crout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选主元消去法：列主元与全主元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向量、矩阵范数，谱半径与条件数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42861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迭代法收敛定理，Jacobi 与 Gauss-Seidel 迭代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高斯消去法：消元化成上三角，再回代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6059805" cy="2689860"/>
            <a:chOff x="533400" y="1524000"/>
            <a:chExt cx="6059805" cy="26898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689860"/>
            </a:xfrm>
            <a:prstGeom prst="roundRect">
              <a:avLst>
                <a:gd name="adj" fmla="val 49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2316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消元过程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17432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1, 2, …, n − 1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273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主元 aₖₖ⁽ᵏ⁾ ≠ 0 时，对 i = k + 1, …, n 计算乘数，第 i 行减去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行的 mᵢₖ 倍：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2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5602605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ik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num>
                          <m:den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kk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kj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bSup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53"/>
                <p:cNvSpPr txBox="1">
                  <a:spLocks noGrp="1"/>
                </p:cNvSpPr>
                <p:nvPr/>
              </p:nvSpPr>
              <p:spPr>
                <a:xfrm>
                  <a:off x="781050" y="3489960"/>
                  <a:ext cx="5602605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j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2"/>
          <p:cNvGrpSpPr/>
          <p:nvPr/>
        </p:nvGrpSpPr>
        <p:grpSpPr>
          <a:xfrm>
            <a:off x="533400" y="4404360"/>
            <a:ext cx="6059805" cy="1953578"/>
            <a:chOff x="533400" y="4404360"/>
            <a:chExt cx="6059805" cy="1953578"/>
          </a:xfrm>
        </p:grpSpPr>
        <p:sp>
          <p:nvSpPr>
            <p:cNvPr id="16" name="Rectangle 16"/>
            <p:cNvSpPr/>
            <p:nvPr/>
          </p:nvSpPr>
          <p:spPr>
            <a:xfrm>
              <a:off x="533400" y="4404360"/>
              <a:ext cx="6059805" cy="1953578"/>
            </a:xfrm>
            <a:prstGeom prst="roundRect">
              <a:avLst>
                <a:gd name="adj" fmla="val 68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537710"/>
              <a:ext cx="47625" cy="168687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61391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3359" y="46496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回代过程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54"/>
                <p:cNvSpPr txBox="1">
                  <a:spLocks noGrp="1"/>
                </p:cNvSpPr>
                <p:nvPr/>
              </p:nvSpPr>
              <p:spPr>
                <a:xfrm>
                  <a:off x="781050" y="4966335"/>
                  <a:ext cx="5602605" cy="866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d>
                              </m:sup>
                            </m:sSubSup>
                          </m:num>
                          <m:den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nn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d>
                              </m:sup>
                            </m:sSubSup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e>
                                </m:d>
                              </m:sup>
                            </m:sSubSup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e>
                                </m:d>
                              </m:sup>
                            </m:sSub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e>
                                    </m:d>
                                  </m:sup>
                                </m:sSubSup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74573" y="5949791"/>
              <a:ext cx="36143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 = n − 1, …, 2, 1，从最后一个未知量往前求。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898005" y="1524000"/>
            <a:ext cx="4760595" cy="1847850"/>
            <a:chOff x="6898005" y="1524000"/>
            <a:chExt cx="4760595" cy="1847850"/>
          </a:xfrm>
        </p:grpSpPr>
        <p:sp>
          <p:nvSpPr>
            <p:cNvPr id="23" name="Rectangle 23"/>
            <p:cNvSpPr/>
            <p:nvPr/>
          </p:nvSpPr>
          <p:spPr>
            <a:xfrm>
              <a:off x="6898005" y="1524000"/>
              <a:ext cx="4760595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907530" y="1657350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45655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223061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能否做到底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38035" y="211074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所有主元 aₖₖ⁽ᵏ⁾ ≠ 0 ⇔ A 的顺序主子式 D₁,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D₂, …, Dₙ₋₁ 都不为 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39178" y="2728436"/>
              <a:ext cx="40525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非奇异也可能在中途遇到零主元，这时要换行，见选主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元消去法。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898005" y="3562350"/>
            <a:ext cx="4760595" cy="2795588"/>
            <a:chOff x="6898005" y="3562350"/>
            <a:chExt cx="4760595" cy="2795588"/>
          </a:xfrm>
        </p:grpSpPr>
        <p:sp>
          <p:nvSpPr>
            <p:cNvPr id="30" name="Rectangle 30"/>
            <p:cNvSpPr/>
            <p:nvPr/>
          </p:nvSpPr>
          <p:spPr>
            <a:xfrm>
              <a:off x="6898005" y="3562350"/>
              <a:ext cx="4760595" cy="2795588"/>
            </a:xfrm>
            <a:prstGeom prst="roundRect">
              <a:avLst>
                <a:gd name="adj" fmla="val 47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07530" y="3695700"/>
              <a:ext cx="47625" cy="25288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45655" y="377190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201408" y="380761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计算量（乘除法次数）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151370" y="42119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09485" y="4149090"/>
              <a:ext cx="24182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消元：n³/3 + n²/2 − 5n/6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151370" y="45472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309485" y="448437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回代：n(n + 1)/2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formula55"/>
                <p:cNvSpPr txBox="1">
                  <a:spLocks noGrp="1"/>
                </p:cNvSpPr>
                <p:nvPr/>
              </p:nvSpPr>
              <p:spPr>
                <a:xfrm>
                  <a:off x="7145655" y="4794885"/>
                  <a:ext cx="4303395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合计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9" name="TextBox 39"/>
            <p:cNvSpPr txBox="1"/>
            <p:nvPr/>
          </p:nvSpPr>
          <p:spPr>
            <a:xfrm>
              <a:off x="7139178" y="5579269"/>
              <a:ext cx="41419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20 时约 3060 次；用 Cramer 法则要算 21 个 20 阶行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列式，完全不可行。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06369" cy="909257"/>
            <a:chOff x="520446" y="342900"/>
            <a:chExt cx="84063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063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Doolittle 分解 A = LU：U 的一行与 L 的一列交替计算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951220" cy="2924175"/>
            <a:chOff x="533400" y="1524000"/>
            <a:chExt cx="5951220" cy="29241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924175"/>
            </a:xfrm>
            <a:prstGeom prst="roundRect">
              <a:avLst>
                <a:gd name="adj" fmla="val 45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5747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165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046" y="1769269"/>
              <a:ext cx="102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Doolittle 分解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53590" y="1768792"/>
              <a:ext cx="30211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为单位下三角阵，U 为上三角阵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26504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k = 1, 2, …, n 依次计算：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9"/>
                <p:cNvSpPr txBox="1">
                  <a:spLocks noGrp="1"/>
                </p:cNvSpPr>
                <p:nvPr/>
              </p:nvSpPr>
              <p:spPr>
                <a:xfrm>
                  <a:off x="781050" y="2440305"/>
                  <a:ext cx="5494020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u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kr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rj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j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60"/>
                <p:cNvSpPr txBox="1">
                  <a:spLocks noGrp="1"/>
                </p:cNvSpPr>
                <p:nvPr/>
              </p:nvSpPr>
              <p:spPr>
                <a:xfrm>
                  <a:off x="781050" y="3352800"/>
                  <a:ext cx="5494020" cy="866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kk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ir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rk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2"/>
          <p:cNvGrpSpPr/>
          <p:nvPr/>
        </p:nvGrpSpPr>
        <p:grpSpPr>
          <a:xfrm>
            <a:off x="533400" y="4638675"/>
            <a:ext cx="5951220" cy="1676400"/>
            <a:chOff x="533400" y="4638675"/>
            <a:chExt cx="5951220" cy="1676400"/>
          </a:xfrm>
        </p:grpSpPr>
        <p:sp>
          <p:nvSpPr>
            <p:cNvPr id="16" name="Rectangle 16"/>
            <p:cNvSpPr/>
            <p:nvPr/>
          </p:nvSpPr>
          <p:spPr>
            <a:xfrm>
              <a:off x="533400" y="4638675"/>
              <a:ext cx="5951220" cy="1676400"/>
            </a:xfrm>
            <a:prstGeom prst="roundRect">
              <a:avLst>
                <a:gd name="adj" fmla="val 79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772025"/>
              <a:ext cx="47625" cy="140970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848225"/>
              <a:ext cx="95726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2700" y="4883944"/>
              <a:ext cx="813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求解 Ax = 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44992" y="4883468"/>
              <a:ext cx="3503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分成 Ly = b 与 Ux = y 两个三角方程组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61"/>
                <p:cNvSpPr txBox="1">
                  <a:spLocks noGrp="1"/>
                </p:cNvSpPr>
                <p:nvPr/>
              </p:nvSpPr>
              <p:spPr>
                <a:xfrm>
                  <a:off x="781050" y="5219700"/>
                  <a:ext cx="5494020" cy="866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1" name="c2-table-1"/>
          <p:cNvGrpSpPr/>
          <p:nvPr/>
        </p:nvGrpSpPr>
        <p:grpSpPr>
          <a:xfrm>
            <a:off x="6789420" y="1524000"/>
            <a:ext cx="4869180" cy="3150870"/>
            <a:chOff x="6789420" y="1524000"/>
            <a:chExt cx="4869180" cy="3150870"/>
          </a:xfrm>
        </p:grpSpPr>
        <p:sp>
          <p:nvSpPr>
            <p:cNvPr id="23" name="Rectangle 23"/>
            <p:cNvSpPr/>
            <p:nvPr/>
          </p:nvSpPr>
          <p:spPr>
            <a:xfrm>
              <a:off x="6789420" y="1524000"/>
              <a:ext cx="486918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9451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2910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9724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存在唯一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65961" y="2108359"/>
              <a:ext cx="31259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的顺序主子式 D₁, …, Dₙ₋₁ 都不为 0 时，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Doolittle 分解存在且唯一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89420" y="264318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89420" y="2647950"/>
              <a:ext cx="48691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97243" y="289702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65961" y="2783681"/>
              <a:ext cx="328853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分解约 n³/3 次，与 Gauss 消去同阶；每增加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一个右端只需再解两个三角方程组，约 n² 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789420" y="331946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97243" y="35723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65961" y="3459004"/>
              <a:ext cx="3020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多个右端共用一次分解；det A = u₁₁u₂₂…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uₙₙ；求 A⁻¹ 相当于解 n 个右端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89420" y="399478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89420" y="3999548"/>
              <a:ext cx="48691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97243" y="4247674"/>
              <a:ext cx="915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Crout 分解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65961" y="4134326"/>
              <a:ext cx="32804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LU 中 U 取单位上三角阵、L 取一般下三角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阵，按“L 的一列、U 的一行”交替计算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789420" y="1524000"/>
              <a:ext cx="4869180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53375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2-callout-2"/>
          <p:cNvGrpSpPr/>
          <p:nvPr/>
        </p:nvGrpSpPr>
        <p:grpSpPr>
          <a:xfrm>
            <a:off x="6789420" y="4865370"/>
            <a:ext cx="4869180" cy="1449705"/>
            <a:chOff x="6789420" y="4865370"/>
            <a:chExt cx="4869180" cy="1449705"/>
          </a:xfrm>
        </p:grpSpPr>
        <p:sp>
          <p:nvSpPr>
            <p:cNvPr id="42" name="Rectangle 42"/>
            <p:cNvSpPr/>
            <p:nvPr/>
          </p:nvSpPr>
          <p:spPr>
            <a:xfrm>
              <a:off x="6789420" y="4865370"/>
              <a:ext cx="4869180" cy="1449705"/>
            </a:xfrm>
            <a:prstGeom prst="roundRect">
              <a:avLst>
                <a:gd name="adj" fmla="val 78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994208" y="5490210"/>
              <a:ext cx="200026" cy="200025"/>
              <a:chOff x="6994208" y="5490210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994208" y="5490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033946" y="5534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068662" y="5645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296150" y="5347335"/>
              <a:ext cx="3882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U 的第 k 行和 L 的第 k 列只用到前面已算出的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行与列，可以直接存放在 A 原来的位置上。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90186" cy="909257"/>
            <a:chOff x="520446" y="342900"/>
            <a:chExt cx="859018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901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原课件考题：对 A 作 LU 分解，并求解 Ax = b（15 分）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734367" cy="308039"/>
            <a:chOff x="525399" y="1550194"/>
            <a:chExt cx="973436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73436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[2 4 3; 4 11 7; 0 −6 −1]，b = (5, 11, −1)ᵀ。按 Doolittle 公式先算 U 的一行，再算 L 的一列。</a:t>
              </a:r>
            </a:p>
          </p:txBody>
        </p:sp>
      </p:grpSp>
      <p:grpSp>
        <p:nvGrpSpPr>
          <p:cNvPr id="28" name="c1-table-1"/>
          <p:cNvGrpSpPr/>
          <p:nvPr/>
        </p:nvGrpSpPr>
        <p:grpSpPr>
          <a:xfrm>
            <a:off x="533400" y="1967865"/>
            <a:ext cx="6059805" cy="2484120"/>
            <a:chOff x="533400" y="1967865"/>
            <a:chExt cx="6059805" cy="248412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0368" y="210693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26975" y="2106930"/>
              <a:ext cx="10552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 的第 k 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53030" y="2106930"/>
              <a:ext cx="10552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 的第 k 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0080" y="272796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5870" y="2727960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u₁₁ = 2，u₁₂ = 4，u₁₃ = 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75772" y="2594610"/>
              <a:ext cx="1758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l₂₁ = 4/2 = 2，l₃₁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0/2 = 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2051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209925"/>
              <a:ext cx="605980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0080" y="348234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5870" y="3348990"/>
              <a:ext cx="24441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u₂₂ = 11 − 2×4 = 3，u₂₃ = 7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− 2×3 = 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275772" y="3348990"/>
              <a:ext cx="18249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l₃₂ = (−6 − 0×4)/3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595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0080" y="410337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5870" y="4103370"/>
              <a:ext cx="26100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u₃₃ = −1 − 0×3 − (−2)×1 = 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75772" y="4103370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967865"/>
              <a:ext cx="6059805" cy="24841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134428" y="1967865"/>
              <a:ext cx="9525" cy="2484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164330" y="1967865"/>
              <a:ext cx="9525" cy="2484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formula63"/>
              <p:cNvSpPr txBox="1">
                <a:spLocks noGrp="1"/>
              </p:cNvSpPr>
              <p:nvPr/>
            </p:nvSpPr>
            <p:spPr>
              <a:xfrm>
                <a:off x="533400" y="4642485"/>
                <a:ext cx="6059805" cy="9039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3" name="c2-steps-1"/>
          <p:cNvGrpSpPr/>
          <p:nvPr/>
        </p:nvGrpSpPr>
        <p:grpSpPr>
          <a:xfrm>
            <a:off x="6898005" y="1977390"/>
            <a:ext cx="4351401" cy="2582514"/>
            <a:chOff x="6898005" y="1977390"/>
            <a:chExt cx="4351401" cy="2582514"/>
          </a:xfrm>
        </p:grpSpPr>
        <p:sp>
          <p:nvSpPr>
            <p:cNvPr id="30" name="Rectangle 30"/>
            <p:cNvSpPr/>
            <p:nvPr/>
          </p:nvSpPr>
          <p:spPr>
            <a:xfrm>
              <a:off x="7031355" y="2120265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6898005" y="197739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991629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98005" y="28622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991629" y="2936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898005" y="374808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991629" y="38219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09485" y="2011680"/>
              <a:ext cx="886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Ly = b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10628" y="2304574"/>
              <a:ext cx="39306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y₁ = 5；y₂ = 11 − 2×5 = 1；y₃ = −1 − 0×5 − (−2)×1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09485" y="2896552"/>
              <a:ext cx="886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Ux = 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10628" y="3190399"/>
              <a:ext cx="39306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 = 1/1 = 1；x₂ = (1 − 1×1)/3 = 0；x₁ = (5 − 4×0 −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3×1)/2 = 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09485" y="378237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10628" y="4076224"/>
              <a:ext cx="39387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 = (2 + 3, 4 + 7, −1)ᵀ = (5, 11, −1)ᵀ = b；顺带得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det A = 2×3×1 = 6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898005" y="4738688"/>
            <a:ext cx="4760595" cy="807720"/>
            <a:chOff x="6898005" y="4738688"/>
            <a:chExt cx="4760595" cy="807720"/>
          </a:xfrm>
        </p:grpSpPr>
        <p:sp>
          <p:nvSpPr>
            <p:cNvPr id="44" name="Rectangle 44"/>
            <p:cNvSpPr/>
            <p:nvPr/>
          </p:nvSpPr>
          <p:spPr>
            <a:xfrm>
              <a:off x="6898005" y="4738688"/>
              <a:ext cx="4760595" cy="807720"/>
            </a:xfrm>
            <a:prstGeom prst="roundRect">
              <a:avLst>
                <a:gd name="adj" fmla="val 1415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102793" y="5042535"/>
              <a:ext cx="200026" cy="200026"/>
              <a:chOff x="7102793" y="5042535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102793" y="50425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169468" y="512032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7404735" y="5037772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解为 x = (1, 0, 1)ᵀ，与原课件答案一致。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选主元：主元太小时，舍入误差会淹没结果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card-1"/>
          <p:cNvGrpSpPr/>
          <p:nvPr/>
        </p:nvGrpSpPr>
        <p:grpSpPr>
          <a:xfrm>
            <a:off x="533400" y="1524000"/>
            <a:ext cx="5410200" cy="3333750"/>
            <a:chOff x="533400" y="1524000"/>
            <a:chExt cx="5410200" cy="33337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337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0670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13325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0424" y="176355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 位有效数字运算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14944" y="1767364"/>
              <a:ext cx="26744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10⁻⁵x₁ + x₂ = 1，x₁ + x₂ = 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33789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精确解 x₁ = 1.00001…，x₂ = 0.99999…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75335" y="2415540"/>
              <a:ext cx="496443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03020" y="25469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39915" y="2546985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消元后第 2 个方程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67606" y="25469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回代结果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0681" y="2977515"/>
              <a:ext cx="1070229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不选主元，m₂₁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10⁵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70379" y="2977515"/>
              <a:ext cx="11475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−1.000×10⁵x₂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−1.000×10⁵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58209" y="2977515"/>
              <a:ext cx="14371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 = 1.000，x₁ = (1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− x₂)/10⁻⁵ = </a:t>
              </a:r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75335" y="3485198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75335" y="3489960"/>
              <a:ext cx="496443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80681" y="3620452"/>
              <a:ext cx="926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先交换两行，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m₂₁ = 10⁻⁵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70379" y="3727132"/>
              <a:ext cx="1264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1.000x₂ = 1.000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58209" y="3620452"/>
              <a:ext cx="14828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 = 1.000，x₁ = 2 −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x₂ = </a:t>
              </a:r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1.000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75335" y="2415540"/>
              <a:ext cx="4964430" cy="17173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160270" y="241554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3848100" y="241554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9239" y="4245292"/>
              <a:ext cx="47823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不选主元时 1 − 10⁵ 和 2 − 10⁵ 舍入后相同；x₂ 的微小误差再除以小主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元 10⁻⁵，被放大 10⁵ 倍。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5042535"/>
            <a:ext cx="5410200" cy="1007745"/>
            <a:chOff x="533400" y="5042535"/>
            <a:chExt cx="5410200" cy="1007745"/>
          </a:xfrm>
        </p:grpSpPr>
        <p:sp>
          <p:nvSpPr>
            <p:cNvPr id="30" name="Rectangle 30"/>
            <p:cNvSpPr/>
            <p:nvPr/>
          </p:nvSpPr>
          <p:spPr>
            <a:xfrm>
              <a:off x="533400" y="5042535"/>
              <a:ext cx="5410200" cy="1007745"/>
            </a:xfrm>
            <a:prstGeom prst="roundRect">
              <a:avLst>
                <a:gd name="adj" fmla="val 1134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447350"/>
              <a:ext cx="200023" cy="200023"/>
              <a:chOff x="738188" y="5447350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4473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55140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511" y="5316379"/>
              <a:ext cx="443280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列主元消去相当于 PA = LU，P 是记录换行的置换矩阵。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只要 A 非奇异，列主元消去一定能进行到底。</a:t>
              </a:r>
            </a:p>
          </p:txBody>
        </p:sp>
      </p:grpSp>
      <p:grpSp>
        <p:nvGrpSpPr>
          <p:cNvPr id="55" name="c2-table-1"/>
          <p:cNvGrpSpPr/>
          <p:nvPr/>
        </p:nvGrpSpPr>
        <p:grpSpPr>
          <a:xfrm>
            <a:off x="6248400" y="1524000"/>
            <a:ext cx="5410200" cy="1930718"/>
            <a:chOff x="6248400" y="1524000"/>
            <a:chExt cx="5410200" cy="1930718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21780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62295" y="1655445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k 步主元取自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97390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交换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84135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53747" y="2085022"/>
              <a:ext cx="774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列主元消去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35786" y="2085022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列 aₖₖ, …, aₙₖ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中绝对值最大者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275064" y="219170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465689" y="2085022"/>
              <a:ext cx="926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计算量小，一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般够用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25927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2597468"/>
              <a:ext cx="5410200" cy="8572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3747" y="2835592"/>
              <a:ext cx="774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全主元消去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35786" y="2835592"/>
              <a:ext cx="14218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右下子阵 aᵢⱼ（i, j 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k）中绝对值最大者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275064" y="2728912"/>
              <a:ext cx="92659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行和列，记下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列交换以恢复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未知量次序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465689" y="2728912"/>
              <a:ext cx="102565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更稳定，但每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步要比较 (n −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+ 1)² 个元素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1524000"/>
              <a:ext cx="5410200" cy="1930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325678" y="1524000"/>
              <a:ext cx="9525" cy="1930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164955" y="1524000"/>
              <a:ext cx="9525" cy="1930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355580" y="1524000"/>
              <a:ext cx="9525" cy="1930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steps-2"/>
          <p:cNvGrpSpPr/>
          <p:nvPr/>
        </p:nvGrpSpPr>
        <p:grpSpPr>
          <a:xfrm>
            <a:off x="6248400" y="3649028"/>
            <a:ext cx="5249723" cy="2411158"/>
            <a:chOff x="6248400" y="3649028"/>
            <a:chExt cx="5249723" cy="2411158"/>
          </a:xfrm>
        </p:grpSpPr>
        <p:sp>
          <p:nvSpPr>
            <p:cNvPr id="56" name="Rectangle 56"/>
            <p:cNvSpPr/>
            <p:nvPr/>
          </p:nvSpPr>
          <p:spPr>
            <a:xfrm>
              <a:off x="6381750" y="3791902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6248400" y="364902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42024" y="3722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248400" y="427005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2024" y="43438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248400" y="489108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42024" y="49649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248400" y="551211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342024" y="55859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660261" y="368284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选主元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661404" y="3963352"/>
              <a:ext cx="48367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在第 k 列 aₖₖ, …, aₙₖ 中找 |aᵣₖ| 最大的行 r；aᵣₖ = 0 说明 A 奇异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660261" y="430291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661404" y="4583430"/>
              <a:ext cx="28311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交换第 k 行与第 r 行，右端 b 一起交换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660261" y="492394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消元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661404" y="5204460"/>
              <a:ext cx="45677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i &gt; k 算 mᵢₖ = aᵢₖ/aₖₖ，此时 |mᵢₖ| ≤ 1，舍入误差不被放大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660261" y="55449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661404" y="5825490"/>
              <a:ext cx="43658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n − 1 步消元完成后得到上三角方程组，从 xₙ 起逐个回代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典型题：列主元消去法解三阶方程组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40949" cy="597598"/>
            <a:chOff x="525399" y="1550194"/>
            <a:chExt cx="10640949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40949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 + 2x₂ + x₃ = 0，2x₁ + 2x₂ + 3x₃ = 3，−x₁ − 3x₂ = 2。每一步先在当前列（对角线及以下）找绝对值最大的元素换到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主元位置。</a:t>
              </a:r>
            </a:p>
          </p:txBody>
        </p:sp>
      </p:grpSp>
      <p:grpSp>
        <p:nvGrpSpPr>
          <p:cNvPr id="33" name="c1-table-1"/>
          <p:cNvGrpSpPr/>
          <p:nvPr/>
        </p:nvGrpSpPr>
        <p:grpSpPr>
          <a:xfrm>
            <a:off x="533400" y="2257425"/>
            <a:ext cx="6492240" cy="2750820"/>
            <a:chOff x="533400" y="2257425"/>
            <a:chExt cx="6492240" cy="2750820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6492240" cy="7543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29690" y="25298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689860" y="2396490"/>
              <a:ext cx="107632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 行 [A │</a:t>
              </a:r>
              <a:br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b]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56740" y="2529840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2 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15030" y="2529840"/>
              <a:ext cx="662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3 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0080" y="315087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原增广矩阵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21591" y="3150870"/>
              <a:ext cx="812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2 1 │ 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81773" y="3150870"/>
              <a:ext cx="812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2 3 │ 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29002" y="3150870"/>
              <a:ext cx="10349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−1 −3 0 │ 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4947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499485"/>
              <a:ext cx="649224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638550"/>
              <a:ext cx="1575911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r₁↔r₂，m₂₁ =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1/2，m₃₁ = −1/2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21591" y="3771900"/>
              <a:ext cx="812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2 3 │ 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28148" y="3638550"/>
              <a:ext cx="9201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1 −1/2 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−3/2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86438" y="3638550"/>
              <a:ext cx="9201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0 −2 3/2 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7/2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24910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4392930"/>
              <a:ext cx="1295876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r₂↔r₃，m₃₂ =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−1/2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21591" y="4526280"/>
              <a:ext cx="812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2 3 │ 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28148" y="4392930"/>
              <a:ext cx="9201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0 −2 3/2 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7/2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838825" y="4392930"/>
              <a:ext cx="8153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0 1/4 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1/4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2257425"/>
              <a:ext cx="6492240" cy="27508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541270" y="2257425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904298" y="2257425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62588" y="2257425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llout-2"/>
          <p:cNvGrpSpPr/>
          <p:nvPr/>
        </p:nvGrpSpPr>
        <p:grpSpPr>
          <a:xfrm>
            <a:off x="533400" y="5198745"/>
            <a:ext cx="6492240" cy="782955"/>
            <a:chOff x="533400" y="5198745"/>
            <a:chExt cx="6492240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5198745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26129" y="5486518"/>
              <a:ext cx="224134" cy="192560"/>
              <a:chOff x="726129" y="5486518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838200" y="5556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26129" y="5486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5634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347335"/>
              <a:ext cx="5539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2 步比较的是消元后第 2 列的 1 和 −2，不是原矩阵第 2 列的元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素；|−2| 更大，所以交换第 2、3 行。</a:t>
              </a:r>
            </a:p>
          </p:txBody>
        </p:sp>
      </p:grpSp>
      <p:grpSp>
        <p:nvGrpSpPr>
          <p:cNvPr id="58" name="c2-steps-1"/>
          <p:cNvGrpSpPr/>
          <p:nvPr/>
        </p:nvGrpSpPr>
        <p:grpSpPr>
          <a:xfrm>
            <a:off x="7330440" y="2266950"/>
            <a:ext cx="4070010" cy="2529173"/>
            <a:chOff x="7330440" y="2266950"/>
            <a:chExt cx="4070010" cy="2529173"/>
          </a:xfrm>
        </p:grpSpPr>
        <p:sp>
          <p:nvSpPr>
            <p:cNvPr id="41" name="Rectangle 41"/>
            <p:cNvSpPr/>
            <p:nvPr/>
          </p:nvSpPr>
          <p:spPr>
            <a:xfrm>
              <a:off x="7463790" y="240982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7330440" y="22669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424064" y="23407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330440" y="29175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424064" y="29913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330440" y="35680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424064" y="3641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330440" y="421957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24064" y="42933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41920" y="2301240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列选主元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43063" y="2595086"/>
              <a:ext cx="36573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|1|、|2|、|−1| 中 2 最大，交换第 1、2 行后消元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41920" y="2951798"/>
              <a:ext cx="7159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 x₃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43063" y="3245644"/>
              <a:ext cx="18136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(1/4)x₃ = 1/4，x₃ = 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41920" y="3602355"/>
              <a:ext cx="7159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 x₂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43063" y="3896201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−2x₂ + (3/2)×1 = 7/2，x₂ = −1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41920" y="4253865"/>
              <a:ext cx="7159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 x₁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43063" y="4546759"/>
              <a:ext cx="24942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2x₁ + 2×(−1) + 3×1 = 3，x₁ = 1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7330440" y="4974908"/>
            <a:ext cx="4328160" cy="1006792"/>
            <a:chOff x="7330440" y="4974908"/>
            <a:chExt cx="4328160" cy="1006792"/>
          </a:xfrm>
        </p:grpSpPr>
        <p:sp>
          <p:nvSpPr>
            <p:cNvPr id="59" name="Rectangle 59"/>
            <p:cNvSpPr/>
            <p:nvPr/>
          </p:nvSpPr>
          <p:spPr>
            <a:xfrm>
              <a:off x="7330440" y="4974908"/>
              <a:ext cx="4328160" cy="1006792"/>
            </a:xfrm>
            <a:prstGeom prst="roundRect">
              <a:avLst>
                <a:gd name="adj" fmla="val 1135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535228" y="5377815"/>
              <a:ext cx="200026" cy="200026"/>
              <a:chOff x="7535228" y="5377815"/>
              <a:chExt cx="200026" cy="200026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535228" y="53778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601903" y="545560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837170" y="5234940"/>
              <a:ext cx="3301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x = (1, −1, 1)ᵀ，代回三个原方程都成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立。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54664" cy="909257"/>
            <a:chOff x="520446" y="342900"/>
            <a:chExt cx="66546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546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向量范数与矩阵范数：度量“大小”和“距离”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3957638"/>
            <a:chOff x="533400" y="1524000"/>
            <a:chExt cx="5410200" cy="39576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957638"/>
            </a:xfrm>
            <a:prstGeom prst="roundRect">
              <a:avLst>
                <a:gd name="adj" fmla="val 33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9093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向量范数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满足三条：‖x‖ ≥ 0 且 ‖x‖ = 0 ⇔ x = 0；‖kx‖ = |k|·‖x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‖；‖x + y‖ ≤ ‖x‖ + ‖y‖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66"/>
                <p:cNvSpPr txBox="1">
                  <a:spLocks noGrp="1"/>
                </p:cNvSpPr>
                <p:nvPr/>
              </p:nvSpPr>
              <p:spPr>
                <a:xfrm>
                  <a:off x="781050" y="2707005"/>
                  <a:ext cx="4953000" cy="53435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  <m:sup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e>
                        </m:ra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6765" y="342423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361372"/>
              <a:ext cx="4244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等价性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：Rⁿ 上任意两种范数满足 c₁‖x‖ₛ ≤ ‖x‖ₜ ≤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c₂‖x‖ₛ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04526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982402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：x⁽ᵏ⁾ → x* ⇔ ‖x⁽ᵏ⁾ − x*‖ → 0 ⇔ 每个分量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xᵢ⁽ᵏ⁾ → xᵢ*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248400" y="1524000"/>
            <a:ext cx="5410200" cy="2440305"/>
            <a:chOff x="6248400" y="1524000"/>
            <a:chExt cx="5410200" cy="2440305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2440305"/>
            </a:xfrm>
            <a:prstGeom prst="roundRect">
              <a:avLst>
                <a:gd name="adj" fmla="val 54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57925" y="1657350"/>
              <a:ext cx="47625" cy="217360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96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78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矩阵范数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88430" y="2110740"/>
              <a:ext cx="3634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除上面三条外还要求 ‖AB‖ ≤ ‖A‖·‖B‖。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501765" y="25088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59880" y="2446020"/>
              <a:ext cx="34202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：‖Ax‖ ≤ ‖A‖·‖x‖ 对一切 x 成立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501765" y="28441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59880" y="278130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（由向量范数导出）：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67"/>
                <p:cNvSpPr txBox="1">
                  <a:spLocks noGrp="1"/>
                </p:cNvSpPr>
                <p:nvPr/>
              </p:nvSpPr>
              <p:spPr>
                <a:xfrm>
                  <a:off x="6496050" y="3091815"/>
                  <a:ext cx="4953000" cy="6438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≠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5" name="c2-card-2"/>
          <p:cNvGrpSpPr/>
          <p:nvPr/>
        </p:nvGrpSpPr>
        <p:grpSpPr>
          <a:xfrm>
            <a:off x="6248400" y="4154805"/>
            <a:ext cx="5410200" cy="1326832"/>
            <a:chOff x="6248400" y="4154805"/>
            <a:chExt cx="5410200" cy="1326832"/>
          </a:xfrm>
        </p:grpSpPr>
        <p:sp>
          <p:nvSpPr>
            <p:cNvPr id="29" name="Rectangle 29"/>
            <p:cNvSpPr/>
            <p:nvPr/>
          </p:nvSpPr>
          <p:spPr>
            <a:xfrm>
              <a:off x="6248400" y="4154805"/>
              <a:ext cx="5410200" cy="1326832"/>
            </a:xfrm>
            <a:prstGeom prst="roundRect">
              <a:avLst>
                <a:gd name="adj" fmla="val 10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57925" y="4288155"/>
              <a:ext cx="47625" cy="10601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96050" y="436435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77635" y="440007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2.1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8430" y="4741545"/>
              <a:ext cx="39599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算子范数是相容范数：‖Ax‖ₚ ≤ ‖A‖ₚ‖x‖ₚ。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89573" y="5073491"/>
              <a:ext cx="36240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由定义，‖A‖ₚ 是 A 对向量的最大“放大倍数”。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行和、列和、谱范数与谱半径怎么算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085398" cy="2264092"/>
            <a:chOff x="533400" y="1524000"/>
            <a:chExt cx="5085398" cy="22640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264092"/>
            </a:xfrm>
            <a:prstGeom prst="roundRect">
              <a:avLst>
                <a:gd name="adj" fmla="val 58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9739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44" y="175069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2.2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80"/>
                <p:cNvSpPr txBox="1">
                  <a:spLocks noGrp="1"/>
                </p:cNvSpPr>
                <p:nvPr/>
              </p:nvSpPr>
              <p:spPr>
                <a:xfrm>
                  <a:off x="763905" y="2050732"/>
                  <a:ext cx="4662488" cy="6286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81"/>
                <p:cNvSpPr txBox="1">
                  <a:spLocks noGrp="1"/>
                </p:cNvSpPr>
                <p:nvPr/>
              </p:nvSpPr>
              <p:spPr>
                <a:xfrm>
                  <a:off x="763905" y="2766060"/>
                  <a:ext cx="4662488" cy="548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ρ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sup>
                                </m:s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</m:ra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8190" y="341995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依次称为行和范数、列和范数、谱范数。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963352"/>
            <a:ext cx="5085398" cy="2225040"/>
            <a:chOff x="533400" y="3963352"/>
            <a:chExt cx="5085398" cy="2225040"/>
          </a:xfrm>
        </p:grpSpPr>
        <p:sp>
          <p:nvSpPr>
            <p:cNvPr id="15" name="Rectangle 15"/>
            <p:cNvSpPr/>
            <p:nvPr/>
          </p:nvSpPr>
          <p:spPr>
            <a:xfrm>
              <a:off x="533400" y="3963352"/>
              <a:ext cx="5085398" cy="2225040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096702"/>
              <a:ext cx="47625" cy="195834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3905" y="4155758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1344" y="419004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谱半径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82"/>
                <p:cNvSpPr txBox="1">
                  <a:spLocks noGrp="1"/>
                </p:cNvSpPr>
                <p:nvPr/>
              </p:nvSpPr>
              <p:spPr>
                <a:xfrm>
                  <a:off x="763905" y="4490085"/>
                  <a:ext cx="4662488" cy="5943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ρ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0" name="Ellipse 20"/>
            <p:cNvSpPr/>
            <p:nvPr/>
          </p:nvSpPr>
          <p:spPr>
            <a:xfrm>
              <a:off x="772478" y="524922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5193030"/>
              <a:ext cx="33192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：ρ(A) ≤ ‖A‖，对任意算子范数成立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555212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5495925"/>
              <a:ext cx="18254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对称时 ‖A‖₂ = ρ(A)</a:t>
              </a:r>
            </a:p>
          </p:txBody>
        </p:sp>
      </p:grpSp>
      <p:grpSp>
        <p:nvGrpSpPr>
          <p:cNvPr id="67" name="c2-card-1"/>
          <p:cNvGrpSpPr/>
          <p:nvPr/>
        </p:nvGrpSpPr>
        <p:grpSpPr>
          <a:xfrm>
            <a:off x="5923598" y="1524000"/>
            <a:ext cx="5735002" cy="3999548"/>
            <a:chOff x="5923598" y="1524000"/>
            <a:chExt cx="5735002" cy="3999548"/>
          </a:xfrm>
        </p:grpSpPr>
        <p:sp>
          <p:nvSpPr>
            <p:cNvPr id="25" name="Rectangle 25"/>
            <p:cNvSpPr/>
            <p:nvPr/>
          </p:nvSpPr>
          <p:spPr>
            <a:xfrm>
              <a:off x="5923598" y="1524000"/>
              <a:ext cx="5735002" cy="3999548"/>
            </a:xfrm>
            <a:prstGeom prst="roundRect">
              <a:avLst>
                <a:gd name="adj" fmla="val 33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33122" y="1657350"/>
              <a:ext cx="47625" cy="37328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154102" y="17164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41542" y="17506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1144" y="1756410"/>
              <a:ext cx="29843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(3, −4, 12)ᵀ，A = [3 0; 4 5]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154102" y="2067878"/>
              <a:ext cx="531209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7815" y="219217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88388" y="21921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19143" y="21921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54115" y="259794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03745" y="2597944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+ 4 + 12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185083" y="25979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154102" y="2874645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154102" y="2879408"/>
              <a:ext cx="531209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54115" y="30037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03745" y="3003709"/>
              <a:ext cx="16096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√(9 + 16 + 144) = √169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85083" y="300370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154102" y="3280410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254115" y="34094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‖x‖∞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03745" y="3409474"/>
              <a:ext cx="10442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max(3, 4, 12)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185083" y="340947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154102" y="3686175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54102" y="3690938"/>
              <a:ext cx="531209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54115" y="381523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‖A‖∞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03745" y="3815239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 3、9 取最大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185083" y="381523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154102" y="4091940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254115" y="4221004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03745" y="4221004"/>
              <a:ext cx="1172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列和 7、5 取最大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185083" y="422100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154102" y="4497705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154102" y="4502468"/>
              <a:ext cx="531209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54115" y="462676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03745" y="4626769"/>
              <a:ext cx="26125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AᵀA = [25 20; 20 25]，特征值 45、5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185083" y="4626769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√45 ≈ 6.708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154102" y="4903470"/>
              <a:ext cx="531209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54115" y="5032534"/>
              <a:ext cx="369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ρ(A)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103745" y="5032534"/>
              <a:ext cx="2468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为下三角阵，特征值是对角元 3、5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185083" y="503253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154102" y="2067878"/>
              <a:ext cx="5312092" cy="32461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998970" y="2067878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080308" y="2067878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callout-2"/>
          <p:cNvGrpSpPr/>
          <p:nvPr/>
        </p:nvGrpSpPr>
        <p:grpSpPr>
          <a:xfrm>
            <a:off x="5923598" y="5698808"/>
            <a:ext cx="5735002" cy="488632"/>
            <a:chOff x="5923598" y="5698808"/>
            <a:chExt cx="5735002" cy="488632"/>
          </a:xfrm>
        </p:grpSpPr>
        <p:sp>
          <p:nvSpPr>
            <p:cNvPr id="68" name="Rectangle 68"/>
            <p:cNvSpPr/>
            <p:nvPr/>
          </p:nvSpPr>
          <p:spPr>
            <a:xfrm>
              <a:off x="5923598" y="5698808"/>
              <a:ext cx="5735002" cy="488632"/>
            </a:xfrm>
            <a:prstGeom prst="roundRect">
              <a:avLst>
                <a:gd name="adj" fmla="val 2339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6128385" y="5843588"/>
              <a:ext cx="200026" cy="200026"/>
              <a:chOff x="6128385" y="5843588"/>
              <a:chExt cx="200026" cy="200026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6128385" y="58435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195060" y="59213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6431089" y="5849302"/>
              <a:ext cx="37972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ρ(A) = 5 比三种范数都小，符合 ρ(A) ≤ ‖A‖。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61557" cy="909257"/>
            <a:chOff x="520446" y="342900"/>
            <a:chExt cx="63615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615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条件数：Cond(A) 越大，解对扰动越敏感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1956435"/>
            <a:chOff x="533400" y="1524000"/>
            <a:chExt cx="5626418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86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5169218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Cond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Ellipse 12"/>
            <p:cNvSpPr/>
            <p:nvPr/>
          </p:nvSpPr>
          <p:spPr>
            <a:xfrm>
              <a:off x="786765" y="27641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01290"/>
              <a:ext cx="2099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 ≥ ‖AA⁻¹‖ = 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0994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36570"/>
              <a:ext cx="42956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 ≫ 1 时称 A 病态，方程组为病态方程组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670935"/>
            <a:ext cx="5626418" cy="1990725"/>
            <a:chOff x="533400" y="3670935"/>
            <a:chExt cx="5626418" cy="1990725"/>
          </a:xfrm>
        </p:grpSpPr>
        <p:sp>
          <p:nvSpPr>
            <p:cNvPr id="17" name="Rectangle 17"/>
            <p:cNvSpPr/>
            <p:nvPr/>
          </p:nvSpPr>
          <p:spPr>
            <a:xfrm>
              <a:off x="533400" y="3670935"/>
              <a:ext cx="5626418" cy="1990725"/>
            </a:xfrm>
            <a:prstGeom prst="roundRect">
              <a:avLst>
                <a:gd name="adj" fmla="val 66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04285"/>
              <a:ext cx="47625" cy="17240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3880485"/>
              <a:ext cx="168783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2363" y="3916204"/>
              <a:ext cx="1525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常数项扰动 b → b + δb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87"/>
                <p:cNvSpPr txBox="1">
                  <a:spLocks noGrp="1"/>
                </p:cNvSpPr>
                <p:nvPr/>
              </p:nvSpPr>
              <p:spPr>
                <a:xfrm>
                  <a:off x="781050" y="4232910"/>
                  <a:ext cx="5169218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δb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774573" y="5018246"/>
              <a:ext cx="47109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 Aδx = δb 得 ‖δx‖ ≤ ‖A⁻¹‖‖δb‖；由 b = Ax 得 ‖b‖ ≤ ‖A‖‖x‖，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两式相乘。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464618" y="1524000"/>
            <a:ext cx="5193982" cy="1990725"/>
            <a:chOff x="6464618" y="1524000"/>
            <a:chExt cx="5193982" cy="1990725"/>
          </a:xfrm>
        </p:grpSpPr>
        <p:sp>
          <p:nvSpPr>
            <p:cNvPr id="24" name="Rectangle 24"/>
            <p:cNvSpPr/>
            <p:nvPr/>
          </p:nvSpPr>
          <p:spPr>
            <a:xfrm>
              <a:off x="6464618" y="1524000"/>
              <a:ext cx="5193982" cy="1990725"/>
            </a:xfrm>
            <a:prstGeom prst="roundRect">
              <a:avLst>
                <a:gd name="adj" fmla="val 66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4142" y="1657350"/>
              <a:ext cx="47625" cy="17240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12268" y="1733550"/>
              <a:ext cx="182975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73500" y="1769269"/>
              <a:ext cx="1708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系数矩阵扰动 A → A + δA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88"/>
                <p:cNvSpPr txBox="1">
                  <a:spLocks noGrp="1"/>
                </p:cNvSpPr>
                <p:nvPr/>
              </p:nvSpPr>
              <p:spPr>
                <a:xfrm>
                  <a:off x="6712268" y="2085975"/>
                  <a:ext cx="4736782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δA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705791" y="2871311"/>
              <a:ext cx="43776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 (A + δA)(x + δx) = b 得 δx = −A⁻¹δA(x + δx)，两边取范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数。</a:t>
              </a:r>
            </a:p>
          </p:txBody>
        </p:sp>
      </p:grpSp>
      <p:grpSp>
        <p:nvGrpSpPr>
          <p:cNvPr id="45" name="c2-graph-2"/>
          <p:cNvGrpSpPr/>
          <p:nvPr/>
        </p:nvGrpSpPr>
        <p:grpSpPr>
          <a:xfrm>
            <a:off x="6671310" y="4134802"/>
            <a:ext cx="4780598" cy="1494187"/>
            <a:chOff x="6671310" y="4134802"/>
            <a:chExt cx="4780598" cy="1494187"/>
          </a:xfrm>
        </p:grpSpPr>
        <p:sp>
          <p:nvSpPr>
            <p:cNvPr id="31" name="Freeform 31"/>
            <p:cNvSpPr/>
            <p:nvPr/>
          </p:nvSpPr>
          <p:spPr>
            <a:xfrm>
              <a:off x="6682740" y="4137660"/>
              <a:ext cx="4757737" cy="1090612"/>
            </a:xfrm>
            <a:custGeom>
              <a:avLst/>
              <a:gdLst/>
              <a:ahLst/>
              <a:cxnLst/>
              <a:rect l="l" t="t" r="r" b="b"/>
              <a:pathLst>
                <a:path w="4757737" h="1090612">
                  <a:moveTo>
                    <a:pt x="0" y="1090612"/>
                  </a:moveTo>
                  <a:lnTo>
                    <a:pt x="475773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682740" y="4371022"/>
              <a:ext cx="4757737" cy="623888"/>
            </a:xfrm>
            <a:custGeom>
              <a:avLst/>
              <a:gdLst/>
              <a:ahLst/>
              <a:cxnLst/>
              <a:rect l="l" t="t" r="r" b="b"/>
              <a:pathLst>
                <a:path w="4757737" h="623888">
                  <a:moveTo>
                    <a:pt x="0" y="623888"/>
                  </a:moveTo>
                  <a:lnTo>
                    <a:pt x="475773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682740" y="4253865"/>
              <a:ext cx="4757737" cy="623888"/>
            </a:xfrm>
            <a:custGeom>
              <a:avLst/>
              <a:gdLst/>
              <a:ahLst/>
              <a:cxnLst/>
              <a:rect l="l" t="t" r="r" b="b"/>
              <a:pathLst>
                <a:path w="4757737" h="623888">
                  <a:moveTo>
                    <a:pt x="0" y="623888"/>
                  </a:moveTo>
                  <a:lnTo>
                    <a:pt x="475773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4" name="Ellipse 34"/>
            <p:cNvSpPr/>
            <p:nvPr/>
          </p:nvSpPr>
          <p:spPr>
            <a:xfrm>
              <a:off x="6671310" y="52301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1450003" y="413480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6671310" y="49949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11450003" y="43691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671310" y="48777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11450003" y="425196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9014460" y="463581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10208895" y="4361498"/>
              <a:ext cx="95250" cy="9525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984572" y="447341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15287" y="419909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x̃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39965" y="543829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两直线几乎平行：右端稍动（虚线），交点移动很远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典型题：病态方程组与矩阵的平衡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card-1"/>
          <p:cNvGrpSpPr/>
          <p:nvPr/>
        </p:nvGrpSpPr>
        <p:grpSpPr>
          <a:xfrm>
            <a:off x="533400" y="1524000"/>
            <a:ext cx="5626418" cy="4766310"/>
            <a:chOff x="533400" y="1524000"/>
            <a:chExt cx="5626418" cy="47663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766310"/>
            </a:xfrm>
            <a:prstGeom prst="roundRect">
              <a:avLst>
                <a:gd name="adj" fmla="val 27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996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3343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病态方程组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47647" y="1756410"/>
              <a:ext cx="41350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[1 0.99; 0.99 0.98]，b = (1.99, 1.97)ᵀ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精确解 x = (1, 1)ᵀ；b 的第 2 个分量加 10⁻⁴，解变成 x̃ =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(1.99, 0)ᵀ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70605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649855"/>
              <a:ext cx="44090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det A = −10⁻⁴，A⁻¹ = [−9800 9900; 9900 −10000]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2478" y="300894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2952750"/>
              <a:ext cx="43680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‖A‖∞ = 1.99，‖A⁻¹‖∞ = 19900，Cond∞(A) = 39601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3905" y="3232785"/>
              <a:ext cx="520350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887296" y="33570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相对误差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40301" y="33570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3918" y="3762851"/>
              <a:ext cx="1231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右端 ‖δb‖∞/‖b‖∞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26180" y="3762851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10⁻⁴/1.99 ≈ 5.03×10⁻⁵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3905" y="4039552"/>
              <a:ext cx="520350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044315"/>
              <a:ext cx="520350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3918" y="4168616"/>
              <a:ext cx="2038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 Cond∞(A)·‖δb‖∞/‖b‖∞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6180" y="4168616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1.99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3905" y="4445318"/>
              <a:ext cx="520350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63918" y="4574381"/>
              <a:ext cx="1231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 ‖δx‖∞/‖x‖∞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726180" y="4574381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 = 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3905" y="3232785"/>
              <a:ext cx="5203508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621405" y="3232785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8190" y="4961096"/>
              <a:ext cx="4489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右端只变了十万分之五，解的相对误差达到 100%，仍在上界之内。</a:t>
              </a:r>
            </a:p>
          </p:txBody>
        </p:sp>
      </p:grpSp>
      <p:grpSp>
        <p:nvGrpSpPr>
          <p:cNvPr id="57" name="c2-card-1"/>
          <p:cNvGrpSpPr/>
          <p:nvPr/>
        </p:nvGrpSpPr>
        <p:grpSpPr>
          <a:xfrm>
            <a:off x="6464618" y="1524000"/>
            <a:ext cx="5193982" cy="3382328"/>
            <a:chOff x="6464618" y="1524000"/>
            <a:chExt cx="5193982" cy="3382328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3382328"/>
            </a:xfrm>
            <a:prstGeom prst="roundRect">
              <a:avLst>
                <a:gd name="adj" fmla="val 39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1657350"/>
              <a:ext cx="47625" cy="31156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5122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74561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矩阵的平衡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78864" y="1756410"/>
              <a:ext cx="2090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[1 20000; 2 1000]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95122" y="2067878"/>
              <a:ext cx="477107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60741" y="21921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矩阵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476767" y="2192179"/>
              <a:ext cx="452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Cond∞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95135" y="25979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039350" y="2597944"/>
              <a:ext cx="55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10770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695122" y="2874645"/>
              <a:ext cx="477107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95122" y="2879408"/>
              <a:ext cx="477107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95135" y="3003709"/>
              <a:ext cx="2380437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按行平衡 D₁A，D₁ = diag(1/20000,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1/1000)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39350" y="3103721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1028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695122" y="3480435"/>
              <a:ext cx="477107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95135" y="3609499"/>
              <a:ext cx="2821381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再按列平衡 D₁AD₂ = [0.025 1; 1 1]，D₂ =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diag(500, 1)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39350" y="3709511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4.10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695122" y="2067878"/>
              <a:ext cx="4771072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934575" y="2067878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6703695" y="425672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59714" y="4200525"/>
              <a:ext cx="4197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按行平衡：D₁Ax = D₁b，使每行最大元的绝对值为 1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703695" y="455866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59714" y="4502468"/>
              <a:ext cx="39229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再按列平衡：解 D₁AD₂y = D₁b，得 y 后 x = D₂y</a:t>
              </a:r>
            </a:p>
          </p:txBody>
        </p:sp>
      </p:grpSp>
      <p:grpSp>
        <p:nvGrpSpPr>
          <p:cNvPr id="63" name="c2-card-2"/>
          <p:cNvGrpSpPr/>
          <p:nvPr/>
        </p:nvGrpSpPr>
        <p:grpSpPr>
          <a:xfrm>
            <a:off x="6464618" y="5080635"/>
            <a:ext cx="5193982" cy="1209675"/>
            <a:chOff x="6464618" y="5080635"/>
            <a:chExt cx="5193982" cy="1209675"/>
          </a:xfrm>
        </p:grpSpPr>
        <p:sp>
          <p:nvSpPr>
            <p:cNvPr id="58" name="Rectangle 58"/>
            <p:cNvSpPr/>
            <p:nvPr/>
          </p:nvSpPr>
          <p:spPr>
            <a:xfrm>
              <a:off x="6464618" y="5080635"/>
              <a:ext cx="519398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74142" y="5213985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695122" y="527304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86562" y="530733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688264" y="5630228"/>
              <a:ext cx="45399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原课件把列平衡写作 D₁AD₂x = D₁b。列缩放改变了未知量，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方程应写成 D₁AD₂y = D₁b，其中 x = D₂y。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61681" cy="909257"/>
            <a:chOff x="520446" y="342900"/>
            <a:chExt cx="77616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616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迭代法的一般形式与收敛性：ρ(H) &lt; 1 是充要条件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432685"/>
            <a:chOff x="533400" y="1524000"/>
            <a:chExt cx="5626418" cy="24326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432685"/>
            </a:xfrm>
            <a:prstGeom prst="roundRect">
              <a:avLst>
                <a:gd name="adj" fmla="val 54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659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7044" y="17378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一般形式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5998" y="2045494"/>
              <a:ext cx="41195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Ax = b 改写成等价的 x = Hx + g，任取初值 x⁽⁰⁾：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01"/>
                <p:cNvSpPr txBox="1">
                  <a:spLocks noGrp="1"/>
                </p:cNvSpPr>
                <p:nvPr/>
              </p:nvSpPr>
              <p:spPr>
                <a:xfrm>
                  <a:off x="752475" y="2308860"/>
                  <a:ext cx="522636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g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45998" y="2830354"/>
              <a:ext cx="38010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精确解满足 x* = Hx* + g，两式相减得误差递推：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02"/>
                <p:cNvSpPr txBox="1">
                  <a:spLocks noGrp="1"/>
                </p:cNvSpPr>
                <p:nvPr/>
              </p:nvSpPr>
              <p:spPr>
                <a:xfrm>
                  <a:off x="752475" y="3093720"/>
                  <a:ext cx="522636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=⋯=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47141" y="3611880"/>
              <a:ext cx="438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对任意初值都收敛，就是要求 Hᵏ(x⁽⁰⁾ − x*) → 0 对一切 x⁽⁰⁾ 成立。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121468"/>
            <a:ext cx="5626418" cy="1471612"/>
            <a:chOff x="533400" y="4121468"/>
            <a:chExt cx="5626418" cy="1471612"/>
          </a:xfrm>
        </p:grpSpPr>
        <p:sp>
          <p:nvSpPr>
            <p:cNvPr id="17" name="Rectangle 17"/>
            <p:cNvSpPr/>
            <p:nvPr/>
          </p:nvSpPr>
          <p:spPr>
            <a:xfrm>
              <a:off x="533400" y="4121468"/>
              <a:ext cx="5626418" cy="1471612"/>
            </a:xfrm>
            <a:prstGeom prst="roundRect">
              <a:avLst>
                <a:gd name="adj" fmla="val 90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254818"/>
              <a:ext cx="47625" cy="12049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2475" y="4302442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8693" y="433530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解题步骤（原课件）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52475" y="4631055"/>
              <a:ext cx="180975" cy="18097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4382" y="466667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22223" y="4642009"/>
              <a:ext cx="3143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从第 i 个方程分离出 xᵢ，写成 x = Hx + g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52475" y="4915852"/>
              <a:ext cx="180975" cy="18097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4382" y="495147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2223" y="4927759"/>
              <a:ext cx="41427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判断收敛：先试 ‖H‖∞ 或 ‖H‖₁ &lt; 1，不成立再求 ρ(H)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52475" y="5201602"/>
              <a:ext cx="180975" cy="18097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04382" y="523627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22223" y="521255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迭代，直到相邻两次迭代值之差小于给定精度</a:t>
              </a:r>
            </a:p>
          </p:txBody>
        </p:sp>
      </p:grpSp>
      <p:grpSp>
        <p:nvGrpSpPr>
          <p:cNvPr id="51" name="c2-flow-1"/>
          <p:cNvGrpSpPr/>
          <p:nvPr/>
        </p:nvGrpSpPr>
        <p:grpSpPr>
          <a:xfrm>
            <a:off x="6828472" y="1754505"/>
            <a:ext cx="4466272" cy="2870835"/>
            <a:chOff x="6828472" y="1754505"/>
            <a:chExt cx="4466272" cy="2870835"/>
          </a:xfrm>
        </p:grpSpPr>
        <p:sp>
          <p:nvSpPr>
            <p:cNvPr id="31" name="Freeform 31"/>
            <p:cNvSpPr/>
            <p:nvPr/>
          </p:nvSpPr>
          <p:spPr>
            <a:xfrm>
              <a:off x="9062085" y="2126932"/>
              <a:ext cx="9525" cy="355283"/>
            </a:xfrm>
            <a:custGeom>
              <a:avLst/>
              <a:gdLst/>
              <a:ahLst/>
              <a:cxnLst/>
              <a:rect l="l" t="t" r="r" b="b"/>
              <a:pathLst>
                <a:path w="9525" h="355283">
                  <a:moveTo>
                    <a:pt x="0" y="0"/>
                  </a:moveTo>
                  <a:lnTo>
                    <a:pt x="0" y="3552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09698" y="24822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9062085" y="2959418"/>
              <a:ext cx="9525" cy="356235"/>
            </a:xfrm>
            <a:custGeom>
              <a:avLst/>
              <a:gdLst/>
              <a:ahLst/>
              <a:cxnLst/>
              <a:rect l="l" t="t" r="r" b="b"/>
              <a:pathLst>
                <a:path w="9525" h="356235">
                  <a:moveTo>
                    <a:pt x="0" y="0"/>
                  </a:moveTo>
                  <a:lnTo>
                    <a:pt x="0" y="356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009698" y="33156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9062085" y="3897630"/>
              <a:ext cx="9525" cy="355283"/>
            </a:xfrm>
            <a:custGeom>
              <a:avLst/>
              <a:gdLst/>
              <a:ahLst/>
              <a:cxnLst/>
              <a:rect l="l" t="t" r="r" b="b"/>
              <a:pathLst>
                <a:path w="9525" h="355283">
                  <a:moveTo>
                    <a:pt x="0" y="35528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009698" y="37928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28472" y="1754505"/>
              <a:ext cx="4466272" cy="37242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28472" y="2586990"/>
              <a:ext cx="446627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28472" y="3420428"/>
              <a:ext cx="4466272" cy="372428"/>
            </a:xfrm>
            <a:prstGeom prst="roundRect">
              <a:avLst>
                <a:gd name="adj" fmla="val 25575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28472" y="4252912"/>
              <a:ext cx="4466272" cy="372428"/>
            </a:xfrm>
            <a:prstGeom prst="roundRect">
              <a:avLst>
                <a:gd name="adj" fmla="val 2046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83561" y="1866900"/>
              <a:ext cx="15570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迭代法对任意 x⁽⁰⁾ 收敛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32352" y="2700338"/>
              <a:ext cx="10594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Hᵏ → O（k → ∞）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73316" y="3532823"/>
              <a:ext cx="5775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&lt; 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60131" y="4366260"/>
              <a:ext cx="1403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某种算子范数 ‖H‖ &lt; 1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090660" y="2278380"/>
              <a:ext cx="80962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114472" y="2301240"/>
              <a:ext cx="7667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引理 2.1 充要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090660" y="3110865"/>
              <a:ext cx="80962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114472" y="3133725"/>
              <a:ext cx="7667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引理 2.2 充要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090660" y="3944302"/>
              <a:ext cx="104965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114472" y="3967162"/>
              <a:ext cx="10016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ρ(H) ≤ ‖H‖，充分</a:t>
              </a:r>
            </a:p>
          </p:txBody>
        </p:sp>
      </p:grpSp>
      <p:grpSp>
        <p:nvGrpSpPr>
          <p:cNvPr id="57" name="c2-callout-2"/>
          <p:cNvGrpSpPr/>
          <p:nvPr/>
        </p:nvGrpSpPr>
        <p:grpSpPr>
          <a:xfrm>
            <a:off x="6464618" y="5020628"/>
            <a:ext cx="5193982" cy="702945"/>
            <a:chOff x="6464618" y="5020628"/>
            <a:chExt cx="5193982" cy="702945"/>
          </a:xfrm>
        </p:grpSpPr>
        <p:sp>
          <p:nvSpPr>
            <p:cNvPr id="52" name="Rectangle 52"/>
            <p:cNvSpPr/>
            <p:nvPr/>
          </p:nvSpPr>
          <p:spPr>
            <a:xfrm>
              <a:off x="6464618" y="5020628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669405" y="5272090"/>
              <a:ext cx="200023" cy="200023"/>
              <a:chOff x="6669405" y="527209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669405" y="52720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802755" y="53387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972491" y="5165884"/>
              <a:ext cx="41257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定理 2.4：迭代法 x⁽ᵏ⁺¹⁾ = Hx⁽ᵏ⁾ + g 对任意初值收敛 ⇔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ρ(H) &lt; 1。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8" name="Rectangle 5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1273" y="6039326"/>
              <a:ext cx="53860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‖H‖ &lt; 1 只是充分条件。算出 ‖H‖∞ ≥ 1 不能断定发散，还要看 ρ(H)。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61057" cy="909257"/>
            <a:chOff x="520446" y="342900"/>
            <a:chExt cx="62610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610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收敛速度与误差估计：‖H‖ 越小收敛越快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6059805" cy="4084320"/>
            <a:chOff x="533400" y="1524000"/>
            <a:chExt cx="6059805" cy="40843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84320"/>
            </a:xfrm>
            <a:prstGeom prst="roundRect">
              <a:avLst>
                <a:gd name="adj" fmla="val 32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81762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635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2.5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72590" y="1768792"/>
              <a:ext cx="25951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设某种算子范数 q = ‖H‖ &lt; 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迭代对任意初值收敛，且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07"/>
                <p:cNvSpPr txBox="1">
                  <a:spLocks noGrp="1"/>
                </p:cNvSpPr>
                <p:nvPr/>
              </p:nvSpPr>
              <p:spPr>
                <a:xfrm>
                  <a:off x="781050" y="2440305"/>
                  <a:ext cx="5602605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den>
                        </m:f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08"/>
                <p:cNvSpPr txBox="1">
                  <a:spLocks noGrp="1"/>
                </p:cNvSpPr>
                <p:nvPr/>
              </p:nvSpPr>
              <p:spPr>
                <a:xfrm>
                  <a:off x="781050" y="3204210"/>
                  <a:ext cx="5602605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q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den>
                        </m:f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Ellipse 15"/>
            <p:cNvSpPr/>
            <p:nvPr/>
          </p:nvSpPr>
          <p:spPr>
            <a:xfrm>
              <a:off x="786765" y="40557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992880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第一式（事后估计）：相邻两次迭代值足够接近时就可以停止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3910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4328160"/>
              <a:ext cx="37913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第二式（事前估计）：要使误差 ≤ ε，只需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109"/>
                <p:cNvSpPr txBox="1">
                  <a:spLocks noGrp="1"/>
                </p:cNvSpPr>
                <p:nvPr/>
              </p:nvSpPr>
              <p:spPr>
                <a:xfrm>
                  <a:off x="781050" y="4638675"/>
                  <a:ext cx="5602605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ε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q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/</m:t>
                                    </m:r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1</m:t>
                                                </m:r>
                                              </m:e>
                                            </m:d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p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sup>
                                        </m:sSup>
                                      </m:e>
                                    </m:d>
                                  </m:e>
                                </m:d>
                              </m:e>
                            </m:func>
                          </m:num>
                          <m:den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q</m:t>
                                </m:r>
                              </m:e>
                            </m:func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0" name="c2-card-1"/>
          <p:cNvGrpSpPr/>
          <p:nvPr/>
        </p:nvGrpSpPr>
        <p:grpSpPr>
          <a:xfrm>
            <a:off x="6898005" y="1524000"/>
            <a:ext cx="4760595" cy="2242185"/>
            <a:chOff x="6898005" y="1524000"/>
            <a:chExt cx="4760595" cy="2242185"/>
          </a:xfrm>
        </p:grpSpPr>
        <p:sp>
          <p:nvSpPr>
            <p:cNvPr id="21" name="Rectangle 21"/>
            <p:cNvSpPr/>
            <p:nvPr/>
          </p:nvSpPr>
          <p:spPr>
            <a:xfrm>
              <a:off x="6898005" y="1524000"/>
              <a:ext cx="4760595" cy="2242185"/>
            </a:xfrm>
            <a:prstGeom prst="roundRect">
              <a:avLst>
                <a:gd name="adj" fmla="val 59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907530" y="1657350"/>
              <a:ext cx="47625" cy="19754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145655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219112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渐近收敛速度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110"/>
                <p:cNvSpPr txBox="1">
                  <a:spLocks noGrp="1"/>
                </p:cNvSpPr>
                <p:nvPr/>
              </p:nvSpPr>
              <p:spPr>
                <a:xfrm>
                  <a:off x="7145655" y="2085975"/>
                  <a:ext cx="4303395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ln</m:t>
                            </m:r>
                          </m:fName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ρ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Ellipse 26"/>
            <p:cNvSpPr/>
            <p:nvPr/>
          </p:nvSpPr>
          <p:spPr>
            <a:xfrm>
              <a:off x="7151370" y="27641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309485" y="2701290"/>
              <a:ext cx="3296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误差缩小到 1/10 约需 ln10/R(H) 步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151370" y="30994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309485" y="303657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= 0.5 时约 3.3 步提高一位有效数字，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= 0.9 时约要 22 步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898005" y="3956685"/>
            <a:ext cx="4760595" cy="1651635"/>
            <a:chOff x="6898005" y="3956685"/>
            <a:chExt cx="4760595" cy="1651635"/>
          </a:xfrm>
        </p:grpSpPr>
        <p:sp>
          <p:nvSpPr>
            <p:cNvPr id="31" name="Rectangle 31"/>
            <p:cNvSpPr/>
            <p:nvPr/>
          </p:nvSpPr>
          <p:spPr>
            <a:xfrm>
              <a:off x="6898005" y="3956685"/>
              <a:ext cx="4760595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907530" y="4090035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45655" y="41662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35863" y="42019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151370" y="460629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09485" y="4543425"/>
              <a:ext cx="3844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原课件第二个估计式分子写作 ‖H‖，漏了 k 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方，应为 ‖H‖ᵏ（课件上已有手写补的 k）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151370" y="522732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09485" y="5164455"/>
              <a:ext cx="34587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引理 2.1 中的 H⁽ᵏ⁾ 指 H 的 k 次幂 Hᵏ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47279" cy="909257"/>
            <a:chOff x="520446" y="342900"/>
            <a:chExt cx="81472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472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与 Gauss-Seidel 迭代：分量形式与矩阵形式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136314" cy="293370"/>
            <a:chOff x="525780" y="1548765"/>
            <a:chExt cx="1013631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136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 A 分裂为 A = D − L − U：D 是 A 的对角部分，−L、−U 分别是 A 的严格下三角、严格上三角部分，设 aᵢᵢ ≠ 0。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5410200" cy="3569018"/>
            <a:chOff x="533400" y="1954530"/>
            <a:chExt cx="5410200" cy="356901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3569018"/>
            </a:xfrm>
            <a:prstGeom prst="roundRect">
              <a:avLst>
                <a:gd name="adj" fmla="val 37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30231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99441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8374" y="2194084"/>
              <a:ext cx="848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Jacobi 迭代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23"/>
                <p:cNvSpPr txBox="1">
                  <a:spLocks noGrp="1"/>
                </p:cNvSpPr>
                <p:nvPr/>
              </p:nvSpPr>
              <p:spPr>
                <a:xfrm>
                  <a:off x="775335" y="2507932"/>
                  <a:ext cx="4964430" cy="8334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≠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/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8096" y="3457099"/>
              <a:ext cx="30136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Dx = (L + U)x + b 得矩阵形式：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24"/>
                <p:cNvSpPr txBox="1">
                  <a:spLocks noGrp="1"/>
                </p:cNvSpPr>
                <p:nvPr/>
              </p:nvSpPr>
              <p:spPr>
                <a:xfrm>
                  <a:off x="775335" y="3753802"/>
                  <a:ext cx="496443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U</m:t>
                            </m:r>
                          </m:e>
                        </m:d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125"/>
                <p:cNvSpPr txBox="1">
                  <a:spLocks noGrp="1"/>
                </p:cNvSpPr>
                <p:nvPr/>
              </p:nvSpPr>
              <p:spPr>
                <a:xfrm>
                  <a:off x="775335" y="4322445"/>
                  <a:ext cx="496443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U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7" name="TextBox 17"/>
            <p:cNvSpPr txBox="1"/>
            <p:nvPr/>
          </p:nvSpPr>
          <p:spPr>
            <a:xfrm>
              <a:off x="769239" y="4911090"/>
              <a:ext cx="47213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算第 i 个分量只用上一步的旧值，要保存两套向量，各分量可以并行计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248400" y="1954530"/>
            <a:ext cx="5410200" cy="3569018"/>
            <a:chOff x="6248400" y="1954530"/>
            <a:chExt cx="5410200" cy="3569018"/>
          </a:xfrm>
        </p:grpSpPr>
        <p:sp>
          <p:nvSpPr>
            <p:cNvPr id="19" name="Rectangle 19"/>
            <p:cNvSpPr/>
            <p:nvPr/>
          </p:nvSpPr>
          <p:spPr>
            <a:xfrm>
              <a:off x="6248400" y="1954530"/>
              <a:ext cx="5410200" cy="3569018"/>
            </a:xfrm>
            <a:prstGeom prst="roundRect">
              <a:avLst>
                <a:gd name="adj" fmla="val 37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57925" y="2087880"/>
              <a:ext cx="47625" cy="330231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490335" y="2158365"/>
              <a:ext cx="144970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46882" y="2194084"/>
              <a:ext cx="1336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Gauss-Seidel 迭代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126"/>
                <p:cNvSpPr txBox="1">
                  <a:spLocks noGrp="1"/>
                </p:cNvSpPr>
                <p:nvPr/>
              </p:nvSpPr>
              <p:spPr>
                <a:xfrm>
                  <a:off x="6490335" y="2507932"/>
                  <a:ext cx="4964430" cy="8334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&lt;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/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&gt;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/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TextBox 24"/>
            <p:cNvSpPr txBox="1"/>
            <p:nvPr/>
          </p:nvSpPr>
          <p:spPr>
            <a:xfrm>
              <a:off x="6483096" y="3457099"/>
              <a:ext cx="30136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(D − L)x = Ux + b 得矩阵形式：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127"/>
                <p:cNvSpPr txBox="1">
                  <a:spLocks noGrp="1"/>
                </p:cNvSpPr>
                <p:nvPr/>
              </p:nvSpPr>
              <p:spPr>
                <a:xfrm>
                  <a:off x="6490335" y="3753802"/>
                  <a:ext cx="496443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128"/>
                <p:cNvSpPr txBox="1">
                  <a:spLocks noGrp="1"/>
                </p:cNvSpPr>
                <p:nvPr/>
              </p:nvSpPr>
              <p:spPr>
                <a:xfrm>
                  <a:off x="6490335" y="4322445"/>
                  <a:ext cx="496443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7" name="TextBox 27"/>
            <p:cNvSpPr txBox="1"/>
            <p:nvPr/>
          </p:nvSpPr>
          <p:spPr>
            <a:xfrm>
              <a:off x="6484239" y="4911090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新算出的分量立即用于后面的分量，只需一套向量。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29" name="Rectangle 2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6004084"/>
              <a:ext cx="97620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充分条件：A 严格对角占优 ⇒ Jacobi 与 G-S 都收敛；A 对称正定 ⇒ G-S 收敛。其余情形算两个迭代矩阵的谱半径。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84919" cy="909257"/>
            <a:chOff x="520446" y="342900"/>
            <a:chExt cx="89849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849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典型题（一）：Jacobi 迭代到 ‖x⁽ᵏ⁾ − x⁽ᵏ⁻¹⁾‖∞ &lt; 10⁻³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707434" cy="293370"/>
            <a:chOff x="525780" y="1548765"/>
            <a:chExt cx="1070743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7074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10x₁ − x₂ − 2x₃ = 7.2，−x₁ + 10x₂ − 2x₃ = 8.3，−x₁ − x₂ + 5x₃ = 4.2；精确解 (1.1, 1.2, 1.3)ᵀ，初值 x⁽⁰⁾ = 0。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31"/>
              <p:cNvSpPr txBox="1">
                <a:spLocks noGrp="1"/>
              </p:cNvSpPr>
              <p:nvPr/>
            </p:nvSpPr>
            <p:spPr>
              <a:xfrm>
                <a:off x="533400" y="1954530"/>
                <a:ext cx="4869180" cy="1249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0.1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0.72</m:t>
                              </m:r>
                            </m:e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0.1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0.83</m:t>
                              </m:r>
                            </m:e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0.84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2" name="c1-card-2"/>
          <p:cNvGrpSpPr/>
          <p:nvPr/>
        </p:nvGrpSpPr>
        <p:grpSpPr>
          <a:xfrm>
            <a:off x="533400" y="3389948"/>
            <a:ext cx="4869180" cy="2777490"/>
            <a:chOff x="533400" y="3389948"/>
            <a:chExt cx="4869180" cy="2777490"/>
          </a:xfrm>
        </p:grpSpPr>
        <p:sp>
          <p:nvSpPr>
            <p:cNvPr id="10" name="Rectangle 10"/>
            <p:cNvSpPr/>
            <p:nvPr/>
          </p:nvSpPr>
          <p:spPr>
            <a:xfrm>
              <a:off x="533400" y="3389948"/>
              <a:ext cx="4869180" cy="2777490"/>
            </a:xfrm>
            <a:prstGeom prst="roundRect">
              <a:avLst>
                <a:gd name="adj" fmla="val 48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3523298"/>
              <a:ext cx="47625" cy="25107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75335" y="3593782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35990" y="362950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先判断、再估计次数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40271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966686"/>
              <a:ext cx="397294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每行 |aᵢᵢ| 大于同行其余元素绝对值之和（10 &gt;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3，10 &gt; 3，5 &gt; 2），严格对角占优，Jacobi 收敛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461867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4558189"/>
              <a:ext cx="41722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迭代矩阵行和为 0.3、0.3、0.4，∞ 范数 q = 0.4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2955" y="493871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9546" y="4878229"/>
              <a:ext cx="389178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x⁽¹⁾ = (0.72, 0.83, 0.84)ᵀ，‖x⁽¹⁾ − x⁽⁰⁾‖∞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0.84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2955" y="55302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9546" y="5469731"/>
              <a:ext cx="345897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事前估计误差 ≤ 10⁻³：k 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ln(10⁻³×0.6/0.84)/ln0.4 ≈ 7.9，取 8 步</a:t>
              </a:r>
            </a:p>
          </p:txBody>
        </p:sp>
      </p:grpSp>
      <p:grpSp>
        <p:nvGrpSpPr>
          <p:cNvPr id="87" name="c2-table-1"/>
          <p:cNvGrpSpPr/>
          <p:nvPr/>
        </p:nvGrpSpPr>
        <p:grpSpPr>
          <a:xfrm>
            <a:off x="5701665" y="1954530"/>
            <a:ext cx="5956935" cy="4166712"/>
            <a:chOff x="5701665" y="1954530"/>
            <a:chExt cx="5956935" cy="4166712"/>
          </a:xfrm>
        </p:grpSpPr>
        <p:sp>
          <p:nvSpPr>
            <p:cNvPr id="23" name="Rectangle 23"/>
            <p:cNvSpPr/>
            <p:nvPr/>
          </p:nvSpPr>
          <p:spPr>
            <a:xfrm>
              <a:off x="5707380" y="1954530"/>
              <a:ext cx="595122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62296" y="20859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9385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3685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79855" y="20859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94171" y="2085975"/>
              <a:ext cx="1420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‖x⁽ᵏ⁾ − x⁽ᵏ⁻¹⁾‖∞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62296" y="25155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76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0.72000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19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0.83000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62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0.84000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87127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0.84000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707380" y="280987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707380" y="2814638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62296" y="29460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76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0.97100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19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1.07000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62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1.15000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87127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0.31000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324040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62296" y="33766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76174" y="337661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1.05700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19174" y="337661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1.15710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62174" y="337661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1.24820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87127" y="337661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0.09820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707380" y="366998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707380" y="367474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62296" y="38061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76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1.08535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19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1.18534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62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1.28282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387127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0.03462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707380" y="410051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962296" y="4236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576174" y="423672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1.09510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19174" y="423672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1.19510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62174" y="423672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1.29414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387127" y="423672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0.01132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707380" y="453104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707380" y="453580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962296" y="466629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576174" y="466629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1.09834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19174" y="466629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1.19834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62174" y="466629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1.29804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387127" y="466629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0.00390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707380" y="496062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962296" y="509682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576174" y="509682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1.09944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719174" y="509682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1.19944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862174" y="509682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1.29933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387127" y="509682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0.00130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707380" y="539115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5707380" y="5395912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5962296" y="552735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576174" y="552735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1.09981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719174" y="552735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1.19981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862174" y="552735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1.29978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760268" y="5405438"/>
              <a:ext cx="1888808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10387127" y="5527358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0.00044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707380" y="1954530"/>
              <a:ext cx="5951220" cy="38709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6316980" y="1954530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7459980" y="1954530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8602980" y="1954530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745980" y="1954530"/>
              <a:ext cx="9525" cy="38709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5701665" y="5901214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8 步 0.00044 &lt; 10⁻³，停止；此时实际误差 2.2×10⁻⁴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741375" cy="909257"/>
            <a:chOff x="520446" y="342900"/>
            <a:chExt cx="87413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7413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典型题（二）：同一方程组用 G-S 迭代，5 步就满足要求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34"/>
              <p:cNvSpPr txBox="1">
                <a:spLocks noGrp="1"/>
              </p:cNvSpPr>
              <p:nvPr/>
            </p:nvSpPr>
            <p:spPr>
              <a:xfrm>
                <a:off x="533400" y="1524000"/>
                <a:ext cx="4869180" cy="1200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0.1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0.72</m:t>
                              </m:r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0.1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0.83</m:t>
                              </m:r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0.2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0.84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5" name="c1-card-2"/>
          <p:cNvGrpSpPr/>
          <p:nvPr/>
        </p:nvGrpSpPr>
        <p:grpSpPr>
          <a:xfrm>
            <a:off x="533400" y="2909888"/>
            <a:ext cx="4869180" cy="1643062"/>
            <a:chOff x="533400" y="2909888"/>
            <a:chExt cx="4869180" cy="1643062"/>
          </a:xfrm>
        </p:grpSpPr>
        <p:sp>
          <p:nvSpPr>
            <p:cNvPr id="8" name="Rectangle 8"/>
            <p:cNvSpPr/>
            <p:nvPr/>
          </p:nvSpPr>
          <p:spPr>
            <a:xfrm>
              <a:off x="533400" y="2909888"/>
              <a:ext cx="4869180" cy="1643062"/>
            </a:xfrm>
            <a:prstGeom prst="roundRect">
              <a:avLst>
                <a:gd name="adj" fmla="val 81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542925" y="3043238"/>
              <a:ext cx="47625" cy="13763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75335" y="3113722"/>
              <a:ext cx="95059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52339" y="3149441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1 步手算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3486626"/>
              <a:ext cx="8651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= 0.72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3806666"/>
              <a:ext cx="40861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 = 0.1×0.72 + 0.83 = 0.902（已用新的 x₁）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4126706"/>
              <a:ext cx="39428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 = 0.2×0.72 + 0.2×0.902 + 0.84 = 1.1644</a:t>
              </a:r>
            </a:p>
          </p:txBody>
        </p:sp>
      </p:grpSp>
      <p:grpSp>
        <p:nvGrpSpPr>
          <p:cNvPr id="32" name="c1-table-3"/>
          <p:cNvGrpSpPr/>
          <p:nvPr/>
        </p:nvGrpSpPr>
        <p:grpSpPr>
          <a:xfrm>
            <a:off x="533400" y="4738688"/>
            <a:ext cx="4869180" cy="1290638"/>
            <a:chOff x="533400" y="4738688"/>
            <a:chExt cx="4869180" cy="1290638"/>
          </a:xfrm>
        </p:grpSpPr>
        <p:sp>
          <p:nvSpPr>
            <p:cNvPr id="16" name="Rectangle 16"/>
            <p:cNvSpPr/>
            <p:nvPr/>
          </p:nvSpPr>
          <p:spPr>
            <a:xfrm>
              <a:off x="533400" y="4738688"/>
              <a:ext cx="486918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223010" y="48691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93086" y="48691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停止步数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28110" y="486918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迭代矩阵谱半径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8746" y="5299710"/>
              <a:ext cx="5344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54199" y="52997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1987" y="5299710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0.337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59403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5598795"/>
              <a:ext cx="486918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8746" y="5730240"/>
              <a:ext cx="1057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258378" y="5608320"/>
              <a:ext cx="1329690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354199" y="573024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01987" y="5730240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0.126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738688"/>
              <a:ext cx="486918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244090" y="4738688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91878" y="4738688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7" name="c2-table-1"/>
          <p:cNvGrpSpPr/>
          <p:nvPr/>
        </p:nvGrpSpPr>
        <p:grpSpPr>
          <a:xfrm>
            <a:off x="5701665" y="1524000"/>
            <a:ext cx="5956935" cy="2877027"/>
            <a:chOff x="5701665" y="1524000"/>
            <a:chExt cx="5956935" cy="2877027"/>
          </a:xfrm>
        </p:grpSpPr>
        <p:sp>
          <p:nvSpPr>
            <p:cNvPr id="33" name="Rectangle 33"/>
            <p:cNvSpPr/>
            <p:nvPr/>
          </p:nvSpPr>
          <p:spPr>
            <a:xfrm>
              <a:off x="5707380" y="1524000"/>
              <a:ext cx="595122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62296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93855" y="165544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36855" y="165544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79855" y="165544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994171" y="1655445"/>
              <a:ext cx="1420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‖x⁽ᵏ⁾ − x⁽ᵏ⁻¹⁾‖∞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962296" y="20850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76174" y="208502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0.72000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19174" y="208502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0.90200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862174" y="208502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1.16440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87127" y="208502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1.16440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707380" y="237934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707380" y="2384108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62296" y="25155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76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1.04308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19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1.16719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62174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1.28205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87127" y="251555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0.32308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707380" y="280987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62296" y="29460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76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1.09313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19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1.19572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62174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1.29777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87127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0.05005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707380" y="323945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707380" y="324421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962296" y="33756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576174" y="33756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1.09913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719174" y="33756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1.19947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62174" y="33756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1.29972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387127" y="337566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0.00600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707380" y="366998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962296" y="38061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576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1.09989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719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1.19993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862174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1.29996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760268" y="3684270"/>
              <a:ext cx="1888808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387127" y="3806190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0.00076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707380" y="1524000"/>
              <a:ext cx="5951220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6316980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459980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8602980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745980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5701665" y="4180999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5 步 0.00076 &lt; 10⁻³，停止；此时实际误差 1.1×10⁻⁴</a:t>
              </a:r>
            </a:p>
          </p:txBody>
        </p:sp>
      </p:grpSp>
      <p:grpSp>
        <p:nvGrpSpPr>
          <p:cNvPr id="84" name="c2-callout-2"/>
          <p:cNvGrpSpPr/>
          <p:nvPr/>
        </p:nvGrpSpPr>
        <p:grpSpPr>
          <a:xfrm>
            <a:off x="5707380" y="4541520"/>
            <a:ext cx="5951220" cy="756285"/>
            <a:chOff x="5707380" y="4541520"/>
            <a:chExt cx="5951220" cy="756285"/>
          </a:xfrm>
        </p:grpSpPr>
        <p:sp>
          <p:nvSpPr>
            <p:cNvPr id="78" name="Rectangle 78"/>
            <p:cNvSpPr/>
            <p:nvPr/>
          </p:nvSpPr>
          <p:spPr>
            <a:xfrm>
              <a:off x="5707380" y="4541520"/>
              <a:ext cx="595122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5912168" y="4819650"/>
              <a:ext cx="200026" cy="200025"/>
              <a:chOff x="5912168" y="4819650"/>
              <a:chExt cx="200026" cy="200025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912168" y="48196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5951906" y="48641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5986622" y="49752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6214491" y="4688681"/>
              <a:ext cx="474840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谱半径越小，误差每步缩小得越多。本题 G-S 的谱半径约为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Jacobi 的 1/3，停止步数也少得多。</a:t>
              </a:r>
            </a:p>
          </p:txBody>
        </p:sp>
      </p:grpSp>
      <p:grpSp>
        <p:nvGrpSpPr>
          <p:cNvPr id="91" name="c2-callout-3"/>
          <p:cNvGrpSpPr/>
          <p:nvPr/>
        </p:nvGrpSpPr>
        <p:grpSpPr>
          <a:xfrm>
            <a:off x="5707380" y="5483542"/>
            <a:ext cx="5951220" cy="756285"/>
            <a:chOff x="5707380" y="5483542"/>
            <a:chExt cx="5951220" cy="756285"/>
          </a:xfrm>
        </p:grpSpPr>
        <p:sp>
          <p:nvSpPr>
            <p:cNvPr id="85" name="Rectangle 85"/>
            <p:cNvSpPr/>
            <p:nvPr/>
          </p:nvSpPr>
          <p:spPr>
            <a:xfrm>
              <a:off x="5707380" y="5483542"/>
              <a:ext cx="595122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5900109" y="5757981"/>
              <a:ext cx="224134" cy="192560"/>
              <a:chOff x="5900109" y="5757981"/>
              <a:chExt cx="224134" cy="192560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6012180" y="58283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5900109" y="57579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6012180" y="59061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6214491" y="5630704"/>
              <a:ext cx="504596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这个结论不能推广：有的方程组 Jacobi 收敛而 G-S 发散，也有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相反的情形（见下一页），要逐个判断。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94193" cy="909257"/>
            <a:chOff x="520446" y="342900"/>
            <a:chExt cx="759419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第二章 线性方程组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9419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典型题：用谱半径判断，Jacobi 发散而 G-S 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028936" cy="597598"/>
            <a:chOff x="525399" y="1550194"/>
            <a:chExt cx="10028936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028936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[2 −1 1; 1 1 1; 1 1 −2]。不必求出迭代矩阵：Jacobi 的特征方程等价于 det(λD − L − U) = 0，G-S 的等价于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det(λ(D − L) − U) = 0。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2257425"/>
            <a:ext cx="5410200" cy="2700338"/>
            <a:chOff x="533400" y="2257425"/>
            <a:chExt cx="5410200" cy="2700338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410200" cy="2700338"/>
            </a:xfrm>
            <a:prstGeom prst="roundRect">
              <a:avLst>
                <a:gd name="adj" fmla="val 4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390775"/>
              <a:ext cx="47625" cy="24336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466975"/>
              <a:ext cx="99441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4089" y="2502694"/>
              <a:ext cx="848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Jacobi 迭代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844165"/>
              <a:ext cx="32592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 的对角元乘 λ，其余元素不变：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37"/>
                <p:cNvSpPr txBox="1">
                  <a:spLocks noGrp="1"/>
                </p:cNvSpPr>
                <p:nvPr/>
              </p:nvSpPr>
              <p:spPr>
                <a:xfrm>
                  <a:off x="781050" y="3154680"/>
                  <a:ext cx="4953000" cy="9039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2λ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2λ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λ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3430" y="4178618"/>
              <a:ext cx="22970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0，λ₂,₃ = ±(√5/2)i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4513898"/>
              <a:ext cx="39833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 √5/2 ≈ 1.118 &gt; 1，</a:t>
              </a: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Jacobi 迭代发散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2257425"/>
            <a:ext cx="5410200" cy="2700338"/>
            <a:chOff x="6248400" y="2257425"/>
            <a:chExt cx="5410200" cy="2700338"/>
          </a:xfrm>
        </p:grpSpPr>
        <p:sp>
          <p:nvSpPr>
            <p:cNvPr id="18" name="Rectangle 18"/>
            <p:cNvSpPr/>
            <p:nvPr/>
          </p:nvSpPr>
          <p:spPr>
            <a:xfrm>
              <a:off x="6248400" y="2257425"/>
              <a:ext cx="5410200" cy="2700338"/>
            </a:xfrm>
            <a:prstGeom prst="roundRect">
              <a:avLst>
                <a:gd name="adj" fmla="val 49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57925" y="2390775"/>
              <a:ext cx="47625" cy="24336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96050" y="2466975"/>
              <a:ext cx="144970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52597" y="2502694"/>
              <a:ext cx="1336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Gauss-Seidel 迭代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88430" y="2844165"/>
              <a:ext cx="42689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 的对角元和下三角元乘 λ，上三角元不变：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138"/>
                <p:cNvSpPr txBox="1">
                  <a:spLocks noGrp="1"/>
                </p:cNvSpPr>
                <p:nvPr/>
              </p:nvSpPr>
              <p:spPr>
                <a:xfrm>
                  <a:off x="6496050" y="3154680"/>
                  <a:ext cx="4953000" cy="9039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2λ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2λ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λ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2λ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TextBox 24"/>
            <p:cNvSpPr txBox="1"/>
            <p:nvPr/>
          </p:nvSpPr>
          <p:spPr>
            <a:xfrm>
              <a:off x="6488430" y="4178618"/>
              <a:ext cx="2135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0，λ₂ = λ₃ = −1/2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8430" y="4513898"/>
              <a:ext cx="28045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 1/2 &lt; 1，</a:t>
              </a: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G-S 迭代收敛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728335"/>
              <a:ext cx="9854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 不是严格对角占优（第 2 行 |1| &lt; |1| + |1|），充分条件用不上，只能算谱半径。Jacobi 与 G-S 谁收敛没有固定的先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5852160" cy="3706177"/>
            <a:chOff x="667512" y="1835468"/>
            <a:chExt cx="5852160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非线性方程（组）的数值法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先找有根区间，再用迭代逐步逼近根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非线性方程（组）问题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二分法及其适用条件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不动点迭代法：定义、收敛性定理、收敛阶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809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迭代法：算法与收敛性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3879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非线性方程组的 Newton 迭代法：具体步骤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二分法：有根区间逐次减半，所需次数可以事先算出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544378" cy="4491038"/>
            <a:chOff x="533400" y="1524000"/>
            <a:chExt cx="4544378" cy="44910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4491038"/>
            </a:xfrm>
            <a:prstGeom prst="roundRect">
              <a:avLst>
                <a:gd name="adj" fmla="val 29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22433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55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问题与适用条件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f(x) = 0 的根 x*。若 f(x) = (x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x*)ᵐg(x)，g(x*) ≠ 0，称 x* 为 m 重根。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31770"/>
              <a:ext cx="3158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二分法的条件：f 在 [a, b] 上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且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f(a)f(b) &lt; 0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，区间内至少有一个根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35280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每步取中点，保留端点函数值异号的那一半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40"/>
                <p:cNvSpPr txBox="1">
                  <a:spLocks noGrp="1"/>
                </p:cNvSpPr>
                <p:nvPr/>
              </p:nvSpPr>
              <p:spPr>
                <a:xfrm>
                  <a:off x="781050" y="3663315"/>
                  <a:ext cx="4087178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74573" y="4448651"/>
              <a:ext cx="39143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优点：简单，一定收敛。缺点：线性收敛较慢；求不出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偶数重根和复根。</a:t>
              </a:r>
            </a:p>
          </p:txBody>
        </p:sp>
      </p:grpSp>
      <p:grpSp>
        <p:nvGrpSpPr>
          <p:cNvPr id="93" name="c2-table-1"/>
          <p:cNvGrpSpPr/>
          <p:nvPr/>
        </p:nvGrpSpPr>
        <p:grpSpPr>
          <a:xfrm>
            <a:off x="5376862" y="1524000"/>
            <a:ext cx="6281738" cy="4535328"/>
            <a:chOff x="5376862" y="1524000"/>
            <a:chExt cx="6281738" cy="4535328"/>
          </a:xfrm>
        </p:grpSpPr>
        <p:sp>
          <p:nvSpPr>
            <p:cNvPr id="18" name="Rectangle 18"/>
            <p:cNvSpPr/>
            <p:nvPr/>
          </p:nvSpPr>
          <p:spPr>
            <a:xfrm>
              <a:off x="5382578" y="1524000"/>
              <a:ext cx="627602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53684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82429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06379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78443" y="165973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xₙ₊₁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47424" y="1659731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f(xₙ₊₁)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7865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36847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3455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5850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35307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516623" y="210835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0.875000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924177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82578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82578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536847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3455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63732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87921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69237" y="255698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−0.296875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876791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82578" y="28660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536847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92396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63732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440534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1.375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16623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0.224609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829404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82578" y="33147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82578" y="331946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536847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192396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68959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1.375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93148" y="345424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1.3125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69237" y="345424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−0.051514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782018" y="345424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0.0625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82578" y="37633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536847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97623" y="390382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1.3125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68959" y="390382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1.375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45762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1.34375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516623" y="390382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0.082611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734632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0.03125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421195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382578" y="421671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536847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097623" y="435244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1.3125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174187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1.34375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298376" y="435244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1.328125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516623" y="435244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0.014576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687246" y="435244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0.015625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382578" y="46605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536847" y="480107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097623" y="480107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1.3125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26801" y="4801076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1.328125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50989" y="480107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1.3203125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469237" y="480107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−0.018711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639859" y="480107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0.0078125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382578" y="51101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5382578" y="511492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536847" y="524970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955464" y="524970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1.3203125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126801" y="524970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1.328125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8061008" y="5124450"/>
              <a:ext cx="124587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203603" y="5249704"/>
              <a:ext cx="960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1.32421875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469237" y="524970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−0.002128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10496550" y="5124450"/>
              <a:ext cx="115252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0639859" y="524970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0.0039063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5382578" y="1524000"/>
              <a:ext cx="6276022" cy="40395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5797868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969442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8046720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311640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482262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5376862" y="5639276"/>
              <a:ext cx="589305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例：x³ − x − 1 = 0 在 [1, 2] 内的根，误差 ≤ 0.005。需 2ⁿ⁺¹ ≥ 200，n + 1 ≥ 7.64，算到 x₈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（根 x* = 1.324718…）</a:t>
              </a:r>
            </a:p>
          </p:txBody>
        </p:sp>
      </p:grpSp>
      <p:grpSp>
        <p:nvGrpSpPr>
          <p:cNvPr id="9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4" name="TextBox 9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80747" cy="909257"/>
            <a:chOff x="520446" y="342900"/>
            <a:chExt cx="82807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807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不动点迭代：φ 把区间映到自身且 |φ′| ≤ L &lt; 1 就收敛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492240" cy="1316355"/>
            <a:chOff x="533400" y="1524000"/>
            <a:chExt cx="6492240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不动点迭代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606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f(x) = 0 改写成等价的 x = φ(x)，迭代 xₖ₊₁ = φ(xₖ)。若 xₖ 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x*，则 x* = φ(x*)，x* 称为不动点。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030855"/>
            <a:ext cx="6492240" cy="3246120"/>
            <a:chOff x="533400" y="3030855"/>
            <a:chExt cx="6492240" cy="3246120"/>
          </a:xfrm>
        </p:grpSpPr>
        <p:sp>
          <p:nvSpPr>
            <p:cNvPr id="13" name="Rectangle 13"/>
            <p:cNvSpPr/>
            <p:nvPr/>
          </p:nvSpPr>
          <p:spPr>
            <a:xfrm>
              <a:off x="533400" y="3030855"/>
              <a:ext cx="6492240" cy="3246120"/>
            </a:xfrm>
            <a:prstGeom prst="roundRect">
              <a:avLst>
                <a:gd name="adj" fmla="val 41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164205"/>
              <a:ext cx="47625" cy="297942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24040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2635" y="327612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617595"/>
              <a:ext cx="5577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 ∈ C¹[a, b]，① φ([a, b]) ⊂ [a, b]；② |φ′(x)| ≤ L &lt; 1。则不动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 x* 唯一，任取 x₀ ∈ [a, b] 都收敛，且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143"/>
                <p:cNvSpPr txBox="1">
                  <a:spLocks noGrp="1"/>
                </p:cNvSpPr>
                <p:nvPr/>
              </p:nvSpPr>
              <p:spPr>
                <a:xfrm>
                  <a:off x="781050" y="4213860"/>
                  <a:ext cx="6035040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2-image-1"/>
          <p:cNvGrpSpPr/>
          <p:nvPr/>
        </p:nvGrpSpPr>
        <p:grpSpPr>
          <a:xfrm>
            <a:off x="7330440" y="1524000"/>
            <a:ext cx="4328160" cy="2315052"/>
            <a:chOff x="7330440" y="1524000"/>
            <a:chExt cx="4328160" cy="2315052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rcRect l="0" t="19190" r="0" b="19190"/>
            <a:stretch>
              <a:fillRect/>
            </a:stretch>
          </p:blipFill>
          <p:spPr>
            <a:xfrm>
              <a:off x="7330440" y="1524000"/>
              <a:ext cx="4328160" cy="2000250"/>
            </a:xfrm>
            <a:prstGeom prst="roundRect">
              <a:avLst>
                <a:gd name="adj" fmla="val 6666"/>
              </a:avLst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7604125" y="3619024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地图铺在它画的公园里，恰有一点压在它所代表的位置上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7330440" y="4004310"/>
            <a:ext cx="4328160" cy="2272665"/>
            <a:chOff x="7330440" y="4004310"/>
            <a:chExt cx="4328160" cy="2272665"/>
          </a:xfrm>
        </p:grpSpPr>
        <p:sp>
          <p:nvSpPr>
            <p:cNvPr id="23" name="Rectangle 23"/>
            <p:cNvSpPr/>
            <p:nvPr/>
          </p:nvSpPr>
          <p:spPr>
            <a:xfrm>
              <a:off x="7330440" y="4004310"/>
              <a:ext cx="432816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339965" y="413766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78090" y="421386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42695" y="424957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局部收敛与收敛阶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583805" y="4653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741920" y="4591050"/>
              <a:ext cx="31350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&lt; 1 ⇒ 初值靠近 x* 时收敛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583805" y="49891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741920" y="4926330"/>
              <a:ext cx="29685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|eₖ₊₁|/|eₖ|ᵖ → C ≠ 0 称 p 阶收敛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3805" y="532447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41920" y="5261610"/>
              <a:ext cx="33299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φ′(x*) = … = φ⁽ᵖ⁻¹⁾(x*) = 0，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φ⁽ᵖ⁾(x*) ≠ 0 ⇒ p 阶；φ′(x*) ≠ 0 为线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34421" cy="909257"/>
            <a:chOff x="520446" y="342900"/>
            <a:chExt cx="92344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344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典型题：x³ − x − 1 = 0 的两种迭代函数，一个收敛一个发散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626418" cy="2391728"/>
            <a:chOff x="533400" y="1524000"/>
            <a:chExt cx="5626418" cy="23917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391728"/>
            </a:xfrm>
            <a:prstGeom prst="roundRect">
              <a:avLst>
                <a:gd name="adj" fmla="val 55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250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收敛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1502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φ₁(x) = ∛(x + 1)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∈ [1, 2] 时 φ₁(x) ∈ [∛2, ∛3] = [1.260, 1.442] ⊂ [1,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2]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70605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649855"/>
              <a:ext cx="46306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φ₁′(x) = 1/(3∛((x + 1)²)) ≤ 1/(3∛4) ≈ 0.210 = L &lt; 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2478" y="300894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2952750"/>
              <a:ext cx="45399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事前估计误差 ≤ 10⁻⁵：k ≥ ln(10⁻⁵×0.79/0.1428)/ln0.21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6.3，取 k = 7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2478" y="356806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28497" y="3511868"/>
              <a:ext cx="43663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φ₁′(x*) ≈ 0.190 ≠ 0，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线性收敛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，误差每步约乘 0.19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090988"/>
            <a:ext cx="5626418" cy="2227898"/>
            <a:chOff x="533400" y="4090988"/>
            <a:chExt cx="5626418" cy="2227898"/>
          </a:xfrm>
        </p:grpSpPr>
        <p:sp>
          <p:nvSpPr>
            <p:cNvPr id="21" name="Rectangle 21"/>
            <p:cNvSpPr/>
            <p:nvPr/>
          </p:nvSpPr>
          <p:spPr>
            <a:xfrm>
              <a:off x="533400" y="4090988"/>
              <a:ext cx="5626418" cy="2227898"/>
            </a:xfrm>
            <a:prstGeom prst="roundRect">
              <a:avLst>
                <a:gd name="adj" fmla="val 59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224338"/>
              <a:ext cx="47625" cy="196119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3905" y="42833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5345" y="43176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发散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47597" y="4322445"/>
              <a:ext cx="12922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φ₂(x) = x³ − 1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047" y="4656772"/>
              <a:ext cx="49343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φ₂′(x) = 3x² ≥ 3 &gt; 1。取 x₀ = 1.5：x₁ = 2.375，x₂ = 12.40，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 = 1904.0，越走越远。</a:t>
              </a:r>
            </a:p>
          </p:txBody>
        </p:sp>
      </p:grpSp>
      <p:grpSp>
        <p:nvGrpSpPr>
          <p:cNvPr id="81" name="c2-table-1"/>
          <p:cNvGrpSpPr/>
          <p:nvPr/>
        </p:nvGrpSpPr>
        <p:grpSpPr>
          <a:xfrm>
            <a:off x="6459284" y="1524000"/>
            <a:ext cx="5226520" cy="3931539"/>
            <a:chOff x="6459284" y="1524000"/>
            <a:chExt cx="5226520" cy="3931539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05891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71065" y="16483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21437" y="1648301"/>
              <a:ext cx="810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|xₖ − xₖ₋₁|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96314" y="1648301"/>
              <a:ext cx="6367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|xₖ − x*|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05891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33749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35816" y="205406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1.75×10⁻¹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64618" y="233076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64618" y="233553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05891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84971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1.3572088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48011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1.43×10⁻¹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35816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3.25×10⁻²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27365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05891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84971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1.3308610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48011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2.63×10⁻²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535816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6.14×10⁻³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314229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64618" y="314706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0589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84971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1.3258838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48011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4.98×10⁻³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35816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1.17×10⁻³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35480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05891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84971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1.3249394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048011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9.44×10⁻⁴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35816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2.21×10⁻⁴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64618" y="39538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64618" y="395859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805891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84971" y="408289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1.3247600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048011" y="408289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1.79×10⁻⁴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535816" y="408289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4.21×10⁻⁵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464618" y="43595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805891" y="44886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584971" y="44886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1.3247259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048011" y="44886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3.41×10⁻⁵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535816" y="44886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7.99×10⁻⁶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464618" y="476535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464618" y="477012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805891" y="48944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584971" y="489442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1.3247195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048011" y="489442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6.47×10⁻⁶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10180320" y="4779645"/>
              <a:ext cx="146875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0535816" y="489442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1.52×10⁻⁶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464618" y="1524000"/>
              <a:ext cx="5193982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7240905" y="1524000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8678228" y="1524000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166032" y="1524000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459284" y="5250180"/>
              <a:ext cx="52265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φ₁ 的迭代，x₀ = 1.5，x* = 1.3247180…；第 7 步误差 1.5×10⁻⁶，与事前估计一致</a:t>
              </a:r>
            </a:p>
          </p:txBody>
        </p:sp>
      </p:grpSp>
      <p:grpSp>
        <p:nvGrpSpPr>
          <p:cNvPr id="88" name="c2-callout-2"/>
          <p:cNvGrpSpPr/>
          <p:nvPr/>
        </p:nvGrpSpPr>
        <p:grpSpPr>
          <a:xfrm>
            <a:off x="6464618" y="5589270"/>
            <a:ext cx="5193982" cy="729615"/>
            <a:chOff x="6464618" y="5589270"/>
            <a:chExt cx="5193982" cy="729615"/>
          </a:xfrm>
        </p:grpSpPr>
        <p:sp>
          <p:nvSpPr>
            <p:cNvPr id="82" name="Rectangle 82"/>
            <p:cNvSpPr/>
            <p:nvPr/>
          </p:nvSpPr>
          <p:spPr>
            <a:xfrm>
              <a:off x="6464618" y="5589270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6669405" y="5854065"/>
              <a:ext cx="200026" cy="200025"/>
              <a:chOff x="6669405" y="5854065"/>
              <a:chExt cx="200026" cy="20002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6669405" y="58540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6709144" y="58985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6743859" y="60096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6972110" y="5735955"/>
              <a:ext cx="431711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同一个方程可以改写出许多 φ，先检验定理 3.1 的两个条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件，再动手迭代。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74141" cy="909257"/>
            <a:chOff x="520446" y="342900"/>
            <a:chExt cx="82741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741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迭代法：用切线代替曲线，单根附近平方收敛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461260"/>
            <a:chOff x="533400" y="1524000"/>
            <a:chExt cx="5410200" cy="24612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61260"/>
            </a:xfrm>
            <a:prstGeom prst="roundRect">
              <a:avLst>
                <a:gd name="adj" fmla="val 54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9456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95535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2833" y="1743551"/>
              <a:ext cx="8051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Newton 公式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975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xₖ 处线性化 f(x) ≈ f(xₖ) + f′(xₖ)(x − xₖ)，令其为 0：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60"/>
                <p:cNvSpPr txBox="1">
                  <a:spLocks noGrp="1"/>
                </p:cNvSpPr>
                <p:nvPr/>
              </p:nvSpPr>
              <p:spPr>
                <a:xfrm>
                  <a:off x="758190" y="2332672"/>
                  <a:ext cx="4998720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66762" y="308705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3030855"/>
              <a:ext cx="45657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几何意义：过点 (xₖ, f(xₖ)) 作切线，切线与 x 轴的交点就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xₖ₊₁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64426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588068"/>
              <a:ext cx="41482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x² − a 时得开方公式 xₖ₊₁ = (xₖ + a/xₖ)/2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4155758"/>
            <a:ext cx="5410200" cy="1528762"/>
            <a:chOff x="533400" y="4155758"/>
            <a:chExt cx="5410200" cy="1528762"/>
          </a:xfrm>
        </p:grpSpPr>
        <p:sp>
          <p:nvSpPr>
            <p:cNvPr id="18" name="Rectangle 18"/>
            <p:cNvSpPr/>
            <p:nvPr/>
          </p:nvSpPr>
          <p:spPr>
            <a:xfrm>
              <a:off x="533400" y="4155758"/>
              <a:ext cx="5410200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289108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58190" y="434244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6811" y="437530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割线法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332" y="4686300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用差商代替导数：xₖ₊₁ = xₖ − f(xₖ)(xₖ − xₖ₋₁)/[f(xₖ)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f(xₖ₋₁)]。不用算导数，收敛阶约 1.618。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248400" y="1524000"/>
            <a:ext cx="5410200" cy="1965008"/>
            <a:chOff x="6248400" y="1524000"/>
            <a:chExt cx="5410200" cy="1965008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1965008"/>
            </a:xfrm>
            <a:prstGeom prst="roundRect">
              <a:avLst>
                <a:gd name="adj" fmla="val 67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7925" y="1657350"/>
              <a:ext cx="47625" cy="169830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3190" y="1710690"/>
              <a:ext cx="71342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57484" y="1743551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94054" y="174593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局部平方收敛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66332" y="2071688"/>
              <a:ext cx="46257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为单根（f′(x*) ≠ 0），f″ 在 x* 附近连续，x₀ 充分接近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时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161"/>
                <p:cNvSpPr txBox="1">
                  <a:spLocks noGrp="1"/>
                </p:cNvSpPr>
                <p:nvPr/>
              </p:nvSpPr>
              <p:spPr>
                <a:xfrm>
                  <a:off x="6473190" y="2606992"/>
                  <a:ext cx="4998720" cy="6791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p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7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p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zh-CN" sz="17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*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num>
                          <m:den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0" name="c2-card-2"/>
          <p:cNvGrpSpPr/>
          <p:nvPr/>
        </p:nvGrpSpPr>
        <p:grpSpPr>
          <a:xfrm>
            <a:off x="6248400" y="3659505"/>
            <a:ext cx="5410200" cy="2025015"/>
            <a:chOff x="6248400" y="3659505"/>
            <a:chExt cx="5410200" cy="2025015"/>
          </a:xfrm>
        </p:grpSpPr>
        <p:sp>
          <p:nvSpPr>
            <p:cNvPr id="32" name="Rectangle 32"/>
            <p:cNvSpPr/>
            <p:nvPr/>
          </p:nvSpPr>
          <p:spPr>
            <a:xfrm>
              <a:off x="6248400" y="3659505"/>
              <a:ext cx="5410200" cy="2025015"/>
            </a:xfrm>
            <a:prstGeom prst="roundRect">
              <a:avLst>
                <a:gd name="adj" fmla="val 65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3792855"/>
              <a:ext cx="47625" cy="17583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73190" y="3846195"/>
              <a:ext cx="71342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57484" y="387905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94054" y="388143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怎样选初值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66332" y="4207192"/>
              <a:ext cx="46085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∈ C²[a, b]，f(a)f(b) &lt; 0，f′(x) ≠ 0，f″(x) 在 [a, b]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上不变号。取 x₀ ∈ [a, b] 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formula162"/>
                <p:cNvSpPr txBox="1">
                  <a:spLocks noGrp="1"/>
                </p:cNvSpPr>
                <p:nvPr/>
              </p:nvSpPr>
              <p:spPr>
                <a:xfrm>
                  <a:off x="6473190" y="4742498"/>
                  <a:ext cx="4998720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9" name="TextBox 39"/>
            <p:cNvSpPr txBox="1"/>
            <p:nvPr/>
          </p:nvSpPr>
          <p:spPr>
            <a:xfrm>
              <a:off x="6466332" y="5286375"/>
              <a:ext cx="36100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 Newton 迭代收敛到 [a, b] 内唯一的根。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1" name="Rectangle 4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892" y="6028373"/>
              <a:ext cx="7280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重根处 f′(x*) = 0，Newton 法只有线性收敛；初值离根太远或 f′ 接近 0 时可能不收敛。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43910" cy="909257"/>
            <a:chOff x="520446" y="342900"/>
            <a:chExt cx="92439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439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典型题：Newton 法求 x³ − x − 1 = 0，并与前两种方法比较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65"/>
              <p:cNvSpPr txBox="1">
                <a:spLocks noGrp="1"/>
              </p:cNvSpPr>
              <p:nvPr/>
            </p:nvSpPr>
            <p:spPr>
              <a:xfrm>
                <a:off x="533400" y="1524000"/>
                <a:ext cx="5951220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sSub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sSub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sSub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7304" y="2371725"/>
            <a:ext cx="5544312" cy="470916"/>
            <a:chOff x="527304" y="2371725"/>
            <a:chExt cx="5544312" cy="470916"/>
          </a:xfrm>
        </p:grpSpPr>
        <p:sp>
          <p:nvSpPr>
            <p:cNvPr id="8" name="TextBox 8"/>
            <p:cNvSpPr txBox="1"/>
            <p:nvPr/>
          </p:nvSpPr>
          <p:spPr>
            <a:xfrm>
              <a:off x="527304" y="2371725"/>
              <a:ext cx="554431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检验定理 3.3：f(1) = −1，f(2) = 5；[1, 2] 上 f′ = 3x² − 1 ≥ 2，f″ = 6x &gt; 0；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1.5 时 f(1.5) = 0.875 &gt; 0，f(x₀)f″(x₀) &gt; 0。</a:t>
              </a:r>
            </a:p>
          </p:txBody>
        </p:sp>
      </p:grpSp>
      <p:grpSp>
        <p:nvGrpSpPr>
          <p:cNvPr id="45" name="c1-table-3"/>
          <p:cNvGrpSpPr/>
          <p:nvPr/>
        </p:nvGrpSpPr>
        <p:grpSpPr>
          <a:xfrm>
            <a:off x="527685" y="2981325"/>
            <a:ext cx="5956935" cy="2876074"/>
            <a:chOff x="527685" y="2981325"/>
            <a:chExt cx="5956935" cy="2876074"/>
          </a:xfrm>
        </p:grpSpPr>
        <p:sp>
          <p:nvSpPr>
            <p:cNvPr id="10" name="Rectangle 10"/>
            <p:cNvSpPr/>
            <p:nvPr/>
          </p:nvSpPr>
          <p:spPr>
            <a:xfrm>
              <a:off x="533400" y="2981325"/>
              <a:ext cx="595122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18808" y="311277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88517" y="311277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42257" y="3112770"/>
              <a:ext cx="6821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|xₖ − x*|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161575" y="3112770"/>
              <a:ext cx="9620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|eₖ|/|eₖ₋₁|²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18808" y="354234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48535" y="354234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77438" y="354234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1.75×10⁻¹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83667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841432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8808" y="39728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93138" y="3972877"/>
              <a:ext cx="989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1.347826087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577438" y="3972877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2.31×10⁻²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14391" y="3972877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26720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18808" y="44024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93138" y="4402455"/>
              <a:ext cx="989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1.325200399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577438" y="440245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4.82×10⁻⁴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14391" y="440245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0.904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69677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701540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8808" y="483298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93138" y="4832985"/>
              <a:ext cx="989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1.324718174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577438" y="483298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2.17×10⁻⁷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14391" y="483298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0.931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512730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8808" y="52635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93138" y="5263515"/>
              <a:ext cx="9895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1.324717957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77438" y="526351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4.4×10⁻¹⁴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14391" y="526351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0.931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2981325"/>
              <a:ext cx="5951220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404938" y="2981325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161348" y="2981325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794885" y="2981325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7685" y="5637371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比值趋于 f″(x*)/(2f′(x*)) = 3x*/(3x*² − 1) ≈ 0.932</a:t>
              </a:r>
            </a:p>
          </p:txBody>
        </p:sp>
      </p:grpSp>
      <p:grpSp>
        <p:nvGrpSpPr>
          <p:cNvPr id="66" name="c2-table-1"/>
          <p:cNvGrpSpPr/>
          <p:nvPr/>
        </p:nvGrpSpPr>
        <p:grpSpPr>
          <a:xfrm>
            <a:off x="6789420" y="1524000"/>
            <a:ext cx="4869180" cy="2573655"/>
            <a:chOff x="6789420" y="1524000"/>
            <a:chExt cx="4869180" cy="2573655"/>
          </a:xfrm>
        </p:grpSpPr>
        <p:sp>
          <p:nvSpPr>
            <p:cNvPr id="46" name="Rectangle 46"/>
            <p:cNvSpPr/>
            <p:nvPr/>
          </p:nvSpPr>
          <p:spPr>
            <a:xfrm>
              <a:off x="6789420" y="1524000"/>
              <a:ext cx="4869180" cy="64389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352348" y="17621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496300" y="1655445"/>
              <a:ext cx="1358265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 ≤ 10⁻⁵ 所需步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50271" y="176212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收敛速度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94766" y="2405063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55902" y="2298382"/>
              <a:ext cx="12999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 个中点（2ⁿ⁺¹ 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10⁵）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205656" y="2405063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误差界每步减半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789420" y="280606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89420" y="2810828"/>
              <a:ext cx="486918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94766" y="3048952"/>
              <a:ext cx="1057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 φ₁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55902" y="304895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步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05656" y="2942272"/>
              <a:ext cx="926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线性，因子约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0.19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789420" y="344995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894766" y="3692842"/>
              <a:ext cx="8243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260080" y="3464242"/>
              <a:ext cx="1831658" cy="6248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355902" y="3586162"/>
              <a:ext cx="10561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步（误差已到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2×10⁻⁷）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205656" y="36928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平方收敛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789420" y="1524000"/>
              <a:ext cx="4869180" cy="25736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8245792" y="1524000"/>
              <a:ext cx="9525" cy="25736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095548" y="1524000"/>
              <a:ext cx="9525" cy="25736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callout-2"/>
          <p:cNvGrpSpPr/>
          <p:nvPr/>
        </p:nvGrpSpPr>
        <p:grpSpPr>
          <a:xfrm>
            <a:off x="6789420" y="4283392"/>
            <a:ext cx="4869180" cy="756285"/>
            <a:chOff x="6789420" y="4283392"/>
            <a:chExt cx="4869180" cy="756285"/>
          </a:xfrm>
        </p:grpSpPr>
        <p:sp>
          <p:nvSpPr>
            <p:cNvPr id="67" name="Rectangle 67"/>
            <p:cNvSpPr/>
            <p:nvPr/>
          </p:nvSpPr>
          <p:spPr>
            <a:xfrm>
              <a:off x="6789420" y="4283392"/>
              <a:ext cx="486918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6994208" y="4561523"/>
              <a:ext cx="200026" cy="200025"/>
              <a:chOff x="6994208" y="4561523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994208" y="45615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033946" y="46059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068662" y="47170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7296531" y="4430554"/>
              <a:ext cx="394589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Newton 法每迭代一步，有效数字大约翻一倍；代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价是每步要计算导数值。</a:t>
              </a:r>
            </a:p>
          </p:txBody>
        </p:sp>
      </p:grpSp>
      <p:grpSp>
        <p:nvGrpSpPr>
          <p:cNvPr id="80" name="c2-callout-3"/>
          <p:cNvGrpSpPr/>
          <p:nvPr/>
        </p:nvGrpSpPr>
        <p:grpSpPr>
          <a:xfrm>
            <a:off x="6789420" y="5224462"/>
            <a:ext cx="4869180" cy="1018222"/>
            <a:chOff x="6789420" y="5224462"/>
            <a:chExt cx="4869180" cy="1018222"/>
          </a:xfrm>
        </p:grpSpPr>
        <p:sp>
          <p:nvSpPr>
            <p:cNvPr id="74" name="Rectangle 74"/>
            <p:cNvSpPr/>
            <p:nvPr/>
          </p:nvSpPr>
          <p:spPr>
            <a:xfrm>
              <a:off x="6789420" y="5224462"/>
              <a:ext cx="4869180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6994208" y="5634038"/>
              <a:ext cx="200026" cy="200026"/>
              <a:chOff x="6994208" y="5634038"/>
              <a:chExt cx="200026" cy="200026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6994208" y="563403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094220" y="57007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7083108" y="573405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7296531" y="5372576"/>
              <a:ext cx="3819652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= (2×1.5³ + 1)/(3×1.5² − 1) = 7.75/5.75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1.347826，手算时先化简公式能少算一次减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3294" cy="909257"/>
            <a:chOff x="520446" y="342900"/>
            <a:chExt cx="83832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44970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693" y="407194"/>
              <a:ext cx="1265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第三章 非线性方程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32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非线性方程组的 Newton 法：每一步解一个线性方程组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2144078"/>
            <a:chOff x="533400" y="1524000"/>
            <a:chExt cx="4760595" cy="21440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144078"/>
            </a:xfrm>
            <a:prstGeom prst="roundRect">
              <a:avLst>
                <a:gd name="adj" fmla="val 62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7737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593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线性化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02704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(f₁(x), …, fₙ(x))ᵀ = 0，在 x⁽ᵏ⁾ 处展开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取线性部分：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70"/>
                <p:cNvSpPr txBox="1">
                  <a:spLocks noGrp="1"/>
                </p:cNvSpPr>
                <p:nvPr/>
              </p:nvSpPr>
              <p:spPr>
                <a:xfrm>
                  <a:off x="775335" y="2668905"/>
                  <a:ext cx="4314825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8096" y="3241834"/>
              <a:ext cx="35771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F′(x) = [∂fᵢ/∂xⱼ]ₙₓₙ 是 Jacobi 矩阵。</a:t>
              </a:r>
            </a:p>
          </p:txBody>
        </p:sp>
      </p:grpSp>
      <p:grpSp>
        <p:nvGrpSpPr>
          <p:cNvPr id="32" name="c1-steps-2"/>
          <p:cNvGrpSpPr/>
          <p:nvPr/>
        </p:nvGrpSpPr>
        <p:grpSpPr>
          <a:xfrm>
            <a:off x="533400" y="3863340"/>
            <a:ext cx="4389272" cy="2411158"/>
            <a:chOff x="533400" y="3863340"/>
            <a:chExt cx="4389272" cy="2411158"/>
          </a:xfrm>
        </p:grpSpPr>
        <p:sp>
          <p:nvSpPr>
            <p:cNvPr id="15" name="Rectangle 15"/>
            <p:cNvSpPr/>
            <p:nvPr/>
          </p:nvSpPr>
          <p:spPr>
            <a:xfrm>
              <a:off x="666750" y="4006215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33400" y="38633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371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48437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5581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510540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51792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572547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7024" y="57992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89620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4176712"/>
              <a:ext cx="25621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F(x⁽ᵏ⁾) 和 Jacobi 矩阵 F′(x⁽ᵏ⁾)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51723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解方程组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797742"/>
              <a:ext cx="3976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F′(x⁽ᵏ⁾)Δx⁽ᵏ⁾ = −F(x⁽ᵏ⁾)，用消去法或 LU，不求逆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261" y="51382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5418772"/>
              <a:ext cx="1740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x⁽ᵏ⁺¹⁾ = x⁽ᵏ⁾ + Δx⁽ᵏ⁾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261" y="575929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404" y="6039802"/>
              <a:ext cx="28667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‖Δx⁽ᵏ⁾‖∞ &lt; ε 时停止，否则回到第 1 步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5598795" y="1524000"/>
            <a:ext cx="6059805" cy="4740592"/>
            <a:chOff x="5598795" y="1524000"/>
            <a:chExt cx="6059805" cy="4740592"/>
          </a:xfrm>
        </p:grpSpPr>
        <p:sp>
          <p:nvSpPr>
            <p:cNvPr id="33" name="Rectangle 33"/>
            <p:cNvSpPr/>
            <p:nvPr/>
          </p:nvSpPr>
          <p:spPr>
            <a:xfrm>
              <a:off x="5598795" y="1524000"/>
              <a:ext cx="6059805" cy="4740592"/>
            </a:xfrm>
            <a:prstGeom prst="roundRect">
              <a:avLst>
                <a:gd name="adj" fmla="val 28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608320" y="1657350"/>
              <a:ext cx="47625" cy="44738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40730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26988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84061" y="1767364"/>
              <a:ext cx="39303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x² + y² − 4 = 0，xy − 1 = 0，初值 (2, 0.5)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formula171"/>
                <p:cNvSpPr txBox="1">
                  <a:spLocks noGrp="1"/>
                </p:cNvSpPr>
                <p:nvPr/>
              </p:nvSpPr>
              <p:spPr>
                <a:xfrm>
                  <a:off x="5840730" y="2095500"/>
                  <a:ext cx="5614035" cy="5943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2x</m:t>
                                  </m:r>
                                </m:e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2y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0.5</m:t>
                                  </m:r>
                                </m:e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9" name="TextBox 39"/>
            <p:cNvSpPr txBox="1"/>
            <p:nvPr/>
          </p:nvSpPr>
          <p:spPr>
            <a:xfrm>
              <a:off x="5833491" y="2806541"/>
              <a:ext cx="526237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步：F(2, 0.5) = (0.25, 0)ᵀ，解 4Δx + Δy = −0.25，0.5Δx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+ 2Δy = 0，得 Δx = −1/15，Δy = 1/60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840730" y="3373755"/>
              <a:ext cx="561403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08041" y="35052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260633" y="350520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04636" y="350520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126047" y="3505200"/>
              <a:ext cx="9715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‖Δx⁽ᵏ⁻¹⁾‖∞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08041" y="393573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47395" y="393573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1.9333333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591398" y="393573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0.5166667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05885" y="393573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6.67×10⁻²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40730" y="4230052"/>
              <a:ext cx="56140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840730" y="4234815"/>
              <a:ext cx="56140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08041" y="436530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47395" y="436530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1.9318527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1398" y="436530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0.5176371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205885" y="436530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1.48×10⁻³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840730" y="4659630"/>
              <a:ext cx="56140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08041" y="47958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47395" y="479583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1.9318517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91398" y="479583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0.5176381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205885" y="479583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1.09×10⁻⁶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40730" y="3373755"/>
              <a:ext cx="561403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676072" y="3373755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220075" y="3373755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764078" y="3373755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834634" y="5207317"/>
              <a:ext cx="5193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精确解 x = √(2 + √3) ≈ 1.9318517，y = 1/x ≈ 0.5176381；修正量大致按平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方缩小。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553000" cy="3706177"/>
            <a:chOff x="667512" y="1835468"/>
            <a:chExt cx="6553000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矩阵特征值特征向量的计算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5430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乘幂类方法求个别特征值，Jacobi 旋转法求实对称阵的全部特征值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乘幂法与规范化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乘幂法的加速：原点平移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5251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旋转法：平面旋转矩阵、旋转法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过关法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15248" cy="909257"/>
            <a:chOff x="520446" y="342900"/>
            <a:chExt cx="72152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152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乘幂法：反复左乘 A，按模最大的特征值占主导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4522470"/>
            <a:chOff x="533400" y="1524000"/>
            <a:chExt cx="5626418" cy="45224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522470"/>
            </a:xfrm>
            <a:prstGeom prst="roundRect">
              <a:avLst>
                <a:gd name="adj" fmla="val 29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25577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原理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863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有 n 个线性无关的特征向量 v₁, …, vₙ，|λ₁| &gt; |λ₂| 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 ≥ |λₙ|，x⁽⁰⁾ = α₁v₁ + … + αₙvₙ 且 α₁ ≠ 0：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74"/>
                <p:cNvSpPr txBox="1">
                  <a:spLocks noGrp="1"/>
                </p:cNvSpPr>
                <p:nvPr/>
              </p:nvSpPr>
              <p:spPr>
                <a:xfrm>
                  <a:off x="781050" y="2707005"/>
                  <a:ext cx="5169218" cy="866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s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bSup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α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sSup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type m:val="bar"/>
                                            <m:ctrlPr>
                                              <a:rPr lang="zh-CN" sz="19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p>
                                </m:sSup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6765" y="375666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693795"/>
              <a:ext cx="4625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充分大时 x⁽ᵏ⁾ ≈ λ₁ᵏα₁v₁，相邻两步对应分量之比 →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37769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4314825"/>
              <a:ext cx="3639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收敛速度由 |λ₂/λ₁| 决定，比值越小越快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464618" y="1524000"/>
            <a:ext cx="5193982" cy="3272790"/>
            <a:chOff x="6464618" y="1524000"/>
            <a:chExt cx="5193982" cy="3272790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3272790"/>
            </a:xfrm>
            <a:prstGeom prst="roundRect">
              <a:avLst>
                <a:gd name="adj" fmla="val 40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74142" y="1657350"/>
              <a:ext cx="47625" cy="300609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12268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85724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规范化乘幂法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04648" y="2110740"/>
              <a:ext cx="4453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|λ₁| &gt; 1 时 Aᵏx⁽⁰⁾ 会上溢，|λ₁| &lt; 1 时会下溢，所以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每步除以 max(x⁽ᵏ⁾)（绝对值最大的分量，保留符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号）：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175"/>
                <p:cNvSpPr txBox="1">
                  <a:spLocks noGrp="1"/>
                </p:cNvSpPr>
                <p:nvPr/>
              </p:nvSpPr>
              <p:spPr>
                <a:xfrm>
                  <a:off x="6712268" y="2992755"/>
                  <a:ext cx="4736782" cy="9048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max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e>
                                            <m:r>
                                              <a:rPr lang="zh-CN" sz="18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88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88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k</m:t>
                                                </m:r>
                                              </m:e>
                                            </m:d>
                                          </m:sup>
                                        </m:sSup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  <m:sSup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eqArr>
                          </m:e>
                        </m:d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Ellipse 24"/>
            <p:cNvSpPr/>
            <p:nvPr/>
          </p:nvSpPr>
          <p:spPr>
            <a:xfrm>
              <a:off x="6717983" y="408051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76098" y="4017645"/>
              <a:ext cx="36196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终止条件：| ‖x⁽ᵏ⁾‖∞ − ‖x⁽ᵏ⁻¹⁾‖∞ | &lt; ε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717983" y="441579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76098" y="4352925"/>
              <a:ext cx="3215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输出：λ₁ ≈ max(x⁽ᵏ⁾)，v₁ ≈ y⁽ᵏ⁾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6464618" y="4987290"/>
            <a:ext cx="5193982" cy="1059180"/>
            <a:chOff x="6464618" y="4987290"/>
            <a:chExt cx="5193982" cy="1059180"/>
          </a:xfrm>
        </p:grpSpPr>
        <p:sp>
          <p:nvSpPr>
            <p:cNvPr id="29" name="Rectangle 29"/>
            <p:cNvSpPr/>
            <p:nvPr/>
          </p:nvSpPr>
          <p:spPr>
            <a:xfrm>
              <a:off x="6464618" y="4987290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657347" y="5413176"/>
              <a:ext cx="224134" cy="192560"/>
              <a:chOff x="6657347" y="5413176"/>
              <a:chExt cx="224134" cy="19256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769418" y="54835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657347" y="54131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69418" y="55613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6971348" y="5135880"/>
              <a:ext cx="41681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若 α₁ = 0，舍入误差通常会引入 v₁ 分量，迭代仍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能收敛；若 λ₁ = −λ₂ 或主特征值为复数，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max(x⁽ᵏ⁾) 不收敛。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典型题：规范化乘幂法求主特征值和特征向量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068131" cy="278702"/>
            <a:chOff x="526161" y="1547336"/>
            <a:chExt cx="606813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0681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[2 3 2; 10 3 4; 3 6 1]，x⁽⁰⁾ = y⁽⁰⁾ = (0, 0, 1)ᵀ，精度 10⁻³。</a:t>
              </a:r>
            </a:p>
          </p:txBody>
        </p:sp>
      </p:grpSp>
      <p:grpSp>
        <p:nvGrpSpPr>
          <p:cNvPr id="62" name="c1-table-1"/>
          <p:cNvGrpSpPr/>
          <p:nvPr/>
        </p:nvGrpSpPr>
        <p:grpSpPr>
          <a:xfrm>
            <a:off x="533400" y="1941195"/>
            <a:ext cx="6708458" cy="3651885"/>
            <a:chOff x="533400" y="1941195"/>
            <a:chExt cx="6708458" cy="365188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70845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52754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58659" y="2065496"/>
              <a:ext cx="1172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 = Ay⁽ᵏ⁻¹⁾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10014" y="2065496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854228" y="206549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2754" y="24712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03867" y="2471261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(2, 4, 1)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76207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5585" y="2471261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(0.5, 1, 0.25)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4796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5272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52754" y="2877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96552" y="2877026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(4.5, 9, 7.75)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76207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02659" y="287702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(0.5, 1, 0.8611)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5372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2754" y="32827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40460" y="3282791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(5.7222, 11.4444, 8.3611)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27429" y="328279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11.4444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02659" y="3282791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(0.5, 1, 0.7306)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5949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56425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2754" y="3688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40460" y="3688556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(5.4612, 10.9223, 8.2306)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27429" y="3688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10.9223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02659" y="3688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(0.5, 1, 0.7536)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96525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754" y="40943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40460" y="4094321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(5.5071, 11.0142, 8.2536)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27429" y="409432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11.0142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02659" y="4094321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(0.5, 1, 0.7494)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37102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37578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754" y="4500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340460" y="4500086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(5.4987, 10.9974, 8.2494)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927429" y="450008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10.9974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402659" y="450008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(0.5, 1, 0.7501)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7767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52754" y="49058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340460" y="4905851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(5.5002, 11.0005, 8.2501)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927429" y="490585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11.0005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402659" y="4905851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(0.5, 1, 0.7500)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518255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3400" y="518731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2754" y="53116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40460" y="5311616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(5.5000, 10.9999, 8.2500)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629025" y="5196840"/>
              <a:ext cx="118872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927429" y="531161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10.9999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402659" y="531161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(0.5, 1, 0.7500)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1941195"/>
              <a:ext cx="6708458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64895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614738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4822508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c2-card-1"/>
          <p:cNvGrpSpPr/>
          <p:nvPr/>
        </p:nvGrpSpPr>
        <p:grpSpPr>
          <a:xfrm>
            <a:off x="7546658" y="1941195"/>
            <a:ext cx="4111942" cy="1768792"/>
            <a:chOff x="7546658" y="1941195"/>
            <a:chExt cx="4111942" cy="1768792"/>
          </a:xfrm>
        </p:grpSpPr>
        <p:sp>
          <p:nvSpPr>
            <p:cNvPr id="63" name="Rectangle 63"/>
            <p:cNvSpPr/>
            <p:nvPr/>
          </p:nvSpPr>
          <p:spPr>
            <a:xfrm>
              <a:off x="7546658" y="1941195"/>
              <a:ext cx="4111942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556182" y="2074545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777162" y="213360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856601" y="216789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前两步手算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770304" y="2490788"/>
              <a:ext cx="34941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1：x⁽¹⁾ = Ay⁽⁰⁾ 就是 A 的第 3 列 (2, 4,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1)ᵀ，max = 4，y⁽¹⁾ = (0.5, 1, 0.25)ᵀ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70304" y="3049905"/>
              <a:ext cx="35027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2：x⁽²⁾ = (1 + 3 + 0.5, 5 + 3 + 1, 1.5 +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+ 0.25)ᵀ = (4.5, 9, 7.75)ᵀ</a:t>
              </a:r>
            </a:p>
          </p:txBody>
        </p:sp>
      </p:grpSp>
      <p:grpSp>
        <p:nvGrpSpPr>
          <p:cNvPr id="75" name="c2-callout-2"/>
          <p:cNvGrpSpPr/>
          <p:nvPr/>
        </p:nvGrpSpPr>
        <p:grpSpPr>
          <a:xfrm>
            <a:off x="7546658" y="3886200"/>
            <a:ext cx="4111942" cy="978218"/>
            <a:chOff x="7546658" y="3886200"/>
            <a:chExt cx="4111942" cy="978218"/>
          </a:xfrm>
        </p:grpSpPr>
        <p:sp>
          <p:nvSpPr>
            <p:cNvPr id="70" name="Rectangle 70"/>
            <p:cNvSpPr/>
            <p:nvPr/>
          </p:nvSpPr>
          <p:spPr>
            <a:xfrm>
              <a:off x="7546658" y="3886200"/>
              <a:ext cx="4111942" cy="978218"/>
            </a:xfrm>
            <a:prstGeom prst="roundRect">
              <a:avLst>
                <a:gd name="adj" fmla="val 1168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751445" y="4274820"/>
              <a:ext cx="200026" cy="200026"/>
              <a:chOff x="7751445" y="4274820"/>
              <a:chExt cx="200026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751445" y="42748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818120" y="435260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8054149" y="4031932"/>
              <a:ext cx="321125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k = 8 时 |10.9999 − 11.0005| &lt; 10⁻³，停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止：λ₁ ≈ 11.000，v₁ ≈ (0.5, 1,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0.75)ᵀ。</a:t>
              </a:r>
            </a:p>
          </p:txBody>
        </p:sp>
      </p:grpSp>
      <p:grpSp>
        <p:nvGrpSpPr>
          <p:cNvPr id="82" name="c2-callout-3"/>
          <p:cNvGrpSpPr/>
          <p:nvPr/>
        </p:nvGrpSpPr>
        <p:grpSpPr>
          <a:xfrm>
            <a:off x="7546658" y="5038725"/>
            <a:ext cx="4111942" cy="978218"/>
            <a:chOff x="7546658" y="5038725"/>
            <a:chExt cx="4111942" cy="978218"/>
          </a:xfrm>
        </p:grpSpPr>
        <p:sp>
          <p:nvSpPr>
            <p:cNvPr id="76" name="Rectangle 76"/>
            <p:cNvSpPr/>
            <p:nvPr/>
          </p:nvSpPr>
          <p:spPr>
            <a:xfrm>
              <a:off x="7546658" y="5038725"/>
              <a:ext cx="4111942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751445" y="5428298"/>
              <a:ext cx="200026" cy="200026"/>
              <a:chOff x="7751445" y="5428298"/>
              <a:chExt cx="200026" cy="200026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751445" y="54282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7851458" y="54949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840345" y="55283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8054149" y="5185410"/>
              <a:ext cx="310838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的特征值为 11、−3、−2，|λ₂/λ₁|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3/11 ≈ 0.27，误差每步约乘 0.27，所以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收敛较快。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反幂法求按模最小的特征值，原点平移用来加速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3308985"/>
            <a:chOff x="533400" y="1524000"/>
            <a:chExt cx="5410200" cy="33089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08985"/>
            </a:xfrm>
            <a:prstGeom prst="roundRect">
              <a:avLst>
                <a:gd name="adj" fmla="val 40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0422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反幂法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可逆时 A⁻¹ 的特征值为 1/λᵢ，对 A⁻¹ 用乘幂法得到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按模最小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 λₙ：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78"/>
                <p:cNvSpPr txBox="1">
                  <a:spLocks noGrp="1"/>
                </p:cNvSpPr>
                <p:nvPr/>
              </p:nvSpPr>
              <p:spPr>
                <a:xfrm>
                  <a:off x="781050" y="2707005"/>
                  <a:ext cx="4953000" cy="9410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max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k</m:t>
                                                </m:r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1</m:t>
                                                </m:r>
                                              </m:e>
                                            </m:d>
                                          </m:sup>
                                        </m:sSup>
                                      </m:e>
                                    </m:d>
                                  </m:e>
                                </m:func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6765" y="383095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768090"/>
              <a:ext cx="3987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不求逆：先做一次 A = LU，每步解 Lz = y⁽ᵏ⁾、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Ux⁽ᵏ⁺¹⁾ = z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4519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4389120"/>
              <a:ext cx="43668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max(x⁽ᵏ⁾) → 1/λₙ，收敛速度由 |λₙ/λₙ₋₁| 决定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5023485"/>
            <a:ext cx="5410200" cy="1316355"/>
            <a:chOff x="533400" y="5023485"/>
            <a:chExt cx="5410200" cy="1316355"/>
          </a:xfrm>
        </p:grpSpPr>
        <p:sp>
          <p:nvSpPr>
            <p:cNvPr id="18" name="Rectangle 18"/>
            <p:cNvSpPr/>
            <p:nvPr/>
          </p:nvSpPr>
          <p:spPr>
            <a:xfrm>
              <a:off x="533400" y="5023485"/>
              <a:ext cx="5410200" cy="1316355"/>
            </a:xfrm>
            <a:prstGeom prst="roundRect">
              <a:avLst>
                <a:gd name="adj" fmla="val 1013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42950" y="5233035"/>
              <a:ext cx="109251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5051" y="5268754"/>
              <a:ext cx="947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反幂法 + 平移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5330" y="5610225"/>
              <a:ext cx="463867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 A − λ₀I 用反幂法，得到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最接近 λ₀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的特征值：λ ≈ λ₀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+ 1/max(x⁽ᵏ⁾)。λ₀ 取得好时迭代一两步就够。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248400" y="1524000"/>
            <a:ext cx="5410200" cy="3583305"/>
            <a:chOff x="6248400" y="1524000"/>
            <a:chExt cx="5410200" cy="3583305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3583305"/>
            </a:xfrm>
            <a:prstGeom prst="roundRect">
              <a:avLst>
                <a:gd name="adj" fmla="val 37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1657350"/>
              <a:ext cx="47625" cy="331660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6050" y="1733550"/>
              <a:ext cx="1540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38522" y="1769269"/>
              <a:ext cx="14562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原点平移 B = A − λ₀I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430" y="2110740"/>
              <a:ext cx="4711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的特征值为 λᵢ − λ₀，特征向量不变。对 B 用乘幂法，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收敛因子变为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79"/>
                <p:cNvSpPr txBox="1">
                  <a:spLocks noGrp="1"/>
                </p:cNvSpPr>
                <p:nvPr/>
              </p:nvSpPr>
              <p:spPr>
                <a:xfrm>
                  <a:off x="6496050" y="2707005"/>
                  <a:ext cx="4953000" cy="6438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ω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Ellipse 29"/>
            <p:cNvSpPr/>
            <p:nvPr/>
          </p:nvSpPr>
          <p:spPr>
            <a:xfrm>
              <a:off x="6501765" y="353377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59880" y="3470910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特征值都是实数且 λ₁ &gt; λ₂ ≥ … ≥ λₙ 时，取 λ₀ = (λ₂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λₙ)/2 使 ω 最小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501765" y="41548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59880" y="4091940"/>
              <a:ext cx="44919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上页 A 的特征值为 11、−2、−3：取 λ₀ = −2.5，B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特征值为 13.5、0.5、−0.5，因子从 3/11 ≈ 0.27 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0.5/13.5 ≈ 0.037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6248400" y="5297805"/>
            <a:ext cx="5410200" cy="1042035"/>
            <a:chOff x="6248400" y="5297805"/>
            <a:chExt cx="5410200" cy="1042035"/>
          </a:xfrm>
        </p:grpSpPr>
        <p:sp>
          <p:nvSpPr>
            <p:cNvPr id="34" name="Rectangle 34"/>
            <p:cNvSpPr/>
            <p:nvPr/>
          </p:nvSpPr>
          <p:spPr>
            <a:xfrm>
              <a:off x="6248400" y="5297805"/>
              <a:ext cx="5410200" cy="1042035"/>
            </a:xfrm>
            <a:prstGeom prst="roundRect">
              <a:avLst>
                <a:gd name="adj" fmla="val 1096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41129" y="5715118"/>
              <a:ext cx="224134" cy="192560"/>
              <a:chOff x="6441129" y="5715118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553200" y="57854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441129" y="57151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53200" y="58632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130" y="5575935"/>
              <a:ext cx="4472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特征值分布事先不知道，λ₀ 通常先粗估、试算，确认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有加速效果再继续。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97223" cy="909257"/>
            <a:chOff x="520446" y="342900"/>
            <a:chExt cx="77972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972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典型题：反幂法加平移，求 A 在 1.6 附近的特征值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550706" cy="278702"/>
            <a:chOff x="526161" y="1547336"/>
            <a:chExt cx="755070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5507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[3 1 0; 1 3 1; 0 1 3]，λ₀ = 1.6，对 B = A − 1.6I 用反幂法，y⁽⁰⁾ = (1, 1, 1)ᵀ。</a:t>
              </a:r>
            </a:p>
          </p:txBody>
        </p:sp>
      </p:grpSp>
      <p:grpSp>
        <p:nvGrpSpPr>
          <p:cNvPr id="20" name="c1-card-1"/>
          <p:cNvGrpSpPr/>
          <p:nvPr/>
        </p:nvGrpSpPr>
        <p:grpSpPr>
          <a:xfrm>
            <a:off x="533400" y="1941195"/>
            <a:ext cx="4003358" cy="3837622"/>
            <a:chOff x="533400" y="1941195"/>
            <a:chExt cx="4003358" cy="383762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003358" cy="3837622"/>
            </a:xfrm>
            <a:prstGeom prst="roundRect">
              <a:avLst>
                <a:gd name="adj" fmla="val 34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357092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204787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01106" y="2167890"/>
              <a:ext cx="19734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先做一次 LU 分解，再逐步回代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490788"/>
              <a:ext cx="35947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的对角元为 1.4，非对角元同 A，B = LU：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84"/>
                <p:cNvSpPr txBox="1">
                  <a:spLocks noGrp="1"/>
                </p:cNvSpPr>
                <p:nvPr/>
              </p:nvSpPr>
              <p:spPr>
                <a:xfrm>
                  <a:off x="763905" y="2770822"/>
                  <a:ext cx="3580448" cy="48672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5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35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24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1.4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24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35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0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120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Ellipse 15"/>
            <p:cNvSpPr/>
            <p:nvPr/>
          </p:nvSpPr>
          <p:spPr>
            <a:xfrm>
              <a:off x="772478" y="342233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366135"/>
              <a:ext cx="316839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步：Lz = y⁽⁰⁾ 得 z = (1, 2/7,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7/12)ᵀ，Ux⁽¹⁾ = z 得 x⁽¹⁾ = (−10, 15,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−10)ᵀ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423957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4183380"/>
              <a:ext cx="324554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步：y⁽¹⁾ = x⁽¹⁾/15，Lz = y⁽¹⁾ 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 = (−2/3, 31/21, −2.8194)ᵀ，再回代得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x⁽²⁾ = (48.33, −68.33, 48.33)ᵀ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8190" y="4996339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以后每步只解两个三角方程组，不再分解。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4841558" y="1941195"/>
            <a:ext cx="6817042" cy="2028825"/>
            <a:chOff x="4841558" y="1941195"/>
            <a:chExt cx="6817042" cy="2028825"/>
          </a:xfrm>
        </p:grpSpPr>
        <p:sp>
          <p:nvSpPr>
            <p:cNvPr id="21" name="Rectangle 21"/>
            <p:cNvSpPr/>
            <p:nvPr/>
          </p:nvSpPr>
          <p:spPr>
            <a:xfrm>
              <a:off x="4841558" y="1941195"/>
              <a:ext cx="681704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997094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27596" y="206549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30479" y="2065496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84761" y="2065496"/>
              <a:ext cx="8346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λ₀ + 1/max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490046" y="206549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97094" y="24712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58952" y="2471261"/>
              <a:ext cx="1097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(−10, 15, −10)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55209" y="24712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64671" y="24712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1.666667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31161" y="2471261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(−0.6667, 1, −0.6667)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841558" y="2747962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841558" y="2752725"/>
              <a:ext cx="681704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997094" y="2877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427248" y="2877026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(48.33, −68.33, 48.33)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06431" y="28770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−68.3333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64671" y="28770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1.585366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31161" y="2877026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(−0.7073, 1, −0.7073)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841558" y="3153728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997094" y="32827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427248" y="3282791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(49.76, −70.37, 49.76)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06431" y="32827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−70.3659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64671" y="32827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1.585789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31161" y="3282791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(−0.7071, 1, −0.7071)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841558" y="3559492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841558" y="3564255"/>
              <a:ext cx="681704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997094" y="3688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427248" y="3688556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(49.75, −70.36, 49.75)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06431" y="36885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−70.3553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532495" y="3573780"/>
              <a:ext cx="114014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764671" y="36885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1.585786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831161" y="3688556"/>
              <a:ext cx="167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(−0.7071, 1, −0.7071)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841558" y="1941195"/>
              <a:ext cx="6817042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246370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359015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518208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77400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2-callout-2"/>
          <p:cNvGrpSpPr/>
          <p:nvPr/>
        </p:nvGrpSpPr>
        <p:grpSpPr>
          <a:xfrm>
            <a:off x="4841558" y="4145280"/>
            <a:ext cx="6817042" cy="729615"/>
            <a:chOff x="4841558" y="4145280"/>
            <a:chExt cx="6817042" cy="729615"/>
          </a:xfrm>
        </p:grpSpPr>
        <p:sp>
          <p:nvSpPr>
            <p:cNvPr id="59" name="Rectangle 59"/>
            <p:cNvSpPr/>
            <p:nvPr/>
          </p:nvSpPr>
          <p:spPr>
            <a:xfrm>
              <a:off x="4841558" y="4145280"/>
              <a:ext cx="6817042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5046345" y="4410075"/>
              <a:ext cx="200026" cy="200026"/>
              <a:chOff x="5046345" y="4410075"/>
              <a:chExt cx="200026" cy="200026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5046345" y="44100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5113020" y="44878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5349049" y="4291965"/>
              <a:ext cx="51057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特征值 ≈ 1.585786（精确值 3 − √2），特征向量 ≈ (−0.70711, 1,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−0.70711)ᵀ。</a:t>
              </a:r>
            </a:p>
          </p:txBody>
        </p:sp>
      </p:grpSp>
      <p:grpSp>
        <p:nvGrpSpPr>
          <p:cNvPr id="71" name="c2-callout-3"/>
          <p:cNvGrpSpPr/>
          <p:nvPr/>
        </p:nvGrpSpPr>
        <p:grpSpPr>
          <a:xfrm>
            <a:off x="4841558" y="5050155"/>
            <a:ext cx="6817042" cy="729615"/>
            <a:chOff x="4841558" y="5050155"/>
            <a:chExt cx="6817042" cy="729615"/>
          </a:xfrm>
        </p:grpSpPr>
        <p:sp>
          <p:nvSpPr>
            <p:cNvPr id="65" name="Rectangle 65"/>
            <p:cNvSpPr/>
            <p:nvPr/>
          </p:nvSpPr>
          <p:spPr>
            <a:xfrm>
              <a:off x="4841558" y="5050155"/>
              <a:ext cx="6817042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5046345" y="5314950"/>
              <a:ext cx="200026" cy="200026"/>
              <a:chOff x="5046345" y="5314950"/>
              <a:chExt cx="200026" cy="200026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5046345" y="53149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5146358" y="53816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5135245" y="54149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5349049" y="5195888"/>
              <a:ext cx="53286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另两个特征值 3、3 + √2 离 1.6 较远，收敛因子 |(3 − √2 − 1.6)/(3 −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1.6)| ≈ 0.010，每步误差缩小约 100 倍。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73508" cy="909257"/>
            <a:chOff x="520446" y="342900"/>
            <a:chExt cx="80735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735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旋转法：用平面旋转阵把非对角元逐个化为 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626418" cy="4680585"/>
            <a:chOff x="533400" y="1524000"/>
            <a:chExt cx="5626418" cy="46805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680585"/>
            </a:xfrm>
            <a:prstGeom prst="roundRect">
              <a:avLst>
                <a:gd name="adj" fmla="val 28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138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548765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8331" y="1750695"/>
              <a:ext cx="14399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平面旋转阵 P(i, j, θ)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9343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在单位阵中改四个元素：pᵢᵢ = pⱼⱼ = cosθ，pᵢⱼ = sinθ，pⱼᵢ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−sinθ。P 正交，C = PᵀAP 与 A 相似；A 实对称时 C 仍对称，只有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i、j 行和列改变：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05"/>
                <p:cNvSpPr txBox="1">
                  <a:spLocks noGrp="1"/>
                </p:cNvSpPr>
                <p:nvPr/>
              </p:nvSpPr>
              <p:spPr>
                <a:xfrm>
                  <a:off x="763905" y="2867978"/>
                  <a:ext cx="520350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06"/>
                <p:cNvSpPr txBox="1">
                  <a:spLocks noGrp="1"/>
                </p:cNvSpPr>
                <p:nvPr/>
              </p:nvSpPr>
              <p:spPr>
                <a:xfrm>
                  <a:off x="763905" y="3411855"/>
                  <a:ext cx="520350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07"/>
                <p:cNvSpPr txBox="1">
                  <a:spLocks noGrp="1"/>
                </p:cNvSpPr>
                <p:nvPr/>
              </p:nvSpPr>
              <p:spPr>
                <a:xfrm>
                  <a:off x="763905" y="3955732"/>
                  <a:ext cx="520350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jj</m:t>
                                </m:r>
                              </m:sub>
                            </m:sSub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208"/>
                <p:cNvSpPr txBox="1">
                  <a:spLocks noGrp="1"/>
                </p:cNvSpPr>
                <p:nvPr/>
              </p:nvSpPr>
              <p:spPr>
                <a:xfrm>
                  <a:off x="763905" y="4659630"/>
                  <a:ext cx="520350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≠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Ellipse 16"/>
            <p:cNvSpPr/>
            <p:nvPr/>
          </p:nvSpPr>
          <p:spPr>
            <a:xfrm>
              <a:off x="772478" y="516731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8497" y="5111115"/>
              <a:ext cx="2730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cᵢⱼ = 0 就得到右边的选角公式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2478" y="547020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28497" y="5414010"/>
              <a:ext cx="47971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检验手算：cᵢᵢ + cⱼⱼ = aᵢᵢ + aⱼⱼ（迹不变），且 cᵢₖ² + cⱼₖ²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aᵢₖ² + aⱼₖ²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464618" y="1524000"/>
            <a:ext cx="5193982" cy="1958340"/>
            <a:chOff x="6464618" y="1524000"/>
            <a:chExt cx="5193982" cy="1958340"/>
          </a:xfrm>
        </p:grpSpPr>
        <p:sp>
          <p:nvSpPr>
            <p:cNvPr id="21" name="Rectangle 21"/>
            <p:cNvSpPr/>
            <p:nvPr/>
          </p:nvSpPr>
          <p:spPr>
            <a:xfrm>
              <a:off x="6464618" y="1524000"/>
              <a:ext cx="5193982" cy="1958340"/>
            </a:xfrm>
            <a:prstGeom prst="roundRect">
              <a:avLst>
                <a:gd name="adj" fmla="val 68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4142" y="1657350"/>
              <a:ext cx="47625" cy="169164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695122" y="1716405"/>
              <a:ext cx="1121092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66968" y="1750695"/>
              <a:ext cx="976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选角使 cᵢⱼ = 0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209"/>
                <p:cNvSpPr txBox="1">
                  <a:spLocks noGrp="1"/>
                </p:cNvSpPr>
                <p:nvPr/>
              </p:nvSpPr>
              <p:spPr>
                <a:xfrm>
                  <a:off x="6695122" y="2050732"/>
                  <a:ext cx="4771072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tan</m:t>
                            </m:r>
                          </m:fName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π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Ellipse 26"/>
            <p:cNvSpPr/>
            <p:nvPr/>
          </p:nvSpPr>
          <p:spPr>
            <a:xfrm>
              <a:off x="6703695" y="28327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59714" y="2776538"/>
              <a:ext cx="44844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aᵢᵢ = aⱼⱼ 时取 θ = π/4（aᵢⱼ &gt; 0）或 −π/4（aᵢⱼ &lt; 0）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703695" y="313563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59714" y="3079432"/>
              <a:ext cx="47141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非对角元平方和 τ 每次减少 2aᵢⱼ²：τ(C) = τ(A) − 2aᵢⱼ²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464618" y="3657600"/>
            <a:ext cx="5193982" cy="2546985"/>
            <a:chOff x="6464618" y="3657600"/>
            <a:chExt cx="5193982" cy="2546985"/>
          </a:xfrm>
        </p:grpSpPr>
        <p:sp>
          <p:nvSpPr>
            <p:cNvPr id="31" name="Rectangle 31"/>
            <p:cNvSpPr/>
            <p:nvPr/>
          </p:nvSpPr>
          <p:spPr>
            <a:xfrm>
              <a:off x="6464618" y="3657600"/>
              <a:ext cx="5193982" cy="2546985"/>
            </a:xfrm>
            <a:prstGeom prst="roundRect">
              <a:avLst>
                <a:gd name="adj" fmla="val 52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4142" y="3790950"/>
              <a:ext cx="47625" cy="22802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95122" y="385000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66560" y="388429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旋转法与过关法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03695" y="426339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59714" y="4207192"/>
              <a:ext cx="429139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：每步选绝对值最大的非对角元旋转。Aₖ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PₖᵀAₖ₋₁Pₖ 趋于对角阵，对角元 → 特征值；Sₖ = Sₖ₋₁Pₖ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的各列 → 特征向量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03695" y="507968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59714" y="5023485"/>
              <a:ext cx="420566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过关法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：γ₀ = √τ(A)，γ₁ = γ₀/n。逐个扫描非对角元，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|aᵢⱼ| ≥ γ₁ 才旋转，其余算“过关”；都过关后换 γ₂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γ₀/n²，…，直到 γᵣ ≤ ε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89408" y="583644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过关法省去了每步搜索最大元的比较。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23848" cy="909257"/>
            <a:chOff x="520446" y="342900"/>
            <a:chExt cx="74238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6490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4545" y="407194"/>
              <a:ext cx="963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第四章 特征值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238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典型题：Jacobi 旋转法求实对称阵的全部特征值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077647" cy="293370"/>
            <a:chOff x="525780" y="1548765"/>
            <a:chExt cx="7077647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0776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[4 2 0; 2 4 1; 0 1 4]，非对角元平方和 τ(A) = 2×(2² + 0² + 1²) = 10。</a:t>
              </a:r>
            </a:p>
          </p:txBody>
        </p:sp>
      </p:grpSp>
      <p:grpSp>
        <p:nvGrpSpPr>
          <p:cNvPr id="20" name="c1-card-1"/>
          <p:cNvGrpSpPr/>
          <p:nvPr/>
        </p:nvGrpSpPr>
        <p:grpSpPr>
          <a:xfrm>
            <a:off x="533400" y="1954530"/>
            <a:ext cx="4436745" cy="4404360"/>
            <a:chOff x="533400" y="1954530"/>
            <a:chExt cx="4436745" cy="440436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436745" cy="4404360"/>
            </a:xfrm>
            <a:prstGeom prst="roundRect">
              <a:avLst>
                <a:gd name="adj" fmla="val 30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413766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123444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3487" y="2194084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1 次旋转手算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531269"/>
              <a:ext cx="372948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最大非对角元 a₁₂ = 2，a₁₁ = a₂₂ ⇒ θ = π/4，</a:t>
              </a:r>
              <a:br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cosθ = sinθ ≈ 0.707107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1832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122771"/>
              <a:ext cx="328764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c₁₁ = 2 + 2 − 2×1 = 2，c₂₂ = 2 + 2 + 2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6，c₁₂ = 0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77475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714274"/>
              <a:ext cx="344995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c₁₃ = 0×cosθ − 1×sinθ = −0.707107，c₂₃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1×cosθ + 0×sinθ = 0.707107，c₃₃ = 4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212"/>
                <p:cNvSpPr txBox="1">
                  <a:spLocks noGrp="1"/>
                </p:cNvSpPr>
                <p:nvPr/>
              </p:nvSpPr>
              <p:spPr>
                <a:xfrm>
                  <a:off x="775335" y="4282440"/>
                  <a:ext cx="3990975" cy="76485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0.7071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</m:t>
                                  </m:r>
                                </m: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0.7071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0.7071</m:t>
                                  </m:r>
                                </m: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0.7071</m:t>
                                  </m:r>
                                </m: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TextBox 19"/>
            <p:cNvSpPr txBox="1"/>
            <p:nvPr/>
          </p:nvSpPr>
          <p:spPr>
            <a:xfrm>
              <a:off x="768096" y="5163026"/>
              <a:ext cx="19900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τ(A₁) = 10 − 2×2² = 2</a:t>
              </a:r>
            </a:p>
          </p:txBody>
        </p:sp>
      </p:grpSp>
      <p:grpSp>
        <p:nvGrpSpPr>
          <p:cNvPr id="71" name="c2-table-1"/>
          <p:cNvGrpSpPr/>
          <p:nvPr/>
        </p:nvGrpSpPr>
        <p:grpSpPr>
          <a:xfrm>
            <a:off x="5269230" y="1954530"/>
            <a:ext cx="6389370" cy="3506628"/>
            <a:chOff x="5269230" y="1954530"/>
            <a:chExt cx="6389370" cy="3506628"/>
          </a:xfrm>
        </p:grpSpPr>
        <p:sp>
          <p:nvSpPr>
            <p:cNvPr id="21" name="Rectangle 21"/>
            <p:cNvSpPr/>
            <p:nvPr/>
          </p:nvSpPr>
          <p:spPr>
            <a:xfrm>
              <a:off x="5274945" y="1954530"/>
              <a:ext cx="638365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413656" y="20859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18392" y="2085975"/>
              <a:ext cx="4447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(i, j)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51984" y="20859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aᵢⱼ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86584" y="208597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旋转后对角元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774499" y="2085975"/>
              <a:ext cx="4918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τ(Aₖ)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13656" y="25155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88304" y="2515552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47497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00630" y="2515552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2, 6, 4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969904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274945" y="2809875"/>
              <a:ext cx="63836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274945" y="2814638"/>
              <a:ext cx="638365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13656" y="29460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88304" y="2946082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(1, 3)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92100" y="294608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−0.707107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78686" y="2946082"/>
              <a:ext cx="17972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1.775255, 6, 4.224745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969904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274945" y="3240405"/>
              <a:ext cx="63836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413656" y="33766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788304" y="3376612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36525" y="3376612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0.673887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67714" y="3376612"/>
              <a:ext cx="2419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1.775255, 6.226826, 3.997919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614508" y="337661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9.18×10⁻²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274945" y="3669982"/>
              <a:ext cx="63836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274945" y="3674745"/>
              <a:ext cx="638365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413656" y="38061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788304" y="3806190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36525" y="380619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0.202996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67714" y="3806190"/>
              <a:ext cx="2419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1.766018, 6.236064, 3.997919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614508" y="380619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9.34×10⁻³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274945" y="4100512"/>
              <a:ext cx="63836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13656" y="4236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788304" y="4236720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(1, 3)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592100" y="423672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−0.068256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67714" y="4236720"/>
              <a:ext cx="2419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1.763932, 6.236064, 4.000004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658932" y="423672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1.9×10⁻⁵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274945" y="4531042"/>
              <a:ext cx="63836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274945" y="4535805"/>
              <a:ext cx="638365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413656" y="466629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788304" y="4666298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(2, 3)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592100" y="4666298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−0.003105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67714" y="4666298"/>
              <a:ext cx="2419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1.763932, 6.236068, 4.000000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658932" y="4666298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1.8×10⁻⁸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274945" y="1954530"/>
              <a:ext cx="6383655" cy="3010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5653088" y="195453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418898" y="195453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567612" y="195453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377488" y="195453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269230" y="5041106"/>
              <a:ext cx="593572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2 步 |a₁₃| = |a₂₃|，取先扫描到的 (1, 3)。特征值 ≈ 1.763932、6.236068、4，精确值 4 −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√5、4 + √5、4</a:t>
              </a:r>
            </a:p>
          </p:txBody>
        </p:sp>
      </p:grpSp>
      <p:grpSp>
        <p:nvGrpSpPr>
          <p:cNvPr id="78" name="c2-callout-2"/>
          <p:cNvGrpSpPr/>
          <p:nvPr/>
        </p:nvGrpSpPr>
        <p:grpSpPr>
          <a:xfrm>
            <a:off x="5274945" y="5602605"/>
            <a:ext cx="6383655" cy="756285"/>
            <a:chOff x="5274945" y="5602605"/>
            <a:chExt cx="6383655" cy="756285"/>
          </a:xfrm>
        </p:grpSpPr>
        <p:sp>
          <p:nvSpPr>
            <p:cNvPr id="72" name="Rectangle 72"/>
            <p:cNvSpPr/>
            <p:nvPr/>
          </p:nvSpPr>
          <p:spPr>
            <a:xfrm>
              <a:off x="5274945" y="5602605"/>
              <a:ext cx="638365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5479733" y="5880735"/>
              <a:ext cx="200026" cy="200025"/>
              <a:chOff x="5479733" y="5880735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5479733" y="58807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5519471" y="59251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5554187" y="60363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5782056" y="5749766"/>
              <a:ext cx="521728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过关法：γ₀ = √10，γ₁ ≈ 1.054，第一遍只旋转 a₁₂，其余都已过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关；再取 γ₂ ≈ 0.351 扫描。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13197" cy="3351847"/>
            <a:chOff x="667512" y="1835468"/>
            <a:chExt cx="531319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函数插值与曲线拟合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032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构造在节点上与 f(x) 吻合的多项式，用余项估计误差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46057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 插值：存在唯一性、插值余项、插值函数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61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基函数插值法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09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插值：差商、插值函数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59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差商插值法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43864" cy="909257"/>
            <a:chOff x="520446" y="342900"/>
            <a:chExt cx="72438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第五章 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438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插值多项式存在且唯一，余项由 Rolle 定理得到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1768792"/>
            <a:chOff x="533400" y="1524000"/>
            <a:chExt cx="5842635" cy="1768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插值问题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50200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n + 1 个互异节点上的 yᵢ = f(xᵢ)，求次数 ≤ n 的 Pₙ(x)，使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Pₙ(xᵢ) = yᵢ（i = 0, 1, …, n）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68890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632710"/>
              <a:ext cx="49343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存在唯一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：系数方程组的行列式是 Vandermonde 行列式，等于 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(xᵢ − xⱼ)（i &gt; j），节点互异时不为 0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468052"/>
            <a:ext cx="5842635" cy="2490788"/>
            <a:chOff x="533400" y="3468052"/>
            <a:chExt cx="5842635" cy="2490788"/>
          </a:xfrm>
        </p:grpSpPr>
        <p:sp>
          <p:nvSpPr>
            <p:cNvPr id="15" name="Rectangle 15"/>
            <p:cNvSpPr/>
            <p:nvPr/>
          </p:nvSpPr>
          <p:spPr>
            <a:xfrm>
              <a:off x="533400" y="3468052"/>
              <a:ext cx="5842635" cy="2490788"/>
            </a:xfrm>
            <a:prstGeom prst="roundRect">
              <a:avLst>
                <a:gd name="adj" fmla="val 53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601402"/>
              <a:ext cx="47625" cy="222408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3905" y="3660458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6844" y="3694748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5.1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20964" y="370046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插值余项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7047" y="4034790"/>
              <a:ext cx="44480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f⁽ⁿ⁾ 在 [a, b] 上连续，f⁽ⁿ⁺¹⁾ 在 (a, b) 内存在，则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217"/>
                <p:cNvSpPr txBox="1">
                  <a:spLocks noGrp="1"/>
                </p:cNvSpPr>
                <p:nvPr/>
              </p:nvSpPr>
              <p:spPr>
                <a:xfrm>
                  <a:off x="763905" y="4314825"/>
                  <a:ext cx="5419725" cy="5029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∏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2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757047" y="4926330"/>
              <a:ext cx="43428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ξ 在 x 与各节点之间。若 |f⁽ⁿ⁺¹⁾| ≤ Mₙ₊₁，则 |Rₙ(x)| ≤</a:t>
              </a:r>
              <a:br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Mₙ₊₁|ωₙ₊₁(x)|/(n + 1)!</a:t>
              </a:r>
            </a:p>
          </p:txBody>
        </p:sp>
      </p:grpSp>
      <p:grpSp>
        <p:nvGrpSpPr>
          <p:cNvPr id="41" name="c2-steps-1"/>
          <p:cNvGrpSpPr/>
          <p:nvPr/>
        </p:nvGrpSpPr>
        <p:grpSpPr>
          <a:xfrm>
            <a:off x="6680835" y="1533525"/>
            <a:ext cx="4706239" cy="2487454"/>
            <a:chOff x="6680835" y="1533525"/>
            <a:chExt cx="4706239" cy="2487454"/>
          </a:xfrm>
        </p:grpSpPr>
        <p:sp>
          <p:nvSpPr>
            <p:cNvPr id="24" name="Rectangle 24"/>
            <p:cNvSpPr/>
            <p:nvPr/>
          </p:nvSpPr>
          <p:spPr>
            <a:xfrm>
              <a:off x="6814185" y="1676400"/>
              <a:ext cx="19050" cy="19678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680835" y="232791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74459" y="24017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80835" y="29146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74459" y="29884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80835" y="350139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74459" y="3575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93077" y="1564957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构造辅助函数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4220" y="1833086"/>
              <a:ext cx="429285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x，令 g(t) = f(t) − Pₙ(t) − K(x)ωₙ₊₁(t)，选 K(x) 使 g(x)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93077" y="23593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数零点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94220" y="2627471"/>
              <a:ext cx="26876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 在 x₀, …, xₙ 和 x 共 n + 2 个点上为 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93077" y="2946082"/>
              <a:ext cx="11089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Rolle 定理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94220" y="3214211"/>
              <a:ext cx="2491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连用 n + 1 次，g⁽ⁿ⁺¹⁾ 在某点 ξ 为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93077" y="3532822"/>
              <a:ext cx="6860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K(x)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94220" y="3800951"/>
              <a:ext cx="30133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g⁽ⁿ⁺¹⁾(ξ) = f⁽ⁿ⁺¹⁾(ξ) − (n + 1)!K(x) = 0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680835" y="4190048"/>
            <a:ext cx="4977765" cy="1768792"/>
            <a:chOff x="6680835" y="4190048"/>
            <a:chExt cx="4977765" cy="1768792"/>
          </a:xfrm>
        </p:grpSpPr>
        <p:sp>
          <p:nvSpPr>
            <p:cNvPr id="42" name="Rectangle 42"/>
            <p:cNvSpPr/>
            <p:nvPr/>
          </p:nvSpPr>
          <p:spPr>
            <a:xfrm>
              <a:off x="6680835" y="4190048"/>
              <a:ext cx="4977765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4323398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911340" y="438245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02780" y="441674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919912" y="479488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75932" y="4738687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原复习课件第五章下的节号写作 §4.1、§4.2，第六章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写作 §5.1、§5.2，是旧版编号；本讲义按章号叙述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919912" y="535495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75932" y="529875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第五章课件只讲插值，没有曲线拟合内容，复习课件也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只列了插值部分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89766" cy="909257"/>
            <a:chOff x="520446" y="342900"/>
            <a:chExt cx="91897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第五章 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897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Lagrange 插值：lᵢ(x) 在自己的节点取 1，在其他节点取 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977765" cy="2364105"/>
            <a:chOff x="533400" y="1524000"/>
            <a:chExt cx="4977765" cy="2364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364105"/>
            </a:xfrm>
            <a:prstGeom prst="roundRect">
              <a:avLst>
                <a:gd name="adj" fmla="val 56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9740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148018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3496" y="1763554"/>
              <a:ext cx="1363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Lagrange 插值函数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20"/>
                <p:cNvSpPr txBox="1">
                  <a:spLocks noGrp="1"/>
                </p:cNvSpPr>
                <p:nvPr/>
              </p:nvSpPr>
              <p:spPr>
                <a:xfrm>
                  <a:off x="775335" y="2077402"/>
                  <a:ext cx="4531995" cy="6286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∏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≠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Ellipse 12"/>
            <p:cNvSpPr/>
            <p:nvPr/>
          </p:nvSpPr>
          <p:spPr>
            <a:xfrm>
              <a:off x="782955" y="28822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821781"/>
              <a:ext cx="43653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lᵢ(xⱼ) = 1（j = i），0（j ≠ i），所以 Lₙ(xⱼ) = yⱼ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20230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141821"/>
              <a:ext cx="31761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Σlᵢ(x) ≡ 1：对 f ≡ 1 插值，余项为 0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52234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461861"/>
              <a:ext cx="32833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 为线性插值，n = 2 为抛物线插值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073842"/>
            <a:ext cx="4977765" cy="756285"/>
            <a:chOff x="533400" y="4073842"/>
            <a:chExt cx="4977765" cy="756285"/>
          </a:xfrm>
        </p:grpSpPr>
        <p:sp>
          <p:nvSpPr>
            <p:cNvPr id="19" name="Rectangle 19"/>
            <p:cNvSpPr/>
            <p:nvPr/>
          </p:nvSpPr>
          <p:spPr>
            <a:xfrm>
              <a:off x="533400" y="4073842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26129" y="4348281"/>
              <a:ext cx="224134" cy="192560"/>
              <a:chOff x="726129" y="4348281"/>
              <a:chExt cx="224134" cy="19256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838200" y="44186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6129" y="43482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44964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4221004"/>
              <a:ext cx="404507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次数不是越高越好：等距节点多了会出现 Runge 现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象。一般取 x 附近的少数几个节点做低次插值。</a:t>
              </a:r>
            </a:p>
          </p:txBody>
        </p:sp>
      </p:grpSp>
      <p:grpSp>
        <p:nvGrpSpPr>
          <p:cNvPr id="63" name="c2-card-1"/>
          <p:cNvGrpSpPr/>
          <p:nvPr/>
        </p:nvGrpSpPr>
        <p:grpSpPr>
          <a:xfrm>
            <a:off x="5815965" y="1524000"/>
            <a:ext cx="5842635" cy="4767262"/>
            <a:chOff x="5815965" y="1524000"/>
            <a:chExt cx="5842635" cy="4767262"/>
          </a:xfrm>
        </p:grpSpPr>
        <p:sp>
          <p:nvSpPr>
            <p:cNvPr id="26" name="Rectangle 26"/>
            <p:cNvSpPr/>
            <p:nvPr/>
          </p:nvSpPr>
          <p:spPr>
            <a:xfrm>
              <a:off x="5815965" y="1524000"/>
              <a:ext cx="5842635" cy="4767262"/>
            </a:xfrm>
            <a:prstGeom prst="roundRect">
              <a:avLst>
                <a:gd name="adj" fmla="val 2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825490" y="1657350"/>
              <a:ext cx="47625" cy="45005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57900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144158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01231" y="1767364"/>
              <a:ext cx="38931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ln10、ln11、ln12 求 ln11.5，并估计误差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50661" y="2119789"/>
              <a:ext cx="515416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ln10 = 2.302585，ln11 = 2.397895，ln12 = 2.484907；精确值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ln11.5 = 2.442347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057900" y="2687002"/>
              <a:ext cx="539686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91300" y="28184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42032" y="28184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639425" y="28184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63247" y="3248977"/>
              <a:ext cx="11930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线性（11、12）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66279" y="3248977"/>
              <a:ext cx="23303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0.5×2.397895 + 0.5×2.484907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264711" y="3248977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2.441401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57900" y="3543300"/>
              <a:ext cx="53968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57900" y="3548062"/>
              <a:ext cx="539686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63247" y="3678555"/>
              <a:ext cx="950214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抛物线（10、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11、12）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66279" y="3678555"/>
              <a:ext cx="20238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l₀ = −0.125，l₁ = 0.75，l₂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0.375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64711" y="378523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2.442438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57900" y="2687002"/>
              <a:ext cx="5396865" cy="150399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456170" y="2687002"/>
              <a:ext cx="9525" cy="15039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154602" y="2687002"/>
              <a:ext cx="9525" cy="15039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57900" y="4283392"/>
              <a:ext cx="539686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74716" y="44148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41374" y="44148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余项上界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70248" y="44148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163247" y="484536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2362" y="4845367"/>
              <a:ext cx="29684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(1/11²)/2 × |0.5×(−0.5)| = 1.03×10⁻³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048494" y="4845367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9.46×10⁻⁴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57900" y="5138738"/>
              <a:ext cx="53968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057900" y="5143500"/>
              <a:ext cx="539686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163247" y="538162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702362" y="5274945"/>
              <a:ext cx="23362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(2/10³)/6 × |1.5×0.5×(−0.5)|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1.25×10⁻⁴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048494" y="5381625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9.13×10⁻⁵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057900" y="4283392"/>
              <a:ext cx="5396865" cy="150399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592252" y="4283392"/>
              <a:ext cx="9525" cy="15039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938385" y="4283392"/>
              <a:ext cx="9525" cy="15039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051804" y="5899785"/>
              <a:ext cx="46081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f″ = −1/x²，f‴ = 2/x³，分别在所用节点区间上取最大绝对值。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1303" cy="909257"/>
            <a:chOff x="520446" y="342900"/>
            <a:chExt cx="83813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第五章 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13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插值（基函数法）：函数值和导数值都要吻合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842635" cy="4507230"/>
            <a:chOff x="533400" y="1524000"/>
            <a:chExt cx="5842635" cy="4507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507230"/>
            </a:xfrm>
            <a:prstGeom prst="roundRect">
              <a:avLst>
                <a:gd name="adj" fmla="val 29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24053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62591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7839" y="1750695"/>
              <a:ext cx="15170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两点三次 Hermite 插值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8115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 x₀、x₁ 处的 y₀、y₁ 和 m₀ = f′(x₀)、m₁ = f′(x₁)：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33"/>
                <p:cNvSpPr txBox="1">
                  <a:spLocks noGrp="1"/>
                </p:cNvSpPr>
                <p:nvPr/>
              </p:nvSpPr>
              <p:spPr>
                <a:xfrm>
                  <a:off x="763905" y="2353628"/>
                  <a:ext cx="5419725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β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β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34"/>
                <p:cNvSpPr txBox="1">
                  <a:spLocks noGrp="1"/>
                </p:cNvSpPr>
                <p:nvPr/>
              </p:nvSpPr>
              <p:spPr>
                <a:xfrm>
                  <a:off x="763905" y="2897505"/>
                  <a:ext cx="5419725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f>
                              <m:fPr>
                                <m:type m:val="bar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β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57047" y="3469005"/>
              <a:ext cx="51400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α₁、β₁ 把下标 0 与 1 互换。基函数满足 αᵢ(xⱼ) = δᵢⱼ，αᵢ′(xⱼ)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0，βᵢ(xⱼ) = 0，βᵢ′(xⱼ) = δᵢⱼ。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235"/>
                <p:cNvSpPr txBox="1">
                  <a:spLocks noGrp="1"/>
                </p:cNvSpPr>
                <p:nvPr/>
              </p:nvSpPr>
              <p:spPr>
                <a:xfrm>
                  <a:off x="763905" y="4006215"/>
                  <a:ext cx="541972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4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</m:d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58190" y="4728686"/>
              <a:ext cx="469823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一般地，n + 1 个节点给出函数值和一阶导数值，得 2n + 1 次多项式，余项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f⁽²ⁿ⁺²⁾(ξ)ω²ₙ₊₁(x)/(2n + 2)!。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680835" y="1524000"/>
            <a:ext cx="4977765" cy="4507230"/>
            <a:chOff x="6680835" y="1524000"/>
            <a:chExt cx="4977765" cy="4507230"/>
          </a:xfrm>
        </p:grpSpPr>
        <p:sp>
          <p:nvSpPr>
            <p:cNvPr id="18" name="Rectangle 18"/>
            <p:cNvSpPr/>
            <p:nvPr/>
          </p:nvSpPr>
          <p:spPr>
            <a:xfrm>
              <a:off x="6680835" y="1524000"/>
              <a:ext cx="4977765" cy="4507230"/>
            </a:xfrm>
            <a:prstGeom prst="roundRect">
              <a:avLst>
                <a:gd name="adj" fmla="val 29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90360" y="1657350"/>
              <a:ext cx="47625" cy="42405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11340" y="17164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98780" y="17506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8382" y="1756410"/>
              <a:ext cx="2835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√x，节点 1、4，求 H₃(2)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04482" y="2090738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y₀ = 1，y₁ = 2，m₀ = 1/2，m₁ = 1/4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911340" y="2370772"/>
              <a:ext cx="4554855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40402" y="2495074"/>
              <a:ext cx="101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基函数在 x =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69438" y="24950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884078" y="249507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11352" y="2900839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α₀(2)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86750" y="2900839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 + 2/3)×(2/3)²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64178" y="290083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20/27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911340" y="3177540"/>
              <a:ext cx="45548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911340" y="3182302"/>
              <a:ext cx="455485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11352" y="3306604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α₁(2)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86750" y="3306604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 + 4/3)×(1/3)²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64178" y="330660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7/27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911340" y="3583305"/>
              <a:ext cx="45548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11352" y="3712369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β₀(2)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86750" y="3712369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1×(2/3)²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64178" y="371236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4/9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911340" y="3989070"/>
              <a:ext cx="45548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11340" y="3993832"/>
              <a:ext cx="455485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11352" y="4118134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β₁(2)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86750" y="4118134"/>
              <a:ext cx="923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(−2)×(1/3)²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564178" y="411813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−2/9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911340" y="2370772"/>
              <a:ext cx="455485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181975" y="237077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459402" y="237077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04482" y="4508182"/>
              <a:ext cx="32026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H₃(2) = 20/27 + 2×7/27 + (1/2)(4/9) +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(1/4)(−2/9) = 77/54 ≈ 1.425926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919912" y="512445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75932" y="5068252"/>
              <a:ext cx="2885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√2 = 1.414214，实际误差 −0.0117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919912" y="542639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75932" y="5370195"/>
              <a:ext cx="353701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余项界：|f⁽⁴⁾(x)| = 15/(16x³√x) ≤ 15/16，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(15/16)/24 × 1² × 2² ≈ 0.156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53451" cy="909257"/>
            <a:chOff x="520446" y="342900"/>
            <a:chExt cx="73534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第五章 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534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差商与 Newton 插值：增加一个节点只需添一项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1775460"/>
            <a:chOff x="533400" y="1524000"/>
            <a:chExt cx="5193982" cy="17754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775460"/>
            </a:xfrm>
            <a:prstGeom prst="roundRect">
              <a:avLst>
                <a:gd name="adj" fmla="val 7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876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差商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44"/>
                <p:cNvSpPr txBox="1">
                  <a:spLocks noGrp="1"/>
                </p:cNvSpPr>
                <p:nvPr/>
              </p:nvSpPr>
              <p:spPr>
                <a:xfrm>
                  <a:off x="775335" y="2077402"/>
                  <a:ext cx="4748212" cy="3600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,⋯,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,⋯,</m:t>
                                </m:r>
                                <m:sSub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Ellipse 12"/>
            <p:cNvSpPr/>
            <p:nvPr/>
          </p:nvSpPr>
          <p:spPr>
            <a:xfrm>
              <a:off x="782955" y="261366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553176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对称性：任意交换节点次序，差商值不变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293370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2873216"/>
              <a:ext cx="37421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与导数的关系：f[x₀, …, xₖ] = f⁽ᵏ⁾(ξ)/k!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485198"/>
            <a:ext cx="5193982" cy="2605088"/>
            <a:chOff x="533400" y="3485198"/>
            <a:chExt cx="5193982" cy="2605088"/>
          </a:xfrm>
        </p:grpSpPr>
        <p:sp>
          <p:nvSpPr>
            <p:cNvPr id="17" name="Rectangle 17"/>
            <p:cNvSpPr/>
            <p:nvPr/>
          </p:nvSpPr>
          <p:spPr>
            <a:xfrm>
              <a:off x="533400" y="3485198"/>
              <a:ext cx="5193982" cy="2605088"/>
            </a:xfrm>
            <a:prstGeom prst="roundRect">
              <a:avLst>
                <a:gd name="adj" fmla="val 51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618548"/>
              <a:ext cx="47625" cy="233838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75335" y="3689032"/>
              <a:ext cx="148875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2954" y="3724751"/>
              <a:ext cx="13725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Newton 插值多项式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245"/>
                <p:cNvSpPr txBox="1">
                  <a:spLocks noGrp="1"/>
                </p:cNvSpPr>
                <p:nvPr/>
              </p:nvSpPr>
              <p:spPr>
                <a:xfrm>
                  <a:off x="775335" y="4038600"/>
                  <a:ext cx="4748212" cy="266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⋯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246"/>
                <p:cNvSpPr txBox="1">
                  <a:spLocks noGrp="1"/>
                </p:cNvSpPr>
                <p:nvPr/>
              </p:nvSpPr>
              <p:spPr>
                <a:xfrm>
                  <a:off x="775335" y="4397692"/>
                  <a:ext cx="4748212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TextBox 23"/>
            <p:cNvSpPr txBox="1"/>
            <p:nvPr/>
          </p:nvSpPr>
          <p:spPr>
            <a:xfrm>
              <a:off x="769239" y="4986338"/>
              <a:ext cx="36600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Nₙ(x) 与 Lₙ(x) 是同一个多项式，只是写法不同。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6032182" y="1524000"/>
            <a:ext cx="5626418" cy="4566285"/>
            <a:chOff x="6032182" y="1524000"/>
            <a:chExt cx="5626418" cy="4566285"/>
          </a:xfrm>
        </p:grpSpPr>
        <p:sp>
          <p:nvSpPr>
            <p:cNvPr id="25" name="Rectangle 25"/>
            <p:cNvSpPr/>
            <p:nvPr/>
          </p:nvSpPr>
          <p:spPr>
            <a:xfrm>
              <a:off x="6032182" y="1524000"/>
              <a:ext cx="5626418" cy="4566285"/>
            </a:xfrm>
            <a:prstGeom prst="roundRect">
              <a:avLst>
                <a:gd name="adj" fmla="val 2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41708" y="1657350"/>
              <a:ext cx="47625" cy="42995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74118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60376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17448" y="1767364"/>
              <a:ext cx="42654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2ˣ，节点 0、1、2、4，求 f(3) 的近似值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74118" y="2095500"/>
              <a:ext cx="5180648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35727" y="222694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51135" y="2226945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f(xᵢ)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33791" y="22269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一阶差商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90126" y="22269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二阶差商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47414" y="22269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三阶差商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82373" y="26574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006590" y="2535555"/>
              <a:ext cx="967740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39939" y="26574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74118" y="2951798"/>
              <a:ext cx="518064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74118" y="2956560"/>
              <a:ext cx="518064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82373" y="30870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39939" y="3087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994332" y="2966085"/>
              <a:ext cx="113728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512454" y="3087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74118" y="3381375"/>
              <a:ext cx="518064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82373" y="35175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39939" y="35175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512454" y="35175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150668" y="3395662"/>
              <a:ext cx="113728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579940" y="351758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74118" y="3811905"/>
              <a:ext cx="518064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74118" y="3816668"/>
              <a:ext cx="518064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82373" y="39481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95515" y="394811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12454" y="39481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579940" y="394811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4/3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307955" y="3826192"/>
              <a:ext cx="113728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692803" y="394811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5/24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74118" y="2095500"/>
              <a:ext cx="5180648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992302" y="20955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980045" y="20955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9136380" y="20955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293668" y="20955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formula247"/>
                <p:cNvSpPr txBox="1">
                  <a:spLocks noGrp="1"/>
                </p:cNvSpPr>
                <p:nvPr/>
              </p:nvSpPr>
              <p:spPr>
                <a:xfrm>
                  <a:off x="6274118" y="4338638"/>
                  <a:ext cx="518064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24</m:t>
                            </m:r>
                          </m:den>
                        </m:f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5" name="Ellipse 65"/>
            <p:cNvSpPr/>
            <p:nvPr/>
          </p:nvSpPr>
          <p:spPr>
            <a:xfrm>
              <a:off x="6281738" y="51320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438329" y="5072539"/>
              <a:ext cx="36730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高亮的对角线差商就是 Newton 公式的系数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281738" y="545211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438329" y="539257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N₂(3) = 1 + 3 + 3 = 7；加入节点 4 只添一项：N₃(3) = 7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(5/24)×6 = 8.25，精确值 2³ = 8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51460" cy="909257"/>
            <a:chOff x="520446" y="342900"/>
            <a:chExt cx="73514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2298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8495" y="407194"/>
              <a:ext cx="812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第五章 插值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514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Hermite 差商插值：重节点处的差商用导数代替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085398" cy="3312795"/>
            <a:chOff x="533400" y="1524000"/>
            <a:chExt cx="5085398" cy="33127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3312795"/>
            </a:xfrm>
            <a:prstGeom prst="roundRect">
              <a:avLst>
                <a:gd name="adj" fmla="val 40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04609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2741" y="17635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重节点差商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节点重复时，按导数定义取极限：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52"/>
                <p:cNvSpPr txBox="1">
                  <a:spLocks noGrp="1"/>
                </p:cNvSpPr>
                <p:nvPr/>
              </p:nvSpPr>
              <p:spPr>
                <a:xfrm>
                  <a:off x="775335" y="2397442"/>
                  <a:ext cx="4639628" cy="4429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</m:t>
                                </m:r>
                                <m:sSub>
                                  <m:e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1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2955" y="301656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956084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给了哪个点的导数，差商表里就把哪个点写两次，再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照常用 Newton 公式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6080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547586"/>
              <a:ext cx="36212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整齐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的：每个节点都给函数值和导数值，余项</a:t>
              </a:r>
              <a:br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f⁽⁴⁾(ξ)(x − x₀)²(x − x₁)²/4!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2955" y="419957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9546" y="4139089"/>
              <a:ext cx="37745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不整齐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的：三点函数值加 xᵢ 处导数，余项</a:t>
              </a:r>
              <a:br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f⁽⁴⁾(ξ)(x − x₀)(x − x₁)(x − x₂)(x − xᵢ)/4!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5022532"/>
            <a:ext cx="5085398" cy="1246822"/>
            <a:chOff x="533400" y="5022532"/>
            <a:chExt cx="5085398" cy="1246822"/>
          </a:xfrm>
        </p:grpSpPr>
        <p:sp>
          <p:nvSpPr>
            <p:cNvPr id="20" name="Rectangle 20"/>
            <p:cNvSpPr/>
            <p:nvPr/>
          </p:nvSpPr>
          <p:spPr>
            <a:xfrm>
              <a:off x="533400" y="5022532"/>
              <a:ext cx="5085398" cy="1246822"/>
            </a:xfrm>
            <a:prstGeom prst="roundRect">
              <a:avLst>
                <a:gd name="adj" fmla="val 916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545455"/>
              <a:ext cx="200026" cy="200025"/>
              <a:chOff x="738188" y="5545455"/>
              <a:chExt cx="200026" cy="20002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5454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77926" y="55899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12642" y="57010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511" y="5415439"/>
              <a:ext cx="405409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两点三次 Hermite 用差商法算，结果与基函数法相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同，通常更快。</a:t>
              </a:r>
            </a:p>
          </p:txBody>
        </p:sp>
      </p:grpSp>
      <p:grpSp>
        <p:nvGrpSpPr>
          <p:cNvPr id="71" name="c2-card-1"/>
          <p:cNvGrpSpPr/>
          <p:nvPr/>
        </p:nvGrpSpPr>
        <p:grpSpPr>
          <a:xfrm>
            <a:off x="5923598" y="1524000"/>
            <a:ext cx="5766135" cy="4745355"/>
            <a:chOff x="5923598" y="1524000"/>
            <a:chExt cx="5766135" cy="4745355"/>
          </a:xfrm>
        </p:grpSpPr>
        <p:sp>
          <p:nvSpPr>
            <p:cNvPr id="27" name="Rectangle 27"/>
            <p:cNvSpPr/>
            <p:nvPr/>
          </p:nvSpPr>
          <p:spPr>
            <a:xfrm>
              <a:off x="5923598" y="1524000"/>
              <a:ext cx="5735002" cy="4745355"/>
            </a:xfrm>
            <a:prstGeom prst="roundRect">
              <a:avLst>
                <a:gd name="adj" fmla="val 28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933122" y="1657350"/>
              <a:ext cx="47625" cy="4478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65532" y="172783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31090" y="17635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典型题（不整齐）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58294" y="2100739"/>
              <a:ext cx="55314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求三次多项式 P：P(0) = 1，P(1) = 2，P′(1) = 3，P(2) = 9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165532" y="2415540"/>
              <a:ext cx="5289232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26177" y="254698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zᵢ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38702" y="2546985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f(zᵢ)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66710" y="25469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94495" y="25469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623232" y="25469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72823" y="29775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95122" y="2855595"/>
              <a:ext cx="764858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27507" y="297751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165532" y="3271838"/>
              <a:ext cx="528923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165532" y="3276600"/>
              <a:ext cx="528923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72823" y="340709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27507" y="340709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479982" y="3286125"/>
              <a:ext cx="130873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31506" y="3407092"/>
              <a:ext cx="1005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(2 − 1)/1 = 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165532" y="3701415"/>
              <a:ext cx="528923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72823" y="38376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27507" y="38376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68819" y="3837622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f′(1) = 3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807768" y="3715702"/>
              <a:ext cx="130873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959291" y="3837622"/>
              <a:ext cx="1005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(3 − 1)/1 = 2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165532" y="4131945"/>
              <a:ext cx="528923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165532" y="4136708"/>
              <a:ext cx="528923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72823" y="42681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027507" y="42681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31506" y="4268152"/>
              <a:ext cx="1005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(9 − 2)/1 = 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959291" y="4268152"/>
              <a:ext cx="1005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(7 − 3)/1 = 4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10136505" y="4146232"/>
              <a:ext cx="130873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288029" y="4268152"/>
              <a:ext cx="1005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(4 − 2)/2 = 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165532" y="2415540"/>
              <a:ext cx="5289232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680835" y="241554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465695" y="241554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8793480" y="241554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122218" y="241554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formula253"/>
                <p:cNvSpPr txBox="1">
                  <a:spLocks noGrp="1"/>
                </p:cNvSpPr>
                <p:nvPr/>
              </p:nvSpPr>
              <p:spPr>
                <a:xfrm>
                  <a:off x="6165532" y="4658678"/>
                  <a:ext cx="5289232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2x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7" name="Ellipse 67"/>
            <p:cNvSpPr/>
            <p:nvPr/>
          </p:nvSpPr>
          <p:spPr>
            <a:xfrm>
              <a:off x="6173152" y="531114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29744" y="5251609"/>
              <a:ext cx="459511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验算：P(0) = 1，P(1) = 2，P′(x) = 3x² 得 P′(1) = 3，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P(2) = 9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173152" y="59026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329744" y="5843111"/>
              <a:ext cx="36149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余项 R(x) = f⁽⁴⁾(ξ)x(x − 1)²(x − 2)/4!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18664" cy="3351847"/>
            <a:chOff x="667512" y="1835468"/>
            <a:chExt cx="511866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数值积分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用若干节点上函数值的加权和代替积分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插值型求积公式与代数精度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8793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Newton-Cotes 公式：梯形、Simpson、Cotes 及余项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728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复合梯形与复合 Simpson 公式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7084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Romberg 求积公式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插值型求积公式与代数精度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972752"/>
            <a:chOff x="533400" y="1524000"/>
            <a:chExt cx="5626418" cy="29727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972752"/>
            </a:xfrm>
            <a:prstGeom prst="roundRect">
              <a:avLst>
                <a:gd name="adj" fmla="val 44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70605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55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插值型求积公式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24878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Lₙ(x) 代替 f(x) 积分：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56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5169218" cy="72294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sub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sub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sup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57"/>
                <p:cNvSpPr txBox="1">
                  <a:spLocks noGrp="1"/>
                </p:cNvSpPr>
                <p:nvPr/>
              </p:nvSpPr>
              <p:spPr>
                <a:xfrm>
                  <a:off x="781050" y="3239452"/>
                  <a:ext cx="5169218" cy="6934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ξ</m:t>
                                    </m:r>
                                  </m:e>
                                </m:d>
                              </m:num>
                              <m:den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!</m:t>
                                </m:r>
                              </m:den>
                            </m:f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Ellipse 14"/>
            <p:cNvSpPr/>
            <p:nvPr/>
          </p:nvSpPr>
          <p:spPr>
            <a:xfrm>
              <a:off x="786765" y="4115752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4052888"/>
              <a:ext cx="40429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求积系数 Aₖ 只与节点和区间有关，与 f 无关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4687252"/>
            <a:ext cx="5626418" cy="1427798"/>
            <a:chOff x="533400" y="4687252"/>
            <a:chExt cx="5626418" cy="1427798"/>
          </a:xfrm>
        </p:grpSpPr>
        <p:sp>
          <p:nvSpPr>
            <p:cNvPr id="17" name="Rectangle 17"/>
            <p:cNvSpPr/>
            <p:nvPr/>
          </p:nvSpPr>
          <p:spPr>
            <a:xfrm>
              <a:off x="533400" y="4687252"/>
              <a:ext cx="5626418" cy="1427798"/>
            </a:xfrm>
            <a:prstGeom prst="roundRect">
              <a:avLst>
                <a:gd name="adj" fmla="val 93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820602"/>
              <a:ext cx="47625" cy="11610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4896802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2635" y="4932521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6.1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5273992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+ 1 个节点的求积公式代数精度至少为 n ⇔ 它是插值型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464618" y="1524000"/>
            <a:ext cx="5193982" cy="1316355"/>
            <a:chOff x="6464618" y="1524000"/>
            <a:chExt cx="5193982" cy="1316355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1226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9457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代数精度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4648" y="2110740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公式对所有次数 ≤ m 的多项式精确成立，对某个 m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1 次多项式不精确，称它有 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次代数精度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2" name="c2-steps-2"/>
          <p:cNvGrpSpPr/>
          <p:nvPr/>
        </p:nvGrpSpPr>
        <p:grpSpPr>
          <a:xfrm>
            <a:off x="6464618" y="3040380"/>
            <a:ext cx="5001641" cy="2112931"/>
            <a:chOff x="6464618" y="3040380"/>
            <a:chExt cx="5001641" cy="2112931"/>
          </a:xfrm>
        </p:grpSpPr>
        <p:sp>
          <p:nvSpPr>
            <p:cNvPr id="29" name="Rectangle 29"/>
            <p:cNvSpPr/>
            <p:nvPr/>
          </p:nvSpPr>
          <p:spPr>
            <a:xfrm>
              <a:off x="6597968" y="318325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6464618" y="304038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58241" y="3114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64618" y="369093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58241" y="37647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64618" y="434149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58241" y="44153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6098" y="307467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依次代入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77241" y="3368516"/>
              <a:ext cx="36229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f(x) = 1, x, x², …，检验左右两边是否相等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76098" y="372522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找第一个不成立的幂次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77241" y="4019074"/>
              <a:ext cx="42777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1, x, …, xᵐ 都成立而 xᵐ⁺¹ 不成立，代数精度就是 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76098" y="43757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求待定系数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77241" y="4669631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r 个待定系数时，令公式对 1, x, …, xʳ⁻¹ 精确成立，解方程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组，再继续往高次验证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464618" y="5332095"/>
            <a:ext cx="5193982" cy="782955"/>
            <a:chOff x="6464618" y="5332095"/>
            <a:chExt cx="5193982" cy="782955"/>
          </a:xfrm>
        </p:grpSpPr>
        <p:sp>
          <p:nvSpPr>
            <p:cNvPr id="43" name="Rectangle 43"/>
            <p:cNvSpPr/>
            <p:nvPr/>
          </p:nvSpPr>
          <p:spPr>
            <a:xfrm>
              <a:off x="6464618" y="533209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57347" y="5619868"/>
              <a:ext cx="224134" cy="192560"/>
              <a:chOff x="6657347" y="5619868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769418" y="56902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657347" y="56198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69418" y="57680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1348" y="548068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求出系数后还要继续验证更高次幂，直到出现不成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立的那一次。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典型题：确定求积公式中的参数，并判断代数精度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card-1"/>
          <p:cNvGrpSpPr/>
          <p:nvPr/>
        </p:nvGrpSpPr>
        <p:grpSpPr>
          <a:xfrm>
            <a:off x="533400" y="1524000"/>
            <a:ext cx="5410200" cy="3388995"/>
            <a:chOff x="533400" y="1524000"/>
            <a:chExt cx="5410200" cy="33889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88995"/>
            </a:xfrm>
            <a:prstGeom prst="roundRect">
              <a:avLst>
                <a:gd name="adj" fmla="val 39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1222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791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742" y="176926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6838" y="1768792"/>
              <a:ext cx="40798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∫₀¹f(x)dx ≈ A₀f(0) + A₁f(1) + B₀f′(0)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81050" y="2105025"/>
              <a:ext cx="49530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376" y="224075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91969" y="22407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21634" y="22407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13249" y="22407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得到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29642" y="268938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16897" y="268938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88985" y="2689384"/>
              <a:ext cx="622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A₀ + A₁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25843" y="2689384"/>
              <a:ext cx="932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A₀ + A₁ = 1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" y="299751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81050" y="3002280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29642" y="313801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22124" y="313801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8985" y="3138011"/>
              <a:ext cx="622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 + B₀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25706" y="3138011"/>
              <a:ext cx="11326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 + B₀ = 1/2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81050" y="344709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79887" y="358663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22124" y="358663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93811" y="3586639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30532" y="3586639"/>
              <a:ext cx="723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 = 1/3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81050" y="3895725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81050" y="3900488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9887" y="40352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x³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122124" y="403526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038917" y="4035266"/>
              <a:ext cx="723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 = 1/3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27093" y="403526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不相等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81050" y="2105025"/>
              <a:ext cx="49530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785938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2745105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045268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73430" y="4469130"/>
              <a:ext cx="35852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解得 A₀ = 2/3，A₁ = 1/3，B₀ = 1/6。</a:t>
              </a:r>
            </a:p>
          </p:txBody>
        </p:sp>
      </p:grpSp>
      <p:grpSp>
        <p:nvGrpSpPr>
          <p:cNvPr id="49" name="c1-callout-2"/>
          <p:cNvGrpSpPr/>
          <p:nvPr/>
        </p:nvGrpSpPr>
        <p:grpSpPr>
          <a:xfrm>
            <a:off x="533400" y="5103495"/>
            <a:ext cx="5410200" cy="1086802"/>
            <a:chOff x="533400" y="5103495"/>
            <a:chExt cx="5410200" cy="1086802"/>
          </a:xfrm>
        </p:grpSpPr>
        <p:sp>
          <p:nvSpPr>
            <p:cNvPr id="44" name="Rectangle 44"/>
            <p:cNvSpPr/>
            <p:nvPr/>
          </p:nvSpPr>
          <p:spPr>
            <a:xfrm>
              <a:off x="533400" y="5103495"/>
              <a:ext cx="5410200" cy="1086802"/>
            </a:xfrm>
            <a:prstGeom prst="roundRect">
              <a:avLst>
                <a:gd name="adj" fmla="val 10517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547360"/>
              <a:ext cx="200026" cy="200026"/>
              <a:chOff x="738188" y="5547360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5473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04863" y="562514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404485"/>
              <a:ext cx="4072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公式为 ∫₀¹f(x)dx ≈ (2/3)f(0) + (1/3)f(1) +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(1/6)f′(0)，对 x³ 不精确，代数精度为 2。</a:t>
              </a:r>
            </a:p>
          </p:txBody>
        </p:sp>
      </p:grpSp>
      <p:grpSp>
        <p:nvGrpSpPr>
          <p:cNvPr id="86" name="c2-card-1"/>
          <p:cNvGrpSpPr/>
          <p:nvPr/>
        </p:nvGrpSpPr>
        <p:grpSpPr>
          <a:xfrm>
            <a:off x="6248400" y="1524000"/>
            <a:ext cx="5410200" cy="3942398"/>
            <a:chOff x="6248400" y="1524000"/>
            <a:chExt cx="5410200" cy="3942398"/>
          </a:xfrm>
        </p:grpSpPr>
        <p:sp>
          <p:nvSpPr>
            <p:cNvPr id="50" name="Rectangle 50"/>
            <p:cNvSpPr/>
            <p:nvPr/>
          </p:nvSpPr>
          <p:spPr>
            <a:xfrm>
              <a:off x="6248400" y="1524000"/>
              <a:ext cx="5410200" cy="3942398"/>
            </a:xfrm>
            <a:prstGeom prst="roundRect">
              <a:avLst>
                <a:gd name="adj" fmla="val 33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57925" y="1657350"/>
              <a:ext cx="47625" cy="36756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496050" y="1733550"/>
              <a:ext cx="4791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86742" y="176926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88430" y="2110740"/>
              <a:ext cx="4505801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∫₀ʰf(x)dx ≈ (h/2)[f(0) + f(h)] + ah²[f′(0) −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f′(h)]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96050" y="2697480"/>
              <a:ext cx="49530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31546" y="283321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69784" y="28332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947112" y="28332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右边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612082" y="28332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44900" y="3281839"/>
              <a:ext cx="384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1，x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19010" y="3281839"/>
              <a:ext cx="6591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h，h²/2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96338" y="3281839"/>
              <a:ext cx="6591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h，h²/2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254531" y="3281839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对任意 a 成立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496050" y="3589972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496050" y="3594735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731057" y="37304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x²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452553" y="373046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h³/3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641255" y="3730466"/>
              <a:ext cx="969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h³/2 − 2ah³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448384" y="3730466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1/12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96050" y="4039552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731057" y="417909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x³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452553" y="417909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h⁴/4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57858" y="417909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h⁴/2 − 3h⁴/12 = h⁴/4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612082" y="417909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成立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496050" y="4488180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6496050" y="4492942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31057" y="462772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x⁴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452553" y="46277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h⁵/5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257858" y="462772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h⁵/2 − 4h⁵/12 = h⁵/6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525925" y="462772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不相等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496050" y="2697480"/>
              <a:ext cx="49530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7174230" y="269748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8113395" y="269748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10127932" y="269748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489573" y="5058251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这是带导数修正项的梯形公式，只比梯形公式多用两个端点导数。</a:t>
              </a:r>
            </a:p>
          </p:txBody>
        </p:sp>
      </p:grpSp>
      <p:grpSp>
        <p:nvGrpSpPr>
          <p:cNvPr id="92" name="c2-callout-2"/>
          <p:cNvGrpSpPr/>
          <p:nvPr/>
        </p:nvGrpSpPr>
        <p:grpSpPr>
          <a:xfrm>
            <a:off x="6248400" y="5656898"/>
            <a:ext cx="5410200" cy="533400"/>
            <a:chOff x="6248400" y="5656898"/>
            <a:chExt cx="5410200" cy="533400"/>
          </a:xfrm>
        </p:grpSpPr>
        <p:sp>
          <p:nvSpPr>
            <p:cNvPr id="87" name="Rectangle 87"/>
            <p:cNvSpPr/>
            <p:nvPr/>
          </p:nvSpPr>
          <p:spPr>
            <a:xfrm>
              <a:off x="6248400" y="5656898"/>
              <a:ext cx="541020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6453188" y="5823585"/>
              <a:ext cx="200026" cy="200026"/>
              <a:chOff x="6453188" y="5823585"/>
              <a:chExt cx="200026" cy="200026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6453188" y="58235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6519863" y="590137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6755130" y="5818822"/>
              <a:ext cx="23879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 = 1/12，代数精度为 3。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60621" cy="909257"/>
            <a:chOff x="520446" y="342900"/>
            <a:chExt cx="77606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606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Newton-Cotes 公式：等距节点的插值型求积公式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7141845" cy="1661160"/>
            <a:chOff x="533400" y="1524000"/>
            <a:chExt cx="7141845" cy="16611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7141845" cy="1661160"/>
            </a:xfrm>
            <a:prstGeom prst="roundRect">
              <a:avLst>
                <a:gd name="adj" fmla="val 80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9446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一般形式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(b − a)/n，xₖ = a + kh，令 x = a + th：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60"/>
                <p:cNvSpPr txBox="1">
                  <a:spLocks noGrp="1"/>
                </p:cNvSpPr>
                <p:nvPr/>
              </p:nvSpPr>
              <p:spPr>
                <a:xfrm>
                  <a:off x="775335" y="2397442"/>
                  <a:ext cx="6696075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⋅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den>
                        </m:f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nary>
                              <m:naryPr>
                                <m:chr m:val="∏"/>
                                <m:limLoc m:val="undOvr"/>
                                <m:grow m:val="off"/>
                                <m:subHide m:val="off"/>
                                <m:supHide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≠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  <m:sup/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e>
                                </m:d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dt</m:t>
                                </m:r>
                              </m:e>
                            </m:nary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8" name="c1-table-2"/>
          <p:cNvGrpSpPr/>
          <p:nvPr/>
        </p:nvGrpSpPr>
        <p:grpSpPr>
          <a:xfrm>
            <a:off x="533400" y="3370898"/>
            <a:ext cx="7141845" cy="2383155"/>
            <a:chOff x="533400" y="3370898"/>
            <a:chExt cx="7141845" cy="2383155"/>
          </a:xfrm>
        </p:grpSpPr>
        <p:sp>
          <p:nvSpPr>
            <p:cNvPr id="14" name="Rectangle 14"/>
            <p:cNvSpPr/>
            <p:nvPr/>
          </p:nvSpPr>
          <p:spPr>
            <a:xfrm>
              <a:off x="533400" y="3370898"/>
              <a:ext cx="7141845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5276" y="350567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41931" y="35056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76596" y="35056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54901" y="35056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5276" y="3975259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6228" y="3975259"/>
              <a:ext cx="29212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梯形 T = (b − a)[f(a) + f(b)]/2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22838" y="3975259"/>
              <a:ext cx="17062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−(b − a)³f″(η)/12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93492" y="397525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30434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309110"/>
              <a:ext cx="7141845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5276" y="457057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66228" y="4443889"/>
              <a:ext cx="2863850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Simpson S = (b − a)[f(a) + 4f(c)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f(b)]/6，c 为中点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22838" y="4443889"/>
              <a:ext cx="2286762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−(b − a)h⁴f⁽⁴⁾(η)/180，h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(b − a)/2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93492" y="457057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026342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276" y="529256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6228" y="5165884"/>
              <a:ext cx="262940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Cotes C = (b − a)(7f₀ + 32f₁ +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12f₂ + 32f₃ + 7f₄)/90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422838" y="5165884"/>
              <a:ext cx="2286762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−2(b − a)h⁶f⁽⁶⁾(η)/945，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(b − a)/4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93492" y="5292566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370898"/>
              <a:ext cx="7141845" cy="2383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57262" y="3370898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13872" y="3370898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27545" y="3370898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1"/>
          <p:cNvGrpSpPr/>
          <p:nvPr/>
        </p:nvGrpSpPr>
        <p:grpSpPr>
          <a:xfrm>
            <a:off x="7980045" y="1524000"/>
            <a:ext cx="3678555" cy="2457450"/>
            <a:chOff x="7980045" y="1524000"/>
            <a:chExt cx="3678555" cy="2457450"/>
          </a:xfrm>
        </p:grpSpPr>
        <p:sp>
          <p:nvSpPr>
            <p:cNvPr id="39" name="Rectangle 39"/>
            <p:cNvSpPr/>
            <p:nvPr/>
          </p:nvSpPr>
          <p:spPr>
            <a:xfrm>
              <a:off x="7980045" y="1524000"/>
              <a:ext cx="3678555" cy="2457450"/>
            </a:xfrm>
            <a:prstGeom prst="roundRect">
              <a:avLst>
                <a:gd name="adj" fmla="val 54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9570" y="1657350"/>
              <a:ext cx="47625" cy="21907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221980" y="1727835"/>
              <a:ext cx="137636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82873" y="1763554"/>
              <a:ext cx="12536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Cotes 系数的特点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29600" y="2161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86191" y="2100739"/>
              <a:ext cx="3032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ΣCₖ⁽ⁿ⁾ = 1，且 Cₖ⁽ⁿ⁾ = Cₙ₋ₖ⁽ⁿ⁾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8229600" y="248126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86191" y="2420779"/>
              <a:ext cx="294500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为偶数时代数精度为 n + 1，n 为奇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数时为 n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8229600" y="30727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386191" y="3012281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8 时出现负系数，舍入误差会被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放大，稳定性无法保证，一般不用高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阶公式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7980045" y="4167188"/>
            <a:ext cx="3678555" cy="1586865"/>
            <a:chOff x="7980045" y="4167188"/>
            <a:chExt cx="3678555" cy="1586865"/>
          </a:xfrm>
        </p:grpSpPr>
        <p:sp>
          <p:nvSpPr>
            <p:cNvPr id="50" name="Rectangle 50"/>
            <p:cNvSpPr/>
            <p:nvPr/>
          </p:nvSpPr>
          <p:spPr>
            <a:xfrm>
              <a:off x="7980045" y="4167188"/>
              <a:ext cx="3678555" cy="1586865"/>
            </a:xfrm>
            <a:prstGeom prst="roundRect">
              <a:avLst>
                <a:gd name="adj" fmla="val 720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184833" y="4860608"/>
              <a:ext cx="200026" cy="200025"/>
              <a:chOff x="8184833" y="486060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184833" y="4860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224571" y="4905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259287" y="5016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487156" y="4467701"/>
              <a:ext cx="2746629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Simpson 公式为什么多一次：它关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于区间中点对称，f = (x − c)³ 是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关于 c 的奇函数，积分和求积结果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都是 0。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827" y="342900"/>
            <a:ext cx="11122913" cy="902684"/>
            <a:chOff x="520827" y="342900"/>
            <a:chExt cx="11122913" cy="902684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827" y="761524"/>
              <a:ext cx="11122913" cy="4840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典型题：用梯形、Simpson、Cotes 公式计算 sin x 在 [0, π/2] 上的积分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906703" cy="293370"/>
            <a:chOff x="525780" y="1548765"/>
            <a:chExt cx="790670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9067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精确值 I = 1。sin(π/8) = 0.382683，sin(π/4) = 0.707107，sin(3π/8) = 0.923880。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54530"/>
            <a:ext cx="6708458" cy="2383155"/>
            <a:chOff x="533400" y="1954530"/>
            <a:chExt cx="6708458" cy="238315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708458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51518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098453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0771" y="2089309"/>
              <a:ext cx="481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 − Q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7604" y="255889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梯形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11071" y="2558891"/>
              <a:ext cx="21363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(π/4)(sin0 + sin(π/2))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97171" y="255889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0.785398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04941" y="255889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0.214602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8798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92742"/>
              <a:ext cx="6708458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04" y="3027521"/>
              <a:ext cx="7833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Simpson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11071" y="302752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(π/12)(0 + 4×0.707107 + 1)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97171" y="302752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1.002280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04941" y="3027521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−0.002280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35661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7604" y="3749516"/>
              <a:ext cx="5727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Cotes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11071" y="3496151"/>
              <a:ext cx="2557272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(π/180)(7×0 + 32×0.382683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12×0.707107 + 32×0.923880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7×1)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702492" y="3370898"/>
              <a:ext cx="1188720" cy="95631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797171" y="3749516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0.999992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04941" y="3749516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8.4×10⁻⁶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54530"/>
              <a:ext cx="6708458" cy="2383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602105" y="1954530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688205" y="1954530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895975" y="1954530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llout-2"/>
          <p:cNvGrpSpPr/>
          <p:nvPr/>
        </p:nvGrpSpPr>
        <p:grpSpPr>
          <a:xfrm>
            <a:off x="533400" y="4522470"/>
            <a:ext cx="6708458" cy="756285"/>
            <a:chOff x="533400" y="4522470"/>
            <a:chExt cx="6708458" cy="756285"/>
          </a:xfrm>
        </p:grpSpPr>
        <p:sp>
          <p:nvSpPr>
            <p:cNvPr id="35" name="Rectangle 35"/>
            <p:cNvSpPr/>
            <p:nvPr/>
          </p:nvSpPr>
          <p:spPr>
            <a:xfrm>
              <a:off x="533400" y="4522470"/>
              <a:ext cx="6708458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4800600"/>
              <a:ext cx="200026" cy="200026"/>
              <a:chOff x="738188" y="4800600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48006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48672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27088" y="49006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4669631"/>
              <a:ext cx="564108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节点数从 2 个增加到 5 个，误差从 0.2 降到 10⁻⁵ 量级，代数精度 1、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3、5 的差别在这里看得很清楚。</a:t>
              </a:r>
            </a:p>
          </p:txBody>
        </p:sp>
      </p:grpSp>
      <p:grpSp>
        <p:nvGrpSpPr>
          <p:cNvPr id="48" name="c1-callout-3"/>
          <p:cNvGrpSpPr/>
          <p:nvPr/>
        </p:nvGrpSpPr>
        <p:grpSpPr>
          <a:xfrm>
            <a:off x="533400" y="5464492"/>
            <a:ext cx="6708458" cy="791528"/>
            <a:chOff x="533400" y="5464492"/>
            <a:chExt cx="6708458" cy="791528"/>
          </a:xfrm>
        </p:grpSpPr>
        <p:sp>
          <p:nvSpPr>
            <p:cNvPr id="42" name="Rectangle 42"/>
            <p:cNvSpPr/>
            <p:nvPr/>
          </p:nvSpPr>
          <p:spPr>
            <a:xfrm>
              <a:off x="533400" y="5464492"/>
              <a:ext cx="6708458" cy="791528"/>
            </a:xfrm>
            <a:prstGeom prst="roundRect">
              <a:avLst>
                <a:gd name="adj" fmla="val 1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759768"/>
              <a:ext cx="200026" cy="200025"/>
              <a:chOff x="738188" y="5759768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7597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7926" y="58042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12642" y="59153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5628799"/>
              <a:ext cx="555993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同样这 5 个点改用复合梯形得 T₄ = 0.987116，复合 Simpson 得 S₄ =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1.000135，误差 1.3×10⁻² 和 1.3×10⁻⁴。复合公式见下一页。</a:t>
              </a:r>
            </a:p>
          </p:txBody>
        </p:sp>
      </p:grpSp>
      <p:grpSp>
        <p:nvGrpSpPr>
          <p:cNvPr id="73" name="c2-card-1"/>
          <p:cNvGrpSpPr/>
          <p:nvPr/>
        </p:nvGrpSpPr>
        <p:grpSpPr>
          <a:xfrm>
            <a:off x="7546658" y="1954530"/>
            <a:ext cx="4111942" cy="3359468"/>
            <a:chOff x="7546658" y="1954530"/>
            <a:chExt cx="4111942" cy="3359468"/>
          </a:xfrm>
        </p:grpSpPr>
        <p:sp>
          <p:nvSpPr>
            <p:cNvPr id="49" name="Rectangle 49"/>
            <p:cNvSpPr/>
            <p:nvPr/>
          </p:nvSpPr>
          <p:spPr>
            <a:xfrm>
              <a:off x="7546658" y="1954530"/>
              <a:ext cx="4111942" cy="3359468"/>
            </a:xfrm>
            <a:prstGeom prst="roundRect">
              <a:avLst>
                <a:gd name="adj" fmla="val 39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56182" y="2087880"/>
              <a:ext cx="47625" cy="30927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88592" y="215836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66952" y="219408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用余项检验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81354" y="2531269"/>
              <a:ext cx="351307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sin x 各阶导数的绝对值都不超过 1，三个余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项上界依次为 (π/2)³/12、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(π/2)(π/4)⁴/180、2(π/2)(π/8)⁶/945：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788592" y="3370898"/>
              <a:ext cx="3666172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207692" y="3502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255824" y="3502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余项上界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02646" y="3502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893939" y="39319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梯形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067419" y="393192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313289" y="393192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0.215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788592" y="4226242"/>
              <a:ext cx="366617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788592" y="4231005"/>
              <a:ext cx="366617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893939" y="4362450"/>
              <a:ext cx="6619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Simpson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067419" y="436245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3.32×10⁻³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313289" y="436245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2.28×10⁻³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788592" y="4656772"/>
              <a:ext cx="366617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893939" y="4792980"/>
              <a:ext cx="4839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Cotes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067419" y="4792980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1.22×10⁻⁵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313289" y="479298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8.4×10⁻⁶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788592" y="3370898"/>
              <a:ext cx="3666172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957310" y="3370898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203180" y="3370898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0" name="c2-callout-2"/>
          <p:cNvGrpSpPr/>
          <p:nvPr/>
        </p:nvGrpSpPr>
        <p:grpSpPr>
          <a:xfrm>
            <a:off x="7546658" y="5498782"/>
            <a:ext cx="4111942" cy="756285"/>
            <a:chOff x="7546658" y="5498782"/>
            <a:chExt cx="4111942" cy="756285"/>
          </a:xfrm>
        </p:grpSpPr>
        <p:sp>
          <p:nvSpPr>
            <p:cNvPr id="74" name="Rectangle 74"/>
            <p:cNvSpPr/>
            <p:nvPr/>
          </p:nvSpPr>
          <p:spPr>
            <a:xfrm>
              <a:off x="7546658" y="5498782"/>
              <a:ext cx="411194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751445" y="5776913"/>
              <a:ext cx="200026" cy="200025"/>
              <a:chOff x="7751445" y="5776913"/>
              <a:chExt cx="200026" cy="200025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751445" y="57769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791184" y="58213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7825899" y="59324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8053768" y="5646896"/>
              <a:ext cx="321551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符号也对得上：f″ = −sin x ≤ 0，梯形余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项 ≥ 0，所以梯形值偏小。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复合公式：把区间分成小段，每段用低阶公式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6059805" cy="1805940"/>
            <a:chOff x="533400" y="1524000"/>
            <a:chExt cx="6059805" cy="18059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805940"/>
            </a:xfrm>
            <a:prstGeom prst="roundRect">
              <a:avLst>
                <a:gd name="adj" fmla="val 7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924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343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复合梯形公式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3539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(b − a)/m，xₖ = a + kh，fₖ = f(xₖ)：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73"/>
                <p:cNvSpPr txBox="1">
                  <a:spLocks noGrp="1"/>
                </p:cNvSpPr>
                <p:nvPr/>
              </p:nvSpPr>
              <p:spPr>
                <a:xfrm>
                  <a:off x="763905" y="2353628"/>
                  <a:ext cx="5636895" cy="7667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num>
                          <m:den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12</m:t>
                            </m:r>
                          </m:den>
                        </m:f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η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2"/>
          <p:cNvGrpSpPr/>
          <p:nvPr/>
        </p:nvGrpSpPr>
        <p:grpSpPr>
          <a:xfrm>
            <a:off x="533400" y="3505200"/>
            <a:ext cx="6059805" cy="2807018"/>
            <a:chOff x="533400" y="3505200"/>
            <a:chExt cx="6059805" cy="2807018"/>
          </a:xfrm>
        </p:grpSpPr>
        <p:sp>
          <p:nvSpPr>
            <p:cNvPr id="14" name="Rectangle 14"/>
            <p:cNvSpPr/>
            <p:nvPr/>
          </p:nvSpPr>
          <p:spPr>
            <a:xfrm>
              <a:off x="533400" y="3505200"/>
              <a:ext cx="6059805" cy="2807018"/>
            </a:xfrm>
            <a:prstGeom prst="roundRect">
              <a:avLst>
                <a:gd name="adj" fmla="val 475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638550"/>
              <a:ext cx="47625" cy="254031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697605"/>
              <a:ext cx="135921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5840" y="3731895"/>
              <a:ext cx="12343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复合 Simpson 公式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4053840"/>
              <a:ext cx="38211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分成 2m 段，h = (b − a)/(2m)，xₖ = a + kh：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274"/>
                <p:cNvSpPr txBox="1">
                  <a:spLocks noGrp="1"/>
                </p:cNvSpPr>
                <p:nvPr/>
              </p:nvSpPr>
              <p:spPr>
                <a:xfrm>
                  <a:off x="763905" y="4333875"/>
                  <a:ext cx="5636895" cy="800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2m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2i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2m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275"/>
                <p:cNvSpPr txBox="1">
                  <a:spLocks noGrp="1"/>
                </p:cNvSpPr>
                <p:nvPr/>
              </p:nvSpPr>
              <p:spPr>
                <a:xfrm>
                  <a:off x="763905" y="5220652"/>
                  <a:ext cx="563689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180</m:t>
                            </m:r>
                          </m:den>
                        </m:f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p>
                        </m:sSup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η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58190" y="5943124"/>
              <a:ext cx="4353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误差分别按 h²、h⁴ 减小；提高精度靠分段加密，不靠高阶公式。</a:t>
              </a:r>
            </a:p>
          </p:txBody>
        </p:sp>
      </p:grpSp>
      <p:grpSp>
        <p:nvGrpSpPr>
          <p:cNvPr id="25" name="c2-image-1"/>
          <p:cNvGrpSpPr/>
          <p:nvPr/>
        </p:nvGrpSpPr>
        <p:grpSpPr>
          <a:xfrm>
            <a:off x="6898005" y="1524000"/>
            <a:ext cx="4760595" cy="4861179"/>
            <a:chOff x="6898005" y="1524000"/>
            <a:chExt cx="4760595" cy="4861179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2"/>
            <a:srcRect l="10872" t="0" r="10871" b="0"/>
            <a:stretch>
              <a:fillRect/>
            </a:stretch>
          </p:blipFill>
          <p:spPr>
            <a:xfrm>
              <a:off x="6898005" y="1524000"/>
              <a:ext cx="4760595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7506081" y="6179820"/>
              <a:ext cx="35444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弧形屋顶下并排立满窄木板，每块板只需贴合一小段曲线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6" name="TextBox 26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66739" cy="909257"/>
            <a:chOff x="520446" y="342900"/>
            <a:chExt cx="85667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667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典型题：复合公式计算 ∫₀¹ x eˣ dx，并确定需要分几段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517329" cy="278702"/>
            <a:chOff x="526161" y="1547336"/>
            <a:chExt cx="851732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5173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精确值 I = 1。在 [0, 1] 上 f″(x) = (x + 2)eˣ ≤ 3e ≈ 8.155，f⁽⁴⁾(x) = (x + 4)eˣ ≤ 5e ≈ 13.59。</a:t>
              </a:r>
            </a:p>
          </p:txBody>
        </p:sp>
      </p:grpSp>
      <p:grpSp>
        <p:nvGrpSpPr>
          <p:cNvPr id="37" name="c1-card-1"/>
          <p:cNvGrpSpPr/>
          <p:nvPr/>
        </p:nvGrpSpPr>
        <p:grpSpPr>
          <a:xfrm>
            <a:off x="533400" y="1941195"/>
            <a:ext cx="5626418" cy="4137660"/>
            <a:chOff x="533400" y="1941195"/>
            <a:chExt cx="5626418" cy="413766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626418" cy="4137660"/>
            </a:xfrm>
            <a:prstGeom prst="roundRect">
              <a:avLst>
                <a:gd name="adj" fmla="val 32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387096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171640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17964" y="2167890"/>
              <a:ext cx="16082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同样 5 个节点，h = 0.25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3905" y="2467928"/>
              <a:ext cx="520350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59459" y="25922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25244" y="25922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25203" y="259222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286962" y="259222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60696" y="259222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0.75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09526" y="25922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28851" y="299799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27317" y="29979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67644" y="29979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0.321006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85866" y="29979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0.824361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03136" y="29979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1.587750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121359" y="29979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2.718282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3905" y="2467928"/>
              <a:ext cx="5203508" cy="811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448752" y="246792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891665" y="246792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908935" y="246792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927158" y="246792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945380" y="2467928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772478" y="344519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8497" y="3388995"/>
              <a:ext cx="42228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复合梯形 T₄ = 0.125×[0 + 2×(0.321006 + 0.824361 +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1.587750) + 2.718282] = 1.023064，误差 2.3×10⁻²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2478" y="400431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8497" y="3948112"/>
              <a:ext cx="46600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 Simpson（2m = 4）S₄ = (0.25/3)×[0 + 4×(0.321006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+ 1.587750) + 2×0.824361 + 2.718282] = 1.000169，误差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1.7×10⁻⁴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8190" y="4762024"/>
              <a:ext cx="3695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函数值个数相同，复合 Simpson 的误差小两个数量级。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464618" y="1941195"/>
            <a:ext cx="5193982" cy="2328862"/>
            <a:chOff x="6464618" y="1941195"/>
            <a:chExt cx="5193982" cy="2328862"/>
          </a:xfrm>
        </p:grpSpPr>
        <p:sp>
          <p:nvSpPr>
            <p:cNvPr id="38" name="Rectangle 38"/>
            <p:cNvSpPr/>
            <p:nvPr/>
          </p:nvSpPr>
          <p:spPr>
            <a:xfrm>
              <a:off x="6464618" y="1941195"/>
              <a:ext cx="5193982" cy="2328862"/>
            </a:xfrm>
            <a:prstGeom prst="roundRect">
              <a:avLst>
                <a:gd name="adj" fmla="val 57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4142" y="2074545"/>
              <a:ext cx="47625" cy="20621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95122" y="2133600"/>
              <a:ext cx="125825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88088" y="2167890"/>
              <a:ext cx="10732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要求误差 ≤ 10⁻⁴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703695" y="254698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59714" y="2490788"/>
              <a:ext cx="39227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复合梯形：h²/12 × 3e ≤ 10⁻⁴ ⇒ h ≤ 0.01213 ⇒ m 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82.4，取 </a:t>
              </a:r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= 83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（84 个节点）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703695" y="310610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59714" y="3049905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 Simpson：h⁴/180 × 5e ≤ 10⁻⁴ ⇒ h ≤ 0.1908 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2m ≥ 5.24，取 </a:t>
              </a:r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2m = 6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（7 个节点）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703695" y="366617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59714" y="3609975"/>
              <a:ext cx="42571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实际误差：T₈₃ 为 5.4×10⁻⁵，S₆ 为 3.4×10⁻⁵，都满足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464618" y="4445318"/>
            <a:ext cx="5193982" cy="729615"/>
            <a:chOff x="6464618" y="4445318"/>
            <a:chExt cx="5193982" cy="729615"/>
          </a:xfrm>
        </p:grpSpPr>
        <p:sp>
          <p:nvSpPr>
            <p:cNvPr id="49" name="Rectangle 49"/>
            <p:cNvSpPr/>
            <p:nvPr/>
          </p:nvSpPr>
          <p:spPr>
            <a:xfrm>
              <a:off x="6464618" y="4445318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657347" y="4706421"/>
              <a:ext cx="224134" cy="192560"/>
              <a:chOff x="6657347" y="4706421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769418" y="477678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657347" y="470642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769418" y="485457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972110" y="4592002"/>
              <a:ext cx="36827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复合 Simpson 的段数 2m 必须是偶数，h 按 (b −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a)/(2m) 计算，不要和 (b − a)/m 混淆。</a:t>
              </a:r>
            </a:p>
          </p:txBody>
        </p:sp>
      </p:grpSp>
      <p:grpSp>
        <p:nvGrpSpPr>
          <p:cNvPr id="62" name="c2-callout-3"/>
          <p:cNvGrpSpPr/>
          <p:nvPr/>
        </p:nvGrpSpPr>
        <p:grpSpPr>
          <a:xfrm>
            <a:off x="6464618" y="5350192"/>
            <a:ext cx="5193982" cy="729615"/>
            <a:chOff x="6464618" y="5350192"/>
            <a:chExt cx="5193982" cy="729615"/>
          </a:xfrm>
        </p:grpSpPr>
        <p:sp>
          <p:nvSpPr>
            <p:cNvPr id="56" name="Rectangle 56"/>
            <p:cNvSpPr/>
            <p:nvPr/>
          </p:nvSpPr>
          <p:spPr>
            <a:xfrm>
              <a:off x="6464618" y="5350192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669405" y="5614988"/>
              <a:ext cx="200026" cy="200025"/>
              <a:chOff x="6669405" y="5614988"/>
              <a:chExt cx="200026" cy="200025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669405" y="5614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709144" y="5659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743859" y="5770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972110" y="5495925"/>
              <a:ext cx="40256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用阶数核对：2.3×10⁻² × (4/83)² ≈ 5.4×10⁻⁵，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1.7×10⁻⁴ × (4/6)⁴ ≈ 3.3×10⁻⁵，与实际误差吻合。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28862" cy="909257"/>
            <a:chOff x="520446" y="342900"/>
            <a:chExt cx="81288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068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9643" y="407194"/>
              <a:ext cx="111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第六章 数值积分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288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Romberg 求积：由梯形值逐次外推，得到高精度结果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800225"/>
            <a:chOff x="533400" y="1524000"/>
            <a:chExt cx="5193982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002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352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7341" y="175069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逐次二分的梯形公式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85"/>
                <p:cNvSpPr txBox="1">
                  <a:spLocks noGrp="1"/>
                </p:cNvSpPr>
                <p:nvPr/>
              </p:nvSpPr>
              <p:spPr>
                <a:xfrm>
                  <a:off x="763905" y="2050732"/>
                  <a:ext cx="4771072" cy="800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/</m:t>
                                    </m:r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58190" y="2956084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加密时旧节点上的函数值不必重算，只算新增的中点。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499485"/>
            <a:ext cx="5193982" cy="2755582"/>
            <a:chOff x="533400" y="3499485"/>
            <a:chExt cx="5193982" cy="2755582"/>
          </a:xfrm>
        </p:grpSpPr>
        <p:sp>
          <p:nvSpPr>
            <p:cNvPr id="14" name="Rectangle 14"/>
            <p:cNvSpPr/>
            <p:nvPr/>
          </p:nvSpPr>
          <p:spPr>
            <a:xfrm>
              <a:off x="533400" y="3499485"/>
              <a:ext cx="5193982" cy="2755582"/>
            </a:xfrm>
            <a:prstGeom prst="roundRect">
              <a:avLst>
                <a:gd name="adj" fmla="val 4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632835"/>
              <a:ext cx="47625" cy="248888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69189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7344" y="372618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外推公式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4048125"/>
              <a:ext cx="42399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复合梯形误差 I − Tₙ ≈ ch²，步长减半后误差约为原来的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1/4，于是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286"/>
                <p:cNvSpPr txBox="1">
                  <a:spLocks noGrp="1"/>
                </p:cNvSpPr>
                <p:nvPr/>
              </p:nvSpPr>
              <p:spPr>
                <a:xfrm>
                  <a:off x="763905" y="4585335"/>
                  <a:ext cx="4771072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16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15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64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63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0" name="Ellipse 20"/>
            <p:cNvSpPr/>
            <p:nvPr/>
          </p:nvSpPr>
          <p:spPr>
            <a:xfrm>
              <a:off x="772478" y="526542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5209223"/>
              <a:ext cx="3972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Sₙ 就是复合 Simpson 值，Cₙ 就是复合 Cotes 值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556736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5511165"/>
              <a:ext cx="17847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|R₂ₙ − Rₙ| &lt; ε 时停止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6026848" y="1524000"/>
            <a:ext cx="5631752" cy="2714244"/>
            <a:chOff x="6026848" y="1524000"/>
            <a:chExt cx="5631752" cy="2714244"/>
          </a:xfrm>
        </p:grpSpPr>
        <p:sp>
          <p:nvSpPr>
            <p:cNvPr id="25" name="Rectangle 25"/>
            <p:cNvSpPr/>
            <p:nvPr/>
          </p:nvSpPr>
          <p:spPr>
            <a:xfrm>
              <a:off x="6032182" y="1524000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07721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40766" y="1648301"/>
              <a:ext cx="777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T（2ᵏ 段）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71242" y="164830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65690" y="164830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960137" y="164830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07721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50581" y="205406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3.0000000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032182" y="2330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32182" y="233553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07721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750581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3.1000000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44076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3.1333333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27365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07721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50581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3.1311765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044076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3.1415686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38523" y="286559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3.1421176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32182" y="31422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32182" y="314706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0772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50581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3.1389885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044076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3.1415925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38523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3.1415941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632971" y="327136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3.1415858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35480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07721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50581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3.1409416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044076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3.1415927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338523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3.1415927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10373678" y="3562350"/>
              <a:ext cx="127539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632971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3.1415926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32182" y="1524000"/>
              <a:ext cx="5626418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7000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771448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9065895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359390" y="152400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026848" y="4032885"/>
              <a:ext cx="29154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典型题 ∫₀¹ 4/(1 + x²) dx = π = 3.14159265…</a:t>
              </a:r>
            </a:p>
          </p:txBody>
        </p:sp>
      </p:grpSp>
      <p:grpSp>
        <p:nvGrpSpPr>
          <p:cNvPr id="70" name="c2-callout-2"/>
          <p:cNvGrpSpPr/>
          <p:nvPr/>
        </p:nvGrpSpPr>
        <p:grpSpPr>
          <a:xfrm>
            <a:off x="6032182" y="4371975"/>
            <a:ext cx="5626418" cy="978218"/>
            <a:chOff x="6032182" y="4371975"/>
            <a:chExt cx="5626418" cy="978218"/>
          </a:xfrm>
        </p:grpSpPr>
        <p:sp>
          <p:nvSpPr>
            <p:cNvPr id="64" name="Rectangle 64"/>
            <p:cNvSpPr/>
            <p:nvPr/>
          </p:nvSpPr>
          <p:spPr>
            <a:xfrm>
              <a:off x="6032182" y="4371975"/>
              <a:ext cx="5626418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6236970" y="4761548"/>
              <a:ext cx="200026" cy="200026"/>
              <a:chOff x="6236970" y="4761548"/>
              <a:chExt cx="200026" cy="200026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236970" y="47615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336983" y="48282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325870" y="48615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6539674" y="4518660"/>
              <a:ext cx="446284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T₁ = (4 + 2)/2 = 3；T₂ = 1.5 + 0.5×f(0.5) = 1.5 +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0.5×3.2 = 3.1；T₄ = 1.55 + 0.25×[f(0.25) + f(0.75)]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3.1311765；S₁ = (4×3.1 − 3)/3 = 3.1333333。</a:t>
              </a:r>
            </a:p>
          </p:txBody>
        </p:sp>
      </p:grpSp>
      <p:grpSp>
        <p:nvGrpSpPr>
          <p:cNvPr id="76" name="c2-callout-3"/>
          <p:cNvGrpSpPr/>
          <p:nvPr/>
        </p:nvGrpSpPr>
        <p:grpSpPr>
          <a:xfrm>
            <a:off x="6032182" y="5525452"/>
            <a:ext cx="5626418" cy="729615"/>
            <a:chOff x="6032182" y="5525452"/>
            <a:chExt cx="5626418" cy="729615"/>
          </a:xfrm>
        </p:grpSpPr>
        <p:sp>
          <p:nvSpPr>
            <p:cNvPr id="71" name="Rectangle 71"/>
            <p:cNvSpPr/>
            <p:nvPr/>
          </p:nvSpPr>
          <p:spPr>
            <a:xfrm>
              <a:off x="6032182" y="5525452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236970" y="5790248"/>
              <a:ext cx="200026" cy="200026"/>
              <a:chOff x="6236970" y="5790248"/>
              <a:chExt cx="200026" cy="200026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6236970" y="57902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303645" y="586803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6539674" y="5671185"/>
              <a:ext cx="457428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R₂ = 3.1415926，误差 1.5×10⁻⁸，共用 17 个函数值；同样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17 个点的 T₁₆ 误差还有 6.5×10⁻⁴。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全课回顾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易错点：每个结论都有前提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11125200" cy="4481513"/>
            <a:chOff x="533400" y="1524000"/>
            <a:chExt cx="11125200" cy="448151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481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346960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857684" y="165163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成立的前提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08046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常见错误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3473148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x⁽ᵏ⁺¹⁾ = Hx⁽ᵏ⁾ + g 对任意初值收敛 ⇔ ρ(H)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37532" y="22164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线性定常迭代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97024" y="2216468"/>
              <a:ext cx="16808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‖H‖ ≥ 1 当成发散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89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5366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781300"/>
              <a:ext cx="35153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‖x⁽ᵏ⁾ − x*‖ ≤ qᵏ‖x⁽¹⁾ − x⁽⁰⁾‖/(1 − q)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7532" y="2781300"/>
              <a:ext cx="2229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 = ‖H‖ &lt; 1，且是算子范数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97024" y="2781300"/>
              <a:ext cx="1654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ρ(H) 当作 q 代入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3346132"/>
              <a:ext cx="30332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严格对角占优 ⇒ Jacobi、G-S 都收敛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37532" y="3346132"/>
              <a:ext cx="30214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按行严格占优（|aᵢᵢ| 大于其余之和）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7024" y="3226118"/>
              <a:ext cx="3142678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 G-S 总比 Jacobi 收敛、总比 Jacobi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776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82378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2270" y="3910965"/>
              <a:ext cx="30728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不动点迭代对 [a, b] 内任意初值收敛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37532" y="3910965"/>
              <a:ext cx="2876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φ([a, b]) ⊂ [a, b] 且 |φ′| ≤ L &lt;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97024" y="391096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只验证导数条件，忘了映射条件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224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2270" y="4354830"/>
              <a:ext cx="1654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法平方收敛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37532" y="4354830"/>
              <a:ext cx="24489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单根、f″ 连续、初值足够接近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97024" y="4354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重根时仍按平方收敛估计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6672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672012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2270" y="4799648"/>
              <a:ext cx="20282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 max(x⁽ᵏ⁾) → λ₁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7532" y="4799648"/>
              <a:ext cx="1531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|λ₁| &gt; |λ₂|，α₁ ≠ 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97024" y="4799648"/>
              <a:ext cx="15039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−λ₂ 时仍套用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1120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2270" y="5244465"/>
              <a:ext cx="32786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插值余项 f⁽ⁿ⁺¹⁾(ξ)ωₙ₊₁(x)/(n + 1)!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37532" y="5244465"/>
              <a:ext cx="26034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+ 1 个节点，f 有 n + 1 阶导数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97024" y="5244465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漏掉阶乘，或用成 n 阶导数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5559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56069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2270" y="5689283"/>
              <a:ext cx="33317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Simpson 余项 −(b − a)h⁴f⁽⁴⁾(η)/180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37532" y="5689283"/>
              <a:ext cx="33667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(b − a)/2；复合时 h = (b − a)/(2m)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97024" y="5689283"/>
              <a:ext cx="1231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h 取成 b − 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44815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533900" y="1524000"/>
              <a:ext cx="9525" cy="44815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3392" y="1524000"/>
              <a:ext cx="9525" cy="44815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全课回顾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自测题（一）：误差、线性方程组、非线性方程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5344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四舍五入所得 0.03400 有几位有效数字？求 ε*、εᵣ*。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355532"/>
              <a:ext cx="4600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0.3400×10⁻¹，4 位；ε* = 0.5×10⁻⁵，εᵣ* = ε*/0.034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1.47×10⁻⁴。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228725"/>
            <a:chOff x="533400" y="3179445"/>
            <a:chExt cx="5410200" cy="1228725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3990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迭代矩阵满足 ‖H‖∞ = 1.2，能否断定迭代发散？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010977"/>
              <a:ext cx="48453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不能。‖H‖ &lt; 1 只是充分条件，要看 ρ(H) 是否小于 1。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578668"/>
            <a:ext cx="5410200" cy="1743075"/>
            <a:chOff x="533400" y="4578668"/>
            <a:chExt cx="5410200" cy="1743075"/>
          </a:xfrm>
        </p:grpSpPr>
        <p:sp>
          <p:nvSpPr>
            <p:cNvPr id="19" name="Rectangle 19"/>
            <p:cNvSpPr/>
            <p:nvPr/>
          </p:nvSpPr>
          <p:spPr>
            <a:xfrm>
              <a:off x="533400" y="4578668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476535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479821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109210"/>
              <a:ext cx="49269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[1, 2] 上二分求根，误差 ≤ 10⁻³，至少要算到第几个中点？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409248"/>
              <a:ext cx="45480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1/2ⁿ⁺¹ ≤ 10⁻³ ⇒ n + 1 ≥ 10，取第 10 个中点 x₁₀。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3713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[1 −2; 3 4]，求 ‖A‖₁、‖A‖∞、ρ(A)。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5657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‖A‖₁ = 6（列和 4、6），‖A‖∞ = 7（行和 3、7）；λ²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5λ + 10 = 0，ρ(A) = √10 ≈ 3.162。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485900"/>
            <a:chOff x="6248400" y="3179445"/>
            <a:chExt cx="5410200" cy="1485900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2776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[2 1; 1 2]，求 Cond∞(A)。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010977"/>
              <a:ext cx="46943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A⁻¹ = (1/3)[2 −1; −1 2]，‖A⁻¹‖∞ = 1，‖A‖∞ = 3，故条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件数为 3。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835842"/>
            <a:ext cx="5410200" cy="1485900"/>
            <a:chOff x="6248400" y="4835842"/>
            <a:chExt cx="5410200" cy="1485900"/>
          </a:xfrm>
        </p:grpSpPr>
        <p:sp>
          <p:nvSpPr>
            <p:cNvPr id="37" name="Rectangle 37"/>
            <p:cNvSpPr/>
            <p:nvPr/>
          </p:nvSpPr>
          <p:spPr>
            <a:xfrm>
              <a:off x="6248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366385"/>
              <a:ext cx="39451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法解 x² − 5 = 0，x₀ = 2，求 x₁、x₂。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666423"/>
              <a:ext cx="46600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(xₖ + 5/xₖ)/2；x₁ = 2.25，x₂ = 2.236111，而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√5 = 2.236068。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全课回顾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自测题（二）：特征值、插值、数值积分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7234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乘幂法的收敛速度由什么决定？特征值为实数时原点平移的 λ₀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怎样取最好？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3657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|λ₂/λ₁| 决定；取 λ₀ = (λ₂ + λₙ)/2。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228725"/>
            <a:chOff x="533400" y="3179445"/>
            <a:chExt cx="5410200" cy="1228725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35284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Simpson 公式有几个节点、几次代数精度？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010977"/>
              <a:ext cx="4993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个节点，代数精度为 3（n = 2 为偶数，比 n 多一次）。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578668"/>
            <a:ext cx="5410200" cy="1743075"/>
            <a:chOff x="533400" y="4578668"/>
            <a:chExt cx="5410200" cy="1743075"/>
          </a:xfrm>
        </p:grpSpPr>
        <p:sp>
          <p:nvSpPr>
            <p:cNvPr id="19" name="Rectangle 19"/>
            <p:cNvSpPr/>
            <p:nvPr/>
          </p:nvSpPr>
          <p:spPr>
            <a:xfrm>
              <a:off x="533400" y="4578668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476535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479821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109210"/>
              <a:ext cx="4808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[3 −2; −2 3] 作一次 Jacobi 旋转，θ 取多少？旋转后对角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元是多少？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7028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 = −π/4；c₁₁ = 3 − (−2)sin(−π/2) = 1，c₂₂ = 5，即特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征值 1、5。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42368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求过 (0, 1)、(1, 3)、(2, 7) 的二次插值多项式。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6857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f[0,1] = 2，f[1,2] = 4，f[0,1,2] = 1；P(x) = 1 + 2x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x(x − 1) = x² + x + 1。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485900"/>
            <a:chOff x="6248400" y="3179445"/>
            <a:chExt cx="5410200" cy="1485900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5048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∫₀¹ 1/(1 + x) dx 的 T₁ = 0.75，T₂ = 0.708333，求 S₁。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010977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S₁ = (4T₂ − T₁)/3 = (2.833333 − 0.75)/3 = 0.694444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（精确值 ln2 = 0.693147）。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835842"/>
            <a:ext cx="5410200" cy="1485900"/>
            <a:chOff x="6248400" y="4835842"/>
            <a:chExt cx="5410200" cy="1485900"/>
          </a:xfrm>
        </p:grpSpPr>
        <p:sp>
          <p:nvSpPr>
            <p:cNvPr id="37" name="Rectangle 37"/>
            <p:cNvSpPr/>
            <p:nvPr/>
          </p:nvSpPr>
          <p:spPr>
            <a:xfrm>
              <a:off x="6248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36638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复合梯形公式误差是几阶？步长减半误差约变为多少？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666423"/>
              <a:ext cx="46171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O(h²)，约变为 1/4，这是外推 S = (4T₂ₙ − Tₙ)/3 的依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全课回顾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全课公式速查与手算题型索引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c1-table-1"/>
          <p:cNvGrpSpPr/>
          <p:nvPr/>
        </p:nvGrpSpPr>
        <p:grpSpPr>
          <a:xfrm>
            <a:off x="533400" y="1524000"/>
            <a:ext cx="7141845" cy="4501515"/>
            <a:chOff x="533400" y="1524000"/>
            <a:chExt cx="7141845" cy="45015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714184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0829" y="165973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章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37498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必须会写的公式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880672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判据与误差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5841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 绪论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41348" y="2108359"/>
              <a:ext cx="27033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e* = x* − x；|x* − x| ≤ 0.5×10ᵐ⁻ⁿ；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eᵣ(xy) ≈ eᵣ(x) + eᵣ(y)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69396" y="2108359"/>
              <a:ext cx="13215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1.1：|eᵣ*| ≤</a:t>
              </a:r>
              <a:br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10⁻⁽ⁿ⁻¹⁾/(2α₁)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714184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71440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 线性方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41348" y="2783681"/>
              <a:ext cx="29227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Doolittle：uₖⱼ、lᵢₖ 公式；Jacobi 矩阵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D⁻¹(L + U)，G-S 矩阵 (D − L)⁻¹U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069396" y="2783681"/>
              <a:ext cx="217500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&lt; 1 ⇔ 收敛；‖δx‖/‖x‖ ≤</a:t>
              </a:r>
              <a:br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Cond(A)‖δb‖/‖b‖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459004"/>
              <a:ext cx="71440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 非线性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41348" y="3459004"/>
              <a:ext cx="30446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φ(xₖ)；xₖ₊₁ = xₖ 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f(xₖ)/f′(xₖ)；F′(x⁽ᵏ⁾)Δx = −F(x⁽ᵏ⁾)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69396" y="3459004"/>
              <a:ext cx="22969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|x* − xₙ₊₁| ≤ (b − a)/2ⁿ⁺¹；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|x* − xₖ| ≤ Lᵏ|x₁ − x₀|/(1 − L)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994785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999548"/>
              <a:ext cx="714184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247674"/>
              <a:ext cx="756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 特征值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41348" y="4134326"/>
              <a:ext cx="267893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y⁽ᵏ⁾ = x⁽ᵏ⁾/max(x⁽ᵏ⁾)，x⁽ᵏ⁺¹⁾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Ay⁽ᵏ⁾；tan2θ = 2aᵢⱼ/(aⱼⱼ − aᵢᵢ)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69396" y="4134326"/>
              <a:ext cx="21343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 |λ₂/λ₁|；τ(C) = τ(A) −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2aᵢⱼ²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67010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923949"/>
              <a:ext cx="5841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 插值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41348" y="4810601"/>
              <a:ext cx="29227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Lₙ = Σyᵢlᵢ(x)；Nₙ 用差商表对角线；H₃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基函数或重节点差商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69396" y="4810601"/>
              <a:ext cx="221564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Rₙ = f⁽ⁿ⁺¹⁾(ξ)ωₙ₊₁(x)/(n +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1)!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34543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5350192"/>
              <a:ext cx="714184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5485924"/>
              <a:ext cx="71440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 数值积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641348" y="5485924"/>
              <a:ext cx="30121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T、S、C 公式；复合 Tₘ、S₂ₘ；S = (4T₂ₙ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Tₙ)/3 等外推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069396" y="5485924"/>
              <a:ext cx="211810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代数精度 1、3、5；复合余项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O(h²)、O(h⁴)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7141845" cy="45015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528762" y="1524000"/>
              <a:ext cx="9525" cy="45015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956810" y="1524000"/>
              <a:ext cx="9525" cy="45015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4" name="c2-table-1"/>
          <p:cNvGrpSpPr/>
          <p:nvPr/>
        </p:nvGrpSpPr>
        <p:grpSpPr>
          <a:xfrm>
            <a:off x="7974330" y="1524000"/>
            <a:ext cx="3684270" cy="4335304"/>
            <a:chOff x="7974330" y="1524000"/>
            <a:chExt cx="3684270" cy="4335304"/>
          </a:xfrm>
        </p:grpSpPr>
        <p:sp>
          <p:nvSpPr>
            <p:cNvPr id="41" name="Rectangle 41"/>
            <p:cNvSpPr/>
            <p:nvPr/>
          </p:nvSpPr>
          <p:spPr>
            <a:xfrm>
              <a:off x="7980045" y="1524000"/>
              <a:ext cx="367855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817750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常考手算题型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016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087868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有效数字与误差传播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810113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980045" y="241649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980045" y="2421255"/>
              <a:ext cx="367855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087868" y="2556986"/>
              <a:ext cx="1659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LU 分解、列主元消去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810113" y="2556986"/>
              <a:ext cx="5643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13、15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980045" y="286607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087868" y="30056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范数与条件数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810113" y="3005614"/>
              <a:ext cx="5643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17、19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980045" y="3314700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980045" y="3319462"/>
              <a:ext cx="367855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087868" y="3454241"/>
              <a:ext cx="14597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Jacobi、G-S 迭代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810113" y="3454241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– 25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980045" y="3763328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087868" y="390382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非线性方程三种迭代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810113" y="3903821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 – 32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980045" y="4211955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980045" y="4216718"/>
              <a:ext cx="367855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087868" y="4352449"/>
              <a:ext cx="2003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乘幂、反幂、Jacobi 旋转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810113" y="4352449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 – 39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980045" y="466058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87868" y="480107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三类插值多项式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810113" y="4801076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 – 45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980045" y="511016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980045" y="5114925"/>
              <a:ext cx="367855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087868" y="524970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代数精度与求积公式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810113" y="524970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 – 53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980045" y="1524000"/>
              <a:ext cx="3678555" cy="40395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697528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74330" y="563927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页码指本讲义右下角的页码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6524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计算方法 总复习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numa_review">
  <a:themeElements>
    <a:clrScheme name="numa_review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uma_review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uma_re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2026-09-23T06:08:41Z</dcterms:created>
  <dcterms:modified xsi:type="dcterms:W3CDTF">2026-09-23T06:08:41Z</dcterms:modified>
  <cp:category/>
  <cp:contentStatus/>
</cp:coreProperties>
</file>