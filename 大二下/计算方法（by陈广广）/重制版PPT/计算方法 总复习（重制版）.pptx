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numa_review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numa_review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0b7dd126e88c321b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58f176507bba9d99.png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21db1c29d4dbbd00.png"/>
</Relationships>
</file>

<file path=ppt/slides/_rels/slide5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4174030" cy="3437763"/>
            <a:chOff x="666750" y="1619250"/>
            <a:chExt cx="4174030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593532" cy="3429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14010" y="1718310"/>
              <a:ext cx="13380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计算方法 · 总复习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417403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计算方法 总复习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六章要点、核心公式与典型题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误差与有效数字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线性方程组的直接法与迭代法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非线性方程与特征值计算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插值与数值积分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131050" cy="205359"/>
            <a:chOff x="680466" y="6192202"/>
            <a:chExt cx="4131050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1310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自学复习版｜据吉林大学《计算方法》总复习课件整理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0683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9643" y="407194"/>
              <a:ext cx="11143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计算方法 总复习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696111"/>
            <a:chOff x="521970" y="1515428"/>
            <a:chExt cx="6287453" cy="4696111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11973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第一章 绪论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浮点运算注意事项、误差概念、有效数字、误差传播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29743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第二章 解线性方程组的数值法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50510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高斯消去、LU 分解、选主元、范数与条件数、Jacobi 与 G-S 迭代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34185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第三章 非线性方程（组）的数值法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43164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二分法、不动点迭代、Newton 法、方程组的 Newton 法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34185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第四章 矩阵特征值特征向量的计算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40419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乘幂法、反幂法、原点平移、Jacobi 旋转法与过关法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16415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第五章 函数插值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36483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Lagrange、Newton、Hermite 插值与插值余项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16415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第六章 数值积分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551561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代数精度、Newton-Cotes、复合公式、Romberg；最后是易错点、自测与速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查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4637722"/>
            <a:chOff x="7114222" y="1524000"/>
            <a:chExt cx="4544378" cy="4637722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637722"/>
            </a:xfrm>
            <a:prstGeom prst="roundRect">
              <a:avLst>
                <a:gd name="adj" fmla="val 293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371022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判断近似数的有效数字位数，估计运算结果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的误差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731770"/>
              <a:ext cx="36442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手算 LU 分解和列主元消去，写出 Jacobi、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G-S 迭代并判断收敛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352800"/>
              <a:ext cx="3596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用二分法、不动点迭代、Newton 法求根，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并估计迭代次数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973830"/>
              <a:ext cx="37585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用乘幂法、反幂法求特征值，完成 Jacobi 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转的一步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459486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构造插值多项式，判定代数精度，计算复合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公式与 Romberg 表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652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计算方法 总复习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0683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9643" y="407194"/>
              <a:ext cx="11143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计算方法 总复习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全课主线：化成迭代或多项式近似，再估计误差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8" name="c1-table-1"/>
          <p:cNvGrpSpPr/>
          <p:nvPr/>
        </p:nvGrpSpPr>
        <p:grpSpPr>
          <a:xfrm>
            <a:off x="533400" y="1524000"/>
            <a:ext cx="6708458" cy="4752975"/>
            <a:chOff x="533400" y="1524000"/>
            <a:chExt cx="6708458" cy="47529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708458" cy="439102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38593" y="1648778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章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58683" y="164877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要解决的问题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617785" y="164877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主要方法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434584" y="164877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收敛或误差的判据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9412" y="2207895"/>
              <a:ext cx="6161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 绪论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35252" y="2087880"/>
              <a:ext cx="104241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结果算得准不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准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977324" y="2087880"/>
              <a:ext cx="189966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误差限、有效数字、误差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传播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190934" y="2207895"/>
              <a:ext cx="17402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|x* − x| ≤ 0.5×10ᵐ⁻ⁿ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637472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642235"/>
              <a:ext cx="6708458" cy="67913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9412" y="2767012"/>
              <a:ext cx="753523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 线性方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程组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635252" y="2887027"/>
              <a:ext cx="5321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Ax = b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977324" y="2767012"/>
              <a:ext cx="1753933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Gauss 消去、LU、选主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元；Jacobi、G-S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190934" y="2767012"/>
              <a:ext cx="1368171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ρ(H) &lt; 1；条件数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Cond(A)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315652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29412" y="3446145"/>
              <a:ext cx="753523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 非线性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635252" y="3566160"/>
              <a:ext cx="7224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f(x) = 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977324" y="3446145"/>
              <a:ext cx="172821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二分法、不动点迭代、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Newton 法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90934" y="3446145"/>
              <a:ext cx="1685354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|φ′(x)| ≤ L &lt; 1；收敛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阶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994785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999548"/>
              <a:ext cx="6708458" cy="67913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9412" y="4245292"/>
              <a:ext cx="7979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 特征值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635252" y="4245292"/>
              <a:ext cx="6311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Ax = λx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977324" y="4125277"/>
              <a:ext cx="138531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乘幂法、反幂法、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Jacobi 旋转法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190934" y="4125277"/>
              <a:ext cx="1788224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|λ₂/λ₁|；非对角元平方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67391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29412" y="5043488"/>
              <a:ext cx="6161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五 插值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635252" y="4923473"/>
              <a:ext cx="930974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Pₙ(x) 代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替 f(x)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977324" y="4923473"/>
              <a:ext cx="1711071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Lagrange、Newton、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Hermite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190934" y="4803458"/>
              <a:ext cx="1805368" cy="7440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余项</a:t>
              </a:r>
              <a:br/>
              <a:r>
                <a:rPr lang="el-GR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f⁽ⁿ⁺¹⁾(ξ)ωₙ₊₁(x)/(n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+1)!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5593080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5597842"/>
              <a:ext cx="6708458" cy="67913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29412" y="5722620"/>
              <a:ext cx="753523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六 数值积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635252" y="5842635"/>
              <a:ext cx="9496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∫f(x)dx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977324" y="5722620"/>
              <a:ext cx="189966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插值型公式、复合公式、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Romberg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190934" y="584263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代数精度、求积余项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1524000"/>
              <a:ext cx="6708458" cy="47529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1534478" y="1524000"/>
              <a:ext cx="9525" cy="47529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2876550" y="1524000"/>
              <a:ext cx="9525" cy="47529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5090160" y="1524000"/>
              <a:ext cx="9525" cy="47529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4" name="c2-card-1"/>
          <p:cNvGrpSpPr/>
          <p:nvPr/>
        </p:nvGrpSpPr>
        <p:grpSpPr>
          <a:xfrm>
            <a:off x="7546658" y="1524000"/>
            <a:ext cx="4111942" cy="2514600"/>
            <a:chOff x="7546658" y="1524000"/>
            <a:chExt cx="4111942" cy="2514600"/>
          </a:xfrm>
        </p:grpSpPr>
        <p:sp>
          <p:nvSpPr>
            <p:cNvPr id="49" name="Rectangle 49"/>
            <p:cNvSpPr/>
            <p:nvPr/>
          </p:nvSpPr>
          <p:spPr>
            <a:xfrm>
              <a:off x="7546658" y="1524000"/>
              <a:ext cx="4111942" cy="2514600"/>
            </a:xfrm>
            <a:prstGeom prst="roundRect">
              <a:avLst>
                <a:gd name="adj" fmla="val 5303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7733348" y="1710690"/>
              <a:ext cx="1329690" cy="23812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799565" y="1743551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两条贯穿全课的线索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726489" y="2054542"/>
              <a:ext cx="3528441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迭代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：x⁽ᵏ⁺¹⁾ = Hx⁽ᵏ⁾ + g、xₖ₊₁ = φ(xₖ)、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x⁽ᵏ⁺¹⁾ = Ay⁽ᵏ⁾ 都是反复代入。误差每步乘上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一个因子（H、φ′、λ₂/λ₁），因子的模小于 1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才收敛。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726489" y="3127058"/>
              <a:ext cx="324554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多项式近似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：插值用 Lₙ(x) 代替 f(x)；对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Lₙ(x) 积分得到插值型求积公式，对余项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Rₙ(x) 积分得到求积余项。</a:t>
              </a:r>
            </a:p>
          </p:txBody>
        </p:sp>
      </p:grpSp>
      <p:grpSp>
        <p:nvGrpSpPr>
          <p:cNvPr id="61" name="c2-callout-2"/>
          <p:cNvGrpSpPr/>
          <p:nvPr/>
        </p:nvGrpSpPr>
        <p:grpSpPr>
          <a:xfrm>
            <a:off x="7546658" y="4208145"/>
            <a:ext cx="4111942" cy="729615"/>
            <a:chOff x="7546658" y="4208145"/>
            <a:chExt cx="4111942" cy="729615"/>
          </a:xfrm>
        </p:grpSpPr>
        <p:sp>
          <p:nvSpPr>
            <p:cNvPr id="55" name="Rectangle 55"/>
            <p:cNvSpPr/>
            <p:nvPr/>
          </p:nvSpPr>
          <p:spPr>
            <a:xfrm>
              <a:off x="7546658" y="4208145"/>
              <a:ext cx="4111942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7751445" y="4472940"/>
              <a:ext cx="200026" cy="200025"/>
              <a:chOff x="7751445" y="4472940"/>
              <a:chExt cx="200026" cy="200025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751445" y="447294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7791184" y="451739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7825899" y="462851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8054149" y="4354830"/>
              <a:ext cx="32712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复习每个方法时问三件事：公式怎么写，什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么条件下收敛，误差怎么估计。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1652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计算方法 总复习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5F2EA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20" name="section-title"/>
          <p:cNvGrpSpPr/>
          <p:nvPr/>
        </p:nvGrpSpPr>
        <p:grpSpPr>
          <a:xfrm>
            <a:off x="667512" y="1835468"/>
            <a:ext cx="6246114" cy="3706177"/>
            <a:chOff x="667512" y="1835468"/>
            <a:chExt cx="6246114" cy="370617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第一章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00584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绪论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2362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计算机只做有限位的四则运算，要知道误差从哪里来、怎样控制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学习计算方法的必要性与主要内容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浮点数四则计算的注意事项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误差的来源及有关概念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绝对误差、相对误差、有效数字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23900" y="530542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6780" y="52482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误差的传播</a:t>
              </a:r>
            </a:p>
          </p:txBody>
        </p:sp>
      </p:grpSp>
      <p:grpSp>
        <p:nvGrpSpPr>
          <p:cNvPr id="2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1" name="TextBox 21"/>
            <p:cNvSpPr txBox="1"/>
            <p:nvPr/>
          </p:nvSpPr>
          <p:spPr>
            <a:xfrm>
              <a:off x="528447" y="6581299"/>
              <a:ext cx="1652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计算方法 总复习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07933" cy="909257"/>
            <a:chOff x="520446" y="342900"/>
            <a:chExt cx="86079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02298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8495" y="407194"/>
              <a:ext cx="8127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第一章 绪论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079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误差有四个来源，计算方法主要控制截断误差和舍入误差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7" name="c1-flow-1"/>
          <p:cNvGrpSpPr/>
          <p:nvPr/>
        </p:nvGrpSpPr>
        <p:grpSpPr>
          <a:xfrm>
            <a:off x="700088" y="1802130"/>
            <a:ext cx="4427219" cy="4282440"/>
            <a:chOff x="700088" y="1802130"/>
            <a:chExt cx="4427219" cy="4282440"/>
          </a:xfrm>
        </p:grpSpPr>
        <p:sp>
          <p:nvSpPr>
            <p:cNvPr id="7" name="Freeform 7"/>
            <p:cNvSpPr/>
            <p:nvPr/>
          </p:nvSpPr>
          <p:spPr>
            <a:xfrm>
              <a:off x="1724025" y="2213610"/>
              <a:ext cx="9525" cy="451485"/>
            </a:xfrm>
            <a:custGeom>
              <a:avLst/>
              <a:gdLst/>
              <a:ahLst/>
              <a:cxnLst/>
              <a:rect l="l" t="t" r="r" b="b"/>
              <a:pathLst>
                <a:path w="9525" h="451485">
                  <a:moveTo>
                    <a:pt x="0" y="0"/>
                  </a:moveTo>
                  <a:lnTo>
                    <a:pt x="0" y="45148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671638" y="266509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724025" y="3181350"/>
              <a:ext cx="9525" cy="451485"/>
            </a:xfrm>
            <a:custGeom>
              <a:avLst/>
              <a:gdLst/>
              <a:ahLst/>
              <a:cxnLst/>
              <a:rect l="l" t="t" r="r" b="b"/>
              <a:pathLst>
                <a:path w="9525" h="451485">
                  <a:moveTo>
                    <a:pt x="0" y="0"/>
                  </a:moveTo>
                  <a:lnTo>
                    <a:pt x="0" y="45148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671638" y="363283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724025" y="4149090"/>
              <a:ext cx="9525" cy="451485"/>
            </a:xfrm>
            <a:custGeom>
              <a:avLst/>
              <a:gdLst/>
              <a:ahLst/>
              <a:cxnLst/>
              <a:rect l="l" t="t" r="r" b="b"/>
              <a:pathLst>
                <a:path w="9525" h="451485">
                  <a:moveTo>
                    <a:pt x="0" y="0"/>
                  </a:moveTo>
                  <a:lnTo>
                    <a:pt x="0" y="45148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671638" y="46005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724025" y="5116830"/>
              <a:ext cx="9525" cy="451485"/>
            </a:xfrm>
            <a:custGeom>
              <a:avLst/>
              <a:gdLst/>
              <a:ahLst/>
              <a:cxnLst/>
              <a:rect l="l" t="t" r="r" b="b"/>
              <a:pathLst>
                <a:path w="9525" h="451485">
                  <a:moveTo>
                    <a:pt x="0" y="0"/>
                  </a:moveTo>
                  <a:lnTo>
                    <a:pt x="0" y="45148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671638" y="556831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2851785" y="2975610"/>
              <a:ext cx="228600" cy="9525"/>
            </a:xfrm>
            <a:custGeom>
              <a:avLst/>
              <a:gdLst/>
              <a:ahLst/>
              <a:cxnLst/>
              <a:rect l="l" t="t" r="r" b="b"/>
              <a:pathLst>
                <a:path w="228600" h="9525">
                  <a:moveTo>
                    <a:pt x="228600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  <a:custDash>
                <a:ds d="375000" sp="250000"/>
              </a:custDash>
            </a:ln>
          </p:spPr>
        </p:sp>
        <p:sp>
          <p:nvSpPr>
            <p:cNvPr id="16" name="Freeform 16"/>
            <p:cNvSpPr/>
            <p:nvPr/>
          </p:nvSpPr>
          <p:spPr>
            <a:xfrm>
              <a:off x="2747010" y="292322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851785" y="3943350"/>
              <a:ext cx="228600" cy="9525"/>
            </a:xfrm>
            <a:custGeom>
              <a:avLst/>
              <a:gdLst/>
              <a:ahLst/>
              <a:cxnLst/>
              <a:rect l="l" t="t" r="r" b="b"/>
              <a:pathLst>
                <a:path w="228600" h="9525">
                  <a:moveTo>
                    <a:pt x="228600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  <a:custDash>
                <a:ds d="375000" sp="250000"/>
              </a:custDash>
            </a:ln>
          </p:spPr>
        </p:sp>
        <p:sp>
          <p:nvSpPr>
            <p:cNvPr id="18" name="Freeform 18"/>
            <p:cNvSpPr/>
            <p:nvPr/>
          </p:nvSpPr>
          <p:spPr>
            <a:xfrm>
              <a:off x="2747010" y="389096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2851785" y="4911090"/>
              <a:ext cx="228600" cy="9525"/>
            </a:xfrm>
            <a:custGeom>
              <a:avLst/>
              <a:gdLst/>
              <a:ahLst/>
              <a:cxnLst/>
              <a:rect l="l" t="t" r="r" b="b"/>
              <a:pathLst>
                <a:path w="228600" h="9525">
                  <a:moveTo>
                    <a:pt x="228600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  <a:custDash>
                <a:ds d="375000" sp="250000"/>
              </a:custDash>
            </a:ln>
          </p:spPr>
        </p:sp>
        <p:sp>
          <p:nvSpPr>
            <p:cNvPr id="20" name="Freeform 20"/>
            <p:cNvSpPr/>
            <p:nvPr/>
          </p:nvSpPr>
          <p:spPr>
            <a:xfrm>
              <a:off x="2747010" y="485870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00088" y="1802130"/>
              <a:ext cx="2046922" cy="41148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00088" y="2769870"/>
              <a:ext cx="2046922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700088" y="3737610"/>
              <a:ext cx="2046922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700088" y="4705350"/>
              <a:ext cx="2046922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700088" y="5673090"/>
              <a:ext cx="2046922" cy="41148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3080385" y="2769870"/>
              <a:ext cx="2046922" cy="411480"/>
            </a:xfrm>
            <a:prstGeom prst="roundRect">
              <a:avLst>
                <a:gd name="adj" fmla="val 18519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3080385" y="3737610"/>
              <a:ext cx="2046922" cy="411480"/>
            </a:xfrm>
            <a:prstGeom prst="roundRect">
              <a:avLst>
                <a:gd name="adj" fmla="val 18519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3080385" y="4705350"/>
              <a:ext cx="2046922" cy="411480"/>
            </a:xfrm>
            <a:prstGeom prst="roundRect">
              <a:avLst>
                <a:gd name="adj" fmla="val 18519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394841" y="19240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实际问题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394841" y="289179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数学模型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394841" y="385953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数值方法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314069" y="482727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计算机计算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394841" y="57950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近似结果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371278" y="289179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模型误差、观测误差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290506" y="385953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截断误差（方法误差）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775138" y="482727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舍入误差</a:t>
              </a:r>
            </a:p>
          </p:txBody>
        </p:sp>
      </p:grpSp>
      <p:grpSp>
        <p:nvGrpSpPr>
          <p:cNvPr id="48" name="c2-card-1"/>
          <p:cNvGrpSpPr/>
          <p:nvPr/>
        </p:nvGrpSpPr>
        <p:grpSpPr>
          <a:xfrm>
            <a:off x="5598795" y="1524000"/>
            <a:ext cx="6059805" cy="2158365"/>
            <a:chOff x="5598795" y="1524000"/>
            <a:chExt cx="6059805" cy="2158365"/>
          </a:xfrm>
        </p:grpSpPr>
        <p:sp>
          <p:nvSpPr>
            <p:cNvPr id="38" name="Rectangle 38"/>
            <p:cNvSpPr/>
            <p:nvPr/>
          </p:nvSpPr>
          <p:spPr>
            <a:xfrm>
              <a:off x="5598795" y="1524000"/>
              <a:ext cx="6059805" cy="2158365"/>
            </a:xfrm>
            <a:prstGeom prst="roundRect">
              <a:avLst>
                <a:gd name="adj" fmla="val 61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608320" y="1657350"/>
              <a:ext cx="47625" cy="189166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835015" y="1722120"/>
              <a:ext cx="1276350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902452" y="175641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计算方法研究什么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5842635" y="2143125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999226" y="2082641"/>
              <a:ext cx="52443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多数实际问题没有解析解，或解析解算起来代价太大，只能用有限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步四则运算求近似解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5842635" y="2731770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999226" y="2672239"/>
              <a:ext cx="52443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本课内容：线性方程组、非线性方程（组）、矩阵特征值、函数插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值、数值积分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5842635" y="3321368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999226" y="3260884"/>
              <a:ext cx="55581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每个算法都要回答：是否收敛、误差多大、是否稳定、计算量多少</a:t>
              </a:r>
            </a:p>
          </p:txBody>
        </p:sp>
      </p:grpSp>
      <p:grpSp>
        <p:nvGrpSpPr>
          <p:cNvPr id="56" name="c2-card-2"/>
          <p:cNvGrpSpPr/>
          <p:nvPr/>
        </p:nvGrpSpPr>
        <p:grpSpPr>
          <a:xfrm>
            <a:off x="5598795" y="3862388"/>
            <a:ext cx="6059805" cy="2236470"/>
            <a:chOff x="5598795" y="3862388"/>
            <a:chExt cx="6059805" cy="2236470"/>
          </a:xfrm>
        </p:grpSpPr>
        <p:sp>
          <p:nvSpPr>
            <p:cNvPr id="49" name="Rectangle 49"/>
            <p:cNvSpPr/>
            <p:nvPr/>
          </p:nvSpPr>
          <p:spPr>
            <a:xfrm>
              <a:off x="5598795" y="3862388"/>
              <a:ext cx="6059805" cy="2236470"/>
            </a:xfrm>
            <a:prstGeom prst="roundRect">
              <a:avLst>
                <a:gd name="adj" fmla="val 59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5608320" y="3995738"/>
              <a:ext cx="47625" cy="196977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835015" y="4060508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906452" y="409479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截断误差的例子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827776" y="4421029"/>
              <a:ext cx="538861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Taylor 多项式 Pₙ(x) = 1 + x + x²/2! + … + xⁿ/n! 近似 eˣ，截断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误差为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4" name="formula3"/>
                <p:cNvSpPr txBox="1">
                  <a:spLocks noGrp="1"/>
                </p:cNvSpPr>
                <p:nvPr/>
              </p:nvSpPr>
              <p:spPr>
                <a:xfrm>
                  <a:off x="5835015" y="4986338"/>
                  <a:ext cx="5625465" cy="6172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</m:e>
                          <m:sub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p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sSub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  <m:sub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θx</m:t>
                                </m:r>
                              </m:sup>
                            </m:sSup>
                          </m:num>
                          <m:den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!</m:t>
                            </m:r>
                          </m:den>
                        </m:f>
                        <m:sSup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p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&lt;</m:t>
                        </m:r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&lt;</m:t>
                        </m:r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55" name="TextBox 55"/>
            <p:cNvSpPr txBox="1"/>
            <p:nvPr/>
          </p:nvSpPr>
          <p:spPr>
            <a:xfrm>
              <a:off x="5828919" y="5713095"/>
              <a:ext cx="4289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|x| &lt; 1 时 |Rₙ(x)| &lt; e/(n+1)!，n = 8 时已小于 7.5×10⁻⁶。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1652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计算方法 总复习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02298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8495" y="407194"/>
              <a:ext cx="8127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第一章 绪论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绝对误差、相对误差与有效数字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626418" cy="2404110"/>
            <a:chOff x="533400" y="1524000"/>
            <a:chExt cx="5626418" cy="240411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404110"/>
            </a:xfrm>
            <a:prstGeom prst="roundRect">
              <a:avLst>
                <a:gd name="adj" fmla="val 55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13741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1079182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2382" y="1743551"/>
              <a:ext cx="9317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定义 1.1 – 1.4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44814" y="174593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误差与误差限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1332" y="2071688"/>
              <a:ext cx="24762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x 为准确值，x* 为近似值：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19"/>
                <p:cNvSpPr txBox="1">
                  <a:spLocks noGrp="1"/>
                </p:cNvSpPr>
                <p:nvPr/>
              </p:nvSpPr>
              <p:spPr>
                <a:xfrm>
                  <a:off x="758190" y="2349818"/>
                  <a:ext cx="5214938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*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*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sSup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ε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*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formula20"/>
                <p:cNvSpPr txBox="1">
                  <a:spLocks noGrp="1"/>
                </p:cNvSpPr>
                <p:nvPr/>
              </p:nvSpPr>
              <p:spPr>
                <a:xfrm>
                  <a:off x="758190" y="2871788"/>
                  <a:ext cx="5214938" cy="59150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Sup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b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*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p>
                          </m:num>
                          <m:den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≈</m:t>
                        </m:r>
                        <m:f>
                          <m:fPr>
                            <m:type m:val="bar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bSup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ε</m:t>
                            </m:r>
                          </m:e>
                          <m:sub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*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ε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p>
                          </m:num>
                          <m:den>
                            <m:d>
                              <m:dPr>
                                <m:begChr m:val="|"/>
                                <m:sepChr m:val=""/>
                                <m:endChr m:val="|"/>
                                <m:grow m:val="on"/>
                                <m:ctrl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*</m:t>
                                    </m:r>
                                  </m:sup>
                                </m:sSup>
                              </m:e>
                            </m:d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5" name="TextBox 15"/>
            <p:cNvSpPr txBox="1"/>
            <p:nvPr/>
          </p:nvSpPr>
          <p:spPr>
            <a:xfrm>
              <a:off x="752475" y="3565684"/>
              <a:ext cx="39315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绝对误差带量纲；比较两个近似值谁更准，要看相对误差。</a:t>
              </a:r>
            </a:p>
          </p:txBody>
        </p:sp>
      </p:grpSp>
      <p:grpSp>
        <p:nvGrpSpPr>
          <p:cNvPr id="25" name="c1-card-2"/>
          <p:cNvGrpSpPr/>
          <p:nvPr/>
        </p:nvGrpSpPr>
        <p:grpSpPr>
          <a:xfrm>
            <a:off x="533400" y="4097655"/>
            <a:ext cx="5626418" cy="2025015"/>
            <a:chOff x="533400" y="4097655"/>
            <a:chExt cx="5626418" cy="2025015"/>
          </a:xfrm>
        </p:grpSpPr>
        <p:sp>
          <p:nvSpPr>
            <p:cNvPr id="17" name="Rectangle 17"/>
            <p:cNvSpPr/>
            <p:nvPr/>
          </p:nvSpPr>
          <p:spPr>
            <a:xfrm>
              <a:off x="533400" y="4097655"/>
              <a:ext cx="5626418" cy="2025015"/>
            </a:xfrm>
            <a:prstGeom prst="roundRect">
              <a:avLst>
                <a:gd name="adj" fmla="val 658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4231005"/>
              <a:ext cx="47625" cy="175831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58190" y="4284345"/>
              <a:ext cx="713422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42484" y="4317206"/>
              <a:ext cx="5438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定义 1.6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579054" y="431958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有效数字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1332" y="4645342"/>
              <a:ext cx="49842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x* 写成规格化形式 x* = ±0.α₁α₂…αₖ × 10ᵐ（α₁ ≠ 0），若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formula21"/>
                <p:cNvSpPr txBox="1">
                  <a:spLocks noGrp="1"/>
                </p:cNvSpPr>
                <p:nvPr/>
              </p:nvSpPr>
              <p:spPr>
                <a:xfrm>
                  <a:off x="758190" y="4923472"/>
                  <a:ext cx="5214938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0.5</m:t>
                        </m:r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sSup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e>
                          <m:sup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4" name="TextBox 24"/>
            <p:cNvSpPr txBox="1"/>
            <p:nvPr/>
          </p:nvSpPr>
          <p:spPr>
            <a:xfrm>
              <a:off x="751332" y="5467350"/>
              <a:ext cx="4967335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则称 x* 有 </a:t>
              </a: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位有效数字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：从第一个非零数字数到误差限所在的那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一位。</a:t>
              </a:r>
            </a:p>
          </p:txBody>
        </p:sp>
      </p:grpSp>
      <p:grpSp>
        <p:nvGrpSpPr>
          <p:cNvPr id="36" name="c2-card-1"/>
          <p:cNvGrpSpPr/>
          <p:nvPr/>
        </p:nvGrpSpPr>
        <p:grpSpPr>
          <a:xfrm>
            <a:off x="6464618" y="1524000"/>
            <a:ext cx="5193982" cy="2896552"/>
            <a:chOff x="6464618" y="1524000"/>
            <a:chExt cx="5193982" cy="2896552"/>
          </a:xfrm>
        </p:grpSpPr>
        <p:sp>
          <p:nvSpPr>
            <p:cNvPr id="26" name="Rectangle 26"/>
            <p:cNvSpPr/>
            <p:nvPr/>
          </p:nvSpPr>
          <p:spPr>
            <a:xfrm>
              <a:off x="6464618" y="1524000"/>
              <a:ext cx="5193982" cy="2896552"/>
            </a:xfrm>
            <a:prstGeom prst="roundRect">
              <a:avLst>
                <a:gd name="adj" fmla="val 46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474142" y="1657350"/>
              <a:ext cx="47625" cy="262985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689408" y="1710690"/>
              <a:ext cx="713422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774654" y="1743551"/>
              <a:ext cx="5438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 1.1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10272" y="174593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有效数字与相对误差的换算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82549" y="2071688"/>
              <a:ext cx="17220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x* 有 n 位有效数字 ⇒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formula22"/>
                <p:cNvSpPr txBox="1">
                  <a:spLocks noGrp="1"/>
                </p:cNvSpPr>
                <p:nvPr/>
              </p:nvSpPr>
              <p:spPr>
                <a:xfrm>
                  <a:off x="6689408" y="2349818"/>
                  <a:ext cx="4782502" cy="59150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Sup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b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r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bSup>
                          </m:e>
                        </m:d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f>
                          <m:fPr>
                            <m:type m:val="bar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  <m:sSub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α</m:t>
                                </m:r>
                              </m:e>
                              <m:sub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sSup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3" name="TextBox 33"/>
            <p:cNvSpPr txBox="1"/>
            <p:nvPr/>
          </p:nvSpPr>
          <p:spPr>
            <a:xfrm>
              <a:off x="6682549" y="304704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反之，若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formula23"/>
                <p:cNvSpPr txBox="1">
                  <a:spLocks noGrp="1"/>
                </p:cNvSpPr>
                <p:nvPr/>
              </p:nvSpPr>
              <p:spPr>
                <a:xfrm>
                  <a:off x="6689408" y="3325178"/>
                  <a:ext cx="4782502" cy="59150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Sup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b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r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bSup>
                          </m:e>
                        </m:d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f>
                          <m:fPr>
                            <m:type m:val="bar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α</m:t>
                                    </m:r>
                                  </m:e>
                                  <m:sub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</m:den>
                        </m:f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sSup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5" name="TextBox 35"/>
            <p:cNvSpPr txBox="1"/>
            <p:nvPr/>
          </p:nvSpPr>
          <p:spPr>
            <a:xfrm>
              <a:off x="6682549" y="4022408"/>
              <a:ext cx="23490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则 x* 至少有 n 位有效数字。</a:t>
              </a:r>
            </a:p>
          </p:txBody>
        </p:sp>
      </p:grpSp>
      <p:grpSp>
        <p:nvGrpSpPr>
          <p:cNvPr id="43" name="c2-callout-2"/>
          <p:cNvGrpSpPr/>
          <p:nvPr/>
        </p:nvGrpSpPr>
        <p:grpSpPr>
          <a:xfrm>
            <a:off x="6464618" y="4590098"/>
            <a:ext cx="5193982" cy="978218"/>
            <a:chOff x="6464618" y="4590098"/>
            <a:chExt cx="5193982" cy="978218"/>
          </a:xfrm>
        </p:grpSpPr>
        <p:sp>
          <p:nvSpPr>
            <p:cNvPr id="37" name="Rectangle 37"/>
            <p:cNvSpPr/>
            <p:nvPr/>
          </p:nvSpPr>
          <p:spPr>
            <a:xfrm>
              <a:off x="6464618" y="4590098"/>
              <a:ext cx="5193982" cy="978218"/>
            </a:xfrm>
            <a:prstGeom prst="roundRect">
              <a:avLst>
                <a:gd name="adj" fmla="val 1168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6669405" y="4979670"/>
              <a:ext cx="200026" cy="200025"/>
              <a:chOff x="6669405" y="4979670"/>
              <a:chExt cx="200026" cy="200025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6669405" y="497967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709144" y="502412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743859" y="513524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6972110" y="4736782"/>
              <a:ext cx="409422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四舍五入得到的数，末位的半个单位就是误差限。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0.0450 = 0.450×10⁻¹，误差限 0.5×10⁻⁴，有 3 位有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效数字（末尾的 0 也算）。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1652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计算方法 总复习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02298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8495" y="407194"/>
              <a:ext cx="8127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第一章 绪论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浮点运算避开几个坑，误差按微分规律传播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table-1"/>
          <p:cNvGrpSpPr/>
          <p:nvPr/>
        </p:nvGrpSpPr>
        <p:grpSpPr>
          <a:xfrm>
            <a:off x="533400" y="1524000"/>
            <a:ext cx="5951220" cy="3187065"/>
            <a:chOff x="533400" y="1524000"/>
            <a:chExt cx="5951220" cy="31870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42481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96708" y="16525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注意事项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434825" y="1652588"/>
              <a:ext cx="19333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例子（4 位十进制浮点数）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5889" y="218313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避免大数吃小数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420874" y="2076450"/>
              <a:ext cx="357835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0.1000×10⁵ + 0.4 的结果仍是 0.1000×10⁵；许多小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数要先相加再加到大数上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58127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586038"/>
              <a:ext cx="5951220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5889" y="282130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避免相近数相减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420874" y="2714625"/>
              <a:ext cx="33649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x² − 62x + 1 = 0：x₂ = 31 − √960 = 31 − 30.98 =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0.02，只剩 1 位有效数字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21945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5889" y="345948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改写公式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420874" y="3352800"/>
              <a:ext cx="350215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x₂ = 1/(31 + √960) = 1/61.98 = 0.01613，精确值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0.016133…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85667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861435"/>
              <a:ext cx="595122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5889" y="3990022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避免小数作除数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420874" y="3990022"/>
              <a:ext cx="3727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分母的一点误差会被放大，商的绝对值过大甚至溢出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28148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5889" y="4414838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减少运算次数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420874" y="4414838"/>
              <a:ext cx="37438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多项式求值用嵌套形式 (…(aₙx + aₙ₋₁)x + …)x + a₀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1524000"/>
              <a:ext cx="5951220" cy="318706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2313622" y="1524000"/>
              <a:ext cx="9525" cy="31870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5" name="c1-callout-2"/>
          <p:cNvGrpSpPr/>
          <p:nvPr/>
        </p:nvGrpSpPr>
        <p:grpSpPr>
          <a:xfrm>
            <a:off x="533400" y="4891088"/>
            <a:ext cx="5951220" cy="1018222"/>
            <a:chOff x="533400" y="4891088"/>
            <a:chExt cx="5951220" cy="1018222"/>
          </a:xfrm>
        </p:grpSpPr>
        <p:sp>
          <p:nvSpPr>
            <p:cNvPr id="29" name="Rectangle 29"/>
            <p:cNvSpPr/>
            <p:nvPr/>
          </p:nvSpPr>
          <p:spPr>
            <a:xfrm>
              <a:off x="533400" y="4891088"/>
              <a:ext cx="5951220" cy="1018222"/>
            </a:xfrm>
            <a:prstGeom prst="roundRect">
              <a:avLst>
                <a:gd name="adj" fmla="val 1122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38188" y="5300663"/>
              <a:ext cx="200026" cy="200026"/>
              <a:chOff x="738188" y="5300663"/>
              <a:chExt cx="200026" cy="200026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38188" y="530066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38200" y="536733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27088" y="540067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040511" y="5038249"/>
              <a:ext cx="4874641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嵌套求值例：p(x) = 2x³ − 3x² + x − 5，p(2) = ((2×2 −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3)×2 + 1)×2 − 5 = 1。n 次多项式只需 n 次乘法，逐项计算约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 n(n + 1)/2 次。</a:t>
              </a:r>
            </a:p>
          </p:txBody>
        </p:sp>
      </p:grpSp>
      <p:grpSp>
        <p:nvGrpSpPr>
          <p:cNvPr id="46" name="c2-card-1"/>
          <p:cNvGrpSpPr/>
          <p:nvPr/>
        </p:nvGrpSpPr>
        <p:grpSpPr>
          <a:xfrm>
            <a:off x="6789420" y="1524000"/>
            <a:ext cx="4869180" cy="3392805"/>
            <a:chOff x="6789420" y="1524000"/>
            <a:chExt cx="4869180" cy="3392805"/>
          </a:xfrm>
        </p:grpSpPr>
        <p:sp>
          <p:nvSpPr>
            <p:cNvPr id="36" name="Rectangle 36"/>
            <p:cNvSpPr/>
            <p:nvPr/>
          </p:nvSpPr>
          <p:spPr>
            <a:xfrm>
              <a:off x="6789420" y="1524000"/>
              <a:ext cx="4869180" cy="3392805"/>
            </a:xfrm>
            <a:prstGeom prst="roundRect">
              <a:avLst>
                <a:gd name="adj" fmla="val 39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798945" y="1657350"/>
              <a:ext cx="47625" cy="312610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025640" y="172212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109079" y="17564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误差传播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875651" y="1756886"/>
              <a:ext cx="197482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把误差看成微分 e = dx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" name="formula32"/>
                <p:cNvSpPr txBox="1">
                  <a:spLocks noGrp="1"/>
                </p:cNvSpPr>
                <p:nvPr/>
              </p:nvSpPr>
              <p:spPr>
                <a:xfrm>
                  <a:off x="7025640" y="2077402"/>
                  <a:ext cx="4434840" cy="45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±</m:t>
                            </m:r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±</m:t>
                        </m:r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formula33"/>
                <p:cNvSpPr txBox="1">
                  <a:spLocks noGrp="1"/>
                </p:cNvSpPr>
                <p:nvPr/>
              </p:nvSpPr>
              <p:spPr>
                <a:xfrm>
                  <a:off x="7025640" y="2624138"/>
                  <a:ext cx="4434840" cy="3238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≈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y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b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≈</m:t>
                        </m:r>
                        <m:sSub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b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3" name="formula34"/>
                <p:cNvSpPr txBox="1">
                  <a:spLocks noGrp="1"/>
                </p:cNvSpPr>
                <p:nvPr/>
              </p:nvSpPr>
              <p:spPr>
                <a:xfrm>
                  <a:off x="7025640" y="3037522"/>
                  <a:ext cx="4434840" cy="6172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b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num>
                              <m:den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≈</m:t>
                        </m:r>
                        <m:sSub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b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sSub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b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" name="formula35"/>
                <p:cNvSpPr txBox="1">
                  <a:spLocks noGrp="1"/>
                </p:cNvSpPr>
                <p:nvPr/>
              </p:nvSpPr>
              <p:spPr>
                <a:xfrm>
                  <a:off x="7025640" y="3744278"/>
                  <a:ext cx="4434840" cy="45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*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≈</m:t>
                        </m:r>
                        <m:sSup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p>
                          </m:e>
                        </m:d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5" name="TextBox 45"/>
            <p:cNvSpPr txBox="1"/>
            <p:nvPr/>
          </p:nvSpPr>
          <p:spPr>
            <a:xfrm>
              <a:off x="7019544" y="4311015"/>
              <a:ext cx="41269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乘除时相对误差相加减；函数值的误差约等于导数乘自变量的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误差。</a:t>
              </a:r>
            </a:p>
          </p:txBody>
        </p:sp>
      </p:grpSp>
      <p:grpSp>
        <p:nvGrpSpPr>
          <p:cNvPr id="53" name="c2-callout-2"/>
          <p:cNvGrpSpPr/>
          <p:nvPr/>
        </p:nvGrpSpPr>
        <p:grpSpPr>
          <a:xfrm>
            <a:off x="6789420" y="5097780"/>
            <a:ext cx="4869180" cy="1018222"/>
            <a:chOff x="6789420" y="5097780"/>
            <a:chExt cx="4869180" cy="1018222"/>
          </a:xfrm>
        </p:grpSpPr>
        <p:sp>
          <p:nvSpPr>
            <p:cNvPr id="47" name="Rectangle 47"/>
            <p:cNvSpPr/>
            <p:nvPr/>
          </p:nvSpPr>
          <p:spPr>
            <a:xfrm>
              <a:off x="6789420" y="5097780"/>
              <a:ext cx="4869180" cy="1018222"/>
            </a:xfrm>
            <a:prstGeom prst="roundRect">
              <a:avLst>
                <a:gd name="adj" fmla="val 1122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6994208" y="5506403"/>
              <a:ext cx="200026" cy="200025"/>
              <a:chOff x="6994208" y="5506403"/>
              <a:chExt cx="200026" cy="200025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6994208" y="550640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033946" y="555085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7068662" y="566197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7296531" y="5244941"/>
              <a:ext cx="3972941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例：x* = 2.00，y* = 3.00，误差限都是 0.005。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|eᵣ(xy)| ≤ 0.005/2 + 0.005/3 ≈ 0.42%，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|e(xy)| ≤ 3×0.005 + 2×0.005 = 0.025。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1652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计算方法 总复习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02298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8495" y="407194"/>
              <a:ext cx="8127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第一章 绪论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算法稳定性：同一个递推式，正着算发散，倒着算稳定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4977765" cy="3276600"/>
            <a:chOff x="533400" y="1524000"/>
            <a:chExt cx="4977765" cy="32766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3276600"/>
            </a:xfrm>
            <a:prstGeom prst="roundRect">
              <a:avLst>
                <a:gd name="adj" fmla="val 40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00990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6160" y="176926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39202" y="1768792"/>
              <a:ext cx="22345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Iₙ = ∫₀¹ xⁿ/(x + 5) dx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37"/>
                <p:cNvSpPr txBox="1">
                  <a:spLocks noGrp="1"/>
                </p:cNvSpPr>
                <p:nvPr/>
              </p:nvSpPr>
              <p:spPr>
                <a:xfrm>
                  <a:off x="781050" y="2105025"/>
                  <a:ext cx="4520565" cy="6934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e>
                          <m:sub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5</m:t>
                        </m:r>
                        <m:sSub>
                          <m:e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e>
                          <m:sub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  <m:sup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  <m:e>
                            <m:sSup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dx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Ellipse 13"/>
            <p:cNvSpPr/>
            <p:nvPr/>
          </p:nvSpPr>
          <p:spPr>
            <a:xfrm>
              <a:off x="786765" y="298132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918460"/>
              <a:ext cx="39871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正推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Iₙ = 1/n − 5Iₙ₋₁，从 I₀ = ln1.2 ≈ 0.1823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出发：误差每步乘 −5，n 步后放大 5ⁿ 倍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60235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539490"/>
              <a:ext cx="4044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倒推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Iₙ₋₁ = (1/n − Iₙ)/5，从粗估 I₈ ≈ (1/54 +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1/45)/2 = 0.02037 出发：误差每步缩小为 1/5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4573" y="4157186"/>
              <a:ext cx="378434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粗估依据：x + 5 在 5 与 6 之间，1/(6(n+1)) &lt; Iₙ &lt;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1/(5(n+1))。</a:t>
              </a:r>
            </a:p>
          </p:txBody>
        </p:sp>
      </p:grpSp>
      <p:grpSp>
        <p:nvGrpSpPr>
          <p:cNvPr id="24" name="c1-callout-2"/>
          <p:cNvGrpSpPr/>
          <p:nvPr/>
        </p:nvGrpSpPr>
        <p:grpSpPr>
          <a:xfrm>
            <a:off x="533400" y="4991100"/>
            <a:ext cx="4977765" cy="782955"/>
            <a:chOff x="533400" y="4991100"/>
            <a:chExt cx="4977765" cy="782955"/>
          </a:xfrm>
        </p:grpSpPr>
        <p:sp>
          <p:nvSpPr>
            <p:cNvPr id="19" name="Rectangle 19"/>
            <p:cNvSpPr/>
            <p:nvPr/>
          </p:nvSpPr>
          <p:spPr>
            <a:xfrm>
              <a:off x="533400" y="4991100"/>
              <a:ext cx="4977765" cy="782955"/>
            </a:xfrm>
            <a:prstGeom prst="roundRect">
              <a:avLst>
                <a:gd name="adj" fmla="val 14599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38188" y="5282567"/>
              <a:ext cx="200023" cy="200023"/>
              <a:chOff x="738188" y="5282567"/>
              <a:chExt cx="200023" cy="200023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38188" y="528256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71538" y="534924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40130" y="5139690"/>
              <a:ext cx="4015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初始误差在计算过程中不增长的算法称为数值稳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定的。本例正推不稳定，倒推稳定。</a:t>
              </a:r>
            </a:p>
          </p:txBody>
        </p:sp>
      </p:grpSp>
      <p:grpSp>
        <p:nvGrpSpPr>
          <p:cNvPr id="90" name="c2-table-1"/>
          <p:cNvGrpSpPr/>
          <p:nvPr/>
        </p:nvGrpSpPr>
        <p:grpSpPr>
          <a:xfrm>
            <a:off x="5810250" y="1524000"/>
            <a:ext cx="5848350" cy="4783932"/>
            <a:chOff x="5810250" y="1524000"/>
            <a:chExt cx="5848350" cy="4783932"/>
          </a:xfrm>
        </p:grpSpPr>
        <p:sp>
          <p:nvSpPr>
            <p:cNvPr id="25" name="Rectangle 25"/>
            <p:cNvSpPr/>
            <p:nvPr/>
          </p:nvSpPr>
          <p:spPr>
            <a:xfrm>
              <a:off x="5815965" y="1524000"/>
              <a:ext cx="5842635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191215" y="16597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175983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精确值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551739" y="1659731"/>
              <a:ext cx="10283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正推（4 位）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280527" y="1659731"/>
              <a:ext cx="10283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倒推（4 位）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191215" y="210835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055363" y="2108359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0.182322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775101" y="2108359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0.1823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9939338" y="1982152"/>
              <a:ext cx="1709738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503888" y="2108359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0.1823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815965" y="241649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815965" y="2421255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191215" y="25569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055363" y="2556986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0.088392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775101" y="2556986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0.0885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9939338" y="2430780"/>
              <a:ext cx="1709738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456502" y="2556986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0.08839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815965" y="286607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191215" y="300561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055363" y="3005614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0.058039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775101" y="3005614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0.0575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9939338" y="2880360"/>
              <a:ext cx="1709738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0456502" y="3005614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0.05804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815965" y="331470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5815965" y="3319462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191215" y="34542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055363" y="3454241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0.043139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727714" y="3454241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0.04583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9939338" y="3328988"/>
              <a:ext cx="1709738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0456502" y="3454241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0.04314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815965" y="376332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191215" y="390382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055363" y="3903821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0.034306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727714" y="3903821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0.02085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456502" y="3903821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0.03431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5815965" y="421195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5815965" y="4216718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191215" y="435244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055363" y="4352449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0.028468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727714" y="4352449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0.09575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456502" y="4352449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0.02846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5815965" y="466058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191215" y="480107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055363" y="4801076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0.024325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8211502" y="4674870"/>
              <a:ext cx="1709738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8727714" y="4801076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−0.3121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456502" y="4801076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0.02439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5815965" y="511016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5815965" y="5114925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191215" y="524970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055363" y="5249704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0.021233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8211502" y="5124450"/>
              <a:ext cx="1709738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8822487" y="5249704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1.703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0456502" y="5249704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0.02093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5815965" y="55587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191215" y="56983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055363" y="5698331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0.018837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8211502" y="5573078"/>
              <a:ext cx="1709738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8822487" y="5698331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−8.39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0456502" y="5698331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0.02037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5815965" y="1524000"/>
              <a:ext cx="5842635" cy="44881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6" name="Rectangle 86"/>
            <p:cNvSpPr/>
            <p:nvPr/>
          </p:nvSpPr>
          <p:spPr>
            <a:xfrm>
              <a:off x="6675120" y="1524000"/>
              <a:ext cx="9525" cy="44881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8197215" y="1524000"/>
              <a:ext cx="9525" cy="44881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9925050" y="1524000"/>
              <a:ext cx="9525" cy="44881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5810250" y="6087904"/>
              <a:ext cx="43683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Iₙ 应为正数且随 n 递减；正推到 I₆ 已出现负数，倒推越往前越准</a:t>
              </a:r>
            </a:p>
          </p:txBody>
        </p:sp>
      </p:grpSp>
      <p:grpSp>
        <p:nvGrpSpPr>
          <p:cNvPr id="9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1" name="TextBox 91"/>
            <p:cNvSpPr txBox="1"/>
            <p:nvPr/>
          </p:nvSpPr>
          <p:spPr>
            <a:xfrm>
              <a:off x="528447" y="6581299"/>
              <a:ext cx="1652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计算方法 总复习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02298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8495" y="407194"/>
              <a:ext cx="8127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第一章 绪论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典型题：有效数字位数、所需位数与面积的误差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table-1"/>
          <p:cNvGrpSpPr/>
          <p:nvPr/>
        </p:nvGrpSpPr>
        <p:grpSpPr>
          <a:xfrm>
            <a:off x="528447" y="1524000"/>
            <a:ext cx="5631371" cy="1863756"/>
            <a:chOff x="528447" y="1524000"/>
            <a:chExt cx="5631371" cy="1863756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57833" y="16454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近似值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409423" y="1645444"/>
              <a:ext cx="5496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|x* − x|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233429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有效数字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0555" y="2045494"/>
              <a:ext cx="8029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π ≈ 3.1416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543175" y="2045494"/>
              <a:ext cx="15945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7.35×10⁻⁶ ≤ 0.5×10⁻⁴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019675" y="2045494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位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1933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24100"/>
              <a:ext cx="562641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0555" y="2445544"/>
              <a:ext cx="15074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π ≈ 22/7 = 3.142857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543175" y="2445544"/>
              <a:ext cx="15945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1.26×10⁻³ ≤ 0.5×10⁻²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019675" y="2445544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位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71938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0555" y="2845594"/>
              <a:ext cx="8029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≈ 2.7183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543175" y="2845594"/>
              <a:ext cx="15945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1.82×10⁻⁵ ≤ 0.5×10⁻⁴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19675" y="2845594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位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5626418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441258" y="152400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4917758" y="152400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28447" y="3197066"/>
              <a:ext cx="36379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三个数都是 0.…×10¹，m = 1；由 m − n 等于误差限的指数得 n</a:t>
              </a:r>
            </a:p>
          </p:txBody>
        </p:sp>
      </p:grpSp>
      <p:grpSp>
        <p:nvGrpSpPr>
          <p:cNvPr id="48" name="c1-table-2"/>
          <p:cNvGrpSpPr/>
          <p:nvPr/>
        </p:nvGrpSpPr>
        <p:grpSpPr>
          <a:xfrm>
            <a:off x="528447" y="3519488"/>
            <a:ext cx="5631371" cy="1464658"/>
            <a:chOff x="528447" y="3519488"/>
            <a:chExt cx="5631371" cy="1464658"/>
          </a:xfrm>
        </p:grpSpPr>
        <p:sp>
          <p:nvSpPr>
            <p:cNvPr id="28" name="Rectangle 28"/>
            <p:cNvSpPr/>
            <p:nvPr/>
          </p:nvSpPr>
          <p:spPr>
            <a:xfrm>
              <a:off x="533400" y="3519488"/>
              <a:ext cx="5626418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13549" y="364093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四舍五入得到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299729" y="36409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有效数字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525407" y="3640931"/>
              <a:ext cx="6853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误差限 ε*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810329" y="3640931"/>
              <a:ext cx="10740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相对误差限 εᵣ*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30555" y="4040981"/>
              <a:ext cx="5338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0.0450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107882" y="4040981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位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300412" y="4040981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0.5×10⁻⁴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631055" y="4040981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1.11×10⁻³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31482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33400" y="4319588"/>
              <a:ext cx="562641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0555" y="4441031"/>
              <a:ext cx="5338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123.40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107882" y="4441031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位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300412" y="4441031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0.5×10⁻²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631055" y="4441031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4.05×10⁻⁵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3519488"/>
              <a:ext cx="5626418" cy="12001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2005965" y="3519488"/>
              <a:ext cx="9525" cy="1200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3198495" y="3519488"/>
              <a:ext cx="9525" cy="1200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4529138" y="3519488"/>
              <a:ext cx="9525" cy="1200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28447" y="4793456"/>
              <a:ext cx="8212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εᵣ* = ε*/|x*|</a:t>
              </a:r>
            </a:p>
          </p:txBody>
        </p:sp>
      </p:grpSp>
      <p:grpSp>
        <p:nvGrpSpPr>
          <p:cNvPr id="55" name="c1-callout-3"/>
          <p:cNvGrpSpPr/>
          <p:nvPr/>
        </p:nvGrpSpPr>
        <p:grpSpPr>
          <a:xfrm>
            <a:off x="533400" y="5114925"/>
            <a:ext cx="5626418" cy="978218"/>
            <a:chOff x="533400" y="5114925"/>
            <a:chExt cx="5626418" cy="978218"/>
          </a:xfrm>
        </p:grpSpPr>
        <p:sp>
          <p:nvSpPr>
            <p:cNvPr id="49" name="Rectangle 49"/>
            <p:cNvSpPr/>
            <p:nvPr/>
          </p:nvSpPr>
          <p:spPr>
            <a:xfrm>
              <a:off x="533400" y="5114925"/>
              <a:ext cx="5626418" cy="978218"/>
            </a:xfrm>
            <a:prstGeom prst="roundRect">
              <a:avLst>
                <a:gd name="adj" fmla="val 1168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38188" y="5504498"/>
              <a:ext cx="200026" cy="200025"/>
              <a:chOff x="738188" y="5504498"/>
              <a:chExt cx="200026" cy="200025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738188" y="550449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77926" y="554894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12642" y="566007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0892" y="5261610"/>
              <a:ext cx="467715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用定理 1.1 核对：0.0450 的 α₁ = 4、n = 3，相对误差限不超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过 10⁻²/(2×4) = 1.25×10⁻³；123.40 的 α₁ = 1、n = 5，不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超过 10⁻⁴/2 = 5×10⁻⁵。都不小于表中的值。</a:t>
              </a:r>
            </a:p>
          </p:txBody>
        </p:sp>
      </p:grpSp>
      <p:grpSp>
        <p:nvGrpSpPr>
          <p:cNvPr id="64" name="c2-card-1"/>
          <p:cNvGrpSpPr/>
          <p:nvPr/>
        </p:nvGrpSpPr>
        <p:grpSpPr>
          <a:xfrm>
            <a:off x="6464618" y="1524000"/>
            <a:ext cx="5193982" cy="2178368"/>
            <a:chOff x="6464618" y="1524000"/>
            <a:chExt cx="5193982" cy="2178368"/>
          </a:xfrm>
        </p:grpSpPr>
        <p:sp>
          <p:nvSpPr>
            <p:cNvPr id="56" name="Rectangle 56"/>
            <p:cNvSpPr/>
            <p:nvPr/>
          </p:nvSpPr>
          <p:spPr>
            <a:xfrm>
              <a:off x="6464618" y="1524000"/>
              <a:ext cx="5193982" cy="2178368"/>
            </a:xfrm>
            <a:prstGeom prst="roundRect">
              <a:avLst>
                <a:gd name="adj" fmla="val 612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6474142" y="1657350"/>
              <a:ext cx="47625" cy="191166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689408" y="1710690"/>
              <a:ext cx="120491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759677" y="1743551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需要几位有效数字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002714" y="1745932"/>
              <a:ext cx="3139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 √20 的近似值相对误差不超过 0.1%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682549" y="2071688"/>
              <a:ext cx="36302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√20 = 4.47…，首位 α₁ = 4，由定理 1.1 只需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2" name="formula41"/>
                <p:cNvSpPr txBox="1">
                  <a:spLocks noGrp="1"/>
                </p:cNvSpPr>
                <p:nvPr/>
              </p:nvSpPr>
              <p:spPr>
                <a:xfrm>
                  <a:off x="6689408" y="2349818"/>
                  <a:ext cx="4782502" cy="59150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>
                          <m:fPr>
                            <m:type m:val="bar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×</m:t>
                            </m:r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sSup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</m:sup>
                        </m:sSup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sSup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63" name="TextBox 63"/>
            <p:cNvSpPr txBox="1"/>
            <p:nvPr/>
          </p:nvSpPr>
          <p:spPr>
            <a:xfrm>
              <a:off x="6682549" y="3047048"/>
              <a:ext cx="350272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3 时左边为 1.25×10⁻³，不够；n = 4 时为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1.25×10⁻⁴。取 </a:t>
              </a: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位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，√20 ≈ 4.472。</a:t>
              </a:r>
            </a:p>
          </p:txBody>
        </p:sp>
      </p:grpSp>
      <p:grpSp>
        <p:nvGrpSpPr>
          <p:cNvPr id="74" name="c2-card-2"/>
          <p:cNvGrpSpPr/>
          <p:nvPr/>
        </p:nvGrpSpPr>
        <p:grpSpPr>
          <a:xfrm>
            <a:off x="6464618" y="3871912"/>
            <a:ext cx="5193982" cy="2291715"/>
            <a:chOff x="6464618" y="3871912"/>
            <a:chExt cx="5193982" cy="2291715"/>
          </a:xfrm>
        </p:grpSpPr>
        <p:sp>
          <p:nvSpPr>
            <p:cNvPr id="65" name="Rectangle 65"/>
            <p:cNvSpPr/>
            <p:nvPr/>
          </p:nvSpPr>
          <p:spPr>
            <a:xfrm>
              <a:off x="6464618" y="3871912"/>
              <a:ext cx="5193982" cy="2291715"/>
            </a:xfrm>
            <a:prstGeom prst="roundRect">
              <a:avLst>
                <a:gd name="adj" fmla="val 58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6474142" y="4005262"/>
              <a:ext cx="47625" cy="202501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6689408" y="4058602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774929" y="409146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误差传播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682549" y="4402455"/>
              <a:ext cx="4474416" cy="4954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22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半径 r* = 2.00 cm（误差限 0.005），求面积 S = πr² 的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误差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6697980" y="5007292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853999" y="4951095"/>
              <a:ext cx="328841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相对误差：eᵣ(S) ≈ 2eᵣ(r)，|eᵣ(S)| ≤ 2 ×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0.005/2.00 = 0.5%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6697980" y="5564505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853999" y="5508308"/>
              <a:ext cx="39570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绝对误差：e(S) ≈ 2πr·e(r)，|e(S)| ≤ 2π × 2.00 ×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0.005 ≈ 0.063 cm²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1652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计算方法 总复习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5F2EA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20" name="section-title"/>
          <p:cNvGrpSpPr/>
          <p:nvPr/>
        </p:nvGrpSpPr>
        <p:grpSpPr>
          <a:xfrm>
            <a:off x="667512" y="1835468"/>
            <a:ext cx="5135499" cy="3706177"/>
            <a:chOff x="667512" y="1835468"/>
            <a:chExt cx="5135499" cy="370617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第二章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8828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解线性方程组的数值法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1255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直接法经有限步得到解，迭代法从初值出发逐步逼近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高斯消去法：消元、回代、计算量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1679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矩阵三角分解：Doolittle 与 Crout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选主元消去法：列主元与全主元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向量、矩阵范数，谱半径与条件数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23900" y="530542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6780" y="5248275"/>
              <a:ext cx="42861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迭代法收敛定理，Jacobi 与 Gauss-Seidel 迭代</a:t>
              </a:r>
            </a:p>
          </p:txBody>
        </p:sp>
      </p:grpSp>
      <p:grpSp>
        <p:nvGrpSpPr>
          <p:cNvPr id="2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1" name="TextBox 21"/>
            <p:cNvSpPr txBox="1"/>
            <p:nvPr/>
          </p:nvSpPr>
          <p:spPr>
            <a:xfrm>
              <a:off x="528447" y="6581299"/>
              <a:ext cx="1652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计算方法 总复习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4970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5693" y="407194"/>
              <a:ext cx="12651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第二章 线性方程组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高斯消去法：消元化成上三角，再回代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6059805" cy="2689860"/>
            <a:chOff x="533400" y="1524000"/>
            <a:chExt cx="6059805" cy="268986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2689860"/>
            </a:xfrm>
            <a:prstGeom prst="roundRect">
              <a:avLst>
                <a:gd name="adj" fmla="val 495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42316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3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消元过程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65922" y="1768792"/>
              <a:ext cx="17432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= 1, 2, …, n − 1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52730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主元 aₖₖ⁽ᵏ⁾ ≠ 0 时，对 i = k + 1, …, n 计算乘数，第 i 行减去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k 行的 mᵢₖ 倍：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46"/>
                <p:cNvSpPr txBox="1">
                  <a:spLocks noGrp="1"/>
                </p:cNvSpPr>
                <p:nvPr/>
              </p:nvSpPr>
              <p:spPr>
                <a:xfrm>
                  <a:off x="781050" y="2726055"/>
                  <a:ext cx="5602605" cy="66865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e>
                          <m:sub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ik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Sup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ik</m:t>
                                </m:r>
                              </m:sub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e>
                                </m:d>
                              </m:sup>
                            </m:sSubSup>
                          </m:num>
                          <m:den>
                            <m:sSubSup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kk</m:t>
                                </m:r>
                              </m:sub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e>
                                </m:d>
                              </m:sup>
                            </m:sSubSup>
                          </m:den>
                        </m:f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bSup>
                          <m:e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b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ij</m:t>
                            </m:r>
                          </m:sub>
                          <m: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</m:sup>
                        </m:sSubSup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Sup>
                          <m:e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b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ij</m:t>
                            </m:r>
                          </m:sub>
                          <m: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e>
                            </m:d>
                          </m:sup>
                        </m:sSubSup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sSub>
                          <m:e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e>
                          <m:sub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ik</m:t>
                            </m:r>
                          </m:sub>
                        </m:sSub>
                        <m:sSubSup>
                          <m:e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b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kj</m:t>
                            </m:r>
                          </m:sub>
                          <m: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e>
                            </m:d>
                          </m:sup>
                        </m:sSubSup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formula47"/>
                <p:cNvSpPr txBox="1">
                  <a:spLocks noGrp="1"/>
                </p:cNvSpPr>
                <p:nvPr/>
              </p:nvSpPr>
              <p:spPr>
                <a:xfrm>
                  <a:off x="781050" y="3489960"/>
                  <a:ext cx="5602605" cy="495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Sup>
                          <m:e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  <m:sub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  <m: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</m:sup>
                        </m:sSubSup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Sup>
                          <m:e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  <m:sub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  <m: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e>
                            </m:d>
                          </m:sup>
                        </m:sSubSup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sSub>
                          <m:e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e>
                          <m:sub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ik</m:t>
                            </m:r>
                          </m:sub>
                        </m:sSub>
                        <m:sSubSup>
                          <m:e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  <m:sub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b>
                          <m: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e>
                            </m:d>
                          </m:sup>
                        </m:sSubSup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j</m:t>
                        </m:r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</m:t>
                        </m:r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,⋯,</m:t>
                        </m:r>
                        <m: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2" name="c1-card-2"/>
          <p:cNvGrpSpPr/>
          <p:nvPr/>
        </p:nvGrpSpPr>
        <p:grpSpPr>
          <a:xfrm>
            <a:off x="533400" y="4404360"/>
            <a:ext cx="6059805" cy="1953578"/>
            <a:chOff x="533400" y="4404360"/>
            <a:chExt cx="6059805" cy="1953578"/>
          </a:xfrm>
        </p:grpSpPr>
        <p:sp>
          <p:nvSpPr>
            <p:cNvPr id="16" name="Rectangle 16"/>
            <p:cNvSpPr/>
            <p:nvPr/>
          </p:nvSpPr>
          <p:spPr>
            <a:xfrm>
              <a:off x="533400" y="4404360"/>
              <a:ext cx="6059805" cy="1953578"/>
            </a:xfrm>
            <a:prstGeom prst="roundRect">
              <a:avLst>
                <a:gd name="adj" fmla="val 68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4537710"/>
              <a:ext cx="47625" cy="1686878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81050" y="461391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63359" y="464962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回代过程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formula48"/>
                <p:cNvSpPr txBox="1">
                  <a:spLocks noGrp="1"/>
                </p:cNvSpPr>
                <p:nvPr/>
              </p:nvSpPr>
              <p:spPr>
                <a:xfrm>
                  <a:off x="781050" y="4966335"/>
                  <a:ext cx="5602605" cy="8667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b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Sup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e>
                              <m:sub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</m:d>
                              </m:sup>
                            </m:sSubSup>
                          </m:num>
                          <m:den>
                            <m:sSubSup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nn</m:t>
                                </m:r>
                              </m:sub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</m:d>
                              </m:sup>
                            </m:sSubSup>
                          </m:den>
                        </m:f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b>
                          <m:e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b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sSubSup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ii</m:t>
                                </m:r>
                              </m:sub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e>
                                </m:d>
                              </m:sup>
                            </m:sSubSup>
                          </m:den>
                        </m:f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Sup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e>
                              <m:sub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e>
                                </m:d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  <m:e>
                                <m:sSubSup>
                                  <m:e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ij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9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9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e>
                                    </m:d>
                                  </m:sup>
                                </m:sSubSup>
                                <m:sSub>
                                  <m:e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1" name="TextBox 21"/>
            <p:cNvSpPr txBox="1"/>
            <p:nvPr/>
          </p:nvSpPr>
          <p:spPr>
            <a:xfrm>
              <a:off x="774573" y="5949791"/>
              <a:ext cx="36143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i = n − 1, …, 2, 1，从最后一个未知量往前求。</a:t>
              </a:r>
            </a:p>
          </p:txBody>
        </p:sp>
      </p:grpSp>
      <p:grpSp>
        <p:nvGrpSpPr>
          <p:cNvPr id="29" name="c2-card-1"/>
          <p:cNvGrpSpPr/>
          <p:nvPr/>
        </p:nvGrpSpPr>
        <p:grpSpPr>
          <a:xfrm>
            <a:off x="6898005" y="1524000"/>
            <a:ext cx="4760595" cy="1847850"/>
            <a:chOff x="6898005" y="1524000"/>
            <a:chExt cx="4760595" cy="1847850"/>
          </a:xfrm>
        </p:grpSpPr>
        <p:sp>
          <p:nvSpPr>
            <p:cNvPr id="23" name="Rectangle 23"/>
            <p:cNvSpPr/>
            <p:nvPr/>
          </p:nvSpPr>
          <p:spPr>
            <a:xfrm>
              <a:off x="6898005" y="1524000"/>
              <a:ext cx="4760595" cy="1847850"/>
            </a:xfrm>
            <a:prstGeom prst="roundRect">
              <a:avLst>
                <a:gd name="adj" fmla="val 72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907530" y="1657350"/>
              <a:ext cx="47625" cy="158115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145655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223061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能否做到底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138035" y="2110740"/>
              <a:ext cx="36823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所有主元 aₖₖ⁽ᵏ⁾ ≠ 0 ⇔ A 的顺序主子式 D₁,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D₂, …, Dₙ₋₁ 都不为 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139178" y="2728436"/>
              <a:ext cx="405257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 非奇异也可能在中途遇到零主元，这时要换行，见选主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元消去法。</a:t>
              </a:r>
            </a:p>
          </p:txBody>
        </p:sp>
      </p:grpSp>
      <p:grpSp>
        <p:nvGrpSpPr>
          <p:cNvPr id="40" name="c2-card-2"/>
          <p:cNvGrpSpPr/>
          <p:nvPr/>
        </p:nvGrpSpPr>
        <p:grpSpPr>
          <a:xfrm>
            <a:off x="6898005" y="3562350"/>
            <a:ext cx="4760595" cy="2795588"/>
            <a:chOff x="6898005" y="3562350"/>
            <a:chExt cx="4760595" cy="2795588"/>
          </a:xfrm>
        </p:grpSpPr>
        <p:sp>
          <p:nvSpPr>
            <p:cNvPr id="30" name="Rectangle 30"/>
            <p:cNvSpPr/>
            <p:nvPr/>
          </p:nvSpPr>
          <p:spPr>
            <a:xfrm>
              <a:off x="6898005" y="3562350"/>
              <a:ext cx="4760595" cy="2795588"/>
            </a:xfrm>
            <a:prstGeom prst="roundRect">
              <a:avLst>
                <a:gd name="adj" fmla="val 47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907530" y="3695700"/>
              <a:ext cx="47625" cy="252888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45655" y="3771900"/>
              <a:ext cx="163163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201408" y="3807619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计算量（乘除法次数）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7151370" y="421195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309485" y="4149090"/>
              <a:ext cx="24182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消元：n³/3 + n²/2 − 5n/6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7151370" y="454723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309485" y="448437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回代：n(n + 1)/2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formula49"/>
                <p:cNvSpPr txBox="1">
                  <a:spLocks noGrp="1"/>
                </p:cNvSpPr>
                <p:nvPr/>
              </p:nvSpPr>
              <p:spPr>
                <a:xfrm>
                  <a:off x="7145655" y="4794885"/>
                  <a:ext cx="4303395" cy="66865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m:rPr>
                            <m:nor m:val="on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合计</m:t>
                        </m:r>
                        <m: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f>
                          <m:fPr>
                            <m:type m:val="bar"/>
                            <m:ctrl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p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p>
                          <m:e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e>
                          <m:sup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num>
                          <m:den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9" name="TextBox 39"/>
            <p:cNvSpPr txBox="1"/>
            <p:nvPr/>
          </p:nvSpPr>
          <p:spPr>
            <a:xfrm>
              <a:off x="7139178" y="5579269"/>
              <a:ext cx="414197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 = 20 时约 3060 次；用 Cramer 法则要算 21 个 20 阶行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列式，完全不可行。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581299"/>
              <a:ext cx="1652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计算方法 总复习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406369" cy="909257"/>
            <a:chOff x="520446" y="342900"/>
            <a:chExt cx="840636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4970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5693" y="407194"/>
              <a:ext cx="12651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第二章 线性方程组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40636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Doolittle 分解 A = LU：U 的一行与 L 的一列交替计算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951220" cy="2924175"/>
            <a:chOff x="533400" y="1524000"/>
            <a:chExt cx="5951220" cy="29241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2924175"/>
            </a:xfrm>
            <a:prstGeom prst="roundRect">
              <a:avLst>
                <a:gd name="adj" fmla="val 456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65747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165860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9046" y="1769269"/>
              <a:ext cx="1029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Doolittle 分解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53590" y="1768792"/>
              <a:ext cx="30211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 为单位下三角阵，U 为上三角阵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26504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k = 1, 2, …, n 依次计算：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53"/>
                <p:cNvSpPr txBox="1">
                  <a:spLocks noGrp="1"/>
                </p:cNvSpPr>
                <p:nvPr/>
              </p:nvSpPr>
              <p:spPr>
                <a:xfrm>
                  <a:off x="781050" y="2440305"/>
                  <a:ext cx="5494020" cy="81724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u</m:t>
                            </m:r>
                          </m:e>
                          <m:sub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kj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b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kj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  <m:r>
                              <m:rPr>
                                <m:sty m:val="p"/>
                              </m:r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  <m:e>
                            <m:sSub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</m:t>
                                </m:r>
                              </m:e>
                              <m:sub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kr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rj</m:t>
                                </m:r>
                              </m:sub>
                            </m:sSub>
                          </m:e>
                        </m:nary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j</m:t>
                        </m:r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</m:t>
                        </m:r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</m:t>
                        </m:r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,⋯,</m:t>
                        </m:r>
                        <m: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formula54"/>
                <p:cNvSpPr txBox="1">
                  <a:spLocks noGrp="1"/>
                </p:cNvSpPr>
                <p:nvPr/>
              </p:nvSpPr>
              <p:spPr>
                <a:xfrm>
                  <a:off x="781050" y="3352800"/>
                  <a:ext cx="5494020" cy="8667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</m:e>
                          <m:sub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ik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sSub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kk</m:t>
                                </m:r>
                              </m:sub>
                            </m:sSub>
                          </m:den>
                        </m:f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ik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r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p>
                              <m:e>
                                <m:sSub>
                                  <m:e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l</m:t>
                                    </m:r>
                                  </m:e>
                                  <m:sub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ir</m:t>
                                    </m:r>
                                  </m:sub>
                                </m:sSub>
                                <m:sSub>
                                  <m:e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u</m:t>
                                    </m:r>
                                  </m:e>
                                  <m:sub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rk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</m:t>
                        </m:r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,⋯,</m:t>
                        </m:r>
                        <m: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2" name="c1-card-2"/>
          <p:cNvGrpSpPr/>
          <p:nvPr/>
        </p:nvGrpSpPr>
        <p:grpSpPr>
          <a:xfrm>
            <a:off x="533400" y="4638675"/>
            <a:ext cx="5951220" cy="1676400"/>
            <a:chOff x="533400" y="4638675"/>
            <a:chExt cx="5951220" cy="1676400"/>
          </a:xfrm>
        </p:grpSpPr>
        <p:sp>
          <p:nvSpPr>
            <p:cNvPr id="16" name="Rectangle 16"/>
            <p:cNvSpPr/>
            <p:nvPr/>
          </p:nvSpPr>
          <p:spPr>
            <a:xfrm>
              <a:off x="533400" y="4638675"/>
              <a:ext cx="5951220" cy="1676400"/>
            </a:xfrm>
            <a:prstGeom prst="roundRect">
              <a:avLst>
                <a:gd name="adj" fmla="val 795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4772025"/>
              <a:ext cx="47625" cy="140970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81050" y="4848225"/>
              <a:ext cx="957262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52700" y="4883944"/>
              <a:ext cx="8130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求解 Ax = b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844992" y="4883468"/>
              <a:ext cx="35035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分成 Ly = b 与 Ux = y 两个三角方程组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formula55"/>
                <p:cNvSpPr txBox="1">
                  <a:spLocks noGrp="1"/>
                </p:cNvSpPr>
                <p:nvPr/>
              </p:nvSpPr>
              <p:spPr>
                <a:xfrm>
                  <a:off x="781050" y="5219700"/>
                  <a:ext cx="5494020" cy="8667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  <m:sub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  <m:sub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  <m:r>
                              <m:rPr>
                                <m:sty m:val="p"/>
                              </m:r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  <m:e>
                            <m:sSub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</m:t>
                                </m:r>
                              </m:e>
                              <m:sub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ij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sub>
                            </m:sSub>
                          </m:e>
                        </m:nary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b>
                          <m:e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b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sSub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ii</m:t>
                                </m:r>
                              </m:sub>
                            </m:sSub>
                          </m:den>
                        </m:f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  <m:e>
                                <m:sSub>
                                  <m:e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u</m:t>
                                    </m:r>
                                  </m:e>
                                  <m:sub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ij</m:t>
                                    </m:r>
                                  </m:sub>
                                </m:sSub>
                                <m:sSub>
                                  <m:e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41" name="c2-table-1"/>
          <p:cNvGrpSpPr/>
          <p:nvPr/>
        </p:nvGrpSpPr>
        <p:grpSpPr>
          <a:xfrm>
            <a:off x="6789420" y="1524000"/>
            <a:ext cx="4869180" cy="3150870"/>
            <a:chOff x="6789420" y="1524000"/>
            <a:chExt cx="4869180" cy="3150870"/>
          </a:xfrm>
        </p:grpSpPr>
        <p:sp>
          <p:nvSpPr>
            <p:cNvPr id="23" name="Rectangle 23"/>
            <p:cNvSpPr/>
            <p:nvPr/>
          </p:nvSpPr>
          <p:spPr>
            <a:xfrm>
              <a:off x="6789420" y="1524000"/>
              <a:ext cx="4869180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19451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项目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62910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897243" y="222170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存在唯一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065961" y="2108359"/>
              <a:ext cx="312597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的顺序主子式 D₁, …, Dₙ₋₁ 都不为 0 时，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Doolittle 分解存在且唯一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789420" y="264318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789420" y="2647950"/>
              <a:ext cx="486918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897243" y="289702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计算量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065961" y="2783681"/>
              <a:ext cx="328853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分解约 n³/3 次，与 Gauss 消去同阶；每增加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一个右端只需再解两个三角方程组，约 n² 次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789420" y="331946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897243" y="357235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065961" y="3459004"/>
              <a:ext cx="30203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多个右端共用一次分解；det A = u₁₁u₂₂…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uₙₙ；求 A⁻¹ 相当于解 n 个右端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789420" y="3994785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789420" y="3999548"/>
              <a:ext cx="486918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897243" y="4247674"/>
              <a:ext cx="9156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Crout 分解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065961" y="4134326"/>
              <a:ext cx="328041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LU 中 U 取单位上三角阵、L 取一般下三角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阵，按“L 的一列、U 的一行”交替计算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789420" y="1524000"/>
              <a:ext cx="4869180" cy="31508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7953375" y="1524000"/>
              <a:ext cx="9525" cy="31508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8" name="c2-callout-2"/>
          <p:cNvGrpSpPr/>
          <p:nvPr/>
        </p:nvGrpSpPr>
        <p:grpSpPr>
          <a:xfrm>
            <a:off x="6789420" y="4865370"/>
            <a:ext cx="4869180" cy="782955"/>
            <a:chOff x="6789420" y="4865370"/>
            <a:chExt cx="4869180" cy="782955"/>
          </a:xfrm>
        </p:grpSpPr>
        <p:sp>
          <p:nvSpPr>
            <p:cNvPr id="42" name="Rectangle 42"/>
            <p:cNvSpPr/>
            <p:nvPr/>
          </p:nvSpPr>
          <p:spPr>
            <a:xfrm>
              <a:off x="6789420" y="4865370"/>
              <a:ext cx="486918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6994208" y="5156835"/>
              <a:ext cx="200026" cy="200025"/>
              <a:chOff x="6994208" y="5156835"/>
              <a:chExt cx="200026" cy="200025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6994208" y="515683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033946" y="520128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7068662" y="531241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7296150" y="5013960"/>
              <a:ext cx="38823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U 的第 k 行和 L 的第 k 列只用到前面已算出的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行与列，可以直接存放在 A 原来的位置上。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1652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计算方法 总复习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590186" cy="909257"/>
            <a:chOff x="520446" y="342900"/>
            <a:chExt cx="859018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4970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5693" y="407194"/>
              <a:ext cx="12651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第二章 线性方程组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59018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原课件考题：对 A 作 LU 分解，并求解 Ax = b（15 分）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9734367" cy="308039"/>
            <a:chOff x="525399" y="1550194"/>
            <a:chExt cx="9734367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973436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 = [2 4 3; 4 11 7; 0 −6 −1]，b = (5, 11, −1)ᵀ。按 Doolittle 公式先算 U 的一行，再算 L 的一列。</a:t>
              </a:r>
            </a:p>
          </p:txBody>
        </p:sp>
      </p:grpSp>
      <p:grpSp>
        <p:nvGrpSpPr>
          <p:cNvPr id="28" name="c1-table-1"/>
          <p:cNvGrpSpPr/>
          <p:nvPr/>
        </p:nvGrpSpPr>
        <p:grpSpPr>
          <a:xfrm>
            <a:off x="533400" y="1967865"/>
            <a:ext cx="6059805" cy="2484120"/>
            <a:chOff x="533400" y="1967865"/>
            <a:chExt cx="6059805" cy="2484120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6059805" cy="48768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70368" y="210693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126975" y="2106930"/>
              <a:ext cx="10552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 的第 k 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853030" y="2106930"/>
              <a:ext cx="10552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 的第 k 列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0080" y="272796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45870" y="2727960"/>
              <a:ext cx="24484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u₁₁ = 2，u₁₂ = 4，u₁₃ = 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275772" y="2594610"/>
              <a:ext cx="175831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l₂₁ = 4/2 = 2，l₃₁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0/2 = 0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20516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3209925"/>
              <a:ext cx="6059805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0080" y="348234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45870" y="3348990"/>
              <a:ext cx="244411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u₂₂ = 11 − 2×4 = 3，u₂₃ = 7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− 2×3 = 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275772" y="3348990"/>
              <a:ext cx="182499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l₃₂ = (−6 − 0×4)/3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95954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0080" y="410337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45870" y="4103370"/>
              <a:ext cx="26100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u₃₃ = −1 − 0×3 − (−2)×1 = 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275772" y="4103370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1967865"/>
              <a:ext cx="6059805" cy="24841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1134428" y="1967865"/>
              <a:ext cx="9525" cy="24841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4164330" y="1967865"/>
              <a:ext cx="9525" cy="24841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formula57"/>
              <p:cNvSpPr txBox="1">
                <a:spLocks noGrp="1"/>
              </p:cNvSpPr>
              <p:nvPr/>
            </p:nvSpPr>
            <p:spPr>
              <a:xfrm>
                <a:off x="533400" y="4642485"/>
                <a:ext cx="6059805" cy="9039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L</m:t>
                      </m:r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U</m:t>
                      </m:r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43" name="c2-steps-1"/>
          <p:cNvGrpSpPr/>
          <p:nvPr/>
        </p:nvGrpSpPr>
        <p:grpSpPr>
          <a:xfrm>
            <a:off x="6898005" y="1977390"/>
            <a:ext cx="4351401" cy="2582514"/>
            <a:chOff x="6898005" y="1977390"/>
            <a:chExt cx="4351401" cy="2582514"/>
          </a:xfrm>
        </p:grpSpPr>
        <p:sp>
          <p:nvSpPr>
            <p:cNvPr id="30" name="Rectangle 30"/>
            <p:cNvSpPr/>
            <p:nvPr/>
          </p:nvSpPr>
          <p:spPr>
            <a:xfrm>
              <a:off x="7031355" y="2120265"/>
              <a:ext cx="19050" cy="17706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6898005" y="197739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991629" y="20512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898005" y="286226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991629" y="29360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898005" y="374808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991629" y="38219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309485" y="2011680"/>
              <a:ext cx="8868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 Ly = b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310628" y="2304574"/>
              <a:ext cx="393065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y₁ = 5；y₂ = 11 − 2×5 = 1；y₃ = −1 − 0×5 − (−2)×1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309485" y="2896552"/>
              <a:ext cx="8868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 Ux = y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10628" y="3190399"/>
              <a:ext cx="393065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x₃ = 1/1 = 1；x₂ = (1 − 1×1)/3 = 0；x₁ = (5 − 4×0 −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3×1)/2 = 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309485" y="378237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验算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310628" y="4076224"/>
              <a:ext cx="393877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Ax = (2 + 3, 4 + 7, −1)ᵀ = (5, 11, −1)ᵀ = b；顺带得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det A = 2×3×1 = 6</a:t>
              </a:r>
            </a:p>
          </p:txBody>
        </p:sp>
      </p:grpSp>
      <p:grpSp>
        <p:nvGrpSpPr>
          <p:cNvPr id="49" name="c2-callout-2"/>
          <p:cNvGrpSpPr/>
          <p:nvPr/>
        </p:nvGrpSpPr>
        <p:grpSpPr>
          <a:xfrm>
            <a:off x="6898005" y="4738688"/>
            <a:ext cx="4760595" cy="533400"/>
            <a:chOff x="6898005" y="4738688"/>
            <a:chExt cx="4760595" cy="533400"/>
          </a:xfrm>
        </p:grpSpPr>
        <p:sp>
          <p:nvSpPr>
            <p:cNvPr id="44" name="Rectangle 44"/>
            <p:cNvSpPr/>
            <p:nvPr/>
          </p:nvSpPr>
          <p:spPr>
            <a:xfrm>
              <a:off x="6898005" y="4738688"/>
              <a:ext cx="4760595" cy="533400"/>
            </a:xfrm>
            <a:prstGeom prst="roundRect">
              <a:avLst>
                <a:gd name="adj" fmla="val 2142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102793" y="4905375"/>
              <a:ext cx="200026" cy="200026"/>
              <a:chOff x="7102793" y="4905375"/>
              <a:chExt cx="200026" cy="200026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102793" y="490537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169468" y="498316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7404735" y="4900612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解为 x = (1, 0, 1)ᵀ，与原课件答案一致。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652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计算方法 总复习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4970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5693" y="407194"/>
              <a:ext cx="12651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第二章 线性方程组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选主元：主元太小时，舍入误差会淹没结果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9" name="c1-card-1"/>
          <p:cNvGrpSpPr/>
          <p:nvPr/>
        </p:nvGrpSpPr>
        <p:grpSpPr>
          <a:xfrm>
            <a:off x="533400" y="1524000"/>
            <a:ext cx="5410200" cy="3287078"/>
            <a:chOff x="533400" y="1524000"/>
            <a:chExt cx="5410200" cy="328707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3287078"/>
            </a:xfrm>
            <a:prstGeom prst="roundRect">
              <a:avLst>
                <a:gd name="adj" fmla="val 40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02037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1262062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7035" y="1756410"/>
              <a:ext cx="11262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4 位有效数字运算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138744" y="1756886"/>
              <a:ext cx="267447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10⁻⁵x₁ + x₂ = 1，x₁ + x₂ = 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381" y="2100739"/>
              <a:ext cx="33789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精确解 x₁ = 1.00001…，x₂ = 0.99999…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69620" y="2394585"/>
              <a:ext cx="4975860" cy="42481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298258" y="252317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339915" y="2523172"/>
              <a:ext cx="13380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消元后第 2 个方程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70464" y="252317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回代结果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72109" y="2947988"/>
              <a:ext cx="1070229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不选主元，m₂₁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10⁵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265616" y="2947988"/>
              <a:ext cx="114757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−1.000×10⁵x₂ =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−1.000×10⁵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957257" y="2947988"/>
              <a:ext cx="143713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x₂ = 1.000，x₁ = (1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− x₂)/10⁻⁵ = </a:t>
              </a:r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69620" y="3452812"/>
              <a:ext cx="49758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69620" y="3457575"/>
              <a:ext cx="4975860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72109" y="3585210"/>
              <a:ext cx="9265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先交换两行，</a:t>
              </a:r>
              <a:br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m₂₁ = 10⁻⁵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265616" y="3691890"/>
              <a:ext cx="12641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1.000x₂ = 1.000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957257" y="3585210"/>
              <a:ext cx="148285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x₂ = 1.000，x₁ = 2 −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x₂ = </a:t>
              </a:r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1.000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69620" y="2394585"/>
              <a:ext cx="4975860" cy="170021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2158365" y="2394585"/>
              <a:ext cx="9525" cy="170021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3850005" y="2394585"/>
              <a:ext cx="9525" cy="170021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3524" y="4204335"/>
              <a:ext cx="47823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不选主元时 1 − 10⁵ 和 2 − 10⁵ 舍入后相同；x₂ 的微小误差再除以小主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元 10⁻⁵，被放大 10⁵ 倍。</a:t>
              </a:r>
            </a:p>
          </p:txBody>
        </p:sp>
      </p:grpSp>
      <p:grpSp>
        <p:nvGrpSpPr>
          <p:cNvPr id="35" name="c1-callout-2"/>
          <p:cNvGrpSpPr/>
          <p:nvPr/>
        </p:nvGrpSpPr>
        <p:grpSpPr>
          <a:xfrm>
            <a:off x="533400" y="4991100"/>
            <a:ext cx="5410200" cy="756285"/>
            <a:chOff x="533400" y="4991100"/>
            <a:chExt cx="5410200" cy="756285"/>
          </a:xfrm>
        </p:grpSpPr>
        <p:sp>
          <p:nvSpPr>
            <p:cNvPr id="30" name="Rectangle 30"/>
            <p:cNvSpPr/>
            <p:nvPr/>
          </p:nvSpPr>
          <p:spPr>
            <a:xfrm>
              <a:off x="533400" y="4991100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38188" y="5269232"/>
              <a:ext cx="200023" cy="200023"/>
              <a:chOff x="738188" y="5269232"/>
              <a:chExt cx="200023" cy="200023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738188" y="526923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71538" y="533590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040511" y="5138261"/>
              <a:ext cx="443280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列主元消去相当于 PA = LU，P 是记录换行的置换矩阵。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只要 A 非奇异，列主元消去一定能进行到底。</a:t>
              </a:r>
            </a:p>
          </p:txBody>
        </p:sp>
      </p:grpSp>
      <p:grpSp>
        <p:nvGrpSpPr>
          <p:cNvPr id="55" name="c2-table-1"/>
          <p:cNvGrpSpPr/>
          <p:nvPr/>
        </p:nvGrpSpPr>
        <p:grpSpPr>
          <a:xfrm>
            <a:off x="6248400" y="1524000"/>
            <a:ext cx="5410200" cy="1913573"/>
            <a:chOff x="6248400" y="1524000"/>
            <a:chExt cx="5410200" cy="1913573"/>
          </a:xfrm>
        </p:grpSpPr>
        <p:sp>
          <p:nvSpPr>
            <p:cNvPr id="36" name="Rectangle 36"/>
            <p:cNvSpPr/>
            <p:nvPr/>
          </p:nvSpPr>
          <p:spPr>
            <a:xfrm>
              <a:off x="6248400" y="1524000"/>
              <a:ext cx="5410200" cy="42481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621780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62295" y="1652588"/>
              <a:ext cx="11765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k 步主元取自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597390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交换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841355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特点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350889" y="2076450"/>
              <a:ext cx="7741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列主元消去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432929" y="2076450"/>
              <a:ext cx="1383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k 列 aₖₖ, …, aₙₖ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中绝对值最大者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272206" y="218313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462831" y="2076450"/>
              <a:ext cx="9265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计算量小，一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般够用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248400" y="258127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248400" y="2586038"/>
              <a:ext cx="5410200" cy="85153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50889" y="2821305"/>
              <a:ext cx="7741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全主元消去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432929" y="2821305"/>
              <a:ext cx="14218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右下子阵 aᵢⱼ（i, j ≥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k）中绝对值最大者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272206" y="2714625"/>
              <a:ext cx="926592" cy="6614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行和列，记下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列交换以恢复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未知量次序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462831" y="2714625"/>
              <a:ext cx="1025652" cy="6614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更稳定，但每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步要比较 (n −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+ 1)² 个元素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248400" y="1524000"/>
              <a:ext cx="5410200" cy="191357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7325678" y="1524000"/>
              <a:ext cx="9525" cy="191357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9164955" y="1524000"/>
              <a:ext cx="9525" cy="191357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10355580" y="1524000"/>
              <a:ext cx="9525" cy="191357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3" name="c2-steps-2"/>
          <p:cNvGrpSpPr/>
          <p:nvPr/>
        </p:nvGrpSpPr>
        <p:grpSpPr>
          <a:xfrm>
            <a:off x="6248400" y="3627120"/>
            <a:ext cx="5249723" cy="2398776"/>
            <a:chOff x="6248400" y="3627120"/>
            <a:chExt cx="5249723" cy="2398776"/>
          </a:xfrm>
        </p:grpSpPr>
        <p:sp>
          <p:nvSpPr>
            <p:cNvPr id="56" name="Rectangle 56"/>
            <p:cNvSpPr/>
            <p:nvPr/>
          </p:nvSpPr>
          <p:spPr>
            <a:xfrm>
              <a:off x="6381750" y="3769995"/>
              <a:ext cx="19050" cy="18507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Ellipse 57"/>
            <p:cNvSpPr/>
            <p:nvPr/>
          </p:nvSpPr>
          <p:spPr>
            <a:xfrm>
              <a:off x="6248400" y="362712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342024" y="37009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248400" y="424434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342024" y="43181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6248400" y="486060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342024" y="49344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6248400" y="547782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342024" y="55516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660261" y="3659981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选主元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661404" y="3940492"/>
              <a:ext cx="48367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在第 k 列 aₖₖ, …, aₙₖ 中找 |aᵣₖ| 最大的行 r；aᵣₖ = 0 说明 A 奇异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660261" y="427720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换行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661404" y="4557712"/>
              <a:ext cx="28311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交换第 k 行与第 r 行，右端 b 一起交换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660261" y="489346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消元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661404" y="5173980"/>
              <a:ext cx="45677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i &gt; k 算 mᵢₖ = aᵢₖ/aₖₖ，此时 |mᵢₖ| ≤ 1，舍入误差不被放大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660261" y="551068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回代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661404" y="5791200"/>
              <a:ext cx="43658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= n − 1 步消元完成后得到上三角方程组，从 xₙ 起逐个回代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1652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计算方法 总复习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4970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5693" y="407194"/>
              <a:ext cx="12651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第二章 线性方程组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典型题：列主元消去法解三阶方程组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640949" cy="597598"/>
            <a:chOff x="525399" y="1550194"/>
            <a:chExt cx="10640949" cy="597598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640949" cy="597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80"/>
                </a:lnSpc>
              </a:pPr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x₁ + 2x₂ + x₃ = 0，2x₁ + 2x₂ + 3x₃ = 3，−x₁ − 3x₂ = 2。每一步先在当前列（对角线及以下）找绝对值最大的元素换到</a:t>
              </a:r>
              <a:br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主元位置。</a:t>
              </a:r>
            </a:p>
          </p:txBody>
        </p:sp>
      </p:grpSp>
      <p:grpSp>
        <p:nvGrpSpPr>
          <p:cNvPr id="33" name="c1-table-1"/>
          <p:cNvGrpSpPr/>
          <p:nvPr/>
        </p:nvGrpSpPr>
        <p:grpSpPr>
          <a:xfrm>
            <a:off x="533400" y="2257425"/>
            <a:ext cx="6492240" cy="2750820"/>
            <a:chOff x="533400" y="2257425"/>
            <a:chExt cx="6492240" cy="2750820"/>
          </a:xfrm>
        </p:grpSpPr>
        <p:sp>
          <p:nvSpPr>
            <p:cNvPr id="9" name="Rectangle 9"/>
            <p:cNvSpPr/>
            <p:nvPr/>
          </p:nvSpPr>
          <p:spPr>
            <a:xfrm>
              <a:off x="533400" y="2257425"/>
              <a:ext cx="6492240" cy="75438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29690" y="252984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阶段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689860" y="2396490"/>
              <a:ext cx="107632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1 行 [A │</a:t>
              </a:r>
              <a:br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b]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356740" y="2529840"/>
              <a:ext cx="662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2 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15030" y="2529840"/>
              <a:ext cx="662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3 行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0080" y="315087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原增广矩阵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821591" y="3150870"/>
              <a:ext cx="8128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2 1 │ 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281773" y="3150870"/>
              <a:ext cx="8128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2 3 │ 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729002" y="3150870"/>
              <a:ext cx="10349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−1 −3 0 │ 2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49472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3499485"/>
              <a:ext cx="6492240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0080" y="3638550"/>
              <a:ext cx="1575911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r₁↔r₂，m₂₁ =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1/2，m₃₁ = −1/2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821591" y="3771900"/>
              <a:ext cx="8128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2 3 │ 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228148" y="3638550"/>
              <a:ext cx="92011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1 −1/2 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−3/2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786438" y="3638550"/>
              <a:ext cx="92011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0 −2 3/2 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7/2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424910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0080" y="4392930"/>
              <a:ext cx="1295876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r₂↔r₃，m₃₂ =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−1/2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821591" y="4526280"/>
              <a:ext cx="8128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2 3 │ 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228148" y="4392930"/>
              <a:ext cx="92011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0 −2 3/2 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7/2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838825" y="4392930"/>
              <a:ext cx="8153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0 1/4 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1/4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2257425"/>
              <a:ext cx="6492240" cy="27508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2541270" y="2257425"/>
              <a:ext cx="9525" cy="27508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3904298" y="2257425"/>
              <a:ext cx="9525" cy="27508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462588" y="2257425"/>
              <a:ext cx="9525" cy="27508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0" name="c1-callout-2"/>
          <p:cNvGrpSpPr/>
          <p:nvPr/>
        </p:nvGrpSpPr>
        <p:grpSpPr>
          <a:xfrm>
            <a:off x="533400" y="5198745"/>
            <a:ext cx="6492240" cy="782955"/>
            <a:chOff x="533400" y="5198745"/>
            <a:chExt cx="6492240" cy="782955"/>
          </a:xfrm>
        </p:grpSpPr>
        <p:sp>
          <p:nvSpPr>
            <p:cNvPr id="34" name="Rectangle 34"/>
            <p:cNvSpPr/>
            <p:nvPr/>
          </p:nvSpPr>
          <p:spPr>
            <a:xfrm>
              <a:off x="533400" y="5198745"/>
              <a:ext cx="6492240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26129" y="5486518"/>
              <a:ext cx="224134" cy="192560"/>
              <a:chOff x="726129" y="5486518"/>
              <a:chExt cx="224134" cy="19256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838200" y="555688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26129" y="548651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38200" y="56346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040130" y="5347335"/>
              <a:ext cx="5539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第 2 步比较的是消元后第 2 列的 1 和 −2，不是原矩阵第 2 列的元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素；|−2| 更大，所以交换第 2、3 行。</a:t>
              </a:r>
            </a:p>
          </p:txBody>
        </p:sp>
      </p:grpSp>
      <p:grpSp>
        <p:nvGrpSpPr>
          <p:cNvPr id="58" name="c2-steps-1"/>
          <p:cNvGrpSpPr/>
          <p:nvPr/>
        </p:nvGrpSpPr>
        <p:grpSpPr>
          <a:xfrm>
            <a:off x="7330440" y="2266950"/>
            <a:ext cx="4070010" cy="2529173"/>
            <a:chOff x="7330440" y="2266950"/>
            <a:chExt cx="4070010" cy="2529173"/>
          </a:xfrm>
        </p:grpSpPr>
        <p:sp>
          <p:nvSpPr>
            <p:cNvPr id="41" name="Rectangle 41"/>
            <p:cNvSpPr/>
            <p:nvPr/>
          </p:nvSpPr>
          <p:spPr>
            <a:xfrm>
              <a:off x="7463790" y="2409825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7330440" y="226695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424064" y="23407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7330440" y="291750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424064" y="29913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7330440" y="356806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424064" y="36418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7330440" y="421957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424064" y="42933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741920" y="2301240"/>
              <a:ext cx="12687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列选主元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743063" y="2595086"/>
              <a:ext cx="36573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|1|、|2|、|−1| 中 2 最大，交换第 1、2 行后消元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741920" y="2951798"/>
              <a:ext cx="7159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回代 x₃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743063" y="3245644"/>
              <a:ext cx="18136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(1/4)x₃ = 1/4，x₃ = 1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741920" y="3602355"/>
              <a:ext cx="7159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回代 x₂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743063" y="3896201"/>
              <a:ext cx="24856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−2x₂ + (3/2)×1 = 7/2，x₂ = −1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741920" y="4253865"/>
              <a:ext cx="7159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回代 x₁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743063" y="4546759"/>
              <a:ext cx="24942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2x₁ + 2×(−1) + 3×1 = 3，x₁ = 1</a:t>
              </a:r>
            </a:p>
          </p:txBody>
        </p:sp>
      </p:grpSp>
      <p:grpSp>
        <p:nvGrpSpPr>
          <p:cNvPr id="64" name="c2-callout-2"/>
          <p:cNvGrpSpPr/>
          <p:nvPr/>
        </p:nvGrpSpPr>
        <p:grpSpPr>
          <a:xfrm>
            <a:off x="7330440" y="4974908"/>
            <a:ext cx="4328160" cy="782955"/>
            <a:chOff x="7330440" y="4974908"/>
            <a:chExt cx="4328160" cy="782955"/>
          </a:xfrm>
        </p:grpSpPr>
        <p:sp>
          <p:nvSpPr>
            <p:cNvPr id="59" name="Rectangle 59"/>
            <p:cNvSpPr/>
            <p:nvPr/>
          </p:nvSpPr>
          <p:spPr>
            <a:xfrm>
              <a:off x="7330440" y="4974908"/>
              <a:ext cx="4328160" cy="782955"/>
            </a:xfrm>
            <a:prstGeom prst="roundRect">
              <a:avLst>
                <a:gd name="adj" fmla="val 1459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7535228" y="5266373"/>
              <a:ext cx="200026" cy="200026"/>
              <a:chOff x="7535228" y="5266373"/>
              <a:chExt cx="200026" cy="200026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7535228" y="5266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7601903" y="534416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7837170" y="5123498"/>
              <a:ext cx="33013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x = (1, −1, 1)ᵀ，代回三个原方程都成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立。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1652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计算方法 总复习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54664" cy="909257"/>
            <a:chOff x="520446" y="342900"/>
            <a:chExt cx="665466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4970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5693" y="407194"/>
              <a:ext cx="12651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第二章 线性方程组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5466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向量范数与矩阵范数：度量“大小”和“距离”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410200" cy="3957638"/>
            <a:chOff x="533400" y="1524000"/>
            <a:chExt cx="5410200" cy="395763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3957638"/>
            </a:xfrm>
            <a:prstGeom prst="roundRect">
              <a:avLst>
                <a:gd name="adj" fmla="val 33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690938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3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向量范数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5586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满足三条：‖x‖ ≥ 0 且 ‖x‖ = 0 ⇔ x = 0；‖kx‖ = |k|·‖x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‖；‖x + y‖ ≤ ‖x‖ + ‖y‖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60"/>
                <p:cNvSpPr txBox="1">
                  <a:spLocks noGrp="1"/>
                </p:cNvSpPr>
                <p:nvPr/>
              </p:nvSpPr>
              <p:spPr>
                <a:xfrm>
                  <a:off x="781050" y="2707005"/>
                  <a:ext cx="4953000" cy="5343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d>
                              <m:dPr>
                                <m:begChr m:val="‖"/>
                                <m:sepChr m:val=""/>
                                <m:endChr m:val="‖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</m:e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d>
                              <m:dPr>
                                <m:begChr m:val="|"/>
                                <m:sepChr m:val=""/>
                                <m:endChr m:val="|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b>
                          <m:e>
                            <m:d>
                              <m:dPr>
                                <m:begChr m:val="‖"/>
                                <m:sepChr m:val=""/>
                                <m:endChr m:val="‖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</m:e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radPr>
                          <m:deg/>
                          <m:e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  <m:e>
                                <m:sSubSup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  <m:sup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nary>
                          </m:e>
                        </m:ra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b>
                          <m:e>
                            <m:d>
                              <m:dPr>
                                <m:begChr m:val="‖"/>
                                <m:sepChr m:val=""/>
                                <m:endChr m:val="‖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</m:e>
                          <m:sub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∞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unc>
                          <m:funcPr/>
                          <m:fName>
                            <m:limLow>
                              <m:limLowPr/>
                              <m:e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lim>
                            </m:limLow>
                          </m:fName>
                          <m:e>
                            <m:d>
                              <m:dPr>
                                <m:begChr m:val="|"/>
                                <m:sepChr m:val=""/>
                                <m:endChr m:val="|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Ellipse 13"/>
            <p:cNvSpPr/>
            <p:nvPr/>
          </p:nvSpPr>
          <p:spPr>
            <a:xfrm>
              <a:off x="786765" y="3424238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3361372"/>
              <a:ext cx="42443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等价性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：Rⁿ 上任意两种范数满足 c₁‖x‖ₛ ≤ ‖x‖ₜ ≤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c₂‖x‖ₛ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4045268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982402"/>
              <a:ext cx="4015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收敛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：x⁽ᵏ⁾ → x* ⇔ ‖x⁽ᵏ⁾ − x*‖ → 0 ⇔ 每个分量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xᵢ⁽ᵏ⁾ → xᵢ*</a:t>
              </a:r>
            </a:p>
          </p:txBody>
        </p:sp>
      </p:grpSp>
      <p:grpSp>
        <p:nvGrpSpPr>
          <p:cNvPr id="28" name="c2-card-1"/>
          <p:cNvGrpSpPr/>
          <p:nvPr/>
        </p:nvGrpSpPr>
        <p:grpSpPr>
          <a:xfrm>
            <a:off x="6248400" y="1524000"/>
            <a:ext cx="5410200" cy="2440305"/>
            <a:chOff x="6248400" y="1524000"/>
            <a:chExt cx="5410200" cy="2440305"/>
          </a:xfrm>
        </p:grpSpPr>
        <p:sp>
          <p:nvSpPr>
            <p:cNvPr id="18" name="Rectangle 18"/>
            <p:cNvSpPr/>
            <p:nvPr/>
          </p:nvSpPr>
          <p:spPr>
            <a:xfrm>
              <a:off x="6248400" y="1524000"/>
              <a:ext cx="5410200" cy="2440305"/>
            </a:xfrm>
            <a:prstGeom prst="roundRect">
              <a:avLst>
                <a:gd name="adj" fmla="val 54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257925" y="1657350"/>
              <a:ext cx="47625" cy="217360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496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78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矩阵范数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88430" y="2110740"/>
              <a:ext cx="36347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除上面三条外还要求 ‖AB‖ ≤ ‖A‖·‖B‖。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501765" y="250888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659880" y="2446020"/>
              <a:ext cx="34202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相容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：‖Ax‖ ≤ ‖A‖·‖x‖ 对一切 x 成立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501765" y="284416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659880" y="278130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算子范数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（由向量范数导出）：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formula61"/>
                <p:cNvSpPr txBox="1">
                  <a:spLocks noGrp="1"/>
                </p:cNvSpPr>
                <p:nvPr/>
              </p:nvSpPr>
              <p:spPr>
                <a:xfrm>
                  <a:off x="6496050" y="3091815"/>
                  <a:ext cx="4953000" cy="6438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d>
                              <m:dPr>
                                <m:begChr m:val="‖"/>
                                <m:sepChr m:val=""/>
                                <m:endChr m:val="‖"/>
                                <m:grow m:val="on"/>
                                <m:ctrl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</m:d>
                          </m:e>
                          <m:sub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unc>
                          <m:funcPr/>
                          <m:fName>
                            <m:limLow>
                              <m:limLowPr/>
                              <m:e>
                                <m:r>
                                  <m:rPr>
                                    <m:sty m:val="p"/>
                                  </m:r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≠</m:t>
                                </m:r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lim>
                            </m:limLow>
                          </m:fName>
                          <m:e>
                            <m:f>
                              <m:fPr>
                                <m:type m:val="bar"/>
                                <m:ctrl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sSub>
                                  <m:e>
                                    <m:d>
                                      <m:dPr>
                                        <m:begChr m:val="‖"/>
                                        <m:sepChr m:val=""/>
                                        <m:endChr m:val="‖"/>
                                        <m:grow m:val="on"/>
                                        <m:ctrlPr>
                                          <a:rPr lang="zh-CN" sz="19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9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Ax</m:t>
                                        </m:r>
                                      </m:e>
                                    </m:d>
                                  </m:e>
                                  <m:sub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p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e>
                                    <m:d>
                                      <m:dPr>
                                        <m:begChr m:val="‖"/>
                                        <m:sepChr m:val=""/>
                                        <m:endChr m:val="‖"/>
                                        <m:grow m:val="on"/>
                                        <m:ctrlPr>
                                          <a:rPr lang="zh-CN" sz="19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9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</m:d>
                                  </m:e>
                                  <m:sub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p</m:t>
                                    </m:r>
                                  </m:sub>
                                </m:sSub>
                              </m:den>
                            </m:f>
                          </m:e>
                        </m:func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unc>
                          <m:funcPr/>
                          <m:fName>
                            <m:limLow>
                              <m:limLowPr/>
                              <m:e>
                                <m:r>
                                  <m:rPr>
                                    <m:sty m:val="p"/>
                                  </m:r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max</m:t>
                                </m:r>
                              </m:e>
                              <m:lim>
                                <m:sSub>
                                  <m:e>
                                    <m:d>
                                      <m:dPr>
                                        <m:begChr m:val="‖"/>
                                        <m:sepChr m:val=""/>
                                        <m:endChr m:val="‖"/>
                                        <m:grow m:val="on"/>
                                        <m:ctrlPr>
                                          <a:rPr lang="zh-CN" sz="19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9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</m:d>
                                  </m:e>
                                  <m:sub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p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lim>
                            </m:limLow>
                          </m:fName>
                          <m:e>
                            <m:sSub>
                              <m:e>
                                <m:d>
                                  <m:dPr>
                                    <m:begChr m:val="‖"/>
                                    <m:sepChr m:val=""/>
                                    <m:endChr m:val="‖"/>
                                    <m:grow m:val="on"/>
                                    <m:ctrlP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Ax</m:t>
                                    </m:r>
                                  </m:e>
                                </m:d>
                              </m:e>
                              <m:sub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sub>
                            </m:sSub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5" name="c2-card-2"/>
          <p:cNvGrpSpPr/>
          <p:nvPr/>
        </p:nvGrpSpPr>
        <p:grpSpPr>
          <a:xfrm>
            <a:off x="6248400" y="4154805"/>
            <a:ext cx="5410200" cy="1326832"/>
            <a:chOff x="6248400" y="4154805"/>
            <a:chExt cx="5410200" cy="1326832"/>
          </a:xfrm>
        </p:grpSpPr>
        <p:sp>
          <p:nvSpPr>
            <p:cNvPr id="29" name="Rectangle 29"/>
            <p:cNvSpPr/>
            <p:nvPr/>
          </p:nvSpPr>
          <p:spPr>
            <a:xfrm>
              <a:off x="6248400" y="4154805"/>
              <a:ext cx="5410200" cy="1326832"/>
            </a:xfrm>
            <a:prstGeom prst="roundRect">
              <a:avLst>
                <a:gd name="adj" fmla="val 100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257925" y="4288155"/>
              <a:ext cx="47625" cy="106013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496050" y="4364355"/>
              <a:ext cx="784860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77635" y="4400074"/>
              <a:ext cx="621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 2.1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88430" y="4741545"/>
              <a:ext cx="39599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算子范数是相容范数：‖Ax‖ₚ ≤ ‖A‖ₚ‖x‖ₚ。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89573" y="5073491"/>
              <a:ext cx="36240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由定义，‖A‖ₚ 是 A 对向量的最大“放大倍数”。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6" name="TextBox 36"/>
            <p:cNvSpPr txBox="1"/>
            <p:nvPr/>
          </p:nvSpPr>
          <p:spPr>
            <a:xfrm>
              <a:off x="528447" y="6581299"/>
              <a:ext cx="1652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计算方法 总复习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4970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5693" y="407194"/>
              <a:ext cx="12651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第二章 线性方程组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行和、列和、谱范数与谱半径怎么算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085398" cy="2211705"/>
            <a:chOff x="533400" y="1524000"/>
            <a:chExt cx="5085398" cy="22117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085398" cy="2211705"/>
            </a:xfrm>
            <a:prstGeom prst="roundRect">
              <a:avLst>
                <a:gd name="adj" fmla="val 6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94500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713422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2484" y="1743551"/>
              <a:ext cx="5438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 2.2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formula71"/>
                <p:cNvSpPr txBox="1">
                  <a:spLocks noGrp="1"/>
                </p:cNvSpPr>
                <p:nvPr/>
              </p:nvSpPr>
              <p:spPr>
                <a:xfrm>
                  <a:off x="758190" y="2032635"/>
                  <a:ext cx="4673918" cy="6286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d>
                              <m:dPr>
                                <m:begChr m:val="‖"/>
                                <m:sepChr m:val=""/>
                                <m:endChr m:val="‖"/>
                                <m:grow m:val="on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</m:d>
                          </m:e>
                          <m:sub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∞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unc>
                          <m:funcPr/>
                          <m:fName>
                            <m:limLow>
                              <m:limLowPr/>
                              <m:e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lim>
                            </m:limLow>
                          </m:fName>
                          <m:e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  <m:e>
                                <m:d>
                                  <m:dPr>
                                    <m:begChr m:val="|"/>
                                    <m:sepChr m:val=""/>
                                    <m:endChr m:val="|"/>
                                    <m:grow m:val="on"/>
                                    <m:ctrl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a</m:t>
                                        </m:r>
                                      </m:e>
                                      <m:sub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ij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nary>
                          </m:e>
                        </m:func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b>
                          <m:e>
                            <m:d>
                              <m:dPr>
                                <m:begChr m:val="‖"/>
                                <m:sepChr m:val=""/>
                                <m:endChr m:val="‖"/>
                                <m:grow m:val="on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</m:d>
                          </m:e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unc>
                          <m:funcPr/>
                          <m:fName>
                            <m:limLow>
                              <m:limLowPr/>
                              <m:e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lim>
                            </m:limLow>
                          </m:fName>
                          <m:e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  <m:e>
                                <m:d>
                                  <m:dPr>
                                    <m:begChr m:val="|"/>
                                    <m:sepChr m:val=""/>
                                    <m:endChr m:val="|"/>
                                    <m:grow m:val="on"/>
                                    <m:ctrl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a</m:t>
                                        </m:r>
                                      </m:e>
                                      <m:sub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ij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nary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72"/>
                <p:cNvSpPr txBox="1">
                  <a:spLocks noGrp="1"/>
                </p:cNvSpPr>
                <p:nvPr/>
              </p:nvSpPr>
              <p:spPr>
                <a:xfrm>
                  <a:off x="758190" y="2745105"/>
                  <a:ext cx="4673918" cy="5257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d>
                              <m:dPr>
                                <m:begChr m:val="‖"/>
                                <m:sepChr m:val=""/>
                                <m:endChr m:val="‖"/>
                                <m:grow m:val="on"/>
                                <m:ctrl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</m:d>
                          </m:e>
                          <m:sub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radPr>
                          <m:deg/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ρ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p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T</m:t>
                                    </m:r>
                                  </m:sup>
                                </m:sSup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</m:d>
                          </m:e>
                        </m:ra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52475" y="3373279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依次称为行和范数、列和范数、谱范数。</a:t>
              </a:r>
            </a:p>
          </p:txBody>
        </p:sp>
      </p:grpSp>
      <p:grpSp>
        <p:nvGrpSpPr>
          <p:cNvPr id="24" name="c1-card-2"/>
          <p:cNvGrpSpPr/>
          <p:nvPr/>
        </p:nvGrpSpPr>
        <p:grpSpPr>
          <a:xfrm>
            <a:off x="533400" y="3905250"/>
            <a:ext cx="5085398" cy="2198370"/>
            <a:chOff x="533400" y="3905250"/>
            <a:chExt cx="5085398" cy="2198370"/>
          </a:xfrm>
        </p:grpSpPr>
        <p:sp>
          <p:nvSpPr>
            <p:cNvPr id="15" name="Rectangle 15"/>
            <p:cNvSpPr/>
            <p:nvPr/>
          </p:nvSpPr>
          <p:spPr>
            <a:xfrm>
              <a:off x="533400" y="3905250"/>
              <a:ext cx="5085398" cy="2198370"/>
            </a:xfrm>
            <a:prstGeom prst="roundRect">
              <a:avLst>
                <a:gd name="adj" fmla="val 606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4038600"/>
              <a:ext cx="47625" cy="193167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58190" y="4091940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6811" y="4124801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谱半径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formula73"/>
                <p:cNvSpPr txBox="1">
                  <a:spLocks noGrp="1"/>
                </p:cNvSpPr>
                <p:nvPr/>
              </p:nvSpPr>
              <p:spPr>
                <a:xfrm>
                  <a:off x="758190" y="4413885"/>
                  <a:ext cx="4673918" cy="56959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ρ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unc>
                          <m:funcPr/>
                          <m:fName>
                            <m:limLow>
                              <m:limLowPr/>
                              <m:e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lim>
                            </m:limLow>
                          </m:fName>
                          <m:e>
                            <m:d>
                              <m:dPr>
                                <m:begChr m:val="|"/>
                                <m:sepChr m:val=""/>
                                <m:endChr m:val="|"/>
                                <m:grow m:val="on"/>
                                <m:ctrl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λ</m:t>
                                    </m:r>
                                  </m:e>
                                  <m:sub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0" name="Ellipse 20"/>
            <p:cNvSpPr/>
            <p:nvPr/>
          </p:nvSpPr>
          <p:spPr>
            <a:xfrm>
              <a:off x="766762" y="5146358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22782" y="5090160"/>
              <a:ext cx="33192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定理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：ρ(A) ≤ ‖A‖，对任意算子范数成立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66762" y="5446395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22782" y="5390198"/>
              <a:ext cx="18254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对称时 ‖A‖₂ = ρ(A)</a:t>
              </a:r>
            </a:p>
          </p:txBody>
        </p:sp>
      </p:grpSp>
      <p:grpSp>
        <p:nvGrpSpPr>
          <p:cNvPr id="67" name="c2-card-1"/>
          <p:cNvGrpSpPr/>
          <p:nvPr/>
        </p:nvGrpSpPr>
        <p:grpSpPr>
          <a:xfrm>
            <a:off x="5923598" y="1524000"/>
            <a:ext cx="5735002" cy="3929062"/>
            <a:chOff x="5923598" y="1524000"/>
            <a:chExt cx="5735002" cy="3929062"/>
          </a:xfrm>
        </p:grpSpPr>
        <p:sp>
          <p:nvSpPr>
            <p:cNvPr id="25" name="Rectangle 25"/>
            <p:cNvSpPr/>
            <p:nvPr/>
          </p:nvSpPr>
          <p:spPr>
            <a:xfrm>
              <a:off x="5923598" y="1524000"/>
              <a:ext cx="5735002" cy="3929062"/>
            </a:xfrm>
            <a:prstGeom prst="roundRect">
              <a:avLst>
                <a:gd name="adj" fmla="val 33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933122" y="1657350"/>
              <a:ext cx="47625" cy="366236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148388" y="1710690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237008" y="1743551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典型题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38760" y="1745932"/>
              <a:ext cx="29843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(3, −4, 12)ᵀ，A = [3 0; 4 5]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148388" y="2049780"/>
              <a:ext cx="5323522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493053" y="217122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量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87436" y="217122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计算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622953" y="217122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245542" y="2571274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‖x‖₁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097078" y="2571274"/>
              <a:ext cx="6899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+ 4 + 12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185083" y="257127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148388" y="2845118"/>
              <a:ext cx="53235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148388" y="2849880"/>
              <a:ext cx="532352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245542" y="2971324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‖x‖₂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097078" y="2971324"/>
              <a:ext cx="16096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√(9 + 16 + 144) = √169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185083" y="297132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148388" y="3245168"/>
              <a:ext cx="53235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245542" y="3371374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‖x‖∞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097078" y="3371374"/>
              <a:ext cx="10442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max(3, 4, 12)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185083" y="337137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148388" y="3645218"/>
              <a:ext cx="53235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148388" y="3649980"/>
              <a:ext cx="532352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245542" y="3771424"/>
              <a:ext cx="3794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‖A‖∞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097078" y="3771424"/>
              <a:ext cx="11723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行和 3、9 取最大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185083" y="377142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148388" y="4045268"/>
              <a:ext cx="53235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245542" y="4171474"/>
              <a:ext cx="3794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‖A‖₁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097078" y="4171474"/>
              <a:ext cx="11723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列和 7、5 取最大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185083" y="417147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148388" y="4445318"/>
              <a:ext cx="53235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148388" y="4450080"/>
              <a:ext cx="532352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245542" y="4571524"/>
              <a:ext cx="3794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‖A‖₂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097078" y="4571524"/>
              <a:ext cx="26125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AᵀA = [25 20; 20 25]，特征值 45、5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185083" y="4571524"/>
              <a:ext cx="8482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√45 ≈ 6.708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148388" y="4845368"/>
              <a:ext cx="53235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245542" y="4971574"/>
              <a:ext cx="3695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ρ(A)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097078" y="4971574"/>
              <a:ext cx="24687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为下三角阵，特征值是对角元 3、5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185083" y="497157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148388" y="2049780"/>
              <a:ext cx="5323522" cy="32004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6995160" y="2049780"/>
              <a:ext cx="9525" cy="3200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10083165" y="2049780"/>
              <a:ext cx="9525" cy="3200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3" name="c2-callout-2"/>
          <p:cNvGrpSpPr/>
          <p:nvPr/>
        </p:nvGrpSpPr>
        <p:grpSpPr>
          <a:xfrm>
            <a:off x="5923598" y="5623560"/>
            <a:ext cx="5735002" cy="481012"/>
            <a:chOff x="5923598" y="5623560"/>
            <a:chExt cx="5735002" cy="481012"/>
          </a:xfrm>
        </p:grpSpPr>
        <p:sp>
          <p:nvSpPr>
            <p:cNvPr id="68" name="Rectangle 68"/>
            <p:cNvSpPr/>
            <p:nvPr/>
          </p:nvSpPr>
          <p:spPr>
            <a:xfrm>
              <a:off x="5923598" y="5623560"/>
              <a:ext cx="5735002" cy="481012"/>
            </a:xfrm>
            <a:prstGeom prst="roundRect">
              <a:avLst>
                <a:gd name="adj" fmla="val 23762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6128385" y="5763578"/>
              <a:ext cx="200026" cy="200026"/>
              <a:chOff x="6128385" y="5763578"/>
              <a:chExt cx="200026" cy="200026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6128385" y="576357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6195060" y="584136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6431089" y="5769292"/>
              <a:ext cx="37972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ρ(A) = 5 比三种范数都小，符合 ρ(A) ≤ ‖A‖。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1652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计算方法 总复习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361557" cy="909257"/>
            <a:chOff x="520446" y="342900"/>
            <a:chExt cx="636155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4970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5693" y="407194"/>
              <a:ext cx="12651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第二章 线性方程组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36155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条件数：Cond(A) 越大，解对扰动越敏感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626418" cy="1956435"/>
            <a:chOff x="533400" y="1524000"/>
            <a:chExt cx="5626418" cy="19564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956435"/>
            </a:xfrm>
            <a:prstGeom prst="roundRect">
              <a:avLst>
                <a:gd name="adj" fmla="val 68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8973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formula77"/>
                <p:cNvSpPr txBox="1">
                  <a:spLocks noGrp="1"/>
                </p:cNvSpPr>
                <p:nvPr/>
              </p:nvSpPr>
              <p:spPr>
                <a:xfrm>
                  <a:off x="781050" y="2085975"/>
                  <a:ext cx="5169218" cy="495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m:rPr>
                                <m:sty m:val="p"/>
                              </m:r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Cond</m:t>
                            </m:r>
                          </m:e>
                          <m:sub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d>
                              <m:dPr>
                                <m:begChr m:val="‖"/>
                                <m:sepChr m:val=""/>
                                <m:endChr m:val="‖"/>
                                <m:grow m:val="on"/>
                                <m:ctrl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</m:d>
                          </m:e>
                          <m:sub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sSub>
                          <m:e>
                            <m:d>
                              <m:dPr>
                                <m:begChr m:val="‖"/>
                                <m:sepChr m:val=""/>
                                <m:endChr m:val="‖"/>
                                <m:grow m:val="on"/>
                                <m:ctrl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p>
                                </m:sSup>
                              </m:e>
                            </m:d>
                          </m:e>
                          <m:sub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sub>
                        </m:sSub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2" name="Ellipse 12"/>
            <p:cNvSpPr/>
            <p:nvPr/>
          </p:nvSpPr>
          <p:spPr>
            <a:xfrm>
              <a:off x="786765" y="276415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701290"/>
              <a:ext cx="20998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Cond(A) ≥ ‖AA⁻¹‖ = 1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309943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3036570"/>
              <a:ext cx="42956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Cond(A) ≫ 1 时称 A 病态，方程组为病态方程组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3670935"/>
            <a:ext cx="5626418" cy="1990725"/>
            <a:chOff x="533400" y="3670935"/>
            <a:chExt cx="5626418" cy="1990725"/>
          </a:xfrm>
        </p:grpSpPr>
        <p:sp>
          <p:nvSpPr>
            <p:cNvPr id="17" name="Rectangle 17"/>
            <p:cNvSpPr/>
            <p:nvPr/>
          </p:nvSpPr>
          <p:spPr>
            <a:xfrm>
              <a:off x="533400" y="3670935"/>
              <a:ext cx="5626418" cy="1990725"/>
            </a:xfrm>
            <a:prstGeom prst="roundRect">
              <a:avLst>
                <a:gd name="adj" fmla="val 669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3804285"/>
              <a:ext cx="47625" cy="17240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81050" y="3880485"/>
              <a:ext cx="1687830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62363" y="3916204"/>
              <a:ext cx="15252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常数项扰动 b → b + δb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formula78"/>
                <p:cNvSpPr txBox="1">
                  <a:spLocks noGrp="1"/>
                </p:cNvSpPr>
                <p:nvPr/>
              </p:nvSpPr>
              <p:spPr>
                <a:xfrm>
                  <a:off x="781050" y="4232910"/>
                  <a:ext cx="5169218" cy="66865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>
                          <m:fPr>
                            <m:type m:val="bar"/>
                            <m:ctrl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>
                              <m:e>
                                <m:d>
                                  <m:dPr>
                                    <m:begChr m:val="‖"/>
                                    <m:sepChr m:val=""/>
                                    <m:endChr m:val="‖"/>
                                    <m:grow m:val="on"/>
                                    <m:ctrlP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δx</m:t>
                                    </m:r>
                                  </m:e>
                                </m:d>
                              </m:e>
                              <m:sub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sub>
                            </m:sSub>
                          </m:num>
                          <m:den>
                            <m:sSub>
                              <m:e>
                                <m:d>
                                  <m:dPr>
                                    <m:begChr m:val="‖"/>
                                    <m:sepChr m:val=""/>
                                    <m:endChr m:val="‖"/>
                                    <m:grow m:val="on"/>
                                    <m:ctrlP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</m:d>
                              </m:e>
                              <m:sub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sub>
                            </m:sSub>
                          </m:den>
                        </m:f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sSub>
                          <m:e>
                            <m:d>
                              <m:dPr>
                                <m:begChr m:val="‖"/>
                                <m:sepChr m:val=""/>
                                <m:endChr m:val="‖"/>
                                <m:grow m:val="on"/>
                                <m:ctrl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</m:d>
                          </m:e>
                          <m:sub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sub>
                        </m:sSub>
                        <m: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sSub>
                          <m:e>
                            <m:d>
                              <m:dPr>
                                <m:begChr m:val="‖"/>
                                <m:sepChr m:val=""/>
                                <m:endChr m:val="‖"/>
                                <m:grow m:val="on"/>
                                <m:ctrl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p>
                                </m:sSup>
                              </m:e>
                            </m:d>
                          </m:e>
                          <m:sub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sub>
                        </m:sSub>
                        <m: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f>
                          <m:fPr>
                            <m:type m:val="bar"/>
                            <m:ctrl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>
                              <m:e>
                                <m:d>
                                  <m:dPr>
                                    <m:begChr m:val="‖"/>
                                    <m:sepChr m:val=""/>
                                    <m:endChr m:val="‖"/>
                                    <m:grow m:val="on"/>
                                    <m:ctrlP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δb</m:t>
                                    </m:r>
                                  </m:e>
                                </m:d>
                              </m:e>
                              <m:sub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sub>
                            </m:sSub>
                          </m:num>
                          <m:den>
                            <m:sSub>
                              <m:e>
                                <m:d>
                                  <m:dPr>
                                    <m:begChr m:val="‖"/>
                                    <m:sepChr m:val=""/>
                                    <m:endChr m:val="‖"/>
                                    <m:grow m:val="on"/>
                                    <m:ctrlP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b</m:t>
                                    </m:r>
                                  </m:e>
                                </m:d>
                              </m:e>
                              <m:sub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2" name="TextBox 22"/>
            <p:cNvSpPr txBox="1"/>
            <p:nvPr/>
          </p:nvSpPr>
          <p:spPr>
            <a:xfrm>
              <a:off x="774573" y="5018246"/>
              <a:ext cx="471093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由 Aδx = δb 得 ‖δx‖ ≤ ‖A⁻¹‖‖δb‖；由 b = Ax 得 ‖b‖ ≤ ‖A‖‖x‖，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两式相乘。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464618" y="1524000"/>
            <a:ext cx="5193982" cy="1990725"/>
            <a:chOff x="6464618" y="1524000"/>
            <a:chExt cx="5193982" cy="1990725"/>
          </a:xfrm>
        </p:grpSpPr>
        <p:sp>
          <p:nvSpPr>
            <p:cNvPr id="24" name="Rectangle 24"/>
            <p:cNvSpPr/>
            <p:nvPr/>
          </p:nvSpPr>
          <p:spPr>
            <a:xfrm>
              <a:off x="6464618" y="1524000"/>
              <a:ext cx="5193982" cy="1990725"/>
            </a:xfrm>
            <a:prstGeom prst="roundRect">
              <a:avLst>
                <a:gd name="adj" fmla="val 669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474142" y="1657350"/>
              <a:ext cx="47625" cy="17240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712268" y="1733550"/>
              <a:ext cx="1829752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773500" y="1769269"/>
              <a:ext cx="17082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系数矩阵扰动 A → A + δA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formula79"/>
                <p:cNvSpPr txBox="1">
                  <a:spLocks noGrp="1"/>
                </p:cNvSpPr>
                <p:nvPr/>
              </p:nvSpPr>
              <p:spPr>
                <a:xfrm>
                  <a:off x="6712268" y="2085975"/>
                  <a:ext cx="4736782" cy="66865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>
                          <m:fPr>
                            <m:type m:val="bar"/>
                            <m:ctrl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>
                              <m:e>
                                <m:d>
                                  <m:dPr>
                                    <m:begChr m:val="‖"/>
                                    <m:sepChr m:val=""/>
                                    <m:endChr m:val="‖"/>
                                    <m:grow m:val="on"/>
                                    <m:ctrlP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δx</m:t>
                                    </m:r>
                                  </m:e>
                                </m:d>
                              </m:e>
                              <m:sub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sub>
                            </m:sSub>
                          </m:num>
                          <m:den>
                            <m:sSub>
                              <m:e>
                                <m:d>
                                  <m:dPr>
                                    <m:begChr m:val="‖"/>
                                    <m:sepChr m:val=""/>
                                    <m:endChr m:val="‖"/>
                                    <m:grow m:val="on"/>
                                    <m:ctrlP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</m:t>
                                    </m:r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δx</m:t>
                                    </m:r>
                                  </m:e>
                                </m:d>
                              </m:e>
                              <m:sub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sub>
                            </m:sSub>
                          </m:den>
                        </m:f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sSub>
                          <m:e>
                            <m:d>
                              <m:dPr>
                                <m:begChr m:val="‖"/>
                                <m:sepChr m:val=""/>
                                <m:endChr m:val="‖"/>
                                <m:grow m:val="on"/>
                                <m:ctrl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p>
                                </m:sSup>
                              </m:e>
                            </m:d>
                          </m:e>
                          <m:sub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sub>
                        </m:sSub>
                        <m: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sSub>
                          <m:e>
                            <m:d>
                              <m:dPr>
                                <m:begChr m:val="‖"/>
                                <m:sepChr m:val=""/>
                                <m:endChr m:val="‖"/>
                                <m:grow m:val="on"/>
                                <m:ctrl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</m:d>
                          </m:e>
                          <m:sub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sub>
                        </m:sSub>
                        <m: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f>
                          <m:fPr>
                            <m:type m:val="bar"/>
                            <m:ctrl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>
                              <m:e>
                                <m:d>
                                  <m:dPr>
                                    <m:begChr m:val="‖"/>
                                    <m:sepChr m:val=""/>
                                    <m:endChr m:val="‖"/>
                                    <m:grow m:val="on"/>
                                    <m:ctrlP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δA</m:t>
                                    </m:r>
                                  </m:e>
                                </m:d>
                              </m:e>
                              <m:sub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sub>
                            </m:sSub>
                          </m:num>
                          <m:den>
                            <m:sSub>
                              <m:e>
                                <m:d>
                                  <m:dPr>
                                    <m:begChr m:val="‖"/>
                                    <m:sepChr m:val=""/>
                                    <m:endChr m:val="‖"/>
                                    <m:grow m:val="on"/>
                                    <m:ctrlP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</m:d>
                              </m:e>
                              <m:sub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9" name="TextBox 29"/>
            <p:cNvSpPr txBox="1"/>
            <p:nvPr/>
          </p:nvSpPr>
          <p:spPr>
            <a:xfrm>
              <a:off x="6705791" y="2871311"/>
              <a:ext cx="437769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由 (A + δA)(x + δx) = b 得 δx = −A⁻¹δA(x + δx)，两边取范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数。</a:t>
              </a:r>
            </a:p>
          </p:txBody>
        </p:sp>
      </p:grpSp>
      <p:grpSp>
        <p:nvGrpSpPr>
          <p:cNvPr id="45" name="c2-graph-2"/>
          <p:cNvGrpSpPr/>
          <p:nvPr/>
        </p:nvGrpSpPr>
        <p:grpSpPr>
          <a:xfrm>
            <a:off x="6671310" y="4070985"/>
            <a:ext cx="4780598" cy="1343692"/>
            <a:chOff x="6671310" y="4070985"/>
            <a:chExt cx="4780598" cy="1343692"/>
          </a:xfrm>
        </p:grpSpPr>
        <p:sp>
          <p:nvSpPr>
            <p:cNvPr id="31" name="Freeform 31"/>
            <p:cNvSpPr/>
            <p:nvPr/>
          </p:nvSpPr>
          <p:spPr>
            <a:xfrm>
              <a:off x="6682740" y="4073842"/>
              <a:ext cx="4757737" cy="929640"/>
            </a:xfrm>
            <a:custGeom>
              <a:avLst/>
              <a:gdLst/>
              <a:ahLst/>
              <a:cxnLst/>
              <a:rect l="l" t="t" r="r" b="b"/>
              <a:pathLst>
                <a:path w="4757737" h="929640">
                  <a:moveTo>
                    <a:pt x="0" y="929640"/>
                  </a:moveTo>
                  <a:lnTo>
                    <a:pt x="475773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6682740" y="4272915"/>
              <a:ext cx="4757737" cy="530542"/>
            </a:xfrm>
            <a:custGeom>
              <a:avLst/>
              <a:gdLst/>
              <a:ahLst/>
              <a:cxnLst/>
              <a:rect l="l" t="t" r="r" b="b"/>
              <a:pathLst>
                <a:path w="4757737" h="530542">
                  <a:moveTo>
                    <a:pt x="0" y="530542"/>
                  </a:moveTo>
                  <a:lnTo>
                    <a:pt x="475773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6682740" y="4172902"/>
              <a:ext cx="4757737" cy="530542"/>
            </a:xfrm>
            <a:custGeom>
              <a:avLst/>
              <a:gdLst/>
              <a:ahLst/>
              <a:cxnLst/>
              <a:rect l="l" t="t" r="r" b="b"/>
              <a:pathLst>
                <a:path w="4757737" h="530542">
                  <a:moveTo>
                    <a:pt x="0" y="530542"/>
                  </a:moveTo>
                  <a:lnTo>
                    <a:pt x="475773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34" name="Ellipse 34"/>
            <p:cNvSpPr/>
            <p:nvPr/>
          </p:nvSpPr>
          <p:spPr>
            <a:xfrm>
              <a:off x="6671310" y="500443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11450003" y="407098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6671310" y="480441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11450003" y="427101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6671310" y="4704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11450003" y="41709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9014460" y="4491038"/>
              <a:ext cx="95250" cy="952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10208895" y="4257675"/>
              <a:ext cx="95250" cy="9525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984572" y="4328636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x*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215287" y="409527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x̃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185912" y="5056346"/>
              <a:ext cx="1752346" cy="358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320"/>
                </a:lnSpc>
              </a:pPr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两直线几乎平行：右端稍动（虚</a:t>
              </a:r>
              <a:br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线），交点移动很远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652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计算方法 总复习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4970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5693" y="407194"/>
              <a:ext cx="12651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第二章 线性方程组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典型题：病态方程组与矩阵的平衡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3" name="c1-card-1"/>
          <p:cNvGrpSpPr/>
          <p:nvPr/>
        </p:nvGrpSpPr>
        <p:grpSpPr>
          <a:xfrm>
            <a:off x="533400" y="1524000"/>
            <a:ext cx="5626418" cy="4685348"/>
            <a:chOff x="533400" y="1524000"/>
            <a:chExt cx="5626418" cy="468534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685348"/>
            </a:xfrm>
            <a:prstGeom prst="roundRect">
              <a:avLst>
                <a:gd name="adj" fmla="val 284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441864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9660" y="1743551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病态方程组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97164" y="1745932"/>
              <a:ext cx="41350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[1 0.99; 0.99 0.98]，b = (1.99, 1.97)ᵀ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66762" y="2127885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22782" y="2071688"/>
              <a:ext cx="443712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精确解 x = (1, 1)ᵀ；b 的第 2 个分量加 10⁻⁴，解变成 x̃ =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(1.99, 0)ᵀ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66762" y="2685098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22782" y="2628900"/>
              <a:ext cx="44090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det A = −10⁻⁴，A⁻¹ = [−9800 9900; 9900 −10000]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66762" y="2985135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22782" y="2928938"/>
              <a:ext cx="43680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‖A‖∞ = 1.99，‖A⁻¹‖∞ = 19900，Cond∞(A) = 39601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58190" y="3207068"/>
              <a:ext cx="5214938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885391" y="332851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相对误差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43158" y="332851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数值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55345" y="3728561"/>
              <a:ext cx="12311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右端 ‖δb‖∞/‖b‖∞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723322" y="3728561"/>
              <a:ext cx="16774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10⁻⁴/1.99 ≈ 5.03×10⁻⁵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58190" y="4002405"/>
              <a:ext cx="52149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58190" y="4007168"/>
              <a:ext cx="521493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55345" y="4128611"/>
              <a:ext cx="20389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上界 Cond∞(A)·‖δb‖∞/‖b‖∞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723322" y="4128611"/>
              <a:ext cx="4712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≈ 1.99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58190" y="4402455"/>
              <a:ext cx="52149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55345" y="4528661"/>
              <a:ext cx="12311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实际 ‖δx‖∞/‖x‖∞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723322" y="4528661"/>
              <a:ext cx="516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1/1 = 1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58190" y="3207068"/>
              <a:ext cx="5214938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3621405" y="3207068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2475" y="4909661"/>
              <a:ext cx="44894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右端只变了十万分之五，解的相对误差达到 100%，仍在上界之内。</a:t>
              </a:r>
            </a:p>
          </p:txBody>
        </p:sp>
      </p:grpSp>
      <p:grpSp>
        <p:nvGrpSpPr>
          <p:cNvPr id="57" name="c2-card-1"/>
          <p:cNvGrpSpPr/>
          <p:nvPr/>
        </p:nvGrpSpPr>
        <p:grpSpPr>
          <a:xfrm>
            <a:off x="6464618" y="1524000"/>
            <a:ext cx="5193982" cy="3329940"/>
            <a:chOff x="6464618" y="1524000"/>
            <a:chExt cx="5193982" cy="3329940"/>
          </a:xfrm>
        </p:grpSpPr>
        <p:sp>
          <p:nvSpPr>
            <p:cNvPr id="34" name="Rectangle 34"/>
            <p:cNvSpPr/>
            <p:nvPr/>
          </p:nvSpPr>
          <p:spPr>
            <a:xfrm>
              <a:off x="6464618" y="1524000"/>
              <a:ext cx="5193982" cy="3329940"/>
            </a:xfrm>
            <a:prstGeom prst="roundRect">
              <a:avLst>
                <a:gd name="adj" fmla="val 400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474142" y="1657350"/>
              <a:ext cx="47625" cy="306324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689408" y="1710690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70878" y="1743551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矩阵的平衡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9334" y="1745932"/>
              <a:ext cx="2090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[1 20000; 2 1000]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689408" y="2049780"/>
              <a:ext cx="4782502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158836" y="217122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矩阵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480577" y="2171224"/>
              <a:ext cx="4529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Cond∞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786562" y="257127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038398" y="2571274"/>
              <a:ext cx="5542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≈ 10770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689408" y="2845118"/>
              <a:ext cx="47825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689408" y="2849880"/>
              <a:ext cx="4782502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786562" y="2971324"/>
              <a:ext cx="2380437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按行平衡 D₁A，D₁ = diag(1/20000,</a:t>
              </a:r>
              <a:br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1/1000)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038398" y="3071336"/>
              <a:ext cx="4712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≈ 1028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689408" y="3445192"/>
              <a:ext cx="47825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786562" y="3571399"/>
              <a:ext cx="2821381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再按列平衡 D₁AD₂ = [0.025 1; 1 1]，D₂ =</a:t>
              </a:r>
              <a:br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diag(500, 1)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038398" y="3671411"/>
              <a:ext cx="4712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≈ 4.10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689408" y="2049780"/>
              <a:ext cx="4782502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9936480" y="204978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6697980" y="4211955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853999" y="4155758"/>
              <a:ext cx="41972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按行平衡：D₁Ax = D₁b，使每行最大元的绝对值为 1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697980" y="4511992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853999" y="4455795"/>
              <a:ext cx="39229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再按列平衡：解 D₁AD₂y = D₁b，得 y 后 x = D₂y</a:t>
              </a:r>
            </a:p>
          </p:txBody>
        </p:sp>
      </p:grpSp>
      <p:grpSp>
        <p:nvGrpSpPr>
          <p:cNvPr id="63" name="c2-card-2"/>
          <p:cNvGrpSpPr/>
          <p:nvPr/>
        </p:nvGrpSpPr>
        <p:grpSpPr>
          <a:xfrm>
            <a:off x="6464618" y="5023485"/>
            <a:ext cx="5193982" cy="1185862"/>
            <a:chOff x="6464618" y="5023485"/>
            <a:chExt cx="5193982" cy="1185862"/>
          </a:xfrm>
        </p:grpSpPr>
        <p:sp>
          <p:nvSpPr>
            <p:cNvPr id="58" name="Rectangle 58"/>
            <p:cNvSpPr/>
            <p:nvPr/>
          </p:nvSpPr>
          <p:spPr>
            <a:xfrm>
              <a:off x="6464618" y="5023485"/>
              <a:ext cx="5193982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6474142" y="5156835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6689408" y="52101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782079" y="52430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682549" y="5554028"/>
              <a:ext cx="453999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原课件把列平衡写作 D₁AD₂x = D₁b。列缩放改变了未知量，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方程应写成 D₁AD₂y = D₁b，其中 x = D₂y。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1652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计算方法 总复习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761681" cy="909257"/>
            <a:chOff x="520446" y="342900"/>
            <a:chExt cx="776168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4970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5693" y="407194"/>
              <a:ext cx="12651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第二章 线性方程组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76168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迭代法的一般形式与收敛性：ρ(H) &lt; 1 是充要条件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626418" cy="3021330"/>
            <a:chOff x="533400" y="1524000"/>
            <a:chExt cx="5626418" cy="302133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3021330"/>
            </a:xfrm>
            <a:prstGeom prst="roundRect">
              <a:avLst>
                <a:gd name="adj" fmla="val 441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75463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3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一般形式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82765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Ax = b 改写成等价的 x = Hx + g，任取初值 x⁽⁰⁾：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82"/>
                <p:cNvSpPr txBox="1">
                  <a:spLocks noGrp="1"/>
                </p:cNvSpPr>
                <p:nvPr/>
              </p:nvSpPr>
              <p:spPr>
                <a:xfrm>
                  <a:off x="781050" y="2421255"/>
                  <a:ext cx="5169218" cy="495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</m:sup>
                        </m:sSup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H</m:t>
                        </m:r>
                        <m:sSup>
                          <m:e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e>
                            </m:d>
                          </m:sup>
                        </m:sSup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g</m:t>
                        </m:r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</m:t>
                        </m:r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,⋯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73430" y="3036570"/>
              <a:ext cx="44543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精确解满足 x* = Hx* + g，两式相减得误差递推：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formula83"/>
                <p:cNvSpPr txBox="1">
                  <a:spLocks noGrp="1"/>
                </p:cNvSpPr>
                <p:nvPr/>
              </p:nvSpPr>
              <p:spPr>
                <a:xfrm>
                  <a:off x="781050" y="3347085"/>
                  <a:ext cx="5169218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</m:sup>
                        </m:sSup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sSup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*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H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e>
                                </m:d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=⋯=</m:t>
                        </m:r>
                        <m:sSup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</m:e>
                          <m:sup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0</m:t>
                                    </m:r>
                                  </m:e>
                                </m:d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5" name="TextBox 15"/>
            <p:cNvSpPr txBox="1"/>
            <p:nvPr/>
          </p:nvSpPr>
          <p:spPr>
            <a:xfrm>
              <a:off x="774573" y="3901916"/>
              <a:ext cx="46865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对任意初值都收敛，就是要求 Hᵏ(x⁽⁰⁾ − x*) → 0 对一切 x⁽⁰⁾ 成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立。</a:t>
              </a:r>
            </a:p>
          </p:txBody>
        </p:sp>
      </p:grpSp>
      <p:grpSp>
        <p:nvGrpSpPr>
          <p:cNvPr id="37" name="c2-flow-1"/>
          <p:cNvGrpSpPr/>
          <p:nvPr/>
        </p:nvGrpSpPr>
        <p:grpSpPr>
          <a:xfrm>
            <a:off x="6828472" y="1700212"/>
            <a:ext cx="4466272" cy="2807970"/>
            <a:chOff x="6828472" y="1700212"/>
            <a:chExt cx="4466272" cy="2807970"/>
          </a:xfrm>
        </p:grpSpPr>
        <p:sp>
          <p:nvSpPr>
            <p:cNvPr id="17" name="Freeform 17"/>
            <p:cNvSpPr/>
            <p:nvPr/>
          </p:nvSpPr>
          <p:spPr>
            <a:xfrm>
              <a:off x="9062085" y="2138362"/>
              <a:ext cx="9525" cy="246698"/>
            </a:xfrm>
            <a:custGeom>
              <a:avLst/>
              <a:gdLst/>
              <a:ahLst/>
              <a:cxnLst/>
              <a:rect l="l" t="t" r="r" b="b"/>
              <a:pathLst>
                <a:path w="9525" h="246698">
                  <a:moveTo>
                    <a:pt x="0" y="0"/>
                  </a:moveTo>
                  <a:lnTo>
                    <a:pt x="0" y="24669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9009698" y="238506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9062085" y="2927985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9009698" y="317563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9062085" y="3823335"/>
              <a:ext cx="9525" cy="246698"/>
            </a:xfrm>
            <a:custGeom>
              <a:avLst/>
              <a:gdLst/>
              <a:ahLst/>
              <a:cxnLst/>
              <a:rect l="l" t="t" r="r" b="b"/>
              <a:pathLst>
                <a:path w="9525" h="246698">
                  <a:moveTo>
                    <a:pt x="0" y="246698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9009698" y="371856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828472" y="1700212"/>
              <a:ext cx="4466272" cy="43815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828472" y="2489835"/>
              <a:ext cx="446627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828472" y="3280410"/>
              <a:ext cx="4466272" cy="438150"/>
            </a:xfrm>
            <a:prstGeom prst="roundRect">
              <a:avLst>
                <a:gd name="adj" fmla="val 21739"/>
              </a:avLst>
            </a:prstGeom>
            <a:solidFill>
              <a:srgbClr val="E5F2EA"/>
            </a:solidFill>
            <a:ln w="19050">
              <a:solidFill>
                <a:srgbClr val="2E7D4F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828472" y="4070032"/>
              <a:ext cx="4466272" cy="438150"/>
            </a:xfrm>
            <a:prstGeom prst="roundRect">
              <a:avLst>
                <a:gd name="adj" fmla="val 17391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113053" y="1830229"/>
              <a:ext cx="18980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迭代法对任意 x⁽⁰⁾ 收敛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416341" y="2619851"/>
              <a:ext cx="12914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Hᵏ → O（k → ∞）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710087" y="3410426"/>
              <a:ext cx="7039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ρ(H) &lt; 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206395" y="4200049"/>
              <a:ext cx="17113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某种算子范数 ‖H‖ &lt; 1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9090660" y="2222182"/>
              <a:ext cx="928688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113901" y="2248852"/>
              <a:ext cx="8941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引理 2.1 充要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9090660" y="3011805"/>
              <a:ext cx="928688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113901" y="3038475"/>
              <a:ext cx="8941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引理 2.2 充要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9090660" y="3802380"/>
              <a:ext cx="1208722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113901" y="3829050"/>
              <a:ext cx="11681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ρ(H) ≤ ‖H‖，充分</a:t>
              </a:r>
            </a:p>
          </p:txBody>
        </p:sp>
      </p:grpSp>
      <p:grpSp>
        <p:nvGrpSpPr>
          <p:cNvPr id="43" name="c2-callout-2"/>
          <p:cNvGrpSpPr/>
          <p:nvPr/>
        </p:nvGrpSpPr>
        <p:grpSpPr>
          <a:xfrm>
            <a:off x="6464618" y="4874895"/>
            <a:ext cx="5193982" cy="782955"/>
            <a:chOff x="6464618" y="4874895"/>
            <a:chExt cx="5193982" cy="782955"/>
          </a:xfrm>
        </p:grpSpPr>
        <p:sp>
          <p:nvSpPr>
            <p:cNvPr id="38" name="Rectangle 38"/>
            <p:cNvSpPr/>
            <p:nvPr/>
          </p:nvSpPr>
          <p:spPr>
            <a:xfrm>
              <a:off x="6464618" y="4874895"/>
              <a:ext cx="5193982" cy="782955"/>
            </a:xfrm>
            <a:prstGeom prst="roundRect">
              <a:avLst>
                <a:gd name="adj" fmla="val 14599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6669405" y="5166362"/>
              <a:ext cx="200023" cy="200023"/>
              <a:chOff x="6669405" y="5166362"/>
              <a:chExt cx="200023" cy="200023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6669405" y="516636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802755" y="523303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6971348" y="5023485"/>
              <a:ext cx="42919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定理 2.4：迭代法 x⁽ᵏ⁺¹⁾ = Hx⁽ᵏ⁾ + g 对任意初值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收敛 ⇔ ρ(H) &lt; 1。</a:t>
              </a:r>
            </a:p>
          </p:txBody>
        </p:sp>
      </p:grpSp>
      <p:grpSp>
        <p:nvGrpSpPr>
          <p:cNvPr id="50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4" name="Rectangle 44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40130" y="5991225"/>
              <a:ext cx="63118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‖H‖ &lt; 1 只是充分条件。算出 ‖H‖∞ ≥ 1 不能断定发散，还要看 ρ(H)。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1652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计算方法 总复习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61057" cy="909257"/>
            <a:chOff x="520446" y="342900"/>
            <a:chExt cx="626105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4970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5693" y="407194"/>
              <a:ext cx="12651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第二章 线性方程组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6105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收敛速度与误差估计：‖H‖ 越小收敛越快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card-1"/>
          <p:cNvGrpSpPr/>
          <p:nvPr/>
        </p:nvGrpSpPr>
        <p:grpSpPr>
          <a:xfrm>
            <a:off x="533400" y="1524000"/>
            <a:ext cx="6059805" cy="4084320"/>
            <a:chOff x="533400" y="1524000"/>
            <a:chExt cx="6059805" cy="40843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084320"/>
            </a:xfrm>
            <a:prstGeom prst="roundRect">
              <a:avLst>
                <a:gd name="adj" fmla="val 326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81762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84860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2635" y="1769269"/>
              <a:ext cx="621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 2.5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72590" y="1768792"/>
              <a:ext cx="25951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设某种算子范数 q = ‖H‖ &lt; 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迭代对任意初值收敛，且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88"/>
                <p:cNvSpPr txBox="1">
                  <a:spLocks noGrp="1"/>
                </p:cNvSpPr>
                <p:nvPr/>
              </p:nvSpPr>
              <p:spPr>
                <a:xfrm>
                  <a:off x="781050" y="2440305"/>
                  <a:ext cx="5602605" cy="66865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‖"/>
                            <m:sepChr m:val=""/>
                            <m:endChr m:val="‖"/>
                            <m:grow m:val="on"/>
                            <m:ctrl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e>
                                </m:d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f>
                          <m:fPr>
                            <m:type m:val="bar"/>
                            <m:ctrl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q</m:t>
                            </m:r>
                          </m:num>
                          <m:den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q</m:t>
                            </m:r>
                          </m:den>
                        </m:f>
                        <m: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d>
                          <m:dPr>
                            <m:begChr m:val="‖"/>
                            <m:sepChr m:val=""/>
                            <m:endChr m:val="‖"/>
                            <m:grow m:val="on"/>
                            <m:ctrl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e>
                                </m:d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formula89"/>
                <p:cNvSpPr txBox="1">
                  <a:spLocks noGrp="1"/>
                </p:cNvSpPr>
                <p:nvPr/>
              </p:nvSpPr>
              <p:spPr>
                <a:xfrm>
                  <a:off x="781050" y="3204210"/>
                  <a:ext cx="5602605" cy="66865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‖"/>
                            <m:sepChr m:val=""/>
                            <m:endChr m:val="‖"/>
                            <m:grow m:val="on"/>
                            <m:ctrl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e>
                                </m:d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f>
                          <m:fPr>
                            <m:type m:val="bar"/>
                            <m:ctrl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q</m:t>
                                </m:r>
                              </m:e>
                              <m:sup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p>
                            </m:sSup>
                          </m:num>
                          <m:den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q</m:t>
                            </m:r>
                          </m:den>
                        </m:f>
                        <m: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d>
                          <m:dPr>
                            <m:begChr m:val="‖"/>
                            <m:sepChr m:val=""/>
                            <m:endChr m:val="‖"/>
                            <m:grow m:val="on"/>
                            <m:ctrl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0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5" name="Ellipse 15"/>
            <p:cNvSpPr/>
            <p:nvPr/>
          </p:nvSpPr>
          <p:spPr>
            <a:xfrm>
              <a:off x="786765" y="405574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992880"/>
              <a:ext cx="54673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第一式（事后估计）：相邻两次迭代值足够接近时就可以停止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6765" y="439102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4880" y="4328160"/>
              <a:ext cx="379133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第二式（事前估计）：要使误差 ≤ ε，只需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formula90"/>
                <p:cNvSpPr txBox="1">
                  <a:spLocks noGrp="1"/>
                </p:cNvSpPr>
                <p:nvPr/>
              </p:nvSpPr>
              <p:spPr>
                <a:xfrm>
                  <a:off x="781050" y="4638675"/>
                  <a:ext cx="5602605" cy="66865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</m:t>
                        </m:r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≥</m:t>
                        </m:r>
                        <m:f>
                          <m:fPr>
                            <m:type m:val="bar"/>
                            <m:ctrl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func>
                              <m:funcPr/>
                              <m:fName>
                                <m:r>
                                  <m:rPr>
                                    <m:sty m:val="p"/>
                                  </m:r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ln</m:t>
                                </m:r>
                              </m:fName>
                              <m:e>
                                <m:d>
                                  <m:dPr>
                                    <m:begChr m:val="["/>
                                    <m:sepChr m:val=""/>
                                    <m:endChr m:val="]"/>
                                    <m:grow m:val="on"/>
                                    <m:ctrlP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ε</m:t>
                                    </m:r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9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9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9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zh-CN" sz="19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q</m:t>
                                        </m:r>
                                      </m:e>
                                    </m:d>
                                    <m:r>
                                      <m:rPr>
                                        <m:sty m:val="p"/>
                                      </m:rP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/</m:t>
                                    </m:r>
                                    <m:d>
                                      <m:dPr>
                                        <m:begChr m:val="‖"/>
                                        <m:sepChr m:val=""/>
                                        <m:endChr m:val="‖"/>
                                        <m:grow m:val="on"/>
                                        <m:ctrlPr>
                                          <a:rPr lang="zh-CN" sz="19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e>
                                            <m:r>
                                              <a:rPr lang="zh-CN" sz="19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x</m:t>
                                            </m:r>
                                          </m:e>
                                          <m:sup>
                                            <m:d>
                                              <m:dPr>
                                                <m:begChr m:val="("/>
                                                <m:sepChr m:val=""/>
                                                <m:endChr m:val=")"/>
                                                <m:grow m:val="on"/>
                                                <m:ctrlPr>
                                                  <a:rPr lang="zh-CN" sz="195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zh-CN" sz="195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1</m:t>
                                                </m:r>
                                              </m:e>
                                            </m:d>
                                          </m:sup>
                                        </m:sSup>
                                        <m:r>
                                          <m:rPr>
                                            <m:sty m:val="p"/>
                                          </m:rPr>
                                          <a:rPr lang="zh-CN" sz="19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sSup>
                                          <m:e>
                                            <m:r>
                                              <a:rPr lang="zh-CN" sz="19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x</m:t>
                                            </m:r>
                                          </m:e>
                                          <m:sup>
                                            <m:d>
                                              <m:dPr>
                                                <m:begChr m:val="("/>
                                                <m:sepChr m:val=""/>
                                                <m:endChr m:val=")"/>
                                                <m:grow m:val="on"/>
                                                <m:ctrlPr>
                                                  <a:rPr lang="zh-CN" sz="195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zh-CN" sz="195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0</m:t>
                                                </m:r>
                                              </m:e>
                                            </m:d>
                                          </m:sup>
                                        </m:sSup>
                                      </m:e>
                                    </m:d>
                                  </m:e>
                                </m:d>
                              </m:e>
                            </m:func>
                          </m:num>
                          <m:den>
                            <m:func>
                              <m:funcPr/>
                              <m:fName>
                                <m:r>
                                  <m:rPr>
                                    <m:sty m:val="p"/>
                                  </m:r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ln</m:t>
                                </m:r>
                              </m:fName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q</m:t>
                                </m:r>
                              </m:e>
                            </m:func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0" name="c2-card-1"/>
          <p:cNvGrpSpPr/>
          <p:nvPr/>
        </p:nvGrpSpPr>
        <p:grpSpPr>
          <a:xfrm>
            <a:off x="6898005" y="1524000"/>
            <a:ext cx="4760595" cy="2242185"/>
            <a:chOff x="6898005" y="1524000"/>
            <a:chExt cx="4760595" cy="2242185"/>
          </a:xfrm>
        </p:grpSpPr>
        <p:sp>
          <p:nvSpPr>
            <p:cNvPr id="21" name="Rectangle 21"/>
            <p:cNvSpPr/>
            <p:nvPr/>
          </p:nvSpPr>
          <p:spPr>
            <a:xfrm>
              <a:off x="6898005" y="1524000"/>
              <a:ext cx="4760595" cy="2242185"/>
            </a:xfrm>
            <a:prstGeom prst="roundRect">
              <a:avLst>
                <a:gd name="adj" fmla="val 59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907530" y="1657350"/>
              <a:ext cx="47625" cy="197548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145655" y="173355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219112" y="176926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渐近收敛速度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formula91"/>
                <p:cNvSpPr txBox="1">
                  <a:spLocks noGrp="1"/>
                </p:cNvSpPr>
                <p:nvPr/>
              </p:nvSpPr>
              <p:spPr>
                <a:xfrm>
                  <a:off x="7145655" y="2085975"/>
                  <a:ext cx="4303395" cy="495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R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=−</m:t>
                        </m:r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ln</m:t>
                            </m:r>
                          </m:fName>
                          <m:e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ρ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H</m:t>
                                </m:r>
                              </m:e>
                            </m:d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6" name="Ellipse 26"/>
            <p:cNvSpPr/>
            <p:nvPr/>
          </p:nvSpPr>
          <p:spPr>
            <a:xfrm>
              <a:off x="7151370" y="276415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309485" y="2701290"/>
              <a:ext cx="32966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误差缩小到 1/10 约需 ln10/R(H) 步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151370" y="309943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309485" y="3036570"/>
              <a:ext cx="37395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ρ(H) = 0.5 时约 3.3 步提高一位有效数字，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ρ(H) = 0.9 时约要 22 步</a:t>
              </a:r>
            </a:p>
          </p:txBody>
        </p:sp>
      </p:grpSp>
      <p:grpSp>
        <p:nvGrpSpPr>
          <p:cNvPr id="39" name="c2-card-2"/>
          <p:cNvGrpSpPr/>
          <p:nvPr/>
        </p:nvGrpSpPr>
        <p:grpSpPr>
          <a:xfrm>
            <a:off x="6898005" y="3956685"/>
            <a:ext cx="4760595" cy="1651635"/>
            <a:chOff x="6898005" y="3956685"/>
            <a:chExt cx="4760595" cy="1651635"/>
          </a:xfrm>
        </p:grpSpPr>
        <p:sp>
          <p:nvSpPr>
            <p:cNvPr id="31" name="Rectangle 31"/>
            <p:cNvSpPr/>
            <p:nvPr/>
          </p:nvSpPr>
          <p:spPr>
            <a:xfrm>
              <a:off x="6898005" y="3956685"/>
              <a:ext cx="4760595" cy="1651635"/>
            </a:xfrm>
            <a:prstGeom prst="roundRect">
              <a:avLst>
                <a:gd name="adj" fmla="val 80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907530" y="4090035"/>
              <a:ext cx="47625" cy="138493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145655" y="41662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235863" y="42019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151370" y="460629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309485" y="4543425"/>
              <a:ext cx="38442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原课件第二个估计式分子写作 ‖H‖，漏了 k 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方，应为 ‖H‖ᵏ（课件上已有手写补的 k）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151370" y="522732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309485" y="5164455"/>
              <a:ext cx="34587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引理 2.1 中的 H⁽ᵏ⁾ 指 H 的 k 次幂 Hᵏ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1652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计算方法 总复习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147279" cy="909257"/>
            <a:chOff x="520446" y="342900"/>
            <a:chExt cx="814727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4970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5693" y="407194"/>
              <a:ext cx="12651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第二章 线性方程组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14727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Jacobi 与 Gauss-Seidel 迭代：分量形式与矩阵形式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10136314" cy="293370"/>
            <a:chOff x="525780" y="1548765"/>
            <a:chExt cx="10136314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01363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 A 分裂为 A = D − L − U：D 是 A 的对角部分，−L、−U 分别是 A 的严格下三角、严格上三角部分，设 aᵢᵢ ≠ 0。</a:t>
              </a:r>
            </a:p>
          </p:txBody>
        </p:sp>
      </p:grpSp>
      <p:grpSp>
        <p:nvGrpSpPr>
          <p:cNvPr id="18" name="c1-card-1"/>
          <p:cNvGrpSpPr/>
          <p:nvPr/>
        </p:nvGrpSpPr>
        <p:grpSpPr>
          <a:xfrm>
            <a:off x="533400" y="1954530"/>
            <a:ext cx="5410200" cy="3462338"/>
            <a:chOff x="533400" y="1954530"/>
            <a:chExt cx="5410200" cy="3462338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410200" cy="3462338"/>
            </a:xfrm>
            <a:prstGeom prst="roundRect">
              <a:avLst>
                <a:gd name="adj" fmla="val 385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87880"/>
              <a:ext cx="47625" cy="3195638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9620" y="2152650"/>
              <a:ext cx="944880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4429" y="2186940"/>
              <a:ext cx="7952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Jacobi 迭代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104"/>
                <p:cNvSpPr txBox="1">
                  <a:spLocks noGrp="1"/>
                </p:cNvSpPr>
                <p:nvPr/>
              </p:nvSpPr>
              <p:spPr>
                <a:xfrm>
                  <a:off x="769620" y="2489835"/>
                  <a:ext cx="4975860" cy="800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Sup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b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  <m: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</m:sup>
                        </m:sSubSup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sSub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ii</m:t>
                                </m:r>
                              </m:sub>
                            </m:sSub>
                          </m:den>
                        </m:f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e>
                              <m:sub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n"/>
                                <m:ctrl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≠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  <m:sup/>
                              <m:e>
                                <m:sSub>
                                  <m:e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ij</m:t>
                                    </m:r>
                                  </m:sub>
                                </m:sSub>
                                <m:sSubSup>
                                  <m:e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8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8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</m:e>
                                    </m:d>
                                  </m:sup>
                                </m:sSubSup>
                              </m:e>
                            </m:nary>
                          </m:e>
                        </m:d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,⋯,</m:t>
                        </m:r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62381" y="3402806"/>
              <a:ext cx="30136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Dx = (L + U)x + b 得矩阵形式：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105"/>
                <p:cNvSpPr txBox="1">
                  <a:spLocks noGrp="1"/>
                </p:cNvSpPr>
                <p:nvPr/>
              </p:nvSpPr>
              <p:spPr>
                <a:xfrm>
                  <a:off x="769620" y="3697605"/>
                  <a:ext cx="4975860" cy="45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</m:sup>
                        </m:sSup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U</m:t>
                            </m:r>
                          </m:e>
                        </m:d>
                        <m:sSup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e>
                            </m:d>
                          </m:sup>
                        </m:sSup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p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p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b</m:t>
                        </m:r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formula106"/>
                <p:cNvSpPr txBox="1">
                  <a:spLocks noGrp="1"/>
                </p:cNvSpPr>
                <p:nvPr/>
              </p:nvSpPr>
              <p:spPr>
                <a:xfrm>
                  <a:off x="769620" y="4244340"/>
                  <a:ext cx="4975860" cy="45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</m:e>
                          <m:sub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U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7" name="TextBox 17"/>
            <p:cNvSpPr txBox="1"/>
            <p:nvPr/>
          </p:nvSpPr>
          <p:spPr>
            <a:xfrm>
              <a:off x="763524" y="4810125"/>
              <a:ext cx="472135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算第 i 个分量只用上一步的旧值，要保存两套向量，各分量可以并行计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算。</a:t>
              </a:r>
            </a:p>
          </p:txBody>
        </p:sp>
      </p:grpSp>
      <p:grpSp>
        <p:nvGrpSpPr>
          <p:cNvPr id="28" name="c2-card-1"/>
          <p:cNvGrpSpPr/>
          <p:nvPr/>
        </p:nvGrpSpPr>
        <p:grpSpPr>
          <a:xfrm>
            <a:off x="6248400" y="1954530"/>
            <a:ext cx="5410200" cy="3462338"/>
            <a:chOff x="6248400" y="1954530"/>
            <a:chExt cx="5410200" cy="3462338"/>
          </a:xfrm>
        </p:grpSpPr>
        <p:sp>
          <p:nvSpPr>
            <p:cNvPr id="19" name="Rectangle 19"/>
            <p:cNvSpPr/>
            <p:nvPr/>
          </p:nvSpPr>
          <p:spPr>
            <a:xfrm>
              <a:off x="6248400" y="1954530"/>
              <a:ext cx="5410200" cy="3462338"/>
            </a:xfrm>
            <a:prstGeom prst="roundRect">
              <a:avLst>
                <a:gd name="adj" fmla="val 385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257925" y="2087880"/>
              <a:ext cx="47625" cy="3195638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484620" y="2152650"/>
              <a:ext cx="1372552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43908" y="2186940"/>
              <a:ext cx="12530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Gauss-Seidel 迭代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formula107"/>
                <p:cNvSpPr txBox="1">
                  <a:spLocks noGrp="1"/>
                </p:cNvSpPr>
                <p:nvPr/>
              </p:nvSpPr>
              <p:spPr>
                <a:xfrm>
                  <a:off x="6484620" y="2489835"/>
                  <a:ext cx="4975860" cy="800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Sup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b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  <m: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</m:sup>
                        </m:sSubSup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sSub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ii</m:t>
                                </m:r>
                              </m:sub>
                            </m:sSub>
                          </m:den>
                        </m:f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e>
                              <m:sub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n"/>
                                <m:ctrl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&lt;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  <m:sup/>
                              <m:e>
                                <m:sSub>
                                  <m:e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ij</m:t>
                                    </m:r>
                                  </m:sub>
                                </m:sSub>
                                <m:sSubSup>
                                  <m:e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8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8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8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+</m:t>
                                        </m:r>
                                        <m:r>
                                          <a:rPr lang="zh-CN" sz="18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bSup>
                              </m:e>
                            </m:nary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n"/>
                                <m:ctrl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&gt;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  <m:sup/>
                              <m:e>
                                <m:sSub>
                                  <m:e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ij</m:t>
                                    </m:r>
                                  </m:sub>
                                </m:sSub>
                                <m:sSubSup>
                                  <m:e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8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8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</m:e>
                                    </m:d>
                                  </m:sup>
                                </m:sSubSup>
                              </m:e>
                            </m:nary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4" name="TextBox 24"/>
            <p:cNvSpPr txBox="1"/>
            <p:nvPr/>
          </p:nvSpPr>
          <p:spPr>
            <a:xfrm>
              <a:off x="6477381" y="3402806"/>
              <a:ext cx="30136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(D − L)x = Ux + b 得矩阵形式：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formula108"/>
                <p:cNvSpPr txBox="1">
                  <a:spLocks noGrp="1"/>
                </p:cNvSpPr>
                <p:nvPr/>
              </p:nvSpPr>
              <p:spPr>
                <a:xfrm>
                  <a:off x="6484620" y="3697605"/>
                  <a:ext cx="4975860" cy="45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</m:sup>
                        </m:sSup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</m:t>
                                </m:r>
                              </m:e>
                            </m:d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p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U</m:t>
                        </m:r>
                        <m:sSup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e>
                            </m:d>
                          </m:sup>
                        </m:sSup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</m:t>
                                </m:r>
                              </m:e>
                            </m:d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p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b</m:t>
                        </m:r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formula109"/>
                <p:cNvSpPr txBox="1">
                  <a:spLocks noGrp="1"/>
                </p:cNvSpPr>
                <p:nvPr/>
              </p:nvSpPr>
              <p:spPr>
                <a:xfrm>
                  <a:off x="6484620" y="4244340"/>
                  <a:ext cx="4975860" cy="45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</m:e>
                          <m:sub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G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</m:t>
                                </m:r>
                              </m:e>
                            </m:d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p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U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7" name="TextBox 27"/>
            <p:cNvSpPr txBox="1"/>
            <p:nvPr/>
          </p:nvSpPr>
          <p:spPr>
            <a:xfrm>
              <a:off x="6478524" y="4810125"/>
              <a:ext cx="3727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新算出的分量立即用于后面的分量，只需一套向量。</a:t>
              </a:r>
            </a:p>
          </p:txBody>
        </p:sp>
      </p:grpSp>
      <p:grpSp>
        <p:nvGrpSpPr>
          <p:cNvPr id="34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29" name="Rectangle 29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38188" y="6011230"/>
              <a:ext cx="200023" cy="200023"/>
              <a:chOff x="738188" y="6011230"/>
              <a:chExt cx="200023" cy="200023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38188" y="60112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71538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40511" y="6011704"/>
              <a:ext cx="976203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充分条件：A 严格对角占优 ⇒ Jacobi 与 G-S 都收敛；A 对称正定 ⇒ G-S 收敛。其余情形算两个迭代矩阵的谱半径。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5" name="TextBox 35"/>
            <p:cNvSpPr txBox="1"/>
            <p:nvPr/>
          </p:nvSpPr>
          <p:spPr>
            <a:xfrm>
              <a:off x="528447" y="6581299"/>
              <a:ext cx="1652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计算方法 总复习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84919" cy="909257"/>
            <a:chOff x="520446" y="342900"/>
            <a:chExt cx="898491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4970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5693" y="407194"/>
              <a:ext cx="12651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第二章 线性方程组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8491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典型题（一）：Jacobi 迭代到 ‖x⁽ᵏ⁾ − x⁽ᵏ⁻¹⁾‖∞ &lt; 10⁻³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10707434" cy="293370"/>
            <a:chOff x="525780" y="1548765"/>
            <a:chExt cx="10707434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07074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10x₁ − x₂ − 2x₃ = 7.2，−x₁ + 10x₂ − 2x₃ = 8.3，−x₁ − x₂ + 5x₃ = 4.2；精确解 (1.1, 1.2, 1.3)ᵀ，初值 x⁽⁰⁾ = 0。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112"/>
              <p:cNvSpPr txBox="1">
                <a:spLocks noGrp="1"/>
              </p:cNvSpPr>
              <p:nvPr/>
            </p:nvSpPr>
            <p:spPr>
              <a:xfrm>
                <a:off x="533400" y="1954530"/>
                <a:ext cx="4869180" cy="1200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{"/>
                          <m:sepChr m:val=""/>
                          <m:endChr m:val="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eqArr>
                            <m:eqArrPr>
                              <m:baseJc m:val="center"/>
                            </m:eqArrPr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sSubSup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  <m:sup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k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+</m:t>
                                      </m:r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0.1</m:t>
                              </m:r>
                              <m:sSubSup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  <m:sup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k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0.2</m:t>
                              </m:r>
                              <m:sSubSup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sub>
                                <m:sup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k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0.72</m:t>
                              </m:r>
                            </m:e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sSubSup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  <m:sup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k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+</m:t>
                                      </m:r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0.1</m:t>
                              </m:r>
                              <m:sSubSup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  <m:sup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k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0.2</m:t>
                              </m:r>
                              <m:sSubSup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sub>
                                <m:sup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k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0.83</m:t>
                              </m:r>
                            </m:e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sSubSup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sub>
                                <m:sup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k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+</m:t>
                                      </m:r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0.2</m:t>
                              </m:r>
                              <m:sSubSup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  <m:sup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k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0.2</m:t>
                              </m:r>
                              <m:sSubSup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  <m:sup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k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0.84</m:t>
                              </m:r>
                            </m:e>
                          </m:eqAr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22" name="c1-card-2"/>
          <p:cNvGrpSpPr/>
          <p:nvPr/>
        </p:nvGrpSpPr>
        <p:grpSpPr>
          <a:xfrm>
            <a:off x="533400" y="3334702"/>
            <a:ext cx="4869180" cy="2747010"/>
            <a:chOff x="533400" y="3334702"/>
            <a:chExt cx="4869180" cy="2747010"/>
          </a:xfrm>
        </p:grpSpPr>
        <p:sp>
          <p:nvSpPr>
            <p:cNvPr id="10" name="Rectangle 10"/>
            <p:cNvSpPr/>
            <p:nvPr/>
          </p:nvSpPr>
          <p:spPr>
            <a:xfrm>
              <a:off x="533400" y="3334702"/>
              <a:ext cx="4869180" cy="2747010"/>
            </a:xfrm>
            <a:prstGeom prst="roundRect">
              <a:avLst>
                <a:gd name="adj" fmla="val 485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542925" y="3468052"/>
              <a:ext cx="47625" cy="248031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69620" y="3532822"/>
              <a:ext cx="140970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33057" y="356711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先判断、再估计次数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77240" y="3953828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3831" y="3893344"/>
              <a:ext cx="409917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每行 |aᵢᵢ| 大于同行其余元素绝对值之和（10 &gt; 3，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&gt; 3，5 &gt; 2），严格对角占优，Jacobi 收敛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77240" y="4543425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33831" y="4482941"/>
              <a:ext cx="417221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迭代矩阵行和为 0.3、0.3、0.4，∞ 范数 q = 0.4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77240" y="4860608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33831" y="4801076"/>
              <a:ext cx="389178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x⁽¹⁾ = (0.72, 0.83, 0.84)ᵀ，‖x⁽¹⁾ − x⁽⁰⁾‖∞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0.84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77240" y="5450205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33831" y="5389721"/>
              <a:ext cx="345897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事前估计误差 ≤ 10⁻³：k ≥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ln(10⁻³×0.6/0.84)/ln0.4 ≈ 7.9，取 8 步</a:t>
              </a:r>
            </a:p>
          </p:txBody>
        </p:sp>
      </p:grpSp>
      <p:grpSp>
        <p:nvGrpSpPr>
          <p:cNvPr id="87" name="c2-table-1"/>
          <p:cNvGrpSpPr/>
          <p:nvPr/>
        </p:nvGrpSpPr>
        <p:grpSpPr>
          <a:xfrm>
            <a:off x="5702046" y="1954530"/>
            <a:ext cx="5956554" cy="4100131"/>
            <a:chOff x="5702046" y="1954530"/>
            <a:chExt cx="5956554" cy="4100131"/>
          </a:xfrm>
        </p:grpSpPr>
        <p:sp>
          <p:nvSpPr>
            <p:cNvPr id="23" name="Rectangle 23"/>
            <p:cNvSpPr/>
            <p:nvPr/>
          </p:nvSpPr>
          <p:spPr>
            <a:xfrm>
              <a:off x="5707380" y="1954530"/>
              <a:ext cx="5951220" cy="42481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962296" y="208311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793855" y="208311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936855" y="208311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079855" y="208311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x₃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994171" y="2083118"/>
              <a:ext cx="1420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‖x⁽ᵏ⁾ − x⁽ᵏ⁻¹⁾‖∞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962296" y="250698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576174" y="250698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0.72000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719174" y="250698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0.83000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862174" y="250698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0.84000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387127" y="250698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0.84000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707380" y="279844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707380" y="2803208"/>
              <a:ext cx="595122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962296" y="293179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76174" y="2931795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0.97100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719174" y="2931795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1.07000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862174" y="2931795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1.15000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387127" y="2931795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0.31000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707380" y="322326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962296" y="33566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76174" y="335661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1.05700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719174" y="335661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1.15710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862174" y="335661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1.24820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387127" y="335661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0.09820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707380" y="364712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5707380" y="3651885"/>
              <a:ext cx="595122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962296" y="378047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576174" y="3780472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1.08535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719174" y="3780472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1.18534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862174" y="3780472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1.28282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387127" y="3780472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0.03462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707380" y="407193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962296" y="42052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576174" y="4205288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1.09510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719174" y="4205288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1.19510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862174" y="4205288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1.29414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387127" y="4205288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0.01132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5707380" y="449675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5707380" y="4501515"/>
              <a:ext cx="595122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962296" y="462915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576174" y="462915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1.09834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719174" y="462915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1.19834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862174" y="462915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1.29804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387127" y="462915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0.00390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5707380" y="492061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962296" y="505396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576174" y="5053965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1.09944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719174" y="5053965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1.19944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862174" y="5053965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1.29933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0387127" y="5053965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0.00130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5707380" y="534543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5707380" y="5350192"/>
              <a:ext cx="595122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5962296" y="547878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576174" y="547878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1.09981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719174" y="547878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1.19981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862174" y="547878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1.29978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9760268" y="5359718"/>
              <a:ext cx="1888808" cy="40576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10387127" y="547878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0.00044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5707380" y="1954530"/>
              <a:ext cx="5951220" cy="38195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2" name="Rectangle 82"/>
            <p:cNvSpPr/>
            <p:nvPr/>
          </p:nvSpPr>
          <p:spPr>
            <a:xfrm>
              <a:off x="6316980" y="1954530"/>
              <a:ext cx="9525" cy="381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7459980" y="1954530"/>
              <a:ext cx="9525" cy="381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4" name="Rectangle 84"/>
            <p:cNvSpPr/>
            <p:nvPr/>
          </p:nvSpPr>
          <p:spPr>
            <a:xfrm>
              <a:off x="8602980" y="1954530"/>
              <a:ext cx="9525" cy="381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9745980" y="1954530"/>
              <a:ext cx="9525" cy="381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5702046" y="5849302"/>
              <a:ext cx="35939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 8 步 0.00044 &lt; 10⁻³，停止；此时实际误差 2.2×10⁻⁴</a:t>
              </a:r>
            </a:p>
          </p:txBody>
        </p:sp>
      </p:grpSp>
      <p:grpSp>
        <p:nvGrpSpPr>
          <p:cNvPr id="9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8" name="TextBox 88"/>
            <p:cNvSpPr txBox="1"/>
            <p:nvPr/>
          </p:nvSpPr>
          <p:spPr>
            <a:xfrm>
              <a:off x="528447" y="6581299"/>
              <a:ext cx="1652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计算方法 总复习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741375" cy="909257"/>
            <a:chOff x="520446" y="342900"/>
            <a:chExt cx="874137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4970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5693" y="407194"/>
              <a:ext cx="12651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第二章 线性方程组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7413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典型题（二）：同一方程组用 G-S 迭代，5 步就满足要求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115"/>
              <p:cNvSpPr txBox="1">
                <a:spLocks noGrp="1"/>
              </p:cNvSpPr>
              <p:nvPr/>
            </p:nvSpPr>
            <p:spPr>
              <a:xfrm>
                <a:off x="533400" y="1524000"/>
                <a:ext cx="4869180" cy="1200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{"/>
                          <m:sepChr m:val=""/>
                          <m:endChr m:val="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eqArr>
                            <m:eqArrPr>
                              <m:baseJc m:val="center"/>
                            </m:eqArrPr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sSubSup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  <m:sup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k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+</m:t>
                                      </m:r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0.1</m:t>
                              </m:r>
                              <m:sSubSup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  <m:sup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k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0.2</m:t>
                              </m:r>
                              <m:sSubSup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sub>
                                <m:sup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k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0.72</m:t>
                              </m:r>
                            </m:e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sSubSup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  <m:sup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k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+</m:t>
                                      </m:r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0.1</m:t>
                              </m:r>
                              <m:sSubSup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  <m:sup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k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+</m:t>
                                      </m:r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0.2</m:t>
                              </m:r>
                              <m:sSubSup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sub>
                                <m:sup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k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0.83</m:t>
                              </m:r>
                            </m:e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sSubSup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sub>
                                <m:sup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k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+</m:t>
                                      </m:r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0.2</m:t>
                              </m:r>
                              <m:sSubSup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  <m:sup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k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+</m:t>
                                      </m:r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0.2</m:t>
                              </m:r>
                              <m:sSubSup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  <m:sup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k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+</m:t>
                                      </m:r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0.84</m:t>
                              </m:r>
                            </m:e>
                          </m:eqAr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5" name="c1-card-2"/>
          <p:cNvGrpSpPr/>
          <p:nvPr/>
        </p:nvGrpSpPr>
        <p:grpSpPr>
          <a:xfrm>
            <a:off x="533400" y="2904172"/>
            <a:ext cx="4869180" cy="1615440"/>
            <a:chOff x="533400" y="2904172"/>
            <a:chExt cx="4869180" cy="1615440"/>
          </a:xfrm>
        </p:grpSpPr>
        <p:sp>
          <p:nvSpPr>
            <p:cNvPr id="8" name="Rectangle 8"/>
            <p:cNvSpPr/>
            <p:nvPr/>
          </p:nvSpPr>
          <p:spPr>
            <a:xfrm>
              <a:off x="533400" y="2904172"/>
              <a:ext cx="4869180" cy="1615440"/>
            </a:xfrm>
            <a:prstGeom prst="roundRect">
              <a:avLst>
                <a:gd name="adj" fmla="val 825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42925" y="3037522"/>
              <a:ext cx="47625" cy="134874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69620" y="3102292"/>
              <a:ext cx="903922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48681" y="3136582"/>
              <a:ext cx="7467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第 1 步手算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381" y="3462814"/>
              <a:ext cx="8651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x₁ = 0.72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381" y="3780949"/>
              <a:ext cx="408619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x₂ = 0.1×0.72 + 0.83 = 0.902（已用新的 x₁）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381" y="4099084"/>
              <a:ext cx="39428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x₃ = 0.2×0.72 + 0.2×0.902 + 0.84 = 1.1644</a:t>
              </a:r>
            </a:p>
          </p:txBody>
        </p:sp>
      </p:grpSp>
      <p:grpSp>
        <p:nvGrpSpPr>
          <p:cNvPr id="32" name="c1-table-3"/>
          <p:cNvGrpSpPr/>
          <p:nvPr/>
        </p:nvGrpSpPr>
        <p:grpSpPr>
          <a:xfrm>
            <a:off x="533400" y="4699635"/>
            <a:ext cx="4869180" cy="1273492"/>
            <a:chOff x="533400" y="4699635"/>
            <a:chExt cx="4869180" cy="1273492"/>
          </a:xfrm>
        </p:grpSpPr>
        <p:sp>
          <p:nvSpPr>
            <p:cNvPr id="16" name="Rectangle 16"/>
            <p:cNvSpPr/>
            <p:nvPr/>
          </p:nvSpPr>
          <p:spPr>
            <a:xfrm>
              <a:off x="533400" y="4699635"/>
              <a:ext cx="4869180" cy="42481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223010" y="482822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593086" y="482822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停止步数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928110" y="4828222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迭代矩阵谱半径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5889" y="5252085"/>
              <a:ext cx="5344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Jacobi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351342" y="525208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699129" y="5252085"/>
              <a:ext cx="5937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≈ 0.337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5543550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5548312"/>
              <a:ext cx="486918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5889" y="5676900"/>
              <a:ext cx="10575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Gauss-Seidel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2258378" y="5557838"/>
              <a:ext cx="1329690" cy="40576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351342" y="567690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699129" y="5676900"/>
              <a:ext cx="5937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≈ 0.126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4699635"/>
              <a:ext cx="4869180" cy="127349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2244090" y="4699635"/>
              <a:ext cx="9525" cy="12734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3591878" y="4699635"/>
              <a:ext cx="9525" cy="12734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7" name="c2-table-1"/>
          <p:cNvGrpSpPr/>
          <p:nvPr/>
        </p:nvGrpSpPr>
        <p:grpSpPr>
          <a:xfrm>
            <a:off x="5702046" y="1524000"/>
            <a:ext cx="5956554" cy="2826639"/>
            <a:chOff x="5702046" y="1524000"/>
            <a:chExt cx="5956554" cy="2826639"/>
          </a:xfrm>
        </p:grpSpPr>
        <p:sp>
          <p:nvSpPr>
            <p:cNvPr id="33" name="Rectangle 33"/>
            <p:cNvSpPr/>
            <p:nvPr/>
          </p:nvSpPr>
          <p:spPr>
            <a:xfrm>
              <a:off x="5707380" y="1524000"/>
              <a:ext cx="5951220" cy="42481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962296" y="16525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793855" y="165258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x₁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936855" y="165258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079855" y="165258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x₃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994171" y="1652588"/>
              <a:ext cx="1420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‖x⁽ᵏ⁾ − x⁽ᵏ⁻¹⁾‖∞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962296" y="207645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76174" y="207645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0.72000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719174" y="207645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0.90200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862174" y="207645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1.16440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387127" y="207645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1.16440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707380" y="236791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5707380" y="2372678"/>
              <a:ext cx="595122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962296" y="250126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576174" y="2501265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1.04308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719174" y="2501265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1.16719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862174" y="2501265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1.28205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387127" y="2501265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0.32308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707380" y="279273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962296" y="292608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576174" y="292608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1.09313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719174" y="292608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1.19572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862174" y="292608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1.29777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387127" y="292608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0.05005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707380" y="321659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5707380" y="3221355"/>
              <a:ext cx="595122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962296" y="334994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576174" y="3349942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1.09913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719174" y="3349942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1.19947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862174" y="3349942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1.29972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387127" y="3349942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0.00600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707380" y="364140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5962296" y="3774757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576174" y="3774757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1.09989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719174" y="3774757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1.19993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862174" y="3774757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1.29996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9760268" y="3655695"/>
              <a:ext cx="1888808" cy="40576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10387127" y="3774757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0.00076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5707380" y="1524000"/>
              <a:ext cx="5951220" cy="25469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6316980" y="1524000"/>
              <a:ext cx="9525" cy="25469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7459980" y="1524000"/>
              <a:ext cx="9525" cy="25469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8602980" y="1524000"/>
              <a:ext cx="9525" cy="25469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9745980" y="1524000"/>
              <a:ext cx="9525" cy="25469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5702046" y="4145280"/>
              <a:ext cx="35939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 5 步 0.00076 &lt; 10⁻³，停止；此时实际误差 1.1×10⁻⁴</a:t>
              </a:r>
            </a:p>
          </p:txBody>
        </p:sp>
      </p:grpSp>
      <p:grpSp>
        <p:nvGrpSpPr>
          <p:cNvPr id="84" name="c2-callout-2"/>
          <p:cNvGrpSpPr/>
          <p:nvPr/>
        </p:nvGrpSpPr>
        <p:grpSpPr>
          <a:xfrm>
            <a:off x="5707380" y="4489132"/>
            <a:ext cx="5951220" cy="756285"/>
            <a:chOff x="5707380" y="4489132"/>
            <a:chExt cx="5951220" cy="756285"/>
          </a:xfrm>
        </p:grpSpPr>
        <p:sp>
          <p:nvSpPr>
            <p:cNvPr id="78" name="Rectangle 78"/>
            <p:cNvSpPr/>
            <p:nvPr/>
          </p:nvSpPr>
          <p:spPr>
            <a:xfrm>
              <a:off x="5707380" y="4489132"/>
              <a:ext cx="5951220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2" name="Group 82"/>
            <p:cNvGrpSpPr/>
            <p:nvPr/>
          </p:nvGrpSpPr>
          <p:grpSpPr>
            <a:xfrm>
              <a:off x="5912168" y="4767263"/>
              <a:ext cx="200026" cy="200025"/>
              <a:chOff x="5912168" y="4767263"/>
              <a:chExt cx="200026" cy="200025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5912168" y="476726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5951906" y="481171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5986622" y="492283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3" name="TextBox 83"/>
            <p:cNvSpPr txBox="1"/>
            <p:nvPr/>
          </p:nvSpPr>
          <p:spPr>
            <a:xfrm>
              <a:off x="6214491" y="4636294"/>
              <a:ext cx="4748403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谱半径越小，误差每步缩小得越多。本题 G-S 的谱半径约为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Jacobi 的 1/3，停止步数也少得多。</a:t>
              </a:r>
            </a:p>
          </p:txBody>
        </p:sp>
      </p:grpSp>
      <p:grpSp>
        <p:nvGrpSpPr>
          <p:cNvPr id="91" name="c2-callout-3"/>
          <p:cNvGrpSpPr/>
          <p:nvPr/>
        </p:nvGrpSpPr>
        <p:grpSpPr>
          <a:xfrm>
            <a:off x="5707380" y="5425440"/>
            <a:ext cx="5951220" cy="756285"/>
            <a:chOff x="5707380" y="5425440"/>
            <a:chExt cx="5951220" cy="756285"/>
          </a:xfrm>
        </p:grpSpPr>
        <p:sp>
          <p:nvSpPr>
            <p:cNvPr id="85" name="Rectangle 85"/>
            <p:cNvSpPr/>
            <p:nvPr/>
          </p:nvSpPr>
          <p:spPr>
            <a:xfrm>
              <a:off x="5707380" y="5425440"/>
              <a:ext cx="5951220" cy="756285"/>
            </a:xfrm>
            <a:prstGeom prst="roundRect">
              <a:avLst>
                <a:gd name="adj" fmla="val 1511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89" name="Group 89"/>
            <p:cNvGrpSpPr/>
            <p:nvPr/>
          </p:nvGrpSpPr>
          <p:grpSpPr>
            <a:xfrm>
              <a:off x="5900109" y="5699878"/>
              <a:ext cx="224134" cy="192560"/>
              <a:chOff x="5900109" y="5699878"/>
              <a:chExt cx="224134" cy="192560"/>
            </a:xfrm>
          </p:grpSpPr>
          <p:sp>
            <p:nvSpPr>
              <p:cNvPr id="86" name="Freeform 86"/>
              <p:cNvSpPr/>
              <p:nvPr/>
            </p:nvSpPr>
            <p:spPr>
              <a:xfrm>
                <a:off x="6012180" y="577024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5900109" y="569987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6012180" y="58480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90" name="TextBox 90"/>
            <p:cNvSpPr txBox="1"/>
            <p:nvPr/>
          </p:nvSpPr>
          <p:spPr>
            <a:xfrm>
              <a:off x="6214491" y="5573554"/>
              <a:ext cx="5045964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这个结论不能推广：有的方程组 Jacobi 收敛而 G-S 发散，也有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相反的情形（见下一页），要逐个判断。</a:t>
              </a:r>
            </a:p>
          </p:txBody>
        </p:sp>
      </p:grpSp>
      <p:grpSp>
        <p:nvGrpSpPr>
          <p:cNvPr id="9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2" name="TextBox 92"/>
            <p:cNvSpPr txBox="1"/>
            <p:nvPr/>
          </p:nvSpPr>
          <p:spPr>
            <a:xfrm>
              <a:off x="528447" y="6581299"/>
              <a:ext cx="1652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计算方法 总复习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94193" cy="909257"/>
            <a:chOff x="520446" y="342900"/>
            <a:chExt cx="759419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4970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5693" y="407194"/>
              <a:ext cx="12651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第二章 线性方程组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9419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典型题：用谱半径判断，Jacobi 发散而 G-S 收敛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028936" cy="597598"/>
            <a:chOff x="525399" y="1550194"/>
            <a:chExt cx="10028936" cy="597598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028936" cy="597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80"/>
                </a:lnSpc>
              </a:pPr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 = [2 −1 1; 1 1 1; 1 1 −2]。不必求出迭代矩阵：Jacobi 的特征方程等价于 det(λD − L − U) = 0，G-S 的等价于</a:t>
              </a:r>
              <a:br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det(λ(D − L) − U) = 0。</a:t>
              </a:r>
            </a:p>
          </p:txBody>
        </p:sp>
      </p:grpSp>
      <p:grpSp>
        <p:nvGrpSpPr>
          <p:cNvPr id="17" name="c1-card-1"/>
          <p:cNvGrpSpPr/>
          <p:nvPr/>
        </p:nvGrpSpPr>
        <p:grpSpPr>
          <a:xfrm>
            <a:off x="533400" y="2257425"/>
            <a:ext cx="5410200" cy="2700338"/>
            <a:chOff x="533400" y="2257425"/>
            <a:chExt cx="5410200" cy="2700338"/>
          </a:xfrm>
        </p:grpSpPr>
        <p:sp>
          <p:nvSpPr>
            <p:cNvPr id="9" name="Rectangle 9"/>
            <p:cNvSpPr/>
            <p:nvPr/>
          </p:nvSpPr>
          <p:spPr>
            <a:xfrm>
              <a:off x="533400" y="2257425"/>
              <a:ext cx="5410200" cy="2700338"/>
            </a:xfrm>
            <a:prstGeom prst="roundRect">
              <a:avLst>
                <a:gd name="adj" fmla="val 49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390775"/>
              <a:ext cx="47625" cy="243363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81050" y="2466975"/>
              <a:ext cx="99441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4089" y="2502694"/>
              <a:ext cx="8483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Jacobi 迭代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3430" y="2844165"/>
              <a:ext cx="32592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A 的对角元乘 λ，其余元素不变：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formula118"/>
                <p:cNvSpPr txBox="1">
                  <a:spLocks noGrp="1"/>
                </p:cNvSpPr>
                <p:nvPr/>
              </p:nvSpPr>
              <p:spPr>
                <a:xfrm>
                  <a:off x="781050" y="3154680"/>
                  <a:ext cx="4953000" cy="9039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2λ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λ</m:t>
                                  </m:r>
                                </m:e>
                                <m:e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2λ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=−</m:t>
                        </m:r>
                        <m: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λ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</m:t>
                            </m:r>
                            <m:sSup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  <m:sup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5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5" name="TextBox 15"/>
            <p:cNvSpPr txBox="1"/>
            <p:nvPr/>
          </p:nvSpPr>
          <p:spPr>
            <a:xfrm>
              <a:off x="773430" y="4178618"/>
              <a:ext cx="22970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λ₁ = 0，λ₂,₃ = ±(√5/2)i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3430" y="4513898"/>
              <a:ext cx="39833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谱半径 √5/2 ≈ 1.118 &gt; 1，</a:t>
              </a:r>
              <a:r>
                <a:rPr lang="zh-CN" sz="15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Jacobi 迭代发散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6248400" y="2257425"/>
            <a:ext cx="5410200" cy="2700338"/>
            <a:chOff x="6248400" y="2257425"/>
            <a:chExt cx="5410200" cy="2700338"/>
          </a:xfrm>
        </p:grpSpPr>
        <p:sp>
          <p:nvSpPr>
            <p:cNvPr id="18" name="Rectangle 18"/>
            <p:cNvSpPr/>
            <p:nvPr/>
          </p:nvSpPr>
          <p:spPr>
            <a:xfrm>
              <a:off x="6248400" y="2257425"/>
              <a:ext cx="5410200" cy="2700338"/>
            </a:xfrm>
            <a:prstGeom prst="roundRect">
              <a:avLst>
                <a:gd name="adj" fmla="val 49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257925" y="2390775"/>
              <a:ext cx="47625" cy="243363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496050" y="2466975"/>
              <a:ext cx="1449705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52597" y="2502694"/>
              <a:ext cx="13366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Gauss-Seidel 迭代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88430" y="2844165"/>
              <a:ext cx="42689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A 的对角元和下三角元乘 λ，上三角元不变：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formula119"/>
                <p:cNvSpPr txBox="1">
                  <a:spLocks noGrp="1"/>
                </p:cNvSpPr>
                <p:nvPr/>
              </p:nvSpPr>
              <p:spPr>
                <a:xfrm>
                  <a:off x="6496050" y="3154680"/>
                  <a:ext cx="4953000" cy="9039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2λ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λ</m:t>
                                  </m:r>
                                </m:e>
                                <m:e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λ</m:t>
                                  </m:r>
                                </m:e>
                                <m:e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λ</m:t>
                                  </m:r>
                                </m:e>
                                <m:e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λ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2λ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=−</m:t>
                        </m:r>
                        <m: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λ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2λ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4" name="TextBox 24"/>
            <p:cNvSpPr txBox="1"/>
            <p:nvPr/>
          </p:nvSpPr>
          <p:spPr>
            <a:xfrm>
              <a:off x="6488430" y="4178618"/>
              <a:ext cx="21355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λ₁ = 0，λ₂ = λ₃ = −1/2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88430" y="4513898"/>
              <a:ext cx="28045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谱半径 1/2 &lt; 1，</a:t>
              </a: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G-S 迭代收敛</a:t>
              </a:r>
            </a:p>
          </p:txBody>
        </p:sp>
      </p:grpSp>
      <p:grpSp>
        <p:nvGrpSpPr>
          <p:cNvPr id="33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27" name="Rectangle 27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26129" y="5867518"/>
              <a:ext cx="224134" cy="192560"/>
              <a:chOff x="726129" y="5867518"/>
              <a:chExt cx="224134" cy="19256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838200" y="593788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26129" y="586751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38200" y="60156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40130" y="5728335"/>
              <a:ext cx="98545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A 不是严格对角占优（第 2 行 |1| &lt; |1| + |1|），充分条件用不上，只能算谱半径。Jacobi 与 G-S 谁收敛没有固定的先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后。</a:t>
              </a:r>
            </a:p>
          </p:txBody>
        </p:sp>
      </p:grpSp>
      <p:grpSp>
        <p:nvGrpSpPr>
          <p:cNvPr id="3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4" name="TextBox 34"/>
            <p:cNvSpPr txBox="1"/>
            <p:nvPr/>
          </p:nvSpPr>
          <p:spPr>
            <a:xfrm>
              <a:off x="528447" y="6581299"/>
              <a:ext cx="1652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计算方法 总复习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5F2EA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20" name="section-title"/>
          <p:cNvGrpSpPr/>
          <p:nvPr/>
        </p:nvGrpSpPr>
        <p:grpSpPr>
          <a:xfrm>
            <a:off x="667512" y="1835468"/>
            <a:ext cx="5852160" cy="3706177"/>
            <a:chOff x="667512" y="1835468"/>
            <a:chExt cx="5852160" cy="370617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第三章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85216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非线性方程（组）的数值法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570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先找有根区间，再用迭代逐步逼近根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非线性方程（组）问题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二分法及其适用条件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不动点迭代法：定义、收敛性定理、收敛阶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8091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Newton 迭代法：算法与收敛性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23900" y="530542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6780" y="5248275"/>
              <a:ext cx="38799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非线性方程组的 Newton 迭代法：具体步骤</a:t>
              </a:r>
            </a:p>
          </p:txBody>
        </p:sp>
      </p:grpSp>
      <p:grpSp>
        <p:nvGrpSpPr>
          <p:cNvPr id="2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1" name="TextBox 21"/>
            <p:cNvSpPr txBox="1"/>
            <p:nvPr/>
          </p:nvSpPr>
          <p:spPr>
            <a:xfrm>
              <a:off x="528447" y="6581299"/>
              <a:ext cx="1652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计算方法 总复习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4970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5693" y="407194"/>
              <a:ext cx="12651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第三章 非线性方程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二分法：有根区间逐次减半，所需次数可以事先算出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4544378" cy="4491038"/>
            <a:chOff x="533400" y="1524000"/>
            <a:chExt cx="4544378" cy="449103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544378" cy="4491038"/>
            </a:xfrm>
            <a:prstGeom prst="roundRect">
              <a:avLst>
                <a:gd name="adj" fmla="val 29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4224338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557" y="176926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问题与适用条件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36156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f(x) = 0 的根 x*。若 f(x) = (x −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x*)ᵐg(x)，g(x*) ≠ 0，称 x* 为 m 重根。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731770"/>
              <a:ext cx="31584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二分法的条件：f 在 [a, b] 上</a:t>
              </a: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连续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且</a:t>
              </a:r>
              <a:br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f(a)f(b) &lt; 0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，区间内至少有一个根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341566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335280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每步取中点，保留端点函数值异号的那一半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121"/>
                <p:cNvSpPr txBox="1">
                  <a:spLocks noGrp="1"/>
                </p:cNvSpPr>
                <p:nvPr/>
              </p:nvSpPr>
              <p:spPr>
                <a:xfrm>
                  <a:off x="781050" y="3663315"/>
                  <a:ext cx="4087178" cy="66865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f>
                          <m:fPr>
                            <m:type m:val="bar"/>
                            <m:ctrl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  <m:r>
                              <m:rPr>
                                <m:sty m:val="p"/>
                              </m:r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num>
                          <m:den>
                            <m:sSup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6" name="TextBox 16"/>
            <p:cNvSpPr txBox="1"/>
            <p:nvPr/>
          </p:nvSpPr>
          <p:spPr>
            <a:xfrm>
              <a:off x="774573" y="4448651"/>
              <a:ext cx="39143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优点：简单，一定收敛。缺点：线性收敛较慢；求不出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偶数重根和复根。</a:t>
              </a:r>
            </a:p>
          </p:txBody>
        </p:sp>
      </p:grpSp>
      <p:grpSp>
        <p:nvGrpSpPr>
          <p:cNvPr id="93" name="c2-table-1"/>
          <p:cNvGrpSpPr/>
          <p:nvPr/>
        </p:nvGrpSpPr>
        <p:grpSpPr>
          <a:xfrm>
            <a:off x="5376862" y="1524000"/>
            <a:ext cx="6281738" cy="4535328"/>
            <a:chOff x="5376862" y="1524000"/>
            <a:chExt cx="6281738" cy="4535328"/>
          </a:xfrm>
        </p:grpSpPr>
        <p:sp>
          <p:nvSpPr>
            <p:cNvPr id="18" name="Rectangle 18"/>
            <p:cNvSpPr/>
            <p:nvPr/>
          </p:nvSpPr>
          <p:spPr>
            <a:xfrm>
              <a:off x="5382578" y="1524000"/>
              <a:ext cx="6276022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536847" y="16597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82429" y="165973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aₙ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06379" y="165973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bₙ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478443" y="1659731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xₙ₊₁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547424" y="1659731"/>
              <a:ext cx="7095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f(xₙ₊₁)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807865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误差界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536847" y="210835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34554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458504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535307" y="2108359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516623" y="2108359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0.875000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924177" y="2108359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82578" y="241649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82578" y="2421255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536847" y="25569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334554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363732" y="2556986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487921" y="2556986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1.25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469237" y="2556986"/>
              <a:ext cx="865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−0.296875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876791" y="2556986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0.25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82578" y="286607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536847" y="300561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192396" y="3005614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363732" y="3005614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440534" y="3005614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1.375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516623" y="3005614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0.224609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829404" y="3005614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0.125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82578" y="331470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5382578" y="3319462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536847" y="34542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192396" y="345424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1.25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268959" y="3454241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1.375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393148" y="3454241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1.3125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469237" y="3454241"/>
              <a:ext cx="865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−0.051514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782018" y="3454241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0.0625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382578" y="376332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536847" y="390382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097623" y="3903821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1.3125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268959" y="3903821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1.375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345762" y="3903821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1.34375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516623" y="3903821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0.082611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734632" y="3903821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0.03125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382578" y="421195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5382578" y="4216718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536847" y="435244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097623" y="4352449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1.3125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174187" y="4352449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1.34375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298376" y="4352449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1.328125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516623" y="4352449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0.014576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687246" y="4352449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0.015625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5382578" y="466058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5536847" y="480107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097623" y="4801076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1.3125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126801" y="4801076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1.328125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250989" y="4801076"/>
              <a:ext cx="865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1.3203125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469237" y="4801076"/>
              <a:ext cx="865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−0.018711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639859" y="4801076"/>
              <a:ext cx="865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0.0078125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5382578" y="511016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5382578" y="5114925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5536847" y="524970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5955464" y="5249704"/>
              <a:ext cx="865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1.3203125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126801" y="5249704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1.328125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8061008" y="5124450"/>
              <a:ext cx="1245870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8203603" y="524970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1.32421875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9469237" y="5249704"/>
              <a:ext cx="865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−0.002128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10496550" y="5124450"/>
              <a:ext cx="1152525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10639859" y="5249704"/>
              <a:ext cx="865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0.0039063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5382578" y="1524000"/>
              <a:ext cx="6276022" cy="40395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7" name="Rectangle 87"/>
            <p:cNvSpPr/>
            <p:nvPr/>
          </p:nvSpPr>
          <p:spPr>
            <a:xfrm>
              <a:off x="5797868" y="1524000"/>
              <a:ext cx="9525" cy="40395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6969442" y="1524000"/>
              <a:ext cx="9525" cy="40395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9" name="Rectangle 89"/>
            <p:cNvSpPr/>
            <p:nvPr/>
          </p:nvSpPr>
          <p:spPr>
            <a:xfrm>
              <a:off x="8046720" y="1524000"/>
              <a:ext cx="9525" cy="40395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0" name="Rectangle 90"/>
            <p:cNvSpPr/>
            <p:nvPr/>
          </p:nvSpPr>
          <p:spPr>
            <a:xfrm>
              <a:off x="9311640" y="1524000"/>
              <a:ext cx="9525" cy="40395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1" name="Rectangle 91"/>
            <p:cNvSpPr/>
            <p:nvPr/>
          </p:nvSpPr>
          <p:spPr>
            <a:xfrm>
              <a:off x="10482262" y="1524000"/>
              <a:ext cx="9525" cy="40395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5376862" y="5639276"/>
              <a:ext cx="589305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例：x³ − x − 1 = 0 在 [1, 2] 内的根，误差 ≤ 0.005。需 2ⁿ⁺¹ ≥ 200，n + 1 ≥ 7.64，算到 x₈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（根 x* = 1.324718…）</a:t>
              </a:r>
            </a:p>
          </p:txBody>
        </p:sp>
      </p:grpSp>
      <p:grpSp>
        <p:nvGrpSpPr>
          <p:cNvPr id="9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4" name="TextBox 94"/>
            <p:cNvSpPr txBox="1"/>
            <p:nvPr/>
          </p:nvSpPr>
          <p:spPr>
            <a:xfrm>
              <a:off x="528447" y="6581299"/>
              <a:ext cx="1652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计算方法 总复习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80747" cy="909257"/>
            <a:chOff x="520446" y="342900"/>
            <a:chExt cx="82807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4970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5693" y="407194"/>
              <a:ext cx="12651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第三章 非线性方程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807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不动点迭代：φ 把区间映到自身且 |φ′| ≤ L &lt; 1 就收敛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6492240" cy="1316355"/>
            <a:chOff x="533400" y="1524000"/>
            <a:chExt cx="6492240" cy="13163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492240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8457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不动点迭代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5606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f(x) = 0 改写成等价的 x = φ(x)，迭代 xₖ₊₁ = φ(xₖ)。若 xₖ →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x*，则 x* = φ(x*)，x* 称为不动点。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3030855"/>
            <a:ext cx="6492240" cy="3246120"/>
            <a:chOff x="533400" y="3030855"/>
            <a:chExt cx="6492240" cy="3246120"/>
          </a:xfrm>
        </p:grpSpPr>
        <p:sp>
          <p:nvSpPr>
            <p:cNvPr id="13" name="Rectangle 13"/>
            <p:cNvSpPr/>
            <p:nvPr/>
          </p:nvSpPr>
          <p:spPr>
            <a:xfrm>
              <a:off x="533400" y="3030855"/>
              <a:ext cx="6492240" cy="3246120"/>
            </a:xfrm>
            <a:prstGeom prst="roundRect">
              <a:avLst>
                <a:gd name="adj" fmla="val 410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3164205"/>
              <a:ext cx="47625" cy="297942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81050" y="3240405"/>
              <a:ext cx="784860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2635" y="3276124"/>
              <a:ext cx="621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 3.1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3430" y="3617595"/>
              <a:ext cx="55778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 ∈ C¹[a, b]，① φ([a, b]) ⊂ [a, b]；② |φ′(x)| ≤ L &lt; 1。则不动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 x* 唯一，任取 x₀ ∈ [a, b] 都收敛，且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formula124"/>
                <p:cNvSpPr txBox="1">
                  <a:spLocks noGrp="1"/>
                </p:cNvSpPr>
                <p:nvPr/>
              </p:nvSpPr>
              <p:spPr>
                <a:xfrm>
                  <a:off x="781050" y="4213860"/>
                  <a:ext cx="6035040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f>
                          <m:fPr>
                            <m:type m:val="bar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</m:den>
                        </m:f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f>
                          <m:fPr>
                            <m:type m:val="bar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</m:t>
                                </m:r>
                              </m:e>
                              <m:sup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p>
                            </m:sSup>
                          </m:num>
                          <m:den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</m:den>
                        </m:f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2" name="c2-image-1"/>
          <p:cNvGrpSpPr/>
          <p:nvPr/>
        </p:nvGrpSpPr>
        <p:grpSpPr>
          <a:xfrm>
            <a:off x="7330440" y="1524000"/>
            <a:ext cx="4328160" cy="2315052"/>
            <a:chOff x="7330440" y="1524000"/>
            <a:chExt cx="4328160" cy="2315052"/>
          </a:xfrm>
        </p:grpSpPr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2"/>
            <a:srcRect l="0" t="19190" r="0" b="19190"/>
            <a:stretch>
              <a:fillRect/>
            </a:stretch>
          </p:blipFill>
          <p:spPr>
            <a:xfrm>
              <a:off x="7330440" y="1524000"/>
              <a:ext cx="4328160" cy="2000250"/>
            </a:xfrm>
            <a:prstGeom prst="roundRect">
              <a:avLst>
                <a:gd name="adj" fmla="val 6666"/>
              </a:avLst>
            </a:prstGeom>
          </p:spPr>
        </p:pic>
        <p:sp>
          <p:nvSpPr>
            <p:cNvPr id="21" name="TextBox 21"/>
            <p:cNvSpPr txBox="1"/>
            <p:nvPr/>
          </p:nvSpPr>
          <p:spPr>
            <a:xfrm>
              <a:off x="7604125" y="3619024"/>
              <a:ext cx="3780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地图铺在它画的公园里，恰有一点压在它所代表的位置上</a:t>
              </a:r>
            </a:p>
          </p:txBody>
        </p:sp>
      </p:grpSp>
      <p:grpSp>
        <p:nvGrpSpPr>
          <p:cNvPr id="33" name="c2-card-2"/>
          <p:cNvGrpSpPr/>
          <p:nvPr/>
        </p:nvGrpSpPr>
        <p:grpSpPr>
          <a:xfrm>
            <a:off x="7330440" y="4004310"/>
            <a:ext cx="4328160" cy="2272665"/>
            <a:chOff x="7330440" y="4004310"/>
            <a:chExt cx="4328160" cy="2272665"/>
          </a:xfrm>
        </p:grpSpPr>
        <p:sp>
          <p:nvSpPr>
            <p:cNvPr id="23" name="Rectangle 23"/>
            <p:cNvSpPr/>
            <p:nvPr/>
          </p:nvSpPr>
          <p:spPr>
            <a:xfrm>
              <a:off x="7330440" y="4004310"/>
              <a:ext cx="4328160" cy="2272665"/>
            </a:xfrm>
            <a:prstGeom prst="roundRect">
              <a:avLst>
                <a:gd name="adj" fmla="val 58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7339965" y="4137660"/>
              <a:ext cx="47625" cy="200596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578090" y="4213860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42695" y="424957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局部收敛与收敛阶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583805" y="465391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741920" y="4591050"/>
              <a:ext cx="31350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|φ′(x*)| &lt; 1 ⇒ 初值靠近 x* 时收敛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583805" y="498919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741920" y="4926330"/>
              <a:ext cx="29685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|eₖ₊₁|/|eₖ|ᵖ → C ≠ 0 称 p 阶收敛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583805" y="532447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741920" y="5261610"/>
              <a:ext cx="33299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φ′(x*) = … = φ⁽ᵖ⁻¹⁾(x*) = 0，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φ⁽ᵖ⁾(x*) ≠ 0 ⇒ p 阶；φ′(x*) ≠ 0 为线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</a:t>
              </a:r>
            </a:p>
          </p:txBody>
        </p:sp>
      </p:grpSp>
      <p:grpSp>
        <p:nvGrpSpPr>
          <p:cNvPr id="3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4" name="TextBox 34"/>
            <p:cNvSpPr txBox="1"/>
            <p:nvPr/>
          </p:nvSpPr>
          <p:spPr>
            <a:xfrm>
              <a:off x="528447" y="6581299"/>
              <a:ext cx="1652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计算方法 总复习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234421" cy="909257"/>
            <a:chOff x="520446" y="342900"/>
            <a:chExt cx="923442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4970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5693" y="407194"/>
              <a:ext cx="12651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第三章 非线性方程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23442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典型题：x³ − x − 1 = 0 的两种迭代函数，一个收敛一个发散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card-1"/>
          <p:cNvGrpSpPr/>
          <p:nvPr/>
        </p:nvGrpSpPr>
        <p:grpSpPr>
          <a:xfrm>
            <a:off x="533400" y="1524000"/>
            <a:ext cx="5626418" cy="2103120"/>
            <a:chOff x="533400" y="1524000"/>
            <a:chExt cx="5626418" cy="21031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103120"/>
            </a:xfrm>
            <a:prstGeom prst="roundRect">
              <a:avLst>
                <a:gd name="adj" fmla="val 63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3642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86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收敛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23784" y="1745932"/>
              <a:ext cx="15021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φ₁(x) = ∛(x + 1)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66762" y="2127885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22782" y="2071688"/>
              <a:ext cx="49569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∈ [1, 2] 时 φ₁(x) ∈ [∛2, ∛3] = [1.260, 1.442] ⊂ [1, 2]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66762" y="2427922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22782" y="2371725"/>
              <a:ext cx="46306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φ₁′(x) = 1/(3∛((x + 1)²)) ≤ 1/(3∛4) ≈ 0.210 = L &lt; 1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66762" y="2727960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22782" y="2671762"/>
              <a:ext cx="453999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事前估计误差 ≤ 10⁻⁵：k ≥ ln(10⁻⁵×0.79/0.1428)/ln0.21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≈ 6.3，取 k = 7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66762" y="3286125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22782" y="3229927"/>
              <a:ext cx="43663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φ₁′(x*) ≈ 0.190 ≠ 0，</a:t>
              </a: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线性收敛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，误差每步约乘 0.19</a:t>
              </a:r>
            </a:p>
          </p:txBody>
        </p:sp>
      </p:grpSp>
      <p:grpSp>
        <p:nvGrpSpPr>
          <p:cNvPr id="27" name="c1-card-2"/>
          <p:cNvGrpSpPr/>
          <p:nvPr/>
        </p:nvGrpSpPr>
        <p:grpSpPr>
          <a:xfrm>
            <a:off x="533400" y="3796665"/>
            <a:ext cx="5626418" cy="2452688"/>
            <a:chOff x="533400" y="3796665"/>
            <a:chExt cx="5626418" cy="2452688"/>
          </a:xfrm>
        </p:grpSpPr>
        <p:sp>
          <p:nvSpPr>
            <p:cNvPr id="21" name="Rectangle 21"/>
            <p:cNvSpPr/>
            <p:nvPr/>
          </p:nvSpPr>
          <p:spPr>
            <a:xfrm>
              <a:off x="533400" y="3796665"/>
              <a:ext cx="5626418" cy="2452688"/>
            </a:xfrm>
            <a:prstGeom prst="roundRect">
              <a:avLst>
                <a:gd name="adj" fmla="val 543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3930015"/>
              <a:ext cx="47625" cy="218598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58190" y="398335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50862" y="401621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发散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323784" y="4018598"/>
              <a:ext cx="12922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φ₂(x) = x³ − 1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1332" y="4344352"/>
              <a:ext cx="493433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φ₂′(x) = 3x² ≥ 3 &gt; 1。取 x₀ = 1.5：x₁ = 2.375，x₂ = 12.40，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x₃ = 1904.0，越走越远。</a:t>
              </a:r>
            </a:p>
          </p:txBody>
        </p:sp>
      </p:grpSp>
      <p:grpSp>
        <p:nvGrpSpPr>
          <p:cNvPr id="81" name="c2-table-1"/>
          <p:cNvGrpSpPr/>
          <p:nvPr/>
        </p:nvGrpSpPr>
        <p:grpSpPr>
          <a:xfrm>
            <a:off x="6459665" y="1524000"/>
            <a:ext cx="5198935" cy="3864006"/>
            <a:chOff x="6459665" y="1524000"/>
            <a:chExt cx="5198935" cy="3864006"/>
          </a:xfrm>
        </p:grpSpPr>
        <p:sp>
          <p:nvSpPr>
            <p:cNvPr id="28" name="Rectangle 28"/>
            <p:cNvSpPr/>
            <p:nvPr/>
          </p:nvSpPr>
          <p:spPr>
            <a:xfrm>
              <a:off x="6464618" y="1524000"/>
              <a:ext cx="5193982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805891" y="16454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871065" y="164544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xₖ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021437" y="1645444"/>
              <a:ext cx="810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|xₖ − xₖ₋₁|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596314" y="1645444"/>
              <a:ext cx="6367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|xₖ − x*|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05891" y="20454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833749" y="20454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535816" y="204549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1.75×10⁻¹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464618" y="231933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64618" y="2324100"/>
              <a:ext cx="519398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805891" y="24455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84971" y="244554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1.3572088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048011" y="244554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1.43×10⁻¹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535816" y="244554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3.25×10⁻²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464618" y="271938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805891" y="28455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584971" y="284559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1.3308610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048011" y="284559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2.63×10⁻²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535816" y="284559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6.14×10⁻³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464618" y="311943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464618" y="3124200"/>
              <a:ext cx="519398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805891" y="32456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584971" y="324564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1.3258838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048011" y="324564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4.98×10⁻³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535816" y="324564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1.17×10⁻³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464618" y="351948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805891" y="36456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584971" y="364569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1.3249394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048011" y="364569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9.44×10⁻⁴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535816" y="364569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2.21×10⁻⁴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464618" y="391953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6464618" y="3924300"/>
              <a:ext cx="519398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805891" y="40457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584971" y="404574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1.3247600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048011" y="404574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1.79×10⁻⁴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535816" y="404574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4.21×10⁻⁵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464618" y="431958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805891" y="44457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584971" y="444579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1.3247259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048011" y="444579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3.41×10⁻⁵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535816" y="444579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7.99×10⁻⁶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6464618" y="471963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6464618" y="4724400"/>
              <a:ext cx="519398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805891" y="48458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584971" y="484584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1.3247195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048011" y="484584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6.47×10⁻⁶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10180320" y="4733925"/>
              <a:ext cx="1468755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10535816" y="484584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1.52×10⁻⁶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6464618" y="1524000"/>
              <a:ext cx="5193982" cy="36004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7240905" y="1524000"/>
              <a:ext cx="9525" cy="36004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8678228" y="1524000"/>
              <a:ext cx="9525" cy="36004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10166032" y="1524000"/>
              <a:ext cx="9525" cy="36004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459665" y="5197316"/>
              <a:ext cx="48780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φ₁ 的迭代，x₀ = 1.5，x* = 1.3247180…；第 7 步误差 1.5×10⁻⁶，与事前估计一致</a:t>
              </a:r>
            </a:p>
          </p:txBody>
        </p:sp>
      </p:grpSp>
      <p:grpSp>
        <p:nvGrpSpPr>
          <p:cNvPr id="88" name="c2-callout-2"/>
          <p:cNvGrpSpPr/>
          <p:nvPr/>
        </p:nvGrpSpPr>
        <p:grpSpPr>
          <a:xfrm>
            <a:off x="6464618" y="5519738"/>
            <a:ext cx="5193982" cy="729615"/>
            <a:chOff x="6464618" y="5519738"/>
            <a:chExt cx="5193982" cy="729615"/>
          </a:xfrm>
        </p:grpSpPr>
        <p:sp>
          <p:nvSpPr>
            <p:cNvPr id="82" name="Rectangle 82"/>
            <p:cNvSpPr/>
            <p:nvPr/>
          </p:nvSpPr>
          <p:spPr>
            <a:xfrm>
              <a:off x="6464618" y="5519738"/>
              <a:ext cx="5193982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6" name="Group 86"/>
            <p:cNvGrpSpPr/>
            <p:nvPr/>
          </p:nvGrpSpPr>
          <p:grpSpPr>
            <a:xfrm>
              <a:off x="6669405" y="5784533"/>
              <a:ext cx="200026" cy="200025"/>
              <a:chOff x="6669405" y="5784533"/>
              <a:chExt cx="200026" cy="200025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6669405" y="578453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6709144" y="582898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6743859" y="594010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7" name="TextBox 87"/>
            <p:cNvSpPr txBox="1"/>
            <p:nvPr/>
          </p:nvSpPr>
          <p:spPr>
            <a:xfrm>
              <a:off x="6972110" y="5666423"/>
              <a:ext cx="431711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同一个方程可以改写出许多 φ，先检验定理 3.1 的两个条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件，再动手迭代。</a:t>
              </a:r>
            </a:p>
          </p:txBody>
        </p:sp>
      </p:grpSp>
      <p:grpSp>
        <p:nvGrpSpPr>
          <p:cNvPr id="9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9" name="TextBox 89"/>
            <p:cNvSpPr txBox="1"/>
            <p:nvPr/>
          </p:nvSpPr>
          <p:spPr>
            <a:xfrm>
              <a:off x="528447" y="6581299"/>
              <a:ext cx="1652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计算方法 总复习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74141" cy="909257"/>
            <a:chOff x="520446" y="342900"/>
            <a:chExt cx="827414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4970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5693" y="407194"/>
              <a:ext cx="12651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第三章 非线性方程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7414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Newton 迭代法：用切线代替曲线，单根附近平方收敛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410200" cy="2461260"/>
            <a:chOff x="533400" y="1524000"/>
            <a:chExt cx="5410200" cy="246126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461260"/>
            </a:xfrm>
            <a:prstGeom prst="roundRect">
              <a:avLst>
                <a:gd name="adj" fmla="val 541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19456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955358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2833" y="1743551"/>
              <a:ext cx="8051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Newton 公式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4975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xₖ 处线性化 f(x) ≈ f(xₖ) + f′(xₖ)(x − xₖ)，令其为 0：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135"/>
                <p:cNvSpPr txBox="1">
                  <a:spLocks noGrp="1"/>
                </p:cNvSpPr>
                <p:nvPr/>
              </p:nvSpPr>
              <p:spPr>
                <a:xfrm>
                  <a:off x="758190" y="2332672"/>
                  <a:ext cx="4998720" cy="59150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b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b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sSup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′</m:t>
                                </m:r>
                              </m:sup>
                            </m:s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sub>
                                </m:sSub>
                              </m:e>
                            </m:d>
                          </m:den>
                        </m:f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</m:t>
                        </m:r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,⋯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Ellipse 13"/>
            <p:cNvSpPr/>
            <p:nvPr/>
          </p:nvSpPr>
          <p:spPr>
            <a:xfrm>
              <a:off x="766762" y="3087052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2782" y="3030855"/>
              <a:ext cx="456571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几何意义：过点 (xₖ, f(xₖ)) 作切线，切线与 x 轴的交点就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 xₖ₊₁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6762" y="3644265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2782" y="3588068"/>
              <a:ext cx="41482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f(x) = x² − a 时得开方公式 xₖ₊₁ = (xₖ + a/xₖ)/2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4155758"/>
            <a:ext cx="5410200" cy="1528762"/>
            <a:chOff x="533400" y="4155758"/>
            <a:chExt cx="5410200" cy="1528762"/>
          </a:xfrm>
        </p:grpSpPr>
        <p:sp>
          <p:nvSpPr>
            <p:cNvPr id="18" name="Rectangle 18"/>
            <p:cNvSpPr/>
            <p:nvPr/>
          </p:nvSpPr>
          <p:spPr>
            <a:xfrm>
              <a:off x="533400" y="4155758"/>
              <a:ext cx="5410200" cy="1528762"/>
            </a:xfrm>
            <a:prstGeom prst="roundRect">
              <a:avLst>
                <a:gd name="adj" fmla="val 87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2925" y="4289108"/>
              <a:ext cx="47625" cy="126206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58190" y="4342448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46811" y="437530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割线法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1332" y="4686300"/>
              <a:ext cx="457428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用差商代替导数：xₖ₊₁ = xₖ − f(xₖ)(xₖ − xₖ₋₁)/[f(xₖ) −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f(xₖ₋₁)]。不用算导数，收敛阶约 1.618。</a:t>
              </a:r>
            </a:p>
          </p:txBody>
        </p:sp>
      </p:grpSp>
      <p:grpSp>
        <p:nvGrpSpPr>
          <p:cNvPr id="31" name="c2-card-1"/>
          <p:cNvGrpSpPr/>
          <p:nvPr/>
        </p:nvGrpSpPr>
        <p:grpSpPr>
          <a:xfrm>
            <a:off x="6248400" y="1524000"/>
            <a:ext cx="5410200" cy="1965008"/>
            <a:chOff x="6248400" y="1524000"/>
            <a:chExt cx="5410200" cy="1965008"/>
          </a:xfrm>
        </p:grpSpPr>
        <p:sp>
          <p:nvSpPr>
            <p:cNvPr id="24" name="Rectangle 24"/>
            <p:cNvSpPr/>
            <p:nvPr/>
          </p:nvSpPr>
          <p:spPr>
            <a:xfrm>
              <a:off x="6248400" y="1524000"/>
              <a:ext cx="5410200" cy="1965008"/>
            </a:xfrm>
            <a:prstGeom prst="roundRect">
              <a:avLst>
                <a:gd name="adj" fmla="val 67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57925" y="1657350"/>
              <a:ext cx="47625" cy="169830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73190" y="1710690"/>
              <a:ext cx="713422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57484" y="1743551"/>
              <a:ext cx="5438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 3.2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294054" y="174593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局部平方收敛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66332" y="2071688"/>
              <a:ext cx="462572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x* 为单根（f′(x*) ≠ 0），f″ 在 x* 附近连续，x₀ 充分接近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x* 时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formula136"/>
                <p:cNvSpPr txBox="1">
                  <a:spLocks noGrp="1"/>
                </p:cNvSpPr>
                <p:nvPr/>
              </p:nvSpPr>
              <p:spPr>
                <a:xfrm>
                  <a:off x="6473190" y="2606992"/>
                  <a:ext cx="4998720" cy="6791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unc>
                          <m:funcPr/>
                          <m:fName>
                            <m:limLow>
                              <m:limLowPr/>
                              <m:e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→∞</m:t>
                                </m:r>
                              </m:lim>
                            </m:limLow>
                          </m:fName>
                          <m:e>
                            <m:f>
                              <m:fPr>
                                <m:type m:val="bar"/>
                                <m:ctrl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sSub>
                                  <m:e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</m:t>
                                    </m:r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*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7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e>
                                            <m:r>
                                              <a:rPr lang="zh-CN" sz="17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x</m:t>
                                            </m:r>
                                          </m:e>
                                          <m:sub>
                                            <m:r>
                                              <a:rPr lang="zh-CN" sz="17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k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sty m:val="p"/>
                                          </m:rPr>
                                          <a:rPr lang="zh-CN" sz="17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sSup>
                                          <m:e>
                                            <m:r>
                                              <a:rPr lang="zh-CN" sz="17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x</m:t>
                                            </m:r>
                                          </m:e>
                                          <m:sup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zh-CN" sz="17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*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  <m:sup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func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′′</m:t>
                                </m:r>
                              </m:sup>
                            </m:s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*</m:t>
                                    </m:r>
                                  </m:sup>
                                </m:sSup>
                              </m:e>
                            </m:d>
                          </m:num>
                          <m:den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  <m:sSup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′</m:t>
                                </m:r>
                              </m:sup>
                            </m:s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*</m:t>
                                    </m:r>
                                  </m:sup>
                                </m:sSup>
                              </m:e>
                            </m:d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40" name="c2-card-2"/>
          <p:cNvGrpSpPr/>
          <p:nvPr/>
        </p:nvGrpSpPr>
        <p:grpSpPr>
          <a:xfrm>
            <a:off x="6248400" y="3659505"/>
            <a:ext cx="5410200" cy="2025015"/>
            <a:chOff x="6248400" y="3659505"/>
            <a:chExt cx="5410200" cy="2025015"/>
          </a:xfrm>
        </p:grpSpPr>
        <p:sp>
          <p:nvSpPr>
            <p:cNvPr id="32" name="Rectangle 32"/>
            <p:cNvSpPr/>
            <p:nvPr/>
          </p:nvSpPr>
          <p:spPr>
            <a:xfrm>
              <a:off x="6248400" y="3659505"/>
              <a:ext cx="5410200" cy="2025015"/>
            </a:xfrm>
            <a:prstGeom prst="roundRect">
              <a:avLst>
                <a:gd name="adj" fmla="val 658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257925" y="3792855"/>
              <a:ext cx="47625" cy="175831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473190" y="3846195"/>
              <a:ext cx="713422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57484" y="3879056"/>
              <a:ext cx="5438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 3.3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294054" y="388143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怎样选初值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66332" y="4207192"/>
              <a:ext cx="460857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∈ C²[a, b]，f(a)f(b) &lt; 0，f′(x) ≠ 0，f″(x) 在 [a, b]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上不变号。取 x₀ ∈ [a, b] 满足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formula137"/>
                <p:cNvSpPr txBox="1">
                  <a:spLocks noGrp="1"/>
                </p:cNvSpPr>
                <p:nvPr/>
              </p:nvSpPr>
              <p:spPr>
                <a:xfrm>
                  <a:off x="6473190" y="4742498"/>
                  <a:ext cx="4998720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sSup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′′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&gt;</m:t>
                        </m:r>
                        <m: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9" name="TextBox 39"/>
            <p:cNvSpPr txBox="1"/>
            <p:nvPr/>
          </p:nvSpPr>
          <p:spPr>
            <a:xfrm>
              <a:off x="6466332" y="5286375"/>
              <a:ext cx="36100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则 Newton 迭代收敛到 [a, b] 内唯一的根。</a:t>
              </a:r>
            </a:p>
          </p:txBody>
        </p:sp>
      </p:grpSp>
      <p:grpSp>
        <p:nvGrpSpPr>
          <p:cNvPr id="47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41" name="Rectangle 41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726129" y="6018966"/>
              <a:ext cx="224134" cy="192560"/>
              <a:chOff x="726129" y="6018966"/>
              <a:chExt cx="224134" cy="19256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838200" y="608933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726129" y="601896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38200" y="616712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040892" y="6028373"/>
              <a:ext cx="72806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重根处 f′(x*) = 0，Newton 法只有线性收敛；初值离根太远或 f′ 接近 0 时可能不收敛。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1652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计算方法 总复习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243910" cy="909257"/>
            <a:chOff x="520446" y="342900"/>
            <a:chExt cx="924391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4970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5693" y="407194"/>
              <a:ext cx="12651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第三章 非线性方程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24391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典型题：Newton 法求 x³ − x − 1 = 0，并与前两种方法比较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140"/>
              <p:cNvSpPr txBox="1">
                <a:spLocks noGrp="1"/>
              </p:cNvSpPr>
              <p:nvPr/>
            </p:nvSpPr>
            <p:spPr>
              <a:xfrm>
                <a:off x="533400" y="1524000"/>
                <a:ext cx="5951220" cy="617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f>
                        <m:fPr>
                          <m:type m:val="bar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Sup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b>
                            <m:sup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  <m:sSubSup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b>
                            <m:sup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  <m:sSubSup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b>
                            <m:sup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  <m:sSubSup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b>
                            <m:sup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9" name="c1-text-2"/>
          <p:cNvGrpSpPr/>
          <p:nvPr/>
        </p:nvGrpSpPr>
        <p:grpSpPr>
          <a:xfrm>
            <a:off x="527304" y="2341245"/>
            <a:ext cx="5544312" cy="470916"/>
            <a:chOff x="527304" y="2341245"/>
            <a:chExt cx="5544312" cy="470916"/>
          </a:xfrm>
        </p:grpSpPr>
        <p:sp>
          <p:nvSpPr>
            <p:cNvPr id="8" name="TextBox 8"/>
            <p:cNvSpPr txBox="1"/>
            <p:nvPr/>
          </p:nvSpPr>
          <p:spPr>
            <a:xfrm>
              <a:off x="527304" y="2341245"/>
              <a:ext cx="5544312" cy="470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6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检验定理 3.3：f(1) = −1，f(2) = 5；[1, 2] 上 f′ = 3x² − 1 ≥ 2，f″ = 6x &gt; 0；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x₀ = 1.5 时 f(1.5) = 0.875 &gt; 0，f(x₀)f″(x₀) &gt; 0。</a:t>
              </a:r>
            </a:p>
          </p:txBody>
        </p:sp>
      </p:grpSp>
      <p:grpSp>
        <p:nvGrpSpPr>
          <p:cNvPr id="45" name="c1-table-3"/>
          <p:cNvGrpSpPr/>
          <p:nvPr/>
        </p:nvGrpSpPr>
        <p:grpSpPr>
          <a:xfrm>
            <a:off x="528066" y="2945130"/>
            <a:ext cx="5956554" cy="2826639"/>
            <a:chOff x="528066" y="2945130"/>
            <a:chExt cx="5956554" cy="2826639"/>
          </a:xfrm>
        </p:grpSpPr>
        <p:sp>
          <p:nvSpPr>
            <p:cNvPr id="10" name="Rectangle 10"/>
            <p:cNvSpPr/>
            <p:nvPr/>
          </p:nvSpPr>
          <p:spPr>
            <a:xfrm>
              <a:off x="533400" y="2945130"/>
              <a:ext cx="5951220" cy="42481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18808" y="307371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188517" y="307371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xₖ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642257" y="3073718"/>
              <a:ext cx="6821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|xₖ − x*|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161575" y="3073718"/>
              <a:ext cx="9620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|eₖ|/|eₖ₋₁|²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18808" y="349758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148535" y="349758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577438" y="3497580"/>
              <a:ext cx="811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1.75×10⁻¹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78904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3793808"/>
              <a:ext cx="595122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18808" y="392239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93138" y="3922395"/>
              <a:ext cx="9895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1.347826087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577438" y="3922395"/>
              <a:ext cx="811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2.31×10⁻²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414391" y="3922395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0.752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421386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18808" y="43472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793138" y="4347210"/>
              <a:ext cx="9895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1.325200399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577438" y="4347210"/>
              <a:ext cx="811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4.82×10⁻⁴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414391" y="4347210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0.904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463772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4642485"/>
              <a:ext cx="595122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18808" y="477107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793138" y="4771072"/>
              <a:ext cx="9895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1.324718174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577438" y="4771072"/>
              <a:ext cx="811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2.17×10⁻⁷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414391" y="4771072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0.931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506253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18808" y="51958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793138" y="5195888"/>
              <a:ext cx="9895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1.324717957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577438" y="5195888"/>
              <a:ext cx="811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4.4×10⁻¹⁴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414391" y="5195888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0.931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2945130"/>
              <a:ext cx="5951220" cy="25469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1404938" y="2945130"/>
              <a:ext cx="9525" cy="25469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3161348" y="2945130"/>
              <a:ext cx="9525" cy="25469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4794885" y="2945130"/>
              <a:ext cx="9525" cy="25469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28066" y="5566410"/>
              <a:ext cx="35939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比值趋于 f″(x*)/(2f′(x*)) = 3x*/(3x*² − 1) ≈ 0.932</a:t>
              </a:r>
            </a:p>
          </p:txBody>
        </p:sp>
      </p:grpSp>
      <p:grpSp>
        <p:nvGrpSpPr>
          <p:cNvPr id="66" name="c2-table-1"/>
          <p:cNvGrpSpPr/>
          <p:nvPr/>
        </p:nvGrpSpPr>
        <p:grpSpPr>
          <a:xfrm>
            <a:off x="6789420" y="1524000"/>
            <a:ext cx="4869180" cy="2337435"/>
            <a:chOff x="6789420" y="1524000"/>
            <a:chExt cx="4869180" cy="2337435"/>
          </a:xfrm>
        </p:grpSpPr>
        <p:sp>
          <p:nvSpPr>
            <p:cNvPr id="46" name="Rectangle 46"/>
            <p:cNvSpPr/>
            <p:nvPr/>
          </p:nvSpPr>
          <p:spPr>
            <a:xfrm>
              <a:off x="6789420" y="1524000"/>
              <a:ext cx="4869180" cy="42481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352348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375146" y="1652588"/>
              <a:ext cx="16005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误差 ≤ 10⁻⁵ 所需步数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550271" y="16525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收敛速度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891909" y="218313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二分法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353044" y="2076450"/>
              <a:ext cx="129997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 个中点（2ⁿ⁺¹ ≥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10⁵）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202799" y="218313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误差界每步减半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789420" y="2581275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789420" y="2586038"/>
              <a:ext cx="4869180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891909" y="2821305"/>
              <a:ext cx="10573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不动点迭代 φ₁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353044" y="2821305"/>
              <a:ext cx="311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 步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202799" y="2714625"/>
              <a:ext cx="9265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线性，因子约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0.19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789420" y="3219450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891909" y="3459480"/>
              <a:ext cx="8243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Newton 法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8260080" y="3233738"/>
              <a:ext cx="1831658" cy="61912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353044" y="3352800"/>
              <a:ext cx="105613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步（误差已到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2×10⁻⁷）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202799" y="345948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平方收敛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789420" y="1524000"/>
              <a:ext cx="4869180" cy="23374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8245792" y="1524000"/>
              <a:ext cx="9525" cy="23374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10095548" y="1524000"/>
              <a:ext cx="9525" cy="23374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3" name="c2-callout-2"/>
          <p:cNvGrpSpPr/>
          <p:nvPr/>
        </p:nvGrpSpPr>
        <p:grpSpPr>
          <a:xfrm>
            <a:off x="6789420" y="4042410"/>
            <a:ext cx="4869180" cy="756285"/>
            <a:chOff x="6789420" y="4042410"/>
            <a:chExt cx="4869180" cy="756285"/>
          </a:xfrm>
        </p:grpSpPr>
        <p:sp>
          <p:nvSpPr>
            <p:cNvPr id="67" name="Rectangle 67"/>
            <p:cNvSpPr/>
            <p:nvPr/>
          </p:nvSpPr>
          <p:spPr>
            <a:xfrm>
              <a:off x="6789420" y="4042410"/>
              <a:ext cx="4869180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6994208" y="4320540"/>
              <a:ext cx="200026" cy="200025"/>
              <a:chOff x="6994208" y="4320540"/>
              <a:chExt cx="200026" cy="200025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6994208" y="432054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7033946" y="436499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7068662" y="447611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7296531" y="4189571"/>
              <a:ext cx="3945890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Newton 法每迭代一步，有效数字大约翻一倍；代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价是每步要计算导数值。</a:t>
              </a:r>
            </a:p>
          </p:txBody>
        </p:sp>
      </p:grpSp>
      <p:grpSp>
        <p:nvGrpSpPr>
          <p:cNvPr id="80" name="c2-callout-3"/>
          <p:cNvGrpSpPr/>
          <p:nvPr/>
        </p:nvGrpSpPr>
        <p:grpSpPr>
          <a:xfrm>
            <a:off x="6789420" y="4978718"/>
            <a:ext cx="4869180" cy="1018222"/>
            <a:chOff x="6789420" y="4978718"/>
            <a:chExt cx="4869180" cy="1018222"/>
          </a:xfrm>
        </p:grpSpPr>
        <p:sp>
          <p:nvSpPr>
            <p:cNvPr id="74" name="Rectangle 74"/>
            <p:cNvSpPr/>
            <p:nvPr/>
          </p:nvSpPr>
          <p:spPr>
            <a:xfrm>
              <a:off x="6789420" y="4978718"/>
              <a:ext cx="4869180" cy="1018222"/>
            </a:xfrm>
            <a:prstGeom prst="roundRect">
              <a:avLst>
                <a:gd name="adj" fmla="val 1122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8" name="Group 78"/>
            <p:cNvGrpSpPr/>
            <p:nvPr/>
          </p:nvGrpSpPr>
          <p:grpSpPr>
            <a:xfrm>
              <a:off x="6994208" y="5387340"/>
              <a:ext cx="200026" cy="200026"/>
              <a:chOff x="6994208" y="5387340"/>
              <a:chExt cx="200026" cy="200026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6994208" y="538734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7094220" y="545401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7083108" y="548735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9" name="TextBox 79"/>
            <p:cNvSpPr txBox="1"/>
            <p:nvPr/>
          </p:nvSpPr>
          <p:spPr>
            <a:xfrm>
              <a:off x="7296531" y="5125879"/>
              <a:ext cx="3819652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x₁ = (2×1.5³ + 1)/(3×1.5² − 1) = 7.75/5.75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1.347826，手算时先化简公式能少算一次减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法。</a:t>
              </a:r>
            </a:p>
          </p:txBody>
        </p:sp>
      </p:grpSp>
      <p:grpSp>
        <p:nvGrpSpPr>
          <p:cNvPr id="8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1" name="TextBox 81"/>
            <p:cNvSpPr txBox="1"/>
            <p:nvPr/>
          </p:nvSpPr>
          <p:spPr>
            <a:xfrm>
              <a:off x="528447" y="6581299"/>
              <a:ext cx="1652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计算方法 总复习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383294" cy="909257"/>
            <a:chOff x="520446" y="342900"/>
            <a:chExt cx="83832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4970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5693" y="407194"/>
              <a:ext cx="12651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第三章 非线性方程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3832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非线性方程组的 Newton 法：每一步解一个线性方程组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4760595" cy="2115502"/>
            <a:chOff x="533400" y="1524000"/>
            <a:chExt cx="4760595" cy="211550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2115502"/>
            </a:xfrm>
            <a:prstGeom prst="roundRect">
              <a:avLst>
                <a:gd name="adj" fmla="val 630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48802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7059" y="175641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线性化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402704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F(x) = (f₁(x), …, fₙ(x))ᵀ = 0，在 x⁽ᵏ⁾ 处展开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取线性部分：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145"/>
                <p:cNvSpPr txBox="1">
                  <a:spLocks noGrp="1"/>
                </p:cNvSpPr>
                <p:nvPr/>
              </p:nvSpPr>
              <p:spPr>
                <a:xfrm>
                  <a:off x="769620" y="2648902"/>
                  <a:ext cx="4326255" cy="45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p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</m:t>
                                    </m:r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62381" y="3218974"/>
              <a:ext cx="357718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F′(x) = [∂fᵢ/∂xⱼ]ₙₓₙ 是 Jacobi 矩阵。</a:t>
              </a:r>
            </a:p>
          </p:txBody>
        </p:sp>
      </p:grpSp>
      <p:grpSp>
        <p:nvGrpSpPr>
          <p:cNvPr id="32" name="c1-steps-2"/>
          <p:cNvGrpSpPr/>
          <p:nvPr/>
        </p:nvGrpSpPr>
        <p:grpSpPr>
          <a:xfrm>
            <a:off x="533400" y="3829050"/>
            <a:ext cx="4389272" cy="2398776"/>
            <a:chOff x="533400" y="3829050"/>
            <a:chExt cx="4389272" cy="2398776"/>
          </a:xfrm>
        </p:grpSpPr>
        <p:sp>
          <p:nvSpPr>
            <p:cNvPr id="15" name="Rectangle 15"/>
            <p:cNvSpPr/>
            <p:nvPr/>
          </p:nvSpPr>
          <p:spPr>
            <a:xfrm>
              <a:off x="666750" y="3971925"/>
              <a:ext cx="19050" cy="18507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533400" y="382905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9028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444627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452008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533400" y="506253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7024" y="51363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33400" y="567975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27024" y="575357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261" y="386191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404" y="4142422"/>
              <a:ext cx="25621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F(x⁽ᵏ⁾) 和 Jacobi 矩阵 F′(x⁽ᵏ⁾)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5261" y="447913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解方程组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404" y="4759642"/>
              <a:ext cx="39762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F′(x⁽ᵏ⁾)Δx⁽ᵏ⁾ = −F(x⁽ᵏ⁾)，用消去法或 LU，不求逆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5261" y="509635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更新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6404" y="5376862"/>
              <a:ext cx="17405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x⁽ᵏ⁺¹⁾ = x⁽ᵏ⁾ + Δx⁽ᵏ⁾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5261" y="571261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46404" y="5993130"/>
              <a:ext cx="28667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‖Δx⁽ᵏ⁾‖∞ &lt; ε 时停止，否则回到第 1 步</a:t>
              </a:r>
            </a:p>
          </p:txBody>
        </p:sp>
      </p:grpSp>
      <p:grpSp>
        <p:nvGrpSpPr>
          <p:cNvPr id="65" name="c2-card-1"/>
          <p:cNvGrpSpPr/>
          <p:nvPr/>
        </p:nvGrpSpPr>
        <p:grpSpPr>
          <a:xfrm>
            <a:off x="5598795" y="1524000"/>
            <a:ext cx="6059805" cy="4694872"/>
            <a:chOff x="5598795" y="1524000"/>
            <a:chExt cx="6059805" cy="4694872"/>
          </a:xfrm>
        </p:grpSpPr>
        <p:sp>
          <p:nvSpPr>
            <p:cNvPr id="33" name="Rectangle 33"/>
            <p:cNvSpPr/>
            <p:nvPr/>
          </p:nvSpPr>
          <p:spPr>
            <a:xfrm>
              <a:off x="5598795" y="1524000"/>
              <a:ext cx="6059805" cy="4694872"/>
            </a:xfrm>
            <a:prstGeom prst="roundRect">
              <a:avLst>
                <a:gd name="adj" fmla="val 284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5608320" y="1657350"/>
              <a:ext cx="47625" cy="442817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835015" y="1722120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922455" y="175641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典型题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51676" y="1756886"/>
              <a:ext cx="39303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x² + y² − 4 = 0，xy − 1 = 0，初值 (2, 0.5)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formula146"/>
                <p:cNvSpPr txBox="1">
                  <a:spLocks noGrp="1"/>
                </p:cNvSpPr>
                <p:nvPr/>
              </p:nvSpPr>
              <p:spPr>
                <a:xfrm>
                  <a:off x="5835015" y="2077402"/>
                  <a:ext cx="5625465" cy="594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2x</m:t>
                                  </m:r>
                                </m:e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2y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y</m:t>
                                  </m:r>
                                </m:e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p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0.5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</m:e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0.5</m:t>
                                  </m:r>
                                </m:e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9" name="TextBox 39"/>
            <p:cNvSpPr txBox="1"/>
            <p:nvPr/>
          </p:nvSpPr>
          <p:spPr>
            <a:xfrm>
              <a:off x="5827776" y="2784634"/>
              <a:ext cx="526237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步：F(2, 0.5) = (0.25, 0)ᵀ，解 4Δx + Δy = −0.25，0.5Δx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+ 2Δy = 0，得 Δx = −1/15，Δy = 1/60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835015" y="3349942"/>
              <a:ext cx="5625465" cy="42481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204231" y="347853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258728" y="3478530"/>
              <a:ext cx="385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x⁽ᵏ⁾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805588" y="3478530"/>
              <a:ext cx="385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y⁽ᵏ⁾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130809" y="3478530"/>
              <a:ext cx="9715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‖Δx⁽ᵏ⁻¹⁾‖∞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204231" y="39033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045490" y="3903345"/>
              <a:ext cx="811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1.9333333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592350" y="3903345"/>
              <a:ext cx="811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0.5166667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210648" y="3903345"/>
              <a:ext cx="811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6.67×10⁻²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835015" y="4194810"/>
              <a:ext cx="56254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835015" y="4199572"/>
              <a:ext cx="562546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204231" y="432720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045490" y="4327208"/>
              <a:ext cx="811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1.9318527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592350" y="4327208"/>
              <a:ext cx="811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0.5176371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210648" y="4327208"/>
              <a:ext cx="811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1.48×10⁻³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835015" y="4618672"/>
              <a:ext cx="56254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204231" y="475202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045490" y="4752022"/>
              <a:ext cx="811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1.9318517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592350" y="4752022"/>
              <a:ext cx="811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0.5176381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210648" y="4752022"/>
              <a:ext cx="811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1.09×10⁻⁶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5835015" y="3349942"/>
              <a:ext cx="5625465" cy="1697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6673215" y="3349942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8220075" y="3349942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9767888" y="3349942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828919" y="5157788"/>
              <a:ext cx="51937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精确解 x = √(2 + √3) ≈ 1.9318517，y = 1/x ≈ 0.5176381；修正量大致按平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方缩小。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1652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计算方法 总复习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5F2EA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20" name="section-title"/>
          <p:cNvGrpSpPr/>
          <p:nvPr/>
        </p:nvGrpSpPr>
        <p:grpSpPr>
          <a:xfrm>
            <a:off x="667512" y="1835468"/>
            <a:ext cx="6553000" cy="3706177"/>
            <a:chOff x="667512" y="1835468"/>
            <a:chExt cx="6553000" cy="370617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第四章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85216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矩阵特征值特征向量的计算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5430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乘幂类方法求个别特征值，Jacobi 旋转法求实对称阵的全部特征值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乘幂法与规范化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反幂法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乘幂法的加速：原点平移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35251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Jacobi 旋转法：平面旋转矩阵、旋转法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23900" y="530542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6780" y="524827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过关法</a:t>
              </a:r>
            </a:p>
          </p:txBody>
        </p:sp>
      </p:grpSp>
      <p:grpSp>
        <p:nvGrpSpPr>
          <p:cNvPr id="2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1" name="TextBox 21"/>
            <p:cNvSpPr txBox="1"/>
            <p:nvPr/>
          </p:nvSpPr>
          <p:spPr>
            <a:xfrm>
              <a:off x="528447" y="6581299"/>
              <a:ext cx="1652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计算方法 总复习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15248" cy="909257"/>
            <a:chOff x="520446" y="342900"/>
            <a:chExt cx="721524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16490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4545" y="407194"/>
              <a:ext cx="9635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第四章 特征值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1524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乘幂法：反复左乘 A，按模最大的特征值占主导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626418" cy="4522470"/>
            <a:chOff x="533400" y="1524000"/>
            <a:chExt cx="5626418" cy="45224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522470"/>
            </a:xfrm>
            <a:prstGeom prst="roundRect">
              <a:avLst>
                <a:gd name="adj" fmla="val 294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425577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原理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8634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A 有 n 个线性无关的特征向量 v₁, …, vₙ，|λ₁| &gt; |λ₂| 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 ≥ |λₙ|，x⁽⁰⁾ = α₁v₁ + … + αₙvₙ 且 α₁ ≠ 0：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149"/>
                <p:cNvSpPr txBox="1">
                  <a:spLocks noGrp="1"/>
                </p:cNvSpPr>
                <p:nvPr/>
              </p:nvSpPr>
              <p:spPr>
                <a:xfrm>
                  <a:off x="781050" y="2707005"/>
                  <a:ext cx="5169218" cy="8667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e>
                            </m:d>
                          </m:sup>
                        </m:sSup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p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p>
                        </m:sSup>
                        <m:sSup>
                          <m:e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d>
                          </m:sup>
                        </m:sSup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Sup>
                          <m:e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</m:t>
                            </m:r>
                          </m:e>
                          <m:sub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p>
                        </m:sSubSup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α</m:t>
                                </m:r>
                              </m:e>
                              <m:sub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  <m:e>
                                <m:sSub>
                                  <m:e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α</m:t>
                                    </m:r>
                                  </m:e>
                                  <m:sub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  <m:sSup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9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type m:val="bar"/>
                                            <m:ctrlPr>
                                              <a:rPr lang="zh-CN" sz="19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fPr>
                                          <m:num>
                                            <m:sSub>
                                              <m:e>
                                                <m:r>
                                                  <a:rPr lang="zh-CN" sz="195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λ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zh-CN" sz="195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i</m:t>
                                                </m:r>
                                              </m:sub>
                                            </m:sSub>
                                          </m:num>
                                          <m:den>
                                            <m:sSub>
                                              <m:e>
                                                <m:r>
                                                  <a:rPr lang="zh-CN" sz="195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λ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zh-CN" sz="195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sup>
                                </m:sSup>
                                <m:sSub>
                                  <m:e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Ellipse 13"/>
            <p:cNvSpPr/>
            <p:nvPr/>
          </p:nvSpPr>
          <p:spPr>
            <a:xfrm>
              <a:off x="786765" y="375666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3693795"/>
              <a:ext cx="46253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充分大时 x⁽ᵏ⁾ ≈ λ₁ᵏα₁v₁，相邻两步对应分量之比 →</a:t>
              </a:r>
              <a:br/>
              <a:r>
                <a:rPr lang="el-GR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λ₁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437769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4314825"/>
              <a:ext cx="36398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收敛速度由 |λ₂/λ₁| 决定，比值越小越快</a:t>
              </a:r>
            </a:p>
          </p:txBody>
        </p:sp>
      </p:grpSp>
      <p:grpSp>
        <p:nvGrpSpPr>
          <p:cNvPr id="28" name="c2-card-1"/>
          <p:cNvGrpSpPr/>
          <p:nvPr/>
        </p:nvGrpSpPr>
        <p:grpSpPr>
          <a:xfrm>
            <a:off x="6464618" y="1524000"/>
            <a:ext cx="5193982" cy="3272790"/>
            <a:chOff x="6464618" y="1524000"/>
            <a:chExt cx="5193982" cy="3272790"/>
          </a:xfrm>
        </p:grpSpPr>
        <p:sp>
          <p:nvSpPr>
            <p:cNvPr id="18" name="Rectangle 18"/>
            <p:cNvSpPr/>
            <p:nvPr/>
          </p:nvSpPr>
          <p:spPr>
            <a:xfrm>
              <a:off x="6464618" y="1524000"/>
              <a:ext cx="5193982" cy="3272790"/>
            </a:xfrm>
            <a:prstGeom prst="roundRect">
              <a:avLst>
                <a:gd name="adj" fmla="val 407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474142" y="1657350"/>
              <a:ext cx="47625" cy="300609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712268" y="173355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85724" y="176926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规范化乘幂法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704648" y="2110740"/>
              <a:ext cx="44538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|λ₁| &gt; 1 时 Aᵏx⁽⁰⁾ 会上溢，|λ₁| &lt; 1 时会下溢，所以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每步除以 max(x⁽ᵏ⁾)（绝对值最大的分量，保留符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号）：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formula150"/>
                <p:cNvSpPr txBox="1">
                  <a:spLocks noGrp="1"/>
                </p:cNvSpPr>
                <p:nvPr/>
              </p:nvSpPr>
              <p:spPr>
                <a:xfrm>
                  <a:off x="6712268" y="2992755"/>
                  <a:ext cx="4736782" cy="9048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{"/>
                            <m:sepChr m:val=""/>
                            <m:endChr m:val=""/>
                            <m:grow m:val="on"/>
                            <m:ctrlPr>
                              <a:rPr lang="zh-CN" sz="18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eqArr>
                              <m:eqArrPr>
                                <m:baseJc m:val="center"/>
                              </m:eqArrPr>
                              <m:e>
                                <m:r>
                                  <a:rPr lang="zh-CN" sz="18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sSup>
                                  <m:e>
                                    <m:r>
                                      <a:rPr lang="zh-CN" sz="18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e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8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8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</m:e>
                                    </m:d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sz="18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sSup>
                                  <m:e>
                                    <m:r>
                                      <a:rPr lang="zh-CN" sz="18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8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8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</m:e>
                                    </m:d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sz="18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func>
                                  <m:funcPr/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sz="18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max</m:t>
                                    </m:r>
                                  </m:fName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8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e>
                                            <m:r>
                                              <a:rPr lang="zh-CN" sz="18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x</m:t>
                                            </m:r>
                                          </m:e>
                                          <m:sup>
                                            <m:d>
                                              <m:dPr>
                                                <m:begChr m:val="("/>
                                                <m:sepChr m:val=""/>
                                                <m:endChr m:val=")"/>
                                                <m:grow m:val="on"/>
                                                <m:ctrlPr>
                                                  <a:rPr lang="zh-CN" sz="188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zh-CN" sz="188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k</m:t>
                                                </m:r>
                                              </m:e>
                                            </m:d>
                                          </m:sup>
                                        </m:sSup>
                                      </m:e>
                                    </m:d>
                                  </m:e>
                                </m:func>
                              </m:e>
                              <m:e>
                                <m:r>
                                  <a:rPr lang="zh-CN" sz="18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sSup>
                                  <m:e>
                                    <m:r>
                                      <a:rPr lang="zh-CN" sz="18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8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8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8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+</m:t>
                                        </m:r>
                                        <m:r>
                                          <a:rPr lang="zh-CN" sz="18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sz="18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8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  <m:sSup>
                                  <m:e>
                                    <m:r>
                                      <a:rPr lang="zh-CN" sz="18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e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8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8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eqArr>
                          </m:e>
                        </m:d>
                        <m:r>
                          <a:rPr lang="zh-CN" sz="18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8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</m:t>
                        </m:r>
                        <m:r>
                          <m:rPr>
                            <m:sty m:val="p"/>
                          </m:rPr>
                          <a:rPr lang="zh-CN" sz="18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8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zh-CN" sz="18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8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8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,⋯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4" name="Ellipse 24"/>
            <p:cNvSpPr/>
            <p:nvPr/>
          </p:nvSpPr>
          <p:spPr>
            <a:xfrm>
              <a:off x="6717983" y="408051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876098" y="4017645"/>
              <a:ext cx="36196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终止条件：| ‖x⁽ᵏ⁾‖∞ − ‖x⁽ᵏ⁻¹⁾‖∞ | &lt; ε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6717983" y="441579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876098" y="4352925"/>
              <a:ext cx="32158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输出：λ₁ ≈ max(x⁽ᵏ⁾)，v₁ ≈ y⁽ᵏ⁾</a:t>
              </a:r>
            </a:p>
          </p:txBody>
        </p:sp>
      </p:grpSp>
      <p:grpSp>
        <p:nvGrpSpPr>
          <p:cNvPr id="35" name="c2-callout-2"/>
          <p:cNvGrpSpPr/>
          <p:nvPr/>
        </p:nvGrpSpPr>
        <p:grpSpPr>
          <a:xfrm>
            <a:off x="6464618" y="4987290"/>
            <a:ext cx="5193982" cy="1059180"/>
            <a:chOff x="6464618" y="4987290"/>
            <a:chExt cx="5193982" cy="1059180"/>
          </a:xfrm>
        </p:grpSpPr>
        <p:sp>
          <p:nvSpPr>
            <p:cNvPr id="29" name="Rectangle 29"/>
            <p:cNvSpPr/>
            <p:nvPr/>
          </p:nvSpPr>
          <p:spPr>
            <a:xfrm>
              <a:off x="6464618" y="4987290"/>
              <a:ext cx="5193982" cy="1059180"/>
            </a:xfrm>
            <a:prstGeom prst="roundRect">
              <a:avLst>
                <a:gd name="adj" fmla="val 10791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6657347" y="5413176"/>
              <a:ext cx="224134" cy="192560"/>
              <a:chOff x="6657347" y="5413176"/>
              <a:chExt cx="224134" cy="19256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6769418" y="548354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657347" y="541317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769418" y="556133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6971348" y="5135880"/>
              <a:ext cx="41681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若 α₁ = 0，舍入误差通常会引入 v₁ 分量，迭代仍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能收敛；若 λ₁ = −λ₂ 或主特征值为复数，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max(x⁽ᵏ⁾) 不收敛。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6" name="TextBox 36"/>
            <p:cNvSpPr txBox="1"/>
            <p:nvPr/>
          </p:nvSpPr>
          <p:spPr>
            <a:xfrm>
              <a:off x="528447" y="6581299"/>
              <a:ext cx="1652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计算方法 总复习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16490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4545" y="407194"/>
              <a:ext cx="9635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第四章 特征值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典型题：规范化乘幂法求主特征值和特征向量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768950" cy="264033"/>
            <a:chOff x="526542" y="1545907"/>
            <a:chExt cx="576895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7689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 = [2 3 2; 10 3 4; 3 6 1]，x⁽⁰⁾ = y⁽⁰⁾ = (0, 0, 1)ᵀ，精度 10⁻³。</a:t>
              </a:r>
            </a:p>
          </p:txBody>
        </p:sp>
      </p:grpSp>
      <p:grpSp>
        <p:nvGrpSpPr>
          <p:cNvPr id="62" name="c1-table-1"/>
          <p:cNvGrpSpPr/>
          <p:nvPr/>
        </p:nvGrpSpPr>
        <p:grpSpPr>
          <a:xfrm>
            <a:off x="533400" y="1928812"/>
            <a:ext cx="6708458" cy="3600450"/>
            <a:chOff x="533400" y="1928812"/>
            <a:chExt cx="6708458" cy="360045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6708458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52754" y="20502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58659" y="2050256"/>
              <a:ext cx="1172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x⁽ᵏ⁾ = Ay⁽ᵏ⁻¹⁾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810014" y="2050256"/>
              <a:ext cx="8267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max(x⁽ᵏ⁾)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854228" y="2050256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y⁽ᵏ⁾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2754" y="24503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003867" y="2450306"/>
              <a:ext cx="6823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(2, 4, 1)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176207" y="24503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485585" y="2450306"/>
              <a:ext cx="10970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(0.5, 1, 0.25)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724150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728912"/>
              <a:ext cx="670845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52754" y="28503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96552" y="2850356"/>
              <a:ext cx="10970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(4.5, 9, 7.75)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176207" y="28503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402659" y="2850356"/>
              <a:ext cx="12628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(0.5, 1, 0.8611)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124200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52754" y="32504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340460" y="3250406"/>
              <a:ext cx="20091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(5.7222, 11.4444, 8.3611)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927429" y="3250406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11.4444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402659" y="3250406"/>
              <a:ext cx="12628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(0.5, 1, 0.7306)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524250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3529012"/>
              <a:ext cx="670845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52754" y="36504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340460" y="3650456"/>
              <a:ext cx="20091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(5.4612, 10.9223, 8.2306)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927429" y="3650456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10.9223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402659" y="3650456"/>
              <a:ext cx="12628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(0.5, 1, 0.7536)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3924300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754" y="40505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340460" y="4050506"/>
              <a:ext cx="20091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(5.5071, 11.0142, 8.2536)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927429" y="4050506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11.0142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402659" y="4050506"/>
              <a:ext cx="12628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(0.5, 1, 0.7494)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4324350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33400" y="4329112"/>
              <a:ext cx="670845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754" y="44505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340460" y="4450556"/>
              <a:ext cx="20091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(5.4987, 10.9974, 8.2494)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927429" y="4450556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10.9974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402659" y="4450556"/>
              <a:ext cx="12628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(0.5, 1, 0.7501)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4724400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52754" y="48506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340460" y="4850606"/>
              <a:ext cx="20091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(5.5002, 11.0005, 8.2501)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927429" y="4850606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11.0005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402659" y="4850606"/>
              <a:ext cx="12628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(0.5, 1, 0.7500)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33400" y="5124450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533400" y="5129212"/>
              <a:ext cx="670845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52754" y="52506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340460" y="5250656"/>
              <a:ext cx="20091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(5.5000, 10.9999, 8.2500)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3629025" y="5138738"/>
              <a:ext cx="1188720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3927429" y="5250656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10.9999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402659" y="5250656"/>
              <a:ext cx="12628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(0.5, 1, 0.7500)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33400" y="1928812"/>
              <a:ext cx="6708458" cy="36004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1064895" y="1928812"/>
              <a:ext cx="9525" cy="36004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3614738" y="1928812"/>
              <a:ext cx="9525" cy="36004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4822508" y="1928812"/>
              <a:ext cx="9525" cy="36004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9" name="c2-card-1"/>
          <p:cNvGrpSpPr/>
          <p:nvPr/>
        </p:nvGrpSpPr>
        <p:grpSpPr>
          <a:xfrm>
            <a:off x="7546658" y="1928812"/>
            <a:ext cx="4111942" cy="1743075"/>
            <a:chOff x="7546658" y="1928812"/>
            <a:chExt cx="4111942" cy="1743075"/>
          </a:xfrm>
        </p:grpSpPr>
        <p:sp>
          <p:nvSpPr>
            <p:cNvPr id="63" name="Rectangle 63"/>
            <p:cNvSpPr/>
            <p:nvPr/>
          </p:nvSpPr>
          <p:spPr>
            <a:xfrm>
              <a:off x="7546658" y="1928812"/>
              <a:ext cx="4111942" cy="1743075"/>
            </a:xfrm>
            <a:prstGeom prst="roundRect">
              <a:avLst>
                <a:gd name="adj" fmla="val 76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7556182" y="2062162"/>
              <a:ext cx="47625" cy="147637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7771448" y="2115502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852918" y="214836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前两步手算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764589" y="2459355"/>
              <a:ext cx="349415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= 1：x⁽¹⁾ = Ay⁽⁰⁾ 就是 A 的第 3 列 (2, 4,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1)ᵀ，max = 4，y⁽¹⁾ = (0.5, 1, 0.25)ᵀ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764589" y="3016568"/>
              <a:ext cx="350272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= 2：x⁽²⁾ = (1 + 3 + 0.5, 5 + 3 + 1, 1.5 +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+ 0.25)ᵀ = (4.5, 9, 7.75)ᵀ</a:t>
              </a:r>
            </a:p>
          </p:txBody>
        </p:sp>
      </p:grpSp>
      <p:grpSp>
        <p:nvGrpSpPr>
          <p:cNvPr id="75" name="c2-callout-2"/>
          <p:cNvGrpSpPr/>
          <p:nvPr/>
        </p:nvGrpSpPr>
        <p:grpSpPr>
          <a:xfrm>
            <a:off x="7546658" y="3841432"/>
            <a:ext cx="4111942" cy="978218"/>
            <a:chOff x="7546658" y="3841432"/>
            <a:chExt cx="4111942" cy="978218"/>
          </a:xfrm>
        </p:grpSpPr>
        <p:sp>
          <p:nvSpPr>
            <p:cNvPr id="70" name="Rectangle 70"/>
            <p:cNvSpPr/>
            <p:nvPr/>
          </p:nvSpPr>
          <p:spPr>
            <a:xfrm>
              <a:off x="7546658" y="3841432"/>
              <a:ext cx="4111942" cy="978218"/>
            </a:xfrm>
            <a:prstGeom prst="roundRect">
              <a:avLst>
                <a:gd name="adj" fmla="val 11685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7751445" y="4231005"/>
              <a:ext cx="200026" cy="200026"/>
              <a:chOff x="7751445" y="4231005"/>
              <a:chExt cx="200026" cy="200026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7751445" y="423100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7818120" y="430879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8054149" y="3988118"/>
              <a:ext cx="3211258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k = 8 时 |10.9999 − 11.0005| &lt; 10⁻³，停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止：λ₁ ≈ 11.000，v₁ ≈ (0.5, 1,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0.75)ᵀ。</a:t>
              </a:r>
            </a:p>
          </p:txBody>
        </p:sp>
      </p:grpSp>
      <p:grpSp>
        <p:nvGrpSpPr>
          <p:cNvPr id="82" name="c2-callout-3"/>
          <p:cNvGrpSpPr/>
          <p:nvPr/>
        </p:nvGrpSpPr>
        <p:grpSpPr>
          <a:xfrm>
            <a:off x="7546658" y="4989195"/>
            <a:ext cx="4111942" cy="978218"/>
            <a:chOff x="7546658" y="4989195"/>
            <a:chExt cx="4111942" cy="978218"/>
          </a:xfrm>
        </p:grpSpPr>
        <p:sp>
          <p:nvSpPr>
            <p:cNvPr id="76" name="Rectangle 76"/>
            <p:cNvSpPr/>
            <p:nvPr/>
          </p:nvSpPr>
          <p:spPr>
            <a:xfrm>
              <a:off x="7546658" y="4989195"/>
              <a:ext cx="4111942" cy="978218"/>
            </a:xfrm>
            <a:prstGeom prst="roundRect">
              <a:avLst>
                <a:gd name="adj" fmla="val 1168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80" name="Group 80"/>
            <p:cNvGrpSpPr/>
            <p:nvPr/>
          </p:nvGrpSpPr>
          <p:grpSpPr>
            <a:xfrm>
              <a:off x="7751445" y="5378768"/>
              <a:ext cx="200026" cy="200026"/>
              <a:chOff x="7751445" y="5378768"/>
              <a:chExt cx="200026" cy="200026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7751445" y="537876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7851458" y="544544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7840345" y="547878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81" name="TextBox 81"/>
            <p:cNvSpPr txBox="1"/>
            <p:nvPr/>
          </p:nvSpPr>
          <p:spPr>
            <a:xfrm>
              <a:off x="8054149" y="5135880"/>
              <a:ext cx="3108388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的特征值为 11、−3、−2，|λ₂/λ₁|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3/11 ≈ 0.27，误差每步约乘 0.27，所以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收敛较快。</a:t>
              </a:r>
            </a:p>
          </p:txBody>
        </p:sp>
      </p:grpSp>
      <p:grpSp>
        <p:nvGrpSpPr>
          <p:cNvPr id="8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3" name="TextBox 83"/>
            <p:cNvSpPr txBox="1"/>
            <p:nvPr/>
          </p:nvSpPr>
          <p:spPr>
            <a:xfrm>
              <a:off x="528447" y="6581299"/>
              <a:ext cx="1652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计算方法 总复习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16490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4545" y="407194"/>
              <a:ext cx="9635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第四章 特征值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反幂法求按模最小的特征值，原点平移用来加速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410200" cy="3308985"/>
            <a:chOff x="533400" y="1524000"/>
            <a:chExt cx="5410200" cy="33089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3308985"/>
            </a:xfrm>
            <a:prstGeom prst="roundRect">
              <a:avLst>
                <a:gd name="adj" fmla="val 40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04228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7308" y="17692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反幂法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5586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可逆时 A⁻¹ 的特征值为 1/λᵢ，对 A⁻¹ 用乘幂法得到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的</a:t>
              </a: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按模最小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特征值 λₙ：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153"/>
                <p:cNvSpPr txBox="1">
                  <a:spLocks noGrp="1"/>
                </p:cNvSpPr>
                <p:nvPr/>
              </p:nvSpPr>
              <p:spPr>
                <a:xfrm>
                  <a:off x="781050" y="2707005"/>
                  <a:ext cx="4953000" cy="9410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{"/>
                            <m:sepChr m:val=""/>
                            <m:endChr m:val=""/>
                            <m:grow m:val="on"/>
                            <m:ctrl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eqArr>
                              <m:eqArrPr>
                                <m:baseJc m:val="center"/>
                              </m:eqArrPr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  <m:sSup>
                                  <m:e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9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9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9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+</m:t>
                                        </m:r>
                                        <m:r>
                                          <a:rPr lang="zh-CN" sz="19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sSup>
                                  <m:e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e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9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9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sSup>
                                  <m:e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e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9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9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9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+</m:t>
                                        </m:r>
                                        <m:r>
                                          <a:rPr lang="zh-CN" sz="19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sSup>
                                  <m:e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9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9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9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+</m:t>
                                        </m:r>
                                        <m:r>
                                          <a:rPr lang="zh-CN" sz="19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func>
                                  <m:funcPr/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max</m:t>
                                    </m:r>
                                  </m:fName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9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e>
                                            <m:r>
                                              <a:rPr lang="zh-CN" sz="19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x</m:t>
                                            </m:r>
                                          </m:e>
                                          <m:sup>
                                            <m:d>
                                              <m:dPr>
                                                <m:begChr m:val="("/>
                                                <m:sepChr m:val=""/>
                                                <m:endChr m:val=")"/>
                                                <m:grow m:val="on"/>
                                                <m:ctrlPr>
                                                  <a:rPr lang="zh-CN" sz="195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zh-CN" sz="195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k</m:t>
                                                </m:r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zh-CN" sz="195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+</m:t>
                                                </m:r>
                                                <m:r>
                                                  <a:rPr lang="zh-CN" sz="195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1</m:t>
                                                </m:r>
                                              </m:e>
                                            </m:d>
                                          </m:sup>
                                        </m:sSup>
                                      </m:e>
                                    </m:d>
                                  </m:e>
                                </m:func>
                              </m:e>
                            </m:eqAr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Ellipse 13"/>
            <p:cNvSpPr/>
            <p:nvPr/>
          </p:nvSpPr>
          <p:spPr>
            <a:xfrm>
              <a:off x="786765" y="383095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3768090"/>
              <a:ext cx="39871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不求逆：先做一次 A = LU，每步解 Lz = y⁽ᵏ⁾、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Ux⁽ᵏ⁺¹⁾ = z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445198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4389120"/>
              <a:ext cx="43668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max(x⁽ᵏ⁾) → 1/λₙ，收敛速度由 |λₙ/λₙ₋₁| 决定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5023485"/>
            <a:ext cx="5410200" cy="1316355"/>
            <a:chOff x="533400" y="5023485"/>
            <a:chExt cx="5410200" cy="1316355"/>
          </a:xfrm>
        </p:grpSpPr>
        <p:sp>
          <p:nvSpPr>
            <p:cNvPr id="18" name="Rectangle 18"/>
            <p:cNvSpPr/>
            <p:nvPr/>
          </p:nvSpPr>
          <p:spPr>
            <a:xfrm>
              <a:off x="533400" y="5023485"/>
              <a:ext cx="5410200" cy="1316355"/>
            </a:xfrm>
            <a:prstGeom prst="roundRect">
              <a:avLst>
                <a:gd name="adj" fmla="val 1013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42950" y="5233035"/>
              <a:ext cx="1092518" cy="25717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15051" y="5268754"/>
              <a:ext cx="9473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反幂法 + 平移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5330" y="5610225"/>
              <a:ext cx="463867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 A − λ₀I 用反幂法，得到</a:t>
              </a:r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最接近 λ₀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的特征值：λ ≈ λ₀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+ 1/max(x⁽ᵏ⁾)。λ₀ 取得好时迭代一两步就够。</a:t>
              </a:r>
            </a:p>
          </p:txBody>
        </p:sp>
      </p:grpSp>
      <p:grpSp>
        <p:nvGrpSpPr>
          <p:cNvPr id="33" name="c2-card-1"/>
          <p:cNvGrpSpPr/>
          <p:nvPr/>
        </p:nvGrpSpPr>
        <p:grpSpPr>
          <a:xfrm>
            <a:off x="6248400" y="1524000"/>
            <a:ext cx="5410200" cy="3583305"/>
            <a:chOff x="6248400" y="1524000"/>
            <a:chExt cx="5410200" cy="3583305"/>
          </a:xfrm>
        </p:grpSpPr>
        <p:sp>
          <p:nvSpPr>
            <p:cNvPr id="23" name="Rectangle 23"/>
            <p:cNvSpPr/>
            <p:nvPr/>
          </p:nvSpPr>
          <p:spPr>
            <a:xfrm>
              <a:off x="6248400" y="1524000"/>
              <a:ext cx="5410200" cy="3583305"/>
            </a:xfrm>
            <a:prstGeom prst="roundRect">
              <a:avLst>
                <a:gd name="adj" fmla="val 37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57925" y="1657350"/>
              <a:ext cx="47625" cy="331660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496050" y="1733550"/>
              <a:ext cx="1540192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38522" y="1769269"/>
              <a:ext cx="14562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原点平移 B = A − λ₀I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88430" y="2110740"/>
              <a:ext cx="47110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的特征值为 λᵢ − λ₀，特征向量不变。对 B 用乘幂法，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收敛因子变为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formula154"/>
                <p:cNvSpPr txBox="1">
                  <a:spLocks noGrp="1"/>
                </p:cNvSpPr>
                <p:nvPr/>
              </p:nvSpPr>
              <p:spPr>
                <a:xfrm>
                  <a:off x="6496050" y="2707005"/>
                  <a:ext cx="4953000" cy="6438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ω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  <m:sub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unc>
                          <m:funcPr/>
                          <m:fName>
                            <m:limLow>
                              <m:limLowPr/>
                              <m:e>
                                <m:r>
                                  <m:rPr>
                                    <m:sty m:val="p"/>
                                  </m:r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lim>
                            </m:limLow>
                          </m:fName>
                          <m:e>
                            <m:d>
                              <m:dPr>
                                <m:begChr m:val="|"/>
                                <m:sepChr m:val=""/>
                                <m:endChr m:val="|"/>
                                <m:grow m:val="on"/>
                                <m:ctrl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sSub>
                                      <m:e>
                                        <m:r>
                                          <a:rPr lang="zh-CN" sz="19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λ</m:t>
                                        </m:r>
                                      </m:e>
                                      <m:sub>
                                        <m:r>
                                          <a:rPr lang="zh-CN" sz="19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j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sSub>
                                      <m:e>
                                        <m:r>
                                          <a:rPr lang="zh-CN" sz="19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λ</m:t>
                                        </m:r>
                                      </m:e>
                                      <m:sub>
                                        <m:r>
                                          <a:rPr lang="zh-CN" sz="19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e>
                                        <m:r>
                                          <a:rPr lang="zh-CN" sz="19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λ</m:t>
                                        </m:r>
                                      </m:e>
                                      <m:sub>
                                        <m:r>
                                          <a:rPr lang="zh-CN" sz="19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sSub>
                                      <m:e>
                                        <m:r>
                                          <a:rPr lang="zh-CN" sz="19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λ</m:t>
                                        </m:r>
                                      </m:e>
                                      <m:sub>
                                        <m:r>
                                          <a:rPr lang="zh-CN" sz="19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9" name="Ellipse 29"/>
            <p:cNvSpPr/>
            <p:nvPr/>
          </p:nvSpPr>
          <p:spPr>
            <a:xfrm>
              <a:off x="6501765" y="353377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659880" y="3470910"/>
              <a:ext cx="4415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特征值都是实数且 λ₁ &gt; λ₂ ≥ … ≥ λₙ 时，取 λ₀ = (λ₂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λₙ)/2 使 ω 最小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501765" y="415480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659880" y="4091940"/>
              <a:ext cx="44919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上页 A 的特征值为 11、−2、−3：取 λ₀ = −2.5，B 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特征值为 13.5、0.5、−0.5，因子从 3/11 ≈ 0.27 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 0.5/13.5 ≈ 0.037</a:t>
              </a:r>
            </a:p>
          </p:txBody>
        </p:sp>
      </p:grpSp>
      <p:grpSp>
        <p:nvGrpSpPr>
          <p:cNvPr id="40" name="c2-callout-2"/>
          <p:cNvGrpSpPr/>
          <p:nvPr/>
        </p:nvGrpSpPr>
        <p:grpSpPr>
          <a:xfrm>
            <a:off x="6248400" y="5297805"/>
            <a:ext cx="5410200" cy="782955"/>
            <a:chOff x="6248400" y="5297805"/>
            <a:chExt cx="5410200" cy="782955"/>
          </a:xfrm>
        </p:grpSpPr>
        <p:sp>
          <p:nvSpPr>
            <p:cNvPr id="34" name="Rectangle 34"/>
            <p:cNvSpPr/>
            <p:nvPr/>
          </p:nvSpPr>
          <p:spPr>
            <a:xfrm>
              <a:off x="6248400" y="5297805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6441129" y="5585578"/>
              <a:ext cx="224134" cy="192560"/>
              <a:chOff x="6441129" y="5585578"/>
              <a:chExt cx="224134" cy="19256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6553200" y="565594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441129" y="558557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553200" y="57337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6755130" y="5446395"/>
              <a:ext cx="44729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特征值分布事先不知道，λ₀ 通常先粗估、试算，确认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有加速效果再继续。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581299"/>
              <a:ext cx="1652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计算方法 总复习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797223" cy="909257"/>
            <a:chOff x="520446" y="342900"/>
            <a:chExt cx="77972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16490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4545" y="407194"/>
              <a:ext cx="9635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第四章 特征值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7972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典型题：反幂法加平移，求 A 在 1.6 附近的特征值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178440" cy="264033"/>
            <a:chOff x="526542" y="1545907"/>
            <a:chExt cx="717844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1784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 = [3 1 0; 1 3 1; 0 1 3]，λ₀ = 1.6，对 B = A − 1.6I 用反幂法，y⁽⁰⁾ = (1, 1, 1)ᵀ。</a:t>
              </a:r>
            </a:p>
          </p:txBody>
        </p:sp>
      </p:grpSp>
      <p:grpSp>
        <p:nvGrpSpPr>
          <p:cNvPr id="20" name="c1-card-1"/>
          <p:cNvGrpSpPr/>
          <p:nvPr/>
        </p:nvGrpSpPr>
        <p:grpSpPr>
          <a:xfrm>
            <a:off x="533400" y="1928812"/>
            <a:ext cx="4003358" cy="3798570"/>
            <a:chOff x="533400" y="1928812"/>
            <a:chExt cx="4003358" cy="379857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4003358" cy="3798570"/>
            </a:xfrm>
            <a:prstGeom prst="roundRect">
              <a:avLst>
                <a:gd name="adj" fmla="val 35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353187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8190" y="2115502"/>
              <a:ext cx="192500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00239" y="2148364"/>
              <a:ext cx="18418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先做一次 LU 分解，再逐步回代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1332" y="2459355"/>
              <a:ext cx="35947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的对角元为 1.4，非对角元同 A，B = LU：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formula158"/>
                <p:cNvSpPr txBox="1">
                  <a:spLocks noGrp="1"/>
                </p:cNvSpPr>
                <p:nvPr/>
              </p:nvSpPr>
              <p:spPr>
                <a:xfrm>
                  <a:off x="758190" y="2737485"/>
                  <a:ext cx="3591878" cy="4867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L</m:t>
                        </m:r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5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/</m:t>
                                  </m:r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7</m:t>
                                  </m:r>
                                </m:e>
                                <m:e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35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/</m:t>
                                  </m:r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24</m:t>
                                  </m:r>
                                </m:e>
                                <m:e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U</m:t>
                        </m:r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1.4</m:t>
                                  </m:r>
                                </m:e>
                                <m:e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24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/</m:t>
                                  </m:r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35</m:t>
                                  </m:r>
                                </m:e>
                                <m:e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7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/</m:t>
                                  </m:r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120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5" name="Ellipse 15"/>
            <p:cNvSpPr/>
            <p:nvPr/>
          </p:nvSpPr>
          <p:spPr>
            <a:xfrm>
              <a:off x="766762" y="3386138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2782" y="3329940"/>
              <a:ext cx="316839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步：Lz = y⁽⁰⁾ 得 z = (1, 2/7,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7/12)ᵀ，Ux⁽¹⁾ = z 得 x⁽¹⁾ = (−10, 15,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−10)ᵀ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66762" y="4201478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22782" y="4145280"/>
              <a:ext cx="324554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步：y⁽¹⁾ = x⁽¹⁾/15，Lz = y⁽¹⁾ 得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 = (−2/3, 31/21, −2.8194)ᵀ，再回代得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x⁽²⁾ = (48.33, −68.33, 48.33)ᵀ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2475" y="4955381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以后每步只解两个三角方程组，不再分解。</a:t>
              </a:r>
            </a:p>
          </p:txBody>
        </p:sp>
      </p:grpSp>
      <p:grpSp>
        <p:nvGrpSpPr>
          <p:cNvPr id="58" name="c2-table-1"/>
          <p:cNvGrpSpPr/>
          <p:nvPr/>
        </p:nvGrpSpPr>
        <p:grpSpPr>
          <a:xfrm>
            <a:off x="4841558" y="1928812"/>
            <a:ext cx="6817042" cy="2000250"/>
            <a:chOff x="4841558" y="1928812"/>
            <a:chExt cx="6817042" cy="2000250"/>
          </a:xfrm>
        </p:grpSpPr>
        <p:sp>
          <p:nvSpPr>
            <p:cNvPr id="21" name="Rectangle 21"/>
            <p:cNvSpPr/>
            <p:nvPr/>
          </p:nvSpPr>
          <p:spPr>
            <a:xfrm>
              <a:off x="4841558" y="1928812"/>
              <a:ext cx="6817042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997094" y="20502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127596" y="2050256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x⁽ᵏ⁾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30479" y="2050256"/>
              <a:ext cx="8267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max(x⁽ᵏ⁾)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684761" y="2050256"/>
              <a:ext cx="8346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λ₀ + 1/max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490046" y="2050256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y⁽ᵏ⁾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997094" y="24503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758952" y="2450306"/>
              <a:ext cx="10970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(−10, 15, −10)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855209" y="245030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764671" y="2450306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1.666667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831161" y="2450306"/>
              <a:ext cx="16774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(−0.6667, 1, −0.6667)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841558" y="2724150"/>
              <a:ext cx="681704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4841558" y="2728912"/>
              <a:ext cx="681704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997094" y="28503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427248" y="2850356"/>
              <a:ext cx="17604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(48.33, −68.33, 48.33)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06431" y="2850356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−68.3333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764671" y="2850356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1.585366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831161" y="2850356"/>
              <a:ext cx="16774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(−0.7073, 1, −0.7073)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4841558" y="3124200"/>
              <a:ext cx="681704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997094" y="32504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427248" y="3250406"/>
              <a:ext cx="17604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(49.76, −70.37, 49.76)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06431" y="3250406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−70.3659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764671" y="3250406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1.585789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831161" y="3250406"/>
              <a:ext cx="16774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(−0.7071, 1, −0.7071)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4841558" y="3524250"/>
              <a:ext cx="681704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4841558" y="3529012"/>
              <a:ext cx="681704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997094" y="36504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427248" y="3650456"/>
              <a:ext cx="17604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(49.75, −70.36, 49.75)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606431" y="3650456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−70.3553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8532495" y="3538538"/>
              <a:ext cx="1140142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764671" y="3650456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1.585786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831161" y="3650456"/>
              <a:ext cx="16774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(−0.7071, 1, −0.7071)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4841558" y="1928812"/>
              <a:ext cx="6817042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5246370" y="1928812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7359015" y="1928812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8518208" y="1928812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9677400" y="1928812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4" name="c2-callout-2"/>
          <p:cNvGrpSpPr/>
          <p:nvPr/>
        </p:nvGrpSpPr>
        <p:grpSpPr>
          <a:xfrm>
            <a:off x="4841558" y="4098608"/>
            <a:ext cx="6817042" cy="729615"/>
            <a:chOff x="4841558" y="4098608"/>
            <a:chExt cx="6817042" cy="729615"/>
          </a:xfrm>
        </p:grpSpPr>
        <p:sp>
          <p:nvSpPr>
            <p:cNvPr id="59" name="Rectangle 59"/>
            <p:cNvSpPr/>
            <p:nvPr/>
          </p:nvSpPr>
          <p:spPr>
            <a:xfrm>
              <a:off x="4841558" y="4098608"/>
              <a:ext cx="6817042" cy="729615"/>
            </a:xfrm>
            <a:prstGeom prst="roundRect">
              <a:avLst>
                <a:gd name="adj" fmla="val 15666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5046345" y="4363403"/>
              <a:ext cx="200026" cy="200026"/>
              <a:chOff x="5046345" y="4363403"/>
              <a:chExt cx="200026" cy="200026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5046345" y="436340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5113020" y="444119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5349049" y="4245292"/>
              <a:ext cx="510578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特征值 ≈ 1.585786（精确值 3 − √2），特征向量 ≈ (−0.70711, 1,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−0.70711)ᵀ。</a:t>
              </a:r>
            </a:p>
          </p:txBody>
        </p:sp>
      </p:grpSp>
      <p:grpSp>
        <p:nvGrpSpPr>
          <p:cNvPr id="71" name="c2-callout-3"/>
          <p:cNvGrpSpPr/>
          <p:nvPr/>
        </p:nvGrpSpPr>
        <p:grpSpPr>
          <a:xfrm>
            <a:off x="4841558" y="4997768"/>
            <a:ext cx="6817042" cy="729615"/>
            <a:chOff x="4841558" y="4997768"/>
            <a:chExt cx="6817042" cy="729615"/>
          </a:xfrm>
        </p:grpSpPr>
        <p:sp>
          <p:nvSpPr>
            <p:cNvPr id="65" name="Rectangle 65"/>
            <p:cNvSpPr/>
            <p:nvPr/>
          </p:nvSpPr>
          <p:spPr>
            <a:xfrm>
              <a:off x="4841558" y="4997768"/>
              <a:ext cx="6817042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5046345" y="5262563"/>
              <a:ext cx="200026" cy="200026"/>
              <a:chOff x="5046345" y="5262563"/>
              <a:chExt cx="200026" cy="200026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5046345" y="526256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5146358" y="532923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5135245" y="536257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5349049" y="5144452"/>
              <a:ext cx="53286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另两个特征值 3、3 + √2 离 1.6 较远，收敛因子 |(3 − √2 − 1.6)/(3 −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1.6)| ≈ 0.010，每步误差缩小约 100 倍。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1652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计算方法 总复习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073508" cy="909257"/>
            <a:chOff x="520446" y="342900"/>
            <a:chExt cx="807350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16490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4545" y="407194"/>
              <a:ext cx="9635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第四章 特征值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07350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Jacobi 旋转法：用平面旋转阵把非对角元逐个化为 0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card-1"/>
          <p:cNvGrpSpPr/>
          <p:nvPr/>
        </p:nvGrpSpPr>
        <p:grpSpPr>
          <a:xfrm>
            <a:off x="533400" y="1524000"/>
            <a:ext cx="5626418" cy="4592955"/>
            <a:chOff x="533400" y="1524000"/>
            <a:chExt cx="5626418" cy="45929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592955"/>
            </a:xfrm>
            <a:prstGeom prst="roundRect">
              <a:avLst>
                <a:gd name="adj" fmla="val 290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432625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1459230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15871" y="1743551"/>
              <a:ext cx="134386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平面旋转阵 P(i, j, θ)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493433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在单位阵中改四个元素：pᵢᵢ = pⱼⱼ = cosθ，pᵢⱼ = sinθ，pⱼᵢ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−sinθ。P 正交，C = PᵀAP 与 A 相似；A 实对称时 C 仍对称，只有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i、j 行和列改变：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174"/>
                <p:cNvSpPr txBox="1">
                  <a:spLocks noGrp="1"/>
                </p:cNvSpPr>
                <p:nvPr/>
              </p:nvSpPr>
              <p:spPr>
                <a:xfrm>
                  <a:off x="758190" y="2847022"/>
                  <a:ext cx="5214938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</m:e>
                          <m:sub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b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ii</m:t>
                            </m:r>
                          </m:sub>
                        </m:sSub>
                        <m:func>
                          <m:funcPr/>
                          <m:fNam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</m:func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b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b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jj</m:t>
                            </m:r>
                          </m:sub>
                        </m:sSub>
                        <m:func>
                          <m:funcPr/>
                          <m:fNam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</m:func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sSub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b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ij</m:t>
                            </m:r>
                          </m:sub>
                        </m:sSub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sin</m:t>
                            </m:r>
                          </m:fName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e>
                        </m:func>
                        <m: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θ</m:t>
                        </m:r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175"/>
                <p:cNvSpPr txBox="1">
                  <a:spLocks noGrp="1"/>
                </p:cNvSpPr>
                <p:nvPr/>
              </p:nvSpPr>
              <p:spPr>
                <a:xfrm>
                  <a:off x="758190" y="3368992"/>
                  <a:ext cx="5214938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</m:e>
                          <m:sub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jj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b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ii</m:t>
                            </m:r>
                          </m:sub>
                        </m:sSub>
                        <m:func>
                          <m:funcPr/>
                          <m:fNam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</m:func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b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b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jj</m:t>
                            </m:r>
                          </m:sub>
                        </m:sSub>
                        <m:func>
                          <m:funcPr/>
                          <m:fNam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</m:func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b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b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ij</m:t>
                            </m:r>
                          </m:sub>
                        </m:sSub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sin</m:t>
                            </m:r>
                          </m:fName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e>
                        </m:func>
                        <m: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θ</m:t>
                        </m:r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formula176"/>
                <p:cNvSpPr txBox="1">
                  <a:spLocks noGrp="1"/>
                </p:cNvSpPr>
                <p:nvPr/>
              </p:nvSpPr>
              <p:spPr>
                <a:xfrm>
                  <a:off x="758190" y="3890962"/>
                  <a:ext cx="5214938" cy="59150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</m:e>
                          <m:sub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ij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</m:e>
                          <m:sub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ii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jj</m:t>
                                </m:r>
                              </m:sub>
                            </m:sSub>
                          </m:e>
                        </m:d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sin</m:t>
                            </m:r>
                          </m:fName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e>
                        </m:func>
                        <m: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b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b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ij</m:t>
                            </m:r>
                          </m:sub>
                        </m:sSub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cos</m:t>
                            </m:r>
                          </m:fName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e>
                        </m:func>
                        <m: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θ</m:t>
                        </m:r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177"/>
                <p:cNvSpPr txBox="1">
                  <a:spLocks noGrp="1"/>
                </p:cNvSpPr>
                <p:nvPr/>
              </p:nvSpPr>
              <p:spPr>
                <a:xfrm>
                  <a:off x="758190" y="4566285"/>
                  <a:ext cx="5214938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ik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ik</m:t>
                            </m:r>
                          </m:sub>
                        </m:sSub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cos</m:t>
                            </m:r>
                          </m:fName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</m:func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jk</m:t>
                            </m:r>
                          </m:sub>
                        </m:sSub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sin</m:t>
                            </m:r>
                          </m:fName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</m:func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jk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jk</m:t>
                            </m:r>
                          </m:sub>
                        </m:sSub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cos</m:t>
                            </m:r>
                          </m:fName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</m:func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ik</m:t>
                            </m:r>
                          </m:sub>
                        </m:sSub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sin</m:t>
                            </m:r>
                          </m:fName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</m:func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≠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6" name="Ellipse 16"/>
            <p:cNvSpPr/>
            <p:nvPr/>
          </p:nvSpPr>
          <p:spPr>
            <a:xfrm>
              <a:off x="766762" y="5072062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22782" y="5015865"/>
              <a:ext cx="27306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 cᵢⱼ = 0 就得到右边的选角公式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66762" y="5372100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22782" y="5315902"/>
              <a:ext cx="479717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检验手算：cᵢᵢ + cⱼⱼ = aᵢᵢ + aⱼⱼ（迹不变），且 cᵢₖ² + cⱼₖ²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aᵢₖ² + aⱼₖ²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464618" y="1524000"/>
            <a:ext cx="5193982" cy="1904048"/>
            <a:chOff x="6464618" y="1524000"/>
            <a:chExt cx="5193982" cy="1904048"/>
          </a:xfrm>
        </p:grpSpPr>
        <p:sp>
          <p:nvSpPr>
            <p:cNvPr id="21" name="Rectangle 21"/>
            <p:cNvSpPr/>
            <p:nvPr/>
          </p:nvSpPr>
          <p:spPr>
            <a:xfrm>
              <a:off x="6464618" y="1524000"/>
              <a:ext cx="5193982" cy="1904048"/>
            </a:xfrm>
            <a:prstGeom prst="roundRect">
              <a:avLst>
                <a:gd name="adj" fmla="val 70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74142" y="1657350"/>
              <a:ext cx="47625" cy="163734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689408" y="1710690"/>
              <a:ext cx="1060132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64299" y="1743551"/>
              <a:ext cx="91130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选角使 cᵢⱼ = 0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formula178"/>
                <p:cNvSpPr txBox="1">
                  <a:spLocks noGrp="1"/>
                </p:cNvSpPr>
                <p:nvPr/>
              </p:nvSpPr>
              <p:spPr>
                <a:xfrm>
                  <a:off x="6689408" y="2032635"/>
                  <a:ext cx="4782502" cy="59150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tan</m:t>
                            </m:r>
                          </m:fName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e>
                        </m:func>
                        <m: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  <m:sSub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ij</m:t>
                                </m:r>
                              </m:sub>
                            </m:sSub>
                          </m:num>
                          <m:den>
                            <m:sSub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jj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ii</m:t>
                                </m:r>
                              </m:sub>
                            </m:sSub>
                          </m:den>
                        </m:f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f>
                          <m:fPr>
                            <m:type m:val="bar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π</m:t>
                            </m:r>
                          </m:num>
                          <m:den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6" name="Ellipse 26"/>
            <p:cNvSpPr/>
            <p:nvPr/>
          </p:nvSpPr>
          <p:spPr>
            <a:xfrm>
              <a:off x="6697980" y="2786062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853999" y="2729865"/>
              <a:ext cx="44844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aᵢᵢ = aⱼⱼ 时取 θ = π/4（aᵢⱼ &gt; 0）或 −π/4（aᵢⱼ &lt; 0）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697980" y="3087052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853999" y="3030855"/>
              <a:ext cx="47141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非对角元平方和 τ 每次减少 2aᵢⱼ²：τ(C) = τ(A) − 2aᵢⱼ²</a:t>
              </a:r>
            </a:p>
          </p:txBody>
        </p:sp>
      </p:grpSp>
      <p:grpSp>
        <p:nvGrpSpPr>
          <p:cNvPr id="40" name="c2-card-2"/>
          <p:cNvGrpSpPr/>
          <p:nvPr/>
        </p:nvGrpSpPr>
        <p:grpSpPr>
          <a:xfrm>
            <a:off x="6464618" y="3597592"/>
            <a:ext cx="5193982" cy="2518410"/>
            <a:chOff x="6464618" y="3597592"/>
            <a:chExt cx="5193982" cy="2518410"/>
          </a:xfrm>
        </p:grpSpPr>
        <p:sp>
          <p:nvSpPr>
            <p:cNvPr id="31" name="Rectangle 31"/>
            <p:cNvSpPr/>
            <p:nvPr/>
          </p:nvSpPr>
          <p:spPr>
            <a:xfrm>
              <a:off x="6464618" y="3597592"/>
              <a:ext cx="5193982" cy="2518410"/>
            </a:xfrm>
            <a:prstGeom prst="roundRect">
              <a:avLst>
                <a:gd name="adj" fmla="val 529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74142" y="3730942"/>
              <a:ext cx="47625" cy="225171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689408" y="3784282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63728" y="3817144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旋转法与过关法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697980" y="4185285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853999" y="4129088"/>
              <a:ext cx="429139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旋转法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：每步选绝对值最大的非对角元旋转。Aₖ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PₖᵀAₖ₋₁Pₖ 趋于对角阵，对角元 → 特征值；Sₖ = Sₖ₋₁Pₖ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的各列 → 特征向量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697980" y="4999672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853999" y="4943475"/>
              <a:ext cx="420566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过关法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：γ₀ = √τ(A)，γ₁ = γ₀/n。逐个扫描非对角元，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|aᵢⱼ| ≥ γ₁ 才旋转，其余算“过关”；都过关后换 γ₂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γ₀/n²，…，直到 γᵣ ≤ ε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83692" y="5754529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过关法省去了每步搜索最大元的比较。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581299"/>
              <a:ext cx="1652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计算方法 总复习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423848" cy="909257"/>
            <a:chOff x="520446" y="342900"/>
            <a:chExt cx="742384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16490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4545" y="407194"/>
              <a:ext cx="9635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第四章 特征值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42384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典型题：Jacobi 旋转法求实对称阵的全部特征值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7077647" cy="293370"/>
            <a:chOff x="525780" y="1548765"/>
            <a:chExt cx="7077647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70776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 = [4 2 0; 2 4 1; 0 1 4]，非对角元平方和 τ(A) = 2×(2² + 0² + 1²) = 10。</a:t>
              </a:r>
            </a:p>
          </p:txBody>
        </p:sp>
      </p:grpSp>
      <p:grpSp>
        <p:nvGrpSpPr>
          <p:cNvPr id="20" name="c1-card-1"/>
          <p:cNvGrpSpPr/>
          <p:nvPr/>
        </p:nvGrpSpPr>
        <p:grpSpPr>
          <a:xfrm>
            <a:off x="533400" y="1954530"/>
            <a:ext cx="4436745" cy="4332922"/>
            <a:chOff x="533400" y="1954530"/>
            <a:chExt cx="4436745" cy="4332922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4436745" cy="4332922"/>
            </a:xfrm>
            <a:prstGeom prst="roundRect">
              <a:avLst>
                <a:gd name="adj" fmla="val 30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87880"/>
              <a:ext cx="47625" cy="406622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9620" y="2152650"/>
              <a:ext cx="1170622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0680" y="2186940"/>
              <a:ext cx="10294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第 1 次旋转手算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381" y="2513171"/>
              <a:ext cx="372948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最大非对角元 a₁₂ = 2，a₁₁ = a₂₂ ⇒ θ = π/4，</a:t>
              </a:r>
              <a:br/>
              <a:r>
                <a:rPr lang="el-GR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cosθ = sinθ ≈ 0.707107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77240" y="3162300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3831" y="3102769"/>
              <a:ext cx="36212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c₁₁ = 2 + 2 − 2×1 = 2，c₂₂ = 2 + 2 + 2 = 6，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c₁₂ = 0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77240" y="3751898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33831" y="3691414"/>
              <a:ext cx="344995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c₁₃ = 0×cosθ − 1×sinθ = −0.707107，c₂₃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1×cosθ + 0×sinθ = 0.707107，c₃₃ = 4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formula181"/>
                <p:cNvSpPr txBox="1">
                  <a:spLocks noGrp="1"/>
                </p:cNvSpPr>
                <p:nvPr/>
              </p:nvSpPr>
              <p:spPr>
                <a:xfrm>
                  <a:off x="769620" y="4257675"/>
                  <a:ext cx="4002405" cy="76485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0.7071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6</m:t>
                                  </m:r>
                                </m:e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0.7071</m:t>
                                  </m:r>
                                </m:e>
                              </m:mr>
                              <m:m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0.7071</m:t>
                                  </m:r>
                                </m:e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0.7071</m:t>
                                  </m:r>
                                </m:e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9" name="TextBox 19"/>
            <p:cNvSpPr txBox="1"/>
            <p:nvPr/>
          </p:nvSpPr>
          <p:spPr>
            <a:xfrm>
              <a:off x="762381" y="5135404"/>
              <a:ext cx="19900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τ(A₁) = 10 − 2×2² = 2</a:t>
              </a:r>
            </a:p>
          </p:txBody>
        </p:sp>
      </p:grpSp>
      <p:grpSp>
        <p:nvGrpSpPr>
          <p:cNvPr id="71" name="c2-table-1"/>
          <p:cNvGrpSpPr/>
          <p:nvPr/>
        </p:nvGrpSpPr>
        <p:grpSpPr>
          <a:xfrm>
            <a:off x="5269611" y="1954530"/>
            <a:ext cx="6388989" cy="3437191"/>
            <a:chOff x="5269611" y="1954530"/>
            <a:chExt cx="6388989" cy="3437191"/>
          </a:xfrm>
        </p:grpSpPr>
        <p:sp>
          <p:nvSpPr>
            <p:cNvPr id="21" name="Rectangle 21"/>
            <p:cNvSpPr/>
            <p:nvPr/>
          </p:nvSpPr>
          <p:spPr>
            <a:xfrm>
              <a:off x="5274945" y="1954530"/>
              <a:ext cx="6383655" cy="42481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413656" y="208311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818392" y="2083118"/>
              <a:ext cx="4447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(i, j)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851984" y="2083118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aᵢⱼ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486584" y="2083118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旋转后对角元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774499" y="2083118"/>
              <a:ext cx="4918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τ(Aₖ)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413656" y="250698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788304" y="2506980"/>
              <a:ext cx="5049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(1, 2)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947497" y="250698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700630" y="250698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2, 6, 4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969904" y="250698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274945" y="2798445"/>
              <a:ext cx="63836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274945" y="2803208"/>
              <a:ext cx="638365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413656" y="293179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788304" y="2931795"/>
              <a:ext cx="5049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(1, 3)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92100" y="2931795"/>
              <a:ext cx="811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−0.707107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078686" y="2931795"/>
              <a:ext cx="17972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1.775255, 6, 4.224745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969904" y="293179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274945" y="3223260"/>
              <a:ext cx="63836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413656" y="33566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788304" y="3356610"/>
              <a:ext cx="5049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(2, 3)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36525" y="3356610"/>
              <a:ext cx="722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0.673887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767714" y="3356610"/>
              <a:ext cx="2419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1.775255, 6.226826, 3.997919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614508" y="3356610"/>
              <a:ext cx="811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9.18×10⁻²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274945" y="3647122"/>
              <a:ext cx="63836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5274945" y="3651885"/>
              <a:ext cx="638365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413656" y="378047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788304" y="3780472"/>
              <a:ext cx="5049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(1, 2)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636525" y="3780472"/>
              <a:ext cx="722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0.202996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767714" y="3780472"/>
              <a:ext cx="2419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1.766018, 6.236064, 3.997919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614508" y="3780472"/>
              <a:ext cx="811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9.34×10⁻³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274945" y="4071938"/>
              <a:ext cx="63836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413656" y="42052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788304" y="4205288"/>
              <a:ext cx="5049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(1, 3)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592100" y="4205288"/>
              <a:ext cx="811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−0.068256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767714" y="4205288"/>
              <a:ext cx="2419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1.763932, 6.236064, 4.000004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658932" y="4205288"/>
              <a:ext cx="722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1.9×10⁻⁵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274945" y="4496752"/>
              <a:ext cx="63836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5274945" y="4501515"/>
              <a:ext cx="638365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413656" y="462915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788304" y="4629150"/>
              <a:ext cx="5049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(2, 3)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592100" y="4629150"/>
              <a:ext cx="811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−0.003105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767714" y="4629150"/>
              <a:ext cx="2419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1.763932, 6.236068, 4.000000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658932" y="4629150"/>
              <a:ext cx="722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1.8×10⁻⁸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5274945" y="1954530"/>
              <a:ext cx="6383655" cy="297084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5653088" y="1954530"/>
              <a:ext cx="9525" cy="29708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6418898" y="1954530"/>
              <a:ext cx="9525" cy="29708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7567612" y="1954530"/>
              <a:ext cx="9525" cy="29708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10377488" y="1954530"/>
              <a:ext cx="9525" cy="29708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5269611" y="4999672"/>
              <a:ext cx="595807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 2 步 |a₁₃| = |a₂₃|，取先扫描到的 (1, 3)。特征值 ≈ 1.763932、6.236068、4，精确值 4 − √5、4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+ √5、4</a:t>
              </a:r>
            </a:p>
          </p:txBody>
        </p:sp>
      </p:grpSp>
      <p:grpSp>
        <p:nvGrpSpPr>
          <p:cNvPr id="78" name="c2-callout-2"/>
          <p:cNvGrpSpPr/>
          <p:nvPr/>
        </p:nvGrpSpPr>
        <p:grpSpPr>
          <a:xfrm>
            <a:off x="5274945" y="5531168"/>
            <a:ext cx="6383655" cy="756285"/>
            <a:chOff x="5274945" y="5531168"/>
            <a:chExt cx="6383655" cy="756285"/>
          </a:xfrm>
        </p:grpSpPr>
        <p:sp>
          <p:nvSpPr>
            <p:cNvPr id="72" name="Rectangle 72"/>
            <p:cNvSpPr/>
            <p:nvPr/>
          </p:nvSpPr>
          <p:spPr>
            <a:xfrm>
              <a:off x="5274945" y="5531168"/>
              <a:ext cx="6383655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6" name="Group 76"/>
            <p:cNvGrpSpPr/>
            <p:nvPr/>
          </p:nvGrpSpPr>
          <p:grpSpPr>
            <a:xfrm>
              <a:off x="5479733" y="5809298"/>
              <a:ext cx="200026" cy="200025"/>
              <a:chOff x="5479733" y="5809298"/>
              <a:chExt cx="200026" cy="200025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5479733" y="580929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5519471" y="585374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5554187" y="596487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7" name="TextBox 77"/>
            <p:cNvSpPr txBox="1"/>
            <p:nvPr/>
          </p:nvSpPr>
          <p:spPr>
            <a:xfrm>
              <a:off x="5782056" y="5678329"/>
              <a:ext cx="5217287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过关法：γ₀ = √10，γ₁ ≈ 1.054，第一遍只旋转 a₁₂，其余都已过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关；再取 γ₂ ≈ 0.351 扫描。</a:t>
              </a:r>
            </a:p>
          </p:txBody>
        </p:sp>
      </p:grpSp>
      <p:grpSp>
        <p:nvGrpSpPr>
          <p:cNvPr id="8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9" name="TextBox 79"/>
            <p:cNvSpPr txBox="1"/>
            <p:nvPr/>
          </p:nvSpPr>
          <p:spPr>
            <a:xfrm>
              <a:off x="528447" y="6581299"/>
              <a:ext cx="1652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计算方法 总复习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5F2EA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313197" cy="3351847"/>
            <a:chOff x="667512" y="1835468"/>
            <a:chExt cx="5313197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第五章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3982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函数插值与曲线拟合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30329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构造在节点上与 f(x) 吻合的多项式，用余项估计误差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46057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Lagrange 插值：存在唯一性、插值余项、插值函数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614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Hermite 基函数插值法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8091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Newton 插值：差商、插值函数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8594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Hermite 差商插值法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652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计算方法 总复习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43864" cy="909257"/>
            <a:chOff x="520446" y="342900"/>
            <a:chExt cx="724386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02298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8495" y="407194"/>
              <a:ext cx="8127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第五章 插值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4386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插值多项式存在且唯一，余项由 Rolle 定理得到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842635" cy="1743075"/>
            <a:chOff x="533400" y="1524000"/>
            <a:chExt cx="5842635" cy="17430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1743075"/>
            </a:xfrm>
            <a:prstGeom prst="roundRect">
              <a:avLst>
                <a:gd name="adj" fmla="val 76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7637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2759" y="174355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插值问题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502005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 n + 1 个互异节点上的 yᵢ = f(xᵢ)，求次数 ≤ n 的 Pₙ(x)，使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Pₙ(xᵢ) = yᵢ（i = 0, 1, …, n）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66762" y="2668905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22782" y="2612708"/>
              <a:ext cx="493433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存在唯一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：系数方程组的行列式是 Vandermonde 行列式，等于 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(xᵢ − xⱼ)（i &gt; j），节点互异时不为 0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3436620"/>
            <a:ext cx="5842635" cy="2478405"/>
            <a:chOff x="533400" y="3436620"/>
            <a:chExt cx="5842635" cy="2478405"/>
          </a:xfrm>
        </p:grpSpPr>
        <p:sp>
          <p:nvSpPr>
            <p:cNvPr id="15" name="Rectangle 15"/>
            <p:cNvSpPr/>
            <p:nvPr/>
          </p:nvSpPr>
          <p:spPr>
            <a:xfrm>
              <a:off x="533400" y="3436620"/>
              <a:ext cx="5842635" cy="2478405"/>
            </a:xfrm>
            <a:prstGeom prst="roundRect">
              <a:avLst>
                <a:gd name="adj" fmla="val 538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569970"/>
              <a:ext cx="47625" cy="221170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58190" y="3623310"/>
              <a:ext cx="713422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2484" y="3656171"/>
              <a:ext cx="5438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 5.1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79054" y="365855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插值余项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1332" y="3984308"/>
              <a:ext cx="44480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f⁽ⁿ⁾ 在 [a, b] 上连续，f⁽ⁿ⁺¹⁾ 在 (a, b) 内存在，则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formula185"/>
                <p:cNvSpPr txBox="1">
                  <a:spLocks noGrp="1"/>
                </p:cNvSpPr>
                <p:nvPr/>
              </p:nvSpPr>
              <p:spPr>
                <a:xfrm>
                  <a:off x="758190" y="4262438"/>
                  <a:ext cx="5431155" cy="5029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</m:e>
                          <m:sub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sSub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  <m:sub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</m:t>
                                    </m:r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ξ</m:t>
                                </m:r>
                              </m:e>
                            </m:d>
                          </m:num>
                          <m:den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!</m:t>
                            </m:r>
                          </m:den>
                        </m:f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sSub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ω</m:t>
                            </m:r>
                          </m:e>
                          <m:sub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b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ω</m:t>
                            </m:r>
                          </m:e>
                          <m:sub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∏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  <m:sup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2" name="TextBox 22"/>
            <p:cNvSpPr txBox="1"/>
            <p:nvPr/>
          </p:nvSpPr>
          <p:spPr>
            <a:xfrm>
              <a:off x="751332" y="4872037"/>
              <a:ext cx="434282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ξ 在 x 与各节点之间。若 |f⁽ⁿ⁺¹⁾| ≤ Mₙ₊₁，则 |Rₙ(x)| ≤</a:t>
              </a:r>
              <a:br/>
              <a:r>
                <a:rPr lang="el-GR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Mₙ₊₁|ωₙ₊₁(x)|/(n + 1)!</a:t>
              </a:r>
            </a:p>
          </p:txBody>
        </p:sp>
      </p:grpSp>
      <p:grpSp>
        <p:nvGrpSpPr>
          <p:cNvPr id="41" name="c2-steps-1"/>
          <p:cNvGrpSpPr/>
          <p:nvPr/>
        </p:nvGrpSpPr>
        <p:grpSpPr>
          <a:xfrm>
            <a:off x="6680835" y="1533525"/>
            <a:ext cx="4706239" cy="2475072"/>
            <a:chOff x="6680835" y="1533525"/>
            <a:chExt cx="4706239" cy="2475072"/>
          </a:xfrm>
        </p:grpSpPr>
        <p:sp>
          <p:nvSpPr>
            <p:cNvPr id="24" name="Rectangle 24"/>
            <p:cNvSpPr/>
            <p:nvPr/>
          </p:nvSpPr>
          <p:spPr>
            <a:xfrm>
              <a:off x="6814185" y="1676400"/>
              <a:ext cx="19050" cy="19554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6680835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7445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680835" y="232314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74459" y="23969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680835" y="290607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74459" y="29798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680835" y="348900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74459" y="35628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093077" y="1564957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构造辅助函数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094220" y="1833086"/>
              <a:ext cx="429285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固定 x，令 g(t) = f(t) − Pₙ(t) − K(x)ωₙ₊₁(t)，选 K(x) 使 g(x)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093077" y="235553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数零点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094220" y="2622709"/>
              <a:ext cx="26876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 在 x₀, …, xₙ 和 x 共 n + 2 个点上为 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093077" y="2938462"/>
              <a:ext cx="11089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Rolle 定理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094220" y="3205639"/>
              <a:ext cx="24916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连用 n + 1 次，g⁽ⁿ⁺¹⁾ 在某点 ξ 为 0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093077" y="3521392"/>
              <a:ext cx="6860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K(x)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094220" y="3788569"/>
              <a:ext cx="30133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g⁽ⁿ⁺¹⁾(ξ) = f⁽ⁿ⁺¹⁾(ξ) − (n + 1)!K(x) = 0</a:t>
              </a:r>
            </a:p>
          </p:txBody>
        </p:sp>
      </p:grpSp>
      <p:grpSp>
        <p:nvGrpSpPr>
          <p:cNvPr id="50" name="c2-card-2"/>
          <p:cNvGrpSpPr/>
          <p:nvPr/>
        </p:nvGrpSpPr>
        <p:grpSpPr>
          <a:xfrm>
            <a:off x="6680835" y="4172902"/>
            <a:ext cx="4977765" cy="1743075"/>
            <a:chOff x="6680835" y="4172902"/>
            <a:chExt cx="4977765" cy="1743075"/>
          </a:xfrm>
        </p:grpSpPr>
        <p:sp>
          <p:nvSpPr>
            <p:cNvPr id="42" name="Rectangle 42"/>
            <p:cNvSpPr/>
            <p:nvPr/>
          </p:nvSpPr>
          <p:spPr>
            <a:xfrm>
              <a:off x="6680835" y="4172902"/>
              <a:ext cx="4977765" cy="1743075"/>
            </a:xfrm>
            <a:prstGeom prst="roundRect">
              <a:avLst>
                <a:gd name="adj" fmla="val 76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690360" y="4306252"/>
              <a:ext cx="47625" cy="147637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905625" y="435959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998297" y="439245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914198" y="4759642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070217" y="4703445"/>
              <a:ext cx="407708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原复习课件第五章下的节号写作 §4.1、§4.2，第六章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写作 §5.1、§5.2，是旧版编号；本讲义按章号叙述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914198" y="5316855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070217" y="5260658"/>
              <a:ext cx="41285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第五章课件只讲插值，没有曲线拟合内容，复习课件也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只列了插值部分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1652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计算方法 总复习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189766" cy="909257"/>
            <a:chOff x="520446" y="342900"/>
            <a:chExt cx="91897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02298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8495" y="407194"/>
              <a:ext cx="8127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第五章 插值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1897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Lagrange 插值：lᵢ(x) 在自己的节点取 1，在其他节点取 0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4977765" cy="2333625"/>
            <a:chOff x="533400" y="1524000"/>
            <a:chExt cx="4977765" cy="23336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2333625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6692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1401128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0420" y="1756410"/>
              <a:ext cx="12785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Lagrange 插值函数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formula188"/>
                <p:cNvSpPr txBox="1">
                  <a:spLocks noGrp="1"/>
                </p:cNvSpPr>
                <p:nvPr/>
              </p:nvSpPr>
              <p:spPr>
                <a:xfrm>
                  <a:off x="769620" y="2059305"/>
                  <a:ext cx="4543425" cy="6286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∏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≠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  <m:sup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f>
                              <m:fPr>
                                <m:type m:val="bar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sub>
                                </m:sSub>
                              </m:den>
                            </m:f>
                          </m:e>
                        </m:nary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b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  <m:sup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2" name="Ellipse 12"/>
            <p:cNvSpPr/>
            <p:nvPr/>
          </p:nvSpPr>
          <p:spPr>
            <a:xfrm>
              <a:off x="777240" y="2861310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3831" y="2800826"/>
              <a:ext cx="43653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lᵢ(xⱼ) = 1（j = i），0（j ≠ i），所以 Lₙ(xⱼ) = yⱼ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77240" y="3178492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3831" y="3118961"/>
              <a:ext cx="31761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Σlᵢ(x) ≡ 1：对 f ≡ 1 插值，余项为 0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77240" y="3496628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33831" y="3436144"/>
              <a:ext cx="328332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1 为线性插值，n = 2 为抛物线插值</a:t>
              </a:r>
            </a:p>
          </p:txBody>
        </p:sp>
      </p:grpSp>
      <p:grpSp>
        <p:nvGrpSpPr>
          <p:cNvPr id="25" name="c1-callout-2"/>
          <p:cNvGrpSpPr/>
          <p:nvPr/>
        </p:nvGrpSpPr>
        <p:grpSpPr>
          <a:xfrm>
            <a:off x="533400" y="4037648"/>
            <a:ext cx="4977765" cy="756285"/>
            <a:chOff x="533400" y="4037648"/>
            <a:chExt cx="4977765" cy="756285"/>
          </a:xfrm>
        </p:grpSpPr>
        <p:sp>
          <p:nvSpPr>
            <p:cNvPr id="19" name="Rectangle 19"/>
            <p:cNvSpPr/>
            <p:nvPr/>
          </p:nvSpPr>
          <p:spPr>
            <a:xfrm>
              <a:off x="533400" y="4037648"/>
              <a:ext cx="4977765" cy="756285"/>
            </a:xfrm>
            <a:prstGeom prst="roundRect">
              <a:avLst>
                <a:gd name="adj" fmla="val 1511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26129" y="4312086"/>
              <a:ext cx="224134" cy="192560"/>
              <a:chOff x="726129" y="4312086"/>
              <a:chExt cx="224134" cy="19256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838200" y="438245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726129" y="431208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38200" y="446024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040511" y="4184809"/>
              <a:ext cx="4045077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次数不是越高越好：等距节点多了会出现 Runge 现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象。一般取 x 附近的少数几个节点做低次插值。</a:t>
              </a:r>
            </a:p>
          </p:txBody>
        </p:sp>
      </p:grpSp>
      <p:grpSp>
        <p:nvGrpSpPr>
          <p:cNvPr id="63" name="c2-card-1"/>
          <p:cNvGrpSpPr/>
          <p:nvPr/>
        </p:nvGrpSpPr>
        <p:grpSpPr>
          <a:xfrm>
            <a:off x="5815965" y="1524000"/>
            <a:ext cx="5842635" cy="4700588"/>
            <a:chOff x="5815965" y="1524000"/>
            <a:chExt cx="5842635" cy="4700588"/>
          </a:xfrm>
        </p:grpSpPr>
        <p:sp>
          <p:nvSpPr>
            <p:cNvPr id="26" name="Rectangle 26"/>
            <p:cNvSpPr/>
            <p:nvPr/>
          </p:nvSpPr>
          <p:spPr>
            <a:xfrm>
              <a:off x="5815965" y="1524000"/>
              <a:ext cx="5842635" cy="4700588"/>
            </a:xfrm>
            <a:prstGeom prst="roundRect">
              <a:avLst>
                <a:gd name="adj" fmla="val 283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825490" y="1657350"/>
              <a:ext cx="47625" cy="443388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052185" y="1722120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139624" y="175641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典型题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68846" y="1756886"/>
              <a:ext cx="389312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ln10、ln11、ln12 求 ln11.5，并估计误差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044946" y="2100739"/>
              <a:ext cx="515416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ln10 = 2.302585，ln11 = 2.397895，ln12 = 2.484907；精确值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ln11.5 = 2.442347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052185" y="2666048"/>
              <a:ext cx="5408295" cy="42481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87490" y="279463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642985" y="279463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计算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644187" y="279463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154674" y="3219450"/>
              <a:ext cx="11930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线性（11、12）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560564" y="3219450"/>
              <a:ext cx="23303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0.5×2.397895 + 0.5×2.484907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264711" y="3219450"/>
              <a:ext cx="722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2.441401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052185" y="3510915"/>
              <a:ext cx="54082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052185" y="3515678"/>
              <a:ext cx="5408295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154674" y="3643312"/>
              <a:ext cx="950214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抛物线（10、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11、12）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560564" y="3643312"/>
              <a:ext cx="202387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l₀ = −0.125，l₁ = 0.75，l₂ =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0.375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264711" y="3749992"/>
              <a:ext cx="722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2.442438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052185" y="2666048"/>
              <a:ext cx="5408295" cy="14868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7453312" y="2666048"/>
              <a:ext cx="9525" cy="1486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10157460" y="2666048"/>
              <a:ext cx="9525" cy="1486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052185" y="4242435"/>
              <a:ext cx="5408295" cy="42481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269953" y="437102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940421" y="437102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余项上界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374058" y="437102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实际误差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154674" y="479583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694742" y="4795838"/>
              <a:ext cx="29684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(1/11²)/2 × |0.5×(−0.5)| = 1.03×10⁻³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048494" y="4795838"/>
              <a:ext cx="811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9.46×10⁻⁴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052185" y="5086350"/>
              <a:ext cx="54082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052185" y="5091112"/>
              <a:ext cx="5408295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154674" y="532638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694742" y="5219700"/>
              <a:ext cx="23362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(2/10³)/6 × |1.5×0.5×(−0.5)| =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1.25×10⁻⁴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048494" y="5326380"/>
              <a:ext cx="811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9.13×10⁻⁵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052185" y="4242435"/>
              <a:ext cx="5408295" cy="14868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6587490" y="4242435"/>
              <a:ext cx="9525" cy="1486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9941242" y="4242435"/>
              <a:ext cx="9525" cy="1486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046089" y="5838825"/>
              <a:ext cx="46081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f″ = −1/x²，f‴ = 2/x³，分别在所用节点区间上取最大绝对值。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1652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计算方法 总复习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381303" cy="909257"/>
            <a:chOff x="520446" y="342900"/>
            <a:chExt cx="838130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02298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8495" y="407194"/>
              <a:ext cx="8127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第五章 插值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38130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Hermite 插值（基函数法）：函数值和导数值都要吻合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842635" cy="4444365"/>
            <a:chOff x="533400" y="1524000"/>
            <a:chExt cx="5842635" cy="44443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444365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417766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1531620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16047" y="1743551"/>
              <a:ext cx="14159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两点三次 Hermite 插值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48115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 x₀、x₁ 处的 y₀、y₁ 和 m₀ = f′(x₀)、m₁ = f′(x₁)：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198"/>
                <p:cNvSpPr txBox="1">
                  <a:spLocks noGrp="1"/>
                </p:cNvSpPr>
                <p:nvPr/>
              </p:nvSpPr>
              <p:spPr>
                <a:xfrm>
                  <a:off x="758190" y="2332672"/>
                  <a:ext cx="5431155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</m:e>
                          <m:sub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α</m:t>
                            </m:r>
                          </m:e>
                          <m:sub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sSub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  <m:sub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b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α</m:t>
                            </m:r>
                          </m:e>
                          <m:sub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sSub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  <m:sub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b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β</m:t>
                            </m:r>
                          </m:e>
                          <m:sub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sSub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e>
                          <m:sub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b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β</m:t>
                            </m:r>
                          </m:e>
                          <m:sub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sSub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e>
                          <m:sub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199"/>
                <p:cNvSpPr txBox="1">
                  <a:spLocks noGrp="1"/>
                </p:cNvSpPr>
                <p:nvPr/>
              </p:nvSpPr>
              <p:spPr>
                <a:xfrm>
                  <a:off x="758190" y="2854642"/>
                  <a:ext cx="5431155" cy="4629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α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  <m:f>
                              <m:fPr>
                                <m:type m:val="bar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0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0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sSub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sSub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β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sSub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sSub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51332" y="3424238"/>
              <a:ext cx="514007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α₁、β₁ 把下标 0 与 1 互换。基函数满足 αᵢ(xⱼ) = δᵢⱼ，αᵢ′(xⱼ)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0，βᵢ(xⱼ) = 0，βᵢ′(xⱼ) = δᵢⱼ。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200"/>
                <p:cNvSpPr txBox="1">
                  <a:spLocks noGrp="1"/>
                </p:cNvSpPr>
                <p:nvPr/>
              </p:nvSpPr>
              <p:spPr>
                <a:xfrm>
                  <a:off x="758190" y="3958590"/>
                  <a:ext cx="5431155" cy="59150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</m:e>
                          <m:sub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4</m:t>
                                    </m:r>
                                  </m:e>
                                </m:d>
                              </m:sup>
                            </m:s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ξ</m:t>
                                </m:r>
                              </m:e>
                            </m:d>
                          </m:num>
                          <m:den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!</m:t>
                            </m:r>
                          </m:den>
                        </m:f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6" name="TextBox 16"/>
            <p:cNvSpPr txBox="1"/>
            <p:nvPr/>
          </p:nvSpPr>
          <p:spPr>
            <a:xfrm>
              <a:off x="752475" y="4652486"/>
              <a:ext cx="469823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一般地，n + 1 个节点给出函数值和一阶导数值，得 2n + 1 次多项式，余项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f⁽²ⁿ⁺²⁾(ξ)ω²ₙ₊₁(x)/(2n + 2)!。</a:t>
              </a:r>
            </a:p>
          </p:txBody>
        </p:sp>
      </p:grpSp>
      <p:grpSp>
        <p:nvGrpSpPr>
          <p:cNvPr id="53" name="c2-card-1"/>
          <p:cNvGrpSpPr/>
          <p:nvPr/>
        </p:nvGrpSpPr>
        <p:grpSpPr>
          <a:xfrm>
            <a:off x="6680835" y="1524000"/>
            <a:ext cx="4977765" cy="4444365"/>
            <a:chOff x="6680835" y="1524000"/>
            <a:chExt cx="4977765" cy="4444365"/>
          </a:xfrm>
        </p:grpSpPr>
        <p:sp>
          <p:nvSpPr>
            <p:cNvPr id="18" name="Rectangle 18"/>
            <p:cNvSpPr/>
            <p:nvPr/>
          </p:nvSpPr>
          <p:spPr>
            <a:xfrm>
              <a:off x="6680835" y="1524000"/>
              <a:ext cx="4977765" cy="4444365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690360" y="1657350"/>
              <a:ext cx="47625" cy="417766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905625" y="1710690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994246" y="1743551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典型题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95997" y="1745932"/>
              <a:ext cx="28354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f(x) = √x，节点 1、4，求 H₃(2)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898767" y="2071688"/>
              <a:ext cx="30668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y₀ = 1，y₁ = 2，m₀ = 1/2，m₁ = 1/4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905625" y="2349818"/>
              <a:ext cx="4566285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036592" y="2471261"/>
              <a:ext cx="10182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基函数在 x = 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169438" y="247126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计算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888840" y="247126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值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002780" y="2871311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α₀(2)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281988" y="2871311"/>
              <a:ext cx="12628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 + 2/3)×(2/3)²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564178" y="287131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20/27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905625" y="3145155"/>
              <a:ext cx="456628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905625" y="3149918"/>
              <a:ext cx="456628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002780" y="3271361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α₁(2)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281988" y="3271361"/>
              <a:ext cx="12628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 + 4/3)×(1/3)²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564178" y="327136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7/27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905625" y="3545205"/>
              <a:ext cx="456628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002780" y="3671411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β₀(2)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281988" y="3671411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1×(2/3)²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564178" y="367141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4/9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905625" y="3945255"/>
              <a:ext cx="456628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905625" y="3950018"/>
              <a:ext cx="456628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002780" y="4071461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β₁(2)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281988" y="4071461"/>
              <a:ext cx="9236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(−2)×(1/3)²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564178" y="407146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−2/9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905625" y="2349818"/>
              <a:ext cx="4566285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8180070" y="2349818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10462260" y="2349818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898767" y="4455795"/>
              <a:ext cx="320268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H₃(2) = 20/27 + 2×7/27 + (1/2)(4/9) +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(1/4)(−2/9) = 77/54 ≈ 1.425926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914198" y="5069205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070217" y="5013008"/>
              <a:ext cx="28851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√2 = 1.414214，实际误差 −0.0117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914198" y="5370195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070217" y="5313998"/>
              <a:ext cx="3537013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余项界：|f⁽⁴⁾(x)| = 15/(16x³√x) ≤ 15/16，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(15/16)/24 × 1² × 2² ≈ 0.156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1652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计算方法 总复习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53451" cy="909257"/>
            <a:chOff x="520446" y="342900"/>
            <a:chExt cx="735345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02298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8495" y="407194"/>
              <a:ext cx="8127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第五章 插值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534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差商与 Newton 插值：增加一个节点只需添一项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193982" cy="1746885"/>
            <a:chOff x="533400" y="1524000"/>
            <a:chExt cx="5193982" cy="17468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746885"/>
            </a:xfrm>
            <a:prstGeom prst="roundRect">
              <a:avLst>
                <a:gd name="adj" fmla="val 763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8018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1060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差商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formula209"/>
                <p:cNvSpPr txBox="1">
                  <a:spLocks noGrp="1"/>
                </p:cNvSpPr>
                <p:nvPr/>
              </p:nvSpPr>
              <p:spPr>
                <a:xfrm>
                  <a:off x="769620" y="2059305"/>
                  <a:ext cx="4759642" cy="36004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sSub>
                              <m:e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sSub>
                              <m:e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,⋯,</m:t>
                            </m:r>
                            <m:sSub>
                              <m:e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["/>
                                <m:sepChr m:val=""/>
                                <m:endChr m:val="]"/>
                                <m:grow m:val="on"/>
                                <m:ctrl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,⋯,</m:t>
                                </m:r>
                                <m:sSub>
                                  <m:e>
                                    <m: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sub>
                                </m:sSub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["/>
                                <m:sepChr m:val=""/>
                                <m:endChr m:val="]"/>
                                <m:grow m:val="on"/>
                                <m:ctrl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,⋯,</m:t>
                                </m:r>
                                <m:sSub>
                                  <m:e>
                                    <m: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sSub>
                              <m:e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2" name="Ellipse 12"/>
            <p:cNvSpPr/>
            <p:nvPr/>
          </p:nvSpPr>
          <p:spPr>
            <a:xfrm>
              <a:off x="777240" y="2592705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3831" y="2532221"/>
              <a:ext cx="34553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对称性：任意交换节点次序，差商值不变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77240" y="2909888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3831" y="2850356"/>
              <a:ext cx="374210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与导数的关系：f[x₀, …, xₖ] = f⁽ᵏ⁾(ξ)/k!</a:t>
              </a:r>
            </a:p>
          </p:txBody>
        </p:sp>
      </p:grpSp>
      <p:grpSp>
        <p:nvGrpSpPr>
          <p:cNvPr id="24" name="c1-card-2"/>
          <p:cNvGrpSpPr/>
          <p:nvPr/>
        </p:nvGrpSpPr>
        <p:grpSpPr>
          <a:xfrm>
            <a:off x="533400" y="3450908"/>
            <a:ext cx="5193982" cy="2578418"/>
            <a:chOff x="533400" y="3450908"/>
            <a:chExt cx="5193982" cy="2578418"/>
          </a:xfrm>
        </p:grpSpPr>
        <p:sp>
          <p:nvSpPr>
            <p:cNvPr id="17" name="Rectangle 17"/>
            <p:cNvSpPr/>
            <p:nvPr/>
          </p:nvSpPr>
          <p:spPr>
            <a:xfrm>
              <a:off x="533400" y="3450908"/>
              <a:ext cx="5193982" cy="2578418"/>
            </a:xfrm>
            <a:prstGeom prst="roundRect">
              <a:avLst>
                <a:gd name="adj" fmla="val 517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3584258"/>
              <a:ext cx="47625" cy="2311718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69620" y="3649028"/>
              <a:ext cx="1408748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30150" y="3683318"/>
              <a:ext cx="12867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Newton 插值多项式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formula210"/>
                <p:cNvSpPr txBox="1">
                  <a:spLocks noGrp="1"/>
                </p:cNvSpPr>
                <p:nvPr/>
              </p:nvSpPr>
              <p:spPr>
                <a:xfrm>
                  <a:off x="769620" y="3986212"/>
                  <a:ext cx="4759642" cy="266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e>
                          <m:sub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sSub>
                              <m:e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+⋯+</m:t>
                        </m:r>
                        <m: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,⋯,</m:t>
                            </m:r>
                            <m:sSub>
                              <m:e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</m:sSub>
                          </m:e>
                        </m:d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⋯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formula211"/>
                <p:cNvSpPr txBox="1">
                  <a:spLocks noGrp="1"/>
                </p:cNvSpPr>
                <p:nvPr/>
              </p:nvSpPr>
              <p:spPr>
                <a:xfrm>
                  <a:off x="769620" y="4342448"/>
                  <a:ext cx="4759642" cy="45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</m:e>
                          <m:sub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sSub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,⋯,</m:t>
                            </m:r>
                            <m:sSub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</m:sSub>
                          </m:e>
                        </m:d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sSub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ω</m:t>
                            </m:r>
                          </m:e>
                          <m:sub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3" name="TextBox 23"/>
            <p:cNvSpPr txBox="1"/>
            <p:nvPr/>
          </p:nvSpPr>
          <p:spPr>
            <a:xfrm>
              <a:off x="763524" y="4909185"/>
              <a:ext cx="36600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Nₙ(x) 与 Lₙ(x) 是同一个多项式，只是写法不同。</a:t>
              </a:r>
            </a:p>
          </p:txBody>
        </p:sp>
      </p:grpSp>
      <p:grpSp>
        <p:nvGrpSpPr>
          <p:cNvPr id="69" name="c2-card-1"/>
          <p:cNvGrpSpPr/>
          <p:nvPr/>
        </p:nvGrpSpPr>
        <p:grpSpPr>
          <a:xfrm>
            <a:off x="6032182" y="1524000"/>
            <a:ext cx="5626418" cy="4505325"/>
            <a:chOff x="6032182" y="1524000"/>
            <a:chExt cx="5626418" cy="4505325"/>
          </a:xfrm>
        </p:grpSpPr>
        <p:sp>
          <p:nvSpPr>
            <p:cNvPr id="25" name="Rectangle 25"/>
            <p:cNvSpPr/>
            <p:nvPr/>
          </p:nvSpPr>
          <p:spPr>
            <a:xfrm>
              <a:off x="6032182" y="1524000"/>
              <a:ext cx="5626418" cy="4505325"/>
            </a:xfrm>
            <a:prstGeom prst="roundRect">
              <a:avLst>
                <a:gd name="adj" fmla="val 296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041708" y="1657350"/>
              <a:ext cx="47625" cy="423862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268402" y="1722120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55842" y="175641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典型题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985064" y="1756886"/>
              <a:ext cx="42654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f(x) = 2ˣ，节点 0、1、2、4，求 f(3) 的近似值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268402" y="2077402"/>
              <a:ext cx="5192078" cy="42481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31917" y="220599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xᵢ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249230" y="2205990"/>
              <a:ext cx="478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f(xᵢ)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233791" y="220599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一阶差商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392984" y="220599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二阶差商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552176" y="220599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三阶差商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78563" y="262985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002780" y="2510790"/>
              <a:ext cx="970598" cy="4057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438034" y="26298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268402" y="2921318"/>
              <a:ext cx="51920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268402" y="2926080"/>
              <a:ext cx="5192078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78563" y="305466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438034" y="305466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992428" y="2935605"/>
              <a:ext cx="1140142" cy="4057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512454" y="305466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268402" y="3346132"/>
              <a:ext cx="51920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578563" y="347853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438034" y="347853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512454" y="347853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9151620" y="3360420"/>
              <a:ext cx="1140142" cy="4057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582798" y="347853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1/2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268402" y="3769995"/>
              <a:ext cx="51920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268402" y="3774758"/>
              <a:ext cx="5192078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578563" y="39033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393610" y="390334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512454" y="390334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582798" y="3903345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4/3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10310812" y="3784282"/>
              <a:ext cx="1140142" cy="4057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0697566" y="3903345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5/24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268402" y="2077402"/>
              <a:ext cx="5192078" cy="21221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6988492" y="2077402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7978140" y="2077402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9137332" y="2077402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10296525" y="2077402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4" name="formula212"/>
                <p:cNvSpPr txBox="1">
                  <a:spLocks noGrp="1"/>
                </p:cNvSpPr>
                <p:nvPr/>
              </p:nvSpPr>
              <p:spPr>
                <a:xfrm>
                  <a:off x="6268402" y="4289108"/>
                  <a:ext cx="5192078" cy="6172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e>
                          <m:sub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5</m:t>
                            </m:r>
                          </m:num>
                          <m:den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24</m:t>
                            </m:r>
                          </m:den>
                        </m:f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65" name="Ellipse 65"/>
            <p:cNvSpPr/>
            <p:nvPr/>
          </p:nvSpPr>
          <p:spPr>
            <a:xfrm>
              <a:off x="6276022" y="5079682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432614" y="5019199"/>
              <a:ext cx="367303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高亮的对角线差商就是 Newton 公式的系数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6276022" y="5396865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432614" y="5337334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N₂(3) = 1 + 3 + 3 = 7；加入节点 4 只添一项：N₃(3) = 7 +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(5/24)×6 = 8.25，精确值 2³ = 8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1652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计算方法 总复习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51460" cy="909257"/>
            <a:chOff x="520446" y="342900"/>
            <a:chExt cx="735146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02298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8495" y="407194"/>
              <a:ext cx="8127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第五章 插值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5146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Hermite 差商插值：重节点处的差商用导数代替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5085398" cy="3279458"/>
            <a:chOff x="533400" y="1524000"/>
            <a:chExt cx="5085398" cy="327945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085398" cy="3279458"/>
            </a:xfrm>
            <a:prstGeom prst="roundRect">
              <a:avLst>
                <a:gd name="adj" fmla="val 406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012758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9058" y="175641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重节点差商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2881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节点重复时，按导数定义取极限：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217"/>
                <p:cNvSpPr txBox="1">
                  <a:spLocks noGrp="1"/>
                </p:cNvSpPr>
                <p:nvPr/>
              </p:nvSpPr>
              <p:spPr>
                <a:xfrm>
                  <a:off x="769620" y="2377440"/>
                  <a:ext cx="4651058" cy="4429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sSub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unc>
                          <m:funcPr/>
                          <m:fName>
                            <m:limLow>
                              <m:limLowPr/>
                              <m:e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→</m:t>
                                </m:r>
                                <m:sSub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0</m:t>
                                    </m:r>
                                  </m:sub>
                                </m:sSub>
                              </m:lim>
                            </m:limLow>
                          </m:fName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["/>
                                <m:sepChr m:val=""/>
                                <m:endChr m:val="]"/>
                                <m:grow m:val="on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</m:e>
                        </m:func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sSub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sSub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′′</m:t>
                                </m:r>
                              </m:sup>
                            </m:s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!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Ellipse 13"/>
            <p:cNvSpPr/>
            <p:nvPr/>
          </p:nvSpPr>
          <p:spPr>
            <a:xfrm>
              <a:off x="777240" y="2992755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3831" y="2933224"/>
              <a:ext cx="41622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给了哪个点的导数，差商表里就把哪个点写两次，再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照常用 Newton 公式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77240" y="3582352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33831" y="3521869"/>
              <a:ext cx="36212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整齐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的：每个节点都给函数值和导数值，余项</a:t>
              </a:r>
              <a:br/>
              <a:r>
                <a:rPr lang="el-GR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f⁽⁴⁾(ξ)(x − x₀)²(x − x₁)²/4!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77240" y="4171950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33831" y="4111466"/>
              <a:ext cx="377456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不整齐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的：三点函数值加 xᵢ 处导数，余项</a:t>
              </a:r>
              <a:br/>
              <a:r>
                <a:rPr lang="el-GR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f⁽⁴⁾(ξ)(x − x₀)(x − x₁)(x − x₂)(x − xᵢ)/4!</a:t>
              </a:r>
            </a:p>
          </p:txBody>
        </p:sp>
      </p:grpSp>
      <p:grpSp>
        <p:nvGrpSpPr>
          <p:cNvPr id="26" name="c1-callout-2"/>
          <p:cNvGrpSpPr/>
          <p:nvPr/>
        </p:nvGrpSpPr>
        <p:grpSpPr>
          <a:xfrm>
            <a:off x="533400" y="4983480"/>
            <a:ext cx="5085398" cy="756285"/>
            <a:chOff x="533400" y="4983480"/>
            <a:chExt cx="5085398" cy="756285"/>
          </a:xfrm>
        </p:grpSpPr>
        <p:sp>
          <p:nvSpPr>
            <p:cNvPr id="20" name="Rectangle 20"/>
            <p:cNvSpPr/>
            <p:nvPr/>
          </p:nvSpPr>
          <p:spPr>
            <a:xfrm>
              <a:off x="533400" y="4983480"/>
              <a:ext cx="5085398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38188" y="5261610"/>
              <a:ext cx="200026" cy="200025"/>
              <a:chOff x="738188" y="5261610"/>
              <a:chExt cx="200026" cy="200025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738188" y="526161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777926" y="530606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12642" y="541718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040511" y="5131594"/>
              <a:ext cx="4054094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两点三次 Hermite 用差商法算，结果与基函数法相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同，通常更快。</a:t>
              </a:r>
            </a:p>
          </p:txBody>
        </p:sp>
      </p:grpSp>
      <p:grpSp>
        <p:nvGrpSpPr>
          <p:cNvPr id="71" name="c2-card-1"/>
          <p:cNvGrpSpPr/>
          <p:nvPr/>
        </p:nvGrpSpPr>
        <p:grpSpPr>
          <a:xfrm>
            <a:off x="5923598" y="1524000"/>
            <a:ext cx="5760420" cy="4662488"/>
            <a:chOff x="5923598" y="1524000"/>
            <a:chExt cx="5760420" cy="4662488"/>
          </a:xfrm>
        </p:grpSpPr>
        <p:sp>
          <p:nvSpPr>
            <p:cNvPr id="27" name="Rectangle 27"/>
            <p:cNvSpPr/>
            <p:nvPr/>
          </p:nvSpPr>
          <p:spPr>
            <a:xfrm>
              <a:off x="5923598" y="1524000"/>
              <a:ext cx="5735002" cy="4662488"/>
            </a:xfrm>
            <a:prstGeom prst="roundRect">
              <a:avLst>
                <a:gd name="adj" fmla="val 286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933122" y="1657350"/>
              <a:ext cx="47625" cy="439578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159818" y="1722120"/>
              <a:ext cx="12763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227255" y="175641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典型题（不整齐）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152579" y="2082641"/>
              <a:ext cx="553143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求三次多项式 P：P(0) = 1，P(1) = 2，P′(1) = 3，P(2) = 9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159818" y="2394585"/>
              <a:ext cx="5300662" cy="42481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21415" y="252317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zᵢ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36797" y="2523172"/>
              <a:ext cx="478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f(zᵢ)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966710" y="252317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一阶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297352" y="252317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二阶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627995" y="252317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三阶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368061" y="29479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692265" y="2828925"/>
              <a:ext cx="767715" cy="4057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025602" y="294798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159818" y="3239452"/>
              <a:ext cx="530066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159818" y="3244215"/>
              <a:ext cx="5300662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68061" y="337185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025602" y="33718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478078" y="3253740"/>
              <a:ext cx="1311592" cy="4057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31506" y="3371850"/>
              <a:ext cx="10056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(2 − 1)/1 = 1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159818" y="3663315"/>
              <a:ext cx="530066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368061" y="379666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025602" y="379666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768819" y="3796665"/>
              <a:ext cx="7310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f′(1) = 3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8808720" y="3677602"/>
              <a:ext cx="1311592" cy="4057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962149" y="3796665"/>
              <a:ext cx="10056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(3 − 1)/1 = 2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159818" y="4088130"/>
              <a:ext cx="530066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159818" y="4092892"/>
              <a:ext cx="5300662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368061" y="422148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025602" y="422148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631506" y="4221480"/>
              <a:ext cx="10056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(9 − 2)/1 = 7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962149" y="4221480"/>
              <a:ext cx="10056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(7 − 3)/1 = 4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10139362" y="4102418"/>
              <a:ext cx="1311592" cy="4057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0292791" y="4221480"/>
              <a:ext cx="10056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(4 − 2)/2 = 1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159818" y="2394585"/>
              <a:ext cx="5300662" cy="21221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6677978" y="2394585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7463790" y="2394585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8794432" y="2394585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10125075" y="2394585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6" name="formula218"/>
                <p:cNvSpPr txBox="1">
                  <a:spLocks noGrp="1"/>
                </p:cNvSpPr>
                <p:nvPr/>
              </p:nvSpPr>
              <p:spPr>
                <a:xfrm>
                  <a:off x="6159818" y="4606290"/>
                  <a:ext cx="5300662" cy="45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2x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p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67" name="Ellipse 67"/>
            <p:cNvSpPr/>
            <p:nvPr/>
          </p:nvSpPr>
          <p:spPr>
            <a:xfrm>
              <a:off x="6167438" y="5236845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324029" y="5177314"/>
              <a:ext cx="459511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验算：P(0) = 1，P(1) = 2，P′(x) = 3x² 得 P′(1) = 3，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P(2) = 9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6167438" y="5826442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324029" y="5765959"/>
              <a:ext cx="361499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余项 R(x) = f⁽⁴⁾(ξ)x(x − 1)²(x − 2)/4!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1652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计算方法 总复习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5F2EA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118664" cy="3351847"/>
            <a:chOff x="667512" y="1835468"/>
            <a:chExt cx="5118664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第六章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数值积分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用若干节点上函数值的加权和代替积分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插值型求积公式与代数精度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48793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Newton-Cotes 公式：梯形、Simpson、Cotes 及余项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7282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复合梯形与复合 Simpson 公式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7084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Romberg 求积公式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652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计算方法 总复习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0683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9643" y="407194"/>
              <a:ext cx="11143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第六章 数值积分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插值型求积公式与代数精度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626418" cy="2972752"/>
            <a:chOff x="533400" y="1524000"/>
            <a:chExt cx="5626418" cy="297275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972752"/>
            </a:xfrm>
            <a:prstGeom prst="roundRect">
              <a:avLst>
                <a:gd name="adj" fmla="val 44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706052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557" y="176926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插值型求积公式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24878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Lₙ(x) 代替 f(x) 积分：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221"/>
                <p:cNvSpPr txBox="1">
                  <a:spLocks noGrp="1"/>
                </p:cNvSpPr>
                <p:nvPr/>
              </p:nvSpPr>
              <p:spPr>
                <a:xfrm>
                  <a:off x="781050" y="2421255"/>
                  <a:ext cx="5169218" cy="72294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sub>
                          <m:sup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sup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dx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≈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  <m:sup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b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</m:sSub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b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b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sub>
                          <m:sup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sup>
                          <m:e>
                            <m:sSub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</m:t>
                                </m:r>
                              </m:e>
                              <m:sub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dx</m:t>
                            </m:r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222"/>
                <p:cNvSpPr txBox="1">
                  <a:spLocks noGrp="1"/>
                </p:cNvSpPr>
                <p:nvPr/>
              </p:nvSpPr>
              <p:spPr>
                <a:xfrm>
                  <a:off x="781050" y="3239452"/>
                  <a:ext cx="5169218" cy="6934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R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sub>
                          <m:sup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sup>
                          <m:e>
                            <m:f>
                              <m:fPr>
                                <m:type m:val="bar"/>
                                <m:ctrl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f</m:t>
                                    </m:r>
                                  </m:e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9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9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n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9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+</m:t>
                                        </m:r>
                                        <m:r>
                                          <a:rPr lang="zh-CN" sz="19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ξ</m:t>
                                    </m:r>
                                  </m:e>
                                </m:d>
                              </m:num>
                              <m:den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</m:t>
                                    </m:r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!</m:t>
                                </m:r>
                              </m:den>
                            </m:f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sSub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ω</m:t>
                                </m:r>
                              </m:e>
                              <m:sub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dx</m:t>
                            </m:r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Ellipse 14"/>
            <p:cNvSpPr/>
            <p:nvPr/>
          </p:nvSpPr>
          <p:spPr>
            <a:xfrm>
              <a:off x="786765" y="4115752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4052888"/>
              <a:ext cx="40429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求积系数 Aₖ 只与节点和区间有关，与 f 无关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4687252"/>
            <a:ext cx="5626418" cy="1427798"/>
            <a:chOff x="533400" y="4687252"/>
            <a:chExt cx="5626418" cy="1427798"/>
          </a:xfrm>
        </p:grpSpPr>
        <p:sp>
          <p:nvSpPr>
            <p:cNvPr id="17" name="Rectangle 17"/>
            <p:cNvSpPr/>
            <p:nvPr/>
          </p:nvSpPr>
          <p:spPr>
            <a:xfrm>
              <a:off x="533400" y="4687252"/>
              <a:ext cx="5626418" cy="1427798"/>
            </a:xfrm>
            <a:prstGeom prst="roundRect">
              <a:avLst>
                <a:gd name="adj" fmla="val 934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4820602"/>
              <a:ext cx="47625" cy="116109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81050" y="4896802"/>
              <a:ext cx="784860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62635" y="4932521"/>
              <a:ext cx="621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 6.1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3430" y="5273992"/>
              <a:ext cx="46920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+ 1 个节点的求积公式代数精度至少为 n ⇔ 它是插值型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的。</a:t>
              </a:r>
            </a:p>
          </p:txBody>
        </p:sp>
      </p:grpSp>
      <p:grpSp>
        <p:nvGrpSpPr>
          <p:cNvPr id="28" name="c2-card-1"/>
          <p:cNvGrpSpPr/>
          <p:nvPr/>
        </p:nvGrpSpPr>
        <p:grpSpPr>
          <a:xfrm>
            <a:off x="6464618" y="1524000"/>
            <a:ext cx="5193982" cy="1316355"/>
            <a:chOff x="6464618" y="1524000"/>
            <a:chExt cx="5193982" cy="1316355"/>
          </a:xfrm>
        </p:grpSpPr>
        <p:sp>
          <p:nvSpPr>
            <p:cNvPr id="23" name="Rectangle 23"/>
            <p:cNvSpPr/>
            <p:nvPr/>
          </p:nvSpPr>
          <p:spPr>
            <a:xfrm>
              <a:off x="6464618" y="1524000"/>
              <a:ext cx="5193982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474142" y="1657350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712268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94576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代数精度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04648" y="2110740"/>
              <a:ext cx="4415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公式对所有次数 ≤ m 的多项式精确成立，对某个 m +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1 次多项式不精确，称它有 </a:t>
              </a: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次代数精度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42" name="c2-steps-2"/>
          <p:cNvGrpSpPr/>
          <p:nvPr/>
        </p:nvGrpSpPr>
        <p:grpSpPr>
          <a:xfrm>
            <a:off x="6464618" y="3040380"/>
            <a:ext cx="5001641" cy="2112931"/>
            <a:chOff x="6464618" y="3040380"/>
            <a:chExt cx="5001641" cy="2112931"/>
          </a:xfrm>
        </p:grpSpPr>
        <p:sp>
          <p:nvSpPr>
            <p:cNvPr id="29" name="Rectangle 29"/>
            <p:cNvSpPr/>
            <p:nvPr/>
          </p:nvSpPr>
          <p:spPr>
            <a:xfrm>
              <a:off x="6597968" y="3183255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6464618" y="304038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58241" y="31141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464618" y="369093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58241" y="37647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464618" y="434149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58241" y="441531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76098" y="307467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依次代入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877241" y="3368516"/>
              <a:ext cx="36229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 f(x) = 1, x, x², …，检验左右两边是否相等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876098" y="3725228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找第一个不成立的幂次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877241" y="4019074"/>
              <a:ext cx="42777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1, x, …, xᵐ 都成立而 xᵐ⁺¹ 不成立，代数精度就是 m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876098" y="437578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求待定系数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877241" y="4669631"/>
              <a:ext cx="458901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 r 个待定系数时，令公式对 1, x, …, xʳ⁻¹ 精确成立，解方程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组，再继续往高次验证</a:t>
              </a:r>
            </a:p>
          </p:txBody>
        </p:sp>
      </p:grpSp>
      <p:grpSp>
        <p:nvGrpSpPr>
          <p:cNvPr id="49" name="c2-callout-3"/>
          <p:cNvGrpSpPr/>
          <p:nvPr/>
        </p:nvGrpSpPr>
        <p:grpSpPr>
          <a:xfrm>
            <a:off x="6464618" y="5332095"/>
            <a:ext cx="5193982" cy="782955"/>
            <a:chOff x="6464618" y="5332095"/>
            <a:chExt cx="5193982" cy="782955"/>
          </a:xfrm>
        </p:grpSpPr>
        <p:sp>
          <p:nvSpPr>
            <p:cNvPr id="43" name="Rectangle 43"/>
            <p:cNvSpPr/>
            <p:nvPr/>
          </p:nvSpPr>
          <p:spPr>
            <a:xfrm>
              <a:off x="6464618" y="5332095"/>
              <a:ext cx="5193982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6657347" y="5619868"/>
              <a:ext cx="224134" cy="192560"/>
              <a:chOff x="6657347" y="5619868"/>
              <a:chExt cx="224134" cy="19256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6769418" y="569023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657347" y="561986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769418" y="576802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6971348" y="5480685"/>
              <a:ext cx="4206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求出系数后还要继续验证更高次幂，直到出现不成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立的那一次。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652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计算方法 总复习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0683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9643" y="407194"/>
              <a:ext cx="11143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第六章 数值积分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典型题：确定求积公式中的参数，并判断代数精度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3" name="c1-card-1"/>
          <p:cNvGrpSpPr/>
          <p:nvPr/>
        </p:nvGrpSpPr>
        <p:grpSpPr>
          <a:xfrm>
            <a:off x="533400" y="1524000"/>
            <a:ext cx="5410200" cy="3388995"/>
            <a:chOff x="533400" y="1524000"/>
            <a:chExt cx="5410200" cy="33889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3388995"/>
            </a:xfrm>
            <a:prstGeom prst="roundRect">
              <a:avLst>
                <a:gd name="adj" fmla="val 39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12229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7910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742" y="1769269"/>
              <a:ext cx="2967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66838" y="1768792"/>
              <a:ext cx="40798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∫₀¹f(x)dx ≈ A₀f(0) + A₁f(1) + B₀f′(0)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81050" y="2105025"/>
              <a:ext cx="4953000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80376" y="2240756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f(x)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091969" y="224075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左边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221634" y="224075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右边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713249" y="224075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得到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29642" y="268938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216897" y="268938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088985" y="2689384"/>
              <a:ext cx="6228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A₀ + A₁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425843" y="2689384"/>
              <a:ext cx="9323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A₀ + A₁ = 1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81050" y="2997518"/>
              <a:ext cx="49530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81050" y="3002280"/>
              <a:ext cx="49530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229642" y="313801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122124" y="3138011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088985" y="3138011"/>
              <a:ext cx="6228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A₁ + B₀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325706" y="3138011"/>
              <a:ext cx="11326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A₁ + B₀ = 1/2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81050" y="3447098"/>
              <a:ext cx="49530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179887" y="3586639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x²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122124" y="3586639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293811" y="3586639"/>
              <a:ext cx="2132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A₁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30532" y="3586639"/>
              <a:ext cx="7230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A₁ = 1/3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81050" y="3895725"/>
              <a:ext cx="49530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81050" y="3900488"/>
              <a:ext cx="49530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179887" y="403526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x³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122124" y="4035266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1/4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038917" y="4035266"/>
              <a:ext cx="7230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A₁ = 1/3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627093" y="403526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不相等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81050" y="2105025"/>
              <a:ext cx="4953000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1785938" y="210502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2745105" y="210502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4045268" y="210502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73430" y="4469130"/>
              <a:ext cx="35852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解得 A₀ = 2/3，A₁ = 1/3，B₀ = 1/6。</a:t>
              </a:r>
            </a:p>
          </p:txBody>
        </p:sp>
      </p:grpSp>
      <p:grpSp>
        <p:nvGrpSpPr>
          <p:cNvPr id="49" name="c1-callout-2"/>
          <p:cNvGrpSpPr/>
          <p:nvPr/>
        </p:nvGrpSpPr>
        <p:grpSpPr>
          <a:xfrm>
            <a:off x="533400" y="5103495"/>
            <a:ext cx="5410200" cy="782955"/>
            <a:chOff x="533400" y="5103495"/>
            <a:chExt cx="5410200" cy="782955"/>
          </a:xfrm>
        </p:grpSpPr>
        <p:sp>
          <p:nvSpPr>
            <p:cNvPr id="44" name="Rectangle 44"/>
            <p:cNvSpPr/>
            <p:nvPr/>
          </p:nvSpPr>
          <p:spPr>
            <a:xfrm>
              <a:off x="533400" y="5103495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5394960"/>
              <a:ext cx="200026" cy="200026"/>
              <a:chOff x="738188" y="5394960"/>
              <a:chExt cx="200026" cy="200026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38188" y="539496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04863" y="547274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130" y="5252085"/>
              <a:ext cx="40728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公式为 ∫₀¹f(x)dx ≈ (2/3)f(0) + (1/3)f(1) +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(1/6)f′(0)，对 x³ 不精确，代数精度为 2。</a:t>
              </a:r>
            </a:p>
          </p:txBody>
        </p:sp>
      </p:grpSp>
      <p:grpSp>
        <p:nvGrpSpPr>
          <p:cNvPr id="86" name="c2-card-1"/>
          <p:cNvGrpSpPr/>
          <p:nvPr/>
        </p:nvGrpSpPr>
        <p:grpSpPr>
          <a:xfrm>
            <a:off x="6248400" y="1524000"/>
            <a:ext cx="5410200" cy="3942398"/>
            <a:chOff x="6248400" y="1524000"/>
            <a:chExt cx="5410200" cy="3942398"/>
          </a:xfrm>
        </p:grpSpPr>
        <p:sp>
          <p:nvSpPr>
            <p:cNvPr id="50" name="Rectangle 50"/>
            <p:cNvSpPr/>
            <p:nvPr/>
          </p:nvSpPr>
          <p:spPr>
            <a:xfrm>
              <a:off x="6248400" y="1524000"/>
              <a:ext cx="5410200" cy="3942398"/>
            </a:xfrm>
            <a:prstGeom prst="roundRect">
              <a:avLst>
                <a:gd name="adj" fmla="val 33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6257925" y="1657350"/>
              <a:ext cx="47625" cy="367569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496050" y="1733550"/>
              <a:ext cx="47910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586742" y="1769269"/>
              <a:ext cx="2967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2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488430" y="2110740"/>
              <a:ext cx="4505801" cy="5505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∫₀ʰf(x)dx ≈ (h/2)[f(0) + f(h)] + ah²[f′(0) −</a:t>
              </a:r>
              <a:br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f′(h)]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496050" y="2697480"/>
              <a:ext cx="4953000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631546" y="2833211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f(x)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469784" y="283321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左边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947112" y="283321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右边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612082" y="283321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644900" y="3281839"/>
              <a:ext cx="3842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1，x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319010" y="3281839"/>
              <a:ext cx="6591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h，h²/2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796338" y="3281839"/>
              <a:ext cx="6591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h，h²/2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254531" y="3281839"/>
              <a:ext cx="10726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对任意 a 成立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496050" y="3589972"/>
              <a:ext cx="49530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6496050" y="3594735"/>
              <a:ext cx="49530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731057" y="373046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x²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452553" y="3730466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h³/3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641255" y="3730466"/>
              <a:ext cx="9692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h³/2 − 2ah³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448384" y="3730466"/>
              <a:ext cx="6849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1/12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496050" y="4039552"/>
              <a:ext cx="49530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731057" y="4179094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x³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452553" y="4179094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h⁴/4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257858" y="417909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h⁴/2 − 3h⁴/12 = h⁴/4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612082" y="417909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成立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6496050" y="4488180"/>
              <a:ext cx="49530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6496050" y="4492942"/>
              <a:ext cx="49530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731057" y="462772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x⁴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452553" y="462772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h⁵/5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257858" y="462772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h⁵/2 − 4h⁵/12 = h⁵/6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0525925" y="462772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不相等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6496050" y="2697480"/>
              <a:ext cx="4953000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2" name="Rectangle 82"/>
            <p:cNvSpPr/>
            <p:nvPr/>
          </p:nvSpPr>
          <p:spPr>
            <a:xfrm>
              <a:off x="7174230" y="269748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8113395" y="269748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4" name="Rectangle 84"/>
            <p:cNvSpPr/>
            <p:nvPr/>
          </p:nvSpPr>
          <p:spPr>
            <a:xfrm>
              <a:off x="10127932" y="269748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6489573" y="5058251"/>
              <a:ext cx="5010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这是带导数修正项的梯形公式，只比梯形公式多用两个端点导数。</a:t>
              </a:r>
            </a:p>
          </p:txBody>
        </p:sp>
      </p:grpSp>
      <p:grpSp>
        <p:nvGrpSpPr>
          <p:cNvPr id="92" name="c2-callout-2"/>
          <p:cNvGrpSpPr/>
          <p:nvPr/>
        </p:nvGrpSpPr>
        <p:grpSpPr>
          <a:xfrm>
            <a:off x="6248400" y="5656898"/>
            <a:ext cx="5410200" cy="533400"/>
            <a:chOff x="6248400" y="5656898"/>
            <a:chExt cx="5410200" cy="533400"/>
          </a:xfrm>
        </p:grpSpPr>
        <p:sp>
          <p:nvSpPr>
            <p:cNvPr id="87" name="Rectangle 87"/>
            <p:cNvSpPr/>
            <p:nvPr/>
          </p:nvSpPr>
          <p:spPr>
            <a:xfrm>
              <a:off x="6248400" y="5656898"/>
              <a:ext cx="5410200" cy="533400"/>
            </a:xfrm>
            <a:prstGeom prst="roundRect">
              <a:avLst>
                <a:gd name="adj" fmla="val 2142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90" name="Group 90"/>
            <p:cNvGrpSpPr/>
            <p:nvPr/>
          </p:nvGrpSpPr>
          <p:grpSpPr>
            <a:xfrm>
              <a:off x="6453188" y="5823585"/>
              <a:ext cx="200026" cy="200026"/>
              <a:chOff x="6453188" y="5823585"/>
              <a:chExt cx="200026" cy="200026"/>
            </a:xfrm>
          </p:grpSpPr>
          <p:sp>
            <p:nvSpPr>
              <p:cNvPr id="88" name="Freeform 88"/>
              <p:cNvSpPr/>
              <p:nvPr/>
            </p:nvSpPr>
            <p:spPr>
              <a:xfrm>
                <a:off x="6453188" y="582358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6519863" y="590137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91" name="TextBox 91"/>
            <p:cNvSpPr txBox="1"/>
            <p:nvPr/>
          </p:nvSpPr>
          <p:spPr>
            <a:xfrm>
              <a:off x="6755130" y="5818822"/>
              <a:ext cx="23879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 = 1/12，代数精度为 3。</a:t>
              </a:r>
            </a:p>
          </p:txBody>
        </p:sp>
      </p:grpSp>
      <p:grpSp>
        <p:nvGrpSpPr>
          <p:cNvPr id="9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3" name="TextBox 93"/>
            <p:cNvSpPr txBox="1"/>
            <p:nvPr/>
          </p:nvSpPr>
          <p:spPr>
            <a:xfrm>
              <a:off x="528447" y="6581299"/>
              <a:ext cx="1652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计算方法 总复习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760621" cy="909257"/>
            <a:chOff x="520446" y="342900"/>
            <a:chExt cx="776062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0683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9643" y="407194"/>
              <a:ext cx="11143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第六章 数值积分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76062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Newton-Cotes 公式：等距节点的插值型求积公式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7141845" cy="1634490"/>
            <a:chOff x="533400" y="1524000"/>
            <a:chExt cx="7141845" cy="163449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7141845" cy="1634490"/>
            </a:xfrm>
            <a:prstGeom prst="roundRect">
              <a:avLst>
                <a:gd name="adj" fmla="val 815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6779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3059" y="17564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一般形式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38376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 = (b − a)/n，xₖ = a + kh，令 x = a + th：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225"/>
                <p:cNvSpPr txBox="1">
                  <a:spLocks noGrp="1"/>
                </p:cNvSpPr>
                <p:nvPr/>
              </p:nvSpPr>
              <p:spPr>
                <a:xfrm>
                  <a:off x="769620" y="2377440"/>
                  <a:ext cx="6707505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sub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sup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dx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≈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</m:d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bSup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bSup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b>
                          <m: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</m:d>
                          </m:sup>
                        </m:sSubSup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p>
                            </m:sSup>
                          </m:num>
                          <m:den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⋅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!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!</m:t>
                            </m:r>
                          </m:den>
                        </m:f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nary>
                              <m:naryPr>
                                <m:chr m:val="∏"/>
                                <m:limLoc m:val="undOvr"/>
                                <m:grow m:val="off"/>
                                <m:subHide m:val="off"/>
                                <m:supHide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≠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  <m:sup/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t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e>
                                </m:d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 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dt</m:t>
                                </m:r>
                              </m:e>
                            </m:nary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8" name="c1-table-2"/>
          <p:cNvGrpSpPr/>
          <p:nvPr/>
        </p:nvGrpSpPr>
        <p:grpSpPr>
          <a:xfrm>
            <a:off x="533400" y="3339465"/>
            <a:ext cx="7141845" cy="2360295"/>
            <a:chOff x="533400" y="3339465"/>
            <a:chExt cx="7141845" cy="2360295"/>
          </a:xfrm>
        </p:grpSpPr>
        <p:sp>
          <p:nvSpPr>
            <p:cNvPr id="14" name="Rectangle 14"/>
            <p:cNvSpPr/>
            <p:nvPr/>
          </p:nvSpPr>
          <p:spPr>
            <a:xfrm>
              <a:off x="533400" y="3339465"/>
              <a:ext cx="7141845" cy="46291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85276" y="3471386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441931" y="347138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公式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476596" y="347138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余项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54901" y="347138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精度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85276" y="3934301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3371" y="3934301"/>
              <a:ext cx="292125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梯形 T = (b − a)[f(a) + f(b)]/2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19981" y="3934301"/>
              <a:ext cx="170624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−(b − a)³f″(η)/12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293492" y="3934301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260532"/>
              <a:ext cx="71418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4265295"/>
              <a:ext cx="7141845" cy="7162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85276" y="4524851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63371" y="4398169"/>
              <a:ext cx="2863850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Simpson S = (b − a)[f(a) + 4f(c)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f(b)]/6，c 为中点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419981" y="4398169"/>
              <a:ext cx="2286762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−(b − a)h⁴f⁽⁴⁾(η)/180，h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(b − a)/2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293492" y="4524851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4977765"/>
              <a:ext cx="71418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85276" y="5241131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63371" y="5114449"/>
              <a:ext cx="262940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Cotes C = (b − a)(7f₀ + 32f₁ +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12f₂ + 32f₃ + 7f₄)/90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419981" y="5114449"/>
              <a:ext cx="2286762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−2(b − a)h⁶f⁽⁶⁾(η)/945，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 = (b − a)/4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293492" y="5241131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3339465"/>
              <a:ext cx="7141845" cy="23602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957262" y="3339465"/>
              <a:ext cx="9525" cy="2360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13872" y="3339465"/>
              <a:ext cx="9525" cy="2360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027545" y="3339465"/>
              <a:ext cx="9525" cy="2360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9" name="c2-card-1"/>
          <p:cNvGrpSpPr/>
          <p:nvPr/>
        </p:nvGrpSpPr>
        <p:grpSpPr>
          <a:xfrm>
            <a:off x="7980045" y="1524000"/>
            <a:ext cx="3678555" cy="2429828"/>
            <a:chOff x="7980045" y="1524000"/>
            <a:chExt cx="3678555" cy="2429828"/>
          </a:xfrm>
        </p:grpSpPr>
        <p:sp>
          <p:nvSpPr>
            <p:cNvPr id="39" name="Rectangle 39"/>
            <p:cNvSpPr/>
            <p:nvPr/>
          </p:nvSpPr>
          <p:spPr>
            <a:xfrm>
              <a:off x="7980045" y="1524000"/>
              <a:ext cx="3678555" cy="2429828"/>
            </a:xfrm>
            <a:prstGeom prst="roundRect">
              <a:avLst>
                <a:gd name="adj" fmla="val 548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7989570" y="1657350"/>
              <a:ext cx="47625" cy="216312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8216265" y="1722120"/>
              <a:ext cx="130302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280163" y="1756410"/>
              <a:ext cx="11752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Cotes 系数的特点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8223885" y="2143125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380476" y="2082641"/>
              <a:ext cx="303264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ΣCₖ⁽ⁿ⁾ = 1，且 Cₖ⁽ⁿ⁾ = Cₙ₋ₖ⁽ⁿ⁾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8223885" y="2460308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380476" y="2400776"/>
              <a:ext cx="294500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为偶数时代数精度为 n + 1，n 为奇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数时为 n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8223885" y="3049905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380476" y="2989421"/>
              <a:ext cx="289991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≥ 8 时出现负系数，舍入误差会被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放大，稳定性无法保证，一般不用高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阶公式</a:t>
              </a:r>
            </a:p>
          </p:txBody>
        </p:sp>
      </p:grpSp>
      <p:grpSp>
        <p:nvGrpSpPr>
          <p:cNvPr id="56" name="c2-callout-2"/>
          <p:cNvGrpSpPr/>
          <p:nvPr/>
        </p:nvGrpSpPr>
        <p:grpSpPr>
          <a:xfrm>
            <a:off x="7980045" y="4133850"/>
            <a:ext cx="3678555" cy="1281112"/>
            <a:chOff x="7980045" y="4133850"/>
            <a:chExt cx="3678555" cy="1281112"/>
          </a:xfrm>
        </p:grpSpPr>
        <p:sp>
          <p:nvSpPr>
            <p:cNvPr id="50" name="Rectangle 50"/>
            <p:cNvSpPr/>
            <p:nvPr/>
          </p:nvSpPr>
          <p:spPr>
            <a:xfrm>
              <a:off x="7980045" y="4133850"/>
              <a:ext cx="3678555" cy="1281112"/>
            </a:xfrm>
            <a:prstGeom prst="roundRect">
              <a:avLst>
                <a:gd name="adj" fmla="val 892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8184833" y="4673918"/>
              <a:ext cx="200026" cy="200025"/>
              <a:chOff x="8184833" y="4673918"/>
              <a:chExt cx="200026" cy="200025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8184833" y="467391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224571" y="471836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259287" y="482949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8487156" y="4281011"/>
              <a:ext cx="2746629" cy="10673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Simpson 公式为什么多一次：它关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于区间中点对称，f = (x − c)³ 是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关于 c 的奇函数，积分和求积结果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都是 0。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1652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计算方法 总复习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827" y="342900"/>
            <a:ext cx="11122913" cy="902684"/>
            <a:chOff x="520827" y="342900"/>
            <a:chExt cx="11122913" cy="902684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0683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9643" y="407194"/>
              <a:ext cx="11143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第六章 数值积分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827" y="761524"/>
              <a:ext cx="11122913" cy="4840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典型题：用梯形、Simpson、Cotes 公式计算 sin x 在 [0, π/2] 上的积分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7906703" cy="293370"/>
            <a:chOff x="525780" y="1548765"/>
            <a:chExt cx="7906703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79067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精确值 I = 1。sin(π/8) = 0.382683，sin(π/4) = 0.707107，sin(3π/8) = 0.923880。</a:t>
              </a:r>
            </a:p>
          </p:txBody>
        </p:sp>
      </p:grpSp>
      <p:grpSp>
        <p:nvGrpSpPr>
          <p:cNvPr id="34" name="c1-table-1"/>
          <p:cNvGrpSpPr/>
          <p:nvPr/>
        </p:nvGrpSpPr>
        <p:grpSpPr>
          <a:xfrm>
            <a:off x="533400" y="1954530"/>
            <a:ext cx="6708458" cy="2360295"/>
            <a:chOff x="533400" y="1954530"/>
            <a:chExt cx="6708458" cy="2360295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6708458" cy="46291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208645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公式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951518" y="208645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计算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098453" y="208645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30771" y="2086451"/>
              <a:ext cx="4810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 − Q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4746" y="255031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梯形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08214" y="2550319"/>
              <a:ext cx="213635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(π/4)(sin0 + sin(π/2))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794314" y="2550319"/>
              <a:ext cx="8555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0.785398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02084" y="2550319"/>
              <a:ext cx="8555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0.214602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876550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881312"/>
              <a:ext cx="6708458" cy="4629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4746" y="3013234"/>
              <a:ext cx="78337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Simpson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08214" y="3013234"/>
              <a:ext cx="255691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(π/12)(0 + 4×0.707107 + 1)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794314" y="3013234"/>
              <a:ext cx="8555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1.002280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002084" y="3013234"/>
              <a:ext cx="9607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−0.002280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339465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4746" y="3729514"/>
              <a:ext cx="57270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Cotes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708214" y="3476149"/>
              <a:ext cx="2557272" cy="7854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l-GR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(π/180)(7×0 + 32×0.382683 +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12×0.707107 + 32×0.923880 +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7×1)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702492" y="3353752"/>
              <a:ext cx="1188720" cy="95059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794314" y="3729514"/>
              <a:ext cx="8555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0.999992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002084" y="3729514"/>
              <a:ext cx="8555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8.4×10⁻⁶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1954530"/>
              <a:ext cx="6708458" cy="23602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1602105" y="1954530"/>
              <a:ext cx="9525" cy="2360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688205" y="1954530"/>
              <a:ext cx="9525" cy="2360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895975" y="1954530"/>
              <a:ext cx="9525" cy="2360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1" name="c1-callout-2"/>
          <p:cNvGrpSpPr/>
          <p:nvPr/>
        </p:nvGrpSpPr>
        <p:grpSpPr>
          <a:xfrm>
            <a:off x="533400" y="4494848"/>
            <a:ext cx="6708458" cy="756285"/>
            <a:chOff x="533400" y="4494848"/>
            <a:chExt cx="6708458" cy="756285"/>
          </a:xfrm>
        </p:grpSpPr>
        <p:sp>
          <p:nvSpPr>
            <p:cNvPr id="35" name="Rectangle 35"/>
            <p:cNvSpPr/>
            <p:nvPr/>
          </p:nvSpPr>
          <p:spPr>
            <a:xfrm>
              <a:off x="533400" y="4494848"/>
              <a:ext cx="6708458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738188" y="4772978"/>
              <a:ext cx="200026" cy="200026"/>
              <a:chOff x="738188" y="4772978"/>
              <a:chExt cx="200026" cy="200026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738188" y="477297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38200" y="483965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27088" y="487299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040511" y="4642009"/>
              <a:ext cx="5641086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节点数从 2 个增加到 5 个，误差从 0.2 降到 10⁻⁵ 量级，代数精度 1、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3、5 的差别在这里看得很清楚。</a:t>
              </a:r>
            </a:p>
          </p:txBody>
        </p:sp>
      </p:grpSp>
      <p:grpSp>
        <p:nvGrpSpPr>
          <p:cNvPr id="48" name="c1-callout-3"/>
          <p:cNvGrpSpPr/>
          <p:nvPr/>
        </p:nvGrpSpPr>
        <p:grpSpPr>
          <a:xfrm>
            <a:off x="533400" y="5431155"/>
            <a:ext cx="6708458" cy="756285"/>
            <a:chOff x="533400" y="5431155"/>
            <a:chExt cx="6708458" cy="756285"/>
          </a:xfrm>
        </p:grpSpPr>
        <p:sp>
          <p:nvSpPr>
            <p:cNvPr id="42" name="Rectangle 42"/>
            <p:cNvSpPr/>
            <p:nvPr/>
          </p:nvSpPr>
          <p:spPr>
            <a:xfrm>
              <a:off x="533400" y="5431155"/>
              <a:ext cx="6708458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8188" y="5709285"/>
              <a:ext cx="200026" cy="200025"/>
              <a:chOff x="738188" y="5709285"/>
              <a:chExt cx="200026" cy="200025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738188" y="570928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77926" y="575373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12642" y="586486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0511" y="5578316"/>
              <a:ext cx="5559933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同样这 5 个点改用复合梯形得 T₄ = 0.987116，复合 Simpson 得 S₄ =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1.000135，误差 1.3×10⁻² 和 1.3×10⁻⁴。复合公式见下一页。</a:t>
              </a:r>
            </a:p>
          </p:txBody>
        </p:sp>
      </p:grpSp>
      <p:grpSp>
        <p:nvGrpSpPr>
          <p:cNvPr id="73" name="c2-card-1"/>
          <p:cNvGrpSpPr/>
          <p:nvPr/>
        </p:nvGrpSpPr>
        <p:grpSpPr>
          <a:xfrm>
            <a:off x="7546658" y="1954530"/>
            <a:ext cx="4111942" cy="3309938"/>
            <a:chOff x="7546658" y="1954530"/>
            <a:chExt cx="4111942" cy="3309938"/>
          </a:xfrm>
        </p:grpSpPr>
        <p:sp>
          <p:nvSpPr>
            <p:cNvPr id="49" name="Rectangle 49"/>
            <p:cNvSpPr/>
            <p:nvPr/>
          </p:nvSpPr>
          <p:spPr>
            <a:xfrm>
              <a:off x="7546658" y="1954530"/>
              <a:ext cx="4111942" cy="3309938"/>
            </a:xfrm>
            <a:prstGeom prst="roundRect">
              <a:avLst>
                <a:gd name="adj" fmla="val 4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7556182" y="2087880"/>
              <a:ext cx="47625" cy="304323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7782878" y="2152650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862316" y="218694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用余项检验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775638" y="2513171"/>
              <a:ext cx="3513074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sin x 各阶导数的绝对值都不超过 1，三个余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项上界依次为 (π/2)³/12、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(π/2)(π/4)⁴/180、2(π/2)(π/8)⁶/945：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7782878" y="3350895"/>
              <a:ext cx="3677602" cy="42481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203882" y="347853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公式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255824" y="347853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余项上界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506456" y="347853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实际误差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885366" y="39033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梯形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062656" y="3903345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0.323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312336" y="3903345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0.215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7782878" y="4194810"/>
              <a:ext cx="36776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7782878" y="4199572"/>
              <a:ext cx="3677602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885366" y="4328160"/>
              <a:ext cx="6619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Simpson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062656" y="4328160"/>
              <a:ext cx="811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3.32×10⁻³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312336" y="4328160"/>
              <a:ext cx="811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2.28×10⁻³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7782878" y="4618672"/>
              <a:ext cx="36776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885366" y="4752022"/>
              <a:ext cx="4839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Cotes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062656" y="4752022"/>
              <a:ext cx="811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1.22×10⁻⁵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312336" y="4752022"/>
              <a:ext cx="722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8.4×10⁻⁶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7782878" y="3350895"/>
              <a:ext cx="3677602" cy="1697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8955405" y="3350895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10205085" y="3350895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0" name="c2-callout-2"/>
          <p:cNvGrpSpPr/>
          <p:nvPr/>
        </p:nvGrpSpPr>
        <p:grpSpPr>
          <a:xfrm>
            <a:off x="7546658" y="5444490"/>
            <a:ext cx="4111942" cy="756285"/>
            <a:chOff x="7546658" y="5444490"/>
            <a:chExt cx="4111942" cy="756285"/>
          </a:xfrm>
        </p:grpSpPr>
        <p:sp>
          <p:nvSpPr>
            <p:cNvPr id="74" name="Rectangle 74"/>
            <p:cNvSpPr/>
            <p:nvPr/>
          </p:nvSpPr>
          <p:spPr>
            <a:xfrm>
              <a:off x="7546658" y="5444490"/>
              <a:ext cx="4111942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8" name="Group 78"/>
            <p:cNvGrpSpPr/>
            <p:nvPr/>
          </p:nvGrpSpPr>
          <p:grpSpPr>
            <a:xfrm>
              <a:off x="7751445" y="5722620"/>
              <a:ext cx="200026" cy="200025"/>
              <a:chOff x="7751445" y="5722620"/>
              <a:chExt cx="200026" cy="200025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7751445" y="572262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7791184" y="576707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7825899" y="587819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9" name="TextBox 79"/>
            <p:cNvSpPr txBox="1"/>
            <p:nvPr/>
          </p:nvSpPr>
          <p:spPr>
            <a:xfrm>
              <a:off x="8053768" y="5591651"/>
              <a:ext cx="3215513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符号也对得上：f″ = −sin x ≤ 0，梯形余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项 ≥ 0，所以梯形值偏小。</a:t>
              </a:r>
            </a:p>
          </p:txBody>
        </p:sp>
      </p:grpSp>
      <p:grpSp>
        <p:nvGrpSpPr>
          <p:cNvPr id="8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1" name="TextBox 81"/>
            <p:cNvSpPr txBox="1"/>
            <p:nvPr/>
          </p:nvSpPr>
          <p:spPr>
            <a:xfrm>
              <a:off x="528447" y="6581299"/>
              <a:ext cx="1652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计算方法 总复习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0683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9643" y="407194"/>
              <a:ext cx="11143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第六章 数值积分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复合公式：把区间分成小段，每段用低阶公式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6059805" cy="1779270"/>
            <a:chOff x="533400" y="1524000"/>
            <a:chExt cx="6059805" cy="17792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1779270"/>
            </a:xfrm>
            <a:prstGeom prst="roundRect">
              <a:avLst>
                <a:gd name="adj" fmla="val 749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1257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5609" y="1743551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复合梯形公式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35394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 = (b − a)/m，xₖ = a + kh，fₖ = f(xₖ)：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235"/>
                <p:cNvSpPr txBox="1">
                  <a:spLocks noGrp="1"/>
                </p:cNvSpPr>
                <p:nvPr/>
              </p:nvSpPr>
              <p:spPr>
                <a:xfrm>
                  <a:off x="758190" y="2332672"/>
                  <a:ext cx="5648325" cy="76676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e>
                          <m:sub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</m:num>
                          <m:den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</m:e>
                              <m:sub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p>
                              <m:e>
                                <m:sSub>
                                  <m:e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f</m:t>
                                    </m:r>
                                  </m:e>
                                  <m:sub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sub>
                                </m:sSub>
                              </m:e>
                            </m:nary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sSub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</m:e>
                              <m:sub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=−</m:t>
                        </m:r>
                        <m:f>
                          <m:fPr>
                            <m:type m:val="bar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num>
                          <m:den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12</m:t>
                            </m:r>
                          </m:den>
                        </m:f>
                        <m:sSup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</m:e>
                          <m:sup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′′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η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2" name="c1-card-2"/>
          <p:cNvGrpSpPr/>
          <p:nvPr/>
        </p:nvGrpSpPr>
        <p:grpSpPr>
          <a:xfrm>
            <a:off x="533400" y="3472815"/>
            <a:ext cx="6059805" cy="2715578"/>
            <a:chOff x="533400" y="3472815"/>
            <a:chExt cx="6059805" cy="2715578"/>
          </a:xfrm>
        </p:grpSpPr>
        <p:sp>
          <p:nvSpPr>
            <p:cNvPr id="14" name="Rectangle 14"/>
            <p:cNvSpPr/>
            <p:nvPr/>
          </p:nvSpPr>
          <p:spPr>
            <a:xfrm>
              <a:off x="533400" y="3472815"/>
              <a:ext cx="6059805" cy="2715578"/>
            </a:xfrm>
            <a:prstGeom prst="roundRect">
              <a:avLst>
                <a:gd name="adj" fmla="val 49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606165"/>
              <a:ext cx="47625" cy="2448878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58190" y="3659505"/>
              <a:ext cx="128206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23197" y="3692366"/>
              <a:ext cx="115205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复合 Simpson 公式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1332" y="4004310"/>
              <a:ext cx="38211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分成 2m 段，h = (b − a)/(2m)，xₖ = a + kh：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formula236"/>
                <p:cNvSpPr txBox="1">
                  <a:spLocks noGrp="1"/>
                </p:cNvSpPr>
                <p:nvPr/>
              </p:nvSpPr>
              <p:spPr>
                <a:xfrm>
                  <a:off x="758190" y="4281488"/>
                  <a:ext cx="5648325" cy="76676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e>
                          <m:sub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2m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</m:num>
                          <m:den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den>
                        </m:f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</m:e>
                              <m:sub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</m:t>
                            </m:r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p>
                              <m:e>
                                <m:sSub>
                                  <m:e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f</m:t>
                                    </m:r>
                                  </m:e>
                                  <m:sub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2i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</m:t>
                                    </m:r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nary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p>
                              <m:e>
                                <m:sSub>
                                  <m:e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f</m:t>
                                    </m:r>
                                  </m:e>
                                  <m:sub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2i</m:t>
                                    </m:r>
                                  </m:sub>
                                </m:sSub>
                              </m:e>
                            </m:nary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sSub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</m:e>
                              <m:sub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2m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formula237"/>
                <p:cNvSpPr txBox="1">
                  <a:spLocks noGrp="1"/>
                </p:cNvSpPr>
                <p:nvPr/>
              </p:nvSpPr>
              <p:spPr>
                <a:xfrm>
                  <a:off x="758190" y="5132070"/>
                  <a:ext cx="5648325" cy="59150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=−</m:t>
                        </m:r>
                        <m:f>
                          <m:fPr>
                            <m:type m:val="bar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num>
                          <m:den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180</m:t>
                            </m:r>
                          </m:den>
                        </m:f>
                        <m:sSup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</m:e>
                          <m:sup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</m:t>
                            </m:r>
                          </m:sup>
                        </m:sSup>
                        <m:sSup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</m:e>
                            </m:d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η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1" name="TextBox 21"/>
            <p:cNvSpPr txBox="1"/>
            <p:nvPr/>
          </p:nvSpPr>
          <p:spPr>
            <a:xfrm>
              <a:off x="752475" y="5825966"/>
              <a:ext cx="43537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误差分别按 h²、h⁴ 减小；提高精度靠分段加密，不靠高阶公式。</a:t>
              </a:r>
            </a:p>
          </p:txBody>
        </p:sp>
      </p:grpSp>
      <p:grpSp>
        <p:nvGrpSpPr>
          <p:cNvPr id="25" name="c2-image-1"/>
          <p:cNvGrpSpPr/>
          <p:nvPr/>
        </p:nvGrpSpPr>
        <p:grpSpPr>
          <a:xfrm>
            <a:off x="6898005" y="1524000"/>
            <a:ext cx="4760595" cy="4858416"/>
            <a:chOff x="6898005" y="1524000"/>
            <a:chExt cx="4760595" cy="4858416"/>
          </a:xfrm>
        </p:grpSpPr>
        <p:pic>
          <p:nvPicPr>
            <p:cNvPr id="23" name="Image 23"/>
            <p:cNvPicPr>
              <a:picLocks noChangeAspect="1"/>
            </p:cNvPicPr>
            <p:nvPr/>
          </p:nvPicPr>
          <p:blipFill>
            <a:blip r:embed="rId2"/>
            <a:srcRect l="10978" t="0" r="10977" b="0"/>
            <a:stretch>
              <a:fillRect/>
            </a:stretch>
          </p:blipFill>
          <p:spPr>
            <a:xfrm>
              <a:off x="6898005" y="1524000"/>
              <a:ext cx="4760595" cy="4574858"/>
            </a:xfrm>
            <a:prstGeom prst="roundRect">
              <a:avLst>
                <a:gd name="adj" fmla="val 2914"/>
              </a:avLst>
            </a:prstGeom>
          </p:spPr>
        </p:pic>
        <p:sp>
          <p:nvSpPr>
            <p:cNvPr id="24" name="TextBox 24"/>
            <p:cNvSpPr txBox="1"/>
            <p:nvPr/>
          </p:nvSpPr>
          <p:spPr>
            <a:xfrm>
              <a:off x="7624254" y="6191726"/>
              <a:ext cx="33080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弧形屋顶下并排立满窄木板，每块板只需贴合一小段曲线</a:t>
              </a:r>
            </a:p>
          </p:txBody>
        </p:sp>
      </p:grpSp>
      <p:grpSp>
        <p:nvGrpSpPr>
          <p:cNvPr id="2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6" name="TextBox 26"/>
            <p:cNvSpPr txBox="1"/>
            <p:nvPr/>
          </p:nvSpPr>
          <p:spPr>
            <a:xfrm>
              <a:off x="528447" y="6581299"/>
              <a:ext cx="1652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计算方法 总复习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566739" cy="909257"/>
            <a:chOff x="520446" y="342900"/>
            <a:chExt cx="856673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0683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9643" y="407194"/>
              <a:ext cx="11143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第六章 数值积分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56673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典型题：复合公式计算 ∫₀¹ x eˣ dx，并确定需要分几段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8097412" cy="264033"/>
            <a:chOff x="526542" y="1545907"/>
            <a:chExt cx="8097412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80974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精确值 I = 1。在 [0, 1] 上 f″(x) = (x + 2)eˣ ≤ 3e ≈ 8.155，f⁽⁴⁾(x) = (x + 4)eˣ ≤ 5e ≈ 13.59。</a:t>
              </a:r>
            </a:p>
          </p:txBody>
        </p:sp>
      </p:grpSp>
      <p:grpSp>
        <p:nvGrpSpPr>
          <p:cNvPr id="37" name="c1-card-1"/>
          <p:cNvGrpSpPr/>
          <p:nvPr/>
        </p:nvGrpSpPr>
        <p:grpSpPr>
          <a:xfrm>
            <a:off x="533400" y="1928812"/>
            <a:ext cx="5626418" cy="4099560"/>
            <a:chOff x="533400" y="1928812"/>
            <a:chExt cx="5626418" cy="409956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626418" cy="4099560"/>
            </a:xfrm>
            <a:prstGeom prst="roundRect">
              <a:avLst>
                <a:gd name="adj" fmla="val 325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383286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8190" y="2115502"/>
              <a:ext cx="161639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15401" y="2148364"/>
              <a:ext cx="15010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同样 5 个节点，h = 0.25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58190" y="2437448"/>
              <a:ext cx="5214938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54696" y="25588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22386" y="25588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224251" y="255889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0.25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287914" y="2558891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0.5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263553" y="255889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0.75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414289" y="25588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24088" y="295894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624460" y="295894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066691" y="2958941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0.321006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086819" y="2958941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0.824361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105994" y="2958941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1.587750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126121" y="2958941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2.718282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58190" y="2437448"/>
              <a:ext cx="5214938" cy="8001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1444942" y="2437448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1889760" y="2437448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2908935" y="2437448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3929062" y="2437448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949190" y="2437448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766762" y="3399472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22782" y="3343275"/>
              <a:ext cx="422281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复合梯形 T₄ = 0.125×[0 + 2×(0.321006 + 0.824361 +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1.587750) + 2.718282] = 1.023064，误差 2.3×10⁻²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766762" y="3956685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22782" y="3900488"/>
              <a:ext cx="466001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复合 Simpson（2m = 4）S₄ = (0.25/3)×[0 + 4×(0.321006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+ 1.587750) + 2×0.824361 + 2.718282] = 1.000169，误差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1.7×10⁻⁴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2475" y="4711541"/>
              <a:ext cx="36956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函数值个数相同，复合 Simpson 的误差小两个数量级。</a:t>
              </a:r>
            </a:p>
          </p:txBody>
        </p:sp>
      </p:grpSp>
      <p:grpSp>
        <p:nvGrpSpPr>
          <p:cNvPr id="48" name="c2-card-1"/>
          <p:cNvGrpSpPr/>
          <p:nvPr/>
        </p:nvGrpSpPr>
        <p:grpSpPr>
          <a:xfrm>
            <a:off x="6464618" y="1928812"/>
            <a:ext cx="5193982" cy="2300288"/>
            <a:chOff x="6464618" y="1928812"/>
            <a:chExt cx="5193982" cy="2300288"/>
          </a:xfrm>
        </p:grpSpPr>
        <p:sp>
          <p:nvSpPr>
            <p:cNvPr id="38" name="Rectangle 38"/>
            <p:cNvSpPr/>
            <p:nvPr/>
          </p:nvSpPr>
          <p:spPr>
            <a:xfrm>
              <a:off x="6464618" y="1928812"/>
              <a:ext cx="5193982" cy="2300288"/>
            </a:xfrm>
            <a:prstGeom prst="roundRect">
              <a:avLst>
                <a:gd name="adj" fmla="val 579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474142" y="2062162"/>
              <a:ext cx="47625" cy="203358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689408" y="2115502"/>
              <a:ext cx="1188720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782932" y="2148364"/>
              <a:ext cx="10016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要求误差 ≤ 10⁻⁴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697980" y="2515552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853999" y="2459355"/>
              <a:ext cx="392277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复合梯形：h²/12 × 3e ≤ 10⁻⁴ ⇒ h ≤ 0.01213 ⇒ m 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82.4，取 </a:t>
              </a:r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= 83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（84 个节点）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697980" y="3072765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853999" y="3016568"/>
              <a:ext cx="39570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复合 Simpson：h⁴/180 × 5e ≤ 10⁻⁴ ⇒ h ≤ 0.1908 ⇒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2m ≥ 5.24，取 </a:t>
              </a:r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2m = 6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（7 个节点）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697980" y="3630930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853999" y="3574732"/>
              <a:ext cx="425710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实际误差：T₈₃ 为 5.4×10⁻⁵，S₆ 为 3.4×10⁻⁵，都满足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要求</a:t>
              </a:r>
            </a:p>
          </p:txBody>
        </p:sp>
      </p:grpSp>
      <p:grpSp>
        <p:nvGrpSpPr>
          <p:cNvPr id="55" name="c2-callout-2"/>
          <p:cNvGrpSpPr/>
          <p:nvPr/>
        </p:nvGrpSpPr>
        <p:grpSpPr>
          <a:xfrm>
            <a:off x="6464618" y="4398645"/>
            <a:ext cx="5193982" cy="729615"/>
            <a:chOff x="6464618" y="4398645"/>
            <a:chExt cx="5193982" cy="729615"/>
          </a:xfrm>
        </p:grpSpPr>
        <p:sp>
          <p:nvSpPr>
            <p:cNvPr id="49" name="Rectangle 49"/>
            <p:cNvSpPr/>
            <p:nvPr/>
          </p:nvSpPr>
          <p:spPr>
            <a:xfrm>
              <a:off x="6464618" y="4398645"/>
              <a:ext cx="5193982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6657347" y="4659748"/>
              <a:ext cx="224134" cy="192560"/>
              <a:chOff x="6657347" y="4659748"/>
              <a:chExt cx="224134" cy="19256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6769418" y="473011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657347" y="465974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769418" y="480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6972110" y="4545330"/>
              <a:ext cx="368274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复合 Simpson 的段数 2m 必须是偶数，h 按 (b −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a)/(2m) 计算，不要和 (b − a)/m 混淆。</a:t>
              </a:r>
            </a:p>
          </p:txBody>
        </p:sp>
      </p:grpSp>
      <p:grpSp>
        <p:nvGrpSpPr>
          <p:cNvPr id="62" name="c2-callout-3"/>
          <p:cNvGrpSpPr/>
          <p:nvPr/>
        </p:nvGrpSpPr>
        <p:grpSpPr>
          <a:xfrm>
            <a:off x="6464618" y="5298758"/>
            <a:ext cx="5193982" cy="729615"/>
            <a:chOff x="6464618" y="5298758"/>
            <a:chExt cx="5193982" cy="729615"/>
          </a:xfrm>
        </p:grpSpPr>
        <p:sp>
          <p:nvSpPr>
            <p:cNvPr id="56" name="Rectangle 56"/>
            <p:cNvSpPr/>
            <p:nvPr/>
          </p:nvSpPr>
          <p:spPr>
            <a:xfrm>
              <a:off x="6464618" y="5298758"/>
              <a:ext cx="5193982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6669405" y="5562600"/>
              <a:ext cx="200026" cy="200025"/>
              <a:chOff x="6669405" y="5562600"/>
              <a:chExt cx="200026" cy="200025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6669405" y="556260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6709144" y="560705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6743859" y="571817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6972110" y="5444490"/>
              <a:ext cx="402564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用阶数核对：2.3×10⁻² × (4/83)² ≈ 5.4×10⁻⁵，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1.7×10⁻⁴ × (4/6)⁴ ≈ 3.3×10⁻⁵，与实际误差吻合。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1652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计算方法 总复习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128862" cy="909257"/>
            <a:chOff x="520446" y="342900"/>
            <a:chExt cx="812886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0683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9643" y="407194"/>
              <a:ext cx="11143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第六章 数值积分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12886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Romberg 求积：由梯形值逐次外推，得到高精度结果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193982" cy="1740218"/>
            <a:chOff x="533400" y="1524000"/>
            <a:chExt cx="5193982" cy="174021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740218"/>
            </a:xfrm>
            <a:prstGeom prst="roundRect">
              <a:avLst>
                <a:gd name="adj" fmla="val 76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73518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1329690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4408" y="1743551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逐次二分的梯形公式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formula245"/>
                <p:cNvSpPr txBox="1">
                  <a:spLocks noGrp="1"/>
                </p:cNvSpPr>
                <p:nvPr/>
              </p:nvSpPr>
              <p:spPr>
                <a:xfrm>
                  <a:off x="758190" y="2032635"/>
                  <a:ext cx="4782502" cy="76676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e>
                          <m:sub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2n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  <m:sSub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e>
                          <m:sub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</m:num>
                          <m:den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  <m:sup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</m:t>
                                    </m:r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/</m:t>
                                    </m:r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h</m:t>
                        </m:r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num>
                          <m:den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2" name="TextBox 12"/>
            <p:cNvSpPr txBox="1"/>
            <p:nvPr/>
          </p:nvSpPr>
          <p:spPr>
            <a:xfrm>
              <a:off x="752475" y="2901791"/>
              <a:ext cx="3630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加密时旧节点上的函数值不必重算，只算新增的中点。</a:t>
              </a:r>
            </a:p>
          </p:txBody>
        </p:sp>
      </p:grpSp>
      <p:grpSp>
        <p:nvGrpSpPr>
          <p:cNvPr id="24" name="c1-card-2"/>
          <p:cNvGrpSpPr/>
          <p:nvPr/>
        </p:nvGrpSpPr>
        <p:grpSpPr>
          <a:xfrm>
            <a:off x="533400" y="3433762"/>
            <a:ext cx="5193982" cy="2763202"/>
            <a:chOff x="533400" y="3433762"/>
            <a:chExt cx="5193982" cy="2763202"/>
          </a:xfrm>
        </p:grpSpPr>
        <p:sp>
          <p:nvSpPr>
            <p:cNvPr id="14" name="Rectangle 14"/>
            <p:cNvSpPr/>
            <p:nvPr/>
          </p:nvSpPr>
          <p:spPr>
            <a:xfrm>
              <a:off x="533400" y="3433762"/>
              <a:ext cx="5193982" cy="2763202"/>
            </a:xfrm>
            <a:prstGeom prst="roundRect">
              <a:avLst>
                <a:gd name="adj" fmla="val 48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567112"/>
              <a:ext cx="47625" cy="249650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58190" y="3620452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42759" y="365331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外推公式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1332" y="3965258"/>
              <a:ext cx="423995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复合梯形误差 I − Tₙ ≈ ch²，步长减半后误差约为原来的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1/4，于是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formula246"/>
                <p:cNvSpPr txBox="1">
                  <a:spLocks noGrp="1"/>
                </p:cNvSpPr>
                <p:nvPr/>
              </p:nvSpPr>
              <p:spPr>
                <a:xfrm>
                  <a:off x="758190" y="4500562"/>
                  <a:ext cx="4782502" cy="5143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</m:t>
                            </m:r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2n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</m:sSub>
                          </m:num>
                          <m:den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sSub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16</m:t>
                            </m:r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2n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</m:sSub>
                          </m:num>
                          <m:den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sSub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64</m:t>
                            </m:r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2n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</m:sSub>
                          </m:num>
                          <m:den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63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0" name="Ellipse 20"/>
            <p:cNvSpPr/>
            <p:nvPr/>
          </p:nvSpPr>
          <p:spPr>
            <a:xfrm>
              <a:off x="766762" y="5176838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22782" y="5120640"/>
              <a:ext cx="39723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Sₙ 就是复合 Simpson 值，Cₙ 就是复合 Cotes 值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66762" y="5476875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22782" y="5420678"/>
              <a:ext cx="17847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|R₂ₙ − Rₙ| &lt; ε 时停止</a:t>
              </a:r>
            </a:p>
          </p:txBody>
        </p:sp>
      </p:grpSp>
      <p:grpSp>
        <p:nvGrpSpPr>
          <p:cNvPr id="63" name="c2-table-1"/>
          <p:cNvGrpSpPr/>
          <p:nvPr/>
        </p:nvGrpSpPr>
        <p:grpSpPr>
          <a:xfrm>
            <a:off x="6027230" y="1524000"/>
            <a:ext cx="5631370" cy="2663856"/>
            <a:chOff x="6027230" y="1524000"/>
            <a:chExt cx="5631370" cy="2663856"/>
          </a:xfrm>
        </p:grpSpPr>
        <p:sp>
          <p:nvSpPr>
            <p:cNvPr id="25" name="Rectangle 25"/>
            <p:cNvSpPr/>
            <p:nvPr/>
          </p:nvSpPr>
          <p:spPr>
            <a:xfrm>
              <a:off x="6032182" y="1524000"/>
              <a:ext cx="5626418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207721" y="16454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40766" y="1645444"/>
              <a:ext cx="7773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T（2ᵏ 段）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71242" y="164544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665690" y="164544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960137" y="164544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207721" y="20454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50581" y="204549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3.0000000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032182" y="231933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032182" y="2324100"/>
              <a:ext cx="562641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07721" y="24455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750581" y="244554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3.1000000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044076" y="244554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3.1333333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032182" y="271938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207721" y="28455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750581" y="284559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3.1311765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044076" y="284559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3.1415686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338523" y="284559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3.1421176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032182" y="311943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032182" y="3124200"/>
              <a:ext cx="562641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207721" y="32456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750581" y="324564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3.1389885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044076" y="324564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3.1415925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338523" y="324564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3.1415941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632971" y="324564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3.1415858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032182" y="351948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207721" y="36456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750581" y="364569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3.1409416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044076" y="364569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3.1415927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338523" y="364569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3.1415927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10373678" y="3533775"/>
              <a:ext cx="1275398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0632971" y="364569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3.1415926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032182" y="1524000"/>
              <a:ext cx="5626418" cy="24003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6477000" y="152400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7771448" y="152400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9065895" y="152400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10359390" y="152400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027230" y="3997166"/>
              <a:ext cx="27210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典型题 ∫₀¹ 4/(1 + x²) dx = π = 3.14159265…</a:t>
              </a:r>
            </a:p>
          </p:txBody>
        </p:sp>
      </p:grpSp>
      <p:grpSp>
        <p:nvGrpSpPr>
          <p:cNvPr id="70" name="c2-callout-2"/>
          <p:cNvGrpSpPr/>
          <p:nvPr/>
        </p:nvGrpSpPr>
        <p:grpSpPr>
          <a:xfrm>
            <a:off x="6032182" y="4319588"/>
            <a:ext cx="5626418" cy="978218"/>
            <a:chOff x="6032182" y="4319588"/>
            <a:chExt cx="5626418" cy="978218"/>
          </a:xfrm>
        </p:grpSpPr>
        <p:sp>
          <p:nvSpPr>
            <p:cNvPr id="64" name="Rectangle 64"/>
            <p:cNvSpPr/>
            <p:nvPr/>
          </p:nvSpPr>
          <p:spPr>
            <a:xfrm>
              <a:off x="6032182" y="4319588"/>
              <a:ext cx="5626418" cy="978218"/>
            </a:xfrm>
            <a:prstGeom prst="roundRect">
              <a:avLst>
                <a:gd name="adj" fmla="val 1168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6236970" y="4709160"/>
              <a:ext cx="200026" cy="200026"/>
              <a:chOff x="6236970" y="4709160"/>
              <a:chExt cx="200026" cy="200026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6236970" y="470916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6336983" y="477583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6325870" y="480917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6539674" y="4466272"/>
              <a:ext cx="4462844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T₁ = (4 + 2)/2 = 3；T₂ = 1.5 + 0.5×f(0.5) = 1.5 +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0.5×3.2 = 3.1；T₄ = 1.55 + 0.25×[f(0.25) + f(0.75)]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3.1311765；S₁ = (4×3.1 − 3)/3 = 3.1333333。</a:t>
              </a:r>
            </a:p>
          </p:txBody>
        </p:sp>
      </p:grpSp>
      <p:grpSp>
        <p:nvGrpSpPr>
          <p:cNvPr id="76" name="c2-callout-3"/>
          <p:cNvGrpSpPr/>
          <p:nvPr/>
        </p:nvGrpSpPr>
        <p:grpSpPr>
          <a:xfrm>
            <a:off x="6032182" y="5467350"/>
            <a:ext cx="5626418" cy="729615"/>
            <a:chOff x="6032182" y="5467350"/>
            <a:chExt cx="5626418" cy="729615"/>
          </a:xfrm>
        </p:grpSpPr>
        <p:sp>
          <p:nvSpPr>
            <p:cNvPr id="71" name="Rectangle 71"/>
            <p:cNvSpPr/>
            <p:nvPr/>
          </p:nvSpPr>
          <p:spPr>
            <a:xfrm>
              <a:off x="6032182" y="5467350"/>
              <a:ext cx="5626418" cy="729615"/>
            </a:xfrm>
            <a:prstGeom prst="roundRect">
              <a:avLst>
                <a:gd name="adj" fmla="val 15666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6236970" y="5732145"/>
              <a:ext cx="200026" cy="200026"/>
              <a:chOff x="6236970" y="5732145"/>
              <a:chExt cx="200026" cy="200026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6236970" y="573214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6303645" y="580993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6539674" y="5614035"/>
              <a:ext cx="457428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R₂ = 3.1415926，误差 1.5×10⁻⁸，共用 17 个函数值；同样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17 个点的 T₁₆ 误差还有 6.5×10⁻⁴。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1652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计算方法 总复习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835342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44284" y="4071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全课回顾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易错点：每个结论都有前提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9" name="c1-table-1"/>
          <p:cNvGrpSpPr/>
          <p:nvPr/>
        </p:nvGrpSpPr>
        <p:grpSpPr>
          <a:xfrm>
            <a:off x="533400" y="1524000"/>
            <a:ext cx="11125200" cy="4430078"/>
            <a:chOff x="533400" y="1524000"/>
            <a:chExt cx="11125200" cy="443007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39102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346960" y="164877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857684" y="164877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成立的前提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508046" y="164877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常见错误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29412" y="2087880"/>
              <a:ext cx="3473148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x⁽ᵏ⁺¹⁾ = Hx⁽ᵏ⁾ + g 对任意初值收敛 ⇔ ρ(H)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 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634674" y="220789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线性定常迭代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194167" y="2207895"/>
              <a:ext cx="16808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‖H‖ ≥ 1 当成发散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63747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642235"/>
              <a:ext cx="11125200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9412" y="2767012"/>
              <a:ext cx="35153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‖x⁽ᵏ⁾ − x*‖ ≤ qᵏ‖x⁽¹⁾ − x⁽⁰⁾‖/(1 − q)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34674" y="2767012"/>
              <a:ext cx="2229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 = ‖H‖ &lt; 1，且是算子范数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94167" y="2767012"/>
              <a:ext cx="1654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ρ(H) 当作 q 代入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07562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9412" y="3326130"/>
              <a:ext cx="30332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严格对角占优 ⇒ Jacobi、G-S 都收敛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634674" y="3326130"/>
              <a:ext cx="30214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按行严格占优（|aᵢᵢ| 大于其余之和）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94167" y="3206115"/>
              <a:ext cx="3142678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以为 G-S 总比 Jacobi 收敛、总比 Jacobi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75475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759518"/>
              <a:ext cx="11125200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9412" y="3885248"/>
              <a:ext cx="30728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不动点迭代对 [a, b] 内任意初值收敛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34674" y="3885248"/>
              <a:ext cx="28765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φ([a, b]) ⊂ [a, b] 且 |φ′| ≤ L &lt; 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194167" y="388524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只验证导数条件，忘了映射条件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1938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9412" y="4323398"/>
              <a:ext cx="16543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Newton 法平方收敛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34674" y="4323398"/>
              <a:ext cx="24489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单根、f″ 连续、初值足够接近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194167" y="432339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重根时仍按平方收敛估计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63296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4637722"/>
              <a:ext cx="11125200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29412" y="4762500"/>
              <a:ext cx="20282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乘幂法 max(x⁽ᵏ⁾) → λ₁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634674" y="4762500"/>
              <a:ext cx="15312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|λ₁| &gt; |λ₂|，α₁ ≠ 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194167" y="4762500"/>
              <a:ext cx="15039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λ₁ = −λ₂ 时仍套用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507206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29412" y="5201602"/>
              <a:ext cx="32786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插值余项 f⁽ⁿ⁺¹⁾(ξ)ωₙ₊₁(x)/(n + 1)!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634674" y="5201602"/>
              <a:ext cx="26034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+ 1 个节点，f 有 n + 1 阶导数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194167" y="5201602"/>
              <a:ext cx="22218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漏掉阶乘，或用成 n 阶导数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551021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33400" y="5514975"/>
              <a:ext cx="11125200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29412" y="5640705"/>
              <a:ext cx="33317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Simpson 余项 −(b − a)h⁴f⁽⁴⁾(η)/180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634674" y="5640705"/>
              <a:ext cx="33667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 = (b − a)/2；复合时 h = (b − a)/(2m)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194167" y="5640705"/>
              <a:ext cx="12313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h 取成 b − a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1524000"/>
              <a:ext cx="11125200" cy="443007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4533900" y="1524000"/>
              <a:ext cx="9525" cy="44300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8093392" y="1524000"/>
              <a:ext cx="9525" cy="44300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652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计算方法 总复习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835342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44284" y="4071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全课回顾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自测题（一）：误差、线性方程组、非线性方程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485900"/>
            <a:chOff x="533400" y="1524000"/>
            <a:chExt cx="5410200" cy="14859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485900"/>
            </a:xfrm>
            <a:prstGeom prst="roundRect">
              <a:avLst>
                <a:gd name="adj" fmla="val 89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0090" y="171069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9547" y="174355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3232" y="2054542"/>
              <a:ext cx="45344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四舍五入所得 0.03400 有几位有效数字？求 ε*、εᵣ*。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3232" y="2355532"/>
              <a:ext cx="460000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0.3400×10⁻¹，4 位；ε* = 0.5×10⁻⁵，εᵣ* = ε*/0.034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≈ 1.47×10⁻⁴。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179445"/>
            <a:ext cx="5410200" cy="1228725"/>
            <a:chOff x="533400" y="3179445"/>
            <a:chExt cx="5410200" cy="1228725"/>
          </a:xfrm>
        </p:grpSpPr>
        <p:sp>
          <p:nvSpPr>
            <p:cNvPr id="13" name="Rectangle 13"/>
            <p:cNvSpPr/>
            <p:nvPr/>
          </p:nvSpPr>
          <p:spPr>
            <a:xfrm>
              <a:off x="533400" y="3179445"/>
              <a:ext cx="5410200" cy="1228725"/>
            </a:xfrm>
            <a:prstGeom prst="roundRect">
              <a:avLst>
                <a:gd name="adj" fmla="val 1085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0090" y="336613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9547" y="339899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3232" y="3710940"/>
              <a:ext cx="39901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迭代矩阵满足 ‖H‖∞ = 1.2，能否断定迭代发散？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3232" y="4010977"/>
              <a:ext cx="48453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不能。‖H‖ &lt; 1 只是充分条件，要看 ρ(H) 是否小于 1。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578668"/>
            <a:ext cx="5410200" cy="1743075"/>
            <a:chOff x="533400" y="4578668"/>
            <a:chExt cx="5410200" cy="1743075"/>
          </a:xfrm>
        </p:grpSpPr>
        <p:sp>
          <p:nvSpPr>
            <p:cNvPr id="19" name="Rectangle 19"/>
            <p:cNvSpPr/>
            <p:nvPr/>
          </p:nvSpPr>
          <p:spPr>
            <a:xfrm>
              <a:off x="533400" y="4578668"/>
              <a:ext cx="5410200" cy="1743075"/>
            </a:xfrm>
            <a:prstGeom prst="roundRect">
              <a:avLst>
                <a:gd name="adj" fmla="val 765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0090" y="476535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09547" y="479821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3232" y="5109210"/>
              <a:ext cx="49269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[1, 2] 上二分求根，误差 ≤ 10⁻³，至少要算到第几个中点？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3232" y="5409248"/>
              <a:ext cx="45480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1/2ⁿ⁺¹ ≤ 10⁻³ ⇒ n + 1 ≥ 10，取第 10 个中点 x₁₀。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485900"/>
            <a:chOff x="6248400" y="1524000"/>
            <a:chExt cx="5410200" cy="1485900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485900"/>
            </a:xfrm>
            <a:prstGeom prst="roundRect">
              <a:avLst>
                <a:gd name="adj" fmla="val 89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35090" y="171069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24547" y="174355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28232" y="2054542"/>
              <a:ext cx="37131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[1 −2; 3 4]，求 ‖A‖₁、‖A‖∞、ρ(A)。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28232" y="2355532"/>
              <a:ext cx="456571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‖A‖₁ = 6（列和 4、6），‖A‖∞ = 7（行和 3、7）；λ² −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5λ + 10 = 0，ρ(A) = √10 ≈ 3.162。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3179445"/>
            <a:ext cx="5410200" cy="1485900"/>
            <a:chOff x="6248400" y="3179445"/>
            <a:chExt cx="5410200" cy="1485900"/>
          </a:xfrm>
        </p:grpSpPr>
        <p:sp>
          <p:nvSpPr>
            <p:cNvPr id="31" name="Rectangle 31"/>
            <p:cNvSpPr/>
            <p:nvPr/>
          </p:nvSpPr>
          <p:spPr>
            <a:xfrm>
              <a:off x="6248400" y="3179445"/>
              <a:ext cx="5410200" cy="1485900"/>
            </a:xfrm>
            <a:prstGeom prst="roundRect">
              <a:avLst>
                <a:gd name="adj" fmla="val 89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35090" y="336613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24547" y="339899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28232" y="3710940"/>
              <a:ext cx="27765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[2 1; 1 2]，求 Cond∞(A)。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28232" y="4010977"/>
              <a:ext cx="469430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A⁻¹ = (1/3)[2 −1; −1 2]，‖A⁻¹‖∞ = 1，‖A‖∞ = 3，故条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件数为 3。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248400" y="4835842"/>
            <a:ext cx="5410200" cy="1485900"/>
            <a:chOff x="6248400" y="4835842"/>
            <a:chExt cx="5410200" cy="1485900"/>
          </a:xfrm>
        </p:grpSpPr>
        <p:sp>
          <p:nvSpPr>
            <p:cNvPr id="37" name="Rectangle 37"/>
            <p:cNvSpPr/>
            <p:nvPr/>
          </p:nvSpPr>
          <p:spPr>
            <a:xfrm>
              <a:off x="6248400" y="4835842"/>
              <a:ext cx="5410200" cy="1485900"/>
            </a:xfrm>
            <a:prstGeom prst="roundRect">
              <a:avLst>
                <a:gd name="adj" fmla="val 89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35090" y="502253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24547" y="505539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28232" y="5366385"/>
              <a:ext cx="39451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Newton 法解 x² − 5 = 0，x₀ = 2，求 x₁、x₂。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28232" y="5666423"/>
              <a:ext cx="466001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xₖ₊₁ = (xₖ + 5/xₖ)/2；x₁ = 2.25，x₂ = 2.236111，而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√5 = 2.236068。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1652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计算方法 总复习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835342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44284" y="4071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全课回顾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自测题（二）：特征值、插值、数值积分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485900"/>
            <a:chOff x="533400" y="1524000"/>
            <a:chExt cx="5410200" cy="14859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485900"/>
            </a:xfrm>
            <a:prstGeom prst="roundRect">
              <a:avLst>
                <a:gd name="adj" fmla="val 89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0090" y="171069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9547" y="174355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3232" y="2054542"/>
              <a:ext cx="472344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乘幂法的收敛速度由什么决定？特征值为实数时原点平移的 λ₀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怎样取最好？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3232" y="2612708"/>
              <a:ext cx="36575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|λ₂/λ₁| 决定；取 λ₀ = (λ₂ + λₙ)/2。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179445"/>
            <a:ext cx="5410200" cy="1228725"/>
            <a:chOff x="533400" y="3179445"/>
            <a:chExt cx="5410200" cy="1228725"/>
          </a:xfrm>
        </p:grpSpPr>
        <p:sp>
          <p:nvSpPr>
            <p:cNvPr id="13" name="Rectangle 13"/>
            <p:cNvSpPr/>
            <p:nvPr/>
          </p:nvSpPr>
          <p:spPr>
            <a:xfrm>
              <a:off x="533400" y="3179445"/>
              <a:ext cx="5410200" cy="1228725"/>
            </a:xfrm>
            <a:prstGeom prst="roundRect">
              <a:avLst>
                <a:gd name="adj" fmla="val 1085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0090" y="336613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9547" y="339899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3232" y="3710940"/>
              <a:ext cx="35284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Simpson 公式有几个节点、几次代数精度？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3232" y="4010977"/>
              <a:ext cx="49933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个节点，代数精度为 3（n = 2 为偶数，比 n 多一次）。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578668"/>
            <a:ext cx="5410200" cy="1743075"/>
            <a:chOff x="533400" y="4578668"/>
            <a:chExt cx="5410200" cy="1743075"/>
          </a:xfrm>
        </p:grpSpPr>
        <p:sp>
          <p:nvSpPr>
            <p:cNvPr id="19" name="Rectangle 19"/>
            <p:cNvSpPr/>
            <p:nvPr/>
          </p:nvSpPr>
          <p:spPr>
            <a:xfrm>
              <a:off x="533400" y="4578668"/>
              <a:ext cx="5410200" cy="1743075"/>
            </a:xfrm>
            <a:prstGeom prst="roundRect">
              <a:avLst>
                <a:gd name="adj" fmla="val 765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0090" y="476535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09547" y="479821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3232" y="5109210"/>
              <a:ext cx="480874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[3 −2; −2 3] 作一次 Jacobi 旋转，θ 取多少？旋转后对角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元是多少？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3232" y="5666423"/>
              <a:ext cx="470287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 = −π/4；c₁₁ = 3 − (−2)sin(−π/2) = 1，c₂₂ = 5，即特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征值 1、5。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485900"/>
            <a:chOff x="6248400" y="1524000"/>
            <a:chExt cx="5410200" cy="1485900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485900"/>
            </a:xfrm>
            <a:prstGeom prst="roundRect">
              <a:avLst>
                <a:gd name="adj" fmla="val 89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35090" y="171069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24547" y="174355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28232" y="2054542"/>
              <a:ext cx="42368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求过 (0, 1)、(1, 3)、(2, 7) 的二次插值多项式。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28232" y="2355532"/>
              <a:ext cx="468572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f[0,1] = 2，f[1,2] = 4，f[0,1,2] = 1；P(x) = 1 + 2x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x(x − 1) = x² + x + 1。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3179445"/>
            <a:ext cx="5410200" cy="1485900"/>
            <a:chOff x="6248400" y="3179445"/>
            <a:chExt cx="5410200" cy="1485900"/>
          </a:xfrm>
        </p:grpSpPr>
        <p:sp>
          <p:nvSpPr>
            <p:cNvPr id="31" name="Rectangle 31"/>
            <p:cNvSpPr/>
            <p:nvPr/>
          </p:nvSpPr>
          <p:spPr>
            <a:xfrm>
              <a:off x="6248400" y="3179445"/>
              <a:ext cx="5410200" cy="1485900"/>
            </a:xfrm>
            <a:prstGeom prst="roundRect">
              <a:avLst>
                <a:gd name="adj" fmla="val 89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35090" y="336613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24547" y="339899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28232" y="3710940"/>
              <a:ext cx="50488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∫₀¹ 1/(1 + x) dx 的 T₁ = 0.75，T₂ = 0.708333，求 S₁。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28232" y="4010977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S₁ = (4T₂ − T₁)/3 = (2.833333 − 0.75)/3 = 0.694444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（精确值 ln2 = 0.693147）。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248400" y="4835842"/>
            <a:ext cx="5410200" cy="1485900"/>
            <a:chOff x="6248400" y="4835842"/>
            <a:chExt cx="5410200" cy="1485900"/>
          </a:xfrm>
        </p:grpSpPr>
        <p:sp>
          <p:nvSpPr>
            <p:cNvPr id="37" name="Rectangle 37"/>
            <p:cNvSpPr/>
            <p:nvPr/>
          </p:nvSpPr>
          <p:spPr>
            <a:xfrm>
              <a:off x="6248400" y="4835842"/>
              <a:ext cx="5410200" cy="1485900"/>
            </a:xfrm>
            <a:prstGeom prst="roundRect">
              <a:avLst>
                <a:gd name="adj" fmla="val 89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35090" y="502253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24547" y="505539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28232" y="5366385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复合梯形公式误差是几阶？步长减半误差约变为多少？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28232" y="5666423"/>
              <a:ext cx="461714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O(h²)，约变为 1/4，这是外推 S = (4T₂ₙ − Tₙ)/3 的依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据。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1652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计算方法 总复习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835342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44284" y="4071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全课回顾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全课公式速查与手算题型索引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0" name="c1-table-1"/>
          <p:cNvGrpSpPr/>
          <p:nvPr/>
        </p:nvGrpSpPr>
        <p:grpSpPr>
          <a:xfrm>
            <a:off x="533400" y="1524000"/>
            <a:ext cx="7141845" cy="4501515"/>
            <a:chOff x="533400" y="1524000"/>
            <a:chExt cx="7141845" cy="45015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7141845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40829" y="165973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章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637498" y="165973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必须会写的公式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880672" y="16597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判据与误差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221706"/>
              <a:ext cx="5841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 绪论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641348" y="2108359"/>
              <a:ext cx="270332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e* = x* − x；|x* − x| ≤ 0.5×10ᵐ⁻ⁿ；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eᵣ(xy) ≈ eᵣ(x) + eᵣ(y)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069396" y="2108359"/>
              <a:ext cx="132156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定理 1.1：|eᵣ*| ≤</a:t>
              </a:r>
              <a:br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10⁻⁽ⁿ⁻¹⁾/(2α₁)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643188"/>
              <a:ext cx="71418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647950"/>
              <a:ext cx="714184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783681"/>
              <a:ext cx="71440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 线性方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程组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41348" y="2783681"/>
              <a:ext cx="292277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Doolittle：uₖⱼ、lᵢₖ 公式；Jacobi 矩阵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D⁻¹(L + U)，G-S 矩阵 (D − L)⁻¹U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069396" y="2783681"/>
              <a:ext cx="217500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ρ(H) &lt; 1 ⇔ 收敛；‖δx‖/‖x‖ ≤</a:t>
              </a:r>
              <a:br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Cond(A)‖δb‖/‖b‖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319462"/>
              <a:ext cx="71418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459004"/>
              <a:ext cx="71440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 非线性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641348" y="3459004"/>
              <a:ext cx="304469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xₖ₊₁ = φ(xₖ)；xₖ₊₁ = xₖ −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f(xₖ)/f′(xₖ)；F′(x⁽ᵏ⁾)Δx = −F(x⁽ᵏ⁾)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69396" y="3459004"/>
              <a:ext cx="229692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|x* − xₙ₊₁| ≤ (b − a)/2ⁿ⁺¹；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|x* − xₖ| ≤ Lᵏ|x₁ − x₀|/(1 − L)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994785"/>
              <a:ext cx="71418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999548"/>
              <a:ext cx="714184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4247674"/>
              <a:ext cx="756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 特征值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641348" y="4134326"/>
              <a:ext cx="267893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y⁽ᵏ⁾ = x⁽ᵏ⁾/max(x⁽ᵏ⁾)，x⁽ᵏ⁺¹⁾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Ay⁽ᵏ⁾；tan2θ = 2aᵢⱼ/(aⱼⱼ − aᵢᵢ)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069396" y="4134326"/>
              <a:ext cx="213436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速度 |λ₂/λ₁|；τ(C) = τ(A) −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2aᵢⱼ²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670108"/>
              <a:ext cx="71418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1223" y="4923949"/>
              <a:ext cx="5841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五 插值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641348" y="4810601"/>
              <a:ext cx="292277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Lₙ = Σyᵢlᵢ(x)；Nₙ 用差商表对角线；H₃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基函数或重节点差商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069396" y="4810601"/>
              <a:ext cx="221564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Rₙ = f⁽ⁿ⁺¹⁾(ξ)ωₙ₊₁(x)/(n +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1)!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5345430"/>
              <a:ext cx="71418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5350192"/>
              <a:ext cx="714184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1223" y="5485924"/>
              <a:ext cx="71440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六 数值积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641348" y="5485924"/>
              <a:ext cx="301218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T、S、C 公式；复合 Tₘ、S₂ₘ；S = (4T₂ₙ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 Tₙ)/3 等外推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069396" y="5485924"/>
              <a:ext cx="211810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代数精度 1、3、5；复合余项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O(h²)、O(h⁴)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1524000"/>
              <a:ext cx="7141845" cy="45015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528762" y="1524000"/>
              <a:ext cx="9525" cy="45015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4956810" y="1524000"/>
              <a:ext cx="9525" cy="45015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4" name="c2-table-1"/>
          <p:cNvGrpSpPr/>
          <p:nvPr/>
        </p:nvGrpSpPr>
        <p:grpSpPr>
          <a:xfrm>
            <a:off x="7974330" y="1524000"/>
            <a:ext cx="3684270" cy="4335304"/>
            <a:chOff x="7974330" y="1524000"/>
            <a:chExt cx="3684270" cy="4335304"/>
          </a:xfrm>
        </p:grpSpPr>
        <p:sp>
          <p:nvSpPr>
            <p:cNvPr id="41" name="Rectangle 41"/>
            <p:cNvSpPr/>
            <p:nvPr/>
          </p:nvSpPr>
          <p:spPr>
            <a:xfrm>
              <a:off x="7980045" y="1524000"/>
              <a:ext cx="3678555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817750" y="165973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常考手算题型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00165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页码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087868" y="210835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有效数字与误差传播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810113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7980045" y="2416492"/>
              <a:ext cx="36785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7980045" y="2421255"/>
              <a:ext cx="367855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087868" y="2556986"/>
              <a:ext cx="16591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LU 分解、列主元消去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810113" y="2556986"/>
              <a:ext cx="5643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13、15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7980045" y="2866072"/>
              <a:ext cx="36785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087868" y="300561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范数与条件数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810113" y="3005614"/>
              <a:ext cx="5643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17、19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7980045" y="3314700"/>
              <a:ext cx="36785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7980045" y="3319462"/>
              <a:ext cx="367855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087868" y="3454241"/>
              <a:ext cx="14597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Jacobi、G-S 迭代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810113" y="3454241"/>
              <a:ext cx="5902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 – 25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7980045" y="3763328"/>
              <a:ext cx="36785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087868" y="390382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非线性方程三种迭代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810113" y="3903821"/>
              <a:ext cx="5902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27 – 32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7980045" y="4211955"/>
              <a:ext cx="36785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7980045" y="4216718"/>
              <a:ext cx="367855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087868" y="4352449"/>
              <a:ext cx="20032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乘幂、反幂、Jacobi 旋转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810113" y="4352449"/>
              <a:ext cx="5902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35 – 39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980045" y="4660582"/>
              <a:ext cx="36785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087868" y="480107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三类插值多项式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810113" y="4801076"/>
              <a:ext cx="5902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42 – 45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7980045" y="5110162"/>
              <a:ext cx="36785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7980045" y="5114925"/>
              <a:ext cx="367855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087868" y="524970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代数精度与求积公式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810113" y="5249704"/>
              <a:ext cx="5902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48 – 53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7980045" y="1524000"/>
              <a:ext cx="3678555" cy="40395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10697528" y="1524000"/>
              <a:ext cx="9525" cy="40395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974330" y="5639276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页码指本讲义右下角的页码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1652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计算方法 总复习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numa_review">
  <a:themeElements>
    <a:clrScheme name="numa_review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numa_review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numa_review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2026-09-17T10:15:18Z</dcterms:created>
  <dcterms:modified xsi:type="dcterms:W3CDTF">2026-09-17T10:15:18Z</dcterms:modified>
  <cp:category/>
  <cp:contentStatus/>
</cp:coreProperties>
</file>