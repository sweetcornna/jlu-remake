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2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2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5798e7a801bfd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b7d4674b97e549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c68ebadfb1787df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72100" cy="4077843"/>
            <a:chOff x="666750" y="1619250"/>
            <a:chExt cx="537210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第二章（下）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72100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解线性方程组的数值法</a:t>
              </a:r>
              <a:br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（下）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范数、条件数与迭代法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2.5 向量和矩阵范数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2.6 条件数与病态方程组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2.7 迭代法的收敛性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605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Jacobi 与 G-S 迭代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08168" cy="205359"/>
            <a:chOff x="680466" y="6192202"/>
            <a:chExt cx="56081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08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自学复习版｜据吉林大学《计算方法》第二章课件整理，上接 2.1–2.4 直接法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12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三条公理、1/2/∞ 范数、范数等价、向量序列收敛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矩阵范数与谱半径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36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相容范数、算子范数的三个计算公式、ρ(A) ≤ ‖A‖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条件数与病态方程组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病态例子、扰动误差估计、条件数、矩阵平衡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迭代法的一般理论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11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Hx + g、收敛充要条件 ρ(H) &lt; 1、误差估计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5356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与 Gauss-Seidel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06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矩阵分裂 A = D − L − U、分量公式、例 2.4 与例 2.5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手算向量的 1、2、∞ 范数，矩阵的行和、列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和与谱范数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用条件数估计扰动引起的解的相对误差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06705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Jacobi 和 Gauss-Seidel 的分量公式与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迭代矩阵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用谱半径或范数判断迭代格式是否收敛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02336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用误差估计式确定停止条件和迭代次数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46203" cy="3351847"/>
            <a:chOff x="667512" y="1835468"/>
            <a:chExt cx="604620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2.5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向量和矩阵范数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36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给向量和矩阵规定“大小”，后面分析误差和迭代收敛都要用它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向量范数：定义、常用范数、等价性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向量序列的收敛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矩阵范数：相容范数与算子范数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谱半径与范数的关系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向量范数：满足三条公理的“长度”函数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593074" cy="293370"/>
            <a:chOff x="525780" y="1548765"/>
            <a:chExt cx="859307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5930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实数用绝对值、复数用模度量大小；向量范数把这种度量推广到 Rⁿ，用来衡量误差向量有多大。</a:t>
              </a:r>
            </a:p>
          </p:txBody>
        </p:sp>
      </p:grpSp>
      <p:grpSp>
        <p:nvGrpSpPr>
          <p:cNvPr id="27" name="c1-card-1"/>
          <p:cNvGrpSpPr/>
          <p:nvPr/>
        </p:nvGrpSpPr>
        <p:grpSpPr>
          <a:xfrm>
            <a:off x="533400" y="1954530"/>
            <a:ext cx="5842635" cy="4327208"/>
            <a:chOff x="533400" y="1954530"/>
            <a:chExt cx="5842635" cy="432720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4327208"/>
            </a:xfrm>
            <a:prstGeom prst="roundRect">
              <a:avLst>
                <a:gd name="adj" fmla="val 30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40605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559" y="218694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2.1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26298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501891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∈ Rⁿ，N(x) = ‖x‖ 是 x 的实值函数。若它满足下列三条，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‖·‖ 为 Rⁿ 上的一个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（向量模），‖x‖ 的值称为 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的范数。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337947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34198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3392329"/>
              <a:ext cx="1495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非负性（2.5.1）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9"/>
                <p:cNvSpPr txBox="1">
                  <a:spLocks noGrp="1"/>
                </p:cNvSpPr>
                <p:nvPr/>
              </p:nvSpPr>
              <p:spPr>
                <a:xfrm>
                  <a:off x="769620" y="3686175"/>
                  <a:ext cx="540829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⇔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69620" y="418719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965" y="42265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514" y="4199096"/>
              <a:ext cx="1495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齐次性（2.5.2）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0"/>
                <p:cNvSpPr txBox="1">
                  <a:spLocks noGrp="1"/>
                </p:cNvSpPr>
                <p:nvPr/>
              </p:nvSpPr>
              <p:spPr>
                <a:xfrm>
                  <a:off x="769620" y="4493895"/>
                  <a:ext cx="540829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69620" y="4993958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965" y="50342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0514" y="5006816"/>
              <a:ext cx="18782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三角不等式（2.5.3）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1"/>
                <p:cNvSpPr txBox="1">
                  <a:spLocks noGrp="1"/>
                </p:cNvSpPr>
                <p:nvPr/>
              </p:nvSpPr>
              <p:spPr>
                <a:xfrm>
                  <a:off x="769620" y="5300662"/>
                  <a:ext cx="540829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c2-card-1"/>
          <p:cNvGrpSpPr/>
          <p:nvPr/>
        </p:nvGrpSpPr>
        <p:grpSpPr>
          <a:xfrm>
            <a:off x="6680835" y="1954530"/>
            <a:ext cx="4977765" cy="1207770"/>
            <a:chOff x="6680835" y="1954530"/>
            <a:chExt cx="4977765" cy="1207770"/>
          </a:xfrm>
        </p:grpSpPr>
        <p:sp>
          <p:nvSpPr>
            <p:cNvPr id="28" name="Rectangle 28"/>
            <p:cNvSpPr/>
            <p:nvPr/>
          </p:nvSpPr>
          <p:spPr>
            <a:xfrm>
              <a:off x="6680835" y="1954530"/>
              <a:ext cx="4977765" cy="1207770"/>
            </a:xfrm>
            <a:prstGeom prst="roundRect">
              <a:avLst>
                <a:gd name="adj" fmla="val 110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2087880"/>
              <a:ext cx="47625" cy="9410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17055" y="2152650"/>
              <a:ext cx="112776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9776" y="2186940"/>
              <a:ext cx="984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推论（2.5.4）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52829" y="2187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反向三角不等式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2"/>
                <p:cNvSpPr txBox="1">
                  <a:spLocks noGrp="1"/>
                </p:cNvSpPr>
                <p:nvPr/>
              </p:nvSpPr>
              <p:spPr>
                <a:xfrm>
                  <a:off x="6917055" y="2507932"/>
                  <a:ext cx="454342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8" name="c2-steps-2"/>
          <p:cNvGrpSpPr/>
          <p:nvPr/>
        </p:nvGrpSpPr>
        <p:grpSpPr>
          <a:xfrm>
            <a:off x="6680835" y="3351848"/>
            <a:ext cx="4684776" cy="2002536"/>
            <a:chOff x="6680835" y="3351848"/>
            <a:chExt cx="4684776" cy="2002536"/>
          </a:xfrm>
        </p:grpSpPr>
        <p:sp>
          <p:nvSpPr>
            <p:cNvPr id="35" name="Rectangle 35"/>
            <p:cNvSpPr/>
            <p:nvPr/>
          </p:nvSpPr>
          <p:spPr>
            <a:xfrm>
              <a:off x="6814185" y="3494722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80835" y="33518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4459" y="3425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80835" y="418909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4459" y="4262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0835" y="48063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4459" y="4880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2696" y="338470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用三角不等式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3839" y="3665220"/>
              <a:ext cx="4271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 = ‖(x − y) + y‖ ≤ ‖x − y‖ + ‖y‖，所以 ‖x‖ − ‖y‖ ≤ ‖x − y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2696" y="4222909"/>
              <a:ext cx="9893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x 与 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3839" y="4503420"/>
              <a:ext cx="3655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‖y‖ − ‖x‖ ≤ ‖y − x‖ = ‖x − y‖（齐次性取 k = −1）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2696" y="48391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3839" y="5119688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两式合起来就是 |‖x‖ − ‖y‖| ≤ ‖x − y‖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680835" y="5525452"/>
            <a:ext cx="4977765" cy="756285"/>
            <a:chOff x="6680835" y="5525452"/>
            <a:chExt cx="4977765" cy="756285"/>
          </a:xfrm>
        </p:grpSpPr>
        <p:sp>
          <p:nvSpPr>
            <p:cNvPr id="49" name="Rectangle 49"/>
            <p:cNvSpPr/>
            <p:nvPr/>
          </p:nvSpPr>
          <p:spPr>
            <a:xfrm>
              <a:off x="6680835" y="552545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5803583"/>
              <a:ext cx="200026" cy="200025"/>
              <a:chOff x="6885623" y="580358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58035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25361" y="58480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60077" y="59591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7946" y="5672614"/>
              <a:ext cx="402704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推论说明 ‖x‖ 是 x 的连续函数：x 变化很小时，范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数的变化也很小。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4435" cy="909257"/>
            <a:chOff x="520446" y="342900"/>
            <a:chExt cx="7394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4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常用的三种向量范数：1-范数、2-范数、∞-范数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735002" cy="4794885"/>
            <a:chOff x="533400" y="1524000"/>
            <a:chExt cx="5735002" cy="4794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4794885"/>
            </a:xfrm>
            <a:prstGeom prst="roundRect">
              <a:avLst>
                <a:gd name="adj" fmla="val 27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281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常用范数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08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1-范数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：各分量绝对值之和（2.5.5）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2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532352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000375"/>
              <a:ext cx="417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2-范数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（欧氏范数）：通常意义下的长度（2.5.6）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3"/>
                <p:cNvSpPr txBox="1">
                  <a:spLocks noGrp="1"/>
                </p:cNvSpPr>
                <p:nvPr/>
              </p:nvSpPr>
              <p:spPr>
                <a:xfrm>
                  <a:off x="758190" y="3277552"/>
                  <a:ext cx="532352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|"/>
                                            <m:sepChr m:val=""/>
                                            <m:endChr m:val="|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1332" y="3945255"/>
              <a:ext cx="417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∞-范数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（最大范数）：绝对值最大的分量（2.5.7）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4"/>
                <p:cNvSpPr txBox="1">
                  <a:spLocks noGrp="1"/>
                </p:cNvSpPr>
                <p:nvPr/>
              </p:nvSpPr>
              <p:spPr>
                <a:xfrm>
                  <a:off x="758190" y="4223385"/>
                  <a:ext cx="532352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rd-1"/>
          <p:cNvGrpSpPr/>
          <p:nvPr/>
        </p:nvGrpSpPr>
        <p:grpSpPr>
          <a:xfrm>
            <a:off x="6573202" y="1524000"/>
            <a:ext cx="5085398" cy="2328862"/>
            <a:chOff x="6573202" y="1524000"/>
            <a:chExt cx="5085398" cy="2328862"/>
          </a:xfrm>
        </p:grpSpPr>
        <p:sp>
          <p:nvSpPr>
            <p:cNvPr id="18" name="Rectangle 18"/>
            <p:cNvSpPr/>
            <p:nvPr/>
          </p:nvSpPr>
          <p:spPr>
            <a:xfrm>
              <a:off x="6573202" y="1524000"/>
              <a:ext cx="5085398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582728" y="1657350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97992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93763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38810" y="1745932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 −2, 3)ᵀ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97992" y="2049780"/>
              <a:ext cx="46739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55853" y="2171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37968" y="2171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36440" y="21712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2483" y="25712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22895" y="2571274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|1| + |−2| + |3|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70365" y="25712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97992" y="2845118"/>
              <a:ext cx="46739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7992" y="2849880"/>
              <a:ext cx="46739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32483" y="297132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2895" y="297132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√(1 + 4 + 9)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93429" y="297132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√14 ≈ 3.742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97992" y="3245168"/>
              <a:ext cx="46739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32483" y="33713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22895" y="3371374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max{1, 2, 3}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70365" y="33713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97992" y="2049780"/>
              <a:ext cx="46739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20978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58412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573202" y="4023360"/>
            <a:ext cx="5085398" cy="1397318"/>
            <a:chOff x="6573202" y="4023360"/>
            <a:chExt cx="5085398" cy="1397318"/>
          </a:xfrm>
        </p:grpSpPr>
        <p:sp>
          <p:nvSpPr>
            <p:cNvPr id="43" name="Rectangle 43"/>
            <p:cNvSpPr/>
            <p:nvPr/>
          </p:nvSpPr>
          <p:spPr>
            <a:xfrm>
              <a:off x="6573202" y="4023360"/>
              <a:ext cx="5085398" cy="1397318"/>
            </a:xfrm>
            <a:prstGeom prst="roundRect">
              <a:avLst>
                <a:gd name="adj" fmla="val 9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82728" y="4156710"/>
              <a:ext cx="47625" cy="11306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97992" y="42100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82562" y="42429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统一记号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91134" y="4553902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三者统一记为 ‖x‖ₚ，p = 1, 2, ∞。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92278" y="4850606"/>
              <a:ext cx="43070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一般的 p-范数（p ≥ 1）是 |xᵢ|ᵖ 求和后再开 p 次方根；p → ∞ 时它趋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 max|xᵢ|，这就是 ∞ 记号的来历（补充）。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573202" y="5590222"/>
            <a:ext cx="5085398" cy="729615"/>
            <a:chOff x="6573202" y="5590222"/>
            <a:chExt cx="5085398" cy="729615"/>
          </a:xfrm>
        </p:grpSpPr>
        <p:sp>
          <p:nvSpPr>
            <p:cNvPr id="50" name="Rectangle 50"/>
            <p:cNvSpPr/>
            <p:nvPr/>
          </p:nvSpPr>
          <p:spPr>
            <a:xfrm>
              <a:off x="6573202" y="5590222"/>
              <a:ext cx="508539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777990" y="5855018"/>
              <a:ext cx="200026" cy="200025"/>
              <a:chOff x="6777990" y="585501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77990" y="58550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17729" y="58994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852444" y="60105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080694" y="5735955"/>
              <a:ext cx="40427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∞-范数和 1-范数只需加法与取最大，手算和编程都方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便；2-范数与内积相连，适合理论推导。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范数等价：换一种范数，大小只差常数倍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4111942"/>
            <a:chOff x="533400" y="1524000"/>
            <a:chExt cx="5626418" cy="4111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111942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452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向量范数的等价性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‖·‖ₛ、‖·‖ₜ 为 Rⁿ 上任意两种向量范数，则存在常数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c₁, c₂ &gt; 0，使得对一切 x ∈ Rⁿ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8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6517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三种常用范数之间的常数可以直接写出：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9"/>
                <p:cNvSpPr txBox="1">
                  <a:spLocks noGrp="1"/>
                </p:cNvSpPr>
                <p:nvPr/>
              </p:nvSpPr>
              <p:spPr>
                <a:xfrm>
                  <a:off x="781050" y="357568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2.5.8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30"/>
                <p:cNvSpPr txBox="1">
                  <a:spLocks noGrp="1"/>
                </p:cNvSpPr>
                <p:nvPr/>
              </p:nvSpPr>
              <p:spPr>
                <a:xfrm>
                  <a:off x="781050" y="409003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2.5.9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4625816"/>
              <a:ext cx="4296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证明：记 m = ‖x‖∞ = |xₖ|，则 m² ≤ Σ|xᵢ|² ≤ n·m²，开方得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(2.5.8)；同理 m ≤ Σ|xᵢ| ≤ n·m，得 (2.5.9)。</a:t>
              </a:r>
            </a:p>
          </p:txBody>
        </p:sp>
      </p:grpSp>
      <p:grpSp>
        <p:nvGrpSpPr>
          <p:cNvPr id="43" name="c2-graph-1"/>
          <p:cNvGrpSpPr/>
          <p:nvPr/>
        </p:nvGrpSpPr>
        <p:grpSpPr>
          <a:xfrm>
            <a:off x="7319010" y="1553051"/>
            <a:ext cx="3949690" cy="2398872"/>
            <a:chOff x="7319010" y="1553051"/>
            <a:chExt cx="3949690" cy="2398872"/>
          </a:xfrm>
        </p:grpSpPr>
        <p:sp>
          <p:nvSpPr>
            <p:cNvPr id="19" name="Freeform 19"/>
            <p:cNvSpPr/>
            <p:nvPr/>
          </p:nvSpPr>
          <p:spPr>
            <a:xfrm>
              <a:off x="7330440" y="2762250"/>
              <a:ext cx="2535555" cy="9525"/>
            </a:xfrm>
            <a:custGeom>
              <a:avLst/>
              <a:gdLst/>
              <a:ahLst/>
              <a:cxnLst/>
              <a:rect l="l" t="t" r="r" b="b"/>
              <a:pathLst>
                <a:path w="2535555" h="9525">
                  <a:moveTo>
                    <a:pt x="0" y="0"/>
                  </a:moveTo>
                  <a:lnTo>
                    <a:pt x="253555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865995" y="2714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645842" y="1679258"/>
              <a:ext cx="9525" cy="2261235"/>
            </a:xfrm>
            <a:custGeom>
              <a:avLst/>
              <a:gdLst/>
              <a:ahLst/>
              <a:cxnLst/>
              <a:rect l="l" t="t" r="r" b="b"/>
              <a:pathLst>
                <a:path w="9525" h="2261235">
                  <a:moveTo>
                    <a:pt x="0" y="226123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598218" y="15840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731442" y="1847850"/>
              <a:ext cx="1829752" cy="1828800"/>
            </a:xfrm>
            <a:custGeom>
              <a:avLst/>
              <a:gdLst/>
              <a:ahLst/>
              <a:cxnLst/>
              <a:rect l="l" t="t" r="r" b="b"/>
              <a:pathLst>
                <a:path w="1829752" h="1828800">
                  <a:moveTo>
                    <a:pt x="1829752" y="903922"/>
                  </a:moveTo>
                  <a:lnTo>
                    <a:pt x="1829752" y="0"/>
                  </a:lnTo>
                  <a:lnTo>
                    <a:pt x="0" y="0"/>
                  </a:lnTo>
                  <a:lnTo>
                    <a:pt x="0" y="1828800"/>
                  </a:lnTo>
                  <a:lnTo>
                    <a:pt x="1829752" y="1828800"/>
                  </a:lnTo>
                  <a:lnTo>
                    <a:pt x="1829752" y="924878"/>
                  </a:lnTo>
                </a:path>
              </a:pathLst>
            </a:custGeom>
            <a:noFill/>
            <a:ln w="24765">
              <a:solidFill>
                <a:srgbClr val="1F5FA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31442" y="184785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1828800" y="903922"/>
                  </a:moveTo>
                  <a:lnTo>
                    <a:pt x="1825942" y="834390"/>
                  </a:lnTo>
                  <a:lnTo>
                    <a:pt x="1815465" y="755333"/>
                  </a:lnTo>
                  <a:lnTo>
                    <a:pt x="1798320" y="677228"/>
                  </a:lnTo>
                  <a:lnTo>
                    <a:pt x="1773555" y="601980"/>
                  </a:lnTo>
                  <a:lnTo>
                    <a:pt x="1744027" y="527685"/>
                  </a:lnTo>
                  <a:lnTo>
                    <a:pt x="1706880" y="457200"/>
                  </a:lnTo>
                  <a:lnTo>
                    <a:pt x="1664017" y="389573"/>
                  </a:lnTo>
                  <a:lnTo>
                    <a:pt x="1615440" y="326708"/>
                  </a:lnTo>
                  <a:lnTo>
                    <a:pt x="1561147" y="267652"/>
                  </a:lnTo>
                  <a:lnTo>
                    <a:pt x="1503045" y="214312"/>
                  </a:lnTo>
                  <a:lnTo>
                    <a:pt x="1439227" y="164783"/>
                  </a:lnTo>
                  <a:lnTo>
                    <a:pt x="1371600" y="122873"/>
                  </a:lnTo>
                  <a:lnTo>
                    <a:pt x="1301115" y="85725"/>
                  </a:lnTo>
                  <a:lnTo>
                    <a:pt x="1227772" y="55245"/>
                  </a:lnTo>
                  <a:lnTo>
                    <a:pt x="1151572" y="31433"/>
                  </a:lnTo>
                  <a:lnTo>
                    <a:pt x="1073467" y="14288"/>
                  </a:lnTo>
                  <a:lnTo>
                    <a:pt x="994410" y="3810"/>
                  </a:lnTo>
                  <a:lnTo>
                    <a:pt x="914400" y="0"/>
                  </a:lnTo>
                  <a:lnTo>
                    <a:pt x="835342" y="3810"/>
                  </a:lnTo>
                  <a:lnTo>
                    <a:pt x="756285" y="14288"/>
                  </a:lnTo>
                  <a:lnTo>
                    <a:pt x="678180" y="31433"/>
                  </a:lnTo>
                  <a:lnTo>
                    <a:pt x="601980" y="55245"/>
                  </a:lnTo>
                  <a:lnTo>
                    <a:pt x="528638" y="85725"/>
                  </a:lnTo>
                  <a:lnTo>
                    <a:pt x="458152" y="122873"/>
                  </a:lnTo>
                  <a:lnTo>
                    <a:pt x="390525" y="164783"/>
                  </a:lnTo>
                  <a:lnTo>
                    <a:pt x="326707" y="214312"/>
                  </a:lnTo>
                  <a:lnTo>
                    <a:pt x="268605" y="267652"/>
                  </a:lnTo>
                  <a:lnTo>
                    <a:pt x="214312" y="326708"/>
                  </a:lnTo>
                  <a:lnTo>
                    <a:pt x="165735" y="389573"/>
                  </a:lnTo>
                  <a:lnTo>
                    <a:pt x="122872" y="457200"/>
                  </a:lnTo>
                  <a:lnTo>
                    <a:pt x="85725" y="527685"/>
                  </a:lnTo>
                  <a:lnTo>
                    <a:pt x="55245" y="601980"/>
                  </a:lnTo>
                  <a:lnTo>
                    <a:pt x="31432" y="677228"/>
                  </a:lnTo>
                  <a:lnTo>
                    <a:pt x="14288" y="755333"/>
                  </a:lnTo>
                  <a:lnTo>
                    <a:pt x="3810" y="834390"/>
                  </a:lnTo>
                  <a:lnTo>
                    <a:pt x="0" y="914400"/>
                  </a:lnTo>
                  <a:lnTo>
                    <a:pt x="3810" y="994410"/>
                  </a:lnTo>
                  <a:lnTo>
                    <a:pt x="14288" y="1073468"/>
                  </a:lnTo>
                  <a:lnTo>
                    <a:pt x="31432" y="1151572"/>
                  </a:lnTo>
                  <a:lnTo>
                    <a:pt x="55245" y="1226820"/>
                  </a:lnTo>
                  <a:lnTo>
                    <a:pt x="85725" y="1301115"/>
                  </a:lnTo>
                  <a:lnTo>
                    <a:pt x="122872" y="1371600"/>
                  </a:lnTo>
                  <a:lnTo>
                    <a:pt x="165735" y="1439228"/>
                  </a:lnTo>
                  <a:lnTo>
                    <a:pt x="214312" y="1502092"/>
                  </a:lnTo>
                  <a:lnTo>
                    <a:pt x="268605" y="1561147"/>
                  </a:lnTo>
                  <a:lnTo>
                    <a:pt x="326707" y="1614488"/>
                  </a:lnTo>
                  <a:lnTo>
                    <a:pt x="390525" y="1663065"/>
                  </a:lnTo>
                  <a:lnTo>
                    <a:pt x="458152" y="1705928"/>
                  </a:lnTo>
                  <a:lnTo>
                    <a:pt x="528638" y="1743075"/>
                  </a:lnTo>
                  <a:lnTo>
                    <a:pt x="601980" y="1773555"/>
                  </a:lnTo>
                  <a:lnTo>
                    <a:pt x="678180" y="1797368"/>
                  </a:lnTo>
                  <a:lnTo>
                    <a:pt x="756285" y="1814512"/>
                  </a:lnTo>
                  <a:lnTo>
                    <a:pt x="835342" y="1824990"/>
                  </a:lnTo>
                  <a:lnTo>
                    <a:pt x="914400" y="1828800"/>
                  </a:lnTo>
                  <a:lnTo>
                    <a:pt x="994410" y="1824990"/>
                  </a:lnTo>
                  <a:lnTo>
                    <a:pt x="1073467" y="1814512"/>
                  </a:lnTo>
                  <a:lnTo>
                    <a:pt x="1151572" y="1797368"/>
                  </a:lnTo>
                  <a:lnTo>
                    <a:pt x="1227772" y="1773555"/>
                  </a:lnTo>
                  <a:lnTo>
                    <a:pt x="1301115" y="1743075"/>
                  </a:lnTo>
                  <a:lnTo>
                    <a:pt x="1371600" y="1705928"/>
                  </a:lnTo>
                  <a:lnTo>
                    <a:pt x="1439227" y="1663065"/>
                  </a:lnTo>
                  <a:lnTo>
                    <a:pt x="1503045" y="1614488"/>
                  </a:lnTo>
                  <a:lnTo>
                    <a:pt x="1561147" y="1561147"/>
                  </a:lnTo>
                  <a:lnTo>
                    <a:pt x="1615440" y="1502092"/>
                  </a:lnTo>
                  <a:lnTo>
                    <a:pt x="1664017" y="1439228"/>
                  </a:lnTo>
                  <a:lnTo>
                    <a:pt x="1706880" y="1371600"/>
                  </a:lnTo>
                  <a:lnTo>
                    <a:pt x="1744027" y="1301115"/>
                  </a:lnTo>
                  <a:lnTo>
                    <a:pt x="1773555" y="1226820"/>
                  </a:lnTo>
                  <a:lnTo>
                    <a:pt x="1798320" y="1151572"/>
                  </a:lnTo>
                  <a:lnTo>
                    <a:pt x="1815465" y="1073468"/>
                  </a:lnTo>
                  <a:lnTo>
                    <a:pt x="1825942" y="994410"/>
                  </a:lnTo>
                  <a:lnTo>
                    <a:pt x="1828800" y="924878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31442" y="1847850"/>
              <a:ext cx="1822132" cy="1828800"/>
            </a:xfrm>
            <a:custGeom>
              <a:avLst/>
              <a:gdLst/>
              <a:ahLst/>
              <a:cxnLst/>
              <a:rect l="l" t="t" r="r" b="b"/>
              <a:pathLst>
                <a:path w="1822132" h="1828800">
                  <a:moveTo>
                    <a:pt x="1822132" y="906780"/>
                  </a:moveTo>
                  <a:lnTo>
                    <a:pt x="914400" y="0"/>
                  </a:lnTo>
                  <a:lnTo>
                    <a:pt x="0" y="914400"/>
                  </a:lnTo>
                  <a:lnTo>
                    <a:pt x="914400" y="1828800"/>
                  </a:lnTo>
                  <a:lnTo>
                    <a:pt x="1822132" y="92202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319010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970770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644890" y="39500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644890" y="15725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560242" y="27612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28251" y="275844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31948" y="1643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83082" y="275986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9567" y="15530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4985" y="1939290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‖x‖∞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94985" y="2385060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‖x‖₂ =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94985" y="2830830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‖x‖₁ = 1</a:t>
              </a:r>
            </a:p>
          </p:txBody>
        </p:sp>
      </p:grpSp>
      <p:grpSp>
        <p:nvGrpSpPr>
          <p:cNvPr id="45" name="c2-text-2"/>
          <p:cNvGrpSpPr/>
          <p:nvPr/>
        </p:nvGrpSpPr>
        <p:grpSpPr>
          <a:xfrm>
            <a:off x="6458141" y="4212431"/>
            <a:ext cx="4922266" cy="500824"/>
            <a:chOff x="6458141" y="4212431"/>
            <a:chExt cx="4922266" cy="500824"/>
          </a:xfrm>
        </p:grpSpPr>
        <p:sp>
          <p:nvSpPr>
            <p:cNvPr id="44" name="TextBox 44"/>
            <p:cNvSpPr txBox="1"/>
            <p:nvPr/>
          </p:nvSpPr>
          <p:spPr>
            <a:xfrm>
              <a:off x="6458141" y="4212431"/>
              <a:ext cx="49222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单位球 {x | ‖x‖ = 1} 在 R² 中的形状：菱形在圆内，圆在正方形内，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 ‖x‖∞ ≤ ‖x‖₂ ≤ ‖x‖₁。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464618" y="4852988"/>
            <a:ext cx="5193982" cy="782955"/>
            <a:chOff x="6464618" y="4852988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485298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5144453"/>
              <a:ext cx="200026" cy="200026"/>
              <a:chOff x="6669405" y="5144453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51444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69418" y="5211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58305" y="52444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5001578"/>
              <a:ext cx="3891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检验上页的 x（n = 3）：3 ≤ 3.742 ≤ √3 × 3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5.196，3 ≤ 6 ≤ 9。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9445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等价性的用处：误差在一种范数下趋于 0，在任何范数下都趋于 0，所以判断收敛时可以挑最好算的范数。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4311" cy="909257"/>
            <a:chOff x="520446" y="342900"/>
            <a:chExt cx="8914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4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向量序列收敛：每个分量都收敛，等价于误差的范数趋于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2296478"/>
            <a:chOff x="533400" y="1524000"/>
            <a:chExt cx="5735002" cy="22964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296478"/>
            </a:xfrm>
            <a:prstGeom prst="roundRect">
              <a:avLst>
                <a:gd name="adj" fmla="val 58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977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559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6298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向量序列的收敛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475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{x⁽ᵏ⁾} 是 Rⁿ 上的向量序列，x⁽ᵏ⁾ = (x₁⁽ᵏ⁾, …, xₙ⁽ᵏ⁾)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ᵀ，x* = (x₁*, …, xₙ*)ᵀ ∈ Rⁿ。如果对 i = 1, 2, …, n 都有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5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5300662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399949"/>
              <a:ext cx="33215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则称向量序列 {x⁽ᵏ⁾} 收敛于向量 x*。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00500"/>
            <a:ext cx="5735002" cy="2278380"/>
            <a:chOff x="533400" y="4000500"/>
            <a:chExt cx="5735002" cy="2278380"/>
          </a:xfrm>
        </p:grpSpPr>
        <p:sp>
          <p:nvSpPr>
            <p:cNvPr id="16" name="Rectangle 16"/>
            <p:cNvSpPr/>
            <p:nvPr/>
          </p:nvSpPr>
          <p:spPr>
            <a:xfrm>
              <a:off x="533400" y="4000500"/>
              <a:ext cx="5735002" cy="227838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33850"/>
              <a:ext cx="47625" cy="20116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41986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059" y="42329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充要条件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4559141"/>
              <a:ext cx="2748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{x⁽ᵏ⁾} 收敛于 x* 的充要条件是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36"/>
                <p:cNvSpPr txBox="1">
                  <a:spLocks noGrp="1"/>
                </p:cNvSpPr>
                <p:nvPr/>
              </p:nvSpPr>
              <p:spPr>
                <a:xfrm>
                  <a:off x="769620" y="4853940"/>
                  <a:ext cx="5300662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*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62381" y="5586889"/>
              <a:ext cx="49467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(2.5.8)、(2.5.9)，它又等价于 ‖x⁽ᵏ⁾ − x*‖₂ → 0 或 ‖x⁽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ᵏ⁾ − x*‖₁ → 0。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573202" y="1533525"/>
            <a:ext cx="4776216" cy="2002536"/>
            <a:chOff x="6573202" y="1533525"/>
            <a:chExt cx="4776216" cy="2002536"/>
          </a:xfrm>
        </p:grpSpPr>
        <p:sp>
          <p:nvSpPr>
            <p:cNvPr id="24" name="Rectangle 24"/>
            <p:cNvSpPr/>
            <p:nvPr/>
          </p:nvSpPr>
          <p:spPr>
            <a:xfrm>
              <a:off x="6706552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57320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6682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73202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6826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73202" y="29879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6826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85064" y="1566386"/>
              <a:ext cx="2146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∞-范数就是最大分量误差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6206" y="1846898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‖x⁽ᵏ⁾ − x*‖∞ = maxᵢ |xᵢ⁽ᵏ⁾ − xᵢ*|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5064" y="2183606"/>
              <a:ext cx="2327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分量收敛 ⇔ 最大误差趋于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6206" y="2464118"/>
              <a:ext cx="4363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个分量误差都趋于 0，最大值也趋于 0；反之每个分量误差都不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超过最大值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5064" y="302085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换成其他范数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86206" y="3301365"/>
              <a:ext cx="4131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(2.5.8)、(2.5.9) 夹逼，2-范数、1-范数的结论相同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573202" y="3707130"/>
            <a:ext cx="5085398" cy="1615440"/>
            <a:chOff x="6573202" y="3707130"/>
            <a:chExt cx="5085398" cy="1615440"/>
          </a:xfrm>
        </p:grpSpPr>
        <p:sp>
          <p:nvSpPr>
            <p:cNvPr id="38" name="Rectangle 38"/>
            <p:cNvSpPr/>
            <p:nvPr/>
          </p:nvSpPr>
          <p:spPr>
            <a:xfrm>
              <a:off x="6573202" y="3707130"/>
              <a:ext cx="5085398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82728" y="384048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09422" y="390525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84861" y="39395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小例（补充）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02184" y="4266724"/>
              <a:ext cx="38281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= (1 + 1/k, 2 − 1/k²)ᵀ，x* = (1, 2)ᵀ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817042" y="46443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73634" y="4583906"/>
              <a:ext cx="2814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分量：1 + 1/k → 1，2 − 1/k² → 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17042" y="496157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73634" y="4902041"/>
              <a:ext cx="42964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范数：‖x⁽ᵏ⁾ − x*‖∞ = max{1/k, 1/k²} = 1/k → 0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573202" y="5502592"/>
            <a:ext cx="5085398" cy="503872"/>
            <a:chOff x="6573202" y="5502592"/>
            <a:chExt cx="5085398" cy="503872"/>
          </a:xfrm>
        </p:grpSpPr>
        <p:sp>
          <p:nvSpPr>
            <p:cNvPr id="48" name="Rectangle 48"/>
            <p:cNvSpPr/>
            <p:nvPr/>
          </p:nvSpPr>
          <p:spPr>
            <a:xfrm>
              <a:off x="6573202" y="5502592"/>
              <a:ext cx="5085398" cy="503872"/>
            </a:xfrm>
            <a:prstGeom prst="roundRect">
              <a:avLst>
                <a:gd name="adj" fmla="val 2268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77990" y="5654995"/>
              <a:ext cx="200023" cy="200023"/>
              <a:chOff x="6777990" y="5654995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777990" y="56549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11340" y="57216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080314" y="5655469"/>
              <a:ext cx="4430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迭代法“收敛”就是迭代向量序列在这个意义下收敛。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矩阵范数：三条公理之外，还希望与乘法相容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09636" cy="308039"/>
            <a:chOff x="525399" y="1550194"/>
            <a:chExt cx="780963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096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实数用绝对值、向量用向量范数度量大小；Rⁿˣⁿ 中的矩阵也需要类似的度量工具。</a:t>
              </a:r>
            </a:p>
          </p:txBody>
        </p:sp>
      </p:grpSp>
      <p:grpSp>
        <p:nvGrpSpPr>
          <p:cNvPr id="27" name="c1-card-1"/>
          <p:cNvGrpSpPr/>
          <p:nvPr/>
        </p:nvGrpSpPr>
        <p:grpSpPr>
          <a:xfrm>
            <a:off x="533400" y="1967865"/>
            <a:ext cx="5410200" cy="4170045"/>
            <a:chOff x="533400" y="1967865"/>
            <a:chExt cx="5410200" cy="41700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170045"/>
            </a:xfrm>
            <a:prstGeom prst="roundRect">
              <a:avLst>
                <a:gd name="adj" fmla="val 31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90334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2635" y="221313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2.3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72590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∈ Rⁿˣⁿ，N(A) = ‖A‖ 为 A 的实值函数。若满足下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列三条，则称 ‖·‖ 为 Rⁿˣⁿ 上的一个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（矩阵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模），‖A‖ 的值称为 A 的范数。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4671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5093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4804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非负性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42"/>
                <p:cNvSpPr txBox="1">
                  <a:spLocks noGrp="1"/>
                </p:cNvSpPr>
                <p:nvPr/>
              </p:nvSpPr>
              <p:spPr>
                <a:xfrm>
                  <a:off x="781050" y="379095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⇔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81050" y="43167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43590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4330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齐次性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43"/>
                <p:cNvSpPr txBox="1">
                  <a:spLocks noGrp="1"/>
                </p:cNvSpPr>
                <p:nvPr/>
              </p:nvSpPr>
              <p:spPr>
                <a:xfrm>
                  <a:off x="781050" y="464058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81050" y="516636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52086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51796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三角不等式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44"/>
                <p:cNvSpPr txBox="1">
                  <a:spLocks noGrp="1"/>
                </p:cNvSpPr>
                <p:nvPr/>
              </p:nvSpPr>
              <p:spPr>
                <a:xfrm>
                  <a:off x="781050" y="549021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1"/>
          <p:cNvGrpSpPr/>
          <p:nvPr/>
        </p:nvGrpSpPr>
        <p:grpSpPr>
          <a:xfrm>
            <a:off x="6248400" y="1967865"/>
            <a:ext cx="5410200" cy="2552700"/>
            <a:chOff x="6248400" y="1967865"/>
            <a:chExt cx="5410200" cy="25527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967865"/>
              <a:ext cx="5410200" cy="2552700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101215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8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相容范数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5546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若矩阵范数还满足下面两条，就称为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相容范数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45"/>
                <p:cNvSpPr txBox="1">
                  <a:spLocks noGrp="1"/>
                </p:cNvSpPr>
                <p:nvPr/>
              </p:nvSpPr>
              <p:spPr>
                <a:xfrm>
                  <a:off x="6496050" y="2865120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2.5.13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46"/>
                <p:cNvSpPr txBox="1">
                  <a:spLocks noGrp="1"/>
                </p:cNvSpPr>
                <p:nvPr/>
              </p:nvSpPr>
              <p:spPr>
                <a:xfrm>
                  <a:off x="6496050" y="3360420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2.5.14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489573" y="3876199"/>
              <a:ext cx="4629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(2.5.13) 管矩阵乘矩阵；(2.5.14) 把矩阵范数和某个向量范数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联系起来：A 作用到 x 上，x 的“长度”最多放大 ‖A‖ 倍。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248400" y="4710112"/>
            <a:ext cx="5410200" cy="782955"/>
            <a:chOff x="6248400" y="4710112"/>
            <a:chExt cx="5410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6248400" y="471011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001578"/>
              <a:ext cx="200026" cy="200025"/>
              <a:chOff x="6453188" y="500157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50015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92926" y="50460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27642" y="51571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130" y="4858702"/>
              <a:ext cx="4387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2.7 节分析迭代误差时，误差 e 每乘一次迭代矩阵 H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就有 ‖He‖ ≤ ‖H‖·‖e‖，用的正是 (2.5.14)。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算子范数：由向量范数诱导出的矩阵范数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085398" cy="2307908"/>
            <a:chOff x="533400" y="1524000"/>
            <a:chExt cx="5085398" cy="2307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307908"/>
            </a:xfrm>
            <a:prstGeom prst="roundRect">
              <a:avLst>
                <a:gd name="adj" fmla="val 5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412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926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算子范数（2.5.15）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最常用的矩阵范数是利用向量范数来定义的：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628198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091815"/>
              <a:ext cx="3966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称为矩阵 A 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，其中 p = 1, 2, ∞。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423761"/>
              <a:ext cx="34589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几何意义：A 把单位向量“拉长”的最大倍数。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5780" y="4047172"/>
            <a:ext cx="5093018" cy="1015366"/>
            <a:chOff x="525780" y="4047172"/>
            <a:chExt cx="5093018" cy="1015366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0471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第二个等号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5935" y="4047172"/>
              <a:ext cx="34537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≠ 0 时令 y = x/‖x‖ₚ，则 ‖y‖ₚ = 1，且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由齐次性 ‖Ax‖ₚ/‖x‖ₚ = ‖Ay‖ₚ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64915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76916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单位矩阵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5935" y="4769168"/>
              <a:ext cx="24408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‖I‖ₚ = max ‖x‖ₚ/‖x‖ₚ = 1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923598" y="1524000"/>
            <a:ext cx="5735002" cy="3576638"/>
            <a:chOff x="5923598" y="1524000"/>
            <a:chExt cx="5735002" cy="3576638"/>
          </a:xfrm>
        </p:grpSpPr>
        <p:sp>
          <p:nvSpPr>
            <p:cNvPr id="23" name="Rectangle 23"/>
            <p:cNvSpPr/>
            <p:nvPr/>
          </p:nvSpPr>
          <p:spPr>
            <a:xfrm>
              <a:off x="5923598" y="1524000"/>
              <a:ext cx="5735002" cy="3576638"/>
            </a:xfrm>
            <a:prstGeom prst="roundRect">
              <a:avLst>
                <a:gd name="adj" fmla="val 3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33122" y="1657350"/>
              <a:ext cx="47625" cy="33099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71248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52833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2.3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3740" y="1768792"/>
              <a:ext cx="3700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(2.5.15) 定义的矩阵范数是相容范数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04598" y="225742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171248" y="21145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64871" y="2188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171248" y="27651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64871" y="2838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171248" y="36509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64871" y="3724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2728" y="21488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是矩阵范数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3870" y="2442686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容易验证 (2.5.15) 定义的函数满足定义 2.3 的三个条件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2728" y="2799398"/>
              <a:ext cx="1213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 (2.5.14)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83870" y="3093244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 时显然成立；x ≠ 0 时 ‖Ax‖ₚ/‖x‖ₚ ≤ max(y≠0) ‖Ay‖ₚ/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‖y‖ₚ = ‖A‖ₚ，两边乘 ‖x‖ₚ 即得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82728" y="3685222"/>
              <a:ext cx="1213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 (2.5.13)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3870" y="3978116"/>
              <a:ext cx="3451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A、B，Bx ∈ Rⁿ，由 (2.5.14) 有下式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50"/>
                <p:cNvSpPr txBox="1">
                  <a:spLocks noGrp="1"/>
                </p:cNvSpPr>
                <p:nvPr/>
              </p:nvSpPr>
              <p:spPr>
                <a:xfrm>
                  <a:off x="6171248" y="4311015"/>
                  <a:ext cx="527780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728335"/>
              <a:ext cx="9845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补充：Frobenius 范数（F-范数）取全部元素平方和再开方，即 √(Σᵢⱼ aᵢⱼ²)。它也是相容范数，但单位矩阵的 F-范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数为 √n ≠ 1（n ≥ 2），所以它不是任何向量范数诱导的算子范数。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三种算子范数的计算公式：行和、列和、谱范数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410200" cy="4736782"/>
            <a:chOff x="533400" y="1524000"/>
            <a:chExt cx="5410200" cy="47367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736782"/>
            </a:xfrm>
            <a:prstGeom prst="roundRect">
              <a:avLst>
                <a:gd name="adj" fmla="val 28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700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929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(2.5.15) 定义的矩阵范数满足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行和范数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：每行元素绝对值求和，取最大（2.5.16）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9"/>
                <p:cNvSpPr txBox="1">
                  <a:spLocks noGrp="1"/>
                </p:cNvSpPr>
                <p:nvPr/>
              </p:nvSpPr>
              <p:spPr>
                <a:xfrm>
                  <a:off x="769620" y="2394585"/>
                  <a:ext cx="497586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128486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列和范数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：每列元素绝对值求和，取最大（2.5.17）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60"/>
                <p:cNvSpPr txBox="1">
                  <a:spLocks noGrp="1"/>
                </p:cNvSpPr>
                <p:nvPr/>
              </p:nvSpPr>
              <p:spPr>
                <a:xfrm>
                  <a:off x="769620" y="3422332"/>
                  <a:ext cx="497586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2381" y="4155281"/>
              <a:ext cx="38524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谱范数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：λ₁ 为 AᵀA 的最大特征值（2.5.18）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61"/>
                <p:cNvSpPr txBox="1">
                  <a:spLocks noGrp="1"/>
                </p:cNvSpPr>
                <p:nvPr/>
              </p:nvSpPr>
              <p:spPr>
                <a:xfrm>
                  <a:off x="769620" y="4450080"/>
                  <a:ext cx="4975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Ellipse 18"/>
            <p:cNvSpPr/>
            <p:nvPr/>
          </p:nvSpPr>
          <p:spPr>
            <a:xfrm>
              <a:off x="777240" y="502253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963001"/>
              <a:ext cx="37918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对称半正定，特征值都 ≥ 0，开方有意义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5340667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528018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对称时 AᵀA = A²，‖A‖₂ 就等于 A 的特征值绝对值的最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大者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3537585"/>
            <a:chOff x="6248400" y="1524000"/>
            <a:chExt cx="5410200" cy="353758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537585"/>
            </a:xfrm>
            <a:prstGeom prst="roundRect">
              <a:avLst>
                <a:gd name="adj" fmla="val 3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32708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84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4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62"/>
                <p:cNvSpPr txBox="1">
                  <a:spLocks noGrp="1"/>
                </p:cNvSpPr>
                <p:nvPr/>
              </p:nvSpPr>
              <p:spPr>
                <a:xfrm>
                  <a:off x="6484620" y="2059305"/>
                  <a:ext cx="4975860" cy="7200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14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14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Rectangle 28"/>
            <p:cNvSpPr/>
            <p:nvPr/>
          </p:nvSpPr>
          <p:spPr>
            <a:xfrm>
              <a:off x="6484620" y="2868930"/>
              <a:ext cx="497586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4655" y="29975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0602" y="29975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70858" y="29975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29054" y="342138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2459" y="342138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 max{1 + 2, 3 + 4}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87977" y="34213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84620" y="3712845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84620" y="3717608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9054" y="384619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2459" y="3846195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 max{1 + 3, 2 + 4}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87977" y="38461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84620" y="4137660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29054" y="427101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2459" y="42710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λ² − 30λ + 4 = 0，λ₁ = 15 + √221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41622" y="427101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5.465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84620" y="2868930"/>
              <a:ext cx="497586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75208" y="28689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11752" y="28689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78524" y="4675822"/>
              <a:ext cx="4553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AᵀA 的特征方程：(10 − λ)(20 − λ) − 196 = λ² − 30λ + 4 = 0。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5241608"/>
            <a:ext cx="5410200" cy="1018222"/>
            <a:chOff x="6248400" y="5241608"/>
            <a:chExt cx="5410200" cy="1018222"/>
          </a:xfrm>
        </p:grpSpPr>
        <p:sp>
          <p:nvSpPr>
            <p:cNvPr id="49" name="Rectangle 49"/>
            <p:cNvSpPr/>
            <p:nvPr/>
          </p:nvSpPr>
          <p:spPr>
            <a:xfrm>
              <a:off x="6248400" y="524160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5651183"/>
              <a:ext cx="200026" cy="200025"/>
              <a:chOff x="6453188" y="565118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56511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92926" y="56956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27642" y="58067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511" y="5388769"/>
              <a:ext cx="443280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记法：‖A‖∞ 与向量的 ∞-范数配套，按行求和；‖A‖₁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 1-范数配套，按列求和。2-范数要算特征值，手算最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费事。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87744" cy="909257"/>
            <a:chOff x="520446" y="342900"/>
            <a:chExt cx="89877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877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‖A‖∞ 等于最大行和：先证上界，再构造向量取到上界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3547110"/>
            <a:chOff x="533400" y="1524000"/>
            <a:chExt cx="5410200" cy="3547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547110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8041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最大行和是上界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168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对任意满足 ‖x‖∞ = 1 的 x ∈ Rⁿ，有 |xⱼ| ≤ ‖x‖∞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1，故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6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Ax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Ax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67"/>
                <p:cNvSpPr txBox="1">
                  <a:spLocks noGrp="1"/>
                </p:cNvSpPr>
                <p:nvPr/>
              </p:nvSpPr>
              <p:spPr>
                <a:xfrm>
                  <a:off x="781050" y="3411855"/>
                  <a:ext cx="4953000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4573" y="4119086"/>
              <a:ext cx="3688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于是 ‖A‖∞ = max(‖x‖∞=1) ‖Ax‖∞ ≤ 最大行和。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524000"/>
            <a:ext cx="5410200" cy="2573655"/>
            <a:chOff x="6248400" y="1524000"/>
            <a:chExt cx="5410200" cy="257365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573655"/>
            </a:xfrm>
            <a:prstGeom prst="roundRect">
              <a:avLst>
                <a:gd name="adj" fmla="val 5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1657350"/>
              <a:ext cx="47625" cy="23069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9000" y="1768792"/>
              <a:ext cx="16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x 使上界取到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430" y="2129790"/>
              <a:ext cx="4377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设第 k 行元素绝对值之和最大：Σⱼ|aₖⱼ| = maxᵢ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Σⱼ|aᵢⱼ|。令 xⱼ = sgn(aₖⱼ)，则（A ≠ 0 时）‖x‖∞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68"/>
                <p:cNvSpPr txBox="1">
                  <a:spLocks noGrp="1"/>
                </p:cNvSpPr>
                <p:nvPr/>
              </p:nvSpPr>
              <p:spPr>
                <a:xfrm>
                  <a:off x="6496050" y="3011805"/>
                  <a:ext cx="495300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Ax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kj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sgn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kj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kj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89573" y="3689509"/>
              <a:ext cx="3830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‖Ax‖∞ ≥ (Ax)ₖ 达到上界，(2.5.16) 成立。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248400" y="4288155"/>
            <a:ext cx="5410200" cy="782955"/>
            <a:chOff x="6248400" y="4288155"/>
            <a:chExt cx="5410200" cy="782955"/>
          </a:xfrm>
        </p:grpSpPr>
        <p:sp>
          <p:nvSpPr>
            <p:cNvPr id="26" name="Rectangle 26"/>
            <p:cNvSpPr/>
            <p:nvPr/>
          </p:nvSpPr>
          <p:spPr>
            <a:xfrm>
              <a:off x="6248400" y="428815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53188" y="4579620"/>
              <a:ext cx="200026" cy="200026"/>
              <a:chOff x="6453188" y="4579620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53188" y="45796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19863" y="46574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55130" y="443674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验证上页 A：第 2 行 (−3, 4) 行和最大，取 x = (−1,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1)ᵀ，Ax = (−3, 7)ᵀ，‖Ax‖∞ = 7 = ‖A‖∞。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9692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(2.5.17) 证法相同：‖Ax‖₁ ≤ Σⱼ（|xⱼ| × 第 j 列绝对值和）≤ 最大列和 × ‖x‖₁；取 x 为最大列和所在列对应的单位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向量 eₖ，上界取到。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9894" cy="909257"/>
            <a:chOff x="520446" y="342900"/>
            <a:chExt cx="7309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9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‖A‖₂ = √λ₁：用 AᵀA 的正交特征向量展开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790314" cy="3414998"/>
            <a:chOff x="533400" y="1533525"/>
            <a:chExt cx="5790314" cy="34149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837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710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化成二次型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3361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‖Ax‖₂² = (Ax, Ax) = xᵀAᵀAx = (AᵀAx, x)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1461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对称半正定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5003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有完全正交的单位特征向量 v₁, …, vₙ：AᵀAvᵢ = λᵢvᵢ，(vᵢ, vⱼ) =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 = j），0（i ≠ j），λ₁ ≥ … ≥ λₙ ≥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1041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按特征向量展开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97091"/>
              <a:ext cx="5377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Σαᵢvᵢ，于是 ‖x‖₂² = (x, x) = Σ|αᵢ|²，而 (AᵀAx, x) = Σλᵢ|αᵢ|²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48601"/>
              <a:ext cx="4193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λₙΣ|αᵢ|² ≤ Σλᵢ|αᵢ|² ≤ λ₁Σ|αᵢ|²，开方得右边的不等式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4053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上界取到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699159"/>
              <a:ext cx="4280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v₁，‖Av₁‖₂ = √λ₁，所以 ‖A‖₂ = √λ₁，定理证完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5126355"/>
            <a:ext cx="5842635" cy="1059180"/>
            <a:chOff x="533400" y="5126355"/>
            <a:chExt cx="5842635" cy="1059180"/>
          </a:xfrm>
        </p:grpSpPr>
        <p:sp>
          <p:nvSpPr>
            <p:cNvPr id="29" name="Rectangle 29"/>
            <p:cNvSpPr/>
            <p:nvPr/>
          </p:nvSpPr>
          <p:spPr>
            <a:xfrm>
              <a:off x="533400" y="512635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56885"/>
              <a:ext cx="200026" cy="200026"/>
              <a:chOff x="738188" y="555688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568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4863" y="56346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275898"/>
              <a:ext cx="4692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对照上例 A = [1 −2; −3 4]：AᵀA 的特征值 λ₁ = 15 + √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221 ≈ 29.866，λ₂ = 15 − √221 ≈ 0.134，所以对任意 x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≠ 0 有 0.366 ≤ ‖Ax‖₂/‖x‖₂ ≤ 5.465。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680835" y="1524000"/>
            <a:ext cx="4977765" cy="2397442"/>
            <a:chOff x="6680835" y="1524000"/>
            <a:chExt cx="4977765" cy="2397442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2397442"/>
            </a:xfrm>
            <a:prstGeom prst="roundRect">
              <a:avLst>
                <a:gd name="adj" fmla="val 55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1657350"/>
              <a:ext cx="47625" cy="21307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关键两式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71"/>
                <p:cNvSpPr txBox="1">
                  <a:spLocks noGrp="1"/>
                </p:cNvSpPr>
                <p:nvPr/>
              </p:nvSpPr>
              <p:spPr>
                <a:xfrm>
                  <a:off x="6928485" y="2085975"/>
                  <a:ext cx="4520565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72"/>
                <p:cNvSpPr txBox="1">
                  <a:spLocks noGrp="1"/>
                </p:cNvSpPr>
                <p:nvPr/>
              </p:nvSpPr>
              <p:spPr>
                <a:xfrm>
                  <a:off x="6928485" y="2742248"/>
                  <a:ext cx="452056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ad>
                          <m:radPr>
                            <m:deg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ra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922008" y="3278029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上式说明 √λ₁ 是 ‖Ax‖₂/‖x‖₂ 的上界，并且在 x = v₁ 时达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680835" y="4111942"/>
            <a:ext cx="4977765" cy="2074545"/>
            <a:chOff x="6680835" y="4111942"/>
            <a:chExt cx="4977765" cy="2074545"/>
          </a:xfrm>
        </p:grpSpPr>
        <p:sp>
          <p:nvSpPr>
            <p:cNvPr id="43" name="Rectangle 43"/>
            <p:cNvSpPr/>
            <p:nvPr/>
          </p:nvSpPr>
          <p:spPr>
            <a:xfrm>
              <a:off x="6680835" y="4111942"/>
              <a:ext cx="4977765" cy="2074545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4245292"/>
              <a:ext cx="47625" cy="18078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8485" y="432149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7992" y="43572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副产品（补充）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34200" y="476154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2315" y="4698682"/>
              <a:ext cx="2673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√λₙ 是 ‖Ax‖₂/‖x‖₂ 的最小值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34200" y="509682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92315" y="5033962"/>
              <a:ext cx="3389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可逆时 λₙ &gt; 0，且 ‖A⁻¹‖₂ = 1/√λₙ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22008" y="5364956"/>
              <a:ext cx="3919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2.6 节的条件数 Cond₂(A) = √(λ₁/λₙ) 由此而来。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谱半径：特征值的最大模，任何相容范数都不小于它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890712"/>
            <a:chOff x="533400" y="1524000"/>
            <a:chExt cx="5410200" cy="18907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90712"/>
            </a:xfrm>
            <a:prstGeom prst="roundRect">
              <a:avLst>
                <a:gd name="adj" fmla="val 7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40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049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 ρ(A)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3908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 A 的特征值按模最大的值称为 A 的谱半径：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5"/>
                <p:cNvSpPr txBox="1">
                  <a:spLocks noGrp="1"/>
                </p:cNvSpPr>
                <p:nvPr/>
              </p:nvSpPr>
              <p:spPr>
                <a:xfrm>
                  <a:off x="758190" y="2349818"/>
                  <a:ext cx="499872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016568"/>
              <a:ext cx="32695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λᵢ 是 A 的特征值，复特征值取模。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584258"/>
            <a:ext cx="5410200" cy="1890712"/>
            <a:chOff x="533400" y="3584258"/>
            <a:chExt cx="5410200" cy="1890712"/>
          </a:xfrm>
        </p:grpSpPr>
        <p:sp>
          <p:nvSpPr>
            <p:cNvPr id="16" name="Rectangle 16"/>
            <p:cNvSpPr/>
            <p:nvPr/>
          </p:nvSpPr>
          <p:spPr>
            <a:xfrm>
              <a:off x="533400" y="3584258"/>
              <a:ext cx="5410200" cy="1890712"/>
            </a:xfrm>
            <a:prstGeom prst="roundRect">
              <a:avLst>
                <a:gd name="adj" fmla="val 7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17608"/>
              <a:ext cx="47625" cy="16240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7709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862" y="38038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3784" y="38061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谱半径不超过范数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86"/>
                <p:cNvSpPr txBox="1">
                  <a:spLocks noGrp="1"/>
                </p:cNvSpPr>
                <p:nvPr/>
              </p:nvSpPr>
              <p:spPr>
                <a:xfrm>
                  <a:off x="758190" y="4110038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51332" y="455866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证明：设 Ax = λx，x ≠ 0。由 (2.5.14)，|λ|·‖x‖ = ‖Ax‖ ≤ 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A‖·‖x‖，约去 ‖x‖ 得 |λ| ≤ ‖A‖。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475" y="511254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证明只用到相容性，所以对任何相容矩阵范数都成立。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120265"/>
            <a:chOff x="6248400" y="1524000"/>
            <a:chExt cx="5410200" cy="212026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120265"/>
            </a:xfrm>
            <a:prstGeom prst="roundRect">
              <a:avLst>
                <a:gd name="adj" fmla="val 6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18535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3190" y="1710690"/>
              <a:ext cx="113919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5082" y="1743551"/>
              <a:ext cx="995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谱半径与 2-范数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332" y="2054542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由谱半径的定义，(2.5.18) 可写成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87"/>
                <p:cNvSpPr txBox="1">
                  <a:spLocks noGrp="1"/>
                </p:cNvSpPr>
                <p:nvPr/>
              </p:nvSpPr>
              <p:spPr>
                <a:xfrm>
                  <a:off x="6473190" y="2332672"/>
                  <a:ext cx="499872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66332" y="2801302"/>
              <a:ext cx="4609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A 是实对称矩阵时，AᵀA = A²，其特征值是 λᵢ²，所以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88"/>
                <p:cNvSpPr txBox="1">
                  <a:spLocks noGrp="1"/>
                </p:cNvSpPr>
                <p:nvPr/>
              </p:nvSpPr>
              <p:spPr>
                <a:xfrm>
                  <a:off x="6473190" y="3078480"/>
                  <a:ext cx="499872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table-2"/>
          <p:cNvGrpSpPr/>
          <p:nvPr/>
        </p:nvGrpSpPr>
        <p:grpSpPr>
          <a:xfrm>
            <a:off x="6248400" y="3813810"/>
            <a:ext cx="5410200" cy="1200150"/>
            <a:chOff x="6248400" y="3813810"/>
            <a:chExt cx="5410200" cy="1200150"/>
          </a:xfrm>
        </p:grpSpPr>
        <p:sp>
          <p:nvSpPr>
            <p:cNvPr id="34" name="Rectangle 34"/>
            <p:cNvSpPr/>
            <p:nvPr/>
          </p:nvSpPr>
          <p:spPr>
            <a:xfrm>
              <a:off x="6248400" y="381381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83510" y="3935254"/>
              <a:ext cx="157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例：A = [1 −2; −3 4]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20071" y="39352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5555" y="4335304"/>
              <a:ext cx="1389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 (5 ± √33)/2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39365" y="4335304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5.372、−0.372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609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461391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5555" y="4735354"/>
              <a:ext cx="2038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 ≤ ‖A‖₂ ≤ ‖A‖₁ ≤ ‖A‖∞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3204" y="4735354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5.372 ≤ 5.465 ≤ 6 ≤ 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813810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489758" y="381381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8373"/>
              <a:ext cx="9726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易错：谱半径不是范数。例如 A = [0 1; 0 0] ≠ O，但它的特征值都是 0，ρ(A) = 0，不满足非负性中的“= 0 ⇔ A = O”。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向量和矩阵范数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节对照：向量范数、诱导的矩阵范数与谱半径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5848350" cy="2091214"/>
            <a:chOff x="527685" y="1524000"/>
            <a:chExt cx="5848350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053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82954" y="1659731"/>
              <a:ext cx="1154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向量范数 ‖x‖ₚ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26652" y="1659731"/>
              <a:ext cx="1524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诱导矩阵范数 ‖A‖ₚ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381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3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8900" y="2108359"/>
              <a:ext cx="411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Σ|xᵢ|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28138" y="2108359"/>
              <a:ext cx="1808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列和范数 maxⱼ Σᵢ|aᵢⱼ|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64620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只需加法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053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8900" y="2556986"/>
              <a:ext cx="801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√(Σ|xᵢ|²)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28138" y="2556986"/>
              <a:ext cx="1583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谱范数 √λmax(AᵀA)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64620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要求特征值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053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8900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maxᵢ |xᵢ|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28138" y="3005614"/>
              <a:ext cx="1808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行和范数 maxᵢ Σⱼ|aᵢⱼ|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64620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只需加法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9631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155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5203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395186"/>
              <a:ext cx="4180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三种算子范数和 F-范数都是相容范数；算子范数满足 ‖I‖ₚ = 1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761422"/>
            <a:ext cx="5842635" cy="1986915"/>
            <a:chOff x="533400" y="3761422"/>
            <a:chExt cx="5842635" cy="1986915"/>
          </a:xfrm>
        </p:grpSpPr>
        <p:sp>
          <p:nvSpPr>
            <p:cNvPr id="33" name="Rectangle 33"/>
            <p:cNvSpPr/>
            <p:nvPr/>
          </p:nvSpPr>
          <p:spPr>
            <a:xfrm>
              <a:off x="533400" y="3761422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3894772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397097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5655" y="40066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常用估计（补充）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441102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4348162"/>
              <a:ext cx="2678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对任何相容范数：ρ(A) ≤ ‖A‖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474630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4683442"/>
              <a:ext cx="2389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实对称矩阵：‖A‖₂ = ρ(A)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6765" y="508158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4880" y="5018722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‖A‖₂² = ρ(AᵀA) ≤ ‖AᵀA‖∞ ≤ ‖Aᵀ‖∞‖A‖∞ = ‖A‖₁‖A‖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∞，可以不求特征值就估计 2-范数（上例：29.87 ≤ 42）</a:t>
              </a:r>
            </a:p>
          </p:txBody>
        </p:sp>
      </p:grpSp>
      <p:grpSp>
        <p:nvGrpSpPr>
          <p:cNvPr id="73" name="c2-tree-1"/>
          <p:cNvGrpSpPr/>
          <p:nvPr/>
        </p:nvGrpSpPr>
        <p:grpSpPr>
          <a:xfrm>
            <a:off x="6680835" y="1741170"/>
            <a:ext cx="4977765" cy="4404360"/>
            <a:chOff x="6680835" y="1741170"/>
            <a:chExt cx="4977765" cy="4404360"/>
          </a:xfrm>
        </p:grpSpPr>
        <p:sp>
          <p:nvSpPr>
            <p:cNvPr id="44" name="Freeform 44"/>
            <p:cNvSpPr/>
            <p:nvPr/>
          </p:nvSpPr>
          <p:spPr>
            <a:xfrm>
              <a:off x="9859328" y="1926908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806767"/>
                  </a:moveTo>
                  <a:lnTo>
                    <a:pt x="209550" y="8067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859328" y="27336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859328" y="2733675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0"/>
                  </a:moveTo>
                  <a:lnTo>
                    <a:pt x="209550" y="0"/>
                  </a:lnTo>
                  <a:lnTo>
                    <a:pt x="209550" y="806767"/>
                  </a:lnTo>
                  <a:lnTo>
                    <a:pt x="419100" y="8067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859328" y="4346258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403860"/>
                  </a:moveTo>
                  <a:lnTo>
                    <a:pt x="209550" y="4038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859328" y="4750118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0"/>
                  </a:moveTo>
                  <a:lnTo>
                    <a:pt x="209550" y="0"/>
                  </a:lnTo>
                  <a:lnTo>
                    <a:pt x="209550" y="402908"/>
                  </a:lnTo>
                  <a:lnTo>
                    <a:pt x="419100" y="4029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859328" y="595979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061008" y="2733675"/>
              <a:ext cx="419100" cy="1612582"/>
            </a:xfrm>
            <a:custGeom>
              <a:avLst/>
              <a:gdLst/>
              <a:ahLst/>
              <a:cxnLst/>
              <a:rect l="l" t="t" r="r" b="b"/>
              <a:pathLst>
                <a:path w="419100" h="1612582">
                  <a:moveTo>
                    <a:pt x="0" y="1612582"/>
                  </a:moveTo>
                  <a:lnTo>
                    <a:pt x="209550" y="161258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061008" y="4346258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061008" y="4346258"/>
              <a:ext cx="419100" cy="1613535"/>
            </a:xfrm>
            <a:custGeom>
              <a:avLst/>
              <a:gdLst/>
              <a:ahLst/>
              <a:cxnLst/>
              <a:rect l="l" t="t" r="r" b="b"/>
              <a:pathLst>
                <a:path w="419100" h="1613535">
                  <a:moveTo>
                    <a:pt x="0" y="0"/>
                  </a:moveTo>
                  <a:lnTo>
                    <a:pt x="209550" y="0"/>
                  </a:lnTo>
                  <a:lnTo>
                    <a:pt x="209550" y="1613535"/>
                  </a:lnTo>
                  <a:lnTo>
                    <a:pt x="419100" y="16135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78428" y="1741170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78428" y="2546985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278428" y="3353752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480108" y="2546985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78428" y="4160520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78428" y="4966335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480108" y="4563428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78428" y="5773102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480108" y="5773102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80835" y="4160520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367200" y="1837849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1-范数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67200" y="264461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2-范数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67200" y="3451384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∞-范数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68880" y="26446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67200" y="42571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算子范数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67200" y="5063966"/>
              <a:ext cx="557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F-范数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68880" y="46610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矩阵范数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367200" y="5870734"/>
              <a:ext cx="907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 ≤ ‖A‖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68880" y="58707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谱半径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69608" y="42571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度量工具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2.6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矩阵的条件数与病态方程组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系数或右端项的微小变化，可能让解面目全非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3 阶病态方程组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右端项、系数矩阵有扰动时的误差估计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条件数的定义、性质与计算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矩阵的平衡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058" cy="909257"/>
            <a:chOff x="520446" y="342900"/>
            <a:chExt cx="6928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例：A 的元素都不大，A⁻¹ 的元素却成百上千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1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code-2"/>
          <p:cNvGrpSpPr/>
          <p:nvPr/>
        </p:nvGrpSpPr>
        <p:grpSpPr>
          <a:xfrm>
            <a:off x="533400" y="2751772"/>
            <a:ext cx="4977765" cy="2327910"/>
            <a:chOff x="533400" y="2751772"/>
            <a:chExt cx="4977765" cy="2327910"/>
          </a:xfrm>
        </p:grpSpPr>
        <p:sp>
          <p:nvSpPr>
            <p:cNvPr id="8" name="Rectangle 8"/>
            <p:cNvSpPr/>
            <p:nvPr/>
          </p:nvSpPr>
          <p:spPr>
            <a:xfrm>
              <a:off x="533400" y="2751772"/>
              <a:ext cx="497776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797" y="2903696"/>
              <a:ext cx="1606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MATLAB 做列主元 LU 分解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035" y="3166586"/>
              <a:ext cx="235839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&gt;&gt; [L,U] = lu(A)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 =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1.00000   0.00000   0.00000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0.66667   0.83333   1.00000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0.50000   1.00000   0.00000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 =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0.50000   0.33333   0.25000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0.00000   0.03333   0.04167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0.00000   0.00000  -0.00139</a:t>
              </a:r>
            </a:p>
          </p:txBody>
        </p:sp>
      </p:grpSp>
      <p:grpSp>
        <p:nvGrpSpPr>
          <p:cNvPr id="18" name="c1-callout-3"/>
          <p:cNvGrpSpPr/>
          <p:nvPr/>
        </p:nvGrpSpPr>
        <p:grpSpPr>
          <a:xfrm>
            <a:off x="533400" y="5270182"/>
            <a:ext cx="4977765" cy="782955"/>
            <a:chOff x="533400" y="5270182"/>
            <a:chExt cx="4977765" cy="782955"/>
          </a:xfrm>
        </p:grpSpPr>
        <p:sp>
          <p:nvSpPr>
            <p:cNvPr id="12" name="Rectangle 12"/>
            <p:cNvSpPr/>
            <p:nvPr/>
          </p:nvSpPr>
          <p:spPr>
            <a:xfrm>
              <a:off x="533400" y="527018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561648"/>
              <a:ext cx="200026" cy="200026"/>
              <a:chOff x="738188" y="5561648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5616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628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7088" y="56616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418772"/>
              <a:ext cx="3796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的元素 aᵢⱼ = 1/(i + j)，与 Hilbert 矩阵同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类，是典型的病态矩阵；det A = 1/43200。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5815965" y="1533525"/>
            <a:ext cx="5627497" cy="2348198"/>
            <a:chOff x="5815965" y="1533525"/>
            <a:chExt cx="5627497" cy="2348198"/>
          </a:xfrm>
        </p:grpSpPr>
        <p:sp>
          <p:nvSpPr>
            <p:cNvPr id="19" name="Rectangle 19"/>
            <p:cNvSpPr/>
            <p:nvPr/>
          </p:nvSpPr>
          <p:spPr>
            <a:xfrm>
              <a:off x="5949315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7445" y="1567815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看懂 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28588" y="186166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做了列主元，返回的 L 是行交换后的单位下三角阵（第 2、3 行对调后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才是下三角），仍有 A = LU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7445" y="2453640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8588" y="2746534"/>
              <a:ext cx="49872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 1、3、2 行的顺序回代：y₁ = b₁，y₂ = −½b₁ + b₃，y₃ = −¼b₁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 − ⅚b₃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7445" y="3338512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Ux = 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8588" y="3632359"/>
              <a:ext cx="4141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x = A⁻¹b 的显式表达式（系数就是 A⁻¹ 的元素）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92"/>
              <p:cNvSpPr txBox="1">
                <a:spLocks noGrp="1"/>
              </p:cNvSpPr>
              <p:nvPr/>
            </p:nvSpPr>
            <p:spPr>
              <a:xfrm>
                <a:off x="5815965" y="4060508"/>
                <a:ext cx="5842635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72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240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180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240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900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720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180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720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600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llout-3"/>
          <p:cNvGrpSpPr/>
          <p:nvPr/>
        </p:nvGrpSpPr>
        <p:grpSpPr>
          <a:xfrm>
            <a:off x="5815965" y="5288280"/>
            <a:ext cx="5842635" cy="782955"/>
            <a:chOff x="5815965" y="5288280"/>
            <a:chExt cx="5842635" cy="782955"/>
          </a:xfrm>
        </p:grpSpPr>
        <p:sp>
          <p:nvSpPr>
            <p:cNvPr id="34" name="Rectangle 34"/>
            <p:cNvSpPr/>
            <p:nvPr/>
          </p:nvSpPr>
          <p:spPr>
            <a:xfrm>
              <a:off x="5815965" y="528828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008694" y="5576053"/>
              <a:ext cx="224134" cy="192560"/>
              <a:chOff x="6008694" y="5576053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120765" y="56464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08694" y="55760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20765" y="5724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322695" y="5436870"/>
              <a:ext cx="4872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U₃₃ = −1/720 ≈ −0.00139，回代时要除以它；b 的一点误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差会被放大几百上千倍。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4637" cy="909257"/>
            <a:chOff x="520446" y="342900"/>
            <a:chExt cx="52446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46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右端项只改 0.001，解就面目全非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076450"/>
            <a:chOff x="533400" y="1524000"/>
            <a:chExt cx="5842635" cy="2076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扰动右端项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245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改为 b̃ = (b₁ + ε, b₂ − ε, b₃ + ε)ᵀ，代入上页公式：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38543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acc>
                          <m:accPr>
                            <m:chr m:val="˜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492ε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1860ε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1500ε</m:t>
                                </m:r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4573" y="2957036"/>
              <a:ext cx="4580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以第 2 个分量为例：x̃₂ − x₂ = −240·ε + 900·(−ε) − 720·ε = −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1860ε。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27685" y="3790950"/>
            <a:ext cx="5848350" cy="1641634"/>
            <a:chOff x="527685" y="3790950"/>
            <a:chExt cx="5848350" cy="1641634"/>
          </a:xfrm>
        </p:grpSpPr>
        <p:sp>
          <p:nvSpPr>
            <p:cNvPr id="15" name="Rectangle 15"/>
            <p:cNvSpPr/>
            <p:nvPr/>
          </p:nvSpPr>
          <p:spPr>
            <a:xfrm>
              <a:off x="533400" y="379095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2767" y="3925729"/>
              <a:ext cx="2429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x = (1, 1, 1)ᵀ，ε = 0.001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1147" y="392572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2707" y="392572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44267" y="392572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437530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 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3272" y="4375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4832" y="4375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392" y="4375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834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68820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823936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扰动后的解 x̃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03727" y="482393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1.492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93685" y="482393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−0.860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6847" y="482393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9095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16592" y="37909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68152" y="37909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19712" y="37909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685" y="5212556"/>
              <a:ext cx="4308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此时 b = (13/12, 47/60, 37/60)ᵀ，b̃ 的每个分量只变了 0.001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5578792"/>
            <a:ext cx="5842635" cy="782955"/>
            <a:chOff x="533400" y="5578792"/>
            <a:chExt cx="5842635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57879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866566"/>
              <a:ext cx="224134" cy="192560"/>
              <a:chOff x="726129" y="586656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9369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8665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147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72738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病态是方程组本身的性质，与用什么算法求解无关：即使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每一步都精确计算，输入数据的误差照样会被放大。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680835" y="1524000"/>
            <a:ext cx="4977765" cy="1906905"/>
            <a:chOff x="6680835" y="1524000"/>
            <a:chExt cx="4977765" cy="1906905"/>
          </a:xfrm>
        </p:grpSpPr>
        <p:sp>
          <p:nvSpPr>
            <p:cNvPr id="43" name="Rectangle 43"/>
            <p:cNvSpPr/>
            <p:nvPr/>
          </p:nvSpPr>
          <p:spPr>
            <a:xfrm>
              <a:off x="6680835" y="1524000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9512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病态方程组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0865" y="2129790"/>
              <a:ext cx="4254818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如果矩阵 A 或常数项 b 的微小变化，引起方程组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= b 解的巨大变化，则称此方程组为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“病态”方程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，A 称为“病态”矩阵；否则称方程组为“良态”方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程组，A 称为“良态”矩阵。</a:t>
              </a:r>
            </a:p>
          </p:txBody>
        </p:sp>
      </p:grpSp>
      <p:grpSp>
        <p:nvGrpSpPr>
          <p:cNvPr id="52" name="c2-image-2"/>
          <p:cNvGrpSpPr/>
          <p:nvPr/>
        </p:nvGrpSpPr>
        <p:grpSpPr>
          <a:xfrm>
            <a:off x="6826999" y="3621405"/>
            <a:ext cx="4685436" cy="2600802"/>
            <a:chOff x="6826999" y="3621405"/>
            <a:chExt cx="4685436" cy="2600802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45718" y="3621405"/>
              <a:ext cx="30480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51" name="TextBox 51"/>
            <p:cNvSpPr txBox="1"/>
            <p:nvPr/>
          </p:nvSpPr>
          <p:spPr>
            <a:xfrm>
              <a:off x="6826999" y="6002179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上：支点很偏的长板，放一枚硬币就大幅翘起；下：稳固的板几乎不动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8670" cy="909257"/>
            <a:chOff x="520446" y="342900"/>
            <a:chExt cx="83186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86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右端项有扰动：解的相对误差最多放大 ‖A‖·‖A⁻¹‖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653019" cy="3414998"/>
            <a:chOff x="533400" y="1533525"/>
            <a:chExt cx="5653019" cy="34149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837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710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非奇异，x 是 Ax = b（b ≠ 0）的精确解，x̃ 是扰动方程组 Ax̃ = b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δb（2.6.1）的精确解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误差方程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746534"/>
              <a:ext cx="50555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两式相减，解的误差 δx = x̃ − x 满足 A·δx = δb，所以 δx = A⁻¹δb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估计分子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97091"/>
              <a:ext cx="3235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由相容性：‖δx‖ ≤ ‖A⁻¹‖·‖δb‖（2.6.2）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估计分母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48601"/>
              <a:ext cx="5240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Ax = b：‖b‖ = ‖Ax‖ ≤ ‖A‖·‖x‖，即 1/‖x‖ ≤ ‖A‖/‖b‖（2.6.3）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4053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6991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(2.6.2)、(2.6.3) 两式相乘，得到右边的估计式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5126355"/>
            <a:ext cx="5842635" cy="1059180"/>
            <a:chOff x="533400" y="5126355"/>
            <a:chExt cx="5842635" cy="1059180"/>
          </a:xfrm>
        </p:grpSpPr>
        <p:sp>
          <p:nvSpPr>
            <p:cNvPr id="29" name="Rectangle 29"/>
            <p:cNvSpPr/>
            <p:nvPr/>
          </p:nvSpPr>
          <p:spPr>
            <a:xfrm>
              <a:off x="533400" y="512635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556885"/>
              <a:ext cx="200026" cy="200026"/>
              <a:chOff x="738188" y="555688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568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6235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6568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275898"/>
              <a:ext cx="4853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估计式给的是最坏情况。仍取 x = (1, 1, 1)ᵀ，若 δb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(ε, ε, ε)ᵀ，则 δx = (12ε, −60ε, 60ε)ᵀ，相对误差只放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60ε ÷ (12ε/13) = 65 倍。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680835" y="1524000"/>
            <a:ext cx="4977765" cy="2028825"/>
            <a:chOff x="6680835" y="1524000"/>
            <a:chExt cx="4977765" cy="2028825"/>
          </a:xfrm>
        </p:grpSpPr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2028825"/>
            </a:xfrm>
            <a:prstGeom prst="roundRect">
              <a:avLst>
                <a:gd name="adj" fmla="val 65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03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66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98"/>
                <p:cNvSpPr txBox="1">
                  <a:spLocks noGrp="1"/>
                </p:cNvSpPr>
                <p:nvPr/>
              </p:nvSpPr>
              <p:spPr>
                <a:xfrm>
                  <a:off x="6890385" y="2085975"/>
                  <a:ext cx="455866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δx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δb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TextBox 40"/>
            <p:cNvSpPr txBox="1"/>
            <p:nvPr/>
          </p:nvSpPr>
          <p:spPr>
            <a:xfrm>
              <a:off x="6882765" y="282321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左边是解的相对误差，右边是右端项的相对误差乘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以放大系数。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680835" y="3743325"/>
            <a:ext cx="4977765" cy="2568892"/>
            <a:chOff x="6680835" y="3743325"/>
            <a:chExt cx="4977765" cy="2568892"/>
          </a:xfrm>
        </p:grpSpPr>
        <p:sp>
          <p:nvSpPr>
            <p:cNvPr id="42" name="Rectangle 42"/>
            <p:cNvSpPr/>
            <p:nvPr/>
          </p:nvSpPr>
          <p:spPr>
            <a:xfrm>
              <a:off x="6680835" y="3743325"/>
              <a:ext cx="4977765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3876675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8485" y="3952875"/>
              <a:ext cx="156210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13650" y="3988594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检验上例（∞-范数）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34200" y="43929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92315" y="4330065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‖A‖∞ = 1/2 + 1/3 + 1/4 = 13/12，‖A⁻¹‖∞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 + 900 + 720 = 1860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34200" y="501396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92315" y="4951095"/>
              <a:ext cx="279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放大系数 13/12 × 1860 = 2015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34200" y="53492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92315" y="5286375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右端相对误差 ε/(13/12) = 12ε/13，解的相对误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 1860ε/1 = 1860ε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22008" y="5904071"/>
              <a:ext cx="4234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二者之比正好是 2015：这个例子取到了估计式的上界。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1292" cy="909257"/>
            <a:chOff x="520446" y="342900"/>
            <a:chExt cx="68312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12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系数矩阵有扰动：放大系数还是 ‖A‖·‖A⁻¹‖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869332" cy="3015996"/>
            <a:chOff x="533400" y="1533525"/>
            <a:chExt cx="4869332" cy="301599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005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74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3768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x̃ 是扰动方程组 (A + δA)x̃ = b 的精确解，δx = x̃ − 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误差方程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4118"/>
              <a:ext cx="4241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Ax = b 相减：A·δx + δA·x̃ = 0，即 A·δx = −δA(x + δx)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799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0385"/>
              <a:ext cx="1560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−A⁻¹δA(x + δx)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170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取范数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697605"/>
              <a:ext cx="3746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‖δx‖ = ‖−A⁻¹δA(x + δx)‖ ≤ ‖A⁻¹‖·‖δA‖·‖x + δx‖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343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14825"/>
              <a:ext cx="4456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两边除以 ‖x + δx‖（x̃ ≠ 0），右边乘除 ‖A‖，得右边的估计式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28066" y="4720590"/>
            <a:ext cx="5847969" cy="1553147"/>
            <a:chOff x="528066" y="4720590"/>
            <a:chExt cx="5847969" cy="1553147"/>
          </a:xfrm>
        </p:grpSpPr>
        <p:sp>
          <p:nvSpPr>
            <p:cNvPr id="29" name="Rectangle 29"/>
            <p:cNvSpPr/>
            <p:nvPr/>
          </p:nvSpPr>
          <p:spPr>
            <a:xfrm>
              <a:off x="533400" y="4720590"/>
              <a:ext cx="584263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684" y="4848225"/>
              <a:ext cx="2355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例：把上例 a₃₃ = 1/6 加 0.001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47747" y="48482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99307" y="48482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0867" y="48482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889" y="527304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 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6614" y="5273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8174" y="5273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9734" y="52730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5645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56926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889" y="5697855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扰动后的解 x̃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74491" y="569785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0.8875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14901" y="569785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22036" y="569785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720590"/>
              <a:ext cx="584263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216592" y="472059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268152" y="472059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19712" y="472059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6068378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‖δx‖∞/‖x̃‖∞ = 0.45/1.45 ≈ 0.31，估计上界 2015 × 0.001/(13/12) ≈ 1.86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680835" y="1524000"/>
            <a:ext cx="4977765" cy="1317308"/>
            <a:chOff x="6680835" y="1524000"/>
            <a:chExt cx="4977765" cy="1317308"/>
          </a:xfrm>
        </p:grpSpPr>
        <p:sp>
          <p:nvSpPr>
            <p:cNvPr id="50" name="Rectangle 50"/>
            <p:cNvSpPr/>
            <p:nvPr/>
          </p:nvSpPr>
          <p:spPr>
            <a:xfrm>
              <a:off x="6680835" y="1524000"/>
              <a:ext cx="4977765" cy="1317308"/>
            </a:xfrm>
            <a:prstGeom prst="roundRect">
              <a:avLst>
                <a:gd name="adj" fmla="val 1012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78955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66395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formula103"/>
                <p:cNvSpPr txBox="1">
                  <a:spLocks noGrp="1"/>
                </p:cNvSpPr>
                <p:nvPr/>
              </p:nvSpPr>
              <p:spPr>
                <a:xfrm>
                  <a:off x="6878955" y="2059305"/>
                  <a:ext cx="458152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δx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δA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3" name="c2-card-2"/>
          <p:cNvGrpSpPr/>
          <p:nvPr/>
        </p:nvGrpSpPr>
        <p:grpSpPr>
          <a:xfrm>
            <a:off x="6680835" y="3021330"/>
            <a:ext cx="4977765" cy="3210878"/>
            <a:chOff x="6680835" y="3021330"/>
            <a:chExt cx="4977765" cy="3210878"/>
          </a:xfrm>
        </p:grpSpPr>
        <p:sp>
          <p:nvSpPr>
            <p:cNvPr id="55" name="Rectangle 55"/>
            <p:cNvSpPr/>
            <p:nvPr/>
          </p:nvSpPr>
          <p:spPr>
            <a:xfrm>
              <a:off x="6680835" y="3021330"/>
              <a:ext cx="4977765" cy="3210878"/>
            </a:xfrm>
            <a:prstGeom prst="roundRect">
              <a:avLst>
                <a:gd name="adj" fmla="val 4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0360" y="3154680"/>
              <a:ext cx="47625" cy="29441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17055" y="32194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08495" y="3253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00366" y="3254216"/>
              <a:ext cx="1804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分母换成 ‖x‖ 的形式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09816" y="3598069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κ = ‖A‖·‖A⁻¹‖。若 ‖A⁻¹‖·‖δA‖ &lt; 1，由 ‖δx‖ ≤ 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A⁻¹‖‖δA‖(‖x‖ + ‖δx‖) 移项得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104"/>
                <p:cNvSpPr txBox="1">
                  <a:spLocks noGrp="1"/>
                </p:cNvSpPr>
                <p:nvPr/>
              </p:nvSpPr>
              <p:spPr>
                <a:xfrm>
                  <a:off x="6917055" y="4163378"/>
                  <a:ext cx="4543425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δx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κ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κ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2" name="TextBox 62"/>
            <p:cNvSpPr txBox="1"/>
            <p:nvPr/>
          </p:nvSpPr>
          <p:spPr>
            <a:xfrm>
              <a:off x="6910959" y="4812982"/>
              <a:ext cx="319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扰动很小时分母接近 1，放大系数仍约为 κ。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条件数：衡量方程组对扰动有多敏感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233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∈ Rⁿˣⁿ 为可逆矩阵，称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8"/>
                <p:cNvSpPr txBox="1">
                  <a:spLocks noGrp="1"/>
                </p:cNvSpPr>
                <p:nvPr/>
              </p:nvSpPr>
              <p:spPr>
                <a:xfrm>
                  <a:off x="758190" y="2349818"/>
                  <a:ext cx="499872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Cond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285559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为矩阵 A 在范数 ‖·‖ₚ 意义下的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。条件数越大，扰动误差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对解的影响越严重，因此称条件数过大的方程组为病态方程组。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80460"/>
            <a:ext cx="5410200" cy="1785938"/>
            <a:chOff x="533400" y="3680460"/>
            <a:chExt cx="5410200" cy="1785938"/>
          </a:xfrm>
        </p:grpSpPr>
        <p:sp>
          <p:nvSpPr>
            <p:cNvPr id="16" name="Rectangle 16"/>
            <p:cNvSpPr/>
            <p:nvPr/>
          </p:nvSpPr>
          <p:spPr>
            <a:xfrm>
              <a:off x="533400" y="3680460"/>
              <a:ext cx="5410200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1381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86715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609" y="390001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性质（补充）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2672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4211002"/>
              <a:ext cx="2685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Condₚ(A) ≥ ‖AA⁻¹‖ₚ = ‖I‖ₚ = 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56819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511992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Cond(cA) = Cond(A)（c ≠ 0）：方程两边同乘常数不改变病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态程度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512540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5069205"/>
              <a:ext cx="3059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对称时 Cond₂(A) = |λ|max / |λ|min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3447" y="1524000"/>
            <a:ext cx="5415153" cy="1863756"/>
            <a:chOff x="6243447" y="1524000"/>
            <a:chExt cx="5415153" cy="1863756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8722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8254" y="164544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‖A‖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3095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‖A⁻¹‖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2377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00151" y="2045494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∞-范数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8940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13/12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77246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1860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75796" y="20454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00151" y="2445544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1-范数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28940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13/12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7246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1860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8408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00151" y="2845594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2-范数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19853" y="284559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λmax ≈ 0.8751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5542" y="28455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1/λmin ≈ 1546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20009" y="284559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1353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3426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84015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4699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3447" y="3197066"/>
              <a:ext cx="5128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对称，1-范数与 ∞-范数相同；2-范数用对称阵的特征值 0.8751、0.0409、0.000647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3519488"/>
            <a:ext cx="5410200" cy="729615"/>
            <a:chOff x="6248400" y="3519488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51948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3784283"/>
              <a:ext cx="200026" cy="200025"/>
              <a:chOff x="6453188" y="378428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37842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38287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39398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892" y="3666172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经验：Cond(A) ≈ 10ᵗ 时，解大约会损失 t 位有效数字。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本例 Cond∞ ≈ 2×10³，约损失 3 位。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0" name="Rectangle 6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8373"/>
              <a:ext cx="9885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易错：不要用行列式判断病态。本例 det A = 1/43200 很小；把 A 换成 100A，行列式变为原来的 10⁶ 倍，条件数却不变。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9474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矩阵的条件数与病态方程组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矩阵的平衡：用对角矩阵缩放行和列，降低条件数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879721" cy="2998755"/>
            <a:chOff x="533400" y="1533525"/>
            <a:chExt cx="4879721" cy="299875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按行平衡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条件数大的方程组 Ax = b 难以求解。用适当的非奇异对角矩阵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左乘两端，得 D₁Ax = D₁b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按列平衡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3946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再用非奇异对角矩阵 D₂ 右乘 A，令 x = D₂y，转而求解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D₁AD₂y = D₁b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385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32359"/>
              <a:ext cx="2403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x = D₂y 求得原方程组的解 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选择标准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36627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选取 D₁、D₂，使矩阵 D₁AD₂ 的条件数尽可能小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711065"/>
            <a:ext cx="5085398" cy="1059180"/>
            <a:chOff x="533400" y="4711065"/>
            <a:chExt cx="5085398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08539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140643"/>
              <a:ext cx="200026" cy="200026"/>
              <a:chOff x="738188" y="514064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140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207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2406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85965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常见做法是让缩放后各行（各列）绝对值最大的元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素大小相近；对角元常取 2 的整数次幂，缩放本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身不引入舍入误差。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5923598" y="1524000"/>
            <a:ext cx="5735002" cy="4246245"/>
            <a:chOff x="5923598" y="1524000"/>
            <a:chExt cx="5735002" cy="4246245"/>
          </a:xfrm>
        </p:grpSpPr>
        <p:sp>
          <p:nvSpPr>
            <p:cNvPr id="32" name="Rectangle 32"/>
            <p:cNvSpPr/>
            <p:nvPr/>
          </p:nvSpPr>
          <p:spPr>
            <a:xfrm>
              <a:off x="5923598" y="1524000"/>
              <a:ext cx="5735002" cy="4246245"/>
            </a:xfrm>
            <a:prstGeom prst="roundRect">
              <a:avLst>
                <a:gd name="adj" fmla="val 3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933122" y="1657350"/>
              <a:ext cx="47625" cy="3979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1248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7506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14198" y="1768792"/>
              <a:ext cx="3297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按行平衡把条件数从约 10⁴ 降到约 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110"/>
                <p:cNvSpPr txBox="1">
                  <a:spLocks noGrp="1"/>
                </p:cNvSpPr>
                <p:nvPr/>
              </p:nvSpPr>
              <p:spPr>
                <a:xfrm>
                  <a:off x="6171248" y="2105025"/>
                  <a:ext cx="5277802" cy="6515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Rectangle 38"/>
            <p:cNvSpPr/>
            <p:nvPr/>
          </p:nvSpPr>
          <p:spPr>
            <a:xfrm>
              <a:off x="6171248" y="2851785"/>
              <a:ext cx="527780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3482" y="2987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54531" y="298751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‖·‖∞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07704" y="2987516"/>
              <a:ext cx="1154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逆矩阵的 ‖·‖∞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56862" y="2987516"/>
              <a:ext cx="517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Cond∞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3224" y="35494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16622" y="354949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62365" y="3436144"/>
              <a:ext cx="10452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10001/9999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83488" y="3549491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≈ 10003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171248" y="3970972"/>
              <a:ext cx="52778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71248" y="3975735"/>
              <a:ext cx="527780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88080" y="422481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6167" y="42248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62365" y="4111466"/>
              <a:ext cx="10452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20000/9999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33732" y="4224814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≈ 4.0004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71248" y="2851785"/>
              <a:ext cx="527780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27582" y="28517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82952" y="28517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177462" y="28517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64770" y="4767739"/>
              <a:ext cx="4954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个方程两边除以 10⁴ 后，两行元素大小同量级。方程组的解没有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变，病态程度却大大降低。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2.7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从初始近似出发反复代入，逐步逼近精确解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迭代法的一般形式与收敛条件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误差估计与停止准则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3038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迭代法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340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迭代法与两个对比例题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为什么要用迭代法：大型稀疏方程组上直接法代价太高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544378" cy="3338512"/>
            <a:chOff x="533400" y="1524000"/>
            <a:chExt cx="4544378" cy="3338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338512"/>
            </a:xfrm>
            <a:prstGeom prst="roundRect">
              <a:avLst>
                <a:gd name="adj" fmla="val 39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718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回顾：直接法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0720" y="1768792"/>
              <a:ext cx="2092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消元（2.2 节）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2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087178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26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2785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21564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消元：第 2 行 − 第 1 行 × 2/3，第 3 行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 × 1/3；再第 3 行 − 第 2 行 × 4/5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8995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83667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(12/5)x₃ = 33/5，回代 x₃ = 11/4，x₂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17/4，x₁ = 37/4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4534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不计舍入误差，有限步运算后得到精确解。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5053012"/>
            <a:ext cx="4544378" cy="1059180"/>
            <a:chOff x="533400" y="5053012"/>
            <a:chExt cx="4544378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5053012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482590"/>
              <a:ext cx="200026" cy="200026"/>
              <a:chOff x="738188" y="548259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4825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5492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5826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201602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消元的每一步都要更新右下角整块子矩阵，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原来为零的位置会变成非零（填充），大型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稀疏矩阵的稀疏性因此被破坏。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382578" y="1524000"/>
            <a:ext cx="6276022" cy="3150870"/>
            <a:chOff x="5382578" y="1524000"/>
            <a:chExt cx="6276022" cy="3150870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05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4076" y="1659731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Gauss 消元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33082" y="1659731"/>
              <a:ext cx="228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迭代法（每行约 5 个非零元）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0401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乘除次数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94336" y="2108359"/>
              <a:ext cx="202057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n³/3 + n² − n/3；n = 20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3060，n = 10⁴ 时约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3.3×10¹¹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05126" y="2221706"/>
              <a:ext cx="2394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每步约为非零元个数：n = 10⁴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5×10⁴，迭代 100 步共 5×10⁶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82578" y="287464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90401" y="31237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4336" y="3010376"/>
              <a:ext cx="2183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稠密存 n² 个元素，n = 10⁴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10⁸ 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05126" y="3010376"/>
              <a:ext cx="2426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只存约 5n 个非零元和几个 n 维向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35461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90401" y="37990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94336" y="368569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有限步得精确解（不计舍入误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5126" y="379904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近似解，精度由停止准则控制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42214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422624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90401" y="43610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94336" y="436102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主元不为零（或选主元）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05126" y="43610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要先判断是否收敛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1524000"/>
              <a:ext cx="6276022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8175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89254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5382578" y="4865370"/>
            <a:ext cx="6276022" cy="782955"/>
            <a:chOff x="5382578" y="4865370"/>
            <a:chExt cx="6276022" cy="782955"/>
          </a:xfrm>
        </p:grpSpPr>
        <p:sp>
          <p:nvSpPr>
            <p:cNvPr id="51" name="Rectangle 51"/>
            <p:cNvSpPr/>
            <p:nvPr/>
          </p:nvSpPr>
          <p:spPr>
            <a:xfrm>
              <a:off x="5382578" y="486537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587365" y="5156835"/>
              <a:ext cx="200026" cy="200025"/>
              <a:chOff x="5587365" y="515683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587365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627104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661819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889308" y="5013960"/>
              <a:ext cx="5130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迭代法保持迭代矩阵不变，A 中的零元素不必存储也不参与运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算，所以特别适合求解大型稀疏系数矩阵的方程组。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1816" cy="909257"/>
            <a:chOff x="520446" y="342900"/>
            <a:chExt cx="74918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18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迭代法的一般形式：把 Ax = b 改写成 x = Hx + 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40553" cy="3234023"/>
            <a:chOff x="533400" y="1533525"/>
            <a:chExt cx="5440553" cy="323402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1900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Ax = b（2.7.1）改写成等价形式 x = Hx + g（2.7.2），H = [hᵢⱼ]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 Rⁿˣⁿ、g ∈ Rⁿ 已知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5019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给定初始近似 x⁽⁰⁾ ∈ Rⁿ，按 (2.7.3) 产生向量序列 {x⁽ᵏ⁾}，称为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代序列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，H 称为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迭代矩阵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385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取极限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32359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x⁽ᵏ⁾ → x*，在 (2.7.3) 两端取极限得 x* = Hx* + g（2.7.4），极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限恰为方程组的解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2243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18184"/>
              <a:ext cx="3743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迭代序列收敛时，k 充分大就把 x⁽ᵏ⁾ 取作近似解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45380"/>
            <a:ext cx="5735002" cy="782955"/>
            <a:chOff x="533400" y="4945380"/>
            <a:chExt cx="5735002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945380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233153"/>
              <a:ext cx="224134" cy="192560"/>
              <a:chOff x="726129" y="5233153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3035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2331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3813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093970"/>
              <a:ext cx="4749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同一个方程组可以改写出不同的 H，有的收敛、有的发散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（见例 2.4），所以要先判断收敛性再计算。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573202" y="1524000"/>
            <a:ext cx="5085398" cy="1247775"/>
            <a:chOff x="6573202" y="1524000"/>
            <a:chExt cx="5085398" cy="1247775"/>
          </a:xfrm>
        </p:grpSpPr>
        <p:sp>
          <p:nvSpPr>
            <p:cNvPr id="32" name="Rectangle 32"/>
            <p:cNvSpPr/>
            <p:nvPr/>
          </p:nvSpPr>
          <p:spPr>
            <a:xfrm>
              <a:off x="6573202" y="1524000"/>
              <a:ext cx="5085398" cy="1247775"/>
            </a:xfrm>
            <a:prstGeom prst="roundRect">
              <a:avLst>
                <a:gd name="adj" fmla="val 1068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82752" y="1733550"/>
              <a:ext cx="147351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3316" y="1769269"/>
              <a:ext cx="1351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迭代公式（2.7.3）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14"/>
                <p:cNvSpPr txBox="1">
                  <a:spLocks noGrp="1"/>
                </p:cNvSpPr>
                <p:nvPr/>
              </p:nvSpPr>
              <p:spPr>
                <a:xfrm>
                  <a:off x="6782752" y="2085975"/>
                  <a:ext cx="466629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kv-2"/>
          <p:cNvGrpSpPr/>
          <p:nvPr/>
        </p:nvGrpSpPr>
        <p:grpSpPr>
          <a:xfrm>
            <a:off x="6565583" y="2987040"/>
            <a:ext cx="5093017" cy="1015365"/>
            <a:chOff x="6565583" y="2987040"/>
            <a:chExt cx="5093017" cy="1015365"/>
          </a:xfrm>
        </p:grpSpPr>
        <p:sp>
          <p:nvSpPr>
            <p:cNvPr id="37" name="TextBox 37"/>
            <p:cNvSpPr txBox="1"/>
            <p:nvPr/>
          </p:nvSpPr>
          <p:spPr>
            <a:xfrm>
              <a:off x="6565583" y="29870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简单迭代法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4785" y="2987040"/>
              <a:ext cx="36156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(2.7.3) 构造序列求 (2.7.2) 近似解的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73202" y="358902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5583" y="37090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4785" y="3709035"/>
              <a:ext cx="3831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迭代序列 {x⁽ᵏ⁾} 收敛时，称此迭代法收敛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573202" y="4133850"/>
            <a:ext cx="5085398" cy="2223135"/>
            <a:chOff x="6573202" y="4133850"/>
            <a:chExt cx="5085398" cy="2223135"/>
          </a:xfrm>
        </p:grpSpPr>
        <p:sp>
          <p:nvSpPr>
            <p:cNvPr id="43" name="Rectangle 43"/>
            <p:cNvSpPr/>
            <p:nvPr/>
          </p:nvSpPr>
          <p:spPr>
            <a:xfrm>
              <a:off x="6573202" y="4133850"/>
              <a:ext cx="5085398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82728" y="426720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20852" y="43434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4309" y="43791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小例（补充）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13233" y="472059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4x − y = 3，−x + 4y = 3 改写为 x = y/4 + 3/4，y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x/4 + 3/4，即 H = [0 1/4; 1/4 0]。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13233" y="5341620"/>
              <a:ext cx="4368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(0, 0)ᵀ 出发：(0.75, 0.75)ᵀ → (0.9375,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0.9375)ᵀ → (0.984375, 0.984375)ᵀ，误差每步缩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小为 1/4，趋于精确解 (1, 1)ᵀ。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40641" cy="909257"/>
            <a:chOff x="520446" y="342900"/>
            <a:chExt cx="10740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40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误差满足 x⁽ᵏ⁾ − x* = Hᵏ(x⁽⁰⁾ − x*)：收敛只取决于 Hᵏ 是否趋于零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steps-1"/>
          <p:cNvGrpSpPr/>
          <p:nvPr/>
        </p:nvGrpSpPr>
        <p:grpSpPr>
          <a:xfrm>
            <a:off x="533400" y="1533525"/>
            <a:ext cx="5820156" cy="1386269"/>
            <a:chOff x="533400" y="1533525"/>
            <a:chExt cx="5820156" cy="13862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838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1846898"/>
              <a:ext cx="54071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x* 满足 x* = Hx* + g，与 x⁽ᵏ⁺¹⁾ = Hx⁽ᵏ⁾ + g 相减得 x⁽ᵏ⁺¹⁾ − x* = H(x⁽ᵏ⁾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x*)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24045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反复代入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2685098"/>
              <a:ext cx="4247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得到下面的 (2.7.6)，误差等于 H 的 k + 1 次幂乘初始误差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117"/>
              <p:cNvSpPr txBox="1">
                <a:spLocks noGrp="1"/>
              </p:cNvSpPr>
              <p:nvPr/>
            </p:nvSpPr>
            <p:spPr>
              <a:xfrm>
                <a:off x="533400" y="3090862"/>
                <a:ext cx="605980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2.7.6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3"/>
          <p:cNvGrpSpPr/>
          <p:nvPr/>
        </p:nvGrpSpPr>
        <p:grpSpPr>
          <a:xfrm>
            <a:off x="533400" y="3670935"/>
            <a:ext cx="6059805" cy="1529715"/>
            <a:chOff x="533400" y="3670935"/>
            <a:chExt cx="6059805" cy="1529715"/>
          </a:xfrm>
        </p:grpSpPr>
        <p:sp>
          <p:nvSpPr>
            <p:cNvPr id="18" name="Rectangle 18"/>
            <p:cNvSpPr/>
            <p:nvPr/>
          </p:nvSpPr>
          <p:spPr>
            <a:xfrm>
              <a:off x="533400" y="3670935"/>
              <a:ext cx="605980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0428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386905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7037" y="390334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229576"/>
              <a:ext cx="53615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 (2.7.3) 对任何初始近似 x⁽⁰⁾ 均收敛的充分必要条件是 Hᵏ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O（零矩阵），k → ∞。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524" y="4814888"/>
              <a:ext cx="4840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(2.7.6)：对任意 x⁽⁰⁾ 都有 x⁽ᵏ⁾ − x* → 0，当且仅当 Hᵏ → O。</a:t>
              </a:r>
            </a:p>
          </p:txBody>
        </p:sp>
      </p:grpSp>
      <p:grpSp>
        <p:nvGrpSpPr>
          <p:cNvPr id="30" name="c1-card-4"/>
          <p:cNvGrpSpPr/>
          <p:nvPr/>
        </p:nvGrpSpPr>
        <p:grpSpPr>
          <a:xfrm>
            <a:off x="533400" y="5380672"/>
            <a:ext cx="6059805" cy="979170"/>
            <a:chOff x="533400" y="5380672"/>
            <a:chExt cx="6059805" cy="979170"/>
          </a:xfrm>
        </p:grpSpPr>
        <p:sp>
          <p:nvSpPr>
            <p:cNvPr id="25" name="Rectangle 25"/>
            <p:cNvSpPr/>
            <p:nvPr/>
          </p:nvSpPr>
          <p:spPr>
            <a:xfrm>
              <a:off x="533400" y="5380672"/>
              <a:ext cx="6059805" cy="979170"/>
            </a:xfrm>
            <a:prstGeom prst="roundRect">
              <a:avLst>
                <a:gd name="adj" fmla="val 13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514022"/>
              <a:ext cx="47625" cy="7124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" y="557879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7037" y="561308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81" y="5940266"/>
              <a:ext cx="4975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Hᵏ → O（k → ∞）的充分必要条件是 H 的谱半径 ρ(H) &lt; 1。</a:t>
              </a:r>
            </a:p>
          </p:txBody>
        </p:sp>
      </p:grpSp>
      <p:grpSp>
        <p:nvGrpSpPr>
          <p:cNvPr id="33" name="c2-image-1"/>
          <p:cNvGrpSpPr/>
          <p:nvPr/>
        </p:nvGrpSpPr>
        <p:grpSpPr>
          <a:xfrm>
            <a:off x="6898005" y="1524000"/>
            <a:ext cx="4760595" cy="4861179"/>
            <a:chOff x="6898005" y="1524000"/>
            <a:chExt cx="4760595" cy="4861179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10872" t="0" r="10871" b="0"/>
            <a:stretch>
              <a:fillRect/>
            </a:stretch>
          </p:blipFill>
          <p:spPr>
            <a:xfrm>
              <a:off x="6898005" y="1524000"/>
              <a:ext cx="4760595" cy="4562475"/>
            </a:xfrm>
            <a:prstGeom prst="roundRect">
              <a:avLst>
                <a:gd name="adj" fmla="val 2922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6982149" y="6179820"/>
              <a:ext cx="459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ρ(H) &lt; 1 时，误差每乘一次 H 最终按约 ρ(H) 的比例缩小，逐步收缩到零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8807" cy="909257"/>
            <a:chOff x="520446" y="342900"/>
            <a:chExt cx="67488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88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收敛基本定理 ρ(H) &lt; 1；实用判据 ‖H‖ &lt;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906905"/>
            <a:chOff x="533400" y="1524000"/>
            <a:chExt cx="5626418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06905"/>
            </a:xfrm>
            <a:prstGeom prst="roundRect">
              <a:avLst>
                <a:gd name="adj" fmla="val 699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34315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8002" y="176926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定理：简单迭代法收敛的基本定理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迭代法 (2.7.3) 对任何初始近似 x⁽⁰⁾ 均收敛的充分必要条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件是迭代矩阵 H 的谱半径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20"/>
                <p:cNvSpPr txBox="1">
                  <a:spLocks noGrp="1"/>
                </p:cNvSpPr>
                <p:nvPr/>
              </p:nvSpPr>
              <p:spPr>
                <a:xfrm>
                  <a:off x="742950" y="2707005"/>
                  <a:ext cx="520731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621405"/>
            <a:ext cx="5626418" cy="1847850"/>
            <a:chOff x="533400" y="3621405"/>
            <a:chExt cx="5626418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21405"/>
              <a:ext cx="5626418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5475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309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866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208145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‖H‖ &lt; 1（‖·‖ 允许为任何一种相容的矩阵范数），则迭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代法 (2.7.3) 收敛。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4825841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理由：矩阵的任何一种相容范数都是其谱半径的上界，ρ(H) ≤ ‖H‖ &lt;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48" name="c2-flow-1"/>
          <p:cNvGrpSpPr/>
          <p:nvPr/>
        </p:nvGrpSpPr>
        <p:grpSpPr>
          <a:xfrm>
            <a:off x="6646545" y="1629728"/>
            <a:ext cx="4830127" cy="2386012"/>
            <a:chOff x="6646545" y="1629728"/>
            <a:chExt cx="4830127" cy="2386012"/>
          </a:xfrm>
        </p:grpSpPr>
        <p:sp>
          <p:nvSpPr>
            <p:cNvPr id="20" name="Freeform 20"/>
            <p:cNvSpPr/>
            <p:nvPr/>
          </p:nvSpPr>
          <p:spPr>
            <a:xfrm>
              <a:off x="7762875" y="2067878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0" y="0"/>
                  </a:move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710488" y="2173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62875" y="2716530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710488" y="28232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762875" y="336613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10488" y="3472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60342" y="336613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307955" y="3472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46545" y="1629728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46545" y="2278380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46545" y="2927985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46545" y="3577590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243060" y="2927985"/>
              <a:ext cx="223361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243060" y="3577590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6343" y="1759744"/>
              <a:ext cx="1453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误差递推 (2.7.6)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6295" y="2408396"/>
              <a:ext cx="1113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 ⇔ Hᵏ → 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33392" y="3058001"/>
              <a:ext cx="145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Hᵏ → O ⇔ ρ(H) &lt;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6679" y="3707606"/>
              <a:ext cx="1252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 ⇔ ρ(H) &lt;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48903" y="3058001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‖H‖ &lt;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23082" y="37076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推论：收敛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791450" y="2081212"/>
              <a:ext cx="4752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14691" y="210788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引理 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91450" y="2730818"/>
              <a:ext cx="4752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14691" y="2757488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引理 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791450" y="337947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14691" y="34061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基本定理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388918" y="3379470"/>
              <a:ext cx="58864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12159" y="3406140"/>
              <a:ext cx="497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ρ ≤ ‖H‖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464618" y="4311015"/>
            <a:ext cx="5193982" cy="1346835"/>
            <a:chOff x="6464618" y="4311015"/>
            <a:chExt cx="5193982" cy="1346835"/>
          </a:xfrm>
        </p:grpSpPr>
        <p:sp>
          <p:nvSpPr>
            <p:cNvPr id="49" name="Rectangle 49"/>
            <p:cNvSpPr/>
            <p:nvPr/>
          </p:nvSpPr>
          <p:spPr>
            <a:xfrm>
              <a:off x="6464618" y="4311015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76439" y="44467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0939" y="44467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96842" y="44467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72441" y="4895374"/>
              <a:ext cx="73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&lt;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53666" y="4895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充分必要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00488" y="48953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要求特征值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52044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520922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72441" y="5344001"/>
              <a:ext cx="1791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‖H‖∞ &lt; 1 或 ‖H‖₁ &lt;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53666" y="53440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只是充分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0488" y="53440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行和、列和即可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311015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641080" y="43110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887902" y="43110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5" name="Rectangle 6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916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易错：‖H‖ ≥ 1 不能断定发散。例 2.5 中 Jacobi 迭代矩阵 ‖M_J‖∞ = 4，但 ρ(M_J) = 0，迭代收敛。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一般迭代法的求解步骤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543878" y="1788795"/>
            <a:ext cx="6045516" cy="4391025"/>
            <a:chOff x="543878" y="1788795"/>
            <a:chExt cx="6045516" cy="4391025"/>
          </a:xfrm>
        </p:grpSpPr>
        <p:sp>
          <p:nvSpPr>
            <p:cNvPr id="7" name="Freeform 7"/>
            <p:cNvSpPr/>
            <p:nvPr/>
          </p:nvSpPr>
          <p:spPr>
            <a:xfrm>
              <a:off x="2102168" y="222694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49780" y="2651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02168" y="319468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49780" y="3537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1860" y="3943350"/>
              <a:ext cx="334328" cy="9525"/>
            </a:xfrm>
            <a:custGeom>
              <a:avLst/>
              <a:gdLst/>
              <a:ahLst/>
              <a:cxnLst/>
              <a:rect l="l" t="t" r="r" b="b"/>
              <a:pathLst>
                <a:path w="334328" h="9525">
                  <a:moveTo>
                    <a:pt x="0" y="0"/>
                  </a:moveTo>
                  <a:lnTo>
                    <a:pt x="3343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86188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102168" y="424434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49780" y="45872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02168" y="513016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49780" y="54730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1860" y="5878830"/>
              <a:ext cx="334328" cy="9525"/>
            </a:xfrm>
            <a:custGeom>
              <a:avLst/>
              <a:gdLst/>
              <a:ahLst/>
              <a:cxnLst/>
              <a:rect l="l" t="t" r="r" b="b"/>
              <a:pathLst>
                <a:path w="334328" h="9525">
                  <a:moveTo>
                    <a:pt x="0" y="0"/>
                  </a:moveTo>
                  <a:lnTo>
                    <a:pt x="3343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86188" y="58264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43878" y="4911090"/>
              <a:ext cx="209550" cy="967740"/>
            </a:xfrm>
            <a:custGeom>
              <a:avLst/>
              <a:gdLst/>
              <a:ahLst/>
              <a:cxnLst/>
              <a:rect l="l" t="t" r="r" b="b"/>
              <a:pathLst>
                <a:path w="209550" h="967740">
                  <a:moveTo>
                    <a:pt x="209550" y="967740"/>
                  </a:moveTo>
                  <a:lnTo>
                    <a:pt x="0" y="967740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8652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556635" y="2007870"/>
              <a:ext cx="1684020" cy="1621155"/>
            </a:xfrm>
            <a:custGeom>
              <a:avLst/>
              <a:gdLst/>
              <a:ahLst/>
              <a:cxnLst/>
              <a:rect l="l" t="t" r="r" b="b"/>
              <a:pathLst>
                <a:path w="1684020" h="1621155">
                  <a:moveTo>
                    <a:pt x="1684020" y="1621155"/>
                  </a:moveTo>
                  <a:lnTo>
                    <a:pt x="1684020" y="1411605"/>
                  </a:lnTo>
                  <a:lnTo>
                    <a:pt x="1684020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451860" y="1955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3428" y="1788795"/>
              <a:ext cx="269843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3428" y="2756535"/>
              <a:ext cx="269843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53428" y="3642360"/>
              <a:ext cx="2698432" cy="601980"/>
            </a:xfrm>
            <a:custGeom>
              <a:avLst/>
              <a:gdLst/>
              <a:ahLst/>
              <a:cxnLst/>
              <a:rect l="l" t="t" r="r" b="b"/>
              <a:pathLst>
                <a:path w="2698432" h="601980">
                  <a:moveTo>
                    <a:pt x="1348740" y="0"/>
                  </a:moveTo>
                  <a:lnTo>
                    <a:pt x="2698432" y="300990"/>
                  </a:lnTo>
                  <a:lnTo>
                    <a:pt x="134874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90962" y="3629025"/>
              <a:ext cx="269843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3428" y="4692015"/>
              <a:ext cx="269843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3428" y="5577840"/>
              <a:ext cx="2698432" cy="601980"/>
            </a:xfrm>
            <a:custGeom>
              <a:avLst/>
              <a:gdLst/>
              <a:ahLst/>
              <a:cxnLst/>
              <a:rect l="l" t="t" r="r" b="b"/>
              <a:pathLst>
                <a:path w="2698432" h="601980">
                  <a:moveTo>
                    <a:pt x="1348740" y="0"/>
                  </a:moveTo>
                  <a:lnTo>
                    <a:pt x="2698432" y="300990"/>
                  </a:lnTo>
                  <a:lnTo>
                    <a:pt x="134874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90962" y="5659755"/>
              <a:ext cx="269843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7474" y="1918811"/>
              <a:ext cx="1509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 x：x = Hx + 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204" y="2886551"/>
              <a:ext cx="2309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迭代格式 x⁽ᵏ⁺¹⁾ = Hx⁽ᵏ⁾ + 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1063" y="3854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判断收敛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7538" y="3744754"/>
              <a:ext cx="21262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换一种分离方式（如调换方程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77201" y="4822031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迭代求解，算出 x⁽ᵏ⁾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04597" y="5789771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相邻差 &lt; ε？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04919" y="5789771"/>
              <a:ext cx="167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迭代结束，输出 x⁽ᵏ⁾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56635" y="3727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94925" y="3753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30742" y="437578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53984" y="44024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56635" y="56626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94925" y="568928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2452" y="530256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5694" y="53292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2272665"/>
            <a:chOff x="7114222" y="1524000"/>
            <a:chExt cx="4544378" cy="2272665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18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392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判断与终止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25702" y="211074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判断收敛：ρ(H) &lt; 1（充要），或某种相容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 ‖H‖ &lt; 1（充分）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5702" y="2731770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终止条件常用相邻差 ‖x⁽ᵏ⁾ − x⁽ᵏ⁻¹⁾‖ &lt; ε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另设最大迭代次数 N，到达 N 次仍不满足时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停止，并报告可能不收敛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114222" y="3987165"/>
            <a:ext cx="4544378" cy="2171700"/>
            <a:chOff x="7114222" y="3987165"/>
            <a:chExt cx="4544378" cy="2171700"/>
          </a:xfrm>
        </p:grpSpPr>
        <p:sp>
          <p:nvSpPr>
            <p:cNvPr id="57" name="Rectangle 57"/>
            <p:cNvSpPr/>
            <p:nvPr/>
          </p:nvSpPr>
          <p:spPr>
            <a:xfrm>
              <a:off x="7114222" y="3987165"/>
              <a:ext cx="4544378" cy="21717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4120515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61872" y="41967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17626" y="42324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为什么看相邻两次之差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54252" y="4573905"/>
              <a:ext cx="2741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下页误差估计：q = ‖H‖ &lt; 1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formula122"/>
                <p:cNvSpPr txBox="1">
                  <a:spLocks noGrp="1"/>
                </p:cNvSpPr>
                <p:nvPr/>
              </p:nvSpPr>
              <p:spPr>
                <a:xfrm>
                  <a:off x="7361872" y="4884420"/>
                  <a:ext cx="4087178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den>
                        </m:f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3" name="TextBox 63"/>
            <p:cNvSpPr txBox="1"/>
            <p:nvPr/>
          </p:nvSpPr>
          <p:spPr>
            <a:xfrm>
              <a:off x="7355396" y="5515451"/>
              <a:ext cx="3922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 接近 1 时系数 q/(1 − q) 很大，相邻差很小并不代表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误差小，这时 ε 要取得更严。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5581" cy="909257"/>
            <a:chOff x="520446" y="342900"/>
            <a:chExt cx="83555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55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误差估计：用 q = ‖H‖ 控制误差，并事先估算迭代次数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4021455"/>
            <a:chOff x="533400" y="1524000"/>
            <a:chExt cx="5193982" cy="40214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21455"/>
            </a:xfrm>
            <a:prstGeom prst="roundRect">
              <a:avLst>
                <a:gd name="adj" fmla="val 33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547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迭代法的收敛速度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q = ‖H‖ &lt; 1 时，由迭代法 (2.7.3) 所定义的序列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{x⁽ᵏ⁾} 满足：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事后估计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：用最近两次迭代结果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5"/>
                <p:cNvSpPr txBox="1">
                  <a:spLocks noGrp="1"/>
                </p:cNvSpPr>
                <p:nvPr/>
              </p:nvSpPr>
              <p:spPr>
                <a:xfrm>
                  <a:off x="781050" y="3061335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7471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事前估计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：只用第一步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26"/>
                <p:cNvSpPr txBox="1">
                  <a:spLocks noGrp="1"/>
                </p:cNvSpPr>
                <p:nvPr/>
              </p:nvSpPr>
              <p:spPr>
                <a:xfrm>
                  <a:off x="781050" y="4057650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1"/>
          <p:cNvGrpSpPr/>
          <p:nvPr/>
        </p:nvGrpSpPr>
        <p:grpSpPr>
          <a:xfrm>
            <a:off x="6032182" y="1524000"/>
            <a:ext cx="5626418" cy="4021455"/>
            <a:chOff x="6032182" y="1524000"/>
            <a:chExt cx="5626418" cy="4021455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4021455"/>
            </a:xfrm>
            <a:prstGeom prst="roundRect">
              <a:avLst>
                <a:gd name="adj" fmla="val 33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1708" y="1657350"/>
              <a:ext cx="47625" cy="37547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79832" y="1733550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2784" y="17692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证明（原课件略，此处补充）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13182" y="2238375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79832" y="20955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3456" y="2169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79832" y="29813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3456" y="30551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79832" y="36318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3456" y="3705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79832" y="45177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3456" y="4591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1312" y="21297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一步收缩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2456" y="2423636"/>
              <a:ext cx="4434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− x* = H(x⁽ᵏ⁻¹⁾ − x*)，所以 ‖x⁽ᵏ⁾ − x*‖ ≤ q‖x⁽ᵏ⁻¹⁾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x*‖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1312" y="3015615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x⁽ᵏ⁾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2456" y="3308509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‖x⁽ᵏ⁻¹⁾ − x*‖ ≤ ‖x⁽ᵏ⁻¹⁾ − x⁽ᵏ⁾‖ + ‖x⁽ᵏ⁾ − x*‖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91312" y="36661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92456" y="3959066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代入第 1 步：(1 − q)‖x⁽ᵏ⁾ − x*‖ ≤ q‖x⁽ᵏ⁾ − x⁽ᵏ⁻¹⁾‖，得事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后估计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91312" y="45519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相邻差递推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92456" y="4844891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− x⁽ᵏ⁻¹⁾ = H(x⁽ᵏ⁻¹⁾ − x⁽ᵏ⁻²⁾)，故 ‖x⁽ᵏ⁾ − x⁽ᵏ⁻¹⁾‖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qᵏ⁻¹‖x⁽¹⁾ − x⁽⁰⁾‖，代入得事前估计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10606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事前估计可预估次数：要使误差 &lt; ε，只需 qᵏ‖x⁽¹⁾ − x⁽⁰⁾‖/(1 − q) &lt; ε，解出 k。例 2.4 调换次序后会实际算一次。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21509" cy="909257"/>
            <a:chOff x="520446" y="342900"/>
            <a:chExt cx="99215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215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迭代法：把 A 拆成对角、严格下三角、严格上三角三部分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cells-1"/>
          <p:cNvGrpSpPr/>
          <p:nvPr/>
        </p:nvGrpSpPr>
        <p:grpSpPr>
          <a:xfrm>
            <a:off x="533400" y="1524000"/>
            <a:ext cx="2971800" cy="1981200"/>
            <a:chOff x="533400" y="1524000"/>
            <a:chExt cx="2971800" cy="1981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4295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131" y="16921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276350" y="15240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92081" y="16921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019300" y="15240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35031" y="16921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a₁₃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62250" y="15240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77981" y="16921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0193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9131" y="21874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a₂₁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76350" y="2019300"/>
              <a:ext cx="74295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92081" y="21874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a₂₂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19300" y="20193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35031" y="21874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62250" y="20193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77981" y="21874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5146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131" y="26827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a₃₁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276350" y="25146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92081" y="26827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a₃₂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19300" y="2514600"/>
              <a:ext cx="74295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35031" y="26827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a₃₃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62250" y="2514600"/>
              <a:ext cx="742950" cy="4953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77981" y="26827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099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131" y="31780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a₄₁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76350" y="30099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92081" y="31780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a₄₂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019300" y="3009900"/>
              <a:ext cx="74295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235031" y="31780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a₄₃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762250" y="3009900"/>
              <a:ext cx="74295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77981" y="317801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a₄₄</a:t>
              </a:r>
            </a:p>
          </p:txBody>
        </p:sp>
      </p:grpSp>
      <p:grpSp>
        <p:nvGrpSpPr>
          <p:cNvPr id="48" name="c1-kv-2"/>
          <p:cNvGrpSpPr/>
          <p:nvPr/>
        </p:nvGrpSpPr>
        <p:grpSpPr>
          <a:xfrm>
            <a:off x="525780" y="3720465"/>
            <a:ext cx="4551998" cy="1173480"/>
            <a:chOff x="525780" y="3720465"/>
            <a:chExt cx="4551998" cy="1173480"/>
          </a:xfrm>
        </p:grpSpPr>
        <p:sp>
          <p:nvSpPr>
            <p:cNvPr id="40" name="TextBox 40"/>
            <p:cNvSpPr txBox="1"/>
            <p:nvPr/>
          </p:nvSpPr>
          <p:spPr>
            <a:xfrm>
              <a:off x="525780" y="372046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2982" y="3720465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深色格：对角部分 diag(a₁₁, a₂₂, …, aₙₙ)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0405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5780" y="416052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−L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2982" y="4160520"/>
              <a:ext cx="261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绿色格：A 的严格下三角部分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4805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5780" y="46005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−U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2982" y="4600575"/>
              <a:ext cx="261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橙色格：A 的严格上三角部分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5025390"/>
            <a:ext cx="4544378" cy="1059180"/>
            <a:chOff x="533400" y="5025390"/>
            <a:chExt cx="4544378" cy="1059180"/>
          </a:xfrm>
        </p:grpSpPr>
        <p:sp>
          <p:nvSpPr>
            <p:cNvPr id="49" name="Rectangle 49"/>
            <p:cNvSpPr/>
            <p:nvPr/>
          </p:nvSpPr>
          <p:spPr>
            <a:xfrm>
              <a:off x="533400" y="502539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451276"/>
              <a:ext cx="224134" cy="192560"/>
              <a:chOff x="726129" y="545127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5216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4512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55994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173980"/>
              <a:ext cx="3568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注意符号：L、U 是 A 的严格下、上三角部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分的相反数，所以 A = D − L − U，不是 D +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 + U。</a:t>
              </a:r>
            </a:p>
          </p:txBody>
        </p:sp>
      </p:grpSp>
      <p:grpSp>
        <p:nvGrpSpPr>
          <p:cNvPr id="57" name="c2-text-1"/>
          <p:cNvGrpSpPr/>
          <p:nvPr/>
        </p:nvGrpSpPr>
        <p:grpSpPr>
          <a:xfrm>
            <a:off x="5374958" y="1548765"/>
            <a:ext cx="5835015" cy="588645"/>
            <a:chOff x="5374958" y="1548765"/>
            <a:chExt cx="5835015" cy="588645"/>
          </a:xfrm>
        </p:grpSpPr>
        <p:sp>
          <p:nvSpPr>
            <p:cNvPr id="56" name="TextBox 56"/>
            <p:cNvSpPr txBox="1"/>
            <p:nvPr/>
          </p:nvSpPr>
          <p:spPr>
            <a:xfrm>
              <a:off x="5374958" y="1548765"/>
              <a:ext cx="58350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考虑方程组 Ax = b，A ∈ Rⁿˣⁿ 非奇异，b ∈ Rⁿ 为已知向量。将 A 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D − L − U，其中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129"/>
              <p:cNvSpPr txBox="1">
                <a:spLocks noGrp="1"/>
              </p:cNvSpPr>
              <p:nvPr/>
            </p:nvSpPr>
            <p:spPr>
              <a:xfrm>
                <a:off x="5382578" y="2268855"/>
                <a:ext cx="6276022" cy="1260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5" name="c2-card-3"/>
          <p:cNvGrpSpPr/>
          <p:nvPr/>
        </p:nvGrpSpPr>
        <p:grpSpPr>
          <a:xfrm>
            <a:off x="5382578" y="3719512"/>
            <a:ext cx="6276022" cy="2365058"/>
            <a:chOff x="5382578" y="3719512"/>
            <a:chExt cx="6276022" cy="2365058"/>
          </a:xfrm>
        </p:grpSpPr>
        <p:sp>
          <p:nvSpPr>
            <p:cNvPr id="59" name="Rectangle 59"/>
            <p:cNvSpPr/>
            <p:nvPr/>
          </p:nvSpPr>
          <p:spPr>
            <a:xfrm>
              <a:off x="5382578" y="3719512"/>
              <a:ext cx="6276022" cy="2365058"/>
            </a:xfrm>
            <a:prstGeom prst="roundRect">
              <a:avLst>
                <a:gd name="adj" fmla="val 5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92102" y="3852862"/>
              <a:ext cx="47625" cy="20983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30228" y="3929062"/>
              <a:ext cx="182594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81373" y="3964781"/>
              <a:ext cx="17246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例（例 2.5 的系数矩阵）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formula130"/>
                <p:cNvSpPr txBox="1">
                  <a:spLocks noGrp="1"/>
                </p:cNvSpPr>
                <p:nvPr/>
              </p:nvSpPr>
              <p:spPr>
                <a:xfrm>
                  <a:off x="5630228" y="4281488"/>
                  <a:ext cx="5818822" cy="8963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: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4" name="TextBox 64"/>
            <p:cNvSpPr txBox="1"/>
            <p:nvPr/>
          </p:nvSpPr>
          <p:spPr>
            <a:xfrm>
              <a:off x="5623751" y="5293519"/>
              <a:ext cx="5523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验算 D − L − U 就回到 A；后面例 2.5 的 Jacobi 迭代矩阵 D⁻¹(L + U) 由此得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0724" cy="909257"/>
            <a:chOff x="520446" y="342900"/>
            <a:chExt cx="60507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0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迭代格式：矩阵形式与分量形式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99969" cy="2764440"/>
            <a:chOff x="533400" y="1533525"/>
            <a:chExt cx="5499969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6015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 = D − L − U，Ax = b 即 Dx = (L + U)x +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可逆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60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aᵢᵢ ≠ 0（i = 1, 2, …, n）时，得等价形式 x = D⁻¹(L + U)x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D⁻¹b（2.7.9）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087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于是得到迭代格式（2.7.10），称为求解 Ax = b 的 Jacobi 迭代法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另一种写法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3883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注意到 L + U = D − A，迭代矩阵也可写成 I − D⁻¹A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34"/>
              <p:cNvSpPr txBox="1">
                <a:spLocks noGrp="1"/>
              </p:cNvSpPr>
              <p:nvPr/>
            </p:nvSpPr>
            <p:spPr>
              <a:xfrm>
                <a:off x="533400" y="4475798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35"/>
              <p:cNvSpPr txBox="1">
                <a:spLocks noGrp="1"/>
              </p:cNvSpPr>
              <p:nvPr/>
            </p:nvSpPr>
            <p:spPr>
              <a:xfrm>
                <a:off x="533400" y="5066348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2" name="c2-card-1"/>
          <p:cNvGrpSpPr/>
          <p:nvPr/>
        </p:nvGrpSpPr>
        <p:grpSpPr>
          <a:xfrm>
            <a:off x="6248400" y="1524000"/>
            <a:ext cx="5410200" cy="1627822"/>
            <a:chOff x="6248400" y="1524000"/>
            <a:chExt cx="5410200" cy="1627822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627822"/>
            </a:xfrm>
            <a:prstGeom prst="roundRect">
              <a:avLst>
                <a:gd name="adj" fmla="val 819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7950" y="1733550"/>
              <a:ext cx="155543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6888" y="1769269"/>
              <a:ext cx="1438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分量形式（2.7.11）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36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501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50330" y="2707958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1, 2, …, n；k = 0, 1, 2, …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342322"/>
            <a:ext cx="5410200" cy="1316355"/>
            <a:chOff x="6248400" y="3342322"/>
            <a:chExt cx="5410200" cy="1316355"/>
          </a:xfrm>
        </p:grpSpPr>
        <p:sp>
          <p:nvSpPr>
            <p:cNvPr id="33" name="Rectangle 33"/>
            <p:cNvSpPr/>
            <p:nvPr/>
          </p:nvSpPr>
          <p:spPr>
            <a:xfrm>
              <a:off x="6248400" y="3342322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47567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355187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2308" y="35875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3929062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个方程只保留 xᵢ 在左边，其余各项移到右边，再除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aᵢᵢ；右边的 xⱼ 全部代入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上一步的旧值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xⱼ⁽ᵏ⁾。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849178"/>
            <a:ext cx="5410200" cy="1316355"/>
            <a:chOff x="6248400" y="4849178"/>
            <a:chExt cx="5410200" cy="1316355"/>
          </a:xfrm>
        </p:grpSpPr>
        <p:sp>
          <p:nvSpPr>
            <p:cNvPr id="39" name="Rectangle 39"/>
            <p:cNvSpPr/>
            <p:nvPr/>
          </p:nvSpPr>
          <p:spPr>
            <a:xfrm>
              <a:off x="6248400" y="4849178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98252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50587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86258" y="50944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435918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(2.7.11) 写作 k = 1, 2, …；与 (2.7.10) 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致，k 应从 0 开始。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7441" cy="909257"/>
            <a:chOff x="520446" y="342900"/>
            <a:chExt cx="7657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7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按原次序做 Jacobi 迭代：越算越大，发散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544378" cy="2809875"/>
            <a:chOff x="533400" y="1524000"/>
            <a:chExt cx="4544378" cy="2809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809875"/>
            </a:xfrm>
            <a:prstGeom prst="roundRect">
              <a:avLst>
                <a:gd name="adj" fmla="val 47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431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864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535" y="1743551"/>
              <a:ext cx="4119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4277" y="17459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求解方程组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3"/>
                <p:cNvSpPr txBox="1">
                  <a:spLocks noGrp="1"/>
                </p:cNvSpPr>
                <p:nvPr/>
              </p:nvSpPr>
              <p:spPr>
                <a:xfrm>
                  <a:off x="758190" y="2049780"/>
                  <a:ext cx="4132898" cy="848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004185"/>
              <a:ext cx="3227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迭代公式（初值 (1, 2, 2)ᵀ）：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44"/>
                <p:cNvSpPr txBox="1">
                  <a:spLocks noGrp="1"/>
                </p:cNvSpPr>
                <p:nvPr/>
              </p:nvSpPr>
              <p:spPr>
                <a:xfrm>
                  <a:off x="758190" y="3282315"/>
                  <a:ext cx="4132898" cy="848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4504372"/>
            <a:ext cx="4544378" cy="1185862"/>
            <a:chOff x="533400" y="4504372"/>
            <a:chExt cx="4544378" cy="1185862"/>
          </a:xfrm>
        </p:grpSpPr>
        <p:sp>
          <p:nvSpPr>
            <p:cNvPr id="16" name="Rectangle 16"/>
            <p:cNvSpPr/>
            <p:nvPr/>
          </p:nvSpPr>
          <p:spPr>
            <a:xfrm>
              <a:off x="533400" y="4504372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63772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46910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862" y="4723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5034915"/>
              <a:ext cx="34512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k = 2 时 x 写作 6.687，精确值为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6.6875。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377624" y="1524000"/>
            <a:ext cx="6280976" cy="3463956"/>
            <a:chOff x="5377624" y="1524000"/>
            <a:chExt cx="6280976" cy="3463956"/>
          </a:xfrm>
        </p:grpSpPr>
        <p:sp>
          <p:nvSpPr>
            <p:cNvPr id="22" name="Rectangle 22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4765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1486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5457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37671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z⁽ᵏ⁾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765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3600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814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01237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82578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82578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4765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3079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5229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3.375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01237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4765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87227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6.6875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18145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52459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16.375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31242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4765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4301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34.6875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03515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8.015625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52459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−17.25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4765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5523" y="36456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−46.617188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86441" y="36456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17.8125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37830" y="36456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−123.734375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82578" y="39243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4765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2597" y="40457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−307.929688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37663" y="40457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−36.150391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03682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211.28125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82578" y="43195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7651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19800" y="4333875"/>
              <a:ext cx="186404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55523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502.627930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54737" y="44457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−124.929688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785032" y="4333875"/>
              <a:ext cx="186404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637830" y="44457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1202.568359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82578" y="1524000"/>
              <a:ext cx="6276022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0551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88860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77074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377624" y="4797266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精确解是 (2, 4, 3)ᵀ，迭代值却越来越大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2" name="Rectangle 7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8373"/>
              <a:ext cx="8826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原因：H_J = [0 1/2 5/2; 1/2 0 1/8; −4 1 0]，特征值约 0.104、−0.052 ± 3.104i，ρ(H_J) ≈ 3.10 &gt; 1。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79243" cy="909257"/>
            <a:chOff x="520446" y="342900"/>
            <a:chExt cx="94792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79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调换方程次序后严格对角占优，Jacobi 迭代收敛到 (2, 4, 3)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54"/>
              <p:cNvSpPr txBox="1">
                <a:spLocks noGrp="1"/>
              </p:cNvSpPr>
              <p:nvPr/>
            </p:nvSpPr>
            <p:spPr>
              <a:xfrm>
                <a:off x="533400" y="1524000"/>
                <a:ext cx="4652962" cy="848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5z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55"/>
              <p:cNvSpPr txBox="1">
                <a:spLocks noGrp="1"/>
              </p:cNvSpPr>
              <p:nvPr/>
            </p:nvSpPr>
            <p:spPr>
              <a:xfrm>
                <a:off x="533400" y="2542222"/>
                <a:ext cx="4652962" cy="848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3"/>
          <p:cNvGrpSpPr/>
          <p:nvPr/>
        </p:nvGrpSpPr>
        <p:grpSpPr>
          <a:xfrm>
            <a:off x="533400" y="3561398"/>
            <a:ext cx="4652962" cy="2628900"/>
            <a:chOff x="533400" y="3561398"/>
            <a:chExt cx="4652962" cy="2628900"/>
          </a:xfrm>
        </p:grpSpPr>
        <p:sp>
          <p:nvSpPr>
            <p:cNvPr id="9" name="Rectangle 9"/>
            <p:cNvSpPr/>
            <p:nvPr/>
          </p:nvSpPr>
          <p:spPr>
            <a:xfrm>
              <a:off x="533400" y="3561398"/>
              <a:ext cx="4652962" cy="2628900"/>
            </a:xfrm>
            <a:prstGeom prst="roundRect">
              <a:avLst>
                <a:gd name="adj" fmla="val 50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694748"/>
              <a:ext cx="47625" cy="23622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收敛判断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4091940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|4| &gt; 1 + 1，|−8| &gt; 4 + 1，|5| &gt; 2 + 1，严格对角占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56"/>
                <p:cNvSpPr txBox="1">
                  <a:spLocks noGrp="1"/>
                </p:cNvSpPr>
                <p:nvPr/>
              </p:nvSpPr>
              <p:spPr>
                <a:xfrm>
                  <a:off x="758190" y="4627245"/>
                  <a:ext cx="4241482" cy="802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1332" y="5534978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行和分别为 1/2、5/8、3/5，所以 ‖H_J‖∞ = 5/8 &lt;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1，迭代收敛。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5486210" y="1524000"/>
            <a:ext cx="6172390" cy="4264056"/>
            <a:chOff x="5486210" y="1524000"/>
            <a:chExt cx="6172390" cy="4264056"/>
          </a:xfrm>
        </p:grpSpPr>
        <p:sp>
          <p:nvSpPr>
            <p:cNvPr id="17" name="Rectangle 17"/>
            <p:cNvSpPr/>
            <p:nvPr/>
          </p:nvSpPr>
          <p:spPr>
            <a:xfrm>
              <a:off x="5491162" y="1524000"/>
              <a:ext cx="616743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1908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1335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875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0415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z⁽ᵏ⁾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31968" y="1645444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x⁽ᵏ⁻¹⁾‖∞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1908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55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895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7435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4750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91162" y="23193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91162" y="23241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1908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0629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1310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3.375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74355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8165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1.375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91162" y="27193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1908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1851" y="28455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1.84375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13103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3.875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08503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3.025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64579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491162" y="31194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91162" y="31242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1908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34777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1.9625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1310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25577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2.9625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8165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491162" y="35194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1908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8925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1.990625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4325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3.976563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59725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1580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5.16×10⁻²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91162" y="39195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91162" y="39243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1908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68925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1.994141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4325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3.995313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59725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3.000938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15801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1.87×10⁻²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491162" y="43195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19089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68925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1.998594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64325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3.997188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59725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2.998594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15801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4.45×10⁻³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491162" y="47196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491162" y="47244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19089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4940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4480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4020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747505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491162" y="51196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675553" y="52458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68925" y="52458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2.000000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64325" y="52458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4.000000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159725" y="52458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3.000000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941242" y="5133975"/>
              <a:ext cx="170783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15801" y="52458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9.89×10⁻⁷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491162" y="1524000"/>
              <a:ext cx="6167438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041708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336155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631555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926955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86210" y="5597366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初值同样取 (1, 2, 2)ᵀ；第 14 次相邻差首次小于 10⁻⁶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用误差估计式检验：事前估计偏保守，事后估计较贴近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592532" cy="293370"/>
            <a:chOff x="525780" y="1548765"/>
            <a:chExt cx="959253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92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仍是调换次序后的 Jacobi 迭代：q = ‖H_J‖∞ = 5/8，‖x⁽¹⁾ − x⁽⁰⁾‖∞ = 1.375，精确解 x* = (2, 4, 3)ᵀ。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4869180" cy="3348038"/>
            <a:chOff x="533400" y="1954530"/>
            <a:chExt cx="4869180" cy="33480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869180" cy="3348038"/>
            </a:xfrm>
            <a:prstGeom prst="roundRect">
              <a:avLst>
                <a:gd name="adj" fmla="val 3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081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3059" y="2186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事前估计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9631" y="2187416"/>
              <a:ext cx="28101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要使误差小于 10⁻⁶，需迭代几次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59"/>
                <p:cNvSpPr txBox="1">
                  <a:spLocks noGrp="1"/>
                </p:cNvSpPr>
                <p:nvPr/>
              </p:nvSpPr>
              <p:spPr>
                <a:xfrm>
                  <a:off x="769620" y="2507932"/>
                  <a:ext cx="443484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1.375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77240" y="32213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160871"/>
              <a:ext cx="38917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取对数：k &gt; ln(10⁻⁶ × 0.375/1.375)/ln 0.625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32.2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81000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750469"/>
              <a:ext cx="33417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32 时右边约 1.08×10⁻⁶，k = 33 时约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6.7×10⁻⁷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3524" y="433578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结论：估计需要迭代 33 次。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702046" y="1954530"/>
            <a:ext cx="5956554" cy="2191322"/>
            <a:chOff x="5702046" y="1954530"/>
            <a:chExt cx="5956554" cy="2191322"/>
          </a:xfrm>
        </p:grpSpPr>
        <p:sp>
          <p:nvSpPr>
            <p:cNvPr id="21" name="Rectangle 21"/>
            <p:cNvSpPr/>
            <p:nvPr/>
          </p:nvSpPr>
          <p:spPr>
            <a:xfrm>
              <a:off x="5707380" y="1954530"/>
              <a:ext cx="5951220" cy="63817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51818" y="21897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36436" y="2083118"/>
              <a:ext cx="131749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相邻差 ‖x⁽ᵏ⁾ − x⁽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ᵏ⁻¹⁾‖∞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5038" y="2083118"/>
              <a:ext cx="135026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事后上界 (5/3)×相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31158" y="2083118"/>
              <a:ext cx="146989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 ‖x⁽ᵏ⁾ − x*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5181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9268" y="272034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1.87×10⁻²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4253" y="272034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3.13×10⁻²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60190" y="272034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5.86×10⁻³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07380" y="30118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07380" y="301656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5172" y="31451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9268" y="314515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7.25×10⁻⁵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74253" y="314515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1.21×10⁻⁴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60190" y="314515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3.30×10⁻⁵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07380" y="3436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5172" y="35699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89268" y="356997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9.89×10⁻⁷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74253" y="356997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1.65×10⁻⁶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60190" y="356997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3.09×10⁻⁷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1954530"/>
              <a:ext cx="595122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97930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82915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68852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2046" y="3940493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q/(1 − q) = (5/8)/(3/8) = 5/3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707380" y="4284345"/>
            <a:ext cx="5951220" cy="1018222"/>
            <a:chOff x="5707380" y="4284345"/>
            <a:chExt cx="5951220" cy="1018222"/>
          </a:xfrm>
        </p:grpSpPr>
        <p:sp>
          <p:nvSpPr>
            <p:cNvPr id="47" name="Rectangle 47"/>
            <p:cNvSpPr/>
            <p:nvPr/>
          </p:nvSpPr>
          <p:spPr>
            <a:xfrm>
              <a:off x="5707380" y="4284345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912168" y="4693920"/>
              <a:ext cx="200026" cy="200026"/>
              <a:chOff x="5912168" y="469392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912168" y="46939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12180" y="4760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001068" y="47939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214491" y="4431506"/>
              <a:ext cx="48836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实际第 14 次误差就只有约 3×10⁻⁷。事前估计要 33 次，是因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为它用的 q = ‖H_J‖∞ = 0.625 比真正决定速度的 ρ(H_J) 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 大得多。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4" name="Rectangle 54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5753576"/>
              <a:ext cx="97979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注意：第 14 次相邻差 &lt; 10⁻⁶ 时，事后估计只能保证误差 ≤ 1.65×10⁻⁶。要保证误差 &lt; 10⁻⁶，应要求相邻差 &lt; (1 − q)/q ×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10⁻⁶ = 6×10⁻⁷。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9150" cy="909257"/>
            <a:chOff x="520446" y="342900"/>
            <a:chExt cx="68191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91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迭代：算出的新分量立刻用上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4565332"/>
            <a:chOff x="533400" y="1524000"/>
            <a:chExt cx="5410200" cy="4565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565332"/>
            </a:xfrm>
            <a:prstGeom prst="roundRect">
              <a:avLst>
                <a:gd name="adj" fmla="val 29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986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5726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015" y="1769269"/>
              <a:ext cx="808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Seidel 技巧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简单迭代法 (2.7.3) 的分量形式是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3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95300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02292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xᵢ⁽ᵏ⁺¹⁾ 时，x₁⁽ᵏ⁺¹⁾, …, xᵢ₋₁⁽ᵏ⁺¹⁾ 已经算出。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可以用这些新值来计算 xᵢ⁽ᵏ⁺¹⁾，于是得到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64"/>
                <p:cNvSpPr txBox="1">
                  <a:spLocks noGrp="1"/>
                </p:cNvSpPr>
                <p:nvPr/>
              </p:nvSpPr>
              <p:spPr>
                <a:xfrm>
                  <a:off x="781050" y="3698558"/>
                  <a:ext cx="4953000" cy="501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2.7.12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320540"/>
              <a:ext cx="275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这种方法称为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Seidel 迭代法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248400" y="1524000"/>
            <a:ext cx="5410200" cy="1963102"/>
            <a:chOff x="6248400" y="1524000"/>
            <a:chExt cx="5410200" cy="1963102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963102"/>
            </a:xfrm>
            <a:prstGeom prst="roundRect">
              <a:avLst>
                <a:gd name="adj" fmla="val 679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57950" y="1733550"/>
              <a:ext cx="236982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7177" y="1769269"/>
              <a:ext cx="2311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Gauss-Seidel 迭代法（2.7.13）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0330" y="2110740"/>
              <a:ext cx="4077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Jacobi 迭代 (2.7.11) 运用 Seidel 技巧：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65"/>
                <p:cNvSpPr txBox="1">
                  <a:spLocks noGrp="1"/>
                </p:cNvSpPr>
                <p:nvPr/>
              </p:nvSpPr>
              <p:spPr>
                <a:xfrm>
                  <a:off x="6457950" y="2421255"/>
                  <a:ext cx="4991100" cy="501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6450330" y="3043238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1, 2, …, n；k = 0, 1, 2, …</a:t>
              </a:r>
            </a:p>
          </p:txBody>
        </p:sp>
      </p:grpSp>
      <p:grpSp>
        <p:nvGrpSpPr>
          <p:cNvPr id="42" name="c2-cells-2"/>
          <p:cNvGrpSpPr/>
          <p:nvPr/>
        </p:nvGrpSpPr>
        <p:grpSpPr>
          <a:xfrm>
            <a:off x="6242304" y="3677602"/>
            <a:ext cx="3795141" cy="1162050"/>
            <a:chOff x="6242304" y="3677602"/>
            <a:chExt cx="3795141" cy="1162050"/>
          </a:xfrm>
        </p:grpSpPr>
        <p:sp>
          <p:nvSpPr>
            <p:cNvPr id="24" name="TextBox 24"/>
            <p:cNvSpPr txBox="1"/>
            <p:nvPr/>
          </p:nvSpPr>
          <p:spPr>
            <a:xfrm>
              <a:off x="6242304" y="3850957"/>
              <a:ext cx="984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Jacobi 算 x₃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94245" y="3677602"/>
              <a:ext cx="685800" cy="4953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97820" y="3850957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x₁⁽ᵏ⁾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80045" y="3677602"/>
              <a:ext cx="685800" cy="4953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83620" y="3850957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x₂⁽ᵏ⁾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665845" y="3677602"/>
              <a:ext cx="68580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56003" y="38509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351645" y="3677602"/>
              <a:ext cx="685800" cy="4953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5220" y="3850957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x₄⁽ᵏ⁾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2304" y="4517708"/>
              <a:ext cx="760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G-S 算 x₃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94245" y="4344352"/>
              <a:ext cx="68580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26677" y="452199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x₁⁽ᵏ⁺¹⁾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80045" y="4344352"/>
              <a:ext cx="685800" cy="4953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12477" y="452199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x₂⁽ᵏ⁺¹⁾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65845" y="4344352"/>
              <a:ext cx="685800" cy="495300"/>
            </a:xfrm>
            <a:prstGeom prst="rect">
              <a:avLst/>
            </a:prstGeom>
            <a:solidFill>
              <a:srgbClr val="2E7D4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56003" y="45177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51645" y="4344352"/>
              <a:ext cx="685800" cy="4953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55220" y="451770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x₄⁽ᵏ⁾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5030152"/>
            <a:ext cx="5410200" cy="1059180"/>
            <a:chOff x="6248400" y="5030152"/>
            <a:chExt cx="5410200" cy="1059180"/>
          </a:xfrm>
        </p:grpSpPr>
        <p:sp>
          <p:nvSpPr>
            <p:cNvPr id="43" name="Rectangle 43"/>
            <p:cNvSpPr/>
            <p:nvPr/>
          </p:nvSpPr>
          <p:spPr>
            <a:xfrm>
              <a:off x="6248400" y="503015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459730"/>
              <a:ext cx="200026" cy="200026"/>
              <a:chOff x="6453188" y="545973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4597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5264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5597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178742"/>
              <a:ext cx="4387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绿色是本轮刚算出的新值，灰色是上一轮的旧值。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G-S 每算出一个分量就覆盖旧值，程序里只需一个数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组（见下页）。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77029" cy="909257"/>
            <a:chOff x="520446" y="342900"/>
            <a:chExt cx="9177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77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的矩阵形式，以及与 Jacobi 在程序上的差别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00818" cy="2099787"/>
            <a:chOff x="533400" y="1533525"/>
            <a:chExt cx="5000818" cy="2099787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80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3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113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写成矩阵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2003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(2.7.13) 两边乘 aᵢᵢ：右边新值部分是 (Lx⁽ᵏ⁺¹⁾)ᵢ，旧值部分是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(Ux⁽ᵏ⁾)ᵢ，得下面第一式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3555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622709"/>
              <a:ext cx="44350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Dx⁽ᵏ⁺¹⁾ = Lx⁽ᵏ⁺¹⁾ + Ux⁽ᵏ⁾ + b，把新值项移到左边：(D − L)x⁽ᵏ⁺¹⁾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Ux⁽ᵏ⁾ +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145155"/>
              <a:ext cx="891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− L 可逆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413284"/>
              <a:ext cx="4587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它是下三角阵，对角元 aᵢᵢ ≠ 0，整理成一般迭代法的形式 (2.7.14)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72"/>
              <p:cNvSpPr txBox="1">
                <a:spLocks noGrp="1"/>
              </p:cNvSpPr>
              <p:nvPr/>
            </p:nvSpPr>
            <p:spPr>
              <a:xfrm>
                <a:off x="533400" y="3796665"/>
                <a:ext cx="5085398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73"/>
              <p:cNvSpPr txBox="1">
                <a:spLocks noGrp="1"/>
              </p:cNvSpPr>
              <p:nvPr/>
            </p:nvSpPr>
            <p:spPr>
              <a:xfrm>
                <a:off x="533400" y="4310062"/>
                <a:ext cx="5085398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rd-4"/>
          <p:cNvGrpSpPr/>
          <p:nvPr/>
        </p:nvGrpSpPr>
        <p:grpSpPr>
          <a:xfrm>
            <a:off x="533400" y="4822508"/>
            <a:ext cx="5085398" cy="1443038"/>
            <a:chOff x="533400" y="4822508"/>
            <a:chExt cx="5085398" cy="1443038"/>
          </a:xfrm>
        </p:grpSpPr>
        <p:sp>
          <p:nvSpPr>
            <p:cNvPr id="23" name="Rectangle 23"/>
            <p:cNvSpPr/>
            <p:nvPr/>
          </p:nvSpPr>
          <p:spPr>
            <a:xfrm>
              <a:off x="533400" y="4822508"/>
              <a:ext cx="508539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95585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50091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862" y="50420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5353050"/>
              <a:ext cx="44114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原课件此页公式编号写作 (1.7.13)、(1.7.14)，并称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“(1.7.9) 式为 Gauss-Seidel 迭代法”，应为 (2.7.13)、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(2.7.14)。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5923598" y="1524000"/>
            <a:ext cx="5735002" cy="3005138"/>
            <a:chOff x="5923598" y="1524000"/>
            <a:chExt cx="5735002" cy="3005138"/>
          </a:xfrm>
        </p:grpSpPr>
        <p:sp>
          <p:nvSpPr>
            <p:cNvPr id="29" name="Rectangle 29"/>
            <p:cNvSpPr/>
            <p:nvPr/>
          </p:nvSpPr>
          <p:spPr>
            <a:xfrm>
              <a:off x="5923598" y="1524000"/>
              <a:ext cx="5735002" cy="3005138"/>
            </a:xfrm>
            <a:prstGeom prst="roundRect">
              <a:avLst>
                <a:gd name="adj" fmla="val 31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51994" y="1675924"/>
              <a:ext cx="18773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一步迭代：只差“写回哪个数组”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42648" y="2791778"/>
              <a:ext cx="5696902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42648" y="4041458"/>
              <a:ext cx="5696902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51918" y="1936242"/>
              <a:ext cx="4089997" cy="2509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jacobi_step(A, b, x):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= len(b)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new = [0.0] * n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range(n):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 = sum(A[i][j] * x[j]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range(n)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!= i)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new[i] = (b[i] - s) / A[i][i]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   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右边全用旧值 x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gauss_seidel_step(A, b, x):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= len(b)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range(n):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 = sum(A[i][j] * x[j]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range(n)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!= i)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x[i] = (b[i] - s) / A[i][i]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就地写回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         </a:t>
              </a:r>
              <a:r>
                <a:rPr lang="zh-CN" sz="9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x[0..i-1] 已是新值</a:t>
              </a:r>
            </a:p>
          </p:txBody>
        </p:sp>
      </p:grpSp>
      <p:grpSp>
        <p:nvGrpSpPr>
          <p:cNvPr id="50" name="c2-table-2"/>
          <p:cNvGrpSpPr/>
          <p:nvPr/>
        </p:nvGrpSpPr>
        <p:grpSpPr>
          <a:xfrm>
            <a:off x="5923598" y="4699635"/>
            <a:ext cx="5735002" cy="1200150"/>
            <a:chOff x="5923598" y="4699635"/>
            <a:chExt cx="5735002" cy="1200150"/>
          </a:xfrm>
        </p:grpSpPr>
        <p:sp>
          <p:nvSpPr>
            <p:cNvPr id="35" name="Rectangle 35"/>
            <p:cNvSpPr/>
            <p:nvPr/>
          </p:nvSpPr>
          <p:spPr>
            <a:xfrm>
              <a:off x="5923598" y="4699635"/>
              <a:ext cx="573500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7663" y="4821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54475" y="4821079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Jacobi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46826" y="4821079"/>
              <a:ext cx="987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Gauss-Seidel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0752" y="52211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2815" y="522112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新旧两个向量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19285" y="52211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一个向量就地更新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923598" y="54949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23598" y="5499735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0752" y="5621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82815" y="562117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各分量互不依赖，可并行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19285" y="56211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必须按顺序逐个计算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23598" y="4699635"/>
              <a:ext cx="5735002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80898" y="469963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17368" y="469963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3335" cy="909257"/>
            <a:chOff x="520446" y="342900"/>
            <a:chExt cx="91933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33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2.4（调换次序后）：Gauss-Seidel 比 Jacobi 收敛更快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80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848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9" name="c1-table-2"/>
          <p:cNvGrpSpPr/>
          <p:nvPr/>
        </p:nvGrpSpPr>
        <p:grpSpPr>
          <a:xfrm>
            <a:off x="528447" y="2542222"/>
            <a:ext cx="5631371" cy="3064859"/>
            <a:chOff x="528447" y="2542222"/>
            <a:chExt cx="5631371" cy="3064859"/>
          </a:xfrm>
        </p:grpSpPr>
        <p:sp>
          <p:nvSpPr>
            <p:cNvPr id="8" name="Rectangle 8"/>
            <p:cNvSpPr/>
            <p:nvPr/>
          </p:nvSpPr>
          <p:spPr>
            <a:xfrm>
              <a:off x="533400" y="2542222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7514" y="2663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8443" y="26636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6693" y="26636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54943" y="26636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z⁽ᵏ⁾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4996" y="26636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514" y="3063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37139" y="30637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5389" y="30637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2686" y="30637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5306" y="30637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375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4232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7514" y="3463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37139" y="34637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26611" y="346376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3.96875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63909" y="346376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2.98625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3843" y="34637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0.219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376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7514" y="3863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5435" y="386381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1.995625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43685" y="386381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3.996094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0983" y="386381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2.999031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77991" y="386381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4.56×10⁻²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376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4242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751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5435" y="42638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1.999266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43685" y="42638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3.999512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0983" y="42638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2.999804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77991" y="426386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3.64×10⁻³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5377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7514" y="4663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85917" y="4663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24167" y="4663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1464" y="4663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09695" y="4663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9377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94252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7514" y="5063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05435" y="50639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2.000000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43685" y="50639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4.000000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80983" y="50639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3.000000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62500" y="4952048"/>
              <a:ext cx="138779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77991" y="506396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1.48×10⁻⁷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2542222"/>
              <a:ext cx="562641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5368" y="254222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272665" y="254222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10915" y="254222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748212" y="254222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5416391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(1, 2, 2)ᵀ；相邻差用 ∞-范数，第 9 次首次小于 10⁻⁶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6464618" y="1524000"/>
            <a:ext cx="5193982" cy="1200150"/>
            <a:chOff x="6464618" y="1524000"/>
            <a:chExt cx="5193982" cy="1200150"/>
          </a:xfrm>
        </p:grpSpPr>
        <p:sp>
          <p:nvSpPr>
            <p:cNvPr id="60" name="Rectangle 60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3201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89401" y="164544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‖H‖∞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32554" y="1645444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ρ(H)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76285" y="1645444"/>
              <a:ext cx="1493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相邻差 &lt; 10⁻⁶ 的次数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39085" y="2045494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4901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0431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634604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94966" y="2445544"/>
              <a:ext cx="987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4901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0431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67399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1524000"/>
              <a:ext cx="5193982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06678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641080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784080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formula181"/>
              <p:cNvSpPr txBox="1">
                <a:spLocks noGrp="1"/>
              </p:cNvSpPr>
              <p:nvPr/>
            </p:nvSpPr>
            <p:spPr>
              <a:xfrm>
                <a:off x="6464618" y="2893695"/>
                <a:ext cx="5193982" cy="848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87" name="c2-callout-3"/>
          <p:cNvGrpSpPr/>
          <p:nvPr/>
        </p:nvGrpSpPr>
        <p:grpSpPr>
          <a:xfrm>
            <a:off x="6464618" y="3912870"/>
            <a:ext cx="5193982" cy="729615"/>
            <a:chOff x="6464618" y="3912870"/>
            <a:chExt cx="5193982" cy="729615"/>
          </a:xfrm>
        </p:grpSpPr>
        <p:sp>
          <p:nvSpPr>
            <p:cNvPr id="81" name="Rectangle 81"/>
            <p:cNvSpPr/>
            <p:nvPr/>
          </p:nvSpPr>
          <p:spPr>
            <a:xfrm>
              <a:off x="6464618" y="391287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669405" y="4177665"/>
              <a:ext cx="200026" cy="200025"/>
              <a:chOff x="6669405" y="4177665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669405" y="41776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709144" y="42221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743859" y="43332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6972110" y="4058602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误差大约每迭代一次乘以 ρ(H)。ρ 越小收敛越快，G-S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在这里每步把误差缩小到约 1/8。</a:t>
              </a:r>
            </a:p>
          </p:txBody>
        </p:sp>
      </p:grpSp>
      <p:grpSp>
        <p:nvGrpSpPr>
          <p:cNvPr id="93" name="c2-callout-4"/>
          <p:cNvGrpSpPr/>
          <p:nvPr/>
        </p:nvGrpSpPr>
        <p:grpSpPr>
          <a:xfrm>
            <a:off x="6464618" y="4812030"/>
            <a:ext cx="5193982" cy="729615"/>
            <a:chOff x="6464618" y="4812030"/>
            <a:chExt cx="5193982" cy="729615"/>
          </a:xfrm>
        </p:grpSpPr>
        <p:sp>
          <p:nvSpPr>
            <p:cNvPr id="88" name="Rectangle 88"/>
            <p:cNvSpPr/>
            <p:nvPr/>
          </p:nvSpPr>
          <p:spPr>
            <a:xfrm>
              <a:off x="6464618" y="481203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669405" y="5076825"/>
              <a:ext cx="200026" cy="200026"/>
              <a:chOff x="6669405" y="5076825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6669405" y="5076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736080" y="51546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6972110" y="4957762"/>
              <a:ext cx="35713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同样迭代 5 次：Jacobi 的误差 ‖x⁽⁵⁾ − x*‖∞ ≈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5.86×10⁻³，G-S 只有约 7.30×10⁻⁵。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4" name="Rectangle 9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892" y="6028373"/>
              <a:ext cx="7564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Gauss-Seidel 并不总比 Jacobi 好：下面的例 2.5 中 Jacobi 收敛，Gauss-Seidel 反而发散。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3428" cy="909257"/>
            <a:chOff x="520446" y="342900"/>
            <a:chExt cx="91934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3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2.5：同一个方程组，Jacobi 收敛而 Gauss-Seidel 发散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4641532"/>
            <a:chOff x="533400" y="1524000"/>
            <a:chExt cx="4760595" cy="46415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641532"/>
            </a:xfrm>
            <a:prstGeom prst="roundRect">
              <a:avLst>
                <a:gd name="adj" fmla="val 28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748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429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538" y="1769269"/>
              <a:ext cx="470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30668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用两种方法求解，并分析收敛性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85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303395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68015"/>
              <a:ext cx="869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86"/>
                <p:cNvSpPr txBox="1">
                  <a:spLocks noGrp="1"/>
                </p:cNvSpPr>
                <p:nvPr/>
              </p:nvSpPr>
              <p:spPr>
                <a:xfrm>
                  <a:off x="781050" y="3478530"/>
                  <a:ext cx="4303395" cy="8963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494848"/>
              <a:ext cx="1523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87"/>
                <p:cNvSpPr txBox="1">
                  <a:spLocks noGrp="1"/>
                </p:cNvSpPr>
                <p:nvPr/>
              </p:nvSpPr>
              <p:spPr>
                <a:xfrm>
                  <a:off x="781050" y="4804410"/>
                  <a:ext cx="4303395" cy="8963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1" name="c2-table-1"/>
          <p:cNvGrpSpPr/>
          <p:nvPr/>
        </p:nvGrpSpPr>
        <p:grpSpPr>
          <a:xfrm>
            <a:off x="5593080" y="1524000"/>
            <a:ext cx="6065520" cy="2988469"/>
            <a:chOff x="5593080" y="1524000"/>
            <a:chExt cx="6065520" cy="2988469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8545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8913" y="1659731"/>
              <a:ext cx="478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J: x₁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6631" y="1659731"/>
              <a:ext cx="478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J: x₂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14348" y="1659731"/>
              <a:ext cx="478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J: x₃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8113" y="1659731"/>
              <a:ext cx="68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G-S: x₁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8246" y="1659731"/>
              <a:ext cx="68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G-S: x₂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68378" y="1659731"/>
              <a:ext cx="68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G-S: x₃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8545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08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180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952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3868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9882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5895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8545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408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6442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5213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3868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9882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1156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8545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408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6442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9952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43917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5143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6418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545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93142" y="3328988"/>
              <a:ext cx="76866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2408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80860" y="3328988"/>
              <a:ext cx="76866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1180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68578" y="3328988"/>
              <a:ext cx="76866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9952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9130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5143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64182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598795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85450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408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1180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9952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456295" y="3777615"/>
              <a:ext cx="107156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796531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−422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546908" y="3777615"/>
              <a:ext cx="101060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56663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−175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577512" y="3777615"/>
              <a:ext cx="107156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869409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−1197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598795" y="1524000"/>
              <a:ext cx="605980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7885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86657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65429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44200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53262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56322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593080" y="4292441"/>
              <a:ext cx="4104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 2.2 两种方法都以 (0, 0, 0)ᵀ 为初值；精确解 (2, 1, 3)ᵀ</a:t>
              </a:r>
            </a:p>
          </p:txBody>
        </p:sp>
      </p:grpSp>
      <p:grpSp>
        <p:nvGrpSpPr>
          <p:cNvPr id="87" name="c2-callout-2"/>
          <p:cNvGrpSpPr/>
          <p:nvPr/>
        </p:nvGrpSpPr>
        <p:grpSpPr>
          <a:xfrm>
            <a:off x="5598795" y="4658678"/>
            <a:ext cx="6059805" cy="782955"/>
            <a:chOff x="5598795" y="4658678"/>
            <a:chExt cx="6059805" cy="782955"/>
          </a:xfrm>
        </p:grpSpPr>
        <p:sp>
          <p:nvSpPr>
            <p:cNvPr id="82" name="Rectangle 82"/>
            <p:cNvSpPr/>
            <p:nvPr/>
          </p:nvSpPr>
          <p:spPr>
            <a:xfrm>
              <a:off x="5598795" y="465867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5803583" y="4950143"/>
              <a:ext cx="200026" cy="200026"/>
              <a:chOff x="5803583" y="4950143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5803583" y="49501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5870258" y="50279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6105525" y="4807268"/>
              <a:ext cx="5149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Jacobi 第 3 次迭代就得到精确解 (2, 1, 3)ᵀ，第 4 次结果不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再变化（原课件说“迭代到第 4 次已经收敛”）。</a:t>
              </a:r>
            </a:p>
          </p:txBody>
        </p:sp>
      </p:grpSp>
      <p:grpSp>
        <p:nvGrpSpPr>
          <p:cNvPr id="94" name="c2-callout-3"/>
          <p:cNvGrpSpPr/>
          <p:nvPr/>
        </p:nvGrpSpPr>
        <p:grpSpPr>
          <a:xfrm>
            <a:off x="5598795" y="5632132"/>
            <a:ext cx="6059805" cy="533400"/>
            <a:chOff x="5598795" y="5632132"/>
            <a:chExt cx="6059805" cy="533400"/>
          </a:xfrm>
        </p:grpSpPr>
        <p:sp>
          <p:nvSpPr>
            <p:cNvPr id="88" name="Rectangle 88"/>
            <p:cNvSpPr/>
            <p:nvPr/>
          </p:nvSpPr>
          <p:spPr>
            <a:xfrm>
              <a:off x="5598795" y="5632132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5791524" y="5795128"/>
              <a:ext cx="224134" cy="192560"/>
              <a:chOff x="5791524" y="5795128"/>
              <a:chExt cx="224134" cy="19256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5903595" y="58654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5791524" y="57951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5903595" y="5943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6105525" y="5794058"/>
              <a:ext cx="52181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Gauss-Seidel 的迭代值绝对值每步放大 4 到 5 倍，发散。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2529" cy="909257"/>
            <a:chOff x="520446" y="342900"/>
            <a:chExt cx="7702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2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2.5 的收敛性分析：比较两个迭代矩阵的谱半径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3924300"/>
            <a:chOff x="533400" y="1524000"/>
            <a:chExt cx="5410200" cy="3924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24300"/>
            </a:xfrm>
            <a:prstGeom prst="roundRect">
              <a:avLst>
                <a:gd name="adj" fmla="val 33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576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9156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251" y="1769269"/>
              <a:ext cx="951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Jacobi：收敛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92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3"/>
                <p:cNvSpPr txBox="1">
                  <a:spLocks noGrp="1"/>
                </p:cNvSpPr>
                <p:nvPr/>
              </p:nvSpPr>
              <p:spPr>
                <a:xfrm>
                  <a:off x="781050" y="3124200"/>
                  <a:ext cx="4953000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4187190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λ₁ = λ₂ = λ₃ = 0，ρ(M_J) = 0 &lt; 1，由收敛基本定理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 Jacobi 迭代法收敛。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4804886"/>
              <a:ext cx="4637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补充：还可验证 M_J³ = O，误差 x⁽³⁾ − x* = M_J³(x⁽⁰⁾ − x*)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0，所以第 3 步恰好得到精确解。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3924300"/>
            <a:chOff x="6248400" y="1524000"/>
            <a:chExt cx="5410200" cy="39243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3924300"/>
            </a:xfrm>
            <a:prstGeom prst="roundRect">
              <a:avLst>
                <a:gd name="adj" fmla="val 33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1657350"/>
              <a:ext cx="47625" cy="36576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96050" y="1733550"/>
              <a:ext cx="154686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9779" y="1769269"/>
              <a:ext cx="143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Gauss-Seidel：发散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94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95"/>
                <p:cNvSpPr txBox="1">
                  <a:spLocks noGrp="1"/>
                </p:cNvSpPr>
                <p:nvPr/>
              </p:nvSpPr>
              <p:spPr>
                <a:xfrm>
                  <a:off x="6496050" y="3124200"/>
                  <a:ext cx="4953000" cy="8963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4λ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6488430" y="4140518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λ₁ = 0，λ₂,₃ = −2 ± 2√2，ρ(M_G) = 2 + 2√2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4.83 &gt; 1，Gauss-Seidel 迭代法发散。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9573" y="4757261"/>
              <a:ext cx="4786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按第 1 列展开：−λ[(2 − λ)(−6 − λ) + 8] = −λ(λ² + 4λ − 4)。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991225"/>
              <a:ext cx="9228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判断收敛要看谱半径：这里 ‖M_J‖∞ = 4 &gt; 1，用范数判据得不出结论，算出 ρ(M_J) = 0 才知道收敛。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20403" cy="909257"/>
            <a:chOff x="520446" y="342900"/>
            <a:chExt cx="95204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204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与 Gauss-Seidel 谁收敛要具体计算；常用的充分条件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8066" y="1524000"/>
            <a:ext cx="6281356" cy="2401824"/>
            <a:chOff x="528066" y="1524000"/>
            <a:chExt cx="6281356" cy="240182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605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方程组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21928" y="1652588"/>
              <a:ext cx="59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ρ(H_J)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25863" y="1652588"/>
              <a:ext cx="59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ρ(H_G)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4925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原次序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34666" y="207645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8601" y="207645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6852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两者都发散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1201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调换次序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90241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94176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6852" y="2501265"/>
              <a:ext cx="1330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都收敛，G-S 更快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926080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6793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38601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6852" y="2926080"/>
              <a:ext cx="1699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收敛，G-S 发散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349942"/>
              <a:ext cx="1150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节消元例题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793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94176" y="33499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0.473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26852" y="3349942"/>
              <a:ext cx="1860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不收敛，G-S 收敛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1173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1566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1960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3720465"/>
              <a:ext cx="4046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最后一行是上一节的方程组 3x₁ + 2x₂ + x₃ = 39 等（补充计算）</a:t>
              </a:r>
            </a:p>
          </p:txBody>
        </p:sp>
      </p:grpSp>
      <p:grpSp>
        <p:nvGrpSpPr>
          <p:cNvPr id="47" name="c1-card-2"/>
          <p:cNvGrpSpPr/>
          <p:nvPr/>
        </p:nvGrpSpPr>
        <p:grpSpPr>
          <a:xfrm>
            <a:off x="533400" y="4065270"/>
            <a:ext cx="6276022" cy="2111692"/>
            <a:chOff x="533400" y="4065270"/>
            <a:chExt cx="6276022" cy="2111692"/>
          </a:xfrm>
        </p:grpSpPr>
        <p:sp>
          <p:nvSpPr>
            <p:cNvPr id="39" name="Rectangle 39"/>
            <p:cNvSpPr/>
            <p:nvPr/>
          </p:nvSpPr>
          <p:spPr>
            <a:xfrm>
              <a:off x="533400" y="4065270"/>
              <a:ext cx="6276022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198620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9620" y="4263390"/>
              <a:ext cx="260223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7483" y="4297680"/>
              <a:ext cx="2546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2.2 节例题的两种迭代（初值 0，补充）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7240" y="46834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3831" y="4623911"/>
              <a:ext cx="54246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H_J 的特征值为 −1、1/3、2/3，ρ(H_J) = 1。Jacobi 的奇、偶次迭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代来回摆动：x⁽¹⁾ ≈ (13, 11.3, 8.7)，x⁽²⁾ ≈ (2.6, −0.2,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3.2)，x⁽³⁾ ≈ (14.2, 10.7, 8.0)，不收敛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7240" y="554450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3831" y="5484019"/>
              <a:ext cx="52713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ρ(H_G) = (17 + √73)/54 ≈ 0.473，G-S 第 20 次误差约 10⁻⁶，收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敛到 (37/4, 17/4, 11/4)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1847850"/>
            <a:chOff x="7114222" y="1524000"/>
            <a:chExt cx="4544378" cy="1847850"/>
          </a:xfrm>
        </p:grpSpPr>
        <p:sp>
          <p:nvSpPr>
            <p:cNvPr id="48" name="Rectangle 48"/>
            <p:cNvSpPr/>
            <p:nvPr/>
          </p:nvSpPr>
          <p:spPr>
            <a:xfrm>
              <a:off x="7114222" y="1524000"/>
              <a:ext cx="4544378" cy="1847850"/>
            </a:xfrm>
            <a:prstGeom prst="roundRect">
              <a:avLst>
                <a:gd name="adj" fmla="val 721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12342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71779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常用充分条件（补充）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319962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76554" y="2082641"/>
              <a:ext cx="35942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严格对角占优（每行 |aᵢᵢ| &gt; Σⱼ≠ᵢ |aᵢⱼ|）⇒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Jacobi 与 Gauss-Seidel 都收敛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19962" y="27317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76554" y="2672239"/>
              <a:ext cx="27912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对称正定 ⇒ Gauss-Seidel 收敛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06247" y="298608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条件不满足时不能断定发散，只能计算谱半径。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114222" y="3551872"/>
            <a:ext cx="4544378" cy="2625090"/>
            <a:chOff x="7114222" y="3551872"/>
            <a:chExt cx="4544378" cy="2625090"/>
          </a:xfrm>
        </p:grpSpPr>
        <p:sp>
          <p:nvSpPr>
            <p:cNvPr id="57" name="Rectangle 57"/>
            <p:cNvSpPr/>
            <p:nvPr/>
          </p:nvSpPr>
          <p:spPr>
            <a:xfrm>
              <a:off x="7114222" y="3551872"/>
              <a:ext cx="4544378" cy="2625090"/>
            </a:xfrm>
            <a:prstGeom prst="roundRect">
              <a:avLst>
                <a:gd name="adj" fmla="val 50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3685222"/>
              <a:ext cx="47625" cy="23583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50442" y="37499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3882" y="37842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对照上表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58062" y="417099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14654" y="4110514"/>
              <a:ext cx="36663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调换次序后严格对角占优，两种方法都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358062" y="47596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14654" y="4700111"/>
              <a:ext cx="37745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2.5 和 2.2 节例题都不是严格对角占优（后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者每行 |aᵢᵢ| 恰好等于其余元素绝对值之和），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结论只能靠 ρ 判断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840230"/>
            <a:chOff x="533400" y="1524000"/>
            <a:chExt cx="3505200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28286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x = (3, −4, 0)ᵀ 的 1、2、∞ 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26925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‖x‖₁ = 7，‖x‖₂ = 5，‖x‖∞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44252"/>
            <a:ext cx="3505200" cy="2654618"/>
            <a:chOff x="533400" y="3544252"/>
            <a:chExt cx="3505200" cy="2654618"/>
          </a:xfrm>
        </p:grpSpPr>
        <p:sp>
          <p:nvSpPr>
            <p:cNvPr id="13" name="Rectangle 13"/>
            <p:cNvSpPr/>
            <p:nvPr/>
          </p:nvSpPr>
          <p:spPr>
            <a:xfrm>
              <a:off x="533400" y="3544252"/>
              <a:ext cx="3505200" cy="2654618"/>
            </a:xfrm>
            <a:prstGeom prst="roundRect">
              <a:avLst>
                <a:gd name="adj" fmla="val 50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102894"/>
              <a:ext cx="29702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10x − y = 9，−x + 10y = 9，从 0 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发用 Jacobi 迭代。按事前估计，几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次后误差（∞-范数）小于 10⁻⁴？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29269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‖H_J‖∞ = 0.1，x⁽¹⁾ = (0.9,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0.9)ᵀ，上界 0.1ᵏ/(1 − 0.1)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 = 0.1ᵏ &lt; 10⁻⁴，k ≥ 5（k = 4 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恰为 10⁻⁴）。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11692"/>
            <a:chOff x="4343400" y="1524000"/>
            <a:chExt cx="3505200" cy="211169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4281" y="2082641"/>
              <a:ext cx="26668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[1 −2; 3 0]，求 ‖A‖₁、‖A‖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∞，并验证 ρ(A) 不超过它们。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4281" y="2672239"/>
              <a:ext cx="29269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 4、2，‖A‖₁ = 4；行和 3、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3，‖A‖∞ = 3。特征值 (1 ± i√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23)/2，模为 √6 ≈ 2.449 ≤ 3。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15715"/>
            <a:ext cx="3505200" cy="2383155"/>
            <a:chOff x="4343400" y="3815715"/>
            <a:chExt cx="3505200" cy="2383155"/>
          </a:xfrm>
        </p:grpSpPr>
        <p:sp>
          <p:nvSpPr>
            <p:cNvPr id="25" name="Rectangle 25"/>
            <p:cNvSpPr/>
            <p:nvPr/>
          </p:nvSpPr>
          <p:spPr>
            <a:xfrm>
              <a:off x="434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4281" y="4374356"/>
              <a:ext cx="28214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某迭代矩阵 ‖H‖∞ = 1.2，能否断定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迭代发散？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4281" y="4963954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不能。范数判据只是充分条件，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要看 ρ(H) 是否小于 1（如例 2.5 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‖M_J‖∞ = 4 仍收敛）。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383155"/>
            <a:chOff x="8153400" y="1524000"/>
            <a:chExt cx="3505200" cy="238315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4281" y="2082641"/>
              <a:ext cx="26947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[1 1; 1 1.0001]，求 Cond∞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(A)，判断是否病态。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4281" y="2672239"/>
              <a:ext cx="287286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 = [10001 −10000; −10000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10000]，‖A⁻¹‖∞ = 20001，‖A‖∞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2.0001，Cond∞ ≈ 40004，严重病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087178"/>
            <a:ext cx="3505200" cy="2111692"/>
            <a:chOff x="8153400" y="4087178"/>
            <a:chExt cx="3505200" cy="2111692"/>
          </a:xfrm>
        </p:grpSpPr>
        <p:sp>
          <p:nvSpPr>
            <p:cNvPr id="37" name="Rectangle 37"/>
            <p:cNvSpPr/>
            <p:nvPr/>
          </p:nvSpPr>
          <p:spPr>
            <a:xfrm>
              <a:off x="8153400" y="4087178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1520" y="428529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0468" y="431958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1" y="4645819"/>
              <a:ext cx="27624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是否一定比 Jacobi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281" y="5235416"/>
              <a:ext cx="28818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不一定。例 2.5 中 Jacobi 收敛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G-S 发散；2.2 节例题则相反。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线性方程组（下） · 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本章（下）小结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059805" cy="2800350"/>
            <a:chOff x="533400" y="1524000"/>
            <a:chExt cx="6059805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7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00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417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2135" y="20454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三种范数互相等价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45280" y="20454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‖x‖∞ ≤ ‖x‖₂ ≤ √n‖x‖∞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矩阵范数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2135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行和、列和、谱范数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45280" y="2445544"/>
              <a:ext cx="793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 ≤ ‖A‖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2135" y="28455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相对误差的放大系数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5280" y="2845594"/>
              <a:ext cx="1474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 = ‖A‖‖A⁻¹‖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2135" y="3245644"/>
              <a:ext cx="964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充要 ρ(H) &lt;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45280" y="3245644"/>
              <a:ext cx="1879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− x* = Hᵏ(x⁽⁰⁾ − x*)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2135" y="36456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右边全用旧值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45280" y="3645694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H_J = D⁻¹(L + U)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987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42135" y="40457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新值立即使用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5280" y="4045744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H_G = (D − L)⁻¹U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05980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74021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04336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rd-2"/>
          <p:cNvGrpSpPr/>
          <p:nvPr/>
        </p:nvGrpSpPr>
        <p:grpSpPr>
          <a:xfrm>
            <a:off x="533400" y="4493895"/>
            <a:ext cx="6059805" cy="1743075"/>
            <a:chOff x="533400" y="4493895"/>
            <a:chExt cx="6059805" cy="1743075"/>
          </a:xfrm>
        </p:grpSpPr>
        <p:sp>
          <p:nvSpPr>
            <p:cNvPr id="41" name="Rectangle 41"/>
            <p:cNvSpPr/>
            <p:nvPr/>
          </p:nvSpPr>
          <p:spPr>
            <a:xfrm>
              <a:off x="533400" y="4493895"/>
              <a:ext cx="605980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62724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468058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9155" y="471344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本讲义对原课件的更正与说明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08158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025390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定理、公式编号混用 1.x 与 2.x（如定理 1.5、(1.6.3)、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(1.7.13)），本讲义用定理名称指代，公式统一编为 2.x.x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6388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582602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2.4 表中 6.687 应为 6.6875；(2.7.11) 中 k 应从 0 开始；例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的 Jacobi 第 3 次已得精确解</a:t>
              </a:r>
            </a:p>
          </p:txBody>
        </p:sp>
      </p:grpSp>
      <p:grpSp>
        <p:nvGrpSpPr>
          <p:cNvPr id="65" name="c2-bullets-1"/>
          <p:cNvGrpSpPr/>
          <p:nvPr/>
        </p:nvGrpSpPr>
        <p:grpSpPr>
          <a:xfrm>
            <a:off x="6897052" y="1534478"/>
            <a:ext cx="4837938" cy="2538602"/>
            <a:chOff x="6897052" y="1534478"/>
            <a:chExt cx="4837938" cy="2538602"/>
          </a:xfrm>
        </p:grpSpPr>
        <p:sp>
          <p:nvSpPr>
            <p:cNvPr id="50" name="Ellipse 50"/>
            <p:cNvSpPr/>
            <p:nvPr/>
          </p:nvSpPr>
          <p:spPr>
            <a:xfrm>
              <a:off x="6897052" y="153447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52731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77849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范数度量向量和矩阵的大小，有限维空间里各种范数等价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7052" y="18430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2731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77849" y="1854518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手算常用 ‖·‖∞（行和）和 ‖·‖₁（列和）；ρ(A) 不超过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任何相容范数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7052" y="240887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52731" y="24472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77849" y="242030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条件数大则病态，扰动引起的相对误差最多放大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Cond(A) 倍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7052" y="297465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2731" y="30130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77849" y="2986088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迭代法对任意初值收敛 ⇔ ρ(H) &lt; 1；‖H‖ &lt; 1 时可估计误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差与次数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897052" y="354044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52731" y="35788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77849" y="3551872"/>
              <a:ext cx="42313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与 G-S 谁收敛、谁更快要具体算；严格对角占优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时两者都收敛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898005" y="4190048"/>
            <a:ext cx="4760595" cy="729615"/>
            <a:chOff x="6898005" y="4190048"/>
            <a:chExt cx="4760595" cy="729615"/>
          </a:xfrm>
        </p:grpSpPr>
        <p:sp>
          <p:nvSpPr>
            <p:cNvPr id="66" name="Rectangle 66"/>
            <p:cNvSpPr/>
            <p:nvPr/>
          </p:nvSpPr>
          <p:spPr>
            <a:xfrm>
              <a:off x="6898005" y="419004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102793" y="4454845"/>
              <a:ext cx="200023" cy="200023"/>
              <a:chOff x="7102793" y="445484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44548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36143" y="4521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405497" y="4336732"/>
              <a:ext cx="37941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复习重点：三种矩阵范数与条件数的手算，Jacobi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G-S 的迭代表，用谱半径判断收敛。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解线性方程组的数值法（下）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2b">
  <a:themeElements>
    <a:clrScheme name="numa_ch2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2b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2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2026-09-17T08:14:50Z</dcterms:created>
  <dcterms:modified xsi:type="dcterms:W3CDTF">2026-09-17T08:14:50Z</dcterms:modified>
  <cp:category/>
  <cp:contentStatus/>
</cp:coreProperties>
</file>