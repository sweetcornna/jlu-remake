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png" ContentType="image/pn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</p:sldIdLst>
  <p:sldSz cx="12192000" cy="6858000" type="screen16x9"/>
  <p:notesSz cx="6858000" cy="9144000"/>
  <p:defaultTextStyle>
    <a:defPPr>
      <a:defRPr lang="zh-CN"/>
    </a:defPPr>
    <a:lvl1pPr marL="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numa_ch2b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Masters/_rels/slideMaster1.xml.rels><?xml version='1.0' encoding='UTF-8' standalone='yes'?>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numa_ch2b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 lang="zh-CN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e85798e7a801bfd1.png"/>
</Relationships>
</file>

<file path=ppt/slides/_rels/slide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5fb7d4674b97e549.png"/>
</Relationships>
</file>

<file path=ppt/slides/_rels/slide1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bc68ebadfb1787df.png"/>
</Relationships>
</file>

<file path=ppt/slides/_rels/slide2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over-hero"/>
          <p:cNvPicPr>
            <a:picLocks noChangeAspect="1"/>
          </p:cNvPicPr>
          <p:nvPr/>
        </p:nvPicPr>
        <p:blipFill>
          <a:blip r:embed="rId2"/>
          <a:srcRect l="0" t="26" r="0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cover-scrim"/>
          <p:cNvSpPr/>
          <p:nvPr/>
        </p:nvSpPr>
        <p:spPr>
          <a:xfrm>
            <a:off x="0" y="0"/>
            <a:ext cx="7620000" cy="6858000"/>
          </a:xfrm>
          <a:prstGeom prst="rect">
            <a:avLst/>
          </a:prstGeom>
          <a:gradFill>
            <a:gsLst>
              <a:gs pos="0">
                <a:srgbClr val="FFFFFF">
                  <a:alpha val="97000"/>
                </a:srgbClr>
              </a:gs>
              <a:gs pos="58000">
                <a:srgbClr val="FFFFFF">
                  <a:alpha val="85000"/>
                </a:srgbClr>
              </a:gs>
              <a:gs pos="100000">
                <a:srgbClr val="FFFFFF">
                  <a:alpha val="0"/>
                </a:srgbClr>
              </a:gs>
            </a:gsLst>
            <a:lin ang="0" scaled="1"/>
          </a:gradFill>
          <a:ln>
            <a:noFill/>
          </a:ln>
        </p:spPr>
      </p:sp>
      <p:grpSp>
        <p:nvGrpSpPr>
          <p:cNvPr id="17" name="cover-title"/>
          <p:cNvGrpSpPr/>
          <p:nvPr/>
        </p:nvGrpSpPr>
        <p:grpSpPr>
          <a:xfrm>
            <a:off x="668274" y="1619250"/>
            <a:ext cx="6072759" cy="3352038"/>
            <a:chOff x="668274" y="1619250"/>
            <a:chExt cx="6072759" cy="3352038"/>
          </a:xfrm>
        </p:grpSpPr>
        <p:sp>
          <p:nvSpPr>
            <p:cNvPr id="4" name="Rectangle 4"/>
            <p:cNvSpPr/>
            <p:nvPr/>
          </p:nvSpPr>
          <p:spPr>
            <a:xfrm>
              <a:off x="685800" y="1619250"/>
              <a:ext cx="2050732" cy="3429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5" name="TextBox 5"/>
            <p:cNvSpPr txBox="1"/>
            <p:nvPr/>
          </p:nvSpPr>
          <p:spPr>
            <a:xfrm>
              <a:off x="800294" y="1718310"/>
              <a:ext cx="182269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计算方法 · 第二章（下）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668274" y="2403158"/>
              <a:ext cx="6072759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解线性方程组的数值法（下）</a:t>
              </a:r>
            </a:p>
          </p:txBody>
        </p:sp>
        <p:sp>
          <p:nvSpPr>
            <p:cNvPr id="7" name="Rectangle 7"/>
            <p:cNvSpPr/>
            <p:nvPr/>
          </p:nvSpPr>
          <p:spPr>
            <a:xfrm>
              <a:off x="685800" y="3061335"/>
              <a:ext cx="990600" cy="5715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676656" y="3381375"/>
              <a:ext cx="2441448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范数、条件数与迭代法</a:t>
              </a:r>
            </a:p>
          </p:txBody>
        </p:sp>
        <p:sp>
          <p:nvSpPr>
            <p:cNvPr id="9" name="Ellipse 9"/>
            <p:cNvSpPr/>
            <p:nvPr/>
          </p:nvSpPr>
          <p:spPr>
            <a:xfrm>
              <a:off x="709612" y="3890962"/>
              <a:ext cx="66675" cy="66675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69442" y="3835718"/>
              <a:ext cx="164026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2.5 向量和矩阵范数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709612" y="4181475"/>
              <a:ext cx="66675" cy="66675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869442" y="4126230"/>
              <a:ext cx="200373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2.6 条件数与病态方程组</a:t>
              </a:r>
            </a:p>
          </p:txBody>
        </p:sp>
        <p:sp>
          <p:nvSpPr>
            <p:cNvPr id="13" name="Ellipse 13"/>
            <p:cNvSpPr/>
            <p:nvPr/>
          </p:nvSpPr>
          <p:spPr>
            <a:xfrm>
              <a:off x="709612" y="4471988"/>
              <a:ext cx="66675" cy="66675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869442" y="4416742"/>
              <a:ext cx="164026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2.7 迭代法的收敛性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709612" y="4762500"/>
              <a:ext cx="66675" cy="66675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869442" y="4707255"/>
              <a:ext cx="160554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Jacobi 与 G-S 迭代</a:t>
              </a:r>
            </a:p>
          </p:txBody>
        </p:sp>
      </p:grpSp>
      <p:grpSp>
        <p:nvGrpSpPr>
          <p:cNvPr id="19" name="cover-credit"/>
          <p:cNvGrpSpPr/>
          <p:nvPr/>
        </p:nvGrpSpPr>
        <p:grpSpPr>
          <a:xfrm>
            <a:off x="680466" y="6192202"/>
            <a:ext cx="5608168" cy="205359"/>
            <a:chOff x="680466" y="6192202"/>
            <a:chExt cx="5608168" cy="205359"/>
          </a:xfrm>
        </p:grpSpPr>
        <p:sp>
          <p:nvSpPr>
            <p:cNvPr id="18" name="TextBox 18"/>
            <p:cNvSpPr txBox="1"/>
            <p:nvPr/>
          </p:nvSpPr>
          <p:spPr>
            <a:xfrm>
              <a:off x="680466" y="6192202"/>
              <a:ext cx="560816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重制讲义 · 自学复习版｜据吉林大学《计算方法》第二章课件整理，上接 2.1–2.4 直接法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2085594" cy="909257"/>
            <a:chOff x="520446" y="342900"/>
            <a:chExt cx="208559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816418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14262" y="407194"/>
              <a:ext cx="16537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第2章 线性方程组（下）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208559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本讲学习路线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6" name="c1-agenda-1"/>
          <p:cNvGrpSpPr/>
          <p:nvPr/>
        </p:nvGrpSpPr>
        <p:grpSpPr>
          <a:xfrm>
            <a:off x="521970" y="1515428"/>
            <a:ext cx="6287453" cy="3689317"/>
            <a:chOff x="521970" y="1515428"/>
            <a:chExt cx="6287453" cy="3689317"/>
          </a:xfrm>
        </p:grpSpPr>
        <p:sp>
          <p:nvSpPr>
            <p:cNvPr id="7" name="TextBox 7"/>
            <p:cNvSpPr txBox="1"/>
            <p:nvPr/>
          </p:nvSpPr>
          <p:spPr>
            <a:xfrm>
              <a:off x="521970" y="1515428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1065086" y="1551622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向量范数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066990" y="1868329"/>
              <a:ext cx="381246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三条公理、1/2/∞ 范数、范数等价、向量序列收敛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1073468" y="2181225"/>
              <a:ext cx="57359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521970" y="2286952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65086" y="2323148"/>
              <a:ext cx="179374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矩阵范数与谱半径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066990" y="2639854"/>
              <a:ext cx="38363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相容范数、算子范数的三个计算公式、ρ(A) ≤ ‖A‖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1073468" y="2953702"/>
              <a:ext cx="57359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521970" y="3058478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065086" y="3094673"/>
              <a:ext cx="201587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条件数与病态方程组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066990" y="3412331"/>
              <a:ext cx="34592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病态例子、扰动误差估计、条件数、矩阵平衡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1073468" y="3725228"/>
              <a:ext cx="57359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521970" y="3830955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065086" y="3867150"/>
              <a:ext cx="179374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迭代法的一般理论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066990" y="4183856"/>
              <a:ext cx="361130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x = Hx + g、收敛充要条件 ρ(H) &lt; 1、误差估计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1073468" y="4497705"/>
              <a:ext cx="57359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521970" y="4602480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05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065086" y="4638675"/>
              <a:ext cx="253560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Jacobi 与 Gauss-Seidel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066990" y="4955381"/>
              <a:ext cx="406004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矩阵分裂 A = D − L − U、分量公式、例 2.4 与例 2.5</a:t>
              </a:r>
            </a:p>
          </p:txBody>
        </p:sp>
      </p:grpSp>
      <p:grpSp>
        <p:nvGrpSpPr>
          <p:cNvPr id="41" name="c2-card-1"/>
          <p:cNvGrpSpPr/>
          <p:nvPr/>
        </p:nvGrpSpPr>
        <p:grpSpPr>
          <a:xfrm>
            <a:off x="7114222" y="1524000"/>
            <a:ext cx="4544378" cy="3630930"/>
            <a:chOff x="7114222" y="1524000"/>
            <a:chExt cx="4544378" cy="3630930"/>
          </a:xfrm>
        </p:grpSpPr>
        <p:sp>
          <p:nvSpPr>
            <p:cNvPr id="27" name="Rectangle 27"/>
            <p:cNvSpPr/>
            <p:nvPr/>
          </p:nvSpPr>
          <p:spPr>
            <a:xfrm>
              <a:off x="7114222" y="1524000"/>
              <a:ext cx="4544378" cy="3630930"/>
            </a:xfrm>
            <a:prstGeom prst="roundRect">
              <a:avLst>
                <a:gd name="adj" fmla="val 367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7123748" y="1657350"/>
              <a:ext cx="47625" cy="3364230"/>
            </a:xfrm>
            <a:prstGeom prst="roundRect">
              <a:avLst>
                <a:gd name="adj" fmla="val 50000"/>
              </a:avLst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9" name="Rectangle 29"/>
            <p:cNvSpPr/>
            <p:nvPr/>
          </p:nvSpPr>
          <p:spPr>
            <a:xfrm>
              <a:off x="7361872" y="1733550"/>
              <a:ext cx="778192" cy="257175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7443229" y="1769269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学习目标</a:t>
              </a:r>
            </a:p>
          </p:txBody>
        </p:sp>
        <p:sp>
          <p:nvSpPr>
            <p:cNvPr id="31" name="Ellipse 31"/>
            <p:cNvSpPr/>
            <p:nvPr/>
          </p:nvSpPr>
          <p:spPr>
            <a:xfrm>
              <a:off x="7367588" y="2173605"/>
              <a:ext cx="64770" cy="6477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7525702" y="2110740"/>
              <a:ext cx="368236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手算向量的 1、2、∞ 范数，矩阵的行和、列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和与谱范数</a:t>
              </a:r>
            </a:p>
          </p:txBody>
        </p:sp>
        <p:sp>
          <p:nvSpPr>
            <p:cNvPr id="33" name="Ellipse 33"/>
            <p:cNvSpPr/>
            <p:nvPr/>
          </p:nvSpPr>
          <p:spPr>
            <a:xfrm>
              <a:off x="7367588" y="2794635"/>
              <a:ext cx="64770" cy="6477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7525702" y="2731770"/>
              <a:ext cx="34480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用条件数估计扰动引起的解的相对误差</a:t>
              </a:r>
            </a:p>
          </p:txBody>
        </p:sp>
        <p:sp>
          <p:nvSpPr>
            <p:cNvPr id="35" name="Ellipse 35"/>
            <p:cNvSpPr/>
            <p:nvPr/>
          </p:nvSpPr>
          <p:spPr>
            <a:xfrm>
              <a:off x="7367588" y="3129915"/>
              <a:ext cx="64770" cy="6477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7525702" y="3067050"/>
              <a:ext cx="370141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写出 Jacobi 和 Gauss-Seidel 的分量公式与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迭代矩阵</a:t>
              </a:r>
            </a:p>
          </p:txBody>
        </p:sp>
        <p:sp>
          <p:nvSpPr>
            <p:cNvPr id="37" name="Ellipse 37"/>
            <p:cNvSpPr/>
            <p:nvPr/>
          </p:nvSpPr>
          <p:spPr>
            <a:xfrm>
              <a:off x="7367588" y="3750945"/>
              <a:ext cx="64770" cy="6477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7525702" y="3688080"/>
              <a:ext cx="34480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用谱半径或范数判断迭代格式是否收敛</a:t>
              </a:r>
            </a:p>
          </p:txBody>
        </p:sp>
        <p:sp>
          <p:nvSpPr>
            <p:cNvPr id="39" name="Ellipse 39"/>
            <p:cNvSpPr/>
            <p:nvPr/>
          </p:nvSpPr>
          <p:spPr>
            <a:xfrm>
              <a:off x="7367588" y="4086225"/>
              <a:ext cx="64770" cy="6477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7525702" y="4023360"/>
              <a:ext cx="34480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用误差估计式确定停止条件和迭代次数</a:t>
              </a:r>
            </a:p>
          </p:txBody>
        </p:sp>
      </p:grpSp>
      <p:grpSp>
        <p:nvGrpSpPr>
          <p:cNvPr id="44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2" name="TextBox 42"/>
            <p:cNvSpPr txBox="1"/>
            <p:nvPr/>
          </p:nvSpPr>
          <p:spPr>
            <a:xfrm>
              <a:off x="528447" y="6581299"/>
              <a:ext cx="278038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第2章 解线性方程组的数值法（下）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2E7D4F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5F2EA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05</a:t>
              </a:r>
            </a:p>
          </p:txBody>
        </p:sp>
      </p:grpSp>
      <p:grpSp>
        <p:nvGrpSpPr>
          <p:cNvPr id="18" name="section-title"/>
          <p:cNvGrpSpPr/>
          <p:nvPr/>
        </p:nvGrpSpPr>
        <p:grpSpPr>
          <a:xfrm>
            <a:off x="667512" y="1835468"/>
            <a:ext cx="6046203" cy="3351847"/>
            <a:chOff x="667512" y="1835468"/>
            <a:chExt cx="6046203" cy="335184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567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2.5 节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3429000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向量和矩阵范数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603629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给向量和矩阵规定“大小”，后面分析误差和迭代收敛都要用它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32461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向量范数：定义、常用范数、等价性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14287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向量序列的收敛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596765"/>
              <a:ext cx="76200" cy="7620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539615"/>
              <a:ext cx="28422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矩阵范数：相容范数与算子范数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723900" y="4951095"/>
              <a:ext cx="76200" cy="7620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06780" y="4893945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谱半径与范数的关系</a:t>
              </a:r>
            </a:p>
          </p:txBody>
        </p:sp>
      </p:grpSp>
      <p:grpSp>
        <p:nvGrpSpPr>
          <p:cNvPr id="2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9" name="TextBox 19"/>
            <p:cNvSpPr txBox="1"/>
            <p:nvPr/>
          </p:nvSpPr>
          <p:spPr>
            <a:xfrm>
              <a:off x="528447" y="6581299"/>
              <a:ext cx="278038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第2章 解线性方程组的数值法（下）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914894" cy="909257"/>
            <a:chOff x="520446" y="342900"/>
            <a:chExt cx="591489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983230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79404" y="407194"/>
              <a:ext cx="28912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第2章 线性方程组（下） · 向量和矩阵范数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91489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向量范数：满足三条公理的“长度”函数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780" y="1548765"/>
            <a:ext cx="8593074" cy="293370"/>
            <a:chOff x="525780" y="1548765"/>
            <a:chExt cx="8593074" cy="293370"/>
          </a:xfrm>
        </p:grpSpPr>
        <p:sp>
          <p:nvSpPr>
            <p:cNvPr id="7" name="TextBox 7"/>
            <p:cNvSpPr txBox="1"/>
            <p:nvPr/>
          </p:nvSpPr>
          <p:spPr>
            <a:xfrm>
              <a:off x="525780" y="1548765"/>
              <a:ext cx="859307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实数用绝对值、复数用模度量大小；向量范数把这种度量推广到 Rⁿ，用来衡量误差向量有多大。</a:t>
              </a:r>
            </a:p>
          </p:txBody>
        </p:sp>
      </p:grpSp>
      <p:grpSp>
        <p:nvGrpSpPr>
          <p:cNvPr id="27" name="c1-card-1"/>
          <p:cNvGrpSpPr/>
          <p:nvPr/>
        </p:nvGrpSpPr>
        <p:grpSpPr>
          <a:xfrm>
            <a:off x="533400" y="1954530"/>
            <a:ext cx="5842635" cy="4371022"/>
            <a:chOff x="533400" y="1954530"/>
            <a:chExt cx="5842635" cy="4371022"/>
          </a:xfrm>
        </p:grpSpPr>
        <p:sp>
          <p:nvSpPr>
            <p:cNvPr id="9" name="Rectangle 9"/>
            <p:cNvSpPr/>
            <p:nvPr/>
          </p:nvSpPr>
          <p:spPr>
            <a:xfrm>
              <a:off x="533400" y="1954530"/>
              <a:ext cx="5842635" cy="4371022"/>
            </a:xfrm>
            <a:prstGeom prst="roundRect">
              <a:avLst>
                <a:gd name="adj" fmla="val 3051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0" name="Rectangle 10"/>
            <p:cNvSpPr/>
            <p:nvPr/>
          </p:nvSpPr>
          <p:spPr>
            <a:xfrm>
              <a:off x="542925" y="2087880"/>
              <a:ext cx="47625" cy="4104322"/>
            </a:xfrm>
            <a:prstGeom prst="roundRect">
              <a:avLst>
                <a:gd name="adj" fmla="val 50000"/>
              </a:avLst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1" name="Rectangle 11"/>
            <p:cNvSpPr/>
            <p:nvPr/>
          </p:nvSpPr>
          <p:spPr>
            <a:xfrm>
              <a:off x="775335" y="2158365"/>
              <a:ext cx="784860" cy="257175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856920" y="2194084"/>
              <a:ext cx="62168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定义 2.1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667256" y="2197894"/>
              <a:ext cx="77912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向量范数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768096" y="2550319"/>
              <a:ext cx="5018913" cy="82162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设 x ∈ Rⁿ，N(x) = ‖x‖ 是 x 的实值函数。若它满足下列三条，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则称 ‖·‖ 为 Rⁿ 上的一个</a:t>
              </a:r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向量范数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（向量模），‖x‖ 的值称为 x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的范数。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775335" y="3400425"/>
              <a:ext cx="201930" cy="20193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833680" y="3440763"/>
              <a:ext cx="85241" cy="1892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066228" y="3413284"/>
              <a:ext cx="149597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非负性（2.5.1）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8" name="formula9"/>
                <p:cNvSpPr txBox="1">
                  <a:spLocks noGrp="1"/>
                </p:cNvSpPr>
                <p:nvPr/>
              </p:nvSpPr>
              <p:spPr>
                <a:xfrm>
                  <a:off x="775335" y="3709035"/>
                  <a:ext cx="5396865" cy="40005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d>
                          <m:dPr>
                            <m:begChr m:val="‖"/>
                            <m:sepChr m:val=""/>
                            <m:endChr m:val="‖"/>
                            <m:grow m:val="on"/>
                            <m:ctrlP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x</m:t>
                            </m:r>
                          </m:e>
                        </m:d>
                        <m:r>
                          <m:rPr>
                            <m:sty m:val="p"/>
                          </m:rPr>
                          <a:rPr lang="zh-CN" sz="15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≥</m:t>
                        </m:r>
                        <m:r>
                          <a:rPr lang="zh-CN" sz="15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0</m:t>
                        </m:r>
                        <m:r>
                          <m:rPr>
                            <m:sty m:val="p"/>
                          </m:rPr>
                          <a:rPr lang="zh-CN" sz="15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,</m:t>
                        </m:r>
                        <m:r>
                          <a:rPr lang="zh-CN" sz="15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  </m:t>
                        </m:r>
                        <m:d>
                          <m:dPr>
                            <m:begChr m:val="‖"/>
                            <m:sepChr m:val=""/>
                            <m:endChr m:val="‖"/>
                            <m:grow m:val="on"/>
                            <m:ctrlP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x</m:t>
                            </m:r>
                          </m:e>
                        </m:d>
                        <m:r>
                          <m:rPr>
                            <m:sty m:val="p"/>
                          </m:rPr>
                          <a:rPr lang="zh-CN" sz="15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r>
                          <a:rPr lang="zh-CN" sz="15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0</m:t>
                        </m:r>
                        <m:r>
                          <m:rPr>
                            <m:sty m:val="p"/>
                          </m:rPr>
                          <a:rPr lang="zh-CN" sz="15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⇔</m:t>
                        </m:r>
                        <m:r>
                          <a:rPr lang="zh-CN" sz="15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x</m:t>
                        </m:r>
                        <m:r>
                          <m:rPr>
                            <m:sty m:val="p"/>
                          </m:rPr>
                          <a:rPr lang="zh-CN" sz="15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r>
                          <a:rPr lang="zh-CN" sz="15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0</m:t>
                        </m:r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19" name="Ellipse 19"/>
            <p:cNvSpPr/>
            <p:nvPr/>
          </p:nvSpPr>
          <p:spPr>
            <a:xfrm>
              <a:off x="775335" y="4212908"/>
              <a:ext cx="201930" cy="20193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833680" y="4253246"/>
              <a:ext cx="85241" cy="1892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066228" y="4225766"/>
              <a:ext cx="149597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齐次性（2.5.2）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2" name="formula10"/>
                <p:cNvSpPr txBox="1">
                  <a:spLocks noGrp="1"/>
                </p:cNvSpPr>
                <p:nvPr/>
              </p:nvSpPr>
              <p:spPr>
                <a:xfrm>
                  <a:off x="775335" y="4521518"/>
                  <a:ext cx="5396865" cy="40005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d>
                          <m:dPr>
                            <m:begChr m:val="‖"/>
                            <m:sepChr m:val=""/>
                            <m:endChr m:val="‖"/>
                            <m:grow m:val="on"/>
                            <m:ctrlP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kx</m:t>
                            </m:r>
                          </m:e>
                        </m:d>
                        <m:r>
                          <m:rPr>
                            <m:sty m:val="p"/>
                          </m:rPr>
                          <a:rPr lang="zh-CN" sz="15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d>
                          <m:dPr>
                            <m:begChr m:val="|"/>
                            <m:sepChr m:val=""/>
                            <m:endChr m:val="|"/>
                            <m:grow m:val="on"/>
                            <m:ctrlP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k</m:t>
                            </m:r>
                          </m:e>
                        </m:d>
                        <m:r>
                          <m:rPr>
                            <m:sty m:val="p"/>
                          </m:rPr>
                          <a:rPr lang="zh-CN" sz="15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⋅</m:t>
                        </m:r>
                        <m:d>
                          <m:dPr>
                            <m:begChr m:val="‖"/>
                            <m:sepChr m:val=""/>
                            <m:endChr m:val="‖"/>
                            <m:grow m:val="on"/>
                            <m:ctrlP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x</m:t>
                            </m:r>
                          </m:e>
                        </m:d>
                        <m:r>
                          <m:rPr>
                            <m:sty m:val="p"/>
                          </m:rPr>
                          <a:rPr lang="zh-CN" sz="15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,</m:t>
                        </m:r>
                        <m:r>
                          <a:rPr lang="zh-CN" sz="15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  </m:t>
                        </m:r>
                        <m:r>
                          <m:rPr>
                            <m:sty m:val="p"/>
                          </m:rPr>
                          <a:rPr lang="zh-CN" sz="15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∀</m:t>
                        </m:r>
                        <m:r>
                          <a:rPr lang="zh-CN" sz="15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k</m:t>
                        </m:r>
                        <m:r>
                          <m:rPr>
                            <m:sty m:val="p"/>
                          </m:rPr>
                          <a:rPr lang="zh-CN" sz="15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∈</m:t>
                        </m:r>
                        <m:r>
                          <a:rPr lang="zh-CN" sz="15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R</m:t>
                        </m:r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23" name="Ellipse 23"/>
            <p:cNvSpPr/>
            <p:nvPr/>
          </p:nvSpPr>
          <p:spPr>
            <a:xfrm>
              <a:off x="775335" y="5025390"/>
              <a:ext cx="201930" cy="20193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833680" y="5065728"/>
              <a:ext cx="85241" cy="1892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066228" y="5038249"/>
              <a:ext cx="187829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三角不等式（2.5.3）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6" name="formula11"/>
                <p:cNvSpPr txBox="1">
                  <a:spLocks noGrp="1"/>
                </p:cNvSpPr>
                <p:nvPr/>
              </p:nvSpPr>
              <p:spPr>
                <a:xfrm>
                  <a:off x="775335" y="5334000"/>
                  <a:ext cx="5396865" cy="40005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d>
                          <m:dPr>
                            <m:begChr m:val="‖"/>
                            <m:sepChr m:val=""/>
                            <m:endChr m:val="‖"/>
                            <m:grow m:val="on"/>
                            <m:ctrlP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x</m:t>
                            </m:r>
                            <m:r>
                              <m:rPr>
                                <m:sty m:val="p"/>
                              </m:rP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+</m:t>
                            </m:r>
                            <m: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y</m:t>
                            </m:r>
                          </m:e>
                        </m:d>
                        <m:r>
                          <m:rPr>
                            <m:sty m:val="p"/>
                          </m:rPr>
                          <a:rPr lang="zh-CN" sz="15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≤</m:t>
                        </m:r>
                        <m:d>
                          <m:dPr>
                            <m:begChr m:val="‖"/>
                            <m:sepChr m:val=""/>
                            <m:endChr m:val="‖"/>
                            <m:grow m:val="on"/>
                            <m:ctrlP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x</m:t>
                            </m:r>
                          </m:e>
                        </m:d>
                        <m:r>
                          <m:rPr>
                            <m:sty m:val="p"/>
                          </m:rPr>
                          <a:rPr lang="zh-CN" sz="15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+</m:t>
                        </m:r>
                        <m:d>
                          <m:dPr>
                            <m:begChr m:val="‖"/>
                            <m:sepChr m:val=""/>
                            <m:endChr m:val="‖"/>
                            <m:grow m:val="on"/>
                            <m:ctrlP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y</m:t>
                            </m:r>
                          </m:e>
                        </m:d>
                        <m:r>
                          <m:rPr>
                            <m:sty m:val="p"/>
                          </m:rPr>
                          <a:rPr lang="zh-CN" sz="15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,</m:t>
                        </m:r>
                        <m:r>
                          <a:rPr lang="zh-CN" sz="15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  </m:t>
                        </m:r>
                        <m:r>
                          <m:rPr>
                            <m:sty m:val="p"/>
                          </m:rPr>
                          <a:rPr lang="zh-CN" sz="15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∀</m:t>
                        </m:r>
                        <m:r>
                          <a:rPr lang="zh-CN" sz="15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x</m:t>
                        </m:r>
                        <m:r>
                          <m:rPr>
                            <m:sty m:val="p"/>
                          </m:rPr>
                          <a:rPr lang="zh-CN" sz="15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,</m:t>
                        </m:r>
                        <m:r>
                          <a:rPr lang="zh-CN" sz="15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y</m:t>
                        </m:r>
                        <m:r>
                          <m:rPr>
                            <m:sty m:val="p"/>
                          </m:rPr>
                          <a:rPr lang="zh-CN" sz="15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∈</m:t>
                        </m:r>
                        <m:sSup>
                          <m:e>
                            <m: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R</m:t>
                            </m:r>
                          </m:e>
                          <m:sup>
                            <m: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n</m:t>
                            </m:r>
                          </m:sup>
                        </m:sSup>
                      </m:oMath>
                    </m:oMathPara>
                  </a14:m>
                </a:p>
              </p:txBody>
            </p:sp>
          </mc:Choice>
        </mc:AlternateContent>
      </p:grpSp>
      <p:grpSp>
        <p:nvGrpSpPr>
          <p:cNvPr id="34" name="c2-card-1"/>
          <p:cNvGrpSpPr/>
          <p:nvPr/>
        </p:nvGrpSpPr>
        <p:grpSpPr>
          <a:xfrm>
            <a:off x="6680835" y="1954530"/>
            <a:ext cx="4977765" cy="1232535"/>
            <a:chOff x="6680835" y="1954530"/>
            <a:chExt cx="4977765" cy="1232535"/>
          </a:xfrm>
        </p:grpSpPr>
        <p:sp>
          <p:nvSpPr>
            <p:cNvPr id="28" name="Rectangle 28"/>
            <p:cNvSpPr/>
            <p:nvPr/>
          </p:nvSpPr>
          <p:spPr>
            <a:xfrm>
              <a:off x="6680835" y="1954530"/>
              <a:ext cx="4977765" cy="1232535"/>
            </a:xfrm>
            <a:prstGeom prst="roundRect">
              <a:avLst>
                <a:gd name="adj" fmla="val 1081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9" name="Rectangle 29"/>
            <p:cNvSpPr/>
            <p:nvPr/>
          </p:nvSpPr>
          <p:spPr>
            <a:xfrm>
              <a:off x="6690360" y="2087880"/>
              <a:ext cx="47625" cy="96583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30" name="Rectangle 30"/>
            <p:cNvSpPr/>
            <p:nvPr/>
          </p:nvSpPr>
          <p:spPr>
            <a:xfrm>
              <a:off x="6922770" y="2158365"/>
              <a:ext cx="1189672" cy="257175"/>
            </a:xfrm>
            <a:prstGeom prst="roundRect">
              <a:avLst>
                <a:gd name="adj" fmla="val 50000"/>
              </a:avLst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6993138" y="2194084"/>
              <a:ext cx="104988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推论（2.5.4）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8219504" y="2197894"/>
              <a:ext cx="135260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反向三角不等式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3" name="formula12"/>
                <p:cNvSpPr txBox="1">
                  <a:spLocks noGrp="1"/>
                </p:cNvSpPr>
                <p:nvPr/>
              </p:nvSpPr>
              <p:spPr>
                <a:xfrm>
                  <a:off x="6922770" y="2526030"/>
                  <a:ext cx="4531995" cy="43815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d>
                          <m:dPr>
                            <m:begChr m:val="‖"/>
                            <m:sepChr m:val=""/>
                            <m:endChr m:val="‖"/>
                            <m:grow m:val="on"/>
                            <m:ctrlPr>
                              <a:rPr lang="zh-CN" sz="17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7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x</m:t>
                            </m:r>
                            <m:r>
                              <m:rPr>
                                <m:sty m:val="p"/>
                              </m:rPr>
                              <a:rPr lang="zh-CN" sz="17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−</m:t>
                            </m:r>
                            <m:r>
                              <a:rPr lang="zh-CN" sz="17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y</m:t>
                            </m:r>
                          </m:e>
                        </m:d>
                        <m:r>
                          <m:rPr>
                            <m:sty m:val="p"/>
                          </m:rPr>
                          <a:rPr lang="zh-CN" sz="17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≥</m:t>
                        </m:r>
                        <m:d>
                          <m:dPr>
                            <m:begChr m:val="|"/>
                            <m:sepChr m:val=""/>
                            <m:endChr m:val="|"/>
                            <m:grow m:val="on"/>
                            <m:ctrlPr>
                              <a:rPr lang="zh-CN" sz="17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7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 xml:space="preserve"> </m:t>
                            </m:r>
                            <m:d>
                              <m:dPr>
                                <m:begChr m:val="‖"/>
                                <m:sepChr m:val=""/>
                                <m:endChr m:val="‖"/>
                                <m:grow m:val="on"/>
                                <m:ctrlPr>
                                  <a:rPr lang="zh-CN" sz="17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7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a:rPr lang="zh-CN" sz="17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−</m:t>
                            </m:r>
                            <m:d>
                              <m:dPr>
                                <m:begChr m:val="‖"/>
                                <m:sepChr m:val=""/>
                                <m:endChr m:val="‖"/>
                                <m:grow m:val="on"/>
                                <m:ctrlPr>
                                  <a:rPr lang="zh-CN" sz="17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7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y</m:t>
                                </m:r>
                              </m:e>
                            </m:d>
                            <m:r>
                              <a:rPr lang="zh-CN" sz="17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 xml:space="preserve"> </m:t>
                            </m:r>
                          </m:e>
                        </m:d>
                      </m:oMath>
                    </m:oMathPara>
                  </a14:m>
                </a:p>
              </p:txBody>
            </p:sp>
          </mc:Choice>
        </mc:AlternateContent>
      </p:grpSp>
      <p:grpSp>
        <p:nvGrpSpPr>
          <p:cNvPr id="48" name="c2-steps-2"/>
          <p:cNvGrpSpPr/>
          <p:nvPr/>
        </p:nvGrpSpPr>
        <p:grpSpPr>
          <a:xfrm>
            <a:off x="6680835" y="3381375"/>
            <a:ext cx="4684776" cy="2011109"/>
            <a:chOff x="6680835" y="3381375"/>
            <a:chExt cx="4684776" cy="2011109"/>
          </a:xfrm>
        </p:grpSpPr>
        <p:sp>
          <p:nvSpPr>
            <p:cNvPr id="35" name="Rectangle 35"/>
            <p:cNvSpPr/>
            <p:nvPr/>
          </p:nvSpPr>
          <p:spPr>
            <a:xfrm>
              <a:off x="6814185" y="3524250"/>
              <a:ext cx="19050" cy="146304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6" name="Ellipse 36"/>
            <p:cNvSpPr/>
            <p:nvPr/>
          </p:nvSpPr>
          <p:spPr>
            <a:xfrm>
              <a:off x="6680835" y="3381375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6774459" y="345519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38" name="Ellipse 38"/>
            <p:cNvSpPr/>
            <p:nvPr/>
          </p:nvSpPr>
          <p:spPr>
            <a:xfrm>
              <a:off x="6680835" y="4223385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6774459" y="429720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40" name="Ellipse 40"/>
            <p:cNvSpPr/>
            <p:nvPr/>
          </p:nvSpPr>
          <p:spPr>
            <a:xfrm>
              <a:off x="6680835" y="4844415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6774459" y="491823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7092696" y="3415189"/>
              <a:ext cx="116144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用三角不等式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7093839" y="3695700"/>
              <a:ext cx="4271772" cy="4556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4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‖x‖ = ‖(x − y) + y‖ ≤ ‖x − y‖ + ‖y‖，所以 ‖x‖ − ‖y‖ ≤ ‖x − y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‖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7092696" y="4256246"/>
              <a:ext cx="98939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交换 x 与 y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7093839" y="4536758"/>
              <a:ext cx="365500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‖y‖ − ‖x‖ ≤ ‖y − x‖ = ‖x − y‖（齐次性取 k = −1）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7092696" y="4877276"/>
              <a:ext cx="39679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合并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7093839" y="5157788"/>
              <a:ext cx="273420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两式合起来就是 |‖x‖ − ‖y‖| ≤ ‖x − y‖</a:t>
              </a:r>
            </a:p>
          </p:txBody>
        </p:sp>
      </p:grpSp>
      <p:grpSp>
        <p:nvGrpSpPr>
          <p:cNvPr id="55" name="c2-callout-3"/>
          <p:cNvGrpSpPr/>
          <p:nvPr/>
        </p:nvGrpSpPr>
        <p:grpSpPr>
          <a:xfrm>
            <a:off x="6680835" y="5569268"/>
            <a:ext cx="4977765" cy="756285"/>
            <a:chOff x="6680835" y="5569268"/>
            <a:chExt cx="4977765" cy="756285"/>
          </a:xfrm>
        </p:grpSpPr>
        <p:sp>
          <p:nvSpPr>
            <p:cNvPr id="49" name="Rectangle 49"/>
            <p:cNvSpPr/>
            <p:nvPr/>
          </p:nvSpPr>
          <p:spPr>
            <a:xfrm>
              <a:off x="6680835" y="5569268"/>
              <a:ext cx="4977765" cy="756285"/>
            </a:xfrm>
            <a:prstGeom prst="roundRect">
              <a:avLst>
                <a:gd name="adj" fmla="val 15113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53" name="Group 53"/>
            <p:cNvGrpSpPr/>
            <p:nvPr/>
          </p:nvGrpSpPr>
          <p:grpSpPr>
            <a:xfrm>
              <a:off x="6885623" y="5847398"/>
              <a:ext cx="200026" cy="200025"/>
              <a:chOff x="6885623" y="5847398"/>
              <a:chExt cx="200026" cy="200025"/>
            </a:xfrm>
          </p:grpSpPr>
          <p:sp>
            <p:nvSpPr>
              <p:cNvPr id="50" name="Freeform 50"/>
              <p:cNvSpPr/>
              <p:nvPr/>
            </p:nvSpPr>
            <p:spPr>
              <a:xfrm>
                <a:off x="6885623" y="5847398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51" name="Freeform 51"/>
              <p:cNvSpPr/>
              <p:nvPr/>
            </p:nvSpPr>
            <p:spPr>
              <a:xfrm>
                <a:off x="6925361" y="5891848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52" name="Freeform 52"/>
              <p:cNvSpPr/>
              <p:nvPr/>
            </p:nvSpPr>
            <p:spPr>
              <a:xfrm>
                <a:off x="6960077" y="6002973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54" name="TextBox 54"/>
            <p:cNvSpPr txBox="1"/>
            <p:nvPr/>
          </p:nvSpPr>
          <p:spPr>
            <a:xfrm>
              <a:off x="7187946" y="5716429"/>
              <a:ext cx="4027043" cy="5415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推论说明 ‖x‖ 是 x 的连续函数：x 变化很小时，范</a:t>
              </a:r>
              <a:br/>
              <a:r>
                <a:rPr lang="zh-CN" sz="14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数的变化也很小。</a:t>
              </a:r>
            </a:p>
          </p:txBody>
        </p:sp>
      </p:grpSp>
      <p:grpSp>
        <p:nvGrpSpPr>
          <p:cNvPr id="58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6" name="TextBox 56"/>
            <p:cNvSpPr txBox="1"/>
            <p:nvPr/>
          </p:nvSpPr>
          <p:spPr>
            <a:xfrm>
              <a:off x="528447" y="6581299"/>
              <a:ext cx="278038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第2章 解线性方程组的数值法（下）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394435" cy="909257"/>
            <a:chOff x="520446" y="342900"/>
            <a:chExt cx="7394435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983230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79404" y="407194"/>
              <a:ext cx="28912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第2章 线性方程组（下） · 向量和矩阵范数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394435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常用的三种向量范数：1-范数、2-范数、∞-范数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7" name="c1-card-1"/>
          <p:cNvGrpSpPr/>
          <p:nvPr/>
        </p:nvGrpSpPr>
        <p:grpSpPr>
          <a:xfrm>
            <a:off x="533400" y="1524000"/>
            <a:ext cx="5735002" cy="4794885"/>
            <a:chOff x="533400" y="1524000"/>
            <a:chExt cx="5735002" cy="479488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735002" cy="4794885"/>
            </a:xfrm>
            <a:prstGeom prst="roundRect">
              <a:avLst>
                <a:gd name="adj" fmla="val 2781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4528185"/>
            </a:xfrm>
            <a:prstGeom prst="roundRect">
              <a:avLst>
                <a:gd name="adj" fmla="val 50000"/>
              </a:avLst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58190" y="1710690"/>
              <a:ext cx="707708" cy="238125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42759" y="1743551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常用范数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51332" y="2054542"/>
              <a:ext cx="308598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1-范数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：各分量绝对值之和（2.5.5）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2" name="formula28"/>
                <p:cNvSpPr txBox="1">
                  <a:spLocks noGrp="1"/>
                </p:cNvSpPr>
                <p:nvPr/>
              </p:nvSpPr>
              <p:spPr>
                <a:xfrm>
                  <a:off x="758190" y="2332672"/>
                  <a:ext cx="5323522" cy="597218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sSub>
                          <m:e>
                            <m:d>
                              <m:dPr>
                                <m:begChr m:val="‖"/>
                                <m:sepChr m:val=""/>
                                <m:endChr m:val="‖"/>
                                <m:grow m:val="on"/>
                                <m:ctrlP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</m:d>
                          </m:e>
                          <m:sub>
                            <m: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zh-CN" sz="14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nary>
                          <m:naryPr>
                            <m:chr m:val="∑"/>
                            <m:limLoc m:val="undOvr"/>
                            <m:grow m:val="off"/>
                            <m:subHide m:val="off"/>
                            <m:supHide m:val="off"/>
                            <m:ctrlP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naryPr>
                          <m:sub>
                            <m: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i</m:t>
                            </m:r>
                            <m:r>
                              <m:rPr>
                                <m:sty m:val="p"/>
                              </m:rP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=</m:t>
                            </m:r>
                            <m: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</m:sub>
                          <m:sup>
                            <m: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n</m:t>
                            </m:r>
                          </m:sup>
                          <m:e>
                            <m:d>
                              <m:dPr>
                                <m:begChr m:val="|"/>
                                <m:sepChr m:val=""/>
                                <m:endChr m:val="|"/>
                                <m:grow m:val="on"/>
                                <m:ctrlP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sSub>
                                  <m:e>
                                    <m:r>
                                      <a:rPr lang="zh-CN" sz="14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</m:e>
                                  <m:sub>
                                    <m:r>
                                      <a:rPr lang="zh-CN" sz="14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i</m:t>
                                    </m:r>
                                  </m:sub>
                                </m:sSub>
                              </m:e>
                            </m:d>
                          </m:e>
                        </m:nary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13" name="TextBox 13"/>
            <p:cNvSpPr txBox="1"/>
            <p:nvPr/>
          </p:nvSpPr>
          <p:spPr>
            <a:xfrm>
              <a:off x="751332" y="3036570"/>
              <a:ext cx="417640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2-范数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（欧氏范数）：通常意义下的长度（2.5.6）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4" name="formula29"/>
                <p:cNvSpPr txBox="1">
                  <a:spLocks noGrp="1"/>
                </p:cNvSpPr>
                <p:nvPr/>
              </p:nvSpPr>
              <p:spPr>
                <a:xfrm>
                  <a:off x="758190" y="3313748"/>
                  <a:ext cx="5323522" cy="633412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sSub>
                          <m:e>
                            <m:d>
                              <m:dPr>
                                <m:begChr m:val="‖"/>
                                <m:sepChr m:val=""/>
                                <m:endChr m:val="‖"/>
                                <m:grow m:val="on"/>
                                <m:ctrlP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</m:d>
                          </m:e>
                          <m:sub>
                            <m: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2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zh-CN" sz="14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sSup>
                          <m:e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nary>
                                  <m:naryPr>
                                    <m:chr m:val="∑"/>
                                    <m:limLoc m:val="undOvr"/>
                                    <m:grow m:val="off"/>
                                    <m:subHide m:val="off"/>
                                    <m:supHide m:val="off"/>
                                    <m:ctrlPr>
                                      <a:rPr lang="zh-CN" sz="14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naryPr>
                                  <m:sub>
                                    <m:r>
                                      <a:rPr lang="zh-CN" sz="14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i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zh-CN" sz="14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=</m:t>
                                    </m:r>
                                    <m:r>
                                      <a:rPr lang="zh-CN" sz="14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1</m:t>
                                    </m:r>
                                  </m:sub>
                                  <m:sup>
                                    <m:r>
                                      <a:rPr lang="zh-CN" sz="14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n</m:t>
                                    </m:r>
                                  </m:sup>
                                  <m:e>
                                    <m:sSup>
                                      <m:e>
                                        <m:d>
                                          <m:dPr>
                                            <m:begChr m:val="|"/>
                                            <m:sepChr m:val=""/>
                                            <m:endChr m:val="|"/>
                                            <m:grow m:val="on"/>
                                            <m:ctrlPr>
                                              <a:rPr lang="zh-CN" sz="1420" dirty="0">
                                                <a:solidFill>
                                                  <a:srgbClr val="1F2937"/>
                                                </a:solidFill>
                                                <a:latin typeface="Cambria Math"/>
                                                <a:ea typeface="Cambria Math"/>
                                                <a:cs typeface="Cambria Math"/>
                                              </a:rPr>
                                            </m:ctrlPr>
                                          </m:dPr>
                                          <m:e>
                                            <m:sSub>
                                              <m:e>
                                                <m:r>
                                                  <a:rPr lang="zh-CN" sz="1420" dirty="0">
                                                    <a:solidFill>
                                                      <a:srgbClr val="1F2937"/>
                                                    </a:solidFill>
                                                    <a:latin typeface="Cambria Math"/>
                                                    <a:ea typeface="Cambria Math"/>
                                                    <a:cs typeface="Cambria Math"/>
                                                  </a:rPr>
                                                  <m:t>x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zh-CN" sz="1420" dirty="0">
                                                    <a:solidFill>
                                                      <a:srgbClr val="1F2937"/>
                                                    </a:solidFill>
                                                    <a:latin typeface="Cambria Math"/>
                                                    <a:ea typeface="Cambria Math"/>
                                                    <a:cs typeface="Cambria Math"/>
                                                  </a:rPr>
                                                  <m:t>i</m:t>
                                                </m:r>
                                              </m:sub>
                                            </m:sSub>
                                          </m:e>
                                        </m:d>
                                      </m:e>
                                      <m:sup>
                                        <m:r>
                                          <a:rPr lang="zh-CN" sz="142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e>
                                </m:nary>
                              </m:e>
                            </m:d>
                          </m:e>
                          <m:sup>
                            <m: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  <m:r>
                              <m:rPr>
                                <m:sty m:val="p"/>
                              </m:rP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/</m:t>
                            </m:r>
                            <m: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2</m:t>
                            </m:r>
                          </m:sup>
                        </m:sSup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15" name="TextBox 15"/>
            <p:cNvSpPr txBox="1"/>
            <p:nvPr/>
          </p:nvSpPr>
          <p:spPr>
            <a:xfrm>
              <a:off x="751332" y="4053840"/>
              <a:ext cx="417640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∞-范数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（最大范数）：绝对值最大的分量（2.5.7）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6" name="formula30"/>
                <p:cNvSpPr txBox="1">
                  <a:spLocks noGrp="1"/>
                </p:cNvSpPr>
                <p:nvPr/>
              </p:nvSpPr>
              <p:spPr>
                <a:xfrm>
                  <a:off x="758190" y="4331970"/>
                  <a:ext cx="5323522" cy="47053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sSub>
                          <m:e>
                            <m:d>
                              <m:dPr>
                                <m:begChr m:val="‖"/>
                                <m:sepChr m:val=""/>
                                <m:endChr m:val="‖"/>
                                <m:grow m:val="on"/>
                                <m:ctrlP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</m:d>
                          </m:e>
                          <m:sub>
                            <m:r>
                              <m:rPr>
                                <m:sty m:val="p"/>
                              </m:rP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∞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zh-CN" sz="14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func>
                          <m:funcPr/>
                          <m:fName>
                            <m:limLow>
                              <m:limLowPr/>
                              <m:e>
                                <m:r>
                                  <m:rPr>
                                    <m:sty m:val="p"/>
                                  </m:rP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max</m:t>
                                </m:r>
                              </m:e>
                              <m:lim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≤</m:t>
                                </m:r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i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≤</m:t>
                                </m:r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n</m:t>
                                </m:r>
                              </m:lim>
                            </m:limLow>
                          </m:fName>
                          <m:e>
                            <m:d>
                              <m:dPr>
                                <m:begChr m:val="|"/>
                                <m:sepChr m:val=""/>
                                <m:endChr m:val="|"/>
                                <m:grow m:val="on"/>
                                <m:ctrlP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sSub>
                                  <m:e>
                                    <m:r>
                                      <a:rPr lang="zh-CN" sz="14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</m:e>
                                  <m:sub>
                                    <m:r>
                                      <a:rPr lang="zh-CN" sz="14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i</m:t>
                                    </m:r>
                                  </m:sub>
                                </m:sSub>
                              </m:e>
                            </m:d>
                          </m:e>
                        </m:func>
                      </m:oMath>
                    </m:oMathPara>
                  </a14:m>
                </a:p>
              </p:txBody>
            </p:sp>
          </mc:Choice>
        </mc:AlternateContent>
      </p:grpSp>
      <p:grpSp>
        <p:nvGrpSpPr>
          <p:cNvPr id="42" name="c2-card-1"/>
          <p:cNvGrpSpPr/>
          <p:nvPr/>
        </p:nvGrpSpPr>
        <p:grpSpPr>
          <a:xfrm>
            <a:off x="6573202" y="1524000"/>
            <a:ext cx="5085398" cy="2328862"/>
            <a:chOff x="6573202" y="1524000"/>
            <a:chExt cx="5085398" cy="2328862"/>
          </a:xfrm>
        </p:grpSpPr>
        <p:sp>
          <p:nvSpPr>
            <p:cNvPr id="18" name="Rectangle 18"/>
            <p:cNvSpPr/>
            <p:nvPr/>
          </p:nvSpPr>
          <p:spPr>
            <a:xfrm>
              <a:off x="6573202" y="1524000"/>
              <a:ext cx="5085398" cy="2328862"/>
            </a:xfrm>
            <a:prstGeom prst="roundRect">
              <a:avLst>
                <a:gd name="adj" fmla="val 572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6582728" y="1657350"/>
              <a:ext cx="47625" cy="2062162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20" name="Rectangle 20"/>
            <p:cNvSpPr/>
            <p:nvPr/>
          </p:nvSpPr>
          <p:spPr>
            <a:xfrm>
              <a:off x="6797992" y="1710690"/>
              <a:ext cx="334328" cy="23812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6893763" y="1743551"/>
              <a:ext cx="14183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例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238810" y="1745932"/>
              <a:ext cx="139718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 = (1, −2, 3)ᵀ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797992" y="2049780"/>
              <a:ext cx="4673918" cy="400050"/>
            </a:xfrm>
            <a:prstGeom prst="rect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155853" y="217122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范数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8837968" y="217122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计算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10736440" y="2171224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值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7132483" y="2571274"/>
              <a:ext cx="3597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‖x‖₁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7922895" y="2571274"/>
              <a:ext cx="96130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|1| + |−2| + |3|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10770365" y="2571274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6797992" y="2845118"/>
              <a:ext cx="46739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1" name="Rectangle 31"/>
            <p:cNvSpPr/>
            <p:nvPr/>
          </p:nvSpPr>
          <p:spPr>
            <a:xfrm>
              <a:off x="6797992" y="2849880"/>
              <a:ext cx="4673918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7132483" y="2971324"/>
              <a:ext cx="3597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‖x‖₂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7922895" y="2971324"/>
              <a:ext cx="8557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√(1 + 4 + 9)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10393429" y="2971324"/>
              <a:ext cx="8482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√14 ≈ 3.742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6797992" y="3245168"/>
              <a:ext cx="46739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7132483" y="3371374"/>
              <a:ext cx="3597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‖x‖∞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7922895" y="3371374"/>
              <a:ext cx="96130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max{1, 2, 3}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10770365" y="3371374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6797992" y="2049780"/>
              <a:ext cx="4673918" cy="160020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40" name="Rectangle 40"/>
            <p:cNvSpPr/>
            <p:nvPr/>
          </p:nvSpPr>
          <p:spPr>
            <a:xfrm>
              <a:off x="7820978" y="2049780"/>
              <a:ext cx="9525" cy="160020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1" name="Rectangle 41"/>
            <p:cNvSpPr/>
            <p:nvPr/>
          </p:nvSpPr>
          <p:spPr>
            <a:xfrm>
              <a:off x="10158412" y="2049780"/>
              <a:ext cx="9525" cy="160020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49" name="c2-card-2"/>
          <p:cNvGrpSpPr/>
          <p:nvPr/>
        </p:nvGrpSpPr>
        <p:grpSpPr>
          <a:xfrm>
            <a:off x="6573202" y="4023360"/>
            <a:ext cx="5085398" cy="1397318"/>
            <a:chOff x="6573202" y="4023360"/>
            <a:chExt cx="5085398" cy="1397318"/>
          </a:xfrm>
        </p:grpSpPr>
        <p:sp>
          <p:nvSpPr>
            <p:cNvPr id="43" name="Rectangle 43"/>
            <p:cNvSpPr/>
            <p:nvPr/>
          </p:nvSpPr>
          <p:spPr>
            <a:xfrm>
              <a:off x="6573202" y="4023360"/>
              <a:ext cx="5085398" cy="1397318"/>
            </a:xfrm>
            <a:prstGeom prst="roundRect">
              <a:avLst>
                <a:gd name="adj" fmla="val 954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4" name="Rectangle 44"/>
            <p:cNvSpPr/>
            <p:nvPr/>
          </p:nvSpPr>
          <p:spPr>
            <a:xfrm>
              <a:off x="6582728" y="4156710"/>
              <a:ext cx="47625" cy="1130618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45" name="Rectangle 45"/>
            <p:cNvSpPr/>
            <p:nvPr/>
          </p:nvSpPr>
          <p:spPr>
            <a:xfrm>
              <a:off x="6797992" y="4210050"/>
              <a:ext cx="707708" cy="23812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6882562" y="4242911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统一记号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6791134" y="4553902"/>
              <a:ext cx="283972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三者统一记为 ‖x‖ₚ，p = 1, 2, ∞。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6792278" y="4850606"/>
              <a:ext cx="4307078" cy="42767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35"/>
                </a:lnSpc>
              </a:pPr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一般的 p-范数（p ≥ 1）是 |xᵢ|ᵖ 求和后再开 p 次方根；p → ∞ 时它趋</a:t>
              </a:r>
              <a:br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于 max|xᵢ|，这就是 ∞ 记号的来历（补充）。</a:t>
              </a:r>
            </a:p>
          </p:txBody>
        </p:sp>
      </p:grpSp>
      <p:grpSp>
        <p:nvGrpSpPr>
          <p:cNvPr id="56" name="c2-callout-3"/>
          <p:cNvGrpSpPr/>
          <p:nvPr/>
        </p:nvGrpSpPr>
        <p:grpSpPr>
          <a:xfrm>
            <a:off x="6573202" y="5590222"/>
            <a:ext cx="5085398" cy="729615"/>
            <a:chOff x="6573202" y="5590222"/>
            <a:chExt cx="5085398" cy="729615"/>
          </a:xfrm>
        </p:grpSpPr>
        <p:sp>
          <p:nvSpPr>
            <p:cNvPr id="50" name="Rectangle 50"/>
            <p:cNvSpPr/>
            <p:nvPr/>
          </p:nvSpPr>
          <p:spPr>
            <a:xfrm>
              <a:off x="6573202" y="5590222"/>
              <a:ext cx="5085398" cy="729615"/>
            </a:xfrm>
            <a:prstGeom prst="roundRect">
              <a:avLst>
                <a:gd name="adj" fmla="val 15666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54" name="Group 54"/>
            <p:cNvGrpSpPr/>
            <p:nvPr/>
          </p:nvGrpSpPr>
          <p:grpSpPr>
            <a:xfrm>
              <a:off x="6777990" y="5855018"/>
              <a:ext cx="200026" cy="200025"/>
              <a:chOff x="6777990" y="5855018"/>
              <a:chExt cx="200026" cy="200025"/>
            </a:xfrm>
          </p:grpSpPr>
          <p:sp>
            <p:nvSpPr>
              <p:cNvPr id="51" name="Freeform 51"/>
              <p:cNvSpPr/>
              <p:nvPr/>
            </p:nvSpPr>
            <p:spPr>
              <a:xfrm>
                <a:off x="6777990" y="5855018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52" name="Freeform 52"/>
              <p:cNvSpPr/>
              <p:nvPr/>
            </p:nvSpPr>
            <p:spPr>
              <a:xfrm>
                <a:off x="6817729" y="5899468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53" name="Freeform 53"/>
              <p:cNvSpPr/>
              <p:nvPr/>
            </p:nvSpPr>
            <p:spPr>
              <a:xfrm>
                <a:off x="6852444" y="6010593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55" name="TextBox 55"/>
            <p:cNvSpPr txBox="1"/>
            <p:nvPr/>
          </p:nvSpPr>
          <p:spPr>
            <a:xfrm>
              <a:off x="7080694" y="5735955"/>
              <a:ext cx="4042791" cy="5126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∞-范数和 1-范数只需加法与取最大，手算和编程都方</a:t>
              </a:r>
              <a:br/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便；2-范数与内积相连，适合理论推导。</a:t>
              </a:r>
            </a:p>
          </p:txBody>
        </p:sp>
      </p:grpSp>
      <p:grpSp>
        <p:nvGrpSpPr>
          <p:cNvPr id="5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7" name="TextBox 57"/>
            <p:cNvSpPr txBox="1"/>
            <p:nvPr/>
          </p:nvSpPr>
          <p:spPr>
            <a:xfrm>
              <a:off x="528447" y="6581299"/>
              <a:ext cx="278038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第2章 解线性方程组的数值法（下）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204966" cy="909257"/>
            <a:chOff x="520446" y="342900"/>
            <a:chExt cx="6204966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983230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79404" y="407194"/>
              <a:ext cx="28912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第2章 线性方程组（下） · 向量和矩阵范数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204966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范数等价：换一种范数，大小只差常数倍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8" name="c1-card-1"/>
          <p:cNvGrpSpPr/>
          <p:nvPr/>
        </p:nvGrpSpPr>
        <p:grpSpPr>
          <a:xfrm>
            <a:off x="533400" y="1524000"/>
            <a:ext cx="5626418" cy="4111942"/>
            <a:chOff x="533400" y="1524000"/>
            <a:chExt cx="5626418" cy="4111942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626418" cy="4111942"/>
            </a:xfrm>
            <a:prstGeom prst="roundRect">
              <a:avLst>
                <a:gd name="adj" fmla="val 324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3845242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81050" y="1733550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71258" y="176926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定理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382078" y="1768792"/>
              <a:ext cx="16306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向量范数的等价性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73430" y="2129790"/>
              <a:ext cx="472059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设 ‖·‖ₛ、‖·‖ₜ 为 Rⁿ 上任意两种向量范数，则存在常数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c₁, c₂ &gt; 0，使得对一切 x ∈ Rⁿ 有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3" name="formula34"/>
                <p:cNvSpPr txBox="1">
                  <a:spLocks noGrp="1"/>
                </p:cNvSpPr>
                <p:nvPr/>
              </p:nvSpPr>
              <p:spPr>
                <a:xfrm>
                  <a:off x="781050" y="2726055"/>
                  <a:ext cx="5169218" cy="4191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sSub>
                          <m:e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c</m:t>
                            </m:r>
                          </m:e>
                          <m:sub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</m:sub>
                        </m:sSub>
                        <m:sSub>
                          <m:e>
                            <m:d>
                              <m:dPr>
                                <m:begChr m:val="‖"/>
                                <m:sepChr m:val=""/>
                                <m:endChr m:val="‖"/>
                                <m:grow m:val="on"/>
                                <m:ctrlP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</m:d>
                          </m:e>
                          <m:sub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s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≤</m:t>
                        </m:r>
                        <m:sSub>
                          <m:e>
                            <m:d>
                              <m:dPr>
                                <m:begChr m:val="‖"/>
                                <m:sepChr m:val=""/>
                                <m:endChr m:val="‖"/>
                                <m:grow m:val="on"/>
                                <m:ctrlP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</m:d>
                          </m:e>
                          <m:sub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t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≤</m:t>
                        </m:r>
                        <m:sSub>
                          <m:e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c</m:t>
                            </m:r>
                          </m:e>
                          <m:sub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2</m:t>
                            </m:r>
                          </m:sub>
                        </m:sSub>
                        <m:sSub>
                          <m:e>
                            <m:d>
                              <m:dPr>
                                <m:begChr m:val="‖"/>
                                <m:sepChr m:val=""/>
                                <m:endChr m:val="‖"/>
                                <m:grow m:val="on"/>
                                <m:ctrlP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</m:d>
                          </m:e>
                          <m:sub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s</m:t>
                            </m:r>
                          </m:sub>
                        </m:sSub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14" name="TextBox 14"/>
            <p:cNvSpPr txBox="1"/>
            <p:nvPr/>
          </p:nvSpPr>
          <p:spPr>
            <a:xfrm>
              <a:off x="773430" y="3265170"/>
              <a:ext cx="36499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三种常用范数之间的常数可以直接写出：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5" name="formula35"/>
                <p:cNvSpPr txBox="1">
                  <a:spLocks noGrp="1"/>
                </p:cNvSpPr>
                <p:nvPr/>
              </p:nvSpPr>
              <p:spPr>
                <a:xfrm>
                  <a:off x="781050" y="3575685"/>
                  <a:ext cx="5169218" cy="50292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sSub>
                          <m:e>
                            <m:d>
                              <m:dPr>
                                <m:begChr m:val="‖"/>
                                <m:sepChr m:val=""/>
                                <m:endChr m:val="‖"/>
                                <m:grow m:val="on"/>
                                <m:ctrlP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</m:d>
                          </m:e>
                          <m:sub>
                            <m:r>
                              <m:rPr>
                                <m:sty m:val="p"/>
                              </m:rP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∞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≤</m:t>
                        </m:r>
                        <m:sSub>
                          <m:e>
                            <m:d>
                              <m:dPr>
                                <m:begChr m:val="‖"/>
                                <m:sepChr m:val=""/>
                                <m:endChr m:val="‖"/>
                                <m:grow m:val="on"/>
                                <m:ctrlP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</m:d>
                          </m:e>
                          <m:sub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2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≤</m:t>
                        </m:r>
                        <m:rad>
                          <m:radPr>
                            <m:degHide m:val="on"/>
                            <m:ctrlP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radPr>
                          <m:deg/>
                          <m:e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n</m:t>
                            </m:r>
                          </m:e>
                        </m:rad>
                        <m: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 </m:t>
                        </m:r>
                        <m:sSub>
                          <m:e>
                            <m:d>
                              <m:dPr>
                                <m:begChr m:val="‖"/>
                                <m:sepChr m:val=""/>
                                <m:endChr m:val="‖"/>
                                <m:grow m:val="on"/>
                                <m:ctrlP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</m:d>
                          </m:e>
                          <m:sub>
                            <m:r>
                              <m:rPr>
                                <m:sty m:val="p"/>
                              </m:rP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∞</m:t>
                            </m:r>
                          </m:sub>
                        </m:sSub>
                        <m: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  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2.5.8</m:t>
                            </m:r>
                          </m:e>
                        </m:d>
                      </m:oMath>
                    </m:oMathPara>
                  </a14:m>
                </a:p>
              </p:txBody>
            </p:sp>
          </mc:Choice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6" name="formula36"/>
                <p:cNvSpPr txBox="1">
                  <a:spLocks noGrp="1"/>
                </p:cNvSpPr>
                <p:nvPr/>
              </p:nvSpPr>
              <p:spPr>
                <a:xfrm>
                  <a:off x="781050" y="4173855"/>
                  <a:ext cx="5169218" cy="4191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sSub>
                          <m:e>
                            <m:d>
                              <m:dPr>
                                <m:begChr m:val="‖"/>
                                <m:sepChr m:val=""/>
                                <m:endChr m:val="‖"/>
                                <m:grow m:val="on"/>
                                <m:ctrlP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</m:d>
                          </m:e>
                          <m:sub>
                            <m:r>
                              <m:rPr>
                                <m:sty m:val="p"/>
                              </m:rP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∞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≤</m:t>
                        </m:r>
                        <m:sSub>
                          <m:e>
                            <m:d>
                              <m:dPr>
                                <m:begChr m:val="‖"/>
                                <m:sepChr m:val=""/>
                                <m:endChr m:val="‖"/>
                                <m:grow m:val="on"/>
                                <m:ctrlP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</m:d>
                          </m:e>
                          <m:sub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≤</m:t>
                        </m:r>
                        <m: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n</m:t>
                        </m:r>
                        <m: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 </m:t>
                        </m:r>
                        <m:sSub>
                          <m:e>
                            <m:d>
                              <m:dPr>
                                <m:begChr m:val="‖"/>
                                <m:sepChr m:val=""/>
                                <m:endChr m:val="‖"/>
                                <m:grow m:val="on"/>
                                <m:ctrlP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</m:d>
                          </m:e>
                          <m:sub>
                            <m:r>
                              <m:rPr>
                                <m:sty m:val="p"/>
                              </m:rP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∞</m:t>
                            </m:r>
                          </m:sub>
                        </m:sSub>
                        <m: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  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2.5.9</m:t>
                            </m:r>
                          </m:e>
                        </m:d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17" name="TextBox 17"/>
            <p:cNvSpPr txBox="1"/>
            <p:nvPr/>
          </p:nvSpPr>
          <p:spPr>
            <a:xfrm>
              <a:off x="774573" y="4709636"/>
              <a:ext cx="4296410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证明：记 m = ‖x‖∞ = |xₖ|，则 m² ≤ Σ|xᵢ|² ≤ n·m²，开方得</a:t>
              </a:r>
              <a:br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(2.5.8)；同理 m ≤ Σ|xᵢ| ≤ n·m，得 (2.5.9)。</a:t>
              </a:r>
            </a:p>
          </p:txBody>
        </p:sp>
      </p:grpSp>
      <p:grpSp>
        <p:nvGrpSpPr>
          <p:cNvPr id="43" name="c2-graph-1"/>
          <p:cNvGrpSpPr/>
          <p:nvPr/>
        </p:nvGrpSpPr>
        <p:grpSpPr>
          <a:xfrm>
            <a:off x="7319010" y="1553051"/>
            <a:ext cx="3949690" cy="2398872"/>
            <a:chOff x="7319010" y="1553051"/>
            <a:chExt cx="3949690" cy="2398872"/>
          </a:xfrm>
        </p:grpSpPr>
        <p:sp>
          <p:nvSpPr>
            <p:cNvPr id="19" name="Freeform 19"/>
            <p:cNvSpPr/>
            <p:nvPr/>
          </p:nvSpPr>
          <p:spPr>
            <a:xfrm>
              <a:off x="7330440" y="2762250"/>
              <a:ext cx="2535555" cy="9525"/>
            </a:xfrm>
            <a:custGeom>
              <a:avLst/>
              <a:gdLst/>
              <a:ahLst/>
              <a:cxnLst/>
              <a:rect l="l" t="t" r="r" b="b"/>
              <a:pathLst>
                <a:path w="2535555" h="9525">
                  <a:moveTo>
                    <a:pt x="0" y="0"/>
                  </a:moveTo>
                  <a:lnTo>
                    <a:pt x="2535555" y="0"/>
                  </a:lnTo>
                </a:path>
              </a:pathLst>
            </a:custGeom>
            <a:noFill/>
            <a:ln w="11430">
              <a:solidFill>
                <a:srgbClr val="5B6475"/>
              </a:solidFill>
            </a:ln>
          </p:spPr>
        </p:sp>
        <p:sp>
          <p:nvSpPr>
            <p:cNvPr id="20" name="Freeform 20"/>
            <p:cNvSpPr/>
            <p:nvPr/>
          </p:nvSpPr>
          <p:spPr>
            <a:xfrm>
              <a:off x="9865995" y="2714625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95250" y="47625"/>
                  </a:moveTo>
                  <a:lnTo>
                    <a:pt x="0" y="952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21" name="Freeform 21"/>
            <p:cNvSpPr/>
            <p:nvPr/>
          </p:nvSpPr>
          <p:spPr>
            <a:xfrm>
              <a:off x="8645842" y="1679258"/>
              <a:ext cx="9525" cy="2261235"/>
            </a:xfrm>
            <a:custGeom>
              <a:avLst/>
              <a:gdLst/>
              <a:ahLst/>
              <a:cxnLst/>
              <a:rect l="l" t="t" r="r" b="b"/>
              <a:pathLst>
                <a:path w="9525" h="2261235">
                  <a:moveTo>
                    <a:pt x="0" y="2261235"/>
                  </a:moveTo>
                  <a:lnTo>
                    <a:pt x="0" y="0"/>
                  </a:lnTo>
                </a:path>
              </a:pathLst>
            </a:custGeom>
            <a:noFill/>
            <a:ln w="11430">
              <a:solidFill>
                <a:srgbClr val="5B6475"/>
              </a:solidFill>
            </a:ln>
          </p:spPr>
        </p:sp>
        <p:sp>
          <p:nvSpPr>
            <p:cNvPr id="22" name="Freeform 22"/>
            <p:cNvSpPr/>
            <p:nvPr/>
          </p:nvSpPr>
          <p:spPr>
            <a:xfrm>
              <a:off x="8598218" y="1584008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47625" y="0"/>
                  </a:moveTo>
                  <a:lnTo>
                    <a:pt x="95250" y="95250"/>
                  </a:lnTo>
                  <a:lnTo>
                    <a:pt x="0" y="9525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23" name="Freeform 23"/>
            <p:cNvSpPr/>
            <p:nvPr/>
          </p:nvSpPr>
          <p:spPr>
            <a:xfrm>
              <a:off x="7731442" y="1847850"/>
              <a:ext cx="1829752" cy="1828800"/>
            </a:xfrm>
            <a:custGeom>
              <a:avLst/>
              <a:gdLst/>
              <a:ahLst/>
              <a:cxnLst/>
              <a:rect l="l" t="t" r="r" b="b"/>
              <a:pathLst>
                <a:path w="1829752" h="1828800">
                  <a:moveTo>
                    <a:pt x="1829752" y="903922"/>
                  </a:moveTo>
                  <a:lnTo>
                    <a:pt x="1829752" y="0"/>
                  </a:lnTo>
                  <a:lnTo>
                    <a:pt x="0" y="0"/>
                  </a:lnTo>
                  <a:lnTo>
                    <a:pt x="0" y="1828800"/>
                  </a:lnTo>
                  <a:lnTo>
                    <a:pt x="1829752" y="1828800"/>
                  </a:lnTo>
                  <a:lnTo>
                    <a:pt x="1829752" y="924878"/>
                  </a:lnTo>
                </a:path>
              </a:pathLst>
            </a:custGeom>
            <a:noFill/>
            <a:ln w="24765">
              <a:solidFill>
                <a:srgbClr val="1F5FA8"/>
              </a:solidFill>
            </a:ln>
          </p:spPr>
        </p:sp>
        <p:sp>
          <p:nvSpPr>
            <p:cNvPr id="24" name="Freeform 24"/>
            <p:cNvSpPr/>
            <p:nvPr/>
          </p:nvSpPr>
          <p:spPr>
            <a:xfrm>
              <a:off x="7731442" y="1847850"/>
              <a:ext cx="1828800" cy="1828800"/>
            </a:xfrm>
            <a:custGeom>
              <a:avLst/>
              <a:gdLst/>
              <a:ahLst/>
              <a:cxnLst/>
              <a:rect l="l" t="t" r="r" b="b"/>
              <a:pathLst>
                <a:path w="1828800" h="1828800">
                  <a:moveTo>
                    <a:pt x="1828800" y="903922"/>
                  </a:moveTo>
                  <a:lnTo>
                    <a:pt x="1825942" y="834390"/>
                  </a:lnTo>
                  <a:lnTo>
                    <a:pt x="1815465" y="755333"/>
                  </a:lnTo>
                  <a:lnTo>
                    <a:pt x="1798320" y="677228"/>
                  </a:lnTo>
                  <a:lnTo>
                    <a:pt x="1773555" y="601980"/>
                  </a:lnTo>
                  <a:lnTo>
                    <a:pt x="1744027" y="527685"/>
                  </a:lnTo>
                  <a:lnTo>
                    <a:pt x="1706880" y="457200"/>
                  </a:lnTo>
                  <a:lnTo>
                    <a:pt x="1664017" y="389573"/>
                  </a:lnTo>
                  <a:lnTo>
                    <a:pt x="1615440" y="326708"/>
                  </a:lnTo>
                  <a:lnTo>
                    <a:pt x="1561147" y="267652"/>
                  </a:lnTo>
                  <a:lnTo>
                    <a:pt x="1503045" y="214312"/>
                  </a:lnTo>
                  <a:lnTo>
                    <a:pt x="1439227" y="164783"/>
                  </a:lnTo>
                  <a:lnTo>
                    <a:pt x="1371600" y="122873"/>
                  </a:lnTo>
                  <a:lnTo>
                    <a:pt x="1301115" y="85725"/>
                  </a:lnTo>
                  <a:lnTo>
                    <a:pt x="1227772" y="55245"/>
                  </a:lnTo>
                  <a:lnTo>
                    <a:pt x="1151572" y="31433"/>
                  </a:lnTo>
                  <a:lnTo>
                    <a:pt x="1073467" y="14288"/>
                  </a:lnTo>
                  <a:lnTo>
                    <a:pt x="994410" y="3810"/>
                  </a:lnTo>
                  <a:lnTo>
                    <a:pt x="914400" y="0"/>
                  </a:lnTo>
                  <a:lnTo>
                    <a:pt x="835342" y="3810"/>
                  </a:lnTo>
                  <a:lnTo>
                    <a:pt x="756285" y="14288"/>
                  </a:lnTo>
                  <a:lnTo>
                    <a:pt x="678180" y="31433"/>
                  </a:lnTo>
                  <a:lnTo>
                    <a:pt x="601980" y="55245"/>
                  </a:lnTo>
                  <a:lnTo>
                    <a:pt x="528638" y="85725"/>
                  </a:lnTo>
                  <a:lnTo>
                    <a:pt x="458152" y="122873"/>
                  </a:lnTo>
                  <a:lnTo>
                    <a:pt x="390525" y="164783"/>
                  </a:lnTo>
                  <a:lnTo>
                    <a:pt x="326707" y="214312"/>
                  </a:lnTo>
                  <a:lnTo>
                    <a:pt x="268605" y="267652"/>
                  </a:lnTo>
                  <a:lnTo>
                    <a:pt x="214312" y="326708"/>
                  </a:lnTo>
                  <a:lnTo>
                    <a:pt x="165735" y="389573"/>
                  </a:lnTo>
                  <a:lnTo>
                    <a:pt x="122872" y="457200"/>
                  </a:lnTo>
                  <a:lnTo>
                    <a:pt x="85725" y="527685"/>
                  </a:lnTo>
                  <a:lnTo>
                    <a:pt x="55245" y="601980"/>
                  </a:lnTo>
                  <a:lnTo>
                    <a:pt x="31432" y="677228"/>
                  </a:lnTo>
                  <a:lnTo>
                    <a:pt x="14288" y="755333"/>
                  </a:lnTo>
                  <a:lnTo>
                    <a:pt x="3810" y="834390"/>
                  </a:lnTo>
                  <a:lnTo>
                    <a:pt x="0" y="914400"/>
                  </a:lnTo>
                  <a:lnTo>
                    <a:pt x="3810" y="994410"/>
                  </a:lnTo>
                  <a:lnTo>
                    <a:pt x="14288" y="1073468"/>
                  </a:lnTo>
                  <a:lnTo>
                    <a:pt x="31432" y="1151572"/>
                  </a:lnTo>
                  <a:lnTo>
                    <a:pt x="55245" y="1226820"/>
                  </a:lnTo>
                  <a:lnTo>
                    <a:pt x="85725" y="1301115"/>
                  </a:lnTo>
                  <a:lnTo>
                    <a:pt x="122872" y="1371600"/>
                  </a:lnTo>
                  <a:lnTo>
                    <a:pt x="165735" y="1439228"/>
                  </a:lnTo>
                  <a:lnTo>
                    <a:pt x="214312" y="1502092"/>
                  </a:lnTo>
                  <a:lnTo>
                    <a:pt x="268605" y="1561147"/>
                  </a:lnTo>
                  <a:lnTo>
                    <a:pt x="326707" y="1614488"/>
                  </a:lnTo>
                  <a:lnTo>
                    <a:pt x="390525" y="1663065"/>
                  </a:lnTo>
                  <a:lnTo>
                    <a:pt x="458152" y="1705928"/>
                  </a:lnTo>
                  <a:lnTo>
                    <a:pt x="528638" y="1743075"/>
                  </a:lnTo>
                  <a:lnTo>
                    <a:pt x="601980" y="1773555"/>
                  </a:lnTo>
                  <a:lnTo>
                    <a:pt x="678180" y="1797368"/>
                  </a:lnTo>
                  <a:lnTo>
                    <a:pt x="756285" y="1814512"/>
                  </a:lnTo>
                  <a:lnTo>
                    <a:pt x="835342" y="1824990"/>
                  </a:lnTo>
                  <a:lnTo>
                    <a:pt x="914400" y="1828800"/>
                  </a:lnTo>
                  <a:lnTo>
                    <a:pt x="994410" y="1824990"/>
                  </a:lnTo>
                  <a:lnTo>
                    <a:pt x="1073467" y="1814512"/>
                  </a:lnTo>
                  <a:lnTo>
                    <a:pt x="1151572" y="1797368"/>
                  </a:lnTo>
                  <a:lnTo>
                    <a:pt x="1227772" y="1773555"/>
                  </a:lnTo>
                  <a:lnTo>
                    <a:pt x="1301115" y="1743075"/>
                  </a:lnTo>
                  <a:lnTo>
                    <a:pt x="1371600" y="1705928"/>
                  </a:lnTo>
                  <a:lnTo>
                    <a:pt x="1439227" y="1663065"/>
                  </a:lnTo>
                  <a:lnTo>
                    <a:pt x="1503045" y="1614488"/>
                  </a:lnTo>
                  <a:lnTo>
                    <a:pt x="1561147" y="1561147"/>
                  </a:lnTo>
                  <a:lnTo>
                    <a:pt x="1615440" y="1502092"/>
                  </a:lnTo>
                  <a:lnTo>
                    <a:pt x="1664017" y="1439228"/>
                  </a:lnTo>
                  <a:lnTo>
                    <a:pt x="1706880" y="1371600"/>
                  </a:lnTo>
                  <a:lnTo>
                    <a:pt x="1744027" y="1301115"/>
                  </a:lnTo>
                  <a:lnTo>
                    <a:pt x="1773555" y="1226820"/>
                  </a:lnTo>
                  <a:lnTo>
                    <a:pt x="1798320" y="1151572"/>
                  </a:lnTo>
                  <a:lnTo>
                    <a:pt x="1815465" y="1073468"/>
                  </a:lnTo>
                  <a:lnTo>
                    <a:pt x="1825942" y="994410"/>
                  </a:lnTo>
                  <a:lnTo>
                    <a:pt x="1828800" y="924878"/>
                  </a:lnTo>
                </a:path>
              </a:pathLst>
            </a:custGeom>
            <a:noFill/>
            <a:ln w="24765">
              <a:solidFill>
                <a:srgbClr val="2E7D4F"/>
              </a:solidFill>
            </a:ln>
          </p:spPr>
        </p:sp>
        <p:sp>
          <p:nvSpPr>
            <p:cNvPr id="25" name="Freeform 25"/>
            <p:cNvSpPr/>
            <p:nvPr/>
          </p:nvSpPr>
          <p:spPr>
            <a:xfrm>
              <a:off x="7731442" y="1847850"/>
              <a:ext cx="1822132" cy="1828800"/>
            </a:xfrm>
            <a:custGeom>
              <a:avLst/>
              <a:gdLst/>
              <a:ahLst/>
              <a:cxnLst/>
              <a:rect l="l" t="t" r="r" b="b"/>
              <a:pathLst>
                <a:path w="1822132" h="1828800">
                  <a:moveTo>
                    <a:pt x="1822132" y="906780"/>
                  </a:moveTo>
                  <a:lnTo>
                    <a:pt x="914400" y="0"/>
                  </a:lnTo>
                  <a:lnTo>
                    <a:pt x="0" y="914400"/>
                  </a:lnTo>
                  <a:lnTo>
                    <a:pt x="914400" y="1828800"/>
                  </a:lnTo>
                  <a:lnTo>
                    <a:pt x="1822132" y="922020"/>
                  </a:lnTo>
                </a:path>
              </a:pathLst>
            </a:custGeom>
            <a:noFill/>
            <a:ln w="24765">
              <a:solidFill>
                <a:srgbClr val="F26B3A"/>
              </a:solidFill>
            </a:ln>
          </p:spPr>
        </p:sp>
        <p:sp>
          <p:nvSpPr>
            <p:cNvPr id="26" name="Ellipse 26"/>
            <p:cNvSpPr/>
            <p:nvPr/>
          </p:nvSpPr>
          <p:spPr>
            <a:xfrm>
              <a:off x="7319010" y="2761298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7" name="Ellipse 27"/>
            <p:cNvSpPr/>
            <p:nvPr/>
          </p:nvSpPr>
          <p:spPr>
            <a:xfrm>
              <a:off x="9970770" y="2761298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8" name="Ellipse 28"/>
            <p:cNvSpPr/>
            <p:nvPr/>
          </p:nvSpPr>
          <p:spPr>
            <a:xfrm>
              <a:off x="8644890" y="3950018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9" name="Ellipse 29"/>
            <p:cNvSpPr/>
            <p:nvPr/>
          </p:nvSpPr>
          <p:spPr>
            <a:xfrm>
              <a:off x="8644890" y="1572578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30" name="Ellipse 30"/>
            <p:cNvSpPr/>
            <p:nvPr/>
          </p:nvSpPr>
          <p:spPr>
            <a:xfrm>
              <a:off x="9560242" y="2761298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31" name="Ellipse 31"/>
            <p:cNvSpPr/>
            <p:nvPr/>
          </p:nvSpPr>
          <p:spPr>
            <a:xfrm>
              <a:off x="9560242" y="2761298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32" name="Ellipse 32"/>
            <p:cNvSpPr/>
            <p:nvPr/>
          </p:nvSpPr>
          <p:spPr>
            <a:xfrm>
              <a:off x="9560242" y="2761298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33" name="Ellipse 33"/>
            <p:cNvSpPr/>
            <p:nvPr/>
          </p:nvSpPr>
          <p:spPr>
            <a:xfrm>
              <a:off x="9560242" y="2761298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34" name="Ellipse 34"/>
            <p:cNvSpPr/>
            <p:nvPr/>
          </p:nvSpPr>
          <p:spPr>
            <a:xfrm>
              <a:off x="9560242" y="2761298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35" name="Ellipse 35"/>
            <p:cNvSpPr/>
            <p:nvPr/>
          </p:nvSpPr>
          <p:spPr>
            <a:xfrm>
              <a:off x="9560242" y="2761298"/>
              <a:ext cx="1905" cy="19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9628251" y="2758440"/>
              <a:ext cx="8841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8731948" y="1643062"/>
              <a:ext cx="8841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9883082" y="2759869"/>
              <a:ext cx="1772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x₁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8429567" y="1553051"/>
              <a:ext cx="1772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x₂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10594985" y="1939290"/>
              <a:ext cx="67371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‖x‖∞ = 1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10594985" y="2385060"/>
              <a:ext cx="67371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‖x‖₂ = 1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10594985" y="2830830"/>
              <a:ext cx="67371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F26B3A"/>
                  </a:solidFill>
                  <a:latin typeface="+mn-lt"/>
                  <a:ea typeface="+mn-ea"/>
                  <a:cs typeface="+mn-cs"/>
                </a:rPr>
                <a:t>‖x‖₁ = 1</a:t>
              </a:r>
            </a:p>
          </p:txBody>
        </p:sp>
      </p:grpSp>
      <p:grpSp>
        <p:nvGrpSpPr>
          <p:cNvPr id="45" name="c2-text-2"/>
          <p:cNvGrpSpPr/>
          <p:nvPr/>
        </p:nvGrpSpPr>
        <p:grpSpPr>
          <a:xfrm>
            <a:off x="6458141" y="4212431"/>
            <a:ext cx="4922266" cy="500824"/>
            <a:chOff x="6458141" y="4212431"/>
            <a:chExt cx="4922266" cy="500824"/>
          </a:xfrm>
        </p:grpSpPr>
        <p:sp>
          <p:nvSpPr>
            <p:cNvPr id="44" name="TextBox 44"/>
            <p:cNvSpPr txBox="1"/>
            <p:nvPr/>
          </p:nvSpPr>
          <p:spPr>
            <a:xfrm>
              <a:off x="6458141" y="4212431"/>
              <a:ext cx="4922266" cy="5008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80"/>
                </a:lnSpc>
              </a:pPr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单位球 {x | ‖x‖ = 1} 在 R² 中的形状：菱形在圆内，圆在正方形内，</a:t>
              </a:r>
              <a:br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对应 ‖x‖∞ ≤ ‖x‖₂ ≤ ‖x‖₁。</a:t>
              </a:r>
            </a:p>
          </p:txBody>
        </p:sp>
      </p:grpSp>
      <p:grpSp>
        <p:nvGrpSpPr>
          <p:cNvPr id="52" name="c2-callout-3"/>
          <p:cNvGrpSpPr/>
          <p:nvPr/>
        </p:nvGrpSpPr>
        <p:grpSpPr>
          <a:xfrm>
            <a:off x="6464618" y="4852988"/>
            <a:ext cx="5193982" cy="782955"/>
            <a:chOff x="6464618" y="4852988"/>
            <a:chExt cx="5193982" cy="782955"/>
          </a:xfrm>
        </p:grpSpPr>
        <p:sp>
          <p:nvSpPr>
            <p:cNvPr id="46" name="Rectangle 46"/>
            <p:cNvSpPr/>
            <p:nvPr/>
          </p:nvSpPr>
          <p:spPr>
            <a:xfrm>
              <a:off x="6464618" y="4852988"/>
              <a:ext cx="5193982" cy="782955"/>
            </a:xfrm>
            <a:prstGeom prst="roundRect">
              <a:avLst>
                <a:gd name="adj" fmla="val 14599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50" name="Group 50"/>
            <p:cNvGrpSpPr/>
            <p:nvPr/>
          </p:nvGrpSpPr>
          <p:grpSpPr>
            <a:xfrm>
              <a:off x="6669405" y="5144453"/>
              <a:ext cx="200026" cy="200026"/>
              <a:chOff x="6669405" y="5144453"/>
              <a:chExt cx="200026" cy="200026"/>
            </a:xfrm>
          </p:grpSpPr>
          <p:sp>
            <p:nvSpPr>
              <p:cNvPr id="47" name="Freeform 47"/>
              <p:cNvSpPr/>
              <p:nvPr/>
            </p:nvSpPr>
            <p:spPr>
              <a:xfrm>
                <a:off x="6669405" y="5144453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48" name="Freeform 48"/>
              <p:cNvSpPr/>
              <p:nvPr/>
            </p:nvSpPr>
            <p:spPr>
              <a:xfrm>
                <a:off x="6769418" y="521112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49" name="Freeform 49"/>
              <p:cNvSpPr/>
              <p:nvPr/>
            </p:nvSpPr>
            <p:spPr>
              <a:xfrm>
                <a:off x="6758305" y="5244465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51" name="TextBox 51"/>
            <p:cNvSpPr txBox="1"/>
            <p:nvPr/>
          </p:nvSpPr>
          <p:spPr>
            <a:xfrm>
              <a:off x="6971348" y="5001578"/>
              <a:ext cx="3891915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检验上页的 x（n = 3）：3 ≤ 3.742 ≤ √3 × 3 ≈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5.196，3 ≤ 6 ≤ 9。</a:t>
              </a:r>
            </a:p>
          </p:txBody>
        </p:sp>
      </p:grpSp>
      <p:grpSp>
        <p:nvGrpSpPr>
          <p:cNvPr id="59" name="takeaway"/>
          <p:cNvGrpSpPr/>
          <p:nvPr/>
        </p:nvGrpSpPr>
        <p:grpSpPr>
          <a:xfrm>
            <a:off x="533400" y="5829300"/>
            <a:ext cx="11125200" cy="533400"/>
            <a:chOff x="533400" y="5829300"/>
            <a:chExt cx="11125200" cy="533400"/>
          </a:xfrm>
        </p:grpSpPr>
        <p:sp>
          <p:nvSpPr>
            <p:cNvPr id="53" name="Rectangle 53"/>
            <p:cNvSpPr/>
            <p:nvPr/>
          </p:nvSpPr>
          <p:spPr>
            <a:xfrm>
              <a:off x="533400" y="5829300"/>
              <a:ext cx="11125200" cy="533400"/>
            </a:xfrm>
            <a:prstGeom prst="roundRect">
              <a:avLst>
                <a:gd name="adj" fmla="val 21429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57" name="Group 57"/>
            <p:cNvGrpSpPr/>
            <p:nvPr/>
          </p:nvGrpSpPr>
          <p:grpSpPr>
            <a:xfrm>
              <a:off x="738188" y="5995988"/>
              <a:ext cx="200026" cy="200025"/>
              <a:chOff x="738188" y="5995988"/>
              <a:chExt cx="200026" cy="200025"/>
            </a:xfrm>
          </p:grpSpPr>
          <p:sp>
            <p:nvSpPr>
              <p:cNvPr id="54" name="Freeform 54"/>
              <p:cNvSpPr/>
              <p:nvPr/>
            </p:nvSpPr>
            <p:spPr>
              <a:xfrm>
                <a:off x="738188" y="5995988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55" name="Freeform 55"/>
              <p:cNvSpPr/>
              <p:nvPr/>
            </p:nvSpPr>
            <p:spPr>
              <a:xfrm>
                <a:off x="777926" y="6040438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56" name="Freeform 56"/>
              <p:cNvSpPr/>
              <p:nvPr/>
            </p:nvSpPr>
            <p:spPr>
              <a:xfrm>
                <a:off x="812642" y="6151563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58" name="TextBox 58"/>
            <p:cNvSpPr txBox="1"/>
            <p:nvPr/>
          </p:nvSpPr>
          <p:spPr>
            <a:xfrm>
              <a:off x="1040130" y="5991225"/>
              <a:ext cx="9445371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等价性的用处：误差在一种范数下趋于 0，在任何范数下都趋于 0，所以判断收敛时可以挑最好算的范数。</a:t>
              </a:r>
            </a:p>
          </p:txBody>
        </p:sp>
      </p:grpSp>
      <p:grpSp>
        <p:nvGrpSpPr>
          <p:cNvPr id="62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0" name="TextBox 60"/>
            <p:cNvSpPr txBox="1"/>
            <p:nvPr/>
          </p:nvSpPr>
          <p:spPr>
            <a:xfrm>
              <a:off x="528447" y="6581299"/>
              <a:ext cx="278038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第2章 解线性方程组的数值法（下）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8914311" cy="909257"/>
            <a:chOff x="520446" y="342900"/>
            <a:chExt cx="8914311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983230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79404" y="407194"/>
              <a:ext cx="28912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第2章 线性方程组（下） · 向量和矩阵范数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8914311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向量序列收敛：每个分量都收敛，等价于误差的范数趋于 0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5" name="c1-card-1"/>
          <p:cNvGrpSpPr/>
          <p:nvPr/>
        </p:nvGrpSpPr>
        <p:grpSpPr>
          <a:xfrm>
            <a:off x="533400" y="1524000"/>
            <a:ext cx="5735002" cy="2206942"/>
            <a:chOff x="533400" y="1524000"/>
            <a:chExt cx="5735002" cy="2206942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735002" cy="2206942"/>
            </a:xfrm>
            <a:prstGeom prst="roundRect">
              <a:avLst>
                <a:gd name="adj" fmla="val 6042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940242"/>
            </a:xfrm>
            <a:prstGeom prst="roundRect">
              <a:avLst>
                <a:gd name="adj" fmla="val 50000"/>
              </a:avLst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3905" y="1716405"/>
              <a:ext cx="749618" cy="24765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46844" y="1750695"/>
              <a:ext cx="58278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定义 2.2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620964" y="175641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向量序列的收敛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57047" y="2090738"/>
              <a:ext cx="5062919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设 {x⁽ᵏ⁾} 是 Rⁿ 上的向量序列，x⁽ᵏ⁾ = (x₁⁽ᵏ⁾, …, xₙ⁽ᵏ⁾)ᵀ，x*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= (x₁*, …, xₙ*)ᵀ ∈ Rⁿ。如果对 i = 1, 2, …, n 都有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3" name="formula45"/>
                <p:cNvSpPr txBox="1">
                  <a:spLocks noGrp="1"/>
                </p:cNvSpPr>
                <p:nvPr/>
              </p:nvSpPr>
              <p:spPr>
                <a:xfrm>
                  <a:off x="763905" y="2627948"/>
                  <a:ext cx="5312092" cy="59055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func>
                          <m:funcPr/>
                          <m:fName>
                            <m:limLow>
                              <m:limLowPr/>
                              <m:e>
                                <m:r>
                                  <m:rPr>
                                    <m:sty m:val="p"/>
                                  </m:rP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lim</m:t>
                                </m:r>
                              </m:e>
                              <m:lim>
                                <m: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k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→∞</m:t>
                                </m:r>
                              </m:lim>
                            </m:limLow>
                          </m:fName>
                          <m:e>
                            <m:sSubSup>
                              <m:e>
                                <m: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i</m:t>
                                </m:r>
                              </m:sub>
                              <m:sup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 m:val="on"/>
                                    <m:ctrlPr>
                                      <a:rPr lang="zh-CN" sz="150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dPr>
                                  <m:e>
                                    <m:r>
                                      <a:rPr lang="zh-CN" sz="150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k</m:t>
                                    </m:r>
                                  </m:e>
                                </m:d>
                              </m:sup>
                            </m:sSubSup>
                          </m:e>
                        </m:func>
                        <m:r>
                          <m:rPr>
                            <m:sty m:val="p"/>
                          </m:rPr>
                          <a:rPr lang="zh-CN" sz="15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sSubSup>
                          <m:e>
                            <m: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x</m:t>
                            </m:r>
                          </m:e>
                          <m:sub>
                            <m: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i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*</m:t>
                            </m:r>
                          </m:sup>
                        </m:sSubSup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14" name="TextBox 14"/>
            <p:cNvSpPr txBox="1"/>
            <p:nvPr/>
          </p:nvSpPr>
          <p:spPr>
            <a:xfrm>
              <a:off x="757047" y="3327082"/>
              <a:ext cx="315776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则称向量序列 {x⁽ᵏ⁾} 收敛于向量 x*。</a:t>
              </a:r>
            </a:p>
          </p:txBody>
        </p:sp>
      </p:grpSp>
      <p:grpSp>
        <p:nvGrpSpPr>
          <p:cNvPr id="23" name="c1-card-2"/>
          <p:cNvGrpSpPr/>
          <p:nvPr/>
        </p:nvGrpSpPr>
        <p:grpSpPr>
          <a:xfrm>
            <a:off x="533400" y="3905250"/>
            <a:ext cx="5735002" cy="2188845"/>
            <a:chOff x="533400" y="3905250"/>
            <a:chExt cx="5735002" cy="2188845"/>
          </a:xfrm>
        </p:grpSpPr>
        <p:sp>
          <p:nvSpPr>
            <p:cNvPr id="16" name="Rectangle 16"/>
            <p:cNvSpPr/>
            <p:nvPr/>
          </p:nvSpPr>
          <p:spPr>
            <a:xfrm>
              <a:off x="533400" y="3905250"/>
              <a:ext cx="5735002" cy="2188845"/>
            </a:xfrm>
            <a:prstGeom prst="roundRect">
              <a:avLst>
                <a:gd name="adj" fmla="val 6092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7" name="Rectangle 17"/>
            <p:cNvSpPr/>
            <p:nvPr/>
          </p:nvSpPr>
          <p:spPr>
            <a:xfrm>
              <a:off x="542925" y="4038600"/>
              <a:ext cx="47625" cy="192214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8" name="Rectangle 18"/>
            <p:cNvSpPr/>
            <p:nvPr/>
          </p:nvSpPr>
          <p:spPr>
            <a:xfrm>
              <a:off x="763905" y="4097655"/>
              <a:ext cx="742950" cy="247650"/>
            </a:xfrm>
            <a:prstGeom prst="roundRect">
              <a:avLst>
                <a:gd name="adj" fmla="val 50000"/>
              </a:avLst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847344" y="4131945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充要条件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757047" y="4454842"/>
              <a:ext cx="261255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{x⁽ᵏ⁾} 收敛于 x* 的充要条件是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1" name="formula46"/>
                <p:cNvSpPr txBox="1">
                  <a:spLocks noGrp="1"/>
                </p:cNvSpPr>
                <p:nvPr/>
              </p:nvSpPr>
              <p:spPr>
                <a:xfrm>
                  <a:off x="763905" y="4734878"/>
                  <a:ext cx="5312092" cy="59055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func>
                          <m:funcPr/>
                          <m:fName>
                            <m:limLow>
                              <m:limLowPr/>
                              <m:e>
                                <m:r>
                                  <m:rPr>
                                    <m:sty m:val="p"/>
                                  </m:rP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lim</m:t>
                                </m:r>
                              </m:e>
                              <m:lim>
                                <m: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k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→∞</m:t>
                                </m:r>
                              </m:lim>
                            </m:limLow>
                          </m:fName>
                          <m:e>
                            <m:sSub>
                              <m:e>
                                <m:d>
                                  <m:dPr>
                                    <m:begChr m:val="‖"/>
                                    <m:sepChr m:val=""/>
                                    <m:endChr m:val="‖"/>
                                    <m:grow m:val="on"/>
                                    <m:ctrlPr>
                                      <a:rPr lang="zh-CN" sz="150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dPr>
                                  <m:e>
                                    <m:sSup>
                                      <m:e>
                                        <m:r>
                                          <a:rPr lang="zh-CN" sz="150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x</m:t>
                                        </m:r>
                                      </m:e>
                                      <m:sup>
                                        <m:d>
                                          <m:dPr>
                                            <m:begChr m:val="("/>
                                            <m:sepChr m:val=""/>
                                            <m:endChr m:val=")"/>
                                            <m:grow m:val="on"/>
                                            <m:ctrlPr>
                                              <a:rPr lang="zh-CN" sz="1500" dirty="0">
                                                <a:solidFill>
                                                  <a:srgbClr val="1F2937"/>
                                                </a:solidFill>
                                                <a:latin typeface="Cambria Math"/>
                                                <a:ea typeface="Cambria Math"/>
                                                <a:cs typeface="Cambria Math"/>
                                              </a:rPr>
                                            </m:ctrlPr>
                                          </m:dPr>
                                          <m:e>
                                            <m:r>
                                              <a:rPr lang="zh-CN" sz="1500" dirty="0">
                                                <a:solidFill>
                                                  <a:srgbClr val="1F2937"/>
                                                </a:solidFill>
                                                <a:latin typeface="Cambria Math"/>
                                                <a:ea typeface="Cambria Math"/>
                                                <a:cs typeface="Cambria Math"/>
                                              </a:rPr>
                                              <m:t>k</m:t>
                                            </m:r>
                                          </m:e>
                                        </m:d>
                                      </m:sup>
                                    </m:sSup>
                                    <m:r>
                                      <m:rPr>
                                        <m:sty m:val="p"/>
                                      </m:rPr>
                                      <a:rPr lang="zh-CN" sz="150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−</m:t>
                                    </m:r>
                                    <m:sSup>
                                      <m:e>
                                        <m:r>
                                          <a:rPr lang="zh-CN" sz="150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x</m:t>
                                        </m:r>
                                      </m:e>
                                      <m:sup>
                                        <m:r>
                                          <m:rPr>
                                            <m:sty m:val="p"/>
                                          </m:rPr>
                                          <a:rPr lang="zh-CN" sz="150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*</m:t>
                                        </m:r>
                                      </m:sup>
                                    </m:sSup>
                                  </m:e>
                                </m:d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∞</m:t>
                                </m:r>
                              </m:sub>
                            </m:sSub>
                          </m:e>
                        </m:func>
                        <m:r>
                          <m:rPr>
                            <m:sty m:val="p"/>
                          </m:rPr>
                          <a:rPr lang="zh-CN" sz="15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r>
                          <a:rPr lang="zh-CN" sz="15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0</m:t>
                        </m:r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22" name="TextBox 22"/>
            <p:cNvSpPr txBox="1"/>
            <p:nvPr/>
          </p:nvSpPr>
          <p:spPr>
            <a:xfrm>
              <a:off x="757047" y="5434012"/>
              <a:ext cx="4891469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由 (2.5.8)、(2.5.9)，它又等价于 ‖x⁽ᵏ⁾ − x*‖₂ → 0 或 ‖x⁽ᵏ⁾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− x*‖₁ → 0。</a:t>
              </a:r>
            </a:p>
          </p:txBody>
        </p:sp>
      </p:grpSp>
      <p:grpSp>
        <p:nvGrpSpPr>
          <p:cNvPr id="37" name="c2-steps-1"/>
          <p:cNvGrpSpPr/>
          <p:nvPr/>
        </p:nvGrpSpPr>
        <p:grpSpPr>
          <a:xfrm>
            <a:off x="6573202" y="1533525"/>
            <a:ext cx="4770248" cy="1900714"/>
            <a:chOff x="6573202" y="1533525"/>
            <a:chExt cx="4770248" cy="1900714"/>
          </a:xfrm>
        </p:grpSpPr>
        <p:sp>
          <p:nvSpPr>
            <p:cNvPr id="24" name="Rectangle 24"/>
            <p:cNvSpPr/>
            <p:nvPr/>
          </p:nvSpPr>
          <p:spPr>
            <a:xfrm>
              <a:off x="6706552" y="1676400"/>
              <a:ext cx="19050" cy="13811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5" name="Ellipse 25"/>
            <p:cNvSpPr/>
            <p:nvPr/>
          </p:nvSpPr>
          <p:spPr>
            <a:xfrm>
              <a:off x="6573202" y="1533525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666826" y="160734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27" name="Ellipse 27"/>
            <p:cNvSpPr/>
            <p:nvPr/>
          </p:nvSpPr>
          <p:spPr>
            <a:xfrm>
              <a:off x="6573202" y="2120265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666826" y="219408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29" name="Ellipse 29"/>
            <p:cNvSpPr/>
            <p:nvPr/>
          </p:nvSpPr>
          <p:spPr>
            <a:xfrm>
              <a:off x="6573202" y="2914650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666826" y="298846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985444" y="1564957"/>
              <a:ext cx="204099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∞-范数就是最大分量误差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6986588" y="1833086"/>
              <a:ext cx="24388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‖x⁽ᵏ⁾ − x*‖∞ = maxᵢ |xᵢ⁽ᵏ⁾ − xᵢ*|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6985444" y="2152650"/>
              <a:ext cx="22127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分量收敛 ⇔ 最大误差趋于 0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6986588" y="2419826"/>
              <a:ext cx="4356862" cy="42767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3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 个分量误差都趋于 0，最大值也趋于 0；反之每个分量误差都不超过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最大值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985444" y="2946082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换成其他范数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986588" y="3214211"/>
              <a:ext cx="385617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由 (2.5.8)、(2.5.9) 夹逼，2-范数、1-范数的结论相同</a:t>
              </a:r>
            </a:p>
          </p:txBody>
        </p:sp>
      </p:grpSp>
      <p:grpSp>
        <p:nvGrpSpPr>
          <p:cNvPr id="47" name="c2-card-2"/>
          <p:cNvGrpSpPr/>
          <p:nvPr/>
        </p:nvGrpSpPr>
        <p:grpSpPr>
          <a:xfrm>
            <a:off x="6573202" y="3602355"/>
            <a:ext cx="5085398" cy="1557338"/>
            <a:chOff x="6573202" y="3602355"/>
            <a:chExt cx="5085398" cy="1557338"/>
          </a:xfrm>
        </p:grpSpPr>
        <p:sp>
          <p:nvSpPr>
            <p:cNvPr id="38" name="Rectangle 38"/>
            <p:cNvSpPr/>
            <p:nvPr/>
          </p:nvSpPr>
          <p:spPr>
            <a:xfrm>
              <a:off x="6573202" y="3602355"/>
              <a:ext cx="5085398" cy="1557338"/>
            </a:xfrm>
            <a:prstGeom prst="roundRect">
              <a:avLst>
                <a:gd name="adj" fmla="val 856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9" name="Rectangle 39"/>
            <p:cNvSpPr/>
            <p:nvPr/>
          </p:nvSpPr>
          <p:spPr>
            <a:xfrm>
              <a:off x="6582728" y="3735705"/>
              <a:ext cx="47625" cy="1290638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6803708" y="3794760"/>
              <a:ext cx="1009650" cy="247650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6879146" y="3829050"/>
              <a:ext cx="85877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小例（补充）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6796849" y="4151948"/>
              <a:ext cx="363936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x⁽ᵏ⁾ = (1 + 1/k, 2 − 1/k²)ᵀ，x* = (1, 2)ᵀ</a:t>
              </a:r>
            </a:p>
          </p:txBody>
        </p:sp>
        <p:sp>
          <p:nvSpPr>
            <p:cNvPr id="43" name="Ellipse 43"/>
            <p:cNvSpPr/>
            <p:nvPr/>
          </p:nvSpPr>
          <p:spPr>
            <a:xfrm>
              <a:off x="6812280" y="4510088"/>
              <a:ext cx="59055" cy="5905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6968299" y="4453890"/>
              <a:ext cx="267616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分量：1 + 1/k → 1，2 − 1/k² → 2</a:t>
              </a:r>
            </a:p>
          </p:txBody>
        </p:sp>
        <p:sp>
          <p:nvSpPr>
            <p:cNvPr id="45" name="Ellipse 45"/>
            <p:cNvSpPr/>
            <p:nvPr/>
          </p:nvSpPr>
          <p:spPr>
            <a:xfrm>
              <a:off x="6812280" y="4812982"/>
              <a:ext cx="59055" cy="5905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6968299" y="4756785"/>
              <a:ext cx="408462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范数：‖x⁽ᵏ⁾ − x*‖∞ = max{1/k, 1/k²} = 1/k → 0</a:t>
              </a:r>
            </a:p>
          </p:txBody>
        </p:sp>
      </p:grpSp>
      <p:grpSp>
        <p:nvGrpSpPr>
          <p:cNvPr id="53" name="c2-callout-3"/>
          <p:cNvGrpSpPr/>
          <p:nvPr/>
        </p:nvGrpSpPr>
        <p:grpSpPr>
          <a:xfrm>
            <a:off x="6573202" y="5334952"/>
            <a:ext cx="5085398" cy="760095"/>
            <a:chOff x="6573202" y="5334952"/>
            <a:chExt cx="5085398" cy="760095"/>
          </a:xfrm>
        </p:grpSpPr>
        <p:sp>
          <p:nvSpPr>
            <p:cNvPr id="48" name="Rectangle 48"/>
            <p:cNvSpPr/>
            <p:nvPr/>
          </p:nvSpPr>
          <p:spPr>
            <a:xfrm>
              <a:off x="6573202" y="5334952"/>
              <a:ext cx="5085398" cy="760095"/>
            </a:xfrm>
            <a:prstGeom prst="roundRect">
              <a:avLst>
                <a:gd name="adj" fmla="val 15038"/>
              </a:avLst>
            </a:prstGeom>
            <a:solidFill>
              <a:srgbClr val="2E7D4F"/>
            </a:solidFill>
            <a:ln>
              <a:noFill/>
            </a:ln>
          </p:spPr>
        </p:sp>
        <p:grpSp>
          <p:nvGrpSpPr>
            <p:cNvPr id="51" name="Group 51"/>
            <p:cNvGrpSpPr/>
            <p:nvPr/>
          </p:nvGrpSpPr>
          <p:grpSpPr>
            <a:xfrm>
              <a:off x="6777990" y="5614990"/>
              <a:ext cx="200023" cy="200023"/>
              <a:chOff x="6777990" y="5614990"/>
              <a:chExt cx="200023" cy="200023"/>
            </a:xfrm>
          </p:grpSpPr>
          <p:sp>
            <p:nvSpPr>
              <p:cNvPr id="49" name="Freeform 49"/>
              <p:cNvSpPr/>
              <p:nvPr/>
            </p:nvSpPr>
            <p:spPr>
              <a:xfrm>
                <a:off x="6777990" y="561499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50" name="Freeform 50"/>
              <p:cNvSpPr/>
              <p:nvPr/>
            </p:nvSpPr>
            <p:spPr>
              <a:xfrm>
                <a:off x="6911340" y="568166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52" name="TextBox 52"/>
            <p:cNvSpPr txBox="1"/>
            <p:nvPr/>
          </p:nvSpPr>
          <p:spPr>
            <a:xfrm>
              <a:off x="7080694" y="5620702"/>
              <a:ext cx="421184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迭代法“收敛”就是迭代向量序列在这个意义下收敛。</a:t>
              </a:r>
            </a:p>
          </p:txBody>
        </p:sp>
      </p:grpSp>
      <p:grpSp>
        <p:nvGrpSpPr>
          <p:cNvPr id="56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4" name="TextBox 54"/>
            <p:cNvSpPr txBox="1"/>
            <p:nvPr/>
          </p:nvSpPr>
          <p:spPr>
            <a:xfrm>
              <a:off x="528447" y="6581299"/>
              <a:ext cx="278038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第2章 解线性方程组的数值法（下）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891528" cy="909257"/>
            <a:chOff x="520446" y="342900"/>
            <a:chExt cx="6891528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983230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79404" y="407194"/>
              <a:ext cx="28912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第2章 线性方程组（下） · 向量和矩阵范数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891528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矩阵范数：三条公理之外，还希望与乘法相容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399" y="1550194"/>
            <a:ext cx="7809636" cy="308039"/>
            <a:chOff x="525399" y="1550194"/>
            <a:chExt cx="7809636" cy="308039"/>
          </a:xfrm>
        </p:grpSpPr>
        <p:sp>
          <p:nvSpPr>
            <p:cNvPr id="7" name="TextBox 7"/>
            <p:cNvSpPr txBox="1"/>
            <p:nvPr/>
          </p:nvSpPr>
          <p:spPr>
            <a:xfrm>
              <a:off x="525399" y="1550194"/>
              <a:ext cx="7809636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实数用绝对值、向量用向量范数度量大小；Rⁿˣⁿ 中的矩阵也需要类似的度量工具。</a:t>
              </a:r>
            </a:p>
          </p:txBody>
        </p:sp>
      </p:grpSp>
      <p:grpSp>
        <p:nvGrpSpPr>
          <p:cNvPr id="27" name="c1-card-1"/>
          <p:cNvGrpSpPr/>
          <p:nvPr/>
        </p:nvGrpSpPr>
        <p:grpSpPr>
          <a:xfrm>
            <a:off x="533400" y="1967865"/>
            <a:ext cx="5410200" cy="4170045"/>
            <a:chOff x="533400" y="1967865"/>
            <a:chExt cx="5410200" cy="4170045"/>
          </a:xfrm>
        </p:grpSpPr>
        <p:sp>
          <p:nvSpPr>
            <p:cNvPr id="9" name="Rectangle 9"/>
            <p:cNvSpPr/>
            <p:nvPr/>
          </p:nvSpPr>
          <p:spPr>
            <a:xfrm>
              <a:off x="533400" y="1967865"/>
              <a:ext cx="5410200" cy="4170045"/>
            </a:xfrm>
            <a:prstGeom prst="roundRect">
              <a:avLst>
                <a:gd name="adj" fmla="val 3198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0" name="Rectangle 10"/>
            <p:cNvSpPr/>
            <p:nvPr/>
          </p:nvSpPr>
          <p:spPr>
            <a:xfrm>
              <a:off x="542925" y="2101215"/>
              <a:ext cx="47625" cy="3903345"/>
            </a:xfrm>
            <a:prstGeom prst="roundRect">
              <a:avLst>
                <a:gd name="adj" fmla="val 50000"/>
              </a:avLst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1" name="Rectangle 11"/>
            <p:cNvSpPr/>
            <p:nvPr/>
          </p:nvSpPr>
          <p:spPr>
            <a:xfrm>
              <a:off x="781050" y="2177415"/>
              <a:ext cx="784860" cy="257175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862635" y="2213134"/>
              <a:ext cx="62168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定义 2.3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672590" y="2212658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矩阵范数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773430" y="2573655"/>
              <a:ext cx="4520565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设 A ∈ Rⁿˣⁿ，N(A) = ‖A‖ 为 A 的实值函数。若满足下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列三条，则称 ‖·‖ 为 Rⁿˣⁿ 上的一个</a:t>
              </a:r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矩阵范数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（矩阵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模），‖A‖ 的值称为 A 的范数。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781050" y="3467100"/>
              <a:ext cx="213360" cy="21336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842899" y="3509391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082040" y="3480435"/>
              <a:ext cx="6210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非负性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8" name="formula52"/>
                <p:cNvSpPr txBox="1">
                  <a:spLocks noGrp="1"/>
                </p:cNvSpPr>
                <p:nvPr/>
              </p:nvSpPr>
              <p:spPr>
                <a:xfrm>
                  <a:off x="781050" y="3790950"/>
                  <a:ext cx="4953000" cy="4191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d>
                          <m:dPr>
                            <m:begChr m:val="‖"/>
                            <m:sepChr m:val=""/>
                            <m:endChr m:val="‖"/>
                            <m:grow m:val="on"/>
                            <m:ctrlP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A</m:t>
                            </m:r>
                          </m:e>
                        </m:d>
                        <m:r>
                          <m:rPr>
                            <m:sty m:val="p"/>
                          </m:rP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≥</m:t>
                        </m:r>
                        <m: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0</m:t>
                        </m:r>
                        <m:r>
                          <m:rPr>
                            <m:sty m:val="p"/>
                          </m:rP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,</m:t>
                        </m:r>
                        <m: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  </m:t>
                        </m:r>
                        <m:d>
                          <m:dPr>
                            <m:begChr m:val="‖"/>
                            <m:sepChr m:val=""/>
                            <m:endChr m:val="‖"/>
                            <m:grow m:val="on"/>
                            <m:ctrlP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A</m:t>
                            </m:r>
                          </m:e>
                        </m:d>
                        <m:r>
                          <m:rPr>
                            <m:sty m:val="p"/>
                          </m:rP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0</m:t>
                        </m:r>
                        <m:r>
                          <m:rPr>
                            <m:sty m:val="p"/>
                          </m:rP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⇔</m:t>
                        </m:r>
                        <m: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A</m:t>
                        </m:r>
                        <m:r>
                          <m:rPr>
                            <m:sty m:val="p"/>
                          </m:rP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0</m:t>
                        </m:r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19" name="Ellipse 19"/>
            <p:cNvSpPr/>
            <p:nvPr/>
          </p:nvSpPr>
          <p:spPr>
            <a:xfrm>
              <a:off x="781050" y="4316730"/>
              <a:ext cx="213360" cy="21336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842899" y="4359021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082040" y="4330065"/>
              <a:ext cx="6210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齐次性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2" name="formula53"/>
                <p:cNvSpPr txBox="1">
                  <a:spLocks noGrp="1"/>
                </p:cNvSpPr>
                <p:nvPr/>
              </p:nvSpPr>
              <p:spPr>
                <a:xfrm>
                  <a:off x="781050" y="4640580"/>
                  <a:ext cx="4953000" cy="4191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d>
                          <m:dPr>
                            <m:begChr m:val="‖"/>
                            <m:sepChr m:val=""/>
                            <m:endChr m:val="‖"/>
                            <m:grow m:val="on"/>
                            <m:ctrlP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kA</m:t>
                            </m:r>
                          </m:e>
                        </m:d>
                        <m:r>
                          <m:rPr>
                            <m:sty m:val="p"/>
                          </m:rP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d>
                          <m:dPr>
                            <m:begChr m:val="|"/>
                            <m:sepChr m:val=""/>
                            <m:endChr m:val="|"/>
                            <m:grow m:val="on"/>
                            <m:ctrlP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k</m:t>
                            </m:r>
                          </m:e>
                        </m:d>
                        <m:r>
                          <m:rPr>
                            <m:sty m:val="p"/>
                          </m:rP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⋅</m:t>
                        </m:r>
                        <m:d>
                          <m:dPr>
                            <m:begChr m:val="‖"/>
                            <m:sepChr m:val=""/>
                            <m:endChr m:val="‖"/>
                            <m:grow m:val="on"/>
                            <m:ctrlP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A</m:t>
                            </m:r>
                          </m:e>
                        </m:d>
                        <m:r>
                          <m:rPr>
                            <m:sty m:val="p"/>
                          </m:rP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,</m:t>
                        </m:r>
                        <m: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  </m:t>
                        </m:r>
                        <m:r>
                          <m:rPr>
                            <m:sty m:val="p"/>
                          </m:rP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∀</m:t>
                        </m:r>
                        <m: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k</m:t>
                        </m:r>
                        <m:r>
                          <m:rPr>
                            <m:sty m:val="p"/>
                          </m:rP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∈</m:t>
                        </m:r>
                        <m: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R</m:t>
                        </m:r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23" name="Ellipse 23"/>
            <p:cNvSpPr/>
            <p:nvPr/>
          </p:nvSpPr>
          <p:spPr>
            <a:xfrm>
              <a:off x="781050" y="5166360"/>
              <a:ext cx="213360" cy="21336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842899" y="5208651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082040" y="5179695"/>
              <a:ext cx="10248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三角不等式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6" name="formula54"/>
                <p:cNvSpPr txBox="1">
                  <a:spLocks noGrp="1"/>
                </p:cNvSpPr>
                <p:nvPr/>
              </p:nvSpPr>
              <p:spPr>
                <a:xfrm>
                  <a:off x="781050" y="5490210"/>
                  <a:ext cx="4953000" cy="4191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d>
                          <m:dPr>
                            <m:begChr m:val="‖"/>
                            <m:sepChr m:val=""/>
                            <m:endChr m:val="‖"/>
                            <m:grow m:val="on"/>
                            <m:ctrlP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A</m:t>
                            </m:r>
                            <m:r>
                              <m:rPr>
                                <m:sty m:val="p"/>
                              </m:rP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+</m:t>
                            </m:r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B</m:t>
                            </m:r>
                          </m:e>
                        </m:d>
                        <m:r>
                          <m:rPr>
                            <m:sty m:val="p"/>
                          </m:rP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≤</m:t>
                        </m:r>
                        <m:d>
                          <m:dPr>
                            <m:begChr m:val="‖"/>
                            <m:sepChr m:val=""/>
                            <m:endChr m:val="‖"/>
                            <m:grow m:val="on"/>
                            <m:ctrlP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A</m:t>
                            </m:r>
                          </m:e>
                        </m:d>
                        <m:r>
                          <m:rPr>
                            <m:sty m:val="p"/>
                          </m:rP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+</m:t>
                        </m:r>
                        <m:d>
                          <m:dPr>
                            <m:begChr m:val="‖"/>
                            <m:sepChr m:val=""/>
                            <m:endChr m:val="‖"/>
                            <m:grow m:val="on"/>
                            <m:ctrlP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B</m:t>
                            </m:r>
                          </m:e>
                        </m:d>
                        <m:r>
                          <m:rPr>
                            <m:sty m:val="p"/>
                          </m:rP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,</m:t>
                        </m:r>
                        <m: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  </m:t>
                        </m:r>
                        <m:r>
                          <m:rPr>
                            <m:sty m:val="p"/>
                          </m:rP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∀</m:t>
                        </m:r>
                        <m: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A</m:t>
                        </m:r>
                        <m:r>
                          <m:rPr>
                            <m:sty m:val="p"/>
                          </m:rP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,</m:t>
                        </m:r>
                        <m: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B</m:t>
                        </m:r>
                        <m:r>
                          <m:rPr>
                            <m:sty m:val="p"/>
                          </m:rP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∈</m:t>
                        </m:r>
                        <m:sSup>
                          <m:e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R</m:t>
                            </m:r>
                          </m:e>
                          <m:sup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n</m:t>
                            </m:r>
                            <m:r>
                              <m:rPr>
                                <m:sty m:val="p"/>
                              </m:rP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×</m:t>
                            </m:r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n</m:t>
                            </m:r>
                          </m:sup>
                        </m:sSup>
                      </m:oMath>
                    </m:oMathPara>
                  </a14:m>
                </a:p>
              </p:txBody>
            </p:sp>
          </mc:Choice>
        </mc:AlternateContent>
      </p:grpSp>
      <p:grpSp>
        <p:nvGrpSpPr>
          <p:cNvPr id="36" name="c2-card-1"/>
          <p:cNvGrpSpPr/>
          <p:nvPr/>
        </p:nvGrpSpPr>
        <p:grpSpPr>
          <a:xfrm>
            <a:off x="6248400" y="1967865"/>
            <a:ext cx="5410200" cy="2476500"/>
            <a:chOff x="6248400" y="1967865"/>
            <a:chExt cx="5410200" cy="2476500"/>
          </a:xfrm>
        </p:grpSpPr>
        <p:sp>
          <p:nvSpPr>
            <p:cNvPr id="28" name="Rectangle 28"/>
            <p:cNvSpPr/>
            <p:nvPr/>
          </p:nvSpPr>
          <p:spPr>
            <a:xfrm>
              <a:off x="6248400" y="1967865"/>
              <a:ext cx="5410200" cy="2476500"/>
            </a:xfrm>
            <a:prstGeom prst="roundRect">
              <a:avLst>
                <a:gd name="adj" fmla="val 5385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9" name="Rectangle 29"/>
            <p:cNvSpPr/>
            <p:nvPr/>
          </p:nvSpPr>
          <p:spPr>
            <a:xfrm>
              <a:off x="6257925" y="2101215"/>
              <a:ext cx="47625" cy="2209800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30" name="Rectangle 30"/>
            <p:cNvSpPr/>
            <p:nvPr/>
          </p:nvSpPr>
          <p:spPr>
            <a:xfrm>
              <a:off x="6496050" y="2177415"/>
              <a:ext cx="778192" cy="257175"/>
            </a:xfrm>
            <a:prstGeom prst="roundRect">
              <a:avLst>
                <a:gd name="adj" fmla="val 50000"/>
              </a:avLst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6578359" y="2213134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相容范数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6488430" y="2554605"/>
              <a:ext cx="42557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若矩阵范数还满足下面两条，就称为</a:t>
              </a:r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相容范数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：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3" name="formula55"/>
                <p:cNvSpPr txBox="1">
                  <a:spLocks noGrp="1"/>
                </p:cNvSpPr>
                <p:nvPr/>
              </p:nvSpPr>
              <p:spPr>
                <a:xfrm>
                  <a:off x="6496050" y="2865120"/>
                  <a:ext cx="4953000" cy="3810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d>
                          <m:dPr>
                            <m:begChr m:val="‖"/>
                            <m:sepChr m:val=""/>
                            <m:endChr m:val="‖"/>
                            <m:grow m:val="on"/>
                            <m:ctrlP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AB</m:t>
                            </m:r>
                          </m:e>
                        </m:d>
                        <m:r>
                          <m:rPr>
                            <m:sty m:val="p"/>
                          </m:rPr>
                          <a:rPr lang="zh-CN" sz="15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≤</m:t>
                        </m:r>
                        <m:d>
                          <m:dPr>
                            <m:begChr m:val="‖"/>
                            <m:sepChr m:val=""/>
                            <m:endChr m:val="‖"/>
                            <m:grow m:val="on"/>
                            <m:ctrlP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A</m:t>
                            </m:r>
                          </m:e>
                        </m:d>
                        <m:r>
                          <m:rPr>
                            <m:sty m:val="p"/>
                          </m:rPr>
                          <a:rPr lang="zh-CN" sz="15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⋅</m:t>
                        </m:r>
                        <m:d>
                          <m:dPr>
                            <m:begChr m:val="‖"/>
                            <m:sepChr m:val=""/>
                            <m:endChr m:val="‖"/>
                            <m:grow m:val="on"/>
                            <m:ctrlP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B</m:t>
                            </m:r>
                          </m:e>
                        </m:d>
                        <m:r>
                          <m:rPr>
                            <m:sty m:val="p"/>
                          </m:rPr>
                          <a:rPr lang="zh-CN" sz="15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,</m:t>
                        </m:r>
                        <m:r>
                          <a:rPr lang="zh-CN" sz="15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  </m:t>
                        </m:r>
                        <m:r>
                          <m:rPr>
                            <m:sty m:val="p"/>
                          </m:rPr>
                          <a:rPr lang="zh-CN" sz="15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∀</m:t>
                        </m:r>
                        <m:r>
                          <a:rPr lang="zh-CN" sz="15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A</m:t>
                        </m:r>
                        <m:r>
                          <m:rPr>
                            <m:sty m:val="p"/>
                          </m:rPr>
                          <a:rPr lang="zh-CN" sz="15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,</m:t>
                        </m:r>
                        <m:r>
                          <a:rPr lang="zh-CN" sz="15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B</m:t>
                        </m:r>
                        <m:r>
                          <m:rPr>
                            <m:sty m:val="p"/>
                          </m:rPr>
                          <a:rPr lang="zh-CN" sz="15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∈</m:t>
                        </m:r>
                        <m:sSup>
                          <m:e>
                            <m: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R</m:t>
                            </m:r>
                          </m:e>
                          <m:sup>
                            <m: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n</m:t>
                            </m:r>
                            <m:r>
                              <m:rPr>
                                <m:sty m:val="p"/>
                              </m:rP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×</m:t>
                            </m:r>
                            <m: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n</m:t>
                            </m:r>
                          </m:sup>
                        </m:sSup>
                        <m:r>
                          <a:rPr lang="zh-CN" sz="15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  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2.5.13</m:t>
                            </m:r>
                          </m:e>
                        </m:d>
                      </m:oMath>
                    </m:oMathPara>
                  </a14:m>
                </a:p>
              </p:txBody>
            </p:sp>
          </mc:Choice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4" name="formula56"/>
                <p:cNvSpPr txBox="1">
                  <a:spLocks noGrp="1"/>
                </p:cNvSpPr>
                <p:nvPr/>
              </p:nvSpPr>
              <p:spPr>
                <a:xfrm>
                  <a:off x="6496050" y="3341370"/>
                  <a:ext cx="4953000" cy="3429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d>
                          <m:dPr>
                            <m:begChr m:val="‖"/>
                            <m:sepChr m:val=""/>
                            <m:endChr m:val="‖"/>
                            <m:grow m:val="on"/>
                            <m:ctrlP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Ax</m:t>
                            </m:r>
                          </m:e>
                        </m:d>
                        <m:r>
                          <m:rPr>
                            <m:sty m:val="p"/>
                          </m:rPr>
                          <a:rPr lang="zh-CN" sz="13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≤</m:t>
                        </m:r>
                        <m:d>
                          <m:dPr>
                            <m:begChr m:val="‖"/>
                            <m:sepChr m:val=""/>
                            <m:endChr m:val="‖"/>
                            <m:grow m:val="on"/>
                            <m:ctrlP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A</m:t>
                            </m:r>
                          </m:e>
                        </m:d>
                        <m:r>
                          <m:rPr>
                            <m:sty m:val="p"/>
                          </m:rPr>
                          <a:rPr lang="zh-CN" sz="13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⋅</m:t>
                        </m:r>
                        <m:d>
                          <m:dPr>
                            <m:begChr m:val="‖"/>
                            <m:sepChr m:val=""/>
                            <m:endChr m:val="‖"/>
                            <m:grow m:val="on"/>
                            <m:ctrlP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x</m:t>
                            </m:r>
                          </m:e>
                        </m:d>
                        <m:r>
                          <m:rPr>
                            <m:sty m:val="p"/>
                          </m:rPr>
                          <a:rPr lang="zh-CN" sz="13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,</m:t>
                        </m:r>
                        <m:r>
                          <a:rPr lang="zh-CN" sz="13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  </m:t>
                        </m:r>
                        <m:r>
                          <m:rPr>
                            <m:sty m:val="p"/>
                          </m:rPr>
                          <a:rPr lang="zh-CN" sz="13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∀</m:t>
                        </m:r>
                        <m:r>
                          <a:rPr lang="zh-CN" sz="13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x</m:t>
                        </m:r>
                        <m:r>
                          <m:rPr>
                            <m:sty m:val="p"/>
                          </m:rPr>
                          <a:rPr lang="zh-CN" sz="13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∈</m:t>
                        </m:r>
                        <m:sSup>
                          <m:e>
                            <m: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R</m:t>
                            </m:r>
                          </m:e>
                          <m:sup>
                            <m: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n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a:rPr lang="zh-CN" sz="13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,</m:t>
                        </m:r>
                        <m:r>
                          <a:rPr lang="zh-CN" sz="13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 </m:t>
                        </m:r>
                        <m:r>
                          <a:rPr lang="zh-CN" sz="13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A</m:t>
                        </m:r>
                        <m:r>
                          <m:rPr>
                            <m:sty m:val="p"/>
                          </m:rPr>
                          <a:rPr lang="zh-CN" sz="13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∈</m:t>
                        </m:r>
                        <m:sSup>
                          <m:e>
                            <m: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R</m:t>
                            </m:r>
                          </m:e>
                          <m:sup>
                            <m: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n</m:t>
                            </m:r>
                            <m:r>
                              <m:rPr>
                                <m:sty m:val="p"/>
                              </m:rP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×</m:t>
                            </m:r>
                            <m: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n</m:t>
                            </m:r>
                          </m:sup>
                        </m:sSup>
                        <m:r>
                          <a:rPr lang="zh-CN" sz="13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  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2.5.14</m:t>
                            </m:r>
                          </m:e>
                        </m:d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35" name="TextBox 35"/>
            <p:cNvSpPr txBox="1"/>
            <p:nvPr/>
          </p:nvSpPr>
          <p:spPr>
            <a:xfrm>
              <a:off x="6489573" y="3799999"/>
              <a:ext cx="4629658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(2.5.13) 管矩阵乘矩阵；(2.5.14) 把矩阵范数和某个向量范数</a:t>
              </a:r>
              <a:br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联系起来：A 作用到 x 上，x 的“长度”最多放大 ‖A‖ 倍。</a:t>
              </a:r>
            </a:p>
          </p:txBody>
        </p:sp>
      </p:grpSp>
      <p:grpSp>
        <p:nvGrpSpPr>
          <p:cNvPr id="43" name="c2-callout-2"/>
          <p:cNvGrpSpPr/>
          <p:nvPr/>
        </p:nvGrpSpPr>
        <p:grpSpPr>
          <a:xfrm>
            <a:off x="6248400" y="4633912"/>
            <a:ext cx="5410200" cy="1503045"/>
            <a:chOff x="6248400" y="4633912"/>
            <a:chExt cx="5410200" cy="1503045"/>
          </a:xfrm>
        </p:grpSpPr>
        <p:sp>
          <p:nvSpPr>
            <p:cNvPr id="37" name="Rectangle 37"/>
            <p:cNvSpPr/>
            <p:nvPr/>
          </p:nvSpPr>
          <p:spPr>
            <a:xfrm>
              <a:off x="6248400" y="4633912"/>
              <a:ext cx="5410200" cy="1503045"/>
            </a:xfrm>
            <a:prstGeom prst="roundRect">
              <a:avLst>
                <a:gd name="adj" fmla="val 7605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41" name="Group 41"/>
            <p:cNvGrpSpPr/>
            <p:nvPr/>
          </p:nvGrpSpPr>
          <p:grpSpPr>
            <a:xfrm>
              <a:off x="6453188" y="5285423"/>
              <a:ext cx="200026" cy="200025"/>
              <a:chOff x="6453188" y="5285423"/>
              <a:chExt cx="200026" cy="200025"/>
            </a:xfrm>
          </p:grpSpPr>
          <p:sp>
            <p:nvSpPr>
              <p:cNvPr id="38" name="Freeform 38"/>
              <p:cNvSpPr/>
              <p:nvPr/>
            </p:nvSpPr>
            <p:spPr>
              <a:xfrm>
                <a:off x="6453188" y="5285423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39" name="Freeform 39"/>
              <p:cNvSpPr/>
              <p:nvPr/>
            </p:nvSpPr>
            <p:spPr>
              <a:xfrm>
                <a:off x="6492926" y="5329873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40" name="Freeform 40"/>
              <p:cNvSpPr/>
              <p:nvPr/>
            </p:nvSpPr>
            <p:spPr>
              <a:xfrm>
                <a:off x="6527642" y="5440998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42" name="TextBox 42"/>
            <p:cNvSpPr txBox="1"/>
            <p:nvPr/>
          </p:nvSpPr>
          <p:spPr>
            <a:xfrm>
              <a:off x="6755130" y="5142548"/>
              <a:ext cx="4387215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2.7 节分析迭代误差时，误差 e 每乘一次迭代矩阵 H</a:t>
              </a:r>
              <a:br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就有 ‖He‖ ≤ ‖H‖·‖e‖，用的正是 (2.5.14)。</a:t>
              </a:r>
            </a:p>
          </p:txBody>
        </p:sp>
      </p:grpSp>
      <p:grpSp>
        <p:nvGrpSpPr>
          <p:cNvPr id="46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4" name="TextBox 44"/>
            <p:cNvSpPr txBox="1"/>
            <p:nvPr/>
          </p:nvSpPr>
          <p:spPr>
            <a:xfrm>
              <a:off x="528447" y="6581299"/>
              <a:ext cx="278038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第2章 解线性方程组的数值法（下）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204966" cy="909257"/>
            <a:chOff x="520446" y="342900"/>
            <a:chExt cx="6204966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983230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79404" y="407194"/>
              <a:ext cx="28912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第2章 线性方程组（下） · 向量和矩阵范数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204966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算子范数：由向量范数诱导出的矩阵范数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6" name="c1-card-1"/>
          <p:cNvGrpSpPr/>
          <p:nvPr/>
        </p:nvGrpSpPr>
        <p:grpSpPr>
          <a:xfrm>
            <a:off x="533400" y="1524000"/>
            <a:ext cx="5085398" cy="2296478"/>
            <a:chOff x="533400" y="1524000"/>
            <a:chExt cx="5085398" cy="2296478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085398" cy="2296478"/>
            </a:xfrm>
            <a:prstGeom prst="roundRect">
              <a:avLst>
                <a:gd name="adj" fmla="val 5807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2029778"/>
            </a:xfrm>
            <a:prstGeom prst="roundRect">
              <a:avLst>
                <a:gd name="adj" fmla="val 50000"/>
              </a:avLst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81050" y="1733550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71258" y="176926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定义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382078" y="1768792"/>
              <a:ext cx="1926507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算子范数（2.5.15）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73430" y="2129790"/>
              <a:ext cx="40538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最常用的矩阵范数是利用向量范数来定义的：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3" name="formula59"/>
                <p:cNvSpPr txBox="1">
                  <a:spLocks noGrp="1"/>
                </p:cNvSpPr>
                <p:nvPr/>
              </p:nvSpPr>
              <p:spPr>
                <a:xfrm>
                  <a:off x="781050" y="2440305"/>
                  <a:ext cx="4628198" cy="52006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sSub>
                          <m:e>
                            <m:d>
                              <m:dPr>
                                <m:begChr m:val="‖"/>
                                <m:sepChr m:val=""/>
                                <m:endChr m:val="‖"/>
                                <m:grow m:val="on"/>
                                <m:ctrlP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A</m:t>
                                </m:r>
                              </m:e>
                            </m:d>
                          </m:e>
                          <m:sub>
                            <m: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p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zh-CN" sz="15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func>
                          <m:funcPr/>
                          <m:fName>
                            <m:limLow>
                              <m:limLowPr/>
                              <m:e>
                                <m:r>
                                  <m:rPr>
                                    <m:sty m:val="p"/>
                                  </m:rP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max</m:t>
                                </m:r>
                              </m:e>
                              <m:lim>
                                <m: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≠</m:t>
                                </m:r>
                                <m: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</m:t>
                                </m:r>
                              </m:lim>
                            </m:limLow>
                          </m:fName>
                          <m:e>
                            <m:f>
                              <m:fPr>
                                <m:type m:val="bar"/>
                                <m:ctrlP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fPr>
                              <m:num>
                                <m:sSub>
                                  <m:e>
                                    <m:d>
                                      <m:dPr>
                                        <m:begChr m:val="‖"/>
                                        <m:sepChr m:val=""/>
                                        <m:endChr m:val="‖"/>
                                        <m:grow m:val="on"/>
                                        <m:ctrlPr>
                                          <a:rPr lang="zh-CN" sz="158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zh-CN" sz="158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Ax</m:t>
                                        </m:r>
                                      </m:e>
                                    </m:d>
                                  </m:e>
                                  <m:sub>
                                    <m:r>
                                      <a:rPr lang="zh-CN" sz="15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p</m:t>
                                    </m:r>
                                  </m:sub>
                                </m:sSub>
                              </m:num>
                              <m:den>
                                <m:sSub>
                                  <m:e>
                                    <m:d>
                                      <m:dPr>
                                        <m:begChr m:val="‖"/>
                                        <m:sepChr m:val=""/>
                                        <m:endChr m:val="‖"/>
                                        <m:grow m:val="on"/>
                                        <m:ctrlPr>
                                          <a:rPr lang="zh-CN" sz="158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zh-CN" sz="158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x</m:t>
                                        </m:r>
                                      </m:e>
                                    </m:d>
                                  </m:e>
                                  <m:sub>
                                    <m:r>
                                      <a:rPr lang="zh-CN" sz="15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p</m:t>
                                    </m:r>
                                  </m:sub>
                                </m:sSub>
                              </m:den>
                            </m:f>
                          </m:e>
                        </m:func>
                        <m:r>
                          <m:rPr>
                            <m:sty m:val="p"/>
                          </m:rPr>
                          <a:rPr lang="zh-CN" sz="15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func>
                          <m:funcPr/>
                          <m:fName>
                            <m:limLow>
                              <m:limLowPr/>
                              <m:e>
                                <m:r>
                                  <m:rPr>
                                    <m:sty m:val="p"/>
                                  </m:rP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max</m:t>
                                </m:r>
                              </m:e>
                              <m:lim>
                                <m:sSub>
                                  <m:e>
                                    <m:d>
                                      <m:dPr>
                                        <m:begChr m:val="‖"/>
                                        <m:sepChr m:val=""/>
                                        <m:endChr m:val="‖"/>
                                        <m:grow m:val="on"/>
                                        <m:ctrlPr>
                                          <a:rPr lang="zh-CN" sz="158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zh-CN" sz="158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x</m:t>
                                        </m:r>
                                      </m:e>
                                    </m:d>
                                  </m:e>
                                  <m:sub>
                                    <m:r>
                                      <a:rPr lang="zh-CN" sz="15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p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=</m:t>
                                </m:r>
                                <m: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lim>
                            </m:limLow>
                          </m:fName>
                          <m:e>
                            <m:sSub>
                              <m:e>
                                <m:d>
                                  <m:dPr>
                                    <m:begChr m:val="‖"/>
                                    <m:sepChr m:val=""/>
                                    <m:endChr m:val="‖"/>
                                    <m:grow m:val="on"/>
                                    <m:ctrlPr>
                                      <a:rPr lang="zh-CN" sz="15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dPr>
                                  <m:e>
                                    <m:r>
                                      <a:rPr lang="zh-CN" sz="15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Ax</m:t>
                                    </m:r>
                                  </m:e>
                                </m:d>
                              </m:e>
                              <m:sub>
                                <m: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p</m:t>
                                </m:r>
                              </m:sub>
                            </m:sSub>
                          </m:e>
                        </m:func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14" name="TextBox 14"/>
            <p:cNvSpPr txBox="1"/>
            <p:nvPr/>
          </p:nvSpPr>
          <p:spPr>
            <a:xfrm>
              <a:off x="773430" y="3080385"/>
              <a:ext cx="39660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称为矩阵 A 的</a:t>
              </a:r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算子范数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，其中 p = 1, 2, ∞。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74573" y="3412331"/>
              <a:ext cx="345890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几何意义：A 把单位向量“拉长”的最大倍数。</a:t>
              </a:r>
            </a:p>
          </p:txBody>
        </p:sp>
      </p:grpSp>
      <p:grpSp>
        <p:nvGrpSpPr>
          <p:cNvPr id="22" name="c1-kv-2"/>
          <p:cNvGrpSpPr/>
          <p:nvPr/>
        </p:nvGrpSpPr>
        <p:grpSpPr>
          <a:xfrm>
            <a:off x="525780" y="4035742"/>
            <a:ext cx="5093018" cy="1015366"/>
            <a:chOff x="525780" y="4035742"/>
            <a:chExt cx="5093018" cy="1015366"/>
          </a:xfrm>
        </p:grpSpPr>
        <p:sp>
          <p:nvSpPr>
            <p:cNvPr id="17" name="TextBox 17"/>
            <p:cNvSpPr txBox="1"/>
            <p:nvPr/>
          </p:nvSpPr>
          <p:spPr>
            <a:xfrm>
              <a:off x="525780" y="4035742"/>
              <a:ext cx="10248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第二个等号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765935" y="4035742"/>
              <a:ext cx="3453765" cy="5753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2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 ≠ 0 时令 y = x/‖x‖ₚ，则 ‖y‖ₚ = 1，且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由齐次性 ‖Ax‖ₚ/‖x‖ₚ = ‖Ay‖ₚ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533400" y="4637722"/>
              <a:ext cx="508539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525780" y="4757738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单位矩阵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765935" y="4757738"/>
              <a:ext cx="2440877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‖I‖ₚ = max ‖x‖ₚ/‖x‖ₚ = 1</a:t>
              </a:r>
            </a:p>
          </p:txBody>
        </p:sp>
      </p:grpSp>
      <p:grpSp>
        <p:nvGrpSpPr>
          <p:cNvPr id="42" name="c2-card-1"/>
          <p:cNvGrpSpPr/>
          <p:nvPr/>
        </p:nvGrpSpPr>
        <p:grpSpPr>
          <a:xfrm>
            <a:off x="5923598" y="1524000"/>
            <a:ext cx="5735002" cy="3486150"/>
            <a:chOff x="5923598" y="1524000"/>
            <a:chExt cx="5735002" cy="3486150"/>
          </a:xfrm>
        </p:grpSpPr>
        <p:sp>
          <p:nvSpPr>
            <p:cNvPr id="23" name="Rectangle 23"/>
            <p:cNvSpPr/>
            <p:nvPr/>
          </p:nvSpPr>
          <p:spPr>
            <a:xfrm>
              <a:off x="5923598" y="1524000"/>
              <a:ext cx="5735002" cy="3486150"/>
            </a:xfrm>
            <a:prstGeom prst="roundRect">
              <a:avLst>
                <a:gd name="adj" fmla="val 3825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5933122" y="1657350"/>
              <a:ext cx="47625" cy="3219450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171248" y="1733550"/>
              <a:ext cx="784860" cy="257175"/>
            </a:xfrm>
            <a:prstGeom prst="roundRect">
              <a:avLst>
                <a:gd name="adj" fmla="val 50000"/>
              </a:avLst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252833" y="1769269"/>
              <a:ext cx="62168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定理 2.3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7063740" y="1768792"/>
              <a:ext cx="370046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由 (2.5.15) 定义的矩阵范数是相容范数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6304598" y="2257425"/>
              <a:ext cx="19050" cy="153638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9" name="Ellipse 29"/>
            <p:cNvSpPr/>
            <p:nvPr/>
          </p:nvSpPr>
          <p:spPr>
            <a:xfrm>
              <a:off x="6171248" y="2114550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264871" y="218836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31" name="Ellipse 31"/>
            <p:cNvSpPr/>
            <p:nvPr/>
          </p:nvSpPr>
          <p:spPr>
            <a:xfrm>
              <a:off x="6171248" y="2765108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6264871" y="283892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33" name="Ellipse 33"/>
            <p:cNvSpPr/>
            <p:nvPr/>
          </p:nvSpPr>
          <p:spPr>
            <a:xfrm>
              <a:off x="6171248" y="3650932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6264871" y="372475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582728" y="2148840"/>
              <a:ext cx="10248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是矩阵范数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583870" y="2442686"/>
              <a:ext cx="436387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容易验证 (2.5.15) 定义的函数满足定义 2.3 的三个条件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582728" y="2799398"/>
              <a:ext cx="121369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证 (2.5.14)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6583870" y="3093244"/>
              <a:ext cx="4442714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 = 0 时显然成立；x ≠ 0 时 ‖Ax‖ₚ/‖x‖ₚ ≤ max(y≠0) ‖Ay‖ₚ/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‖y‖ₚ = ‖A‖ₚ，两边乘 ‖x‖ₚ 即得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6582728" y="3685222"/>
              <a:ext cx="121369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证 (2.5.13)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6583870" y="3978116"/>
              <a:ext cx="345158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对任意 A、B，Bx ∈ Rⁿ，由 (2.5.14) 有下式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1" name="formula60"/>
                <p:cNvSpPr txBox="1">
                  <a:spLocks noGrp="1"/>
                </p:cNvSpPr>
                <p:nvPr/>
              </p:nvSpPr>
              <p:spPr>
                <a:xfrm>
                  <a:off x="6171248" y="4311015"/>
                  <a:ext cx="5277802" cy="47053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sSub>
                          <m:e>
                            <m:d>
                              <m:dPr>
                                <m:begChr m:val="‖"/>
                                <m:sepChr m:val=""/>
                                <m:endChr m:val="‖"/>
                                <m:grow m:val="on"/>
                                <m:ctrlP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AB</m:t>
                                </m:r>
                              </m:e>
                            </m:d>
                          </m:e>
                          <m:sub>
                            <m: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p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zh-CN" sz="14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func>
                          <m:funcPr/>
                          <m:fName>
                            <m:limLow>
                              <m:limLowPr/>
                              <m:e>
                                <m:r>
                                  <m:rPr>
                                    <m:sty m:val="p"/>
                                  </m:rP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max</m:t>
                                </m:r>
                              </m:e>
                              <m:lim>
                                <m:sSub>
                                  <m:e>
                                    <m:d>
                                      <m:dPr>
                                        <m:begChr m:val="‖"/>
                                        <m:sepChr m:val=""/>
                                        <m:endChr m:val="‖"/>
                                        <m:grow m:val="on"/>
                                        <m:ctrlPr>
                                          <a:rPr lang="zh-CN" sz="142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zh-CN" sz="142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x</m:t>
                                        </m:r>
                                      </m:e>
                                    </m:d>
                                  </m:e>
                                  <m:sub>
                                    <m:r>
                                      <a:rPr lang="zh-CN" sz="14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p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=</m:t>
                                </m:r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lim>
                            </m:limLow>
                          </m:fName>
                          <m:e>
                            <m:sSub>
                              <m:e>
                                <m:d>
                                  <m:dPr>
                                    <m:begChr m:val="‖"/>
                                    <m:sepChr m:val=""/>
                                    <m:endChr m:val="‖"/>
                                    <m:grow m:val="on"/>
                                    <m:ctrlPr>
                                      <a:rPr lang="zh-CN" sz="14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dPr>
                                  <m:e>
                                    <m:r>
                                      <a:rPr lang="zh-CN" sz="14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A</m:t>
                                    </m:r>
                                    <m:d>
                                      <m:dPr>
                                        <m:begChr m:val="("/>
                                        <m:sepChr m:val=""/>
                                        <m:endChr m:val=")"/>
                                        <m:grow m:val="on"/>
                                        <m:ctrlPr>
                                          <a:rPr lang="zh-CN" sz="142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zh-CN" sz="142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Bx</m:t>
                                        </m:r>
                                      </m:e>
                                    </m:d>
                                  </m:e>
                                </m:d>
                              </m:e>
                              <m:sub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p</m:t>
                                </m:r>
                              </m:sub>
                            </m:sSub>
                          </m:e>
                        </m:func>
                        <m:r>
                          <m:rPr>
                            <m:sty m:val="p"/>
                          </m:rPr>
                          <a:rPr lang="zh-CN" sz="14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≤</m:t>
                        </m:r>
                        <m:sSub>
                          <m:e>
                            <m:d>
                              <m:dPr>
                                <m:begChr m:val="‖"/>
                                <m:sepChr m:val=""/>
                                <m:endChr m:val="‖"/>
                                <m:grow m:val="on"/>
                                <m:ctrlP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A</m:t>
                                </m:r>
                              </m:e>
                            </m:d>
                          </m:e>
                          <m:sub>
                            <m: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p</m:t>
                            </m:r>
                          </m:sub>
                        </m:sSub>
                        <m:func>
                          <m:funcPr/>
                          <m:fName>
                            <m:limLow>
                              <m:limLowPr/>
                              <m:e>
                                <m:r>
                                  <m:rPr>
                                    <m:sty m:val="p"/>
                                  </m:rP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max</m:t>
                                </m:r>
                              </m:e>
                              <m:lim>
                                <m:sSub>
                                  <m:e>
                                    <m:d>
                                      <m:dPr>
                                        <m:begChr m:val="‖"/>
                                        <m:sepChr m:val=""/>
                                        <m:endChr m:val="‖"/>
                                        <m:grow m:val="on"/>
                                        <m:ctrlPr>
                                          <a:rPr lang="zh-CN" sz="142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zh-CN" sz="142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x</m:t>
                                        </m:r>
                                      </m:e>
                                    </m:d>
                                  </m:e>
                                  <m:sub>
                                    <m:r>
                                      <a:rPr lang="zh-CN" sz="14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p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=</m:t>
                                </m:r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lim>
                            </m:limLow>
                          </m:fName>
                          <m:e>
                            <m:sSub>
                              <m:e>
                                <m:d>
                                  <m:dPr>
                                    <m:begChr m:val="‖"/>
                                    <m:sepChr m:val=""/>
                                    <m:endChr m:val="‖"/>
                                    <m:grow m:val="on"/>
                                    <m:ctrlPr>
                                      <a:rPr lang="zh-CN" sz="14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dPr>
                                  <m:e>
                                    <m:r>
                                      <a:rPr lang="zh-CN" sz="14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Bx</m:t>
                                    </m:r>
                                  </m:e>
                                </m:d>
                              </m:e>
                              <m:sub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p</m:t>
                                </m:r>
                              </m:sub>
                            </m:sSub>
                          </m:e>
                        </m:func>
                        <m:r>
                          <m:rPr>
                            <m:sty m:val="p"/>
                          </m:rPr>
                          <a:rPr lang="zh-CN" sz="14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sSub>
                          <m:e>
                            <m:d>
                              <m:dPr>
                                <m:begChr m:val="‖"/>
                                <m:sepChr m:val=""/>
                                <m:endChr m:val="‖"/>
                                <m:grow m:val="on"/>
                                <m:ctrlP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A</m:t>
                                </m:r>
                              </m:e>
                            </m:d>
                          </m:e>
                          <m:sub>
                            <m: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p</m:t>
                            </m:r>
                          </m:sub>
                        </m:sSub>
                        <m:sSub>
                          <m:e>
                            <m:d>
                              <m:dPr>
                                <m:begChr m:val="‖"/>
                                <m:sepChr m:val=""/>
                                <m:endChr m:val="‖"/>
                                <m:grow m:val="on"/>
                                <m:ctrlP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B</m:t>
                                </m:r>
                              </m:e>
                            </m:d>
                          </m:e>
                          <m:sub>
                            <m: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p</m:t>
                            </m:r>
                          </m:sub>
                        </m:sSub>
                      </m:oMath>
                    </m:oMathPara>
                  </a14:m>
                </a:p>
              </p:txBody>
            </p:sp>
          </mc:Choice>
        </mc:AlternateContent>
      </p:grpSp>
      <p:grpSp>
        <p:nvGrpSpPr>
          <p:cNvPr id="49" name="takeaway"/>
          <p:cNvGrpSpPr/>
          <p:nvPr/>
        </p:nvGrpSpPr>
        <p:grpSpPr>
          <a:xfrm>
            <a:off x="533400" y="5579745"/>
            <a:ext cx="11125200" cy="782955"/>
            <a:chOff x="533400" y="5579745"/>
            <a:chExt cx="11125200" cy="782955"/>
          </a:xfrm>
        </p:grpSpPr>
        <p:sp>
          <p:nvSpPr>
            <p:cNvPr id="43" name="Rectangle 43"/>
            <p:cNvSpPr/>
            <p:nvPr/>
          </p:nvSpPr>
          <p:spPr>
            <a:xfrm>
              <a:off x="533400" y="5579745"/>
              <a:ext cx="11125200" cy="782955"/>
            </a:xfrm>
            <a:prstGeom prst="roundRect">
              <a:avLst>
                <a:gd name="adj" fmla="val 14599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47" name="Group 47"/>
            <p:cNvGrpSpPr/>
            <p:nvPr/>
          </p:nvGrpSpPr>
          <p:grpSpPr>
            <a:xfrm>
              <a:off x="738188" y="5871210"/>
              <a:ext cx="200026" cy="200026"/>
              <a:chOff x="738188" y="5871210"/>
              <a:chExt cx="200026" cy="200026"/>
            </a:xfrm>
          </p:grpSpPr>
          <p:sp>
            <p:nvSpPr>
              <p:cNvPr id="44" name="Freeform 44"/>
              <p:cNvSpPr/>
              <p:nvPr/>
            </p:nvSpPr>
            <p:spPr>
              <a:xfrm>
                <a:off x="738188" y="5871210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45" name="Freeform 45"/>
              <p:cNvSpPr/>
              <p:nvPr/>
            </p:nvSpPr>
            <p:spPr>
              <a:xfrm>
                <a:off x="838200" y="593788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46" name="Freeform 46"/>
              <p:cNvSpPr/>
              <p:nvPr/>
            </p:nvSpPr>
            <p:spPr>
              <a:xfrm>
                <a:off x="827088" y="5971223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48" name="TextBox 48"/>
            <p:cNvSpPr txBox="1"/>
            <p:nvPr/>
          </p:nvSpPr>
          <p:spPr>
            <a:xfrm>
              <a:off x="1040130" y="5728335"/>
              <a:ext cx="984504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补充：Frobenius 范数（F-范数）取全部元素平方和再开方，即 √(Σᵢⱼ aᵢⱼ²)。它也是相容范数，但单位矩阵的 F-范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数为 √n ≠ 1（n ≥ 2），所以它不是任何向量范数诱导的算子范数。</a:t>
              </a:r>
            </a:p>
          </p:txBody>
        </p:sp>
      </p:grpSp>
      <p:grpSp>
        <p:nvGrpSpPr>
          <p:cNvPr id="52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0" name="TextBox 50"/>
            <p:cNvSpPr txBox="1"/>
            <p:nvPr/>
          </p:nvSpPr>
          <p:spPr>
            <a:xfrm>
              <a:off x="528447" y="6581299"/>
              <a:ext cx="278038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第2章 解线性方程组的数值法（下）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234809" cy="909257"/>
            <a:chOff x="520446" y="342900"/>
            <a:chExt cx="7234809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983230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79404" y="407194"/>
              <a:ext cx="28912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第2章 线性方程组（下） · 向量和矩阵范数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234809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三种算子范数的计算公式：行和、列和、谱范数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2" name="c1-card-1"/>
          <p:cNvGrpSpPr/>
          <p:nvPr/>
        </p:nvGrpSpPr>
        <p:grpSpPr>
          <a:xfrm>
            <a:off x="533400" y="1524000"/>
            <a:ext cx="5410200" cy="4651058"/>
            <a:chOff x="533400" y="1524000"/>
            <a:chExt cx="5410200" cy="4651058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10200" cy="4651058"/>
            </a:xfrm>
            <a:prstGeom prst="roundRect">
              <a:avLst>
                <a:gd name="adj" fmla="val 2867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4384358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75335" y="1727835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65543" y="176355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定理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376744" y="1767364"/>
              <a:ext cx="292967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由 (2.5.15) 定义的矩阵范数满足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68096" y="2119789"/>
              <a:ext cx="4468515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行和范数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：每行元素绝对值求和，取最大（2.5.16）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3" name="formula69"/>
                <p:cNvSpPr txBox="1">
                  <a:spLocks noGrp="1"/>
                </p:cNvSpPr>
                <p:nvPr/>
              </p:nvSpPr>
              <p:spPr>
                <a:xfrm>
                  <a:off x="775335" y="2415540"/>
                  <a:ext cx="4964430" cy="660082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sSub>
                          <m:e>
                            <m:d>
                              <m:dPr>
                                <m:begChr m:val="‖"/>
                                <m:sepChr m:val=""/>
                                <m:endChr m:val="‖"/>
                                <m:grow m:val="on"/>
                                <m:ctrlP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A</m:t>
                                </m:r>
                              </m:e>
                            </m:d>
                          </m:e>
                          <m:sub>
                            <m:r>
                              <m:rPr>
                                <m:sty m:val="p"/>
                              </m:rP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∞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zh-CN" sz="15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func>
                          <m:funcPr/>
                          <m:fName>
                            <m:limLow>
                              <m:limLowPr/>
                              <m:e>
                                <m:r>
                                  <m:rPr>
                                    <m:sty m:val="p"/>
                                  </m:rP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max</m:t>
                                </m:r>
                              </m:e>
                              <m:lim>
                                <m: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≤</m:t>
                                </m:r>
                                <m: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i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≤</m:t>
                                </m:r>
                                <m: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n</m:t>
                                </m:r>
                              </m:lim>
                            </m:limLow>
                          </m:fName>
                          <m:e>
                            <m:nary>
                              <m:naryPr>
                                <m:chr m:val="∑"/>
                                <m:limLoc m:val="undOvr"/>
                                <m:grow m:val="off"/>
                                <m:subHide m:val="off"/>
                                <m:supHide m:val="off"/>
                                <m:ctrlP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naryPr>
                              <m:sub>
                                <m: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j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=</m:t>
                                </m:r>
                                <m: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n</m:t>
                                </m:r>
                              </m:sup>
                              <m:e>
                                <m:d>
                                  <m:dPr>
                                    <m:begChr m:val="|"/>
                                    <m:sepChr m:val=""/>
                                    <m:endChr m:val="|"/>
                                    <m:grow m:val="on"/>
                                    <m:ctrlPr>
                                      <a:rPr lang="zh-CN" sz="15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dPr>
                                  <m:e>
                                    <m:sSub>
                                      <m:e>
                                        <m:r>
                                          <a:rPr lang="zh-CN" sz="158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a</m:t>
                                        </m:r>
                                      </m:e>
                                      <m:sub>
                                        <m:r>
                                          <a:rPr lang="zh-CN" sz="158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ij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</m:nary>
                          </m:e>
                        </m:func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14" name="TextBox 14"/>
            <p:cNvSpPr txBox="1"/>
            <p:nvPr/>
          </p:nvSpPr>
          <p:spPr>
            <a:xfrm>
              <a:off x="768096" y="3192304"/>
              <a:ext cx="4468515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列和范数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：每列元素绝对值求和，取最大（2.5.17）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5" name="formula70"/>
                <p:cNvSpPr txBox="1">
                  <a:spLocks noGrp="1"/>
                </p:cNvSpPr>
                <p:nvPr/>
              </p:nvSpPr>
              <p:spPr>
                <a:xfrm>
                  <a:off x="775335" y="3488055"/>
                  <a:ext cx="4964430" cy="660082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sSub>
                          <m:e>
                            <m:d>
                              <m:dPr>
                                <m:begChr m:val="‖"/>
                                <m:sepChr m:val=""/>
                                <m:endChr m:val="‖"/>
                                <m:grow m:val="on"/>
                                <m:ctrlP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A</m:t>
                                </m:r>
                              </m:e>
                            </m:d>
                          </m:e>
                          <m:sub>
                            <m: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zh-CN" sz="15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func>
                          <m:funcPr/>
                          <m:fName>
                            <m:limLow>
                              <m:limLowPr/>
                              <m:e>
                                <m:r>
                                  <m:rPr>
                                    <m:sty m:val="p"/>
                                  </m:rP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max</m:t>
                                </m:r>
                              </m:e>
                              <m:lim>
                                <m: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≤</m:t>
                                </m:r>
                                <m: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j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≤</m:t>
                                </m:r>
                                <m: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n</m:t>
                                </m:r>
                              </m:lim>
                            </m:limLow>
                          </m:fName>
                          <m:e>
                            <m:nary>
                              <m:naryPr>
                                <m:chr m:val="∑"/>
                                <m:limLoc m:val="undOvr"/>
                                <m:grow m:val="off"/>
                                <m:subHide m:val="off"/>
                                <m:supHide m:val="off"/>
                                <m:ctrlP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naryPr>
                              <m:sub>
                                <m: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i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=</m:t>
                                </m:r>
                                <m: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n</m:t>
                                </m:r>
                              </m:sup>
                              <m:e>
                                <m:d>
                                  <m:dPr>
                                    <m:begChr m:val="|"/>
                                    <m:sepChr m:val=""/>
                                    <m:endChr m:val="|"/>
                                    <m:grow m:val="on"/>
                                    <m:ctrlPr>
                                      <a:rPr lang="zh-CN" sz="15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dPr>
                                  <m:e>
                                    <m:sSub>
                                      <m:e>
                                        <m:r>
                                          <a:rPr lang="zh-CN" sz="158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a</m:t>
                                        </m:r>
                                      </m:e>
                                      <m:sub>
                                        <m:r>
                                          <a:rPr lang="zh-CN" sz="158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ij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</m:nary>
                          </m:e>
                        </m:func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16" name="TextBox 16"/>
            <p:cNvSpPr txBox="1"/>
            <p:nvPr/>
          </p:nvSpPr>
          <p:spPr>
            <a:xfrm>
              <a:off x="768096" y="4264819"/>
              <a:ext cx="385247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谱范数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：λ₁ 为 AᵀA 的最大特征值（2.5.18）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7" name="formula71"/>
                <p:cNvSpPr txBox="1">
                  <a:spLocks noGrp="1"/>
                </p:cNvSpPr>
                <p:nvPr/>
              </p:nvSpPr>
              <p:spPr>
                <a:xfrm>
                  <a:off x="775335" y="4560570"/>
                  <a:ext cx="4964430" cy="48006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sSub>
                          <m:e>
                            <m:d>
                              <m:dPr>
                                <m:begChr m:val="‖"/>
                                <m:sepChr m:val=""/>
                                <m:endChr m:val="‖"/>
                                <m:grow m:val="on"/>
                                <m:ctrlP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A</m:t>
                                </m:r>
                              </m:e>
                            </m:d>
                          </m:e>
                          <m:sub>
                            <m: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2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zh-CN" sz="15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rad>
                          <m:radPr>
                            <m:degHide m:val="on"/>
                            <m:ctrlP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radPr>
                          <m:deg/>
                          <m:e>
                            <m:sSub>
                              <m:e>
                                <m: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λ</m:t>
                                </m:r>
                              </m:e>
                              <m:sub>
                                <m: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sub>
                            </m:sSub>
                          </m:e>
                        </m:rad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18" name="Ellipse 18"/>
            <p:cNvSpPr/>
            <p:nvPr/>
          </p:nvSpPr>
          <p:spPr>
            <a:xfrm>
              <a:off x="782955" y="5216842"/>
              <a:ext cx="60960" cy="6096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939546" y="5157311"/>
              <a:ext cx="379188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AᵀA 对称半正定，特征值都 ≥ 0，开方有意义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782955" y="5536882"/>
              <a:ext cx="60960" cy="6096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939546" y="5477351"/>
              <a:ext cx="4468876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 对称时 AᵀA = A²，‖A‖₂ 就等于 A 的特征值绝对值的最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大者</a:t>
              </a:r>
            </a:p>
          </p:txBody>
        </p:sp>
      </p:grpSp>
      <p:grpSp>
        <p:nvGrpSpPr>
          <p:cNvPr id="48" name="c2-card-1"/>
          <p:cNvGrpSpPr/>
          <p:nvPr/>
        </p:nvGrpSpPr>
        <p:grpSpPr>
          <a:xfrm>
            <a:off x="6248400" y="1524000"/>
            <a:ext cx="5410200" cy="3389948"/>
            <a:chOff x="6248400" y="1524000"/>
            <a:chExt cx="5410200" cy="3389948"/>
          </a:xfrm>
        </p:grpSpPr>
        <p:sp>
          <p:nvSpPr>
            <p:cNvPr id="23" name="Rectangle 23"/>
            <p:cNvSpPr/>
            <p:nvPr/>
          </p:nvSpPr>
          <p:spPr>
            <a:xfrm>
              <a:off x="6248400" y="1524000"/>
              <a:ext cx="5410200" cy="3389948"/>
            </a:xfrm>
            <a:prstGeom prst="roundRect">
              <a:avLst>
                <a:gd name="adj" fmla="val 393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57925" y="1657350"/>
              <a:ext cx="47625" cy="3123248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490335" y="1727835"/>
              <a:ext cx="921068" cy="25717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67742" y="1763554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例（补充）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7" name="formula72"/>
                <p:cNvSpPr txBox="1">
                  <a:spLocks noGrp="1"/>
                </p:cNvSpPr>
                <p:nvPr/>
              </p:nvSpPr>
              <p:spPr>
                <a:xfrm>
                  <a:off x="6490335" y="2077402"/>
                  <a:ext cx="4964430" cy="52006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r>
                          <a:rPr lang="zh-CN" sz="15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A</m:t>
                        </m:r>
                        <m:r>
                          <m:rPr>
                            <m:sty m:val="p"/>
                          </m:rPr>
                          <a:rPr lang="zh-CN" sz="15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d>
                          <m:dPr>
                            <m:begChr m:val="["/>
                            <m:sepChr m:val=""/>
                            <m:endChr m:val="]"/>
                            <m:grow m:val="on"/>
                            <m:ctrlP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m>
                              <m:mPr>
                                <m:baseJc m:val="center"/>
                                <m:plcHide m:val="on"/>
                                <m:mcs>
                                  <m:mc>
                                    <m:mcPr>
                                      <m:count m:val="1"/>
                                    </m:mcPr>
                                  </m:mc>
                                  <m:mc>
                                    <m:mcPr>
                                      <m:count m:val="1"/>
                                    </m:mcPr>
                                  </m:mc>
                                </m:mcs>
                              </m:mPr>
                              <m:mr>
                                <m:e>
                                  <m:r>
                                    <a:rPr lang="zh-CN" sz="15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1</m:t>
                                  </m:r>
                                </m:e>
                                <m:e>
                                  <m:r>
                                    <m:rPr>
                                      <m:sty m:val="p"/>
                                    </m:rPr>
                                    <a:rPr lang="zh-CN" sz="15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−</m:t>
                                  </m:r>
                                  <m:r>
                                    <a:rPr lang="zh-CN" sz="15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2</m:t>
                                  </m:r>
                                </m:e>
                              </m:mr>
                              <m:mr>
                                <m:e>
                                  <m:r>
                                    <m:rPr>
                                      <m:sty m:val="p"/>
                                    </m:rPr>
                                    <a:rPr lang="zh-CN" sz="15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−</m:t>
                                  </m:r>
                                  <m:r>
                                    <a:rPr lang="zh-CN" sz="15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3</m:t>
                                  </m:r>
                                </m:e>
                                <m:e>
                                  <m:r>
                                    <a:rPr lang="zh-CN" sz="15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4</m:t>
                                  </m:r>
                                </m:e>
                              </m:mr>
                            </m:m>
                          </m:e>
                        </m:d>
                        <m:r>
                          <m:rPr>
                            <m:sty m:val="p"/>
                          </m:rPr>
                          <a:rPr lang="zh-CN" sz="15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,</m:t>
                        </m:r>
                        <m:r>
                          <a:rPr lang="zh-CN" sz="15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  </m:t>
                        </m:r>
                        <m:sSup>
                          <m:e>
                            <m: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A</m:t>
                            </m:r>
                          </m:e>
                          <m:sup>
                            <m: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T</m:t>
                            </m:r>
                          </m:sup>
                        </m:sSup>
                        <m:r>
                          <a:rPr lang="zh-CN" sz="15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A</m:t>
                        </m:r>
                        <m:r>
                          <m:rPr>
                            <m:sty m:val="p"/>
                          </m:rPr>
                          <a:rPr lang="zh-CN" sz="15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d>
                          <m:dPr>
                            <m:begChr m:val="["/>
                            <m:sepChr m:val=""/>
                            <m:endChr m:val="]"/>
                            <m:grow m:val="on"/>
                            <m:ctrlP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m>
                              <m:mPr>
                                <m:baseJc m:val="center"/>
                                <m:plcHide m:val="on"/>
                                <m:mcs>
                                  <m:mc>
                                    <m:mcPr>
                                      <m:count m:val="1"/>
                                    </m:mcPr>
                                  </m:mc>
                                  <m:mc>
                                    <m:mcPr>
                                      <m:count m:val="1"/>
                                    </m:mcPr>
                                  </m:mc>
                                </m:mcs>
                              </m:mPr>
                              <m:mr>
                                <m:e>
                                  <m:r>
                                    <a:rPr lang="zh-CN" sz="15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10</m:t>
                                  </m:r>
                                </m:e>
                                <m:e>
                                  <m:r>
                                    <m:rPr>
                                      <m:sty m:val="p"/>
                                    </m:rPr>
                                    <a:rPr lang="zh-CN" sz="15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−</m:t>
                                  </m:r>
                                  <m:r>
                                    <a:rPr lang="zh-CN" sz="15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14</m:t>
                                  </m:r>
                                </m:e>
                              </m:mr>
                              <m:mr>
                                <m:e>
                                  <m:r>
                                    <m:rPr>
                                      <m:sty m:val="p"/>
                                    </m:rPr>
                                    <a:rPr lang="zh-CN" sz="15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−</m:t>
                                  </m:r>
                                  <m:r>
                                    <a:rPr lang="zh-CN" sz="15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14</m:t>
                                  </m:r>
                                </m:e>
                                <m:e>
                                  <m:r>
                                    <a:rPr lang="zh-CN" sz="15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20</m:t>
                                  </m:r>
                                </m:e>
                              </m:mr>
                            </m:m>
                          </m:e>
                        </m:d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28" name="Rectangle 28"/>
            <p:cNvSpPr/>
            <p:nvPr/>
          </p:nvSpPr>
          <p:spPr>
            <a:xfrm>
              <a:off x="6490335" y="2689860"/>
              <a:ext cx="4964430" cy="430530"/>
            </a:xfrm>
            <a:prstGeom prst="rect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769417" y="2821305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范数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8631555" y="2821305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计算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10667047" y="2821305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结果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6733817" y="3250882"/>
              <a:ext cx="40648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‖A‖∞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7489126" y="3250882"/>
              <a:ext cx="172455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行和 max{1 + 2, 3 + 4}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10784167" y="3250882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7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6490335" y="3545205"/>
              <a:ext cx="496443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6" name="Rectangle 36"/>
            <p:cNvSpPr/>
            <p:nvPr/>
          </p:nvSpPr>
          <p:spPr>
            <a:xfrm>
              <a:off x="6490335" y="3549968"/>
              <a:ext cx="4964430" cy="43053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6733817" y="3681412"/>
              <a:ext cx="40648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‖A‖₁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7489126" y="3681412"/>
              <a:ext cx="172455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列和 max{1 + 3, 2 + 4}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10784167" y="3681412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6490335" y="3975735"/>
              <a:ext cx="496443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6733817" y="4111942"/>
              <a:ext cx="40648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‖A‖₂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7489126" y="4111942"/>
              <a:ext cx="243535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λ² − 30λ + 4 = 0，λ₁ = 15 + √221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10537812" y="4111942"/>
              <a:ext cx="59375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≈ 5.465</a:t>
              </a:r>
            </a:p>
          </p:txBody>
        </p:sp>
        <p:sp>
          <p:nvSpPr>
            <p:cNvPr id="44" name="Rectangle 44"/>
            <p:cNvSpPr/>
            <p:nvPr/>
          </p:nvSpPr>
          <p:spPr>
            <a:xfrm>
              <a:off x="6490335" y="2689860"/>
              <a:ext cx="4964430" cy="172021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45" name="Rectangle 45"/>
            <p:cNvSpPr/>
            <p:nvPr/>
          </p:nvSpPr>
          <p:spPr>
            <a:xfrm>
              <a:off x="7379018" y="2689860"/>
              <a:ext cx="9525" cy="172021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6" name="Rectangle 46"/>
            <p:cNvSpPr/>
            <p:nvPr/>
          </p:nvSpPr>
          <p:spPr>
            <a:xfrm>
              <a:off x="10208895" y="2689860"/>
              <a:ext cx="9525" cy="172021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6484239" y="4522470"/>
              <a:ext cx="455325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AᵀA 的特征方程：(10 − λ)(20 − λ) − 196 = λ² − 30λ + 4 = 0。</a:t>
              </a:r>
            </a:p>
          </p:txBody>
        </p:sp>
      </p:grpSp>
      <p:grpSp>
        <p:nvGrpSpPr>
          <p:cNvPr id="55" name="c2-callout-2"/>
          <p:cNvGrpSpPr/>
          <p:nvPr/>
        </p:nvGrpSpPr>
        <p:grpSpPr>
          <a:xfrm>
            <a:off x="6248400" y="5099685"/>
            <a:ext cx="5410200" cy="1075372"/>
            <a:chOff x="6248400" y="5099685"/>
            <a:chExt cx="5410200" cy="1075372"/>
          </a:xfrm>
        </p:grpSpPr>
        <p:sp>
          <p:nvSpPr>
            <p:cNvPr id="49" name="Rectangle 49"/>
            <p:cNvSpPr/>
            <p:nvPr/>
          </p:nvSpPr>
          <p:spPr>
            <a:xfrm>
              <a:off x="6248400" y="5099685"/>
              <a:ext cx="5410200" cy="1075372"/>
            </a:xfrm>
            <a:prstGeom prst="roundRect">
              <a:avLst>
                <a:gd name="adj" fmla="val 10629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53" name="Group 53"/>
            <p:cNvGrpSpPr/>
            <p:nvPr/>
          </p:nvGrpSpPr>
          <p:grpSpPr>
            <a:xfrm>
              <a:off x="6453188" y="5536883"/>
              <a:ext cx="200026" cy="200025"/>
              <a:chOff x="6453188" y="5536883"/>
              <a:chExt cx="200026" cy="200025"/>
            </a:xfrm>
          </p:grpSpPr>
          <p:sp>
            <p:nvSpPr>
              <p:cNvPr id="50" name="Freeform 50"/>
              <p:cNvSpPr/>
              <p:nvPr/>
            </p:nvSpPr>
            <p:spPr>
              <a:xfrm>
                <a:off x="6453188" y="5536883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51" name="Freeform 51"/>
              <p:cNvSpPr/>
              <p:nvPr/>
            </p:nvSpPr>
            <p:spPr>
              <a:xfrm>
                <a:off x="6492926" y="5581333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52" name="Freeform 52"/>
              <p:cNvSpPr/>
              <p:nvPr/>
            </p:nvSpPr>
            <p:spPr>
              <a:xfrm>
                <a:off x="6527642" y="5692458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54" name="TextBox 54"/>
            <p:cNvSpPr txBox="1"/>
            <p:nvPr/>
          </p:nvSpPr>
          <p:spPr>
            <a:xfrm>
              <a:off x="6755511" y="5275421"/>
              <a:ext cx="4432808" cy="80448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记法：‖A‖∞ 与向量的 ∞-范数配套，按行求和；‖A‖₁</a:t>
              </a:r>
              <a:br/>
              <a:r>
                <a:rPr lang="zh-CN" sz="14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与 1-范数配套，按列求和。2-范数要算特征值，手算最</a:t>
              </a:r>
              <a:br/>
              <a:r>
                <a:rPr lang="zh-CN" sz="14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费事。</a:t>
              </a:r>
            </a:p>
          </p:txBody>
        </p:sp>
      </p:grpSp>
      <p:grpSp>
        <p:nvGrpSpPr>
          <p:cNvPr id="58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6" name="TextBox 56"/>
            <p:cNvSpPr txBox="1"/>
            <p:nvPr/>
          </p:nvSpPr>
          <p:spPr>
            <a:xfrm>
              <a:off x="528447" y="6581299"/>
              <a:ext cx="278038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第2章 解线性方程组的数值法（下）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8987744" cy="909257"/>
            <a:chOff x="520446" y="342900"/>
            <a:chExt cx="898774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983230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79404" y="407194"/>
              <a:ext cx="28912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第2章 线性方程组（下） · 向量和矩阵范数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898774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证明 ‖A‖∞ 等于最大行和：先证上界，再构造向量取到上界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6" name="c1-card-1"/>
          <p:cNvGrpSpPr/>
          <p:nvPr/>
        </p:nvGrpSpPr>
        <p:grpSpPr>
          <a:xfrm>
            <a:off x="533400" y="1524000"/>
            <a:ext cx="5410200" cy="3583305"/>
            <a:chOff x="533400" y="1524000"/>
            <a:chExt cx="5410200" cy="358330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10200" cy="3583305"/>
            </a:xfrm>
            <a:prstGeom prst="roundRect">
              <a:avLst>
                <a:gd name="adj" fmla="val 3721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331660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81050" y="1733550"/>
              <a:ext cx="636270" cy="257175"/>
            </a:xfrm>
            <a:prstGeom prst="roundRect">
              <a:avLst>
                <a:gd name="adj" fmla="val 50000"/>
              </a:avLst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67308" y="1769269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第一步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524000" y="1768792"/>
              <a:ext cx="14287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最大行和是上界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73430" y="2129790"/>
              <a:ext cx="41681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对任意满足 ‖x‖∞ = 1 的 x ∈ Rⁿ，有 |xⱼ| ≤ ‖x‖∞ =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1，故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3" name="formula76"/>
                <p:cNvSpPr txBox="1">
                  <a:spLocks noGrp="1"/>
                </p:cNvSpPr>
                <p:nvPr/>
              </p:nvSpPr>
              <p:spPr>
                <a:xfrm>
                  <a:off x="781050" y="2726055"/>
                  <a:ext cx="4953000" cy="66675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sSub>
                          <m:e>
                            <m:d>
                              <m:dPr>
                                <m:begChr m:val="‖"/>
                                <m:sepChr m:val=""/>
                                <m:endChr m:val="‖"/>
                                <m:grow m:val="on"/>
                                <m:ctrlP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Ax</m:t>
                                </m:r>
                              </m:e>
                            </m:d>
                          </m:e>
                          <m:sub>
                            <m:r>
                              <m:rPr>
                                <m:sty m:val="p"/>
                              </m:rP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∞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zh-CN" sz="15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func>
                          <m:funcPr/>
                          <m:fName>
                            <m:limLow>
                              <m:limLowPr/>
                              <m:e>
                                <m:r>
                                  <m:rPr>
                                    <m:sty m:val="p"/>
                                  </m:rP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max</m:t>
                                </m:r>
                              </m:e>
                              <m:lim>
                                <m: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≤</m:t>
                                </m:r>
                                <m: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i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≤</m:t>
                                </m:r>
                                <m: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n</m:t>
                                </m:r>
                              </m:lim>
                            </m:limLow>
                          </m:fName>
                          <m:e>
                            <m:d>
                              <m:dPr>
                                <m:begChr m:val="|"/>
                                <m:sepChr m:val=""/>
                                <m:endChr m:val="|"/>
                                <m:grow m:val="on"/>
                                <m:ctrlP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sSub>
                                  <m:e>
                                    <m:d>
                                      <m:dPr>
                                        <m:begChr m:val="("/>
                                        <m:sepChr m:val=""/>
                                        <m:endChr m:val=")"/>
                                        <m:grow m:val="on"/>
                                        <m:ctrlPr>
                                          <a:rPr lang="zh-CN" sz="150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zh-CN" sz="150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Ax</m:t>
                                        </m:r>
                                      </m:e>
                                    </m:d>
                                  </m:e>
                                  <m:sub>
                                    <m:r>
                                      <a:rPr lang="zh-CN" sz="150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i</m:t>
                                    </m:r>
                                  </m:sub>
                                </m:sSub>
                              </m:e>
                            </m:d>
                          </m:e>
                        </m:func>
                        <m:r>
                          <m:rPr>
                            <m:sty m:val="p"/>
                          </m:rPr>
                          <a:rPr lang="zh-CN" sz="15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func>
                          <m:funcPr/>
                          <m:fName>
                            <m:limLow>
                              <m:limLowPr/>
                              <m:e>
                                <m:r>
                                  <m:rPr>
                                    <m:sty m:val="p"/>
                                  </m:rP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max</m:t>
                                </m:r>
                              </m:e>
                              <m:lim>
                                <m: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≤</m:t>
                                </m:r>
                                <m: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i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≤</m:t>
                                </m:r>
                                <m: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n</m:t>
                                </m:r>
                              </m:lim>
                            </m:limLow>
                          </m:fName>
                          <m:e>
                            <m:d>
                              <m:dPr>
                                <m:begChr m:val="|"/>
                                <m:sepChr m:val=""/>
                                <m:endChr m:val="|"/>
                                <m:grow m:val="on"/>
                                <m:ctrlP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nary>
                                  <m:naryPr>
                                    <m:chr m:val="∑"/>
                                    <m:limLoc m:val="undOvr"/>
                                    <m:grow m:val="off"/>
                                    <m:subHide m:val="off"/>
                                    <m:supHide m:val="off"/>
                                    <m:ctrlPr>
                                      <a:rPr lang="zh-CN" sz="150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naryPr>
                                  <m:sub>
                                    <m:r>
                                      <a:rPr lang="zh-CN" sz="150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j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zh-CN" sz="150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=</m:t>
                                    </m:r>
                                    <m:r>
                                      <a:rPr lang="zh-CN" sz="150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1</m:t>
                                    </m:r>
                                  </m:sub>
                                  <m:sup>
                                    <m:r>
                                      <a:rPr lang="zh-CN" sz="150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n</m:t>
                                    </m:r>
                                  </m:sup>
                                  <m:e>
                                    <m:sSub>
                                      <m:e>
                                        <m:r>
                                          <a:rPr lang="zh-CN" sz="150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a</m:t>
                                        </m:r>
                                      </m:e>
                                      <m:sub>
                                        <m:r>
                                          <a:rPr lang="zh-CN" sz="150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ij</m:t>
                                        </m:r>
                                      </m:sub>
                                    </m:sSub>
                                    <m:sSub>
                                      <m:e>
                                        <m:r>
                                          <a:rPr lang="zh-CN" sz="150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x</m:t>
                                        </m:r>
                                      </m:e>
                                      <m:sub>
                                        <m:r>
                                          <a:rPr lang="zh-CN" sz="150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j</m:t>
                                        </m:r>
                                      </m:sub>
                                    </m:sSub>
                                  </m:e>
                                </m:nary>
                              </m:e>
                            </m:d>
                          </m:e>
                        </m:func>
                      </m:oMath>
                    </m:oMathPara>
                  </a14:m>
                </a:p>
              </p:txBody>
            </p:sp>
          </mc:Choice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4" name="formula77"/>
                <p:cNvSpPr txBox="1">
                  <a:spLocks noGrp="1"/>
                </p:cNvSpPr>
                <p:nvPr/>
              </p:nvSpPr>
              <p:spPr>
                <a:xfrm>
                  <a:off x="781050" y="3488055"/>
                  <a:ext cx="4953000" cy="62865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r>
                          <m:rPr>
                            <m:sty m:val="p"/>
                          </m:rPr>
                          <a:rPr lang="zh-CN" sz="15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≤</m:t>
                        </m:r>
                        <m:func>
                          <m:funcPr/>
                          <m:fName>
                            <m:limLow>
                              <m:limLowPr/>
                              <m:e>
                                <m:r>
                                  <m:rPr>
                                    <m:sty m:val="p"/>
                                  </m:rP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max</m:t>
                                </m:r>
                              </m:e>
                              <m:lim>
                                <m: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≤</m:t>
                                </m:r>
                                <m: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i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≤</m:t>
                                </m:r>
                                <m: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n</m:t>
                                </m:r>
                              </m:lim>
                            </m:limLow>
                          </m:fName>
                          <m:e>
                            <m:nary>
                              <m:naryPr>
                                <m:chr m:val="∑"/>
                                <m:limLoc m:val="undOvr"/>
                                <m:grow m:val="off"/>
                                <m:subHide m:val="off"/>
                                <m:supHide m:val="off"/>
                                <m:ctrlP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naryPr>
                              <m:sub>
                                <m: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j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=</m:t>
                                </m:r>
                                <m: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n</m:t>
                                </m:r>
                              </m:sup>
                              <m:e>
                                <m:d>
                                  <m:dPr>
                                    <m:begChr m:val="|"/>
                                    <m:sepChr m:val=""/>
                                    <m:endChr m:val="|"/>
                                    <m:grow m:val="on"/>
                                    <m:ctrlPr>
                                      <a:rPr lang="zh-CN" sz="150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dPr>
                                  <m:e>
                                    <m:sSub>
                                      <m:e>
                                        <m:r>
                                          <a:rPr lang="zh-CN" sz="150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a</m:t>
                                        </m:r>
                                      </m:e>
                                      <m:sub>
                                        <m:r>
                                          <a:rPr lang="zh-CN" sz="150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ij</m:t>
                                        </m:r>
                                      </m:sub>
                                    </m:sSub>
                                  </m:e>
                                </m:d>
                                <m: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 xml:space="preserve"> </m:t>
                                </m:r>
                                <m:d>
                                  <m:dPr>
                                    <m:begChr m:val="|"/>
                                    <m:sepChr m:val=""/>
                                    <m:endChr m:val="|"/>
                                    <m:grow m:val="on"/>
                                    <m:ctrlPr>
                                      <a:rPr lang="zh-CN" sz="150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dPr>
                                  <m:e>
                                    <m:sSub>
                                      <m:e>
                                        <m:r>
                                          <a:rPr lang="zh-CN" sz="150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x</m:t>
                                        </m:r>
                                      </m:e>
                                      <m:sub>
                                        <m:r>
                                          <a:rPr lang="zh-CN" sz="150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j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</m:nary>
                          </m:e>
                        </m:func>
                        <m:r>
                          <m:rPr>
                            <m:sty m:val="p"/>
                          </m:rPr>
                          <a:rPr lang="zh-CN" sz="15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≤</m:t>
                        </m:r>
                        <m:func>
                          <m:funcPr/>
                          <m:fName>
                            <m:limLow>
                              <m:limLowPr/>
                              <m:e>
                                <m:r>
                                  <m:rPr>
                                    <m:sty m:val="p"/>
                                  </m:rP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max</m:t>
                                </m:r>
                              </m:e>
                              <m:lim>
                                <m: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≤</m:t>
                                </m:r>
                                <m: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i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≤</m:t>
                                </m:r>
                                <m: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n</m:t>
                                </m:r>
                              </m:lim>
                            </m:limLow>
                          </m:fName>
                          <m:e>
                            <m:nary>
                              <m:naryPr>
                                <m:chr m:val="∑"/>
                                <m:limLoc m:val="undOvr"/>
                                <m:grow m:val="off"/>
                                <m:subHide m:val="off"/>
                                <m:supHide m:val="off"/>
                                <m:ctrlP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naryPr>
                              <m:sub>
                                <m: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j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=</m:t>
                                </m:r>
                                <m: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n</m:t>
                                </m:r>
                              </m:sup>
                              <m:e>
                                <m:d>
                                  <m:dPr>
                                    <m:begChr m:val="|"/>
                                    <m:sepChr m:val=""/>
                                    <m:endChr m:val="|"/>
                                    <m:grow m:val="on"/>
                                    <m:ctrlPr>
                                      <a:rPr lang="zh-CN" sz="150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dPr>
                                  <m:e>
                                    <m:sSub>
                                      <m:e>
                                        <m:r>
                                          <a:rPr lang="zh-CN" sz="150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a</m:t>
                                        </m:r>
                                      </m:e>
                                      <m:sub>
                                        <m:r>
                                          <a:rPr lang="zh-CN" sz="150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ij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</m:nary>
                          </m:e>
                        </m:func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15" name="TextBox 15"/>
            <p:cNvSpPr txBox="1"/>
            <p:nvPr/>
          </p:nvSpPr>
          <p:spPr>
            <a:xfrm>
              <a:off x="774573" y="4233386"/>
              <a:ext cx="368806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于是 ‖A‖∞ = max(‖x‖∞=1) ‖Ax‖∞ ≤ 最大行和。</a:t>
              </a:r>
            </a:p>
          </p:txBody>
        </p:sp>
      </p:grpSp>
      <p:grpSp>
        <p:nvGrpSpPr>
          <p:cNvPr id="25" name="c2-card-1"/>
          <p:cNvGrpSpPr/>
          <p:nvPr/>
        </p:nvGrpSpPr>
        <p:grpSpPr>
          <a:xfrm>
            <a:off x="6248400" y="1524000"/>
            <a:ext cx="5410200" cy="2609850"/>
            <a:chOff x="6248400" y="1524000"/>
            <a:chExt cx="5410200" cy="2609850"/>
          </a:xfrm>
        </p:grpSpPr>
        <p:sp>
          <p:nvSpPr>
            <p:cNvPr id="17" name="Rectangle 17"/>
            <p:cNvSpPr/>
            <p:nvPr/>
          </p:nvSpPr>
          <p:spPr>
            <a:xfrm>
              <a:off x="6248400" y="1524000"/>
              <a:ext cx="5410200" cy="2609850"/>
            </a:xfrm>
            <a:prstGeom prst="roundRect">
              <a:avLst>
                <a:gd name="adj" fmla="val 510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6257925" y="1657350"/>
              <a:ext cx="47625" cy="2343150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9" name="Rectangle 19"/>
            <p:cNvSpPr/>
            <p:nvPr/>
          </p:nvSpPr>
          <p:spPr>
            <a:xfrm>
              <a:off x="6496050" y="1733550"/>
              <a:ext cx="636270" cy="257175"/>
            </a:xfrm>
            <a:prstGeom prst="roundRect">
              <a:avLst>
                <a:gd name="adj" fmla="val 50000"/>
              </a:avLst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582308" y="1769269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第二步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239000" y="1768792"/>
              <a:ext cx="16725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构造 x 使上界取到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488430" y="2129790"/>
              <a:ext cx="4377690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设第 k 行元素绝对值之和最大：Σⱼ|aₖⱼ| = maxᵢ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Σⱼ|aᵢⱼ|。令 xⱼ = sgn(aₖⱼ)，则（A ≠ 0 时）‖x‖∞ =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1，且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3" name="formula78"/>
                <p:cNvSpPr txBox="1">
                  <a:spLocks noGrp="1"/>
                </p:cNvSpPr>
                <p:nvPr/>
              </p:nvSpPr>
              <p:spPr>
                <a:xfrm>
                  <a:off x="6496050" y="3011805"/>
                  <a:ext cx="4953000" cy="597218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sSub>
                          <m:e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Ax</m:t>
                                </m:r>
                              </m:e>
                            </m:d>
                          </m:e>
                          <m:sub>
                            <m: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k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zh-CN" sz="14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nary>
                          <m:naryPr>
                            <m:chr m:val="∑"/>
                            <m:limLoc m:val="undOvr"/>
                            <m:grow m:val="off"/>
                            <m:subHide m:val="off"/>
                            <m:supHide m:val="off"/>
                            <m:ctrlP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naryPr>
                          <m:sub>
                            <m: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j</m:t>
                            </m:r>
                            <m:r>
                              <m:rPr>
                                <m:sty m:val="p"/>
                              </m:rP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=</m:t>
                            </m:r>
                            <m: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</m:sub>
                          <m:sup>
                            <m: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n</m:t>
                            </m:r>
                          </m:sup>
                          <m:e>
                            <m:sSub>
                              <m:e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a</m:t>
                                </m:r>
                              </m:e>
                              <m:sub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kj</m:t>
                                </m:r>
                              </m:sub>
                            </m:sSub>
                            <m: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 xml:space="preserve"> </m:t>
                            </m:r>
                            <m:r>
                              <m:rPr>
                                <m:sty m:val="p"/>
                              </m:rP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sgn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sSub>
                                  <m:e>
                                    <m:r>
                                      <a:rPr lang="zh-CN" sz="14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a</m:t>
                                    </m:r>
                                  </m:e>
                                  <m:sub>
                                    <m:r>
                                      <a:rPr lang="zh-CN" sz="14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kj</m:t>
                                    </m:r>
                                  </m:sub>
                                </m:sSub>
                              </m:e>
                            </m:d>
                          </m:e>
                        </m:nary>
                        <m:r>
                          <m:rPr>
                            <m:sty m:val="p"/>
                          </m:rPr>
                          <a:rPr lang="zh-CN" sz="14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nary>
                          <m:naryPr>
                            <m:chr m:val="∑"/>
                            <m:limLoc m:val="undOvr"/>
                            <m:grow m:val="off"/>
                            <m:subHide m:val="off"/>
                            <m:supHide m:val="off"/>
                            <m:ctrlP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naryPr>
                          <m:sub>
                            <m: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j</m:t>
                            </m:r>
                            <m:r>
                              <m:rPr>
                                <m:sty m:val="p"/>
                              </m:rP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=</m:t>
                            </m:r>
                            <m: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</m:sub>
                          <m:sup>
                            <m: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n</m:t>
                            </m:r>
                          </m:sup>
                          <m:e>
                            <m:d>
                              <m:dPr>
                                <m:begChr m:val="|"/>
                                <m:sepChr m:val=""/>
                                <m:endChr m:val="|"/>
                                <m:grow m:val="on"/>
                                <m:ctrlP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sSub>
                                  <m:e>
                                    <m:r>
                                      <a:rPr lang="zh-CN" sz="14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a</m:t>
                                    </m:r>
                                  </m:e>
                                  <m:sub>
                                    <m:r>
                                      <a:rPr lang="zh-CN" sz="14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kj</m:t>
                                    </m:r>
                                  </m:sub>
                                </m:sSub>
                              </m:e>
                            </m:d>
                          </m:e>
                        </m:nary>
                        <m:r>
                          <m:rPr>
                            <m:sty m:val="p"/>
                          </m:rPr>
                          <a:rPr lang="zh-CN" sz="14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func>
                          <m:funcPr/>
                          <m:fName>
                            <m:limLow>
                              <m:limLowPr/>
                              <m:e>
                                <m:r>
                                  <m:rPr>
                                    <m:sty m:val="p"/>
                                  </m:rP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max</m:t>
                                </m:r>
                              </m:e>
                              <m:lim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≤</m:t>
                                </m:r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i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≤</m:t>
                                </m:r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n</m:t>
                                </m:r>
                              </m:lim>
                            </m:limLow>
                          </m:fName>
                          <m:e>
                            <m:nary>
                              <m:naryPr>
                                <m:chr m:val="∑"/>
                                <m:limLoc m:val="undOvr"/>
                                <m:grow m:val="off"/>
                                <m:subHide m:val="off"/>
                                <m:supHide m:val="off"/>
                                <m:ctrlP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naryPr>
                              <m:sub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j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=</m:t>
                                </m:r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n</m:t>
                                </m:r>
                              </m:sup>
                              <m:e>
                                <m:d>
                                  <m:dPr>
                                    <m:begChr m:val="|"/>
                                    <m:sepChr m:val=""/>
                                    <m:endChr m:val="|"/>
                                    <m:grow m:val="on"/>
                                    <m:ctrlPr>
                                      <a:rPr lang="zh-CN" sz="14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dPr>
                                  <m:e>
                                    <m:sSub>
                                      <m:e>
                                        <m:r>
                                          <a:rPr lang="zh-CN" sz="142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a</m:t>
                                        </m:r>
                                      </m:e>
                                      <m:sub>
                                        <m:r>
                                          <a:rPr lang="zh-CN" sz="142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ij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</m:nary>
                          </m:e>
                        </m:func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24" name="TextBox 24"/>
            <p:cNvSpPr txBox="1"/>
            <p:nvPr/>
          </p:nvSpPr>
          <p:spPr>
            <a:xfrm>
              <a:off x="6489573" y="3725704"/>
              <a:ext cx="383059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所以 ‖Ax‖∞ ≥ (Ax)ₖ 达到上界，(2.5.16) 成立。</a:t>
              </a:r>
            </a:p>
          </p:txBody>
        </p:sp>
      </p:grpSp>
      <p:grpSp>
        <p:nvGrpSpPr>
          <p:cNvPr id="31" name="c2-callout-2"/>
          <p:cNvGrpSpPr/>
          <p:nvPr/>
        </p:nvGrpSpPr>
        <p:grpSpPr>
          <a:xfrm>
            <a:off x="6248400" y="4324350"/>
            <a:ext cx="5410200" cy="782955"/>
            <a:chOff x="6248400" y="4324350"/>
            <a:chExt cx="5410200" cy="782955"/>
          </a:xfrm>
        </p:grpSpPr>
        <p:sp>
          <p:nvSpPr>
            <p:cNvPr id="26" name="Rectangle 26"/>
            <p:cNvSpPr/>
            <p:nvPr/>
          </p:nvSpPr>
          <p:spPr>
            <a:xfrm>
              <a:off x="6248400" y="4324350"/>
              <a:ext cx="5410200" cy="782955"/>
            </a:xfrm>
            <a:prstGeom prst="roundRect">
              <a:avLst>
                <a:gd name="adj" fmla="val 14599"/>
              </a:avLst>
            </a:prstGeom>
            <a:solidFill>
              <a:srgbClr val="E3F5F1"/>
            </a:solidFill>
            <a:ln>
              <a:noFill/>
            </a:ln>
          </p:spPr>
        </p:sp>
        <p:grpSp>
          <p:nvGrpSpPr>
            <p:cNvPr id="29" name="Group 29"/>
            <p:cNvGrpSpPr/>
            <p:nvPr/>
          </p:nvGrpSpPr>
          <p:grpSpPr>
            <a:xfrm>
              <a:off x="6453188" y="4615815"/>
              <a:ext cx="200026" cy="200026"/>
              <a:chOff x="6453188" y="4615815"/>
              <a:chExt cx="200026" cy="200026"/>
            </a:xfrm>
          </p:grpSpPr>
          <p:sp>
            <p:nvSpPr>
              <p:cNvPr id="27" name="Freeform 27"/>
              <p:cNvSpPr/>
              <p:nvPr/>
            </p:nvSpPr>
            <p:spPr>
              <a:xfrm>
                <a:off x="6453188" y="4615815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  <p:sp>
            <p:nvSpPr>
              <p:cNvPr id="28" name="Freeform 28"/>
              <p:cNvSpPr/>
              <p:nvPr/>
            </p:nvSpPr>
            <p:spPr>
              <a:xfrm>
                <a:off x="6519863" y="4693603"/>
                <a:ext cx="6667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66675" h="44450">
                    <a:moveTo>
                      <a:pt x="0" y="22225"/>
                    </a:moveTo>
                    <a:lnTo>
                      <a:pt x="22225" y="44450"/>
                    </a:lnTo>
                    <a:lnTo>
                      <a:pt x="66675" y="0"/>
                    </a:ln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</p:grpSp>
        <p:sp>
          <p:nvSpPr>
            <p:cNvPr id="30" name="TextBox 30"/>
            <p:cNvSpPr txBox="1"/>
            <p:nvPr/>
          </p:nvSpPr>
          <p:spPr>
            <a:xfrm>
              <a:off x="6755130" y="4472940"/>
              <a:ext cx="447294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验证上页 A：第 2 行 (−3, 4) 行和最大，取 x = (−1,</a:t>
              </a:r>
              <a:br/>
              <a:r>
                <a:rPr lang="zh-CN" sz="150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1)ᵀ，Ax = (−3, 7)ᵀ，‖Ax‖∞ = 7 = ‖A‖∞。</a:t>
              </a:r>
            </a:p>
          </p:txBody>
        </p:sp>
      </p:grpSp>
      <p:grpSp>
        <p:nvGrpSpPr>
          <p:cNvPr id="38" name="takeaway"/>
          <p:cNvGrpSpPr/>
          <p:nvPr/>
        </p:nvGrpSpPr>
        <p:grpSpPr>
          <a:xfrm>
            <a:off x="533400" y="5579745"/>
            <a:ext cx="11125200" cy="782955"/>
            <a:chOff x="533400" y="5579745"/>
            <a:chExt cx="11125200" cy="782955"/>
          </a:xfrm>
        </p:grpSpPr>
        <p:sp>
          <p:nvSpPr>
            <p:cNvPr id="32" name="Rectangle 32"/>
            <p:cNvSpPr/>
            <p:nvPr/>
          </p:nvSpPr>
          <p:spPr>
            <a:xfrm>
              <a:off x="533400" y="5579745"/>
              <a:ext cx="11125200" cy="782955"/>
            </a:xfrm>
            <a:prstGeom prst="roundRect">
              <a:avLst>
                <a:gd name="adj" fmla="val 14599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36" name="Group 36"/>
            <p:cNvGrpSpPr/>
            <p:nvPr/>
          </p:nvGrpSpPr>
          <p:grpSpPr>
            <a:xfrm>
              <a:off x="738188" y="5871210"/>
              <a:ext cx="200026" cy="200025"/>
              <a:chOff x="738188" y="5871210"/>
              <a:chExt cx="200026" cy="200025"/>
            </a:xfrm>
          </p:grpSpPr>
          <p:sp>
            <p:nvSpPr>
              <p:cNvPr id="33" name="Freeform 33"/>
              <p:cNvSpPr/>
              <p:nvPr/>
            </p:nvSpPr>
            <p:spPr>
              <a:xfrm>
                <a:off x="738188" y="5871210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34" name="Freeform 34"/>
              <p:cNvSpPr/>
              <p:nvPr/>
            </p:nvSpPr>
            <p:spPr>
              <a:xfrm>
                <a:off x="777926" y="5915660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35" name="Freeform 35"/>
              <p:cNvSpPr/>
              <p:nvPr/>
            </p:nvSpPr>
            <p:spPr>
              <a:xfrm>
                <a:off x="812642" y="6026786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37" name="TextBox 37"/>
            <p:cNvSpPr txBox="1"/>
            <p:nvPr/>
          </p:nvSpPr>
          <p:spPr>
            <a:xfrm>
              <a:off x="1040130" y="5728335"/>
              <a:ext cx="969264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(2.5.17) 证法相同：‖Ax‖₁ ≤ Σⱼ（|xⱼ| × 第 j 列绝对值和）≤ 最大列和 × ‖x‖₁；取 x 为最大列和所在列对应的单位</a:t>
              </a:r>
              <a:br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向量 eₖ，上界取到。</a:t>
              </a:r>
            </a:p>
          </p:txBody>
        </p:sp>
      </p:grpSp>
      <p:grpSp>
        <p:nvGrpSpPr>
          <p:cNvPr id="4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39" name="TextBox 39"/>
            <p:cNvSpPr txBox="1"/>
            <p:nvPr/>
          </p:nvSpPr>
          <p:spPr>
            <a:xfrm>
              <a:off x="528447" y="6581299"/>
              <a:ext cx="278038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第2章 解线性方程组的数值法（下）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309894" cy="909257"/>
            <a:chOff x="520446" y="342900"/>
            <a:chExt cx="730989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983230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79404" y="407194"/>
              <a:ext cx="28912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第2章 线性方程组（下） · 向量和矩阵范数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30989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证明 ‖A‖₂ = √λ₁：用 AᵀA 的正交特征向量展开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8" name="c1-steps-1"/>
          <p:cNvGrpSpPr/>
          <p:nvPr/>
        </p:nvGrpSpPr>
        <p:grpSpPr>
          <a:xfrm>
            <a:off x="533400" y="1533525"/>
            <a:ext cx="5790314" cy="3414998"/>
            <a:chOff x="533400" y="1533525"/>
            <a:chExt cx="5790314" cy="3414998"/>
          </a:xfrm>
        </p:grpSpPr>
        <p:sp>
          <p:nvSpPr>
            <p:cNvPr id="7" name="Rectangle 7"/>
            <p:cNvSpPr/>
            <p:nvPr/>
          </p:nvSpPr>
          <p:spPr>
            <a:xfrm>
              <a:off x="666750" y="1676400"/>
              <a:ext cx="19050" cy="283749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8" name="Ellipse 8"/>
            <p:cNvSpPr/>
            <p:nvPr/>
          </p:nvSpPr>
          <p:spPr>
            <a:xfrm>
              <a:off x="533400" y="1533525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27024" y="160734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533400" y="2184082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627024" y="225790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533400" y="3069908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627024" y="314372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33400" y="3720465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627024" y="379428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533400" y="4371022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627024" y="444484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944880" y="1567815"/>
              <a:ext cx="10248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化成二次型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46023" y="1861661"/>
              <a:ext cx="336185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‖Ax‖₂² = (Ax, Ax) = xᵀAᵀAx = (AᵀAx, x)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944880" y="2218372"/>
              <a:ext cx="146174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AᵀA 对称半正定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946023" y="2512219"/>
              <a:ext cx="5003546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有完全正交的单位特征向量 v₁, …, vₙ：AᵀAvᵢ = λᵢvᵢ，(vᵢ, vⱼ) = 1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（i = j），0（i ≠ j），λ₁ ≥ … ≥ λₙ ≥ 0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44880" y="3104198"/>
              <a:ext cx="14287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按特征向量展开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46023" y="3397091"/>
              <a:ext cx="537769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 = Σαᵢvᵢ，于是 ‖x‖₂² = (x, x) = Σ|αᵢ|²，而 (AᵀAx, x) = Σλᵢ|αᵢ|²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944880" y="3754755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夹逼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46023" y="4048601"/>
              <a:ext cx="419399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λₙΣ|αᵢ|² ≤ Σλᵢ|αᵢ|² ≤ λ₁Σ|αᵢ|²，开方得右边的不等式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944880" y="4405312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上界取到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946023" y="4699159"/>
              <a:ext cx="428031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取 x = v₁，‖Av₁‖₂ = √λ₁，所以 ‖A‖₂ = √λ₁，定理证完</a:t>
              </a:r>
            </a:p>
          </p:txBody>
        </p:sp>
      </p:grpSp>
      <p:grpSp>
        <p:nvGrpSpPr>
          <p:cNvPr id="34" name="c1-callout-2"/>
          <p:cNvGrpSpPr/>
          <p:nvPr/>
        </p:nvGrpSpPr>
        <p:grpSpPr>
          <a:xfrm>
            <a:off x="533400" y="5126355"/>
            <a:ext cx="5842635" cy="1059180"/>
            <a:chOff x="533400" y="5126355"/>
            <a:chExt cx="5842635" cy="1059180"/>
          </a:xfrm>
        </p:grpSpPr>
        <p:sp>
          <p:nvSpPr>
            <p:cNvPr id="29" name="Rectangle 29"/>
            <p:cNvSpPr/>
            <p:nvPr/>
          </p:nvSpPr>
          <p:spPr>
            <a:xfrm>
              <a:off x="533400" y="5126355"/>
              <a:ext cx="5842635" cy="1059180"/>
            </a:xfrm>
            <a:prstGeom prst="roundRect">
              <a:avLst>
                <a:gd name="adj" fmla="val 10791"/>
              </a:avLst>
            </a:prstGeom>
            <a:solidFill>
              <a:srgbClr val="E3F5F1"/>
            </a:solidFill>
            <a:ln>
              <a:noFill/>
            </a:ln>
          </p:spPr>
        </p:sp>
        <p:grpSp>
          <p:nvGrpSpPr>
            <p:cNvPr id="32" name="Group 32"/>
            <p:cNvGrpSpPr/>
            <p:nvPr/>
          </p:nvGrpSpPr>
          <p:grpSpPr>
            <a:xfrm>
              <a:off x="738188" y="5556885"/>
              <a:ext cx="200026" cy="200026"/>
              <a:chOff x="738188" y="5556885"/>
              <a:chExt cx="200026" cy="200026"/>
            </a:xfrm>
          </p:grpSpPr>
          <p:sp>
            <p:nvSpPr>
              <p:cNvPr id="30" name="Freeform 30"/>
              <p:cNvSpPr/>
              <p:nvPr/>
            </p:nvSpPr>
            <p:spPr>
              <a:xfrm>
                <a:off x="738188" y="5556885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  <p:sp>
            <p:nvSpPr>
              <p:cNvPr id="31" name="Freeform 31"/>
              <p:cNvSpPr/>
              <p:nvPr/>
            </p:nvSpPr>
            <p:spPr>
              <a:xfrm>
                <a:off x="804863" y="5634673"/>
                <a:ext cx="6667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66675" h="44450">
                    <a:moveTo>
                      <a:pt x="0" y="22225"/>
                    </a:moveTo>
                    <a:lnTo>
                      <a:pt x="22225" y="44450"/>
                    </a:lnTo>
                    <a:lnTo>
                      <a:pt x="66675" y="0"/>
                    </a:ln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</p:grpSp>
        <p:sp>
          <p:nvSpPr>
            <p:cNvPr id="33" name="TextBox 33"/>
            <p:cNvSpPr txBox="1"/>
            <p:nvPr/>
          </p:nvSpPr>
          <p:spPr>
            <a:xfrm>
              <a:off x="1040130" y="5275898"/>
              <a:ext cx="4692015" cy="8458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对照上例 A = [1 −2; −3 4]：AᵀA 的特征值 λ₁ = 15 + √</a:t>
              </a:r>
              <a:br/>
              <a:r>
                <a:rPr lang="zh-CN" sz="150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221 ≈ 29.866，λ₂ = 15 − √221 ≈ 0.134，所以对任意 x</a:t>
              </a:r>
              <a:br/>
              <a:r>
                <a:rPr lang="zh-CN" sz="150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≠ 0 有 0.366 ≤ ‖Ax‖₂/‖x‖₂ ≤ 5.465。</a:t>
              </a:r>
            </a:p>
          </p:txBody>
        </p:sp>
      </p:grpSp>
      <p:grpSp>
        <p:nvGrpSpPr>
          <p:cNvPr id="42" name="c2-card-1"/>
          <p:cNvGrpSpPr/>
          <p:nvPr/>
        </p:nvGrpSpPr>
        <p:grpSpPr>
          <a:xfrm>
            <a:off x="6680835" y="1524000"/>
            <a:ext cx="4977765" cy="2553652"/>
            <a:chOff x="6680835" y="1524000"/>
            <a:chExt cx="4977765" cy="2553652"/>
          </a:xfrm>
        </p:grpSpPr>
        <p:sp>
          <p:nvSpPr>
            <p:cNvPr id="35" name="Rectangle 35"/>
            <p:cNvSpPr/>
            <p:nvPr/>
          </p:nvSpPr>
          <p:spPr>
            <a:xfrm>
              <a:off x="6680835" y="1524000"/>
              <a:ext cx="4977765" cy="2553652"/>
            </a:xfrm>
            <a:prstGeom prst="roundRect">
              <a:avLst>
                <a:gd name="adj" fmla="val 5222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6690360" y="1657350"/>
              <a:ext cx="47625" cy="2286952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6928485" y="1733550"/>
              <a:ext cx="778192" cy="257175"/>
            </a:xfrm>
            <a:prstGeom prst="roundRect">
              <a:avLst>
                <a:gd name="adj" fmla="val 50000"/>
              </a:avLst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7010794" y="1769269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关键两式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9" name="formula81"/>
                <p:cNvSpPr txBox="1">
                  <a:spLocks noGrp="1"/>
                </p:cNvSpPr>
                <p:nvPr/>
              </p:nvSpPr>
              <p:spPr>
                <a:xfrm>
                  <a:off x="6928485" y="2085975"/>
                  <a:ext cx="4520565" cy="633412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sSup>
                              <m:e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A</m:t>
                                </m:r>
                              </m:e>
                              <m:sup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T</m:t>
                                </m:r>
                              </m:sup>
                            </m:sSup>
                            <m: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Ax</m:t>
                            </m:r>
                            <m:r>
                              <m:rPr>
                                <m:sty m:val="p"/>
                              </m:rP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,</m:t>
                            </m:r>
                            <m: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x</m:t>
                            </m:r>
                          </m:e>
                        </m:d>
                        <m:r>
                          <m:rPr>
                            <m:sty m:val="p"/>
                          </m:rPr>
                          <a:rPr lang="zh-CN" sz="14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nary>
                              <m:naryPr>
                                <m:chr m:val="∑"/>
                                <m:limLoc m:val="undOvr"/>
                                <m:grow m:val="off"/>
                                <m:subHide m:val="off"/>
                                <m:supHide m:val="off"/>
                                <m:ctrlP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naryPr>
                              <m:sub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j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=</m:t>
                                </m:r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n</m:t>
                                </m:r>
                              </m:sup>
                              <m:e>
                                <m:sSub>
                                  <m:e>
                                    <m:r>
                                      <a:rPr lang="zh-CN" sz="14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λ</m:t>
                                    </m:r>
                                  </m:e>
                                  <m:sub>
                                    <m:r>
                                      <a:rPr lang="zh-CN" sz="14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j</m:t>
                                    </m:r>
                                  </m:sub>
                                </m:sSub>
                                <m:sSub>
                                  <m:e>
                                    <m:r>
                                      <a:rPr lang="zh-CN" sz="14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α</m:t>
                                    </m:r>
                                  </m:e>
                                  <m:sub>
                                    <m:r>
                                      <a:rPr lang="zh-CN" sz="14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j</m:t>
                                    </m:r>
                                  </m:sub>
                                </m:sSub>
                                <m:sSub>
                                  <m:e>
                                    <m:r>
                                      <a:rPr lang="zh-CN" sz="14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v</m:t>
                                    </m:r>
                                  </m:e>
                                  <m:sub>
                                    <m:r>
                                      <a:rPr lang="zh-CN" sz="14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j</m:t>
                                    </m:r>
                                  </m:sub>
                                </m:sSub>
                              </m:e>
                            </m:nary>
                            <m:r>
                              <m:rPr>
                                <m:sty m:val="p"/>
                              </m:rP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,</m:t>
                            </m:r>
                            <m: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 xml:space="preserve"> </m:t>
                            </m:r>
                            <m:nary>
                              <m:naryPr>
                                <m:chr m:val="∑"/>
                                <m:limLoc m:val="undOvr"/>
                                <m:grow m:val="off"/>
                                <m:subHide m:val="off"/>
                                <m:supHide m:val="off"/>
                                <m:ctrlP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naryPr>
                              <m:sub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i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=</m:t>
                                </m:r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n</m:t>
                                </m:r>
                              </m:sup>
                              <m:e>
                                <m:sSub>
                                  <m:e>
                                    <m:r>
                                      <a:rPr lang="zh-CN" sz="14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α</m:t>
                                    </m:r>
                                  </m:e>
                                  <m:sub>
                                    <m:r>
                                      <a:rPr lang="zh-CN" sz="14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i</m:t>
                                    </m:r>
                                  </m:sub>
                                </m:sSub>
                                <m:sSub>
                                  <m:e>
                                    <m:r>
                                      <a:rPr lang="zh-CN" sz="14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v</m:t>
                                    </m:r>
                                  </m:e>
                                  <m:sub>
                                    <m:r>
                                      <a:rPr lang="zh-CN" sz="14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i</m:t>
                                    </m:r>
                                  </m:sub>
                                </m:sSub>
                              </m:e>
                            </m:nary>
                          </m:e>
                        </m:d>
                        <m:r>
                          <m:rPr>
                            <m:sty m:val="p"/>
                          </m:rPr>
                          <a:rPr lang="zh-CN" sz="14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nary>
                          <m:naryPr>
                            <m:chr m:val="∑"/>
                            <m:limLoc m:val="undOvr"/>
                            <m:grow m:val="off"/>
                            <m:subHide m:val="off"/>
                            <m:supHide m:val="off"/>
                            <m:ctrlP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naryPr>
                          <m:sub>
                            <m: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i</m:t>
                            </m:r>
                            <m:r>
                              <m:rPr>
                                <m:sty m:val="p"/>
                              </m:rP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=</m:t>
                            </m:r>
                            <m: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</m:sub>
                          <m:sup>
                            <m: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n</m:t>
                            </m:r>
                          </m:sup>
                          <m:e>
                            <m:sSub>
                              <m:e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λ</m:t>
                                </m:r>
                              </m:e>
                              <m:sub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i</m:t>
                                </m:r>
                              </m:sub>
                            </m:sSub>
                            <m:sSup>
                              <m:e>
                                <m:d>
                                  <m:dPr>
                                    <m:begChr m:val="|"/>
                                    <m:sepChr m:val=""/>
                                    <m:endChr m:val="|"/>
                                    <m:grow m:val="on"/>
                                    <m:ctrlPr>
                                      <a:rPr lang="zh-CN" sz="14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dPr>
                                  <m:e>
                                    <m:sSub>
                                      <m:e>
                                        <m:r>
                                          <a:rPr lang="zh-CN" sz="142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α</m:t>
                                        </m:r>
                                      </m:e>
                                      <m:sub>
                                        <m:r>
                                          <a:rPr lang="zh-CN" sz="142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i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  <m:sup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2</m:t>
                                </m:r>
                              </m:sup>
                            </m:sSup>
                          </m:e>
                        </m:nary>
                      </m:oMath>
                    </m:oMathPara>
                  </a14:m>
                </a:p>
              </p:txBody>
            </p:sp>
          </mc:Choice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0" name="formula82"/>
                <p:cNvSpPr txBox="1">
                  <a:spLocks noGrp="1"/>
                </p:cNvSpPr>
                <p:nvPr/>
              </p:nvSpPr>
              <p:spPr>
                <a:xfrm>
                  <a:off x="6928485" y="2814638"/>
                  <a:ext cx="4520565" cy="50292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rad>
                          <m:radPr>
                            <m:degHide m:val="on"/>
                            <m:ctrlP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radPr>
                          <m:deg/>
                          <m:e>
                            <m:sSub>
                              <m:e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λ</m:t>
                                </m:r>
                              </m:e>
                              <m:sub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n</m:t>
                                </m:r>
                              </m:sub>
                            </m:sSub>
                          </m:e>
                        </m:rad>
                        <m: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 </m:t>
                        </m:r>
                        <m:sSub>
                          <m:e>
                            <m:d>
                              <m:dPr>
                                <m:begChr m:val="‖"/>
                                <m:sepChr m:val=""/>
                                <m:endChr m:val="‖"/>
                                <m:grow m:val="on"/>
                                <m:ctrlP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</m:d>
                          </m:e>
                          <m:sub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2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≤</m:t>
                        </m:r>
                        <m:sSub>
                          <m:e>
                            <m:d>
                              <m:dPr>
                                <m:begChr m:val="‖"/>
                                <m:sepChr m:val=""/>
                                <m:endChr m:val="‖"/>
                                <m:grow m:val="on"/>
                                <m:ctrlP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Ax</m:t>
                                </m:r>
                              </m:e>
                            </m:d>
                          </m:e>
                          <m:sub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2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≤</m:t>
                        </m:r>
                        <m:rad>
                          <m:radPr>
                            <m:degHide m:val="on"/>
                            <m:ctrlP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radPr>
                          <m:deg/>
                          <m:e>
                            <m:sSub>
                              <m:e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λ</m:t>
                                </m:r>
                              </m:e>
                              <m:sub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sub>
                            </m:sSub>
                          </m:e>
                        </m:rad>
                        <m: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 </m:t>
                        </m:r>
                        <m:sSub>
                          <m:e>
                            <m:d>
                              <m:dPr>
                                <m:begChr m:val="‖"/>
                                <m:sepChr m:val=""/>
                                <m:endChr m:val="‖"/>
                                <m:grow m:val="on"/>
                                <m:ctrlP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</m:d>
                          </m:e>
                          <m:sub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41" name="TextBox 41"/>
            <p:cNvSpPr txBox="1"/>
            <p:nvPr/>
          </p:nvSpPr>
          <p:spPr>
            <a:xfrm>
              <a:off x="6922008" y="3434239"/>
              <a:ext cx="4198874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上式说明 √λ₁ 是 ‖Ax‖₂/‖x‖₂ 的上界，并且在 x = v₁ 时达</a:t>
              </a:r>
              <a:br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到。</a:t>
              </a:r>
            </a:p>
          </p:txBody>
        </p:sp>
      </p:grpSp>
      <p:grpSp>
        <p:nvGrpSpPr>
          <p:cNvPr id="52" name="c2-card-2"/>
          <p:cNvGrpSpPr/>
          <p:nvPr/>
        </p:nvGrpSpPr>
        <p:grpSpPr>
          <a:xfrm>
            <a:off x="6680835" y="4268152"/>
            <a:ext cx="4977765" cy="1918335"/>
            <a:chOff x="6680835" y="4268152"/>
            <a:chExt cx="4977765" cy="1918335"/>
          </a:xfrm>
        </p:grpSpPr>
        <p:sp>
          <p:nvSpPr>
            <p:cNvPr id="43" name="Rectangle 43"/>
            <p:cNvSpPr/>
            <p:nvPr/>
          </p:nvSpPr>
          <p:spPr>
            <a:xfrm>
              <a:off x="6680835" y="4268152"/>
              <a:ext cx="4977765" cy="1918335"/>
            </a:xfrm>
            <a:prstGeom prst="roundRect">
              <a:avLst>
                <a:gd name="adj" fmla="val 6951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4" name="Rectangle 44"/>
            <p:cNvSpPr/>
            <p:nvPr/>
          </p:nvSpPr>
          <p:spPr>
            <a:xfrm>
              <a:off x="6690360" y="4401502"/>
              <a:ext cx="47625" cy="1651635"/>
            </a:xfrm>
            <a:prstGeom prst="roundRect">
              <a:avLst>
                <a:gd name="adj" fmla="val 50000"/>
              </a:avLst>
            </a:prstGeom>
            <a:solidFill>
              <a:srgbClr val="D97706"/>
            </a:solidFill>
            <a:ln>
              <a:noFill/>
            </a:ln>
          </p:spPr>
        </p:sp>
        <p:sp>
          <p:nvSpPr>
            <p:cNvPr id="45" name="Rectangle 45"/>
            <p:cNvSpPr/>
            <p:nvPr/>
          </p:nvSpPr>
          <p:spPr>
            <a:xfrm>
              <a:off x="6928485" y="4477702"/>
              <a:ext cx="1204912" cy="257175"/>
            </a:xfrm>
            <a:prstGeom prst="roundRect">
              <a:avLst>
                <a:gd name="adj" fmla="val 50000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6997992" y="4513421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92400E"/>
                  </a:solidFill>
                  <a:latin typeface="+mn-lt"/>
                  <a:ea typeface="+mn-ea"/>
                  <a:cs typeface="+mn-cs"/>
                </a:rPr>
                <a:t>副产品（补充）</a:t>
              </a:r>
            </a:p>
          </p:txBody>
        </p:sp>
        <p:sp>
          <p:nvSpPr>
            <p:cNvPr id="47" name="Ellipse 47"/>
            <p:cNvSpPr/>
            <p:nvPr/>
          </p:nvSpPr>
          <p:spPr>
            <a:xfrm>
              <a:off x="6934200" y="4917758"/>
              <a:ext cx="64770" cy="6477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7092315" y="4854892"/>
              <a:ext cx="267366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√λₙ 是 ‖Ax‖₂/‖x‖₂ 的最小值</a:t>
              </a:r>
            </a:p>
          </p:txBody>
        </p:sp>
        <p:sp>
          <p:nvSpPr>
            <p:cNvPr id="49" name="Ellipse 49"/>
            <p:cNvSpPr/>
            <p:nvPr/>
          </p:nvSpPr>
          <p:spPr>
            <a:xfrm>
              <a:off x="6934200" y="5253038"/>
              <a:ext cx="64770" cy="6477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7092315" y="5190172"/>
              <a:ext cx="338956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 可逆时 λₙ &gt; 0，且 ‖A⁻¹‖₂ = 1/√λₙ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6922008" y="5521166"/>
              <a:ext cx="391941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2.6 节的条件数 Cond₂(A) = √(λ₁/λₙ) 由此而来。</a:t>
              </a:r>
            </a:p>
          </p:txBody>
        </p:sp>
      </p:grpSp>
      <p:grpSp>
        <p:nvGrpSpPr>
          <p:cNvPr id="55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3" name="TextBox 53"/>
            <p:cNvSpPr txBox="1"/>
            <p:nvPr/>
          </p:nvSpPr>
          <p:spPr>
            <a:xfrm>
              <a:off x="528447" y="6581299"/>
              <a:ext cx="278038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第2章 解线性方程组的数值法（下）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921371" cy="909257"/>
            <a:chOff x="520446" y="342900"/>
            <a:chExt cx="7921371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983230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79404" y="407194"/>
              <a:ext cx="28912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第2章 线性方程组（下） · 向量和矩阵范数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921371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谱半径：特征值的最大模，任何相容范数都不小于它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5" name="c1-card-1"/>
          <p:cNvGrpSpPr/>
          <p:nvPr/>
        </p:nvGrpSpPr>
        <p:grpSpPr>
          <a:xfrm>
            <a:off x="533400" y="1524000"/>
            <a:ext cx="5410200" cy="1925002"/>
            <a:chOff x="533400" y="1524000"/>
            <a:chExt cx="5410200" cy="1925002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10200" cy="1925002"/>
            </a:xfrm>
            <a:prstGeom prst="roundRect">
              <a:avLst>
                <a:gd name="adj" fmla="val 6927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658302"/>
            </a:xfrm>
            <a:prstGeom prst="roundRect">
              <a:avLst>
                <a:gd name="adj" fmla="val 50000"/>
              </a:avLst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9620" y="1722120"/>
              <a:ext cx="476250" cy="24765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61060" y="1756410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定义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352931" y="1756886"/>
              <a:ext cx="110395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谱半径 ρ(A)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62381" y="2100739"/>
              <a:ext cx="411108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矩阵 A 的特征值按模最大的值称为 A 的谱半径：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3" name="formula95"/>
                <p:cNvSpPr txBox="1">
                  <a:spLocks noGrp="1"/>
                </p:cNvSpPr>
                <p:nvPr/>
              </p:nvSpPr>
              <p:spPr>
                <a:xfrm>
                  <a:off x="769620" y="2394585"/>
                  <a:ext cx="4975860" cy="52006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r>
                          <a:rPr lang="zh-CN" sz="15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ρ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A</m:t>
                            </m:r>
                          </m:e>
                        </m:d>
                        <m:r>
                          <m:rPr>
                            <m:sty m:val="p"/>
                          </m:rPr>
                          <a:rPr lang="zh-CN" sz="15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func>
                          <m:funcPr/>
                          <m:fName>
                            <m:limLow>
                              <m:limLowPr/>
                              <m:e>
                                <m:r>
                                  <m:rPr>
                                    <m:sty m:val="p"/>
                                  </m:rP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max</m:t>
                                </m:r>
                              </m:e>
                              <m:lim>
                                <m: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≤</m:t>
                                </m:r>
                                <m: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i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≤</m:t>
                                </m:r>
                                <m: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n</m:t>
                                </m:r>
                              </m:lim>
                            </m:limLow>
                          </m:fName>
                          <m:e>
                            <m:d>
                              <m:dPr>
                                <m:begChr m:val="|"/>
                                <m:sepChr m:val=""/>
                                <m:endChr m:val="|"/>
                                <m:grow m:val="on"/>
                                <m:ctrlP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sSub>
                                  <m:e>
                                    <m:r>
                                      <a:rPr lang="zh-CN" sz="15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λ</m:t>
                                    </m:r>
                                  </m:e>
                                  <m:sub>
                                    <m:r>
                                      <a:rPr lang="zh-CN" sz="15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i</m:t>
                                    </m:r>
                                  </m:sub>
                                </m:sSub>
                              </m:e>
                            </m:d>
                          </m:e>
                        </m:func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14" name="TextBox 14"/>
            <p:cNvSpPr txBox="1"/>
            <p:nvPr/>
          </p:nvSpPr>
          <p:spPr>
            <a:xfrm>
              <a:off x="762381" y="3028474"/>
              <a:ext cx="3439135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其中 λᵢ 是 A 的特征值，复特征值取模。</a:t>
              </a:r>
            </a:p>
          </p:txBody>
        </p:sp>
      </p:grpSp>
      <p:grpSp>
        <p:nvGrpSpPr>
          <p:cNvPr id="24" name="c1-card-2"/>
          <p:cNvGrpSpPr/>
          <p:nvPr/>
        </p:nvGrpSpPr>
        <p:grpSpPr>
          <a:xfrm>
            <a:off x="533400" y="3629025"/>
            <a:ext cx="5410200" cy="2018348"/>
            <a:chOff x="533400" y="3629025"/>
            <a:chExt cx="5410200" cy="2018348"/>
          </a:xfrm>
        </p:grpSpPr>
        <p:sp>
          <p:nvSpPr>
            <p:cNvPr id="16" name="Rectangle 16"/>
            <p:cNvSpPr/>
            <p:nvPr/>
          </p:nvSpPr>
          <p:spPr>
            <a:xfrm>
              <a:off x="533400" y="3629025"/>
              <a:ext cx="5410200" cy="2018348"/>
            </a:xfrm>
            <a:prstGeom prst="roundRect">
              <a:avLst>
                <a:gd name="adj" fmla="val 6607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7" name="Rectangle 17"/>
            <p:cNvSpPr/>
            <p:nvPr/>
          </p:nvSpPr>
          <p:spPr>
            <a:xfrm>
              <a:off x="542925" y="3762375"/>
              <a:ext cx="47625" cy="1751648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8" name="Rectangle 18"/>
            <p:cNvSpPr/>
            <p:nvPr/>
          </p:nvSpPr>
          <p:spPr>
            <a:xfrm>
              <a:off x="769620" y="3827145"/>
              <a:ext cx="476250" cy="247650"/>
            </a:xfrm>
            <a:prstGeom prst="roundRect">
              <a:avLst>
                <a:gd name="adj" fmla="val 50000"/>
              </a:avLst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861060" y="3861435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定理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352931" y="3861911"/>
              <a:ext cx="154376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谱半径不超过范数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1" name="formula96"/>
                <p:cNvSpPr txBox="1">
                  <a:spLocks noGrp="1"/>
                </p:cNvSpPr>
                <p:nvPr/>
              </p:nvSpPr>
              <p:spPr>
                <a:xfrm>
                  <a:off x="769620" y="4182428"/>
                  <a:ext cx="4975860" cy="3810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r>
                          <a:rPr lang="zh-CN" sz="15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ρ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A</m:t>
                            </m:r>
                          </m:e>
                        </m:d>
                        <m:r>
                          <m:rPr>
                            <m:sty m:val="p"/>
                          </m:rPr>
                          <a:rPr lang="zh-CN" sz="15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≤</m:t>
                        </m:r>
                        <m:sSub>
                          <m:e>
                            <m:d>
                              <m:dPr>
                                <m:begChr m:val="‖"/>
                                <m:sepChr m:val=""/>
                                <m:endChr m:val="‖"/>
                                <m:grow m:val="on"/>
                                <m:ctrlP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A</m:t>
                                </m:r>
                              </m:e>
                            </m:d>
                          </m:e>
                          <m:sub>
                            <m: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p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zh-CN" sz="15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,</m:t>
                        </m:r>
                        <m:r>
                          <a:rPr lang="zh-CN" sz="15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  </m:t>
                        </m:r>
                        <m:r>
                          <m:rPr>
                            <m:sty m:val="p"/>
                          </m:rPr>
                          <a:rPr lang="zh-CN" sz="15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∀</m:t>
                        </m:r>
                        <m:r>
                          <a:rPr lang="zh-CN" sz="15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A</m:t>
                        </m:r>
                        <m:r>
                          <m:rPr>
                            <m:sty m:val="p"/>
                          </m:rPr>
                          <a:rPr lang="zh-CN" sz="15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∈</m:t>
                        </m:r>
                        <m:sSup>
                          <m:e>
                            <m: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R</m:t>
                            </m:r>
                          </m:e>
                          <m:sup>
                            <m: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n</m:t>
                            </m:r>
                            <m:r>
                              <m:rPr>
                                <m:sty m:val="p"/>
                              </m:rP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×</m:t>
                            </m:r>
                            <m: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n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a:rPr lang="zh-CN" sz="15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,</m:t>
                        </m:r>
                        <m:r>
                          <a:rPr lang="zh-CN" sz="15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 </m:t>
                        </m:r>
                        <m:r>
                          <a:rPr lang="zh-CN" sz="15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p</m:t>
                        </m:r>
                        <m:r>
                          <m:rPr>
                            <m:sty m:val="p"/>
                          </m:rPr>
                          <a:rPr lang="zh-CN" sz="15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r>
                          <a:rPr lang="zh-CN" sz="15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1</m:t>
                        </m:r>
                        <m:r>
                          <m:rPr>
                            <m:sty m:val="p"/>
                          </m:rPr>
                          <a:rPr lang="zh-CN" sz="15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,</m:t>
                        </m:r>
                        <m:r>
                          <a:rPr lang="zh-CN" sz="15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2</m:t>
                        </m:r>
                        <m:r>
                          <m:rPr>
                            <m:sty m:val="p"/>
                          </m:rPr>
                          <a:rPr lang="zh-CN" sz="15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,∞</m:t>
                        </m:r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22" name="TextBox 22"/>
            <p:cNvSpPr txBox="1"/>
            <p:nvPr/>
          </p:nvSpPr>
          <p:spPr>
            <a:xfrm>
              <a:off x="762381" y="4676299"/>
              <a:ext cx="4577080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证明：设 Ax = λx，x ≠ 0。由 (2.5.14)，|λ|·‖x‖ = ‖Ax‖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≤ ‖A‖·‖x‖，约去 ‖x‖ 得 |λ| ≤ ‖A‖。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63524" y="5261610"/>
              <a:ext cx="388924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证明只用到相容性，所以对任何相容矩阵范数都成立。</a:t>
              </a:r>
            </a:p>
          </p:txBody>
        </p:sp>
      </p:grpSp>
      <p:grpSp>
        <p:nvGrpSpPr>
          <p:cNvPr id="33" name="c2-card-1"/>
          <p:cNvGrpSpPr/>
          <p:nvPr/>
        </p:nvGrpSpPr>
        <p:grpSpPr>
          <a:xfrm>
            <a:off x="6248400" y="1524000"/>
            <a:ext cx="5410200" cy="2436495"/>
            <a:chOff x="6248400" y="1524000"/>
            <a:chExt cx="5410200" cy="2436495"/>
          </a:xfrm>
        </p:grpSpPr>
        <p:sp>
          <p:nvSpPr>
            <p:cNvPr id="25" name="Rectangle 25"/>
            <p:cNvSpPr/>
            <p:nvPr/>
          </p:nvSpPr>
          <p:spPr>
            <a:xfrm>
              <a:off x="6248400" y="1524000"/>
              <a:ext cx="5410200" cy="2436495"/>
            </a:xfrm>
            <a:prstGeom prst="roundRect">
              <a:avLst>
                <a:gd name="adj" fmla="val 547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6" name="Rectangle 26"/>
            <p:cNvSpPr/>
            <p:nvPr/>
          </p:nvSpPr>
          <p:spPr>
            <a:xfrm>
              <a:off x="6257925" y="1657350"/>
              <a:ext cx="47625" cy="216979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27" name="Rectangle 27"/>
            <p:cNvSpPr/>
            <p:nvPr/>
          </p:nvSpPr>
          <p:spPr>
            <a:xfrm>
              <a:off x="6484620" y="1722120"/>
              <a:ext cx="1205865" cy="247650"/>
            </a:xfrm>
            <a:prstGeom prst="roundRect">
              <a:avLst>
                <a:gd name="adj" fmla="val 50000"/>
              </a:avLst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554273" y="1756410"/>
              <a:ext cx="106656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谱半径与 2-范数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477381" y="2082641"/>
              <a:ext cx="301569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由谱半径的定义，(2.5.18) 可写成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0" name="formula97"/>
                <p:cNvSpPr txBox="1">
                  <a:spLocks noGrp="1"/>
                </p:cNvSpPr>
                <p:nvPr/>
              </p:nvSpPr>
              <p:spPr>
                <a:xfrm>
                  <a:off x="6484620" y="2377440"/>
                  <a:ext cx="4975860" cy="48006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sSub>
                          <m:e>
                            <m:d>
                              <m:dPr>
                                <m:begChr m:val="‖"/>
                                <m:sepChr m:val=""/>
                                <m:endChr m:val="‖"/>
                                <m:grow m:val="on"/>
                                <m:ctrlP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A</m:t>
                                </m:r>
                              </m:e>
                            </m:d>
                          </m:e>
                          <m:sub>
                            <m: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2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zh-CN" sz="15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rad>
                          <m:radPr>
                            <m:degHide m:val="on"/>
                            <m:ctrlP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radPr>
                          <m:deg/>
                          <m:e>
                            <m: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ρ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sSup>
                                  <m:e>
                                    <m:r>
                                      <a:rPr lang="zh-CN" sz="15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A</m:t>
                                    </m:r>
                                  </m:e>
                                  <m:sup>
                                    <m:r>
                                      <a:rPr lang="zh-CN" sz="15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T</m:t>
                                    </m:r>
                                  </m:sup>
                                </m:sSup>
                                <m: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A</m:t>
                                </m:r>
                              </m:e>
                            </m:d>
                          </m:e>
                        </m:rad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31" name="TextBox 31"/>
            <p:cNvSpPr txBox="1"/>
            <p:nvPr/>
          </p:nvSpPr>
          <p:spPr>
            <a:xfrm>
              <a:off x="6477381" y="2970371"/>
              <a:ext cx="484813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当 A 是实对称矩阵时，AᵀA = A²，其特征值是 λᵢ²，所以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2" name="formula98"/>
                <p:cNvSpPr txBox="1">
                  <a:spLocks noGrp="1"/>
                </p:cNvSpPr>
                <p:nvPr/>
              </p:nvSpPr>
              <p:spPr>
                <a:xfrm>
                  <a:off x="6484620" y="3264218"/>
                  <a:ext cx="4975860" cy="48006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sSub>
                          <m:e>
                            <m:d>
                              <m:dPr>
                                <m:begChr m:val="‖"/>
                                <m:sepChr m:val=""/>
                                <m:endChr m:val="‖"/>
                                <m:grow m:val="on"/>
                                <m:ctrlP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A</m:t>
                                </m:r>
                              </m:e>
                            </m:d>
                          </m:e>
                          <m:sub>
                            <m: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2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zh-CN" sz="15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rad>
                          <m:radPr>
                            <m:degHide m:val="on"/>
                            <m:ctrlP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radPr>
                          <m:deg/>
                          <m:e>
                            <m: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ρ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sSup>
                                  <m:e>
                                    <m:r>
                                      <a:rPr lang="zh-CN" sz="15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A</m:t>
                                    </m:r>
                                  </m:e>
                                  <m:sup>
                                    <m:r>
                                      <a:rPr lang="zh-CN" sz="15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2</m:t>
                                    </m:r>
                                  </m:sup>
                                </m:sSup>
                              </m:e>
                            </m:d>
                          </m:e>
                        </m:rad>
                        <m:r>
                          <m:rPr>
                            <m:sty m:val="p"/>
                          </m:rPr>
                          <a:rPr lang="zh-CN" sz="15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r>
                          <a:rPr lang="zh-CN" sz="15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ρ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A</m:t>
                            </m:r>
                          </m:e>
                        </m:d>
                      </m:oMath>
                    </m:oMathPara>
                  </a14:m>
                </a:p>
              </p:txBody>
            </p:sp>
          </mc:Choice>
        </mc:AlternateContent>
      </p:grpSp>
      <p:grpSp>
        <p:nvGrpSpPr>
          <p:cNvPr id="45" name="c2-table-2"/>
          <p:cNvGrpSpPr/>
          <p:nvPr/>
        </p:nvGrpSpPr>
        <p:grpSpPr>
          <a:xfrm>
            <a:off x="6248400" y="4140518"/>
            <a:ext cx="5410200" cy="1273492"/>
            <a:chOff x="6248400" y="4140518"/>
            <a:chExt cx="5410200" cy="1273492"/>
          </a:xfrm>
        </p:grpSpPr>
        <p:sp>
          <p:nvSpPr>
            <p:cNvPr id="34" name="Rectangle 34"/>
            <p:cNvSpPr/>
            <p:nvPr/>
          </p:nvSpPr>
          <p:spPr>
            <a:xfrm>
              <a:off x="6248400" y="4140518"/>
              <a:ext cx="5410200" cy="424815"/>
            </a:xfrm>
            <a:prstGeom prst="rect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7027255" y="4269105"/>
              <a:ext cx="168840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例：A = [1 −2; −3 4]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10408920" y="4269105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数值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350889" y="4693920"/>
              <a:ext cx="148910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特征值 (5 ± √33)/2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10001021" y="4693920"/>
              <a:ext cx="115107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5.372、−0.372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6248400" y="4984432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6248400" y="4989195"/>
              <a:ext cx="5410200" cy="42481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6350889" y="5117782"/>
              <a:ext cx="218414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l-GR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ρ(A) ≤ ‖A‖₂ ≤ ‖A‖₁ ≤ ‖A‖∞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9758705" y="5117782"/>
              <a:ext cx="163570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5.372 ≤ 5.465 ≤ 6 ≤ 7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6248400" y="4140518"/>
              <a:ext cx="5410200" cy="1273492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44" name="Rectangle 44"/>
            <p:cNvSpPr/>
            <p:nvPr/>
          </p:nvSpPr>
          <p:spPr>
            <a:xfrm>
              <a:off x="9489758" y="4140518"/>
              <a:ext cx="9525" cy="127349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52" name="takeaway"/>
          <p:cNvGrpSpPr/>
          <p:nvPr/>
        </p:nvGrpSpPr>
        <p:grpSpPr>
          <a:xfrm>
            <a:off x="533400" y="5858828"/>
            <a:ext cx="11125200" cy="503872"/>
            <a:chOff x="533400" y="5858828"/>
            <a:chExt cx="11125200" cy="503872"/>
          </a:xfrm>
        </p:grpSpPr>
        <p:sp>
          <p:nvSpPr>
            <p:cNvPr id="46" name="Rectangle 46"/>
            <p:cNvSpPr/>
            <p:nvPr/>
          </p:nvSpPr>
          <p:spPr>
            <a:xfrm>
              <a:off x="533400" y="5858828"/>
              <a:ext cx="11125200" cy="503872"/>
            </a:xfrm>
            <a:prstGeom prst="roundRect">
              <a:avLst>
                <a:gd name="adj" fmla="val 22684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50" name="Group 50"/>
            <p:cNvGrpSpPr/>
            <p:nvPr/>
          </p:nvGrpSpPr>
          <p:grpSpPr>
            <a:xfrm>
              <a:off x="726129" y="6007536"/>
              <a:ext cx="224134" cy="192560"/>
              <a:chOff x="726129" y="6007536"/>
              <a:chExt cx="224134" cy="192560"/>
            </a:xfrm>
          </p:grpSpPr>
          <p:sp>
            <p:nvSpPr>
              <p:cNvPr id="47" name="Freeform 47"/>
              <p:cNvSpPr/>
              <p:nvPr/>
            </p:nvSpPr>
            <p:spPr>
              <a:xfrm>
                <a:off x="838200" y="6077903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48" name="Freeform 48"/>
              <p:cNvSpPr/>
              <p:nvPr/>
            </p:nvSpPr>
            <p:spPr>
              <a:xfrm>
                <a:off x="726129" y="6007536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49" name="Freeform 49"/>
              <p:cNvSpPr/>
              <p:nvPr/>
            </p:nvSpPr>
            <p:spPr>
              <a:xfrm>
                <a:off x="838200" y="6155691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51" name="TextBox 51"/>
            <p:cNvSpPr txBox="1"/>
            <p:nvPr/>
          </p:nvSpPr>
          <p:spPr>
            <a:xfrm>
              <a:off x="1040511" y="6011704"/>
              <a:ext cx="1023110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易错：谱半径不是范数。例如 A = [0 1; 0 0] ≠ O，但它的特征值都是 0，ρ(A) = 0，不满足非负性中的“= 0 ⇔ A = O”。</a:t>
              </a:r>
            </a:p>
          </p:txBody>
        </p:sp>
      </p:grpSp>
      <p:grpSp>
        <p:nvGrpSpPr>
          <p:cNvPr id="55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3" name="TextBox 53"/>
            <p:cNvSpPr txBox="1"/>
            <p:nvPr/>
          </p:nvSpPr>
          <p:spPr>
            <a:xfrm>
              <a:off x="528447" y="6581299"/>
              <a:ext cx="278038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第2章 解线性方程组的数值法（下）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594396" cy="909257"/>
            <a:chOff x="520446" y="342900"/>
            <a:chExt cx="7594396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983230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79404" y="407194"/>
              <a:ext cx="28912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第2章 线性方程组（下） · 向量和矩阵范数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594396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2.5 节对照：向量范数、诱导的矩阵范数与谱半径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32" name="c1-table-1"/>
          <p:cNvGrpSpPr/>
          <p:nvPr/>
        </p:nvGrpSpPr>
        <p:grpSpPr>
          <a:xfrm>
            <a:off x="527685" y="1524000"/>
            <a:ext cx="5848350" cy="2091214"/>
            <a:chOff x="527685" y="1524000"/>
            <a:chExt cx="5848350" cy="2091214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842635" cy="448628"/>
            </a:xfrm>
            <a:prstGeom prst="rect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710530" y="1659731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p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182954" y="1659731"/>
              <a:ext cx="115453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向量范数 ‖x‖ₚ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2926652" y="1659731"/>
              <a:ext cx="152476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诱导矩阵范数 ‖A‖ₚ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5438102" y="165973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计算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10530" y="2108359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108900" y="2108359"/>
              <a:ext cx="41163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l-GR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Σ|xᵢ|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2628138" y="2108359"/>
              <a:ext cx="180878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列和范数 maxⱼ Σᵢ|aᵢⱼ|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4964620" y="2108359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只需加法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533400" y="2416492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533400" y="2421255"/>
              <a:ext cx="5842635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710530" y="2556986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1108900" y="2556986"/>
              <a:ext cx="80145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l-GR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√(Σ|xᵢ|²)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2628138" y="2556986"/>
              <a:ext cx="158328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谱范数 √λmax(AᵀA)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4964620" y="2556986"/>
              <a:ext cx="8745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要求特征值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533400" y="2866072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710530" y="3005614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∞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108900" y="3005614"/>
              <a:ext cx="77113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maxᵢ |xᵢ|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2628138" y="3005614"/>
              <a:ext cx="180878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行和范数 maxᵢ Σⱼ|aᵢⱼ|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4964620" y="3005614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只需加法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533400" y="1524000"/>
              <a:ext cx="5842635" cy="1795462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996315" y="1524000"/>
              <a:ext cx="9525" cy="179546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9" name="Rectangle 29"/>
            <p:cNvSpPr/>
            <p:nvPr/>
          </p:nvSpPr>
          <p:spPr>
            <a:xfrm>
              <a:off x="2515552" y="1524000"/>
              <a:ext cx="9525" cy="179546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0" name="Rectangle 30"/>
            <p:cNvSpPr/>
            <p:nvPr/>
          </p:nvSpPr>
          <p:spPr>
            <a:xfrm>
              <a:off x="4852035" y="1524000"/>
              <a:ext cx="9525" cy="179546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527685" y="3395186"/>
              <a:ext cx="41807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三种算子范数和 F-范数都是相容范数；算子范数满足 ‖I‖ₚ = 1</a:t>
              </a:r>
            </a:p>
          </p:txBody>
        </p:sp>
      </p:grpSp>
      <p:grpSp>
        <p:nvGrpSpPr>
          <p:cNvPr id="43" name="c1-card-2"/>
          <p:cNvGrpSpPr/>
          <p:nvPr/>
        </p:nvGrpSpPr>
        <p:grpSpPr>
          <a:xfrm>
            <a:off x="533400" y="3761422"/>
            <a:ext cx="5842635" cy="1986915"/>
            <a:chOff x="533400" y="3761422"/>
            <a:chExt cx="5842635" cy="1986915"/>
          </a:xfrm>
        </p:grpSpPr>
        <p:sp>
          <p:nvSpPr>
            <p:cNvPr id="33" name="Rectangle 33"/>
            <p:cNvSpPr/>
            <p:nvPr/>
          </p:nvSpPr>
          <p:spPr>
            <a:xfrm>
              <a:off x="533400" y="3761422"/>
              <a:ext cx="5842635" cy="1986915"/>
            </a:xfrm>
            <a:prstGeom prst="roundRect">
              <a:avLst>
                <a:gd name="adj" fmla="val 6711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4" name="Rectangle 34"/>
            <p:cNvSpPr/>
            <p:nvPr/>
          </p:nvSpPr>
          <p:spPr>
            <a:xfrm>
              <a:off x="542925" y="3894772"/>
              <a:ext cx="47625" cy="1720215"/>
            </a:xfrm>
            <a:prstGeom prst="roundRect">
              <a:avLst>
                <a:gd name="adj" fmla="val 50000"/>
              </a:avLst>
            </a:prstGeom>
            <a:solidFill>
              <a:srgbClr val="D97706"/>
            </a:solidFill>
            <a:ln>
              <a:noFill/>
            </a:ln>
          </p:spPr>
        </p:sp>
        <p:sp>
          <p:nvSpPr>
            <p:cNvPr id="35" name="Rectangle 35"/>
            <p:cNvSpPr/>
            <p:nvPr/>
          </p:nvSpPr>
          <p:spPr>
            <a:xfrm>
              <a:off x="781050" y="3970972"/>
              <a:ext cx="1347788" cy="257175"/>
            </a:xfrm>
            <a:prstGeom prst="roundRect">
              <a:avLst>
                <a:gd name="adj" fmla="val 50000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45655" y="4006691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92400E"/>
                  </a:solidFill>
                  <a:latin typeface="+mn-lt"/>
                  <a:ea typeface="+mn-ea"/>
                  <a:cs typeface="+mn-cs"/>
                </a:rPr>
                <a:t>常用估计（补充）</a:t>
              </a:r>
            </a:p>
          </p:txBody>
        </p:sp>
        <p:sp>
          <p:nvSpPr>
            <p:cNvPr id="37" name="Ellipse 37"/>
            <p:cNvSpPr/>
            <p:nvPr/>
          </p:nvSpPr>
          <p:spPr>
            <a:xfrm>
              <a:off x="786765" y="4411028"/>
              <a:ext cx="64770" cy="6477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944880" y="4348162"/>
              <a:ext cx="26784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对任何相容范数：ρ(A) ≤ ‖A‖</a:t>
              </a:r>
            </a:p>
          </p:txBody>
        </p:sp>
        <p:sp>
          <p:nvSpPr>
            <p:cNvPr id="39" name="Ellipse 39"/>
            <p:cNvSpPr/>
            <p:nvPr/>
          </p:nvSpPr>
          <p:spPr>
            <a:xfrm>
              <a:off x="786765" y="4746308"/>
              <a:ext cx="64770" cy="6477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944880" y="4683442"/>
              <a:ext cx="238982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实对称矩阵：‖A‖₂ = ρ(A)</a:t>
              </a:r>
            </a:p>
          </p:txBody>
        </p:sp>
        <p:sp>
          <p:nvSpPr>
            <p:cNvPr id="41" name="Ellipse 41"/>
            <p:cNvSpPr/>
            <p:nvPr/>
          </p:nvSpPr>
          <p:spPr>
            <a:xfrm>
              <a:off x="786765" y="5081588"/>
              <a:ext cx="64770" cy="6477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944880" y="5018722"/>
              <a:ext cx="476821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el-GR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‖A‖₂² = ρ(AᵀA) ≤ ‖AᵀA‖∞ ≤ ‖Aᵀ‖∞‖A‖∞ = ‖A‖₁‖A‖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∞，可以不求特征值就估计 2-范数（上例：29.87 ≤ 42）</a:t>
              </a:r>
            </a:p>
          </p:txBody>
        </p:sp>
      </p:grpSp>
      <p:grpSp>
        <p:nvGrpSpPr>
          <p:cNvPr id="73" name="c2-tree-1"/>
          <p:cNvGrpSpPr/>
          <p:nvPr/>
        </p:nvGrpSpPr>
        <p:grpSpPr>
          <a:xfrm>
            <a:off x="6680835" y="1747838"/>
            <a:ext cx="4977765" cy="4391977"/>
            <a:chOff x="6680835" y="1747838"/>
            <a:chExt cx="4977765" cy="4391977"/>
          </a:xfrm>
        </p:grpSpPr>
        <p:sp>
          <p:nvSpPr>
            <p:cNvPr id="44" name="Freeform 44"/>
            <p:cNvSpPr/>
            <p:nvPr/>
          </p:nvSpPr>
          <p:spPr>
            <a:xfrm>
              <a:off x="9722168" y="1926908"/>
              <a:ext cx="419100" cy="806767"/>
            </a:xfrm>
            <a:custGeom>
              <a:avLst/>
              <a:gdLst/>
              <a:ahLst/>
              <a:cxnLst/>
              <a:rect l="l" t="t" r="r" b="b"/>
              <a:pathLst>
                <a:path w="419100" h="806767">
                  <a:moveTo>
                    <a:pt x="0" y="806767"/>
                  </a:moveTo>
                  <a:lnTo>
                    <a:pt x="209550" y="806767"/>
                  </a:lnTo>
                  <a:lnTo>
                    <a:pt x="209550" y="0"/>
                  </a:lnTo>
                  <a:lnTo>
                    <a:pt x="419100" y="0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45" name="Freeform 45"/>
            <p:cNvSpPr/>
            <p:nvPr/>
          </p:nvSpPr>
          <p:spPr>
            <a:xfrm>
              <a:off x="9722168" y="2733675"/>
              <a:ext cx="419100" cy="9525"/>
            </a:xfrm>
            <a:custGeom>
              <a:avLst/>
              <a:gdLst/>
              <a:ahLst/>
              <a:cxnLst/>
              <a:rect l="l" t="t" r="r" b="b"/>
              <a:pathLst>
                <a:path w="419100" h="9525">
                  <a:moveTo>
                    <a:pt x="0" y="0"/>
                  </a:moveTo>
                  <a:lnTo>
                    <a:pt x="209550" y="0"/>
                  </a:lnTo>
                  <a:lnTo>
                    <a:pt x="209550" y="0"/>
                  </a:lnTo>
                  <a:lnTo>
                    <a:pt x="419100" y="0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46" name="Freeform 46"/>
            <p:cNvSpPr/>
            <p:nvPr/>
          </p:nvSpPr>
          <p:spPr>
            <a:xfrm>
              <a:off x="9722168" y="2733675"/>
              <a:ext cx="419100" cy="806767"/>
            </a:xfrm>
            <a:custGeom>
              <a:avLst/>
              <a:gdLst/>
              <a:ahLst/>
              <a:cxnLst/>
              <a:rect l="l" t="t" r="r" b="b"/>
              <a:pathLst>
                <a:path w="419100" h="806767">
                  <a:moveTo>
                    <a:pt x="0" y="0"/>
                  </a:moveTo>
                  <a:lnTo>
                    <a:pt x="209550" y="0"/>
                  </a:lnTo>
                  <a:lnTo>
                    <a:pt x="209550" y="806767"/>
                  </a:lnTo>
                  <a:lnTo>
                    <a:pt x="419100" y="806767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47" name="Freeform 47"/>
            <p:cNvSpPr/>
            <p:nvPr/>
          </p:nvSpPr>
          <p:spPr>
            <a:xfrm>
              <a:off x="9722168" y="4346258"/>
              <a:ext cx="419100" cy="403860"/>
            </a:xfrm>
            <a:custGeom>
              <a:avLst/>
              <a:gdLst/>
              <a:ahLst/>
              <a:cxnLst/>
              <a:rect l="l" t="t" r="r" b="b"/>
              <a:pathLst>
                <a:path w="419100" h="403860">
                  <a:moveTo>
                    <a:pt x="0" y="403860"/>
                  </a:moveTo>
                  <a:lnTo>
                    <a:pt x="209550" y="403860"/>
                  </a:lnTo>
                  <a:lnTo>
                    <a:pt x="209550" y="0"/>
                  </a:lnTo>
                  <a:lnTo>
                    <a:pt x="419100" y="0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48" name="Freeform 48"/>
            <p:cNvSpPr/>
            <p:nvPr/>
          </p:nvSpPr>
          <p:spPr>
            <a:xfrm>
              <a:off x="9722168" y="4750118"/>
              <a:ext cx="419100" cy="402908"/>
            </a:xfrm>
            <a:custGeom>
              <a:avLst/>
              <a:gdLst/>
              <a:ahLst/>
              <a:cxnLst/>
              <a:rect l="l" t="t" r="r" b="b"/>
              <a:pathLst>
                <a:path w="419100" h="402908">
                  <a:moveTo>
                    <a:pt x="0" y="0"/>
                  </a:moveTo>
                  <a:lnTo>
                    <a:pt x="209550" y="0"/>
                  </a:lnTo>
                  <a:lnTo>
                    <a:pt x="209550" y="402908"/>
                  </a:lnTo>
                  <a:lnTo>
                    <a:pt x="419100" y="402908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49" name="Freeform 49"/>
            <p:cNvSpPr/>
            <p:nvPr/>
          </p:nvSpPr>
          <p:spPr>
            <a:xfrm>
              <a:off x="9722168" y="5959792"/>
              <a:ext cx="419100" cy="9525"/>
            </a:xfrm>
            <a:custGeom>
              <a:avLst/>
              <a:gdLst/>
              <a:ahLst/>
              <a:cxnLst/>
              <a:rect l="l" t="t" r="r" b="b"/>
              <a:pathLst>
                <a:path w="419100" h="9525">
                  <a:moveTo>
                    <a:pt x="0" y="0"/>
                  </a:moveTo>
                  <a:lnTo>
                    <a:pt x="209550" y="0"/>
                  </a:lnTo>
                  <a:lnTo>
                    <a:pt x="209550" y="0"/>
                  </a:lnTo>
                  <a:lnTo>
                    <a:pt x="419100" y="0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50" name="Freeform 50"/>
            <p:cNvSpPr/>
            <p:nvPr/>
          </p:nvSpPr>
          <p:spPr>
            <a:xfrm>
              <a:off x="7992428" y="2733675"/>
              <a:ext cx="419100" cy="1612582"/>
            </a:xfrm>
            <a:custGeom>
              <a:avLst/>
              <a:gdLst/>
              <a:ahLst/>
              <a:cxnLst/>
              <a:rect l="l" t="t" r="r" b="b"/>
              <a:pathLst>
                <a:path w="419100" h="1612582">
                  <a:moveTo>
                    <a:pt x="0" y="1612582"/>
                  </a:moveTo>
                  <a:lnTo>
                    <a:pt x="209550" y="1612582"/>
                  </a:lnTo>
                  <a:lnTo>
                    <a:pt x="209550" y="0"/>
                  </a:lnTo>
                  <a:lnTo>
                    <a:pt x="419100" y="0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51" name="Freeform 51"/>
            <p:cNvSpPr/>
            <p:nvPr/>
          </p:nvSpPr>
          <p:spPr>
            <a:xfrm>
              <a:off x="7992428" y="4346258"/>
              <a:ext cx="419100" cy="403860"/>
            </a:xfrm>
            <a:custGeom>
              <a:avLst/>
              <a:gdLst/>
              <a:ahLst/>
              <a:cxnLst/>
              <a:rect l="l" t="t" r="r" b="b"/>
              <a:pathLst>
                <a:path w="419100" h="403860">
                  <a:moveTo>
                    <a:pt x="0" y="0"/>
                  </a:moveTo>
                  <a:lnTo>
                    <a:pt x="209550" y="0"/>
                  </a:lnTo>
                  <a:lnTo>
                    <a:pt x="209550" y="403860"/>
                  </a:lnTo>
                  <a:lnTo>
                    <a:pt x="419100" y="403860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52" name="Freeform 52"/>
            <p:cNvSpPr/>
            <p:nvPr/>
          </p:nvSpPr>
          <p:spPr>
            <a:xfrm>
              <a:off x="7992428" y="4346258"/>
              <a:ext cx="419100" cy="1613535"/>
            </a:xfrm>
            <a:custGeom>
              <a:avLst/>
              <a:gdLst/>
              <a:ahLst/>
              <a:cxnLst/>
              <a:rect l="l" t="t" r="r" b="b"/>
              <a:pathLst>
                <a:path w="419100" h="1613535">
                  <a:moveTo>
                    <a:pt x="0" y="0"/>
                  </a:moveTo>
                  <a:lnTo>
                    <a:pt x="209550" y="0"/>
                  </a:lnTo>
                  <a:lnTo>
                    <a:pt x="209550" y="1613535"/>
                  </a:lnTo>
                  <a:lnTo>
                    <a:pt x="419100" y="1613535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53" name="Rectangle 53"/>
            <p:cNvSpPr/>
            <p:nvPr/>
          </p:nvSpPr>
          <p:spPr>
            <a:xfrm>
              <a:off x="10141268" y="1747838"/>
              <a:ext cx="1517332" cy="360045"/>
            </a:xfrm>
            <a:prstGeom prst="roundRect">
              <a:avLst>
                <a:gd name="adj" fmla="val 26455"/>
              </a:avLst>
            </a:prstGeom>
            <a:solidFill>
              <a:srgbClr val="FFFFFF"/>
            </a:solidFill>
            <a:ln w="13335">
              <a:solidFill>
                <a:srgbClr val="D9DFEA"/>
              </a:solidFill>
            </a:ln>
          </p:spPr>
        </p:sp>
        <p:sp>
          <p:nvSpPr>
            <p:cNvPr id="54" name="Rectangle 54"/>
            <p:cNvSpPr/>
            <p:nvPr/>
          </p:nvSpPr>
          <p:spPr>
            <a:xfrm>
              <a:off x="10141268" y="2553652"/>
              <a:ext cx="1517332" cy="360045"/>
            </a:xfrm>
            <a:prstGeom prst="roundRect">
              <a:avLst>
                <a:gd name="adj" fmla="val 26455"/>
              </a:avLst>
            </a:prstGeom>
            <a:solidFill>
              <a:srgbClr val="FFFFFF"/>
            </a:solidFill>
            <a:ln w="13335">
              <a:solidFill>
                <a:srgbClr val="D9DFEA"/>
              </a:solidFill>
            </a:ln>
          </p:spPr>
        </p:sp>
        <p:sp>
          <p:nvSpPr>
            <p:cNvPr id="55" name="Rectangle 55"/>
            <p:cNvSpPr/>
            <p:nvPr/>
          </p:nvSpPr>
          <p:spPr>
            <a:xfrm>
              <a:off x="10141268" y="3360420"/>
              <a:ext cx="1517332" cy="360045"/>
            </a:xfrm>
            <a:prstGeom prst="roundRect">
              <a:avLst>
                <a:gd name="adj" fmla="val 26455"/>
              </a:avLst>
            </a:prstGeom>
            <a:solidFill>
              <a:srgbClr val="FFFFFF"/>
            </a:solidFill>
            <a:ln w="13335">
              <a:solidFill>
                <a:srgbClr val="D9DFEA"/>
              </a:solidFill>
            </a:ln>
          </p:spPr>
        </p:sp>
        <p:sp>
          <p:nvSpPr>
            <p:cNvPr id="56" name="Rectangle 56"/>
            <p:cNvSpPr/>
            <p:nvPr/>
          </p:nvSpPr>
          <p:spPr>
            <a:xfrm>
              <a:off x="8411528" y="2553652"/>
              <a:ext cx="1311592" cy="360045"/>
            </a:xfrm>
            <a:prstGeom prst="roundRect">
              <a:avLst>
                <a:gd name="adj" fmla="val 26455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57" name="Rectangle 57"/>
            <p:cNvSpPr/>
            <p:nvPr/>
          </p:nvSpPr>
          <p:spPr>
            <a:xfrm>
              <a:off x="10141268" y="4167188"/>
              <a:ext cx="1517332" cy="360045"/>
            </a:xfrm>
            <a:prstGeom prst="roundRect">
              <a:avLst>
                <a:gd name="adj" fmla="val 26455"/>
              </a:avLst>
            </a:prstGeom>
            <a:solidFill>
              <a:srgbClr val="FFFFFF"/>
            </a:solidFill>
            <a:ln w="13335">
              <a:solidFill>
                <a:srgbClr val="D9DFEA"/>
              </a:solidFill>
            </a:ln>
          </p:spPr>
        </p:sp>
        <p:sp>
          <p:nvSpPr>
            <p:cNvPr id="58" name="Rectangle 58"/>
            <p:cNvSpPr/>
            <p:nvPr/>
          </p:nvSpPr>
          <p:spPr>
            <a:xfrm>
              <a:off x="10141268" y="4973002"/>
              <a:ext cx="1517332" cy="360045"/>
            </a:xfrm>
            <a:prstGeom prst="roundRect">
              <a:avLst>
                <a:gd name="adj" fmla="val 26455"/>
              </a:avLst>
            </a:prstGeom>
            <a:solidFill>
              <a:srgbClr val="FFFFFF"/>
            </a:solidFill>
            <a:ln w="13335">
              <a:solidFill>
                <a:srgbClr val="D9DFEA"/>
              </a:solidFill>
            </a:ln>
          </p:spPr>
        </p:sp>
        <p:sp>
          <p:nvSpPr>
            <p:cNvPr id="59" name="Rectangle 59"/>
            <p:cNvSpPr/>
            <p:nvPr/>
          </p:nvSpPr>
          <p:spPr>
            <a:xfrm>
              <a:off x="8411528" y="4570095"/>
              <a:ext cx="1311592" cy="360045"/>
            </a:xfrm>
            <a:prstGeom prst="roundRect">
              <a:avLst>
                <a:gd name="adj" fmla="val 26455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60" name="Rectangle 60"/>
            <p:cNvSpPr/>
            <p:nvPr/>
          </p:nvSpPr>
          <p:spPr>
            <a:xfrm>
              <a:off x="10141268" y="5779770"/>
              <a:ext cx="1517332" cy="360045"/>
            </a:xfrm>
            <a:prstGeom prst="roundRect">
              <a:avLst>
                <a:gd name="adj" fmla="val 26455"/>
              </a:avLst>
            </a:prstGeom>
            <a:solidFill>
              <a:srgbClr val="FFFFFF"/>
            </a:solidFill>
            <a:ln w="13335">
              <a:solidFill>
                <a:srgbClr val="D9DFEA"/>
              </a:solidFill>
            </a:ln>
          </p:spPr>
        </p:sp>
        <p:sp>
          <p:nvSpPr>
            <p:cNvPr id="61" name="Rectangle 61"/>
            <p:cNvSpPr/>
            <p:nvPr/>
          </p:nvSpPr>
          <p:spPr>
            <a:xfrm>
              <a:off x="8411528" y="5779770"/>
              <a:ext cx="1311592" cy="360045"/>
            </a:xfrm>
            <a:prstGeom prst="roundRect">
              <a:avLst>
                <a:gd name="adj" fmla="val 26455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62" name="Rectangle 62"/>
            <p:cNvSpPr/>
            <p:nvPr/>
          </p:nvSpPr>
          <p:spPr>
            <a:xfrm>
              <a:off x="6680835" y="4167188"/>
              <a:ext cx="1311592" cy="360045"/>
            </a:xfrm>
            <a:prstGeom prst="roundRect">
              <a:avLst>
                <a:gd name="adj" fmla="val 26455"/>
              </a:avLst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63" name="TextBox 63"/>
            <p:cNvSpPr txBox="1"/>
            <p:nvPr/>
          </p:nvSpPr>
          <p:spPr>
            <a:xfrm>
              <a:off x="10230422" y="1843088"/>
              <a:ext cx="51297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1-范数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10230422" y="2649855"/>
              <a:ext cx="51297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2-范数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10230422" y="3456622"/>
              <a:ext cx="51297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∞-范数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8500682" y="2649855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23613D"/>
                  </a:solidFill>
                  <a:latin typeface="+mn-lt"/>
                  <a:ea typeface="+mn-ea"/>
                  <a:cs typeface="+mn-cs"/>
                </a:rPr>
                <a:t>向量范数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10230422" y="4262438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算子范数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10230422" y="5069205"/>
              <a:ext cx="52303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F-范数</a:t>
              </a: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8500682" y="4666298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23613D"/>
                  </a:solidFill>
                  <a:latin typeface="+mn-lt"/>
                  <a:ea typeface="+mn-ea"/>
                  <a:cs typeface="+mn-cs"/>
                </a:rPr>
                <a:t>矩阵范数</a:t>
              </a:r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10230422" y="5875972"/>
              <a:ext cx="85039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l-GR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ρ(A) ≤ ‖A‖</a:t>
              </a:r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8500682" y="5875972"/>
              <a:ext cx="49682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23613D"/>
                  </a:solidFill>
                  <a:latin typeface="+mn-lt"/>
                  <a:ea typeface="+mn-ea"/>
                  <a:cs typeface="+mn-cs"/>
                </a:rPr>
                <a:t>谱半径</a:t>
              </a:r>
            </a:p>
          </p:txBody>
        </p:sp>
        <p:sp>
          <p:nvSpPr>
            <p:cNvPr id="72" name="TextBox 72"/>
            <p:cNvSpPr txBox="1"/>
            <p:nvPr/>
          </p:nvSpPr>
          <p:spPr>
            <a:xfrm>
              <a:off x="6769989" y="4262438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度量工具</a:t>
              </a:r>
            </a:p>
          </p:txBody>
        </p:sp>
      </p:grpSp>
      <p:grpSp>
        <p:nvGrpSpPr>
          <p:cNvPr id="76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74" name="TextBox 74"/>
            <p:cNvSpPr txBox="1"/>
            <p:nvPr/>
          </p:nvSpPr>
          <p:spPr>
            <a:xfrm>
              <a:off x="528447" y="6581299"/>
              <a:ext cx="278038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第2章 解线性方程组的数值法（下）</a:t>
              </a:r>
            </a:p>
          </p:txBody>
        </p:sp>
        <p:sp>
          <p:nvSpPr>
            <p:cNvPr id="75" name="TextBox 75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2E7D4F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5F2EA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06</a:t>
              </a:r>
            </a:p>
          </p:txBody>
        </p:sp>
      </p:grpSp>
      <p:grpSp>
        <p:nvGrpSpPr>
          <p:cNvPr id="18" name="section-title"/>
          <p:cNvGrpSpPr/>
          <p:nvPr/>
        </p:nvGrpSpPr>
        <p:grpSpPr>
          <a:xfrm>
            <a:off x="667512" y="1835468"/>
            <a:ext cx="5852160" cy="3351847"/>
            <a:chOff x="667512" y="1835468"/>
            <a:chExt cx="5852160" cy="335184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567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2.6 节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5852160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矩阵的条件数与病态方程组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445922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系数或右端项的微小变化，可能让解面目全非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18629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一个 3 阶病态方程组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34480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右端项、系数矩阵有扰动时的误差估计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596765"/>
              <a:ext cx="76200" cy="7620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539615"/>
              <a:ext cx="24384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条件数的定义、性质与计算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723900" y="4951095"/>
              <a:ext cx="76200" cy="7620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06780" y="4893945"/>
              <a:ext cx="10248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矩阵的平衡</a:t>
              </a:r>
            </a:p>
          </p:txBody>
        </p:sp>
      </p:grpSp>
      <p:grpSp>
        <p:nvGrpSpPr>
          <p:cNvPr id="2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9" name="TextBox 19"/>
            <p:cNvSpPr txBox="1"/>
            <p:nvPr/>
          </p:nvSpPr>
          <p:spPr>
            <a:xfrm>
              <a:off x="528447" y="6581299"/>
              <a:ext cx="278038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第2章 解线性方程组的数值法（下）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928058" cy="909257"/>
            <a:chOff x="520446" y="342900"/>
            <a:chExt cx="6928058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3694748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57751" y="407194"/>
              <a:ext cx="36450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第2章 线性方程组（下） · 矩阵的条件数与病态方程组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928058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例：A 的元素都不大，A⁻¹ 的元素却成百上千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formula101"/>
              <p:cNvSpPr txBox="1">
                <a:spLocks noGrp="1"/>
              </p:cNvSpPr>
              <p:nvPr/>
            </p:nvSpPr>
            <p:spPr>
              <a:xfrm>
                <a:off x="533400" y="1524000"/>
                <a:ext cx="4977765" cy="76485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zh-CN" sz="16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A</m:t>
                      </m:r>
                      <m:r>
                        <m:rPr>
                          <m:sty m:val="p"/>
                        </m:rPr>
                        <a:rPr lang="zh-CN" sz="16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d>
                        <m:dPr>
                          <m:begChr m:val="["/>
                          <m:sepChr m:val=""/>
                          <m:endChr m:val="]"/>
                          <m:grow m:val="on"/>
                          <m:ctrlP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count m:val="1"/>
                                  </m:mcPr>
                                </m:mc>
                                <m:mc>
                                  <m:mcPr>
                                    <m:count m:val="1"/>
                                  </m:mcPr>
                                </m:mc>
                                <m:mc>
                                  <m:mcPr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/</m:t>
                                </m:r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2</m:t>
                                </m:r>
                              </m:e>
                              <m:e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/</m:t>
                                </m:r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3</m:t>
                                </m:r>
                              </m:e>
                              <m:e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/</m:t>
                                </m:r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4</m:t>
                                </m:r>
                              </m:e>
                            </m:mr>
                            <m:mr>
                              <m:e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/</m:t>
                                </m:r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3</m:t>
                                </m:r>
                              </m:e>
                              <m:e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/</m:t>
                                </m:r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/</m:t>
                                </m:r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5</m:t>
                                </m:r>
                              </m:e>
                            </m:mr>
                            <m:mr>
                              <m:e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/</m:t>
                                </m:r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/</m:t>
                                </m:r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5</m:t>
                                </m:r>
                              </m:e>
                              <m:e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/</m:t>
                                </m:r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6</m:t>
                                </m:r>
                              </m:e>
                            </m:mr>
                          </m:m>
                        </m:e>
                      </m:d>
                      <m:r>
                        <m:rPr>
                          <m:sty m:val="p"/>
                        </m:rPr>
                        <a:rPr lang="zh-CN" sz="16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,</m:t>
                      </m:r>
                      <m:r>
                        <a:rPr lang="zh-CN" sz="16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 xml:space="preserve"> </m:t>
                      </m:r>
                      <m:r>
                        <a:rPr lang="zh-CN" sz="16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x</m:t>
                      </m:r>
                      <m:r>
                        <m:rPr>
                          <m:sty m:val="p"/>
                        </m:rPr>
                        <a:rPr lang="zh-CN" sz="16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d>
                        <m:dPr>
                          <m:begChr m:val="["/>
                          <m:sepChr m:val=""/>
                          <m:endChr m:val="]"/>
                          <m:grow m:val="on"/>
                          <m:ctrlP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sSub>
                                  <m:e>
                                    <m:r>
                                      <a:rPr lang="zh-CN" sz="16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</m:e>
                                  <m:sub>
                                    <m:r>
                                      <a:rPr lang="zh-CN" sz="16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e>
                                    <m:r>
                                      <a:rPr lang="zh-CN" sz="16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</m:e>
                                  <m:sub>
                                    <m:r>
                                      <a:rPr lang="zh-CN" sz="16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e>
                                    <m:r>
                                      <a:rPr lang="zh-CN" sz="16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</m:e>
                                  <m:sub>
                                    <m:r>
                                      <a:rPr lang="zh-CN" sz="16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3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r>
                        <m:rPr>
                          <m:sty m:val="p"/>
                        </m:rPr>
                        <a:rPr lang="zh-CN" sz="16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,</m:t>
                      </m:r>
                      <m:r>
                        <a:rPr lang="zh-CN" sz="16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 xml:space="preserve"> </m:t>
                      </m:r>
                      <m:r>
                        <a:rPr lang="zh-CN" sz="16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b</m:t>
                      </m:r>
                      <m:r>
                        <m:rPr>
                          <m:sty m:val="p"/>
                        </m:rPr>
                        <a:rPr lang="zh-CN" sz="16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d>
                        <m:dPr>
                          <m:begChr m:val="["/>
                          <m:sepChr m:val=""/>
                          <m:endChr m:val="]"/>
                          <m:grow m:val="on"/>
                          <m:ctrlP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sSub>
                                  <m:e>
                                    <m:r>
                                      <a:rPr lang="zh-CN" sz="16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b</m:t>
                                    </m:r>
                                  </m:e>
                                  <m:sub>
                                    <m:r>
                                      <a:rPr lang="zh-CN" sz="16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e>
                                    <m:r>
                                      <a:rPr lang="zh-CN" sz="16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b</m:t>
                                    </m:r>
                                  </m:e>
                                  <m:sub>
                                    <m:r>
                                      <a:rPr lang="zh-CN" sz="16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e>
                                    <m:r>
                                      <a:rPr lang="zh-CN" sz="16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b</m:t>
                                    </m:r>
                                  </m:e>
                                  <m:sub>
                                    <m:r>
                                      <a:rPr lang="zh-CN" sz="16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3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</p:txBody>
          </p:sp>
        </mc:Choice>
      </mc:AlternateContent>
      <p:grpSp>
        <p:nvGrpSpPr>
          <p:cNvPr id="11" name="c1-code-2"/>
          <p:cNvGrpSpPr/>
          <p:nvPr/>
        </p:nvGrpSpPr>
        <p:grpSpPr>
          <a:xfrm>
            <a:off x="533400" y="2479358"/>
            <a:ext cx="4977765" cy="2327910"/>
            <a:chOff x="533400" y="2479358"/>
            <a:chExt cx="4977765" cy="2327910"/>
          </a:xfrm>
        </p:grpSpPr>
        <p:sp>
          <p:nvSpPr>
            <p:cNvPr id="8" name="Rectangle 8"/>
            <p:cNvSpPr/>
            <p:nvPr/>
          </p:nvSpPr>
          <p:spPr>
            <a:xfrm>
              <a:off x="533400" y="2479358"/>
              <a:ext cx="4977765" cy="2327910"/>
            </a:xfrm>
            <a:prstGeom prst="roundRect">
              <a:avLst>
                <a:gd name="adj" fmla="val 4092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61797" y="2631281"/>
              <a:ext cx="160647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MATLAB 做列主元 LU 分解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661035" y="2894171"/>
              <a:ext cx="2358390" cy="1843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98"/>
                </a:lnSpc>
              </a:pP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&gt;&gt; [L,U] = lu(A)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L =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1.00000   0.00000   0.00000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0.66667   0.83333   1.00000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0.50000   1.00000   0.00000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U =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0.50000   0.33333   0.25000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0.00000   0.03333   0.04167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0.00000   0.00000  -0.00139</a:t>
              </a:r>
            </a:p>
          </p:txBody>
        </p:sp>
      </p:grpSp>
      <p:grpSp>
        <p:nvGrpSpPr>
          <p:cNvPr id="18" name="c1-callout-3"/>
          <p:cNvGrpSpPr/>
          <p:nvPr/>
        </p:nvGrpSpPr>
        <p:grpSpPr>
          <a:xfrm>
            <a:off x="533400" y="4997768"/>
            <a:ext cx="4977765" cy="1136332"/>
            <a:chOff x="533400" y="4997768"/>
            <a:chExt cx="4977765" cy="1136332"/>
          </a:xfrm>
        </p:grpSpPr>
        <p:sp>
          <p:nvSpPr>
            <p:cNvPr id="12" name="Rectangle 12"/>
            <p:cNvSpPr/>
            <p:nvPr/>
          </p:nvSpPr>
          <p:spPr>
            <a:xfrm>
              <a:off x="533400" y="4997768"/>
              <a:ext cx="4977765" cy="1136332"/>
            </a:xfrm>
            <a:prstGeom prst="roundRect">
              <a:avLst>
                <a:gd name="adj" fmla="val 10059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16" name="Group 16"/>
            <p:cNvGrpSpPr/>
            <p:nvPr/>
          </p:nvGrpSpPr>
          <p:grpSpPr>
            <a:xfrm>
              <a:off x="738188" y="5465445"/>
              <a:ext cx="200026" cy="200026"/>
              <a:chOff x="738188" y="5465445"/>
              <a:chExt cx="200026" cy="200026"/>
            </a:xfrm>
          </p:grpSpPr>
          <p:sp>
            <p:nvSpPr>
              <p:cNvPr id="13" name="Freeform 13"/>
              <p:cNvSpPr/>
              <p:nvPr/>
            </p:nvSpPr>
            <p:spPr>
              <a:xfrm>
                <a:off x="738188" y="5465445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14" name="Freeform 14"/>
              <p:cNvSpPr/>
              <p:nvPr/>
            </p:nvSpPr>
            <p:spPr>
              <a:xfrm>
                <a:off x="838200" y="553212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15" name="Freeform 15"/>
              <p:cNvSpPr/>
              <p:nvPr/>
            </p:nvSpPr>
            <p:spPr>
              <a:xfrm>
                <a:off x="827088" y="5565458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17" name="TextBox 17"/>
            <p:cNvSpPr txBox="1"/>
            <p:nvPr/>
          </p:nvSpPr>
          <p:spPr>
            <a:xfrm>
              <a:off x="1040130" y="5322570"/>
              <a:ext cx="3796665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 的元素 aᵢⱼ = 1/(i + j)，与 Hilbert 矩阵同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类，是典型的病态矩阵；det A = 1/43200。</a:t>
              </a:r>
            </a:p>
          </p:txBody>
        </p:sp>
      </p:grpSp>
      <p:grpSp>
        <p:nvGrpSpPr>
          <p:cNvPr id="32" name="c2-steps-1"/>
          <p:cNvGrpSpPr/>
          <p:nvPr/>
        </p:nvGrpSpPr>
        <p:grpSpPr>
          <a:xfrm>
            <a:off x="5815965" y="1533525"/>
            <a:ext cx="5627497" cy="2348198"/>
            <a:chOff x="5815965" y="1533525"/>
            <a:chExt cx="5627497" cy="2348198"/>
          </a:xfrm>
        </p:grpSpPr>
        <p:sp>
          <p:nvSpPr>
            <p:cNvPr id="19" name="Rectangle 19"/>
            <p:cNvSpPr/>
            <p:nvPr/>
          </p:nvSpPr>
          <p:spPr>
            <a:xfrm>
              <a:off x="5949315" y="1676400"/>
              <a:ext cx="19050" cy="177069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0" name="Ellipse 20"/>
            <p:cNvSpPr/>
            <p:nvPr/>
          </p:nvSpPr>
          <p:spPr>
            <a:xfrm>
              <a:off x="5815965" y="1533525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5909589" y="160734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22" name="Ellipse 22"/>
            <p:cNvSpPr/>
            <p:nvPr/>
          </p:nvSpPr>
          <p:spPr>
            <a:xfrm>
              <a:off x="5815965" y="2419350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5909589" y="249316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24" name="Ellipse 24"/>
            <p:cNvSpPr/>
            <p:nvPr/>
          </p:nvSpPr>
          <p:spPr>
            <a:xfrm>
              <a:off x="5815965" y="3304222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5909589" y="337804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227445" y="1567815"/>
              <a:ext cx="60952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看懂 L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228588" y="1861661"/>
              <a:ext cx="5214874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lu 做了列主元，返回的 L 是行交换后的单位下三角阵（第 2、3 行对调后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才是下三角），仍有 A = LU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227445" y="2453640"/>
              <a:ext cx="88685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解 Ly = b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228588" y="2746534"/>
              <a:ext cx="4987290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按第 1、3、2 行的顺序回代：y₁ = b₁，y₂ = −½b₁ + b₃，y₃ = −¼b₁ +</a:t>
              </a:r>
              <a:br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b₂ − ⅚b₃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227445" y="3338512"/>
              <a:ext cx="88685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解 Ux = y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228588" y="3632359"/>
              <a:ext cx="414197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得到 x = A⁻¹b 的显式表达式（系数就是 A⁻¹ 的元素）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33" name="formula102"/>
              <p:cNvSpPr txBox="1">
                <a:spLocks noGrp="1"/>
              </p:cNvSpPr>
              <p:nvPr/>
            </p:nvSpPr>
            <p:spPr>
              <a:xfrm>
                <a:off x="5815965" y="4060508"/>
                <a:ext cx="5842635" cy="110013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d>
                        <m:dPr>
                          <m:begChr m:val="{"/>
                          <m:sepChr m:val=""/>
                          <m:endChr m:val=""/>
                          <m:grow m:val="on"/>
                          <m:ctrlP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eqArr>
                            <m:eqArrPr>
                              <m:baseJc m:val="center"/>
                            </m:eqArrPr>
                            <m:e>
                              <m:r>
                                <a:rPr lang="zh-CN" sz="16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&amp;</m:t>
                              </m:r>
                              <m:sSub>
                                <m:e>
                                  <m:r>
                                    <a:rPr lang="zh-CN" sz="16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a:rPr lang="zh-CN" sz="16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a:rPr lang="zh-CN" sz="16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=</m:t>
                              </m:r>
                              <m:r>
                                <a:rPr lang="zh-CN" sz="16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72</m:t>
                              </m:r>
                              <m:sSub>
                                <m:e>
                                  <m:r>
                                    <a:rPr lang="zh-CN" sz="16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b</m:t>
                                  </m:r>
                                </m:e>
                                <m:sub>
                                  <m:r>
                                    <a:rPr lang="zh-CN" sz="16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a:rPr lang="zh-CN" sz="16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−</m:t>
                              </m:r>
                              <m:r>
                                <a:rPr lang="zh-CN" sz="16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240</m:t>
                              </m:r>
                              <m:sSub>
                                <m:e>
                                  <m:r>
                                    <a:rPr lang="zh-CN" sz="16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b</m:t>
                                  </m:r>
                                </m:e>
                                <m:sub>
                                  <m:r>
                                    <a:rPr lang="zh-CN" sz="16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a:rPr lang="zh-CN" sz="16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+</m:t>
                              </m:r>
                              <m:r>
                                <a:rPr lang="zh-CN" sz="16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180</m:t>
                              </m:r>
                              <m:sSub>
                                <m:e>
                                  <m:r>
                                    <a:rPr lang="zh-CN" sz="16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b</m:t>
                                  </m:r>
                                </m:e>
                                <m:sub>
                                  <m:r>
                                    <a:rPr lang="zh-CN" sz="16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3</m:t>
                                  </m:r>
                                </m:sub>
                              </m:sSub>
                            </m:e>
                            <m:e>
                              <m:r>
                                <a:rPr lang="zh-CN" sz="16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&amp;</m:t>
                              </m:r>
                              <m:sSub>
                                <m:e>
                                  <m:r>
                                    <a:rPr lang="zh-CN" sz="16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a:rPr lang="zh-CN" sz="16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a:rPr lang="zh-CN" sz="16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=−</m:t>
                              </m:r>
                              <m:r>
                                <a:rPr lang="zh-CN" sz="16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240</m:t>
                              </m:r>
                              <m:sSub>
                                <m:e>
                                  <m:r>
                                    <a:rPr lang="zh-CN" sz="16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b</m:t>
                                  </m:r>
                                </m:e>
                                <m:sub>
                                  <m:r>
                                    <a:rPr lang="zh-CN" sz="16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a:rPr lang="zh-CN" sz="16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+</m:t>
                              </m:r>
                              <m:r>
                                <a:rPr lang="zh-CN" sz="16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900</m:t>
                              </m:r>
                              <m:sSub>
                                <m:e>
                                  <m:r>
                                    <a:rPr lang="zh-CN" sz="16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b</m:t>
                                  </m:r>
                                </m:e>
                                <m:sub>
                                  <m:r>
                                    <a:rPr lang="zh-CN" sz="16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a:rPr lang="zh-CN" sz="16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−</m:t>
                              </m:r>
                              <m:r>
                                <a:rPr lang="zh-CN" sz="16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720</m:t>
                              </m:r>
                              <m:sSub>
                                <m:e>
                                  <m:r>
                                    <a:rPr lang="zh-CN" sz="16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b</m:t>
                                  </m:r>
                                </m:e>
                                <m:sub>
                                  <m:r>
                                    <a:rPr lang="zh-CN" sz="16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3</m:t>
                                  </m:r>
                                </m:sub>
                              </m:sSub>
                            </m:e>
                            <m:e>
                              <m:r>
                                <a:rPr lang="zh-CN" sz="16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&amp;</m:t>
                              </m:r>
                              <m:sSub>
                                <m:e>
                                  <m:r>
                                    <a:rPr lang="zh-CN" sz="16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a:rPr lang="zh-CN" sz="16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3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a:rPr lang="zh-CN" sz="16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=</m:t>
                              </m:r>
                              <m:r>
                                <a:rPr lang="zh-CN" sz="16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180</m:t>
                              </m:r>
                              <m:sSub>
                                <m:e>
                                  <m:r>
                                    <a:rPr lang="zh-CN" sz="16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b</m:t>
                                  </m:r>
                                </m:e>
                                <m:sub>
                                  <m:r>
                                    <a:rPr lang="zh-CN" sz="16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a:rPr lang="zh-CN" sz="16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−</m:t>
                              </m:r>
                              <m:r>
                                <a:rPr lang="zh-CN" sz="16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720</m:t>
                              </m:r>
                              <m:sSub>
                                <m:e>
                                  <m:r>
                                    <a:rPr lang="zh-CN" sz="16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b</m:t>
                                  </m:r>
                                </m:e>
                                <m:sub>
                                  <m:r>
                                    <a:rPr lang="zh-CN" sz="16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a:rPr lang="zh-CN" sz="16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+</m:t>
                              </m:r>
                              <m:r>
                                <a:rPr lang="zh-CN" sz="16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600</m:t>
                              </m:r>
                              <m:sSub>
                                <m:e>
                                  <m:r>
                                    <a:rPr lang="zh-CN" sz="16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b</m:t>
                                  </m:r>
                                </m:e>
                                <m:sub>
                                  <m:r>
                                    <a:rPr lang="zh-CN" sz="16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3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</m:oMath>
                  </m:oMathPara>
                </a14:m>
              </a:p>
            </p:txBody>
          </p:sp>
        </mc:Choice>
      </mc:AlternateContent>
      <p:grpSp>
        <p:nvGrpSpPr>
          <p:cNvPr id="40" name="c2-callout-3"/>
          <p:cNvGrpSpPr/>
          <p:nvPr/>
        </p:nvGrpSpPr>
        <p:grpSpPr>
          <a:xfrm>
            <a:off x="5815965" y="5351145"/>
            <a:ext cx="5842635" cy="782955"/>
            <a:chOff x="5815965" y="5351145"/>
            <a:chExt cx="5842635" cy="782955"/>
          </a:xfrm>
        </p:grpSpPr>
        <p:sp>
          <p:nvSpPr>
            <p:cNvPr id="34" name="Rectangle 34"/>
            <p:cNvSpPr/>
            <p:nvPr/>
          </p:nvSpPr>
          <p:spPr>
            <a:xfrm>
              <a:off x="5815965" y="5351145"/>
              <a:ext cx="5842635" cy="782955"/>
            </a:xfrm>
            <a:prstGeom prst="roundRect">
              <a:avLst>
                <a:gd name="adj" fmla="val 14599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38" name="Group 38"/>
            <p:cNvGrpSpPr/>
            <p:nvPr/>
          </p:nvGrpSpPr>
          <p:grpSpPr>
            <a:xfrm>
              <a:off x="6008694" y="5638918"/>
              <a:ext cx="224134" cy="192560"/>
              <a:chOff x="6008694" y="5638918"/>
              <a:chExt cx="224134" cy="192560"/>
            </a:xfrm>
          </p:grpSpPr>
          <p:sp>
            <p:nvSpPr>
              <p:cNvPr id="35" name="Freeform 35"/>
              <p:cNvSpPr/>
              <p:nvPr/>
            </p:nvSpPr>
            <p:spPr>
              <a:xfrm>
                <a:off x="6120765" y="5709285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36" name="Freeform 36"/>
              <p:cNvSpPr/>
              <p:nvPr/>
            </p:nvSpPr>
            <p:spPr>
              <a:xfrm>
                <a:off x="6008694" y="5638918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37" name="Freeform 37"/>
              <p:cNvSpPr/>
              <p:nvPr/>
            </p:nvSpPr>
            <p:spPr>
              <a:xfrm>
                <a:off x="6120765" y="578707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39" name="TextBox 39"/>
            <p:cNvSpPr txBox="1"/>
            <p:nvPr/>
          </p:nvSpPr>
          <p:spPr>
            <a:xfrm>
              <a:off x="6322695" y="5499735"/>
              <a:ext cx="487299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U₃₃ = −1/720 ≈ −0.00139，回代时要除以它；b 的一点误</a:t>
              </a:r>
              <a:br/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差会被放大几百上千倍。</a:t>
              </a:r>
            </a:p>
          </p:txBody>
        </p:sp>
      </p:grpSp>
      <p:grpSp>
        <p:nvGrpSpPr>
          <p:cNvPr id="4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1" name="TextBox 41"/>
            <p:cNvSpPr txBox="1"/>
            <p:nvPr/>
          </p:nvSpPr>
          <p:spPr>
            <a:xfrm>
              <a:off x="528447" y="6581299"/>
              <a:ext cx="278038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第2章 解线性方程组的数值法（下）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244637" cy="909257"/>
            <a:chOff x="520446" y="342900"/>
            <a:chExt cx="5244637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3694748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57751" y="407194"/>
              <a:ext cx="36450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第2章 线性方程组（下） · 矩阵的条件数与病态方程组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244637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右端项只改 0.001，解就面目全非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4" name="c1-card-1"/>
          <p:cNvGrpSpPr/>
          <p:nvPr/>
        </p:nvGrpSpPr>
        <p:grpSpPr>
          <a:xfrm>
            <a:off x="533400" y="1524000"/>
            <a:ext cx="5842635" cy="2076450"/>
            <a:chOff x="533400" y="1524000"/>
            <a:chExt cx="5842635" cy="207645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842635" cy="2076450"/>
            </a:xfrm>
            <a:prstGeom prst="roundRect">
              <a:avLst>
                <a:gd name="adj" fmla="val 6422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809750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81050" y="1733550"/>
              <a:ext cx="921068" cy="25717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58457" y="1769269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扰动右端项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73430" y="2110740"/>
              <a:ext cx="5245227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把 b 改为 b̃ = (b₁ + ε, b₂ − ε, b₃ + ε)ᵀ，代入上页公式：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2" name="formula105"/>
                <p:cNvSpPr txBox="1">
                  <a:spLocks noGrp="1"/>
                </p:cNvSpPr>
                <p:nvPr/>
              </p:nvSpPr>
              <p:spPr>
                <a:xfrm>
                  <a:off x="781050" y="2421255"/>
                  <a:ext cx="5385435" cy="4191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x</m:t>
                        </m:r>
                        <m:r>
                          <m:rPr>
                            <m:sty m:val="p"/>
                          </m:rP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−</m:t>
                        </m:r>
                        <m:acc>
                          <m:accPr>
                            <m:chr m:val="˜"/>
                            <m:ctrlP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accPr>
                          <m:e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x</m:t>
                            </m:r>
                          </m:e>
                        </m:acc>
                        <m:r>
                          <m:rPr>
                            <m:sty m:val="p"/>
                          </m:rP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sSup>
                          <m:e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m:rPr>
                                    <m:sty m:val="p"/>
                                  </m:rP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−</m:t>
                                </m:r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492ε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,</m:t>
                                </m:r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 xml:space="preserve"> </m:t>
                                </m:r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1860ε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,</m:t>
                                </m:r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 xml:space="preserve"> 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−</m:t>
                                </m:r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1500ε</m:t>
                                </m:r>
                              </m:e>
                            </m:d>
                          </m:e>
                          <m:sup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T</m:t>
                            </m:r>
                          </m:sup>
                        </m:sSup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13" name="TextBox 13"/>
            <p:cNvSpPr txBox="1"/>
            <p:nvPr/>
          </p:nvSpPr>
          <p:spPr>
            <a:xfrm>
              <a:off x="774573" y="2957036"/>
              <a:ext cx="4442714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以第 2 个分量为例：x̃₂ − x₂ = −240·ε + 900·(−ε) − 720·ε =</a:t>
              </a:r>
              <a:br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−1860ε。</a:t>
              </a:r>
            </a:p>
          </p:txBody>
        </p:sp>
      </p:grpSp>
      <p:grpSp>
        <p:nvGrpSpPr>
          <p:cNvPr id="35" name="c1-table-2"/>
          <p:cNvGrpSpPr/>
          <p:nvPr/>
        </p:nvGrpSpPr>
        <p:grpSpPr>
          <a:xfrm>
            <a:off x="527685" y="3790950"/>
            <a:ext cx="5848350" cy="1641634"/>
            <a:chOff x="527685" y="3790950"/>
            <a:chExt cx="5848350" cy="1641634"/>
          </a:xfrm>
        </p:grpSpPr>
        <p:sp>
          <p:nvSpPr>
            <p:cNvPr id="15" name="Rectangle 15"/>
            <p:cNvSpPr/>
            <p:nvPr/>
          </p:nvSpPr>
          <p:spPr>
            <a:xfrm>
              <a:off x="533400" y="3790950"/>
              <a:ext cx="5842635" cy="448628"/>
            </a:xfrm>
            <a:prstGeom prst="rect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662767" y="3925729"/>
              <a:ext cx="242922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取 x = (1, 1, 1)ᵀ，ε = 0.001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3641147" y="3925729"/>
              <a:ext cx="2119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x₁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692707" y="3925729"/>
              <a:ext cx="2119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x₂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5744267" y="3925729"/>
              <a:ext cx="2119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x₃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641223" y="4375309"/>
              <a:ext cx="68368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精确解 x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3693272" y="4375309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4744832" y="4375309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5796392" y="4375309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533400" y="4683442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533400" y="4688205"/>
              <a:ext cx="5842635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41223" y="4823936"/>
              <a:ext cx="102831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扰动后的解 x̃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3503727" y="4823936"/>
              <a:ext cx="48681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1.492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4493685" y="4823936"/>
              <a:ext cx="61002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−0.860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5606847" y="4823936"/>
              <a:ext cx="48681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2.500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533400" y="3790950"/>
              <a:ext cx="5842635" cy="134683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31" name="Rectangle 31"/>
            <p:cNvSpPr/>
            <p:nvPr/>
          </p:nvSpPr>
          <p:spPr>
            <a:xfrm>
              <a:off x="3216592" y="3790950"/>
              <a:ext cx="9525" cy="134683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268152" y="3790950"/>
              <a:ext cx="9525" cy="134683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3" name="Rectangle 33"/>
            <p:cNvSpPr/>
            <p:nvPr/>
          </p:nvSpPr>
          <p:spPr>
            <a:xfrm>
              <a:off x="5319712" y="3790950"/>
              <a:ext cx="9525" cy="134683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527685" y="5212556"/>
              <a:ext cx="43085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此时 b = (13/12, 47/60, 37/60)ᵀ，b̃ 的每个分量只变了 0.001</a:t>
              </a:r>
            </a:p>
          </p:txBody>
        </p:sp>
      </p:grpSp>
      <p:grpSp>
        <p:nvGrpSpPr>
          <p:cNvPr id="42" name="c1-callout-3"/>
          <p:cNvGrpSpPr/>
          <p:nvPr/>
        </p:nvGrpSpPr>
        <p:grpSpPr>
          <a:xfrm>
            <a:off x="533400" y="5578792"/>
            <a:ext cx="5842635" cy="782955"/>
            <a:chOff x="533400" y="5578792"/>
            <a:chExt cx="5842635" cy="782955"/>
          </a:xfrm>
        </p:grpSpPr>
        <p:sp>
          <p:nvSpPr>
            <p:cNvPr id="36" name="Rectangle 36"/>
            <p:cNvSpPr/>
            <p:nvPr/>
          </p:nvSpPr>
          <p:spPr>
            <a:xfrm>
              <a:off x="533400" y="5578792"/>
              <a:ext cx="5842635" cy="782955"/>
            </a:xfrm>
            <a:prstGeom prst="roundRect">
              <a:avLst>
                <a:gd name="adj" fmla="val 14599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40" name="Group 40"/>
            <p:cNvGrpSpPr/>
            <p:nvPr/>
          </p:nvGrpSpPr>
          <p:grpSpPr>
            <a:xfrm>
              <a:off x="726129" y="5866566"/>
              <a:ext cx="224134" cy="192560"/>
              <a:chOff x="726129" y="5866566"/>
              <a:chExt cx="224134" cy="192560"/>
            </a:xfrm>
          </p:grpSpPr>
          <p:sp>
            <p:nvSpPr>
              <p:cNvPr id="37" name="Freeform 37"/>
              <p:cNvSpPr/>
              <p:nvPr/>
            </p:nvSpPr>
            <p:spPr>
              <a:xfrm>
                <a:off x="838200" y="5936933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38" name="Freeform 38"/>
              <p:cNvSpPr/>
              <p:nvPr/>
            </p:nvSpPr>
            <p:spPr>
              <a:xfrm>
                <a:off x="726129" y="5866566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39" name="Freeform 39"/>
              <p:cNvSpPr/>
              <p:nvPr/>
            </p:nvSpPr>
            <p:spPr>
              <a:xfrm>
                <a:off x="838200" y="6014721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41" name="TextBox 41"/>
            <p:cNvSpPr txBox="1"/>
            <p:nvPr/>
          </p:nvSpPr>
          <p:spPr>
            <a:xfrm>
              <a:off x="1040130" y="5727382"/>
              <a:ext cx="477774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病态是方程组本身的性质，与用什么算法求解无关：即使</a:t>
              </a:r>
              <a:br/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每一步都精确计算，输入数据的误差照样会被放大。</a:t>
              </a:r>
            </a:p>
          </p:txBody>
        </p:sp>
      </p:grpSp>
      <p:grpSp>
        <p:nvGrpSpPr>
          <p:cNvPr id="49" name="c2-card-1"/>
          <p:cNvGrpSpPr/>
          <p:nvPr/>
        </p:nvGrpSpPr>
        <p:grpSpPr>
          <a:xfrm>
            <a:off x="6680835" y="1524000"/>
            <a:ext cx="4977765" cy="1906905"/>
            <a:chOff x="6680835" y="1524000"/>
            <a:chExt cx="4977765" cy="1906905"/>
          </a:xfrm>
        </p:grpSpPr>
        <p:sp>
          <p:nvSpPr>
            <p:cNvPr id="43" name="Rectangle 43"/>
            <p:cNvSpPr/>
            <p:nvPr/>
          </p:nvSpPr>
          <p:spPr>
            <a:xfrm>
              <a:off x="6680835" y="1524000"/>
              <a:ext cx="4977765" cy="1906905"/>
            </a:xfrm>
            <a:prstGeom prst="roundRect">
              <a:avLst>
                <a:gd name="adj" fmla="val 699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4" name="Rectangle 44"/>
            <p:cNvSpPr/>
            <p:nvPr/>
          </p:nvSpPr>
          <p:spPr>
            <a:xfrm>
              <a:off x="6690360" y="1657350"/>
              <a:ext cx="47625" cy="1640205"/>
            </a:xfrm>
            <a:prstGeom prst="roundRect">
              <a:avLst>
                <a:gd name="adj" fmla="val 50000"/>
              </a:avLst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45" name="Rectangle 45"/>
            <p:cNvSpPr/>
            <p:nvPr/>
          </p:nvSpPr>
          <p:spPr>
            <a:xfrm>
              <a:off x="6928485" y="1733550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7019646" y="176926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定义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7529512" y="1768792"/>
              <a:ext cx="10248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病态方程组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6920865" y="2129790"/>
              <a:ext cx="4254818" cy="11506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如果矩阵 A 或常数项 b 的微小变化，引起方程组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Ax = b 解的巨大变化，则称此方程组为</a:t>
              </a:r>
              <a:r>
                <a:rPr lang="zh-CN" sz="150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“病态”方程</a:t>
              </a:r>
              <a:br/>
              <a:r>
                <a:rPr lang="zh-CN" sz="150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组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，A 称为“病态”矩阵；否则称方程组为“良态”方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程组，A 称为“良态”矩阵。</a:t>
              </a:r>
            </a:p>
          </p:txBody>
        </p:sp>
      </p:grpSp>
      <p:grpSp>
        <p:nvGrpSpPr>
          <p:cNvPr id="52" name="c2-image-2"/>
          <p:cNvGrpSpPr/>
          <p:nvPr/>
        </p:nvGrpSpPr>
        <p:grpSpPr>
          <a:xfrm>
            <a:off x="6826999" y="3621405"/>
            <a:ext cx="4685436" cy="2600802"/>
            <a:chOff x="6826999" y="3621405"/>
            <a:chExt cx="4685436" cy="2600802"/>
          </a:xfrm>
        </p:grpSpPr>
        <p:pic>
          <p:nvPicPr>
            <p:cNvPr id="50" name="Image 50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645718" y="3621405"/>
              <a:ext cx="3048000" cy="2286000"/>
            </a:xfrm>
            <a:prstGeom prst="roundRect">
              <a:avLst>
                <a:gd name="adj" fmla="val 5833"/>
              </a:avLst>
            </a:prstGeom>
          </p:spPr>
        </p:pic>
        <p:sp>
          <p:nvSpPr>
            <p:cNvPr id="51" name="TextBox 51"/>
            <p:cNvSpPr txBox="1"/>
            <p:nvPr/>
          </p:nvSpPr>
          <p:spPr>
            <a:xfrm>
              <a:off x="6826999" y="6002179"/>
              <a:ext cx="46854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上：支点很偏的长板，放一枚硬币就大幅翘起；下：稳固的板几乎不动</a:t>
              </a:r>
            </a:p>
          </p:txBody>
        </p:sp>
      </p:grpSp>
      <p:grpSp>
        <p:nvGrpSpPr>
          <p:cNvPr id="55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3" name="TextBox 53"/>
            <p:cNvSpPr txBox="1"/>
            <p:nvPr/>
          </p:nvSpPr>
          <p:spPr>
            <a:xfrm>
              <a:off x="528447" y="6581299"/>
              <a:ext cx="278038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第2章 解线性方程组的数值法（下）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8318670" cy="909257"/>
            <a:chOff x="520446" y="342900"/>
            <a:chExt cx="8318670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3694748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57751" y="407194"/>
              <a:ext cx="36450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第2章 线性方程组（下） · 矩阵的条件数与病态方程组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8318670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右端项有扰动：解的相对误差最多放大 ‖A‖·‖A⁻¹‖ 倍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8" name="c1-steps-1"/>
          <p:cNvGrpSpPr/>
          <p:nvPr/>
        </p:nvGrpSpPr>
        <p:grpSpPr>
          <a:xfrm>
            <a:off x="533400" y="1533525"/>
            <a:ext cx="5653019" cy="3414998"/>
            <a:chOff x="533400" y="1533525"/>
            <a:chExt cx="5653019" cy="3414998"/>
          </a:xfrm>
        </p:grpSpPr>
        <p:sp>
          <p:nvSpPr>
            <p:cNvPr id="7" name="Rectangle 7"/>
            <p:cNvSpPr/>
            <p:nvPr/>
          </p:nvSpPr>
          <p:spPr>
            <a:xfrm>
              <a:off x="666750" y="1676400"/>
              <a:ext cx="19050" cy="283749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8" name="Ellipse 8"/>
            <p:cNvSpPr/>
            <p:nvPr/>
          </p:nvSpPr>
          <p:spPr>
            <a:xfrm>
              <a:off x="533400" y="1533525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27024" y="160734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533400" y="2419350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627024" y="249316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533400" y="3069908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627024" y="314372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33400" y="3720465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627024" y="379428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533400" y="4371022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627024" y="444484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944880" y="1567815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设定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46023" y="1861661"/>
              <a:ext cx="4865370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 非奇异，x 是 Ax = b（b ≠ 0）的精确解，x̃ 是扰动方程组 Ax̃ = b +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δb（2.6.1）的精确解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944880" y="2453640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误差方程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946023" y="2746534"/>
              <a:ext cx="505550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两式相减，解的误差 δx = x̃ − x 满足 A·δx = δb，所以 δx = A⁻¹δb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44880" y="3104198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估计分子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46023" y="3397091"/>
              <a:ext cx="323525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由相容性：‖δx‖ ≤ ‖A⁻¹‖·‖δb‖（2.6.2）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944880" y="375475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估计分母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46023" y="4048601"/>
              <a:ext cx="524039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由 Ax = b：‖b‖ = ‖Ax‖ ≤ ‖A‖·‖x‖，即 1/‖x‖ ≤ ‖A‖/‖b‖（2.6.3）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944880" y="4405312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相乘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946023" y="4699159"/>
              <a:ext cx="380385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(2.6.2)、(2.6.3) 两式相乘，得到右边的估计式</a:t>
              </a:r>
            </a:p>
          </p:txBody>
        </p:sp>
      </p:grpSp>
      <p:grpSp>
        <p:nvGrpSpPr>
          <p:cNvPr id="35" name="c1-callout-2"/>
          <p:cNvGrpSpPr/>
          <p:nvPr/>
        </p:nvGrpSpPr>
        <p:grpSpPr>
          <a:xfrm>
            <a:off x="533400" y="5126355"/>
            <a:ext cx="5842635" cy="1185862"/>
            <a:chOff x="533400" y="5126355"/>
            <a:chExt cx="5842635" cy="1185862"/>
          </a:xfrm>
        </p:grpSpPr>
        <p:sp>
          <p:nvSpPr>
            <p:cNvPr id="29" name="Rectangle 29"/>
            <p:cNvSpPr/>
            <p:nvPr/>
          </p:nvSpPr>
          <p:spPr>
            <a:xfrm>
              <a:off x="533400" y="5126355"/>
              <a:ext cx="5842635" cy="1185862"/>
            </a:xfrm>
            <a:prstGeom prst="roundRect">
              <a:avLst>
                <a:gd name="adj" fmla="val 9639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33" name="Group 33"/>
            <p:cNvGrpSpPr/>
            <p:nvPr/>
          </p:nvGrpSpPr>
          <p:grpSpPr>
            <a:xfrm>
              <a:off x="738188" y="5619750"/>
              <a:ext cx="200026" cy="200026"/>
              <a:chOff x="738188" y="5619750"/>
              <a:chExt cx="200026" cy="200026"/>
            </a:xfrm>
          </p:grpSpPr>
          <p:sp>
            <p:nvSpPr>
              <p:cNvPr id="30" name="Freeform 30"/>
              <p:cNvSpPr/>
              <p:nvPr/>
            </p:nvSpPr>
            <p:spPr>
              <a:xfrm>
                <a:off x="738188" y="5619750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31" name="Freeform 31"/>
              <p:cNvSpPr/>
              <p:nvPr/>
            </p:nvSpPr>
            <p:spPr>
              <a:xfrm>
                <a:off x="838200" y="568642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32" name="Freeform 32"/>
              <p:cNvSpPr/>
              <p:nvPr/>
            </p:nvSpPr>
            <p:spPr>
              <a:xfrm>
                <a:off x="827088" y="5719763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34" name="TextBox 34"/>
            <p:cNvSpPr txBox="1"/>
            <p:nvPr/>
          </p:nvSpPr>
          <p:spPr>
            <a:xfrm>
              <a:off x="1040130" y="5338762"/>
              <a:ext cx="4853940" cy="8458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估计式给的是最坏情况。仍取 x = (1, 1, 1)ᵀ，若 δb =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(ε, ε, ε)ᵀ，则 δx = (12ε, −60ε, 60ε)ᵀ，相对误差只放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大 60ε ÷ (12ε/13) = 65 倍。</a:t>
              </a:r>
            </a:p>
          </p:txBody>
        </p:sp>
      </p:grpSp>
      <p:grpSp>
        <p:nvGrpSpPr>
          <p:cNvPr id="41" name="c2-card-1"/>
          <p:cNvGrpSpPr/>
          <p:nvPr/>
        </p:nvGrpSpPr>
        <p:grpSpPr>
          <a:xfrm>
            <a:off x="6680835" y="1524000"/>
            <a:ext cx="4977765" cy="2028825"/>
            <a:chOff x="6680835" y="1524000"/>
            <a:chExt cx="4977765" cy="2028825"/>
          </a:xfrm>
        </p:grpSpPr>
        <p:sp>
          <p:nvSpPr>
            <p:cNvPr id="36" name="Rectangle 36"/>
            <p:cNvSpPr/>
            <p:nvPr/>
          </p:nvSpPr>
          <p:spPr>
            <a:xfrm>
              <a:off x="6680835" y="1524000"/>
              <a:ext cx="4977765" cy="2028825"/>
            </a:xfrm>
            <a:prstGeom prst="roundRect">
              <a:avLst>
                <a:gd name="adj" fmla="val 6573"/>
              </a:avLst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6890385" y="1733550"/>
              <a:ext cx="636270" cy="257175"/>
            </a:xfrm>
            <a:prstGeom prst="roundRect">
              <a:avLst>
                <a:gd name="adj" fmla="val 50000"/>
              </a:avLst>
            </a:prstGeom>
            <a:solidFill>
              <a:srgbClr val="23613D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6976643" y="1769269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估计式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9" name="formula108"/>
                <p:cNvSpPr txBox="1">
                  <a:spLocks noGrp="1"/>
                </p:cNvSpPr>
                <p:nvPr/>
              </p:nvSpPr>
              <p:spPr>
                <a:xfrm>
                  <a:off x="6890385" y="2085975"/>
                  <a:ext cx="4558665" cy="61722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f>
                          <m:fPr>
                            <m:type m:val="bar"/>
                            <m:ctrlPr>
                              <a:rPr lang="zh-CN" sz="180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d>
                              <m:dPr>
                                <m:begChr m:val="‖"/>
                                <m:sepChr m:val=""/>
                                <m:endChr m:val="‖"/>
                                <m:grow m:val="on"/>
                                <m:ctrlPr>
                                  <a:rPr lang="zh-CN" sz="180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80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δx</m:t>
                                </m:r>
                              </m:e>
                            </m:d>
                          </m:num>
                          <m:den>
                            <m:d>
                              <m:dPr>
                                <m:begChr m:val="‖"/>
                                <m:sepChr m:val=""/>
                                <m:endChr m:val="‖"/>
                                <m:grow m:val="on"/>
                                <m:ctrlPr>
                                  <a:rPr lang="zh-CN" sz="180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80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</m:d>
                          </m:den>
                        </m:f>
                        <m:r>
                          <m:rPr>
                            <m:sty m:val="p"/>
                          </m:rPr>
                          <a:rPr lang="zh-CN" sz="180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≤</m:t>
                        </m:r>
                        <m:d>
                          <m:dPr>
                            <m:begChr m:val="‖"/>
                            <m:sepChr m:val=""/>
                            <m:endChr m:val="‖"/>
                            <m:grow m:val="on"/>
                            <m:ctrlPr>
                              <a:rPr lang="zh-CN" sz="180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80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A</m:t>
                            </m:r>
                          </m:e>
                        </m:d>
                        <m:r>
                          <m:rPr>
                            <m:sty m:val="p"/>
                          </m:rPr>
                          <a:rPr lang="zh-CN" sz="180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⋅</m:t>
                        </m:r>
                        <m:d>
                          <m:dPr>
                            <m:begChr m:val="‖"/>
                            <m:sepChr m:val=""/>
                            <m:endChr m:val="‖"/>
                            <m:grow m:val="on"/>
                            <m:ctrlPr>
                              <a:rPr lang="zh-CN" sz="180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sSup>
                              <m:e>
                                <m:r>
                                  <a:rPr lang="zh-CN" sz="180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A</m:t>
                                </m:r>
                              </m:e>
                              <m:sup>
                                <m:r>
                                  <m:rPr>
                                    <m:sty m:val="p"/>
                                  </m:rPr>
                                  <a:rPr lang="zh-CN" sz="180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−</m:t>
                                </m:r>
                                <m:r>
                                  <a:rPr lang="zh-CN" sz="180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sup>
                            </m:sSup>
                          </m:e>
                        </m:d>
                        <m:r>
                          <m:rPr>
                            <m:sty m:val="p"/>
                          </m:rPr>
                          <a:rPr lang="zh-CN" sz="180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⋅</m:t>
                        </m:r>
                        <m:f>
                          <m:fPr>
                            <m:type m:val="bar"/>
                            <m:ctrlPr>
                              <a:rPr lang="zh-CN" sz="180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d>
                              <m:dPr>
                                <m:begChr m:val="‖"/>
                                <m:sepChr m:val=""/>
                                <m:endChr m:val="‖"/>
                                <m:grow m:val="on"/>
                                <m:ctrlPr>
                                  <a:rPr lang="zh-CN" sz="180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80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δb</m:t>
                                </m:r>
                              </m:e>
                            </m:d>
                          </m:num>
                          <m:den>
                            <m:d>
                              <m:dPr>
                                <m:begChr m:val="‖"/>
                                <m:sepChr m:val=""/>
                                <m:endChr m:val="‖"/>
                                <m:grow m:val="on"/>
                                <m:ctrlPr>
                                  <a:rPr lang="zh-CN" sz="180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80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b</m:t>
                                </m:r>
                              </m:e>
                            </m:d>
                          </m:den>
                        </m:f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40" name="TextBox 40"/>
            <p:cNvSpPr txBox="1"/>
            <p:nvPr/>
          </p:nvSpPr>
          <p:spPr>
            <a:xfrm>
              <a:off x="6882765" y="2823210"/>
              <a:ext cx="42062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左边是解的相对误差，右边是右端项的相对误差乘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以放大系数。</a:t>
              </a:r>
            </a:p>
          </p:txBody>
        </p:sp>
      </p:grpSp>
      <p:grpSp>
        <p:nvGrpSpPr>
          <p:cNvPr id="53" name="c2-card-2"/>
          <p:cNvGrpSpPr/>
          <p:nvPr/>
        </p:nvGrpSpPr>
        <p:grpSpPr>
          <a:xfrm>
            <a:off x="6680835" y="3743325"/>
            <a:ext cx="4977765" cy="2568892"/>
            <a:chOff x="6680835" y="3743325"/>
            <a:chExt cx="4977765" cy="2568892"/>
          </a:xfrm>
        </p:grpSpPr>
        <p:sp>
          <p:nvSpPr>
            <p:cNvPr id="42" name="Rectangle 42"/>
            <p:cNvSpPr/>
            <p:nvPr/>
          </p:nvSpPr>
          <p:spPr>
            <a:xfrm>
              <a:off x="6680835" y="3743325"/>
              <a:ext cx="4977765" cy="2568892"/>
            </a:xfrm>
            <a:prstGeom prst="roundRect">
              <a:avLst>
                <a:gd name="adj" fmla="val 5191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3" name="Rectangle 43"/>
            <p:cNvSpPr/>
            <p:nvPr/>
          </p:nvSpPr>
          <p:spPr>
            <a:xfrm>
              <a:off x="6690360" y="3876675"/>
              <a:ext cx="47625" cy="2302192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44" name="Rectangle 44"/>
            <p:cNvSpPr/>
            <p:nvPr/>
          </p:nvSpPr>
          <p:spPr>
            <a:xfrm>
              <a:off x="6928485" y="3952875"/>
              <a:ext cx="1562100" cy="25717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7013650" y="3988594"/>
              <a:ext cx="13917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检验上例（∞-范数）</a:t>
              </a:r>
            </a:p>
          </p:txBody>
        </p:sp>
        <p:sp>
          <p:nvSpPr>
            <p:cNvPr id="46" name="Ellipse 46"/>
            <p:cNvSpPr/>
            <p:nvPr/>
          </p:nvSpPr>
          <p:spPr>
            <a:xfrm>
              <a:off x="6934200" y="4392930"/>
              <a:ext cx="64770" cy="6477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7092315" y="4330065"/>
              <a:ext cx="375856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‖A‖∞ = 1/2 + 1/3 + 1/4 = 13/12，‖A⁻¹‖∞ =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240 + 900 + 720 = 1860</a:t>
              </a:r>
            </a:p>
          </p:txBody>
        </p:sp>
        <p:sp>
          <p:nvSpPr>
            <p:cNvPr id="48" name="Ellipse 48"/>
            <p:cNvSpPr/>
            <p:nvPr/>
          </p:nvSpPr>
          <p:spPr>
            <a:xfrm>
              <a:off x="6934200" y="5013960"/>
              <a:ext cx="64770" cy="6477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7092315" y="4951095"/>
              <a:ext cx="279177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放大系数 13/12 × 1860 = 2015</a:t>
              </a:r>
            </a:p>
          </p:txBody>
        </p:sp>
        <p:sp>
          <p:nvSpPr>
            <p:cNvPr id="50" name="Ellipse 50"/>
            <p:cNvSpPr/>
            <p:nvPr/>
          </p:nvSpPr>
          <p:spPr>
            <a:xfrm>
              <a:off x="6934200" y="5349240"/>
              <a:ext cx="64770" cy="6477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7092315" y="5286375"/>
              <a:ext cx="414909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右端相对误差 ε/(13/12) = 12ε/13，解的相对误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差 1860ε/1 = 1860ε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6922008" y="5904071"/>
              <a:ext cx="423463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二者之比正好是 2015：这个例子取到了估计式的上界。</a:t>
              </a:r>
            </a:p>
          </p:txBody>
        </p:sp>
      </p:grpSp>
      <p:grpSp>
        <p:nvGrpSpPr>
          <p:cNvPr id="56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4" name="TextBox 54"/>
            <p:cNvSpPr txBox="1"/>
            <p:nvPr/>
          </p:nvSpPr>
          <p:spPr>
            <a:xfrm>
              <a:off x="528447" y="6581299"/>
              <a:ext cx="278038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第2章 解线性方程组的数值法（下）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831292" cy="909257"/>
            <a:chOff x="520446" y="342900"/>
            <a:chExt cx="6831292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3694748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57751" y="407194"/>
              <a:ext cx="36450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第2章 线性方程组（下） · 矩阵的条件数与病态方程组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83129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系数矩阵有扰动：放大系数还是 ‖A‖·‖A⁻¹‖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8" name="c1-steps-1"/>
          <p:cNvGrpSpPr/>
          <p:nvPr/>
        </p:nvGrpSpPr>
        <p:grpSpPr>
          <a:xfrm>
            <a:off x="533400" y="1533525"/>
            <a:ext cx="4869332" cy="3031236"/>
            <a:chOff x="533400" y="1533525"/>
            <a:chExt cx="4869332" cy="3031236"/>
          </a:xfrm>
        </p:grpSpPr>
        <p:sp>
          <p:nvSpPr>
            <p:cNvPr id="7" name="Rectangle 7"/>
            <p:cNvSpPr/>
            <p:nvPr/>
          </p:nvSpPr>
          <p:spPr>
            <a:xfrm>
              <a:off x="666750" y="1676400"/>
              <a:ext cx="19050" cy="248316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8" name="Ellipse 8"/>
            <p:cNvSpPr/>
            <p:nvPr/>
          </p:nvSpPr>
          <p:spPr>
            <a:xfrm>
              <a:off x="533400" y="1533525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27024" y="160734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533400" y="2154555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627024" y="222837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533400" y="2775585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627024" y="284940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33400" y="3395662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627024" y="346948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533400" y="4016692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627024" y="409051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945261" y="1566386"/>
              <a:ext cx="39679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设定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46404" y="1846898"/>
              <a:ext cx="376854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x̃ 是扰动方程组 (A + δA)x̃ = b 的精确解，δx = x̃ − x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945261" y="2187416"/>
              <a:ext cx="77912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误差方程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946404" y="2467927"/>
              <a:ext cx="424159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与 Ax = b 相减：A·δx + δA·x̃ = 0，即 A·δx = −δA(x + δx)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45261" y="2808446"/>
              <a:ext cx="77912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解出误差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46404" y="3088957"/>
              <a:ext cx="156038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l-GR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δx = −A⁻¹δA(x + δx)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945261" y="3429476"/>
              <a:ext cx="58795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取范数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46404" y="3709988"/>
              <a:ext cx="374675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l-GR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‖δx‖ = ‖−A⁻¹δA(x + δx)‖ ≤ ‖A⁻¹‖·‖δA‖·‖x + δx‖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945261" y="4049554"/>
              <a:ext cx="39679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整理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946404" y="4330065"/>
              <a:ext cx="445632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两边除以 ‖x + δx‖（x̃ ≠ 0），右边乘除 ‖A‖，得右边的估计式</a:t>
              </a:r>
            </a:p>
          </p:txBody>
        </p:sp>
      </p:grpSp>
      <p:grpSp>
        <p:nvGrpSpPr>
          <p:cNvPr id="49" name="c1-table-2"/>
          <p:cNvGrpSpPr/>
          <p:nvPr/>
        </p:nvGrpSpPr>
        <p:grpSpPr>
          <a:xfrm>
            <a:off x="527685" y="4741545"/>
            <a:ext cx="5848350" cy="1586389"/>
            <a:chOff x="527685" y="4741545"/>
            <a:chExt cx="5848350" cy="1586389"/>
          </a:xfrm>
        </p:grpSpPr>
        <p:sp>
          <p:nvSpPr>
            <p:cNvPr id="29" name="Rectangle 29"/>
            <p:cNvSpPr/>
            <p:nvPr/>
          </p:nvSpPr>
          <p:spPr>
            <a:xfrm>
              <a:off x="533400" y="4741545"/>
              <a:ext cx="5842635" cy="430530"/>
            </a:xfrm>
            <a:prstGeom prst="rect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99684" y="4872990"/>
              <a:ext cx="235538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例：把上例 a₃₃ = 1/6 加 0.001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3647747" y="4872990"/>
              <a:ext cx="19877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x₁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4699307" y="4872990"/>
              <a:ext cx="19877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x₂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5750867" y="4872990"/>
              <a:ext cx="19877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x₃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638746" y="5302567"/>
              <a:ext cx="64100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精确解 x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3696614" y="5302567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4748174" y="5302567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5799734" y="5302567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533400" y="5596890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9" name="Rectangle 39"/>
            <p:cNvSpPr/>
            <p:nvPr/>
          </p:nvSpPr>
          <p:spPr>
            <a:xfrm>
              <a:off x="533400" y="5601652"/>
              <a:ext cx="5842635" cy="43053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638746" y="5733098"/>
              <a:ext cx="96409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扰动后的解 x̃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3474491" y="5733098"/>
              <a:ext cx="54528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0.8875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4614901" y="5733098"/>
              <a:ext cx="36758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1.45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5622036" y="5733098"/>
              <a:ext cx="45643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0.625</a:t>
              </a:r>
            </a:p>
          </p:txBody>
        </p:sp>
        <p:sp>
          <p:nvSpPr>
            <p:cNvPr id="44" name="Rectangle 44"/>
            <p:cNvSpPr/>
            <p:nvPr/>
          </p:nvSpPr>
          <p:spPr>
            <a:xfrm>
              <a:off x="533400" y="4741545"/>
              <a:ext cx="5842635" cy="1290638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45" name="Rectangle 45"/>
            <p:cNvSpPr/>
            <p:nvPr/>
          </p:nvSpPr>
          <p:spPr>
            <a:xfrm>
              <a:off x="3216592" y="4741545"/>
              <a:ext cx="9525" cy="129063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6" name="Rectangle 46"/>
            <p:cNvSpPr/>
            <p:nvPr/>
          </p:nvSpPr>
          <p:spPr>
            <a:xfrm>
              <a:off x="4268152" y="4741545"/>
              <a:ext cx="9525" cy="129063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7" name="Rectangle 47"/>
            <p:cNvSpPr/>
            <p:nvPr/>
          </p:nvSpPr>
          <p:spPr>
            <a:xfrm>
              <a:off x="5319712" y="4741545"/>
              <a:ext cx="9525" cy="129063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527685" y="6107906"/>
              <a:ext cx="5152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‖δx‖∞/‖x̃‖∞ = 0.45/1.45 ≈ 0.31，估计上界 2015 × 0.001/(13/12) ≈ 1.86</a:t>
              </a:r>
            </a:p>
          </p:txBody>
        </p:sp>
      </p:grpSp>
      <p:grpSp>
        <p:nvGrpSpPr>
          <p:cNvPr id="54" name="c2-card-1"/>
          <p:cNvGrpSpPr/>
          <p:nvPr/>
        </p:nvGrpSpPr>
        <p:grpSpPr>
          <a:xfrm>
            <a:off x="6680835" y="1524000"/>
            <a:ext cx="4977765" cy="1341120"/>
            <a:chOff x="6680835" y="1524000"/>
            <a:chExt cx="4977765" cy="1341120"/>
          </a:xfrm>
        </p:grpSpPr>
        <p:sp>
          <p:nvSpPr>
            <p:cNvPr id="50" name="Rectangle 50"/>
            <p:cNvSpPr/>
            <p:nvPr/>
          </p:nvSpPr>
          <p:spPr>
            <a:xfrm>
              <a:off x="6680835" y="1524000"/>
              <a:ext cx="4977765" cy="1341120"/>
            </a:xfrm>
            <a:prstGeom prst="roundRect">
              <a:avLst>
                <a:gd name="adj" fmla="val 9943"/>
              </a:avLst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51" name="Rectangle 51"/>
            <p:cNvSpPr/>
            <p:nvPr/>
          </p:nvSpPr>
          <p:spPr>
            <a:xfrm>
              <a:off x="6884670" y="1727835"/>
              <a:ext cx="636270" cy="257175"/>
            </a:xfrm>
            <a:prstGeom prst="roundRect">
              <a:avLst>
                <a:gd name="adj" fmla="val 50000"/>
              </a:avLst>
            </a:prstGeom>
            <a:solidFill>
              <a:srgbClr val="23613D"/>
            </a:solidFill>
            <a:ln>
              <a:noFill/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6970928" y="1763554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估计式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3" name="formula113"/>
                <p:cNvSpPr txBox="1">
                  <a:spLocks noGrp="1"/>
                </p:cNvSpPr>
                <p:nvPr/>
              </p:nvSpPr>
              <p:spPr>
                <a:xfrm>
                  <a:off x="6884670" y="2077402"/>
                  <a:ext cx="4570095" cy="56578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f>
                          <m:fPr>
                            <m:type m:val="bar"/>
                            <m:ctrlPr>
                              <a:rPr lang="zh-CN" sz="165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d>
                              <m:dPr>
                                <m:begChr m:val="‖"/>
                                <m:sepChr m:val=""/>
                                <m:endChr m:val="‖"/>
                                <m:grow m:val="on"/>
                                <m:ctrlPr>
                                  <a:rPr lang="zh-CN" sz="165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65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δx</m:t>
                                </m:r>
                              </m:e>
                            </m:d>
                          </m:num>
                          <m:den>
                            <m:d>
                              <m:dPr>
                                <m:begChr m:val="‖"/>
                                <m:sepChr m:val=""/>
                                <m:endChr m:val="‖"/>
                                <m:grow m:val="on"/>
                                <m:ctrlPr>
                                  <a:rPr lang="zh-CN" sz="165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65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65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+</m:t>
                                </m:r>
                                <m:r>
                                  <a:rPr lang="zh-CN" sz="165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δx</m:t>
                                </m:r>
                              </m:e>
                            </m:d>
                          </m:den>
                        </m:f>
                        <m:r>
                          <m:rPr>
                            <m:sty m:val="p"/>
                          </m:rPr>
                          <a:rPr lang="zh-CN" sz="165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≤</m:t>
                        </m:r>
                        <m:d>
                          <m:dPr>
                            <m:begChr m:val="‖"/>
                            <m:sepChr m:val=""/>
                            <m:endChr m:val="‖"/>
                            <m:grow m:val="on"/>
                            <m:ctrlPr>
                              <a:rPr lang="zh-CN" sz="165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sSup>
                              <m:e>
                                <m:r>
                                  <a:rPr lang="zh-CN" sz="165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A</m:t>
                                </m:r>
                              </m:e>
                              <m:sup>
                                <m:r>
                                  <m:rPr>
                                    <m:sty m:val="p"/>
                                  </m:rPr>
                                  <a:rPr lang="zh-CN" sz="165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−</m:t>
                                </m:r>
                                <m:r>
                                  <a:rPr lang="zh-CN" sz="165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sup>
                            </m:sSup>
                          </m:e>
                        </m:d>
                        <m:r>
                          <m:rPr>
                            <m:sty m:val="p"/>
                          </m:rPr>
                          <a:rPr lang="zh-CN" sz="165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⋅</m:t>
                        </m:r>
                        <m:d>
                          <m:dPr>
                            <m:begChr m:val="‖"/>
                            <m:sepChr m:val=""/>
                            <m:endChr m:val="‖"/>
                            <m:grow m:val="on"/>
                            <m:ctrlPr>
                              <a:rPr lang="zh-CN" sz="165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65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A</m:t>
                            </m:r>
                          </m:e>
                        </m:d>
                        <m:r>
                          <m:rPr>
                            <m:sty m:val="p"/>
                          </m:rPr>
                          <a:rPr lang="zh-CN" sz="165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⋅</m:t>
                        </m:r>
                        <m:f>
                          <m:fPr>
                            <m:type m:val="bar"/>
                            <m:ctrlPr>
                              <a:rPr lang="zh-CN" sz="165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d>
                              <m:dPr>
                                <m:begChr m:val="‖"/>
                                <m:sepChr m:val=""/>
                                <m:endChr m:val="‖"/>
                                <m:grow m:val="on"/>
                                <m:ctrlPr>
                                  <a:rPr lang="zh-CN" sz="165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65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δA</m:t>
                                </m:r>
                              </m:e>
                            </m:d>
                          </m:num>
                          <m:den>
                            <m:d>
                              <m:dPr>
                                <m:begChr m:val="‖"/>
                                <m:sepChr m:val=""/>
                                <m:endChr m:val="‖"/>
                                <m:grow m:val="on"/>
                                <m:ctrlPr>
                                  <a:rPr lang="zh-CN" sz="165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65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A</m:t>
                                </m:r>
                              </m:e>
                            </m:d>
                          </m:den>
                        </m:f>
                      </m:oMath>
                    </m:oMathPara>
                  </a14:m>
                </a:p>
              </p:txBody>
            </p:sp>
          </mc:Choice>
        </mc:AlternateContent>
      </p:grpSp>
      <p:grpSp>
        <p:nvGrpSpPr>
          <p:cNvPr id="63" name="c2-card-2"/>
          <p:cNvGrpSpPr/>
          <p:nvPr/>
        </p:nvGrpSpPr>
        <p:grpSpPr>
          <a:xfrm>
            <a:off x="6680835" y="3050858"/>
            <a:ext cx="4977765" cy="3232785"/>
            <a:chOff x="6680835" y="3050858"/>
            <a:chExt cx="4977765" cy="3232785"/>
          </a:xfrm>
        </p:grpSpPr>
        <p:sp>
          <p:nvSpPr>
            <p:cNvPr id="55" name="Rectangle 55"/>
            <p:cNvSpPr/>
            <p:nvPr/>
          </p:nvSpPr>
          <p:spPr>
            <a:xfrm>
              <a:off x="6680835" y="3050858"/>
              <a:ext cx="4977765" cy="3232785"/>
            </a:xfrm>
            <a:prstGeom prst="roundRect">
              <a:avLst>
                <a:gd name="adj" fmla="val 4125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56" name="Rectangle 56"/>
            <p:cNvSpPr/>
            <p:nvPr/>
          </p:nvSpPr>
          <p:spPr>
            <a:xfrm>
              <a:off x="6690360" y="3184208"/>
              <a:ext cx="47625" cy="2966085"/>
            </a:xfrm>
            <a:prstGeom prst="roundRect">
              <a:avLst>
                <a:gd name="adj" fmla="val 50000"/>
              </a:avLst>
            </a:prstGeom>
            <a:solidFill>
              <a:srgbClr val="D97706"/>
            </a:solidFill>
            <a:ln>
              <a:noFill/>
            </a:ln>
          </p:spPr>
        </p:sp>
        <p:sp>
          <p:nvSpPr>
            <p:cNvPr id="57" name="Rectangle 57"/>
            <p:cNvSpPr/>
            <p:nvPr/>
          </p:nvSpPr>
          <p:spPr>
            <a:xfrm>
              <a:off x="6922770" y="3254692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58" name="TextBox 58"/>
            <p:cNvSpPr txBox="1"/>
            <p:nvPr/>
          </p:nvSpPr>
          <p:spPr>
            <a:xfrm>
              <a:off x="7013931" y="3290411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92400E"/>
                  </a:solidFill>
                  <a:latin typeface="+mn-lt"/>
                  <a:ea typeface="+mn-ea"/>
                  <a:cs typeface="+mn-cs"/>
                </a:rPr>
                <a:t>补充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7524179" y="3294221"/>
              <a:ext cx="180421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分母换成 ‖x‖ 的形式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6915531" y="3646646"/>
              <a:ext cx="4279519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记 κ = ‖A‖·‖A⁻¹‖。若 ‖A⁻¹‖·‖δA‖ &lt; 1，由 ‖δx‖ ≤ ‖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A⁻¹‖‖δA‖(‖x‖ + ‖δx‖) 移项得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1" name="formula114"/>
                <p:cNvSpPr txBox="1">
                  <a:spLocks noGrp="1"/>
                </p:cNvSpPr>
                <p:nvPr/>
              </p:nvSpPr>
              <p:spPr>
                <a:xfrm>
                  <a:off x="6922770" y="4213860"/>
                  <a:ext cx="4531995" cy="540068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f>
                          <m:fPr>
                            <m:type m:val="bar"/>
                            <m:ctrlP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d>
                              <m:dPr>
                                <m:begChr m:val="‖"/>
                                <m:sepChr m:val=""/>
                                <m:endChr m:val="‖"/>
                                <m:grow m:val="on"/>
                                <m:ctrlP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δx</m:t>
                                </m:r>
                              </m:e>
                            </m:d>
                          </m:num>
                          <m:den>
                            <m:d>
                              <m:dPr>
                                <m:begChr m:val="‖"/>
                                <m:sepChr m:val=""/>
                                <m:endChr m:val="‖"/>
                                <m:grow m:val="on"/>
                                <m:ctrlP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</m:d>
                          </m:den>
                        </m:f>
                        <m:r>
                          <m:rPr>
                            <m:sty m:val="p"/>
                          </m:rPr>
                          <a:rPr lang="zh-CN" sz="15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≤</m:t>
                        </m:r>
                        <m:f>
                          <m:fPr>
                            <m:type m:val="bar"/>
                            <m:ctrlP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κ</m:t>
                            </m:r>
                            <m: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 xml:space="preserve"> </m:t>
                            </m:r>
                            <m:d>
                              <m:dPr>
                                <m:begChr m:val="‖"/>
                                <m:sepChr m:val=""/>
                                <m:endChr m:val="‖"/>
                                <m:grow m:val="on"/>
                                <m:ctrlP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δA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/</m:t>
                            </m:r>
                            <m:d>
                              <m:dPr>
                                <m:begChr m:val="‖"/>
                                <m:sepChr m:val=""/>
                                <m:endChr m:val="‖"/>
                                <m:grow m:val="on"/>
                                <m:ctrlP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A</m:t>
                                </m:r>
                              </m:e>
                            </m:d>
                          </m:num>
                          <m:den>
                            <m: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  <m:r>
                              <m:rPr>
                                <m:sty m:val="p"/>
                              </m:rP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−</m:t>
                            </m:r>
                            <m: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κ</m:t>
                            </m:r>
                            <m: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 xml:space="preserve"> </m:t>
                            </m:r>
                            <m:d>
                              <m:dPr>
                                <m:begChr m:val="‖"/>
                                <m:sepChr m:val=""/>
                                <m:endChr m:val="‖"/>
                                <m:grow m:val="on"/>
                                <m:ctrlP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δA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/</m:t>
                            </m:r>
                            <m:d>
                              <m:dPr>
                                <m:begChr m:val="‖"/>
                                <m:sepChr m:val=""/>
                                <m:endChr m:val="‖"/>
                                <m:grow m:val="on"/>
                                <m:ctrlP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A</m:t>
                                </m:r>
                              </m:e>
                            </m:d>
                          </m:den>
                        </m:f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62" name="TextBox 62"/>
            <p:cNvSpPr txBox="1"/>
            <p:nvPr/>
          </p:nvSpPr>
          <p:spPr>
            <a:xfrm>
              <a:off x="6916674" y="4866322"/>
              <a:ext cx="319460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扰动很小时分母接近 1，放大系数仍约为 κ。</a:t>
              </a:r>
            </a:p>
          </p:txBody>
        </p:sp>
      </p:grpSp>
      <p:grpSp>
        <p:nvGrpSpPr>
          <p:cNvPr id="66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4" name="TextBox 64"/>
            <p:cNvSpPr txBox="1"/>
            <p:nvPr/>
          </p:nvSpPr>
          <p:spPr>
            <a:xfrm>
              <a:off x="528447" y="6581299"/>
              <a:ext cx="278038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第2章 解线性方程组的数值法（下）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518404" cy="909257"/>
            <a:chOff x="520446" y="342900"/>
            <a:chExt cx="551840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3694748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57751" y="407194"/>
              <a:ext cx="36450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第2章 线性方程组（下） · 矩阵的条件数与病态方程组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51840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条件数：衡量方程组对扰动有多敏感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5" name="c1-card-1"/>
          <p:cNvGrpSpPr/>
          <p:nvPr/>
        </p:nvGrpSpPr>
        <p:grpSpPr>
          <a:xfrm>
            <a:off x="533400" y="1524000"/>
            <a:ext cx="5410200" cy="1986915"/>
            <a:chOff x="533400" y="1524000"/>
            <a:chExt cx="5410200" cy="198691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10200" cy="1986915"/>
            </a:xfrm>
            <a:prstGeom prst="roundRect">
              <a:avLst>
                <a:gd name="adj" fmla="val 6711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720215"/>
            </a:xfrm>
            <a:prstGeom prst="roundRect">
              <a:avLst>
                <a:gd name="adj" fmla="val 50000"/>
              </a:avLst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58190" y="1710690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50862" y="1743551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定义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323784" y="1745932"/>
              <a:ext cx="5589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条件数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51332" y="2071688"/>
              <a:ext cx="233172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设 A ∈ Rⁿˣⁿ 为可逆矩阵，称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3" name="formula125"/>
                <p:cNvSpPr txBox="1">
                  <a:spLocks noGrp="1"/>
                </p:cNvSpPr>
                <p:nvPr/>
              </p:nvSpPr>
              <p:spPr>
                <a:xfrm>
                  <a:off x="758190" y="2349818"/>
                  <a:ext cx="4998720" cy="40005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sSub>
                          <m:e>
                            <m:r>
                              <m:rPr>
                                <m:sty m:val="p"/>
                              </m:rP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Cond</m:t>
                            </m:r>
                          </m:e>
                          <m:sub>
                            <m: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p</m:t>
                            </m:r>
                          </m:sub>
                        </m:sSub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A</m:t>
                            </m:r>
                          </m:e>
                        </m:d>
                        <m:r>
                          <m:rPr>
                            <m:sty m:val="p"/>
                          </m:rPr>
                          <a:rPr lang="zh-CN" sz="15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sSub>
                          <m:e>
                            <m:d>
                              <m:dPr>
                                <m:begChr m:val="‖"/>
                                <m:sepChr m:val=""/>
                                <m:endChr m:val="‖"/>
                                <m:grow m:val="on"/>
                                <m:ctrlP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A</m:t>
                                </m:r>
                              </m:e>
                            </m:d>
                          </m:e>
                          <m:sub>
                            <m: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p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zh-CN" sz="15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⋅</m:t>
                        </m:r>
                        <m:sSub>
                          <m:e>
                            <m:d>
                              <m:dPr>
                                <m:begChr m:val="‖"/>
                                <m:sepChr m:val=""/>
                                <m:endChr m:val="‖"/>
                                <m:grow m:val="on"/>
                                <m:ctrlP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sSup>
                                  <m:e>
                                    <m:r>
                                      <a:rPr lang="zh-CN" sz="15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A</m:t>
                                    </m:r>
                                  </m:e>
                                  <m:sup>
                                    <m:r>
                                      <m:rPr>
                                        <m:sty m:val="p"/>
                                      </m:rPr>
                                      <a:rPr lang="zh-CN" sz="15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−</m:t>
                                    </m:r>
                                    <m:r>
                                      <a:rPr lang="zh-CN" sz="15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1</m:t>
                                    </m:r>
                                  </m:sup>
                                </m:sSup>
                              </m:e>
                            </m:d>
                          </m:e>
                          <m:sub>
                            <m: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p</m:t>
                            </m:r>
                          </m:sub>
                        </m:sSub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14" name="TextBox 14"/>
            <p:cNvSpPr txBox="1"/>
            <p:nvPr/>
          </p:nvSpPr>
          <p:spPr>
            <a:xfrm>
              <a:off x="751332" y="2855595"/>
              <a:ext cx="481431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为矩阵 A 在范数 ‖·‖ₚ 意义下的</a:t>
              </a:r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条件数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。条件数越大，扰动误差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对解的影响越严重，因此称条件数过大的方程组为病态方程组。</a:t>
              </a:r>
            </a:p>
          </p:txBody>
        </p:sp>
      </p:grpSp>
      <p:grpSp>
        <p:nvGrpSpPr>
          <p:cNvPr id="26" name="c1-card-2"/>
          <p:cNvGrpSpPr/>
          <p:nvPr/>
        </p:nvGrpSpPr>
        <p:grpSpPr>
          <a:xfrm>
            <a:off x="533400" y="3680460"/>
            <a:ext cx="5410200" cy="2006918"/>
            <a:chOff x="533400" y="3680460"/>
            <a:chExt cx="5410200" cy="2006918"/>
          </a:xfrm>
        </p:grpSpPr>
        <p:sp>
          <p:nvSpPr>
            <p:cNvPr id="16" name="Rectangle 16"/>
            <p:cNvSpPr/>
            <p:nvPr/>
          </p:nvSpPr>
          <p:spPr>
            <a:xfrm>
              <a:off x="533400" y="3680460"/>
              <a:ext cx="5410200" cy="2006918"/>
            </a:xfrm>
            <a:prstGeom prst="roundRect">
              <a:avLst>
                <a:gd name="adj" fmla="val 6645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7" name="Rectangle 17"/>
            <p:cNvSpPr/>
            <p:nvPr/>
          </p:nvSpPr>
          <p:spPr>
            <a:xfrm>
              <a:off x="542925" y="3813810"/>
              <a:ext cx="47625" cy="1740218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18" name="Rectangle 18"/>
            <p:cNvSpPr/>
            <p:nvPr/>
          </p:nvSpPr>
          <p:spPr>
            <a:xfrm>
              <a:off x="758190" y="3867150"/>
              <a:ext cx="956310" cy="23812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835609" y="3900011"/>
              <a:ext cx="80147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性质（补充）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766762" y="4267200"/>
              <a:ext cx="59055" cy="5905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922782" y="4211002"/>
              <a:ext cx="268567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Condₚ(A) ≥ ‖AA⁻¹‖ₚ = ‖I‖ₚ = 1</a:t>
              </a:r>
            </a:p>
          </p:txBody>
        </p:sp>
        <p:sp>
          <p:nvSpPr>
            <p:cNvPr id="22" name="Ellipse 22"/>
            <p:cNvSpPr/>
            <p:nvPr/>
          </p:nvSpPr>
          <p:spPr>
            <a:xfrm>
              <a:off x="766762" y="4568190"/>
              <a:ext cx="59055" cy="5905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922782" y="4511992"/>
              <a:ext cx="4582858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Cond(cA) = Cond(A)（c ≠ 0）：方程两边同乘常数不改变病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态程度</a:t>
              </a:r>
            </a:p>
          </p:txBody>
        </p:sp>
        <p:sp>
          <p:nvSpPr>
            <p:cNvPr id="24" name="Ellipse 24"/>
            <p:cNvSpPr/>
            <p:nvPr/>
          </p:nvSpPr>
          <p:spPr>
            <a:xfrm>
              <a:off x="766762" y="5125402"/>
              <a:ext cx="59055" cy="5905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922782" y="5069205"/>
              <a:ext cx="305947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 对称时 Cond₂(A) = |λ|max / |λ|min</a:t>
              </a:r>
            </a:p>
          </p:txBody>
        </p:sp>
      </p:grpSp>
      <p:grpSp>
        <p:nvGrpSpPr>
          <p:cNvPr id="52" name="c2-table-1"/>
          <p:cNvGrpSpPr/>
          <p:nvPr/>
        </p:nvGrpSpPr>
        <p:grpSpPr>
          <a:xfrm>
            <a:off x="6243447" y="1524000"/>
            <a:ext cx="5415153" cy="1863756"/>
            <a:chOff x="6243447" y="1524000"/>
            <a:chExt cx="5415153" cy="1863756"/>
          </a:xfrm>
        </p:grpSpPr>
        <p:sp>
          <p:nvSpPr>
            <p:cNvPr id="27" name="Rectangle 27"/>
            <p:cNvSpPr/>
            <p:nvPr/>
          </p:nvSpPr>
          <p:spPr>
            <a:xfrm>
              <a:off x="6248400" y="1524000"/>
              <a:ext cx="5410200" cy="400050"/>
            </a:xfrm>
            <a:prstGeom prst="rect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687223" y="164544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上例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7998254" y="1645444"/>
              <a:ext cx="2874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‖A‖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9313095" y="1645444"/>
              <a:ext cx="4714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‖A⁻¹‖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10723778" y="1645444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条件数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6600151" y="2045494"/>
              <a:ext cx="4871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∞-范数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7928940" y="2045494"/>
              <a:ext cx="4260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13/12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377246" y="2045494"/>
              <a:ext cx="3431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1860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10775796" y="2045494"/>
              <a:ext cx="3597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2015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6248400" y="2319338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6248400" y="2324100"/>
              <a:ext cx="5410200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6600151" y="2445544"/>
              <a:ext cx="4871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1-范数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7928940" y="2445544"/>
              <a:ext cx="4260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13/12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9377246" y="2445544"/>
              <a:ext cx="3431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1860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10784088" y="2445544"/>
              <a:ext cx="3431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2015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6248400" y="2719388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6600151" y="2845594"/>
              <a:ext cx="4871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2-范数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7619853" y="2845594"/>
              <a:ext cx="104423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l-GR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λmax ≈ 0.8751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9045542" y="2845594"/>
              <a:ext cx="10065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l-GR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1/λmin ≈ 1546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10720009" y="2845594"/>
              <a:ext cx="4712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≈ 1353</a:t>
              </a:r>
            </a:p>
          </p:txBody>
        </p:sp>
        <p:sp>
          <p:nvSpPr>
            <p:cNvPr id="47" name="Rectangle 47"/>
            <p:cNvSpPr/>
            <p:nvPr/>
          </p:nvSpPr>
          <p:spPr>
            <a:xfrm>
              <a:off x="6248400" y="1524000"/>
              <a:ext cx="5410200" cy="160020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48" name="Rectangle 48"/>
            <p:cNvSpPr/>
            <p:nvPr/>
          </p:nvSpPr>
          <p:spPr>
            <a:xfrm>
              <a:off x="7434262" y="1524000"/>
              <a:ext cx="9525" cy="160020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9" name="Rectangle 49"/>
            <p:cNvSpPr/>
            <p:nvPr/>
          </p:nvSpPr>
          <p:spPr>
            <a:xfrm>
              <a:off x="8840152" y="1524000"/>
              <a:ext cx="9525" cy="160020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0" name="Rectangle 50"/>
            <p:cNvSpPr/>
            <p:nvPr/>
          </p:nvSpPr>
          <p:spPr>
            <a:xfrm>
              <a:off x="10246995" y="1524000"/>
              <a:ext cx="9525" cy="160020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6243447" y="3197066"/>
              <a:ext cx="460073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A 对称，1-范数与 ∞-范数相同；2-范数用特征值 0.8751、0.0409、0.000647</a:t>
              </a:r>
            </a:p>
          </p:txBody>
        </p:sp>
      </p:grpSp>
      <p:grpSp>
        <p:nvGrpSpPr>
          <p:cNvPr id="59" name="c2-callout-2"/>
          <p:cNvGrpSpPr/>
          <p:nvPr/>
        </p:nvGrpSpPr>
        <p:grpSpPr>
          <a:xfrm>
            <a:off x="6248400" y="3519488"/>
            <a:ext cx="5410200" cy="729615"/>
            <a:chOff x="6248400" y="3519488"/>
            <a:chExt cx="5410200" cy="729615"/>
          </a:xfrm>
        </p:grpSpPr>
        <p:sp>
          <p:nvSpPr>
            <p:cNvPr id="53" name="Rectangle 53"/>
            <p:cNvSpPr/>
            <p:nvPr/>
          </p:nvSpPr>
          <p:spPr>
            <a:xfrm>
              <a:off x="6248400" y="3519488"/>
              <a:ext cx="5410200" cy="729615"/>
            </a:xfrm>
            <a:prstGeom prst="roundRect">
              <a:avLst>
                <a:gd name="adj" fmla="val 15666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57" name="Group 57"/>
            <p:cNvGrpSpPr/>
            <p:nvPr/>
          </p:nvGrpSpPr>
          <p:grpSpPr>
            <a:xfrm>
              <a:off x="6453188" y="3784283"/>
              <a:ext cx="200026" cy="200025"/>
              <a:chOff x="6453188" y="3784283"/>
              <a:chExt cx="200026" cy="200025"/>
            </a:xfrm>
          </p:grpSpPr>
          <p:sp>
            <p:nvSpPr>
              <p:cNvPr id="54" name="Freeform 54"/>
              <p:cNvSpPr/>
              <p:nvPr/>
            </p:nvSpPr>
            <p:spPr>
              <a:xfrm>
                <a:off x="6453188" y="3784283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55" name="Freeform 55"/>
              <p:cNvSpPr/>
              <p:nvPr/>
            </p:nvSpPr>
            <p:spPr>
              <a:xfrm>
                <a:off x="6492926" y="3828733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56" name="Freeform 56"/>
              <p:cNvSpPr/>
              <p:nvPr/>
            </p:nvSpPr>
            <p:spPr>
              <a:xfrm>
                <a:off x="6527642" y="3939858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58" name="TextBox 58"/>
            <p:cNvSpPr txBox="1"/>
            <p:nvPr/>
          </p:nvSpPr>
          <p:spPr>
            <a:xfrm>
              <a:off x="6755892" y="3666172"/>
              <a:ext cx="4317111" cy="5126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经验：Cond(A) ≈ 10ᵗ 时，解大约会损失 t 位有效数字。</a:t>
              </a:r>
              <a:br/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本例 Cond∞ ≈ 2×10³，约损失 3 位。</a:t>
              </a:r>
            </a:p>
          </p:txBody>
        </p:sp>
      </p:grpSp>
      <p:grpSp>
        <p:nvGrpSpPr>
          <p:cNvPr id="65" name="c2-card-3"/>
          <p:cNvGrpSpPr/>
          <p:nvPr/>
        </p:nvGrpSpPr>
        <p:grpSpPr>
          <a:xfrm>
            <a:off x="6248400" y="4418648"/>
            <a:ext cx="5410200" cy="1268730"/>
            <a:chOff x="6248400" y="4418648"/>
            <a:chExt cx="5410200" cy="1268730"/>
          </a:xfrm>
        </p:grpSpPr>
        <p:sp>
          <p:nvSpPr>
            <p:cNvPr id="60" name="Rectangle 60"/>
            <p:cNvSpPr/>
            <p:nvPr/>
          </p:nvSpPr>
          <p:spPr>
            <a:xfrm>
              <a:off x="6248400" y="4418648"/>
              <a:ext cx="5410200" cy="1268730"/>
            </a:xfrm>
            <a:prstGeom prst="roundRect">
              <a:avLst>
                <a:gd name="adj" fmla="val 10511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61" name="Rectangle 61"/>
            <p:cNvSpPr/>
            <p:nvPr/>
          </p:nvSpPr>
          <p:spPr>
            <a:xfrm>
              <a:off x="6257925" y="4551998"/>
              <a:ext cx="47625" cy="1002030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62" name="Rectangle 62"/>
            <p:cNvSpPr/>
            <p:nvPr/>
          </p:nvSpPr>
          <p:spPr>
            <a:xfrm>
              <a:off x="6473190" y="4605338"/>
              <a:ext cx="2452688" cy="23812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63" name="TextBox 63"/>
            <p:cNvSpPr txBox="1"/>
            <p:nvPr/>
          </p:nvSpPr>
          <p:spPr>
            <a:xfrm>
              <a:off x="6515422" y="4638199"/>
              <a:ext cx="236727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‖A⁻¹‖∞：逐行取绝对值和，第 2 行最大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4" name="formula126"/>
                <p:cNvSpPr txBox="1">
                  <a:spLocks noGrp="1"/>
                </p:cNvSpPr>
                <p:nvPr/>
              </p:nvSpPr>
              <p:spPr>
                <a:xfrm>
                  <a:off x="6473190" y="4927282"/>
                  <a:ext cx="4998720" cy="55626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sSup>
                          <m:e>
                            <m:r>
                              <a:rPr lang="zh-CN" sz="12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A</m:t>
                            </m:r>
                          </m:e>
                          <m:sup>
                            <m:r>
                              <m:rPr>
                                <m:sty m:val="p"/>
                              </m:rPr>
                              <a:rPr lang="zh-CN" sz="12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−</m:t>
                            </m:r>
                            <m:r>
                              <a:rPr lang="zh-CN" sz="12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a:rPr lang="zh-CN" sz="12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d>
                          <m:dPr>
                            <m:begChr m:val="["/>
                            <m:sepChr m:val=""/>
                            <m:endChr m:val="]"/>
                            <m:grow m:val="on"/>
                            <m:ctrlPr>
                              <a:rPr lang="zh-CN" sz="12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m>
                              <m:mPr>
                                <m:baseJc m:val="center"/>
                                <m:plcHide m:val="on"/>
                                <m:mcs>
                                  <m:mc>
                                    <m:mcPr>
                                      <m:count m:val="1"/>
                                    </m:mcPr>
                                  </m:mc>
                                  <m:mc>
                                    <m:mcPr>
                                      <m:count m:val="1"/>
                                    </m:mcPr>
                                  </m:mc>
                                  <m:mc>
                                    <m:mcPr>
                                      <m:count m:val="1"/>
                                    </m:mcPr>
                                  </m:mc>
                                </m:mcs>
                              </m:mPr>
                              <m:mr>
                                <m:e>
                                  <m:r>
                                    <a:rPr lang="zh-CN" sz="12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72</m:t>
                                  </m:r>
                                </m:e>
                                <m:e>
                                  <m:r>
                                    <m:rPr>
                                      <m:sty m:val="p"/>
                                    </m:rPr>
                                    <a:rPr lang="zh-CN" sz="12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−</m:t>
                                  </m:r>
                                  <m:r>
                                    <a:rPr lang="zh-CN" sz="12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240</m:t>
                                  </m:r>
                                </m:e>
                                <m:e>
                                  <m:r>
                                    <a:rPr lang="zh-CN" sz="12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180</m:t>
                                  </m:r>
                                </m:e>
                              </m:mr>
                              <m:mr>
                                <m:e>
                                  <m:r>
                                    <m:rPr>
                                      <m:sty m:val="p"/>
                                    </m:rPr>
                                    <a:rPr lang="zh-CN" sz="12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−</m:t>
                                  </m:r>
                                  <m:r>
                                    <a:rPr lang="zh-CN" sz="12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240</m:t>
                                  </m:r>
                                </m:e>
                                <m:e>
                                  <m:r>
                                    <a:rPr lang="zh-CN" sz="12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900</m:t>
                                  </m:r>
                                </m:e>
                                <m:e>
                                  <m:r>
                                    <m:rPr>
                                      <m:sty m:val="p"/>
                                    </m:rPr>
                                    <a:rPr lang="zh-CN" sz="12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−</m:t>
                                  </m:r>
                                  <m:r>
                                    <a:rPr lang="zh-CN" sz="12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720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zh-CN" sz="12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180</m:t>
                                  </m:r>
                                </m:e>
                                <m:e>
                                  <m:r>
                                    <m:rPr>
                                      <m:sty m:val="p"/>
                                    </m:rPr>
                                    <a:rPr lang="zh-CN" sz="12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−</m:t>
                                  </m:r>
                                  <m:r>
                                    <a:rPr lang="zh-CN" sz="12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720</m:t>
                                  </m:r>
                                </m:e>
                                <m:e>
                                  <m:r>
                                    <a:rPr lang="zh-CN" sz="12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600</m:t>
                                  </m:r>
                                </m:e>
                              </m:mr>
                            </m:m>
                          </m:e>
                        </m:d>
                        <m:r>
                          <a:rPr lang="zh-CN" sz="12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 </m:t>
                        </m:r>
                        <m:m>
                          <m:mPr>
                            <m:baseJc m:val="center"/>
                            <m:plcHide m:val="on"/>
                            <m:mcs>
                              <m:mc>
                                <m:mcPr>
                                  <m:count m:val="1"/>
                                </m:mcPr>
                              </m:mc>
                            </m:mcs>
                          </m:mPr>
                          <m:mr>
                            <m:e>
                              <m:r>
                                <m:rPr>
                                  <m:sty m:val="p"/>
                                </m:rPr>
                                <a:rPr lang="zh-CN" sz="12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→</m:t>
                              </m:r>
                              <m:r>
                                <a:rPr lang="zh-CN" sz="12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492</m:t>
                              </m:r>
                            </m:e>
                          </m:mr>
                          <m:mr>
                            <m:e>
                              <m:r>
                                <m:rPr>
                                  <m:sty m:val="p"/>
                                </m:rPr>
                                <a:rPr lang="zh-CN" sz="12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→</m:t>
                              </m:r>
                              <m:r>
                                <a:rPr lang="zh-CN" sz="12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1860</m:t>
                              </m:r>
                            </m:e>
                          </m:mr>
                          <m:mr>
                            <m:e>
                              <m:r>
                                <m:rPr>
                                  <m:sty m:val="p"/>
                                </m:rPr>
                                <a:rPr lang="zh-CN" sz="12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→</m:t>
                              </m:r>
                              <m:r>
                                <a:rPr lang="zh-CN" sz="12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1500</m:t>
                              </m:r>
                            </m:e>
                          </m:mr>
                        </m:m>
                      </m:oMath>
                    </m:oMathPara>
                  </a14:m>
                </a:p>
              </p:txBody>
            </p:sp>
          </mc:Choice>
        </mc:AlternateContent>
      </p:grpSp>
      <p:grpSp>
        <p:nvGrpSpPr>
          <p:cNvPr id="72" name="takeaway"/>
          <p:cNvGrpSpPr/>
          <p:nvPr/>
        </p:nvGrpSpPr>
        <p:grpSpPr>
          <a:xfrm>
            <a:off x="533400" y="5881688"/>
            <a:ext cx="11125200" cy="481012"/>
            <a:chOff x="533400" y="5881688"/>
            <a:chExt cx="11125200" cy="481012"/>
          </a:xfrm>
        </p:grpSpPr>
        <p:sp>
          <p:nvSpPr>
            <p:cNvPr id="66" name="Rectangle 66"/>
            <p:cNvSpPr/>
            <p:nvPr/>
          </p:nvSpPr>
          <p:spPr>
            <a:xfrm>
              <a:off x="533400" y="5881688"/>
              <a:ext cx="11125200" cy="481012"/>
            </a:xfrm>
            <a:prstGeom prst="roundRect">
              <a:avLst>
                <a:gd name="adj" fmla="val 23762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70" name="Group 70"/>
            <p:cNvGrpSpPr/>
            <p:nvPr/>
          </p:nvGrpSpPr>
          <p:grpSpPr>
            <a:xfrm>
              <a:off x="726129" y="6018966"/>
              <a:ext cx="224134" cy="192560"/>
              <a:chOff x="726129" y="6018966"/>
              <a:chExt cx="224134" cy="192560"/>
            </a:xfrm>
          </p:grpSpPr>
          <p:sp>
            <p:nvSpPr>
              <p:cNvPr id="67" name="Freeform 67"/>
              <p:cNvSpPr/>
              <p:nvPr/>
            </p:nvSpPr>
            <p:spPr>
              <a:xfrm>
                <a:off x="838200" y="6089333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68" name="Freeform 68"/>
              <p:cNvSpPr/>
              <p:nvPr/>
            </p:nvSpPr>
            <p:spPr>
              <a:xfrm>
                <a:off x="726129" y="6018966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69" name="Freeform 69"/>
              <p:cNvSpPr/>
              <p:nvPr/>
            </p:nvSpPr>
            <p:spPr>
              <a:xfrm>
                <a:off x="838200" y="6167121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71" name="TextBox 71"/>
            <p:cNvSpPr txBox="1"/>
            <p:nvPr/>
          </p:nvSpPr>
          <p:spPr>
            <a:xfrm>
              <a:off x="1040892" y="6028373"/>
              <a:ext cx="988589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易错：不要用行列式判断病态。本例 det A = 1/43200 很小；把 A 换成 100A，行列式变为原来的 10⁶ 倍，条件数却不变。</a:t>
              </a:r>
            </a:p>
          </p:txBody>
        </p:sp>
      </p:grpSp>
      <p:grpSp>
        <p:nvGrpSpPr>
          <p:cNvPr id="75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73" name="TextBox 73"/>
            <p:cNvSpPr txBox="1"/>
            <p:nvPr/>
          </p:nvSpPr>
          <p:spPr>
            <a:xfrm>
              <a:off x="528447" y="6581299"/>
              <a:ext cx="278038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第2章 解线性方程组的数值法（下）</a:t>
              </a:r>
            </a:p>
          </p:txBody>
        </p:sp>
        <p:sp>
          <p:nvSpPr>
            <p:cNvPr id="74" name="TextBox 74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578090" cy="909257"/>
            <a:chOff x="520446" y="342900"/>
            <a:chExt cx="7578090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3694748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57751" y="407194"/>
              <a:ext cx="36450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第2章 线性方程组（下） · 矩阵的条件数与病态方程组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578090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矩阵的平衡：用对角矩阵缩放行和列，降低条件数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4" name="c1-steps-1"/>
          <p:cNvGrpSpPr/>
          <p:nvPr/>
        </p:nvGrpSpPr>
        <p:grpSpPr>
          <a:xfrm>
            <a:off x="533400" y="1533525"/>
            <a:ext cx="4879721" cy="2998755"/>
            <a:chOff x="533400" y="1533525"/>
            <a:chExt cx="4879721" cy="2998755"/>
          </a:xfrm>
        </p:grpSpPr>
        <p:sp>
          <p:nvSpPr>
            <p:cNvPr id="7" name="Rectangle 7"/>
            <p:cNvSpPr/>
            <p:nvPr/>
          </p:nvSpPr>
          <p:spPr>
            <a:xfrm>
              <a:off x="666750" y="1676400"/>
              <a:ext cx="19050" cy="242220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8" name="Ellipse 8"/>
            <p:cNvSpPr/>
            <p:nvPr/>
          </p:nvSpPr>
          <p:spPr>
            <a:xfrm>
              <a:off x="533400" y="1533525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27024" y="160734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533400" y="2419350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627024" y="249316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533400" y="3304222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627024" y="337804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33400" y="3955732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627024" y="402955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944880" y="156781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按行平衡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46023" y="1861661"/>
              <a:ext cx="4467098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条件数大的方程组 Ax = b 难以求解。用适当的非奇异对角矩阵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D₁ 左乘两端，得 D₁Ax = D₁b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944880" y="2453640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按列平衡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46023" y="2746534"/>
              <a:ext cx="3946906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再用非奇异对角矩阵 D₂ 右乘 A，令 x = D₂y，转而求解</a:t>
              </a:r>
              <a:br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D₁AD₂y = D₁b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944880" y="3338512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还原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946023" y="3632359"/>
              <a:ext cx="240372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由 x = D₂y 求得原方程组的解 x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44880" y="3990022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选择标准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46023" y="4282916"/>
              <a:ext cx="366275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选取 D₁、D₂，使矩阵 D₁AD₂ 的条件数尽可能小</a:t>
              </a:r>
            </a:p>
          </p:txBody>
        </p:sp>
      </p:grpSp>
      <p:grpSp>
        <p:nvGrpSpPr>
          <p:cNvPr id="31" name="c1-callout-2"/>
          <p:cNvGrpSpPr/>
          <p:nvPr/>
        </p:nvGrpSpPr>
        <p:grpSpPr>
          <a:xfrm>
            <a:off x="533400" y="4711065"/>
            <a:ext cx="5085398" cy="1059180"/>
            <a:chOff x="533400" y="4711065"/>
            <a:chExt cx="5085398" cy="1059180"/>
          </a:xfrm>
        </p:grpSpPr>
        <p:sp>
          <p:nvSpPr>
            <p:cNvPr id="25" name="Rectangle 25"/>
            <p:cNvSpPr/>
            <p:nvPr/>
          </p:nvSpPr>
          <p:spPr>
            <a:xfrm>
              <a:off x="533400" y="4711065"/>
              <a:ext cx="5085398" cy="1059180"/>
            </a:xfrm>
            <a:prstGeom prst="roundRect">
              <a:avLst>
                <a:gd name="adj" fmla="val 10791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29" name="Group 29"/>
            <p:cNvGrpSpPr/>
            <p:nvPr/>
          </p:nvGrpSpPr>
          <p:grpSpPr>
            <a:xfrm>
              <a:off x="738188" y="5140643"/>
              <a:ext cx="200026" cy="200026"/>
              <a:chOff x="738188" y="5140643"/>
              <a:chExt cx="200026" cy="200026"/>
            </a:xfrm>
          </p:grpSpPr>
          <p:sp>
            <p:nvSpPr>
              <p:cNvPr id="26" name="Freeform 26"/>
              <p:cNvSpPr/>
              <p:nvPr/>
            </p:nvSpPr>
            <p:spPr>
              <a:xfrm>
                <a:off x="738188" y="5140643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27" name="Freeform 27"/>
              <p:cNvSpPr/>
              <p:nvPr/>
            </p:nvSpPr>
            <p:spPr>
              <a:xfrm>
                <a:off x="838200" y="520731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28" name="Freeform 28"/>
              <p:cNvSpPr/>
              <p:nvPr/>
            </p:nvSpPr>
            <p:spPr>
              <a:xfrm>
                <a:off x="827088" y="5240655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30" name="TextBox 30"/>
            <p:cNvSpPr txBox="1"/>
            <p:nvPr/>
          </p:nvSpPr>
          <p:spPr>
            <a:xfrm>
              <a:off x="1040130" y="4859655"/>
              <a:ext cx="4206240" cy="8458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常见做法是让缩放后各行（各列）绝对值最大的元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素大小相近；对角元常取 2 的整数次幂，缩放本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身不引入舍入误差。</a:t>
              </a:r>
            </a:p>
          </p:txBody>
        </p:sp>
      </p:grpSp>
      <p:grpSp>
        <p:nvGrpSpPr>
          <p:cNvPr id="58" name="c2-card-1"/>
          <p:cNvGrpSpPr/>
          <p:nvPr/>
        </p:nvGrpSpPr>
        <p:grpSpPr>
          <a:xfrm>
            <a:off x="5923598" y="1524000"/>
            <a:ext cx="5735002" cy="4246245"/>
            <a:chOff x="5923598" y="1524000"/>
            <a:chExt cx="5735002" cy="4246245"/>
          </a:xfrm>
        </p:grpSpPr>
        <p:sp>
          <p:nvSpPr>
            <p:cNvPr id="32" name="Rectangle 32"/>
            <p:cNvSpPr/>
            <p:nvPr/>
          </p:nvSpPr>
          <p:spPr>
            <a:xfrm>
              <a:off x="5923598" y="1524000"/>
              <a:ext cx="5735002" cy="4246245"/>
            </a:xfrm>
            <a:prstGeom prst="roundRect">
              <a:avLst>
                <a:gd name="adj" fmla="val 3140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3" name="Rectangle 33"/>
            <p:cNvSpPr/>
            <p:nvPr/>
          </p:nvSpPr>
          <p:spPr>
            <a:xfrm>
              <a:off x="5933122" y="1657350"/>
              <a:ext cx="47625" cy="3979545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34" name="Rectangle 34"/>
            <p:cNvSpPr/>
            <p:nvPr/>
          </p:nvSpPr>
          <p:spPr>
            <a:xfrm>
              <a:off x="6171248" y="1733550"/>
              <a:ext cx="636270" cy="25717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6257506" y="1769269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补充例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914198" y="1768792"/>
              <a:ext cx="329761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按行平衡把条件数从约 10⁴ 降到约 4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7" name="formula128"/>
                <p:cNvSpPr txBox="1">
                  <a:spLocks noGrp="1"/>
                </p:cNvSpPr>
                <p:nvPr/>
              </p:nvSpPr>
              <p:spPr>
                <a:xfrm>
                  <a:off x="6171248" y="2105025"/>
                  <a:ext cx="5277802" cy="4953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r>
                          <a:rPr lang="zh-CN" sz="15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A</m:t>
                        </m:r>
                        <m:r>
                          <m:rPr>
                            <m:sty m:val="p"/>
                          </m:rPr>
                          <a:rPr lang="zh-CN" sz="15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d>
                          <m:dPr>
                            <m:begChr m:val="["/>
                            <m:sepChr m:val=""/>
                            <m:endChr m:val="]"/>
                            <m:grow m:val="on"/>
                            <m:ctrlP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m>
                              <m:mPr>
                                <m:baseJc m:val="center"/>
                                <m:plcHide m:val="on"/>
                                <m:mcs>
                                  <m:mc>
                                    <m:mcPr>
                                      <m:count m:val="1"/>
                                    </m:mcPr>
                                  </m:mc>
                                  <m:mc>
                                    <m:mcPr>
                                      <m:count m:val="1"/>
                                    </m:mcPr>
                                  </m:mc>
                                </m:mcs>
                              </m:mPr>
                              <m:mr>
                                <m:e>
                                  <m:r>
                                    <a:rPr lang="zh-CN" sz="15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1</m:t>
                                  </m:r>
                                </m:e>
                                <m:e>
                                  <m:r>
                                    <a:rPr lang="zh-CN" sz="15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1</m:t>
                                  </m:r>
                                  <m:sSup>
                                    <m:e>
                                      <m:r>
                                        <a:rPr lang="zh-CN" sz="150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0</m:t>
                                      </m:r>
                                    </m:e>
                                    <m:sup>
                                      <m:r>
                                        <a:rPr lang="zh-CN" sz="150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4</m:t>
                                      </m:r>
                                    </m:sup>
                                  </m:sSup>
                                </m:e>
                              </m:mr>
                              <m:mr>
                                <m:e>
                                  <m:r>
                                    <a:rPr lang="zh-CN" sz="15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1</m:t>
                                  </m:r>
                                </m:e>
                                <m:e>
                                  <m:r>
                                    <a:rPr lang="zh-CN" sz="15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1</m:t>
                                  </m:r>
                                </m:e>
                              </m:mr>
                            </m:m>
                          </m:e>
                        </m:d>
                        <m:r>
                          <m:rPr>
                            <m:sty m:val="p"/>
                          </m:rPr>
                          <a:rPr lang="zh-CN" sz="15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,</m:t>
                        </m:r>
                        <m:r>
                          <a:rPr lang="zh-CN" sz="15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  </m:t>
                        </m:r>
                        <m:sSub>
                          <m:e>
                            <m: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D</m:t>
                            </m:r>
                          </m:e>
                          <m:sub>
                            <m: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zh-CN" sz="15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d>
                          <m:dPr>
                            <m:begChr m:val="["/>
                            <m:sepChr m:val=""/>
                            <m:endChr m:val="]"/>
                            <m:grow m:val="on"/>
                            <m:ctrlP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m>
                              <m:mPr>
                                <m:baseJc m:val="center"/>
                                <m:plcHide m:val="on"/>
                                <m:mcs>
                                  <m:mc>
                                    <m:mcPr>
                                      <m:count m:val="1"/>
                                    </m:mcPr>
                                  </m:mc>
                                  <m:mc>
                                    <m:mcPr>
                                      <m:count m:val="1"/>
                                    </m:mcPr>
                                  </m:mc>
                                </m:mcs>
                              </m:mPr>
                              <m:mr>
                                <m:e>
                                  <m:r>
                                    <a:rPr lang="zh-CN" sz="15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1</m:t>
                                  </m:r>
                                  <m:sSup>
                                    <m:e>
                                      <m:r>
                                        <a:rPr lang="zh-CN" sz="150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0</m:t>
                                      </m:r>
                                    </m:e>
                                    <m:sup>
                                      <m:r>
                                        <m:rPr>
                                          <m:sty m:val="p"/>
                                        </m:rPr>
                                        <a:rPr lang="zh-CN" sz="150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−</m:t>
                                      </m:r>
                                      <m:r>
                                        <a:rPr lang="zh-CN" sz="150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4</m:t>
                                      </m:r>
                                    </m:sup>
                                  </m:sSup>
                                </m:e>
                                <m:e>
                                  <m:r>
                                    <a:rPr lang="zh-CN" sz="15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0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zh-CN" sz="15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zh-CN" sz="15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1</m:t>
                                  </m:r>
                                </m:e>
                              </m:mr>
                            </m:m>
                          </m:e>
                        </m:d>
                        <m:r>
                          <m:rPr>
                            <m:sty m:val="p"/>
                          </m:rPr>
                          <a:rPr lang="zh-CN" sz="15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,</m:t>
                        </m:r>
                        <m:r>
                          <a:rPr lang="zh-CN" sz="15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  </m:t>
                        </m:r>
                        <m:sSub>
                          <m:e>
                            <m: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D</m:t>
                            </m:r>
                          </m:e>
                          <m:sub>
                            <m: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</m:sub>
                        </m:sSub>
                        <m:r>
                          <a:rPr lang="zh-CN" sz="15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A</m:t>
                        </m:r>
                        <m:r>
                          <m:rPr>
                            <m:sty m:val="p"/>
                          </m:rPr>
                          <a:rPr lang="zh-CN" sz="15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d>
                          <m:dPr>
                            <m:begChr m:val="["/>
                            <m:sepChr m:val=""/>
                            <m:endChr m:val="]"/>
                            <m:grow m:val="on"/>
                            <m:ctrlP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m>
                              <m:mPr>
                                <m:baseJc m:val="center"/>
                                <m:plcHide m:val="on"/>
                                <m:mcs>
                                  <m:mc>
                                    <m:mcPr>
                                      <m:count m:val="1"/>
                                    </m:mcPr>
                                  </m:mc>
                                  <m:mc>
                                    <m:mcPr>
                                      <m:count m:val="1"/>
                                    </m:mcPr>
                                  </m:mc>
                                </m:mcs>
                              </m:mPr>
                              <m:mr>
                                <m:e>
                                  <m:r>
                                    <a:rPr lang="zh-CN" sz="15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1</m:t>
                                  </m:r>
                                  <m:sSup>
                                    <m:e>
                                      <m:r>
                                        <a:rPr lang="zh-CN" sz="150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0</m:t>
                                      </m:r>
                                    </m:e>
                                    <m:sup>
                                      <m:r>
                                        <m:rPr>
                                          <m:sty m:val="p"/>
                                        </m:rPr>
                                        <a:rPr lang="zh-CN" sz="150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−</m:t>
                                      </m:r>
                                      <m:r>
                                        <a:rPr lang="zh-CN" sz="150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4</m:t>
                                      </m:r>
                                    </m:sup>
                                  </m:sSup>
                                </m:e>
                                <m:e>
                                  <m:r>
                                    <a:rPr lang="zh-CN" sz="15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1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zh-CN" sz="15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1</m:t>
                                  </m:r>
                                </m:e>
                                <m:e>
                                  <m:r>
                                    <a:rPr lang="zh-CN" sz="15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1</m:t>
                                  </m:r>
                                </m:e>
                              </m:mr>
                            </m:m>
                          </m:e>
                        </m:d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38" name="Rectangle 38"/>
            <p:cNvSpPr/>
            <p:nvPr/>
          </p:nvSpPr>
          <p:spPr>
            <a:xfrm>
              <a:off x="6171248" y="2695575"/>
              <a:ext cx="5277802" cy="448628"/>
            </a:xfrm>
            <a:prstGeom prst="rect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6573482" y="2831306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矩阵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7654531" y="2831306"/>
              <a:ext cx="41099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‖·‖∞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8707704" y="2831306"/>
              <a:ext cx="115453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逆矩阵的 ‖·‖∞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10556862" y="2831306"/>
              <a:ext cx="51755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Cond∞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6693224" y="3393281"/>
              <a:ext cx="11809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7616622" y="3393281"/>
              <a:ext cx="48681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10001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8762365" y="3279934"/>
              <a:ext cx="1045210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10001/9999 ≈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1.0002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10483488" y="3393281"/>
              <a:ext cx="66429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≈ 10003</a:t>
              </a:r>
            </a:p>
          </p:txBody>
        </p:sp>
        <p:sp>
          <p:nvSpPr>
            <p:cNvPr id="47" name="Rectangle 47"/>
            <p:cNvSpPr/>
            <p:nvPr/>
          </p:nvSpPr>
          <p:spPr>
            <a:xfrm>
              <a:off x="6171248" y="3814762"/>
              <a:ext cx="527780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8" name="Rectangle 48"/>
            <p:cNvSpPr/>
            <p:nvPr/>
          </p:nvSpPr>
          <p:spPr>
            <a:xfrm>
              <a:off x="6171248" y="3819525"/>
              <a:ext cx="5277802" cy="675322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6588080" y="4068604"/>
              <a:ext cx="32838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D₁A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7806167" y="4068604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8762365" y="3955256"/>
              <a:ext cx="1045210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20000/9999 ≈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2.0002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10433732" y="4068604"/>
              <a:ext cx="76381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≈ 4.0004</a:t>
              </a:r>
            </a:p>
          </p:txBody>
        </p:sp>
        <p:sp>
          <p:nvSpPr>
            <p:cNvPr id="53" name="Rectangle 53"/>
            <p:cNvSpPr/>
            <p:nvPr/>
          </p:nvSpPr>
          <p:spPr>
            <a:xfrm>
              <a:off x="6171248" y="2695575"/>
              <a:ext cx="5277802" cy="180022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54" name="Rectangle 54"/>
            <p:cNvSpPr/>
            <p:nvPr/>
          </p:nvSpPr>
          <p:spPr>
            <a:xfrm>
              <a:off x="7327582" y="2695575"/>
              <a:ext cx="9525" cy="18002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5" name="Rectangle 55"/>
            <p:cNvSpPr/>
            <p:nvPr/>
          </p:nvSpPr>
          <p:spPr>
            <a:xfrm>
              <a:off x="8382952" y="2695575"/>
              <a:ext cx="9525" cy="18002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6" name="Rectangle 56"/>
            <p:cNvSpPr/>
            <p:nvPr/>
          </p:nvSpPr>
          <p:spPr>
            <a:xfrm>
              <a:off x="10177462" y="2695575"/>
              <a:ext cx="9525" cy="18002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7" name="TextBox 57"/>
            <p:cNvSpPr txBox="1"/>
            <p:nvPr/>
          </p:nvSpPr>
          <p:spPr>
            <a:xfrm>
              <a:off x="6164770" y="4611529"/>
              <a:ext cx="4954778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第 1 个方程两边除以 10⁴ 后，两行元素大小同量级。方程组的解没有</a:t>
              </a:r>
              <a:br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变，病态程度却大大降低。</a:t>
              </a:r>
            </a:p>
          </p:txBody>
        </p:sp>
      </p:grpSp>
      <p:grpSp>
        <p:nvGrpSpPr>
          <p:cNvPr id="6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9" name="TextBox 59"/>
            <p:cNvSpPr txBox="1"/>
            <p:nvPr/>
          </p:nvSpPr>
          <p:spPr>
            <a:xfrm>
              <a:off x="528447" y="6581299"/>
              <a:ext cx="278038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第2章 解线性方程组的数值法（下）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2E7D4F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5F2EA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07</a:t>
              </a:r>
            </a:p>
          </p:txBody>
        </p:sp>
      </p:grpSp>
      <p:grpSp>
        <p:nvGrpSpPr>
          <p:cNvPr id="18" name="section-title"/>
          <p:cNvGrpSpPr/>
          <p:nvPr/>
        </p:nvGrpSpPr>
        <p:grpSpPr>
          <a:xfrm>
            <a:off x="667512" y="1835468"/>
            <a:ext cx="4247007" cy="3351847"/>
            <a:chOff x="667512" y="1835468"/>
            <a:chExt cx="4247007" cy="335184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567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2.7 节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1490472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迭代法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423710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从初始近似出发反复代入，逐步逼近精确解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26403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迭代法的一般形式与收敛条件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误差估计与停止准则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596765"/>
              <a:ext cx="76200" cy="7620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539615"/>
              <a:ext cx="1303877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Jacobi 迭代法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723900" y="4951095"/>
              <a:ext cx="76200" cy="7620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06780" y="4893945"/>
              <a:ext cx="334019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Gauss-Seidel 迭代法与两个对比例题</a:t>
              </a:r>
            </a:p>
          </p:txBody>
        </p:sp>
      </p:grpSp>
      <p:grpSp>
        <p:nvGrpSpPr>
          <p:cNvPr id="2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9" name="TextBox 19"/>
            <p:cNvSpPr txBox="1"/>
            <p:nvPr/>
          </p:nvSpPr>
          <p:spPr>
            <a:xfrm>
              <a:off x="528447" y="6581299"/>
              <a:ext cx="278038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第2章 解线性方程组的数值法（下）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8264652" cy="909257"/>
            <a:chOff x="520446" y="342900"/>
            <a:chExt cx="8264652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14588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6156" y="407194"/>
              <a:ext cx="22881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第2章 线性方程组（下） · 迭代法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826465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为什么要用迭代法：大型稀疏方程组上直接法代价太高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8" name="c1-card-1"/>
          <p:cNvGrpSpPr/>
          <p:nvPr/>
        </p:nvGrpSpPr>
        <p:grpSpPr>
          <a:xfrm>
            <a:off x="533400" y="1524000"/>
            <a:ext cx="4544378" cy="3398520"/>
            <a:chOff x="533400" y="1524000"/>
            <a:chExt cx="4544378" cy="339852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4544378" cy="3398520"/>
            </a:xfrm>
            <a:prstGeom prst="roundRect">
              <a:avLst>
                <a:gd name="adj" fmla="val 392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3131820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81050" y="1733550"/>
              <a:ext cx="1062990" cy="25717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54507" y="1769269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回顾：直接法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950720" y="1768792"/>
              <a:ext cx="209234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Gauss 消元（2.2 节）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2" name="formula130"/>
                <p:cNvSpPr txBox="1">
                  <a:spLocks noGrp="1"/>
                </p:cNvSpPr>
                <p:nvPr/>
              </p:nvSpPr>
              <p:spPr>
                <a:xfrm>
                  <a:off x="781050" y="2105025"/>
                  <a:ext cx="4087178" cy="104965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d>
                          <m:dPr>
                            <m:begChr m:val="{"/>
                            <m:sepChr m:val=""/>
                            <m:endChr m:val=""/>
                            <m:grow m:val="on"/>
                            <m:ctrlP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eqArr>
                              <m:eqArrPr>
                                <m:baseJc m:val="center"/>
                              </m:eqArrPr>
                              <m:e>
                                <m: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&amp;</m:t>
                                </m:r>
                                <m: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3</m:t>
                                </m:r>
                                <m:sSub>
                                  <m:e>
                                    <m:r>
                                      <a:rPr lang="zh-CN" sz="15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</m:e>
                                  <m:sub>
                                    <m:r>
                                      <a:rPr lang="zh-CN" sz="15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+</m:t>
                                </m:r>
                                <m: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2</m:t>
                                </m:r>
                                <m:sSub>
                                  <m:e>
                                    <m:r>
                                      <a:rPr lang="zh-CN" sz="15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</m:e>
                                  <m:sub>
                                    <m:r>
                                      <a:rPr lang="zh-CN" sz="15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+</m:t>
                                </m:r>
                                <m:sSub>
                                  <m:e>
                                    <m:r>
                                      <a:rPr lang="zh-CN" sz="15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</m:e>
                                  <m:sub>
                                    <m:r>
                                      <a:rPr lang="zh-CN" sz="15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3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=</m:t>
                                </m:r>
                                <m: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39</m:t>
                                </m:r>
                              </m:e>
                              <m:e>
                                <m: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&amp;</m:t>
                                </m:r>
                                <m: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2</m:t>
                                </m:r>
                                <m:sSub>
                                  <m:e>
                                    <m:r>
                                      <a:rPr lang="zh-CN" sz="15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</m:e>
                                  <m:sub>
                                    <m:r>
                                      <a:rPr lang="zh-CN" sz="15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+</m:t>
                                </m:r>
                                <m: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3</m:t>
                                </m:r>
                                <m:sSub>
                                  <m:e>
                                    <m:r>
                                      <a:rPr lang="zh-CN" sz="15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</m:e>
                                  <m:sub>
                                    <m:r>
                                      <a:rPr lang="zh-CN" sz="15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+</m:t>
                                </m:r>
                                <m:sSub>
                                  <m:e>
                                    <m:r>
                                      <a:rPr lang="zh-CN" sz="15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</m:e>
                                  <m:sub>
                                    <m:r>
                                      <a:rPr lang="zh-CN" sz="15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3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=</m:t>
                                </m:r>
                                <m: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34</m:t>
                                </m:r>
                              </m:e>
                              <m:e>
                                <m: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&amp;</m:t>
                                </m:r>
                                <m:sSub>
                                  <m:e>
                                    <m:r>
                                      <a:rPr lang="zh-CN" sz="15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</m:e>
                                  <m:sub>
                                    <m:r>
                                      <a:rPr lang="zh-CN" sz="15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+</m:t>
                                </m:r>
                                <m: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2</m:t>
                                </m:r>
                                <m:sSub>
                                  <m:e>
                                    <m:r>
                                      <a:rPr lang="zh-CN" sz="15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</m:e>
                                  <m:sub>
                                    <m:r>
                                      <a:rPr lang="zh-CN" sz="15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+</m:t>
                                </m:r>
                                <m: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3</m:t>
                                </m:r>
                                <m:sSub>
                                  <m:e>
                                    <m:r>
                                      <a:rPr lang="zh-CN" sz="15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</m:e>
                                  <m:sub>
                                    <m:r>
                                      <a:rPr lang="zh-CN" sz="15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3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=</m:t>
                                </m:r>
                                <m: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26</m:t>
                                </m:r>
                              </m:e>
                            </m:eqArr>
                          </m:e>
                        </m:d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13" name="Ellipse 13"/>
            <p:cNvSpPr/>
            <p:nvPr/>
          </p:nvSpPr>
          <p:spPr>
            <a:xfrm>
              <a:off x="786765" y="3338512"/>
              <a:ext cx="64770" cy="6477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944880" y="3275648"/>
              <a:ext cx="349186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消元：第 2 行 − 第 1 行 × 2/3，第 3 行 −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 1 行 × 1/3；再第 3 行 − 第 2 行 × 4/5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786765" y="3959543"/>
              <a:ext cx="64770" cy="6477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44880" y="3896678"/>
              <a:ext cx="361569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得 (12/5)x₃ = 33/5，回代 x₃ = 11/4，x₂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= 17/4，x₁ = 37/4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774573" y="4513421"/>
              <a:ext cx="328691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不计舍入误差，有限步运算后得到精确解。</a:t>
              </a:r>
            </a:p>
          </p:txBody>
        </p:sp>
      </p:grpSp>
      <p:grpSp>
        <p:nvGrpSpPr>
          <p:cNvPr id="25" name="c1-callout-2"/>
          <p:cNvGrpSpPr/>
          <p:nvPr/>
        </p:nvGrpSpPr>
        <p:grpSpPr>
          <a:xfrm>
            <a:off x="533400" y="5113020"/>
            <a:ext cx="4544378" cy="1059180"/>
            <a:chOff x="533400" y="5113020"/>
            <a:chExt cx="4544378" cy="1059180"/>
          </a:xfrm>
        </p:grpSpPr>
        <p:sp>
          <p:nvSpPr>
            <p:cNvPr id="19" name="Rectangle 19"/>
            <p:cNvSpPr/>
            <p:nvPr/>
          </p:nvSpPr>
          <p:spPr>
            <a:xfrm>
              <a:off x="533400" y="5113020"/>
              <a:ext cx="4544378" cy="1059180"/>
            </a:xfrm>
            <a:prstGeom prst="roundRect">
              <a:avLst>
                <a:gd name="adj" fmla="val 10791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23" name="Group 23"/>
            <p:cNvGrpSpPr/>
            <p:nvPr/>
          </p:nvGrpSpPr>
          <p:grpSpPr>
            <a:xfrm>
              <a:off x="738188" y="5542598"/>
              <a:ext cx="200026" cy="200026"/>
              <a:chOff x="738188" y="5542598"/>
              <a:chExt cx="200026" cy="200026"/>
            </a:xfrm>
          </p:grpSpPr>
          <p:sp>
            <p:nvSpPr>
              <p:cNvPr id="20" name="Freeform 20"/>
              <p:cNvSpPr/>
              <p:nvPr/>
            </p:nvSpPr>
            <p:spPr>
              <a:xfrm>
                <a:off x="738188" y="5542598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21" name="Freeform 21"/>
              <p:cNvSpPr/>
              <p:nvPr/>
            </p:nvSpPr>
            <p:spPr>
              <a:xfrm>
                <a:off x="838200" y="560927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22" name="Freeform 22"/>
              <p:cNvSpPr/>
              <p:nvPr/>
            </p:nvSpPr>
            <p:spPr>
              <a:xfrm>
                <a:off x="827088" y="5642610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24" name="TextBox 24"/>
            <p:cNvSpPr txBox="1"/>
            <p:nvPr/>
          </p:nvSpPr>
          <p:spPr>
            <a:xfrm>
              <a:off x="1040130" y="5261610"/>
              <a:ext cx="3634740" cy="8458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消元的每一步都要更新右下角整块子矩阵，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原来为零的位置会变成非零（填充），大型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稀疏矩阵的稀疏性因此被破坏。</a:t>
              </a:r>
            </a:p>
          </p:txBody>
        </p:sp>
      </p:grpSp>
      <p:grpSp>
        <p:nvGrpSpPr>
          <p:cNvPr id="50" name="c2-table-1"/>
          <p:cNvGrpSpPr/>
          <p:nvPr/>
        </p:nvGrpSpPr>
        <p:grpSpPr>
          <a:xfrm>
            <a:off x="5382578" y="1524000"/>
            <a:ext cx="6276022" cy="3150870"/>
            <a:chOff x="5382578" y="1524000"/>
            <a:chExt cx="6276022" cy="3150870"/>
          </a:xfrm>
        </p:grpSpPr>
        <p:sp>
          <p:nvSpPr>
            <p:cNvPr id="26" name="Rectangle 26"/>
            <p:cNvSpPr/>
            <p:nvPr/>
          </p:nvSpPr>
          <p:spPr>
            <a:xfrm>
              <a:off x="5382578" y="1524000"/>
              <a:ext cx="6276022" cy="448628"/>
            </a:xfrm>
            <a:prstGeom prst="rect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5705754" y="165973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代价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7184076" y="1659731"/>
              <a:ext cx="91566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Gauss 消元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9133082" y="1659731"/>
              <a:ext cx="228878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迭代法（每行约 5 个非零元）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5490401" y="2335054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乘除次数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494336" y="2108359"/>
              <a:ext cx="2020570" cy="70275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n³/3 + n² − n/3；n = 20 时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3060，n = 10⁴ 时约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3.3×10¹¹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9005126" y="2221706"/>
              <a:ext cx="2394458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每步约为非零元个数：n = 10⁴ 时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5×10⁴，迭代 100 步共 5×10⁶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5382578" y="2869882"/>
              <a:ext cx="627602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4" name="Rectangle 34"/>
            <p:cNvSpPr/>
            <p:nvPr/>
          </p:nvSpPr>
          <p:spPr>
            <a:xfrm>
              <a:off x="5382578" y="2874645"/>
              <a:ext cx="6276022" cy="675322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5490401" y="3123724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存储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494336" y="3010376"/>
              <a:ext cx="2183130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稠密存 n² 个元素，n = 10⁴ 时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10⁸ 个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9005126" y="3010376"/>
              <a:ext cx="2426970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只存约 5n 个非零元和几个 n 维向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量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5382578" y="3546158"/>
              <a:ext cx="627602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5490401" y="3799046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结果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6494336" y="3685699"/>
              <a:ext cx="2126234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有限步得精确解（不计舍入误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差）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9005126" y="3799046"/>
              <a:ext cx="225303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近似解，精度由停止准则控制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5382578" y="4221480"/>
              <a:ext cx="627602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3" name="Rectangle 43"/>
            <p:cNvSpPr/>
            <p:nvPr/>
          </p:nvSpPr>
          <p:spPr>
            <a:xfrm>
              <a:off x="5382578" y="4226242"/>
              <a:ext cx="6276022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5490401" y="436102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前提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6494336" y="4361021"/>
              <a:ext cx="190840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主元不为零（或选主元）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9005126" y="4361021"/>
              <a:ext cx="139146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要先判断是否收敛</a:t>
              </a:r>
            </a:p>
          </p:txBody>
        </p:sp>
        <p:sp>
          <p:nvSpPr>
            <p:cNvPr id="47" name="Rectangle 47"/>
            <p:cNvSpPr/>
            <p:nvPr/>
          </p:nvSpPr>
          <p:spPr>
            <a:xfrm>
              <a:off x="5382578" y="1524000"/>
              <a:ext cx="6276022" cy="315087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48" name="Rectangle 48"/>
            <p:cNvSpPr/>
            <p:nvPr/>
          </p:nvSpPr>
          <p:spPr>
            <a:xfrm>
              <a:off x="6381750" y="1524000"/>
              <a:ext cx="9525" cy="315087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9" name="Rectangle 49"/>
            <p:cNvSpPr/>
            <p:nvPr/>
          </p:nvSpPr>
          <p:spPr>
            <a:xfrm>
              <a:off x="8892540" y="1524000"/>
              <a:ext cx="9525" cy="315087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57" name="c2-callout-2"/>
          <p:cNvGrpSpPr/>
          <p:nvPr/>
        </p:nvGrpSpPr>
        <p:grpSpPr>
          <a:xfrm>
            <a:off x="5382578" y="4865370"/>
            <a:ext cx="6276022" cy="1306830"/>
            <a:chOff x="5382578" y="4865370"/>
            <a:chExt cx="6276022" cy="1306830"/>
          </a:xfrm>
        </p:grpSpPr>
        <p:sp>
          <p:nvSpPr>
            <p:cNvPr id="51" name="Rectangle 51"/>
            <p:cNvSpPr/>
            <p:nvPr/>
          </p:nvSpPr>
          <p:spPr>
            <a:xfrm>
              <a:off x="5382578" y="4865370"/>
              <a:ext cx="6276022" cy="1306830"/>
            </a:xfrm>
            <a:prstGeom prst="roundRect">
              <a:avLst>
                <a:gd name="adj" fmla="val 8746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55" name="Group 55"/>
            <p:cNvGrpSpPr/>
            <p:nvPr/>
          </p:nvGrpSpPr>
          <p:grpSpPr>
            <a:xfrm>
              <a:off x="5587365" y="5418773"/>
              <a:ext cx="200026" cy="200025"/>
              <a:chOff x="5587365" y="5418773"/>
              <a:chExt cx="200026" cy="200025"/>
            </a:xfrm>
          </p:grpSpPr>
          <p:sp>
            <p:nvSpPr>
              <p:cNvPr id="52" name="Freeform 52"/>
              <p:cNvSpPr/>
              <p:nvPr/>
            </p:nvSpPr>
            <p:spPr>
              <a:xfrm>
                <a:off x="5587365" y="5418773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53" name="Freeform 53"/>
              <p:cNvSpPr/>
              <p:nvPr/>
            </p:nvSpPr>
            <p:spPr>
              <a:xfrm>
                <a:off x="5627104" y="5463223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54" name="Freeform 54"/>
              <p:cNvSpPr/>
              <p:nvPr/>
            </p:nvSpPr>
            <p:spPr>
              <a:xfrm>
                <a:off x="5661819" y="5574348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56" name="TextBox 56"/>
            <p:cNvSpPr txBox="1"/>
            <p:nvPr/>
          </p:nvSpPr>
          <p:spPr>
            <a:xfrm>
              <a:off x="5889308" y="5275898"/>
              <a:ext cx="5130165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迭代法保持迭代矩阵不变，A 中的零元素不必存储也不参与运</a:t>
              </a:r>
              <a:br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算，所以特别适合求解大型稀疏系数矩阵的方程组。</a:t>
              </a:r>
            </a:p>
          </p:txBody>
        </p:sp>
      </p:grpSp>
      <p:grpSp>
        <p:nvGrpSpPr>
          <p:cNvPr id="60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8" name="TextBox 58"/>
            <p:cNvSpPr txBox="1"/>
            <p:nvPr/>
          </p:nvSpPr>
          <p:spPr>
            <a:xfrm>
              <a:off x="528447" y="6581299"/>
              <a:ext cx="278038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第2章 解线性方程组的数值法（下）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491816" cy="909257"/>
            <a:chOff x="520446" y="342900"/>
            <a:chExt cx="7491816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14588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6156" y="407194"/>
              <a:ext cx="22881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第2章 线性方程组（下） · 迭代法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491816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迭代法的一般形式：把 Ax = b 改写成 x = Hx + g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4" name="c1-steps-1"/>
          <p:cNvGrpSpPr/>
          <p:nvPr/>
        </p:nvGrpSpPr>
        <p:grpSpPr>
          <a:xfrm>
            <a:off x="533400" y="1533525"/>
            <a:ext cx="5440553" cy="3234023"/>
            <a:chOff x="533400" y="1533525"/>
            <a:chExt cx="5440553" cy="3234023"/>
          </a:xfrm>
        </p:grpSpPr>
        <p:sp>
          <p:nvSpPr>
            <p:cNvPr id="7" name="Rectangle 7"/>
            <p:cNvSpPr/>
            <p:nvPr/>
          </p:nvSpPr>
          <p:spPr>
            <a:xfrm>
              <a:off x="666750" y="1676400"/>
              <a:ext cx="19050" cy="265652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8" name="Ellipse 8"/>
            <p:cNvSpPr/>
            <p:nvPr/>
          </p:nvSpPr>
          <p:spPr>
            <a:xfrm>
              <a:off x="533400" y="1533525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27024" y="160734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533400" y="2419350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627024" y="249316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533400" y="3304222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627024" y="337804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33400" y="4190048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627024" y="426386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944880" y="1567815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改写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46023" y="1861661"/>
              <a:ext cx="5027930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把 Ax = b（2.7.1）改写成等价形式 x = Hx + g（2.7.2），H = [hᵢⱼ]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∈ Rⁿˣⁿ、g ∈ Rⁿ 已知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944880" y="2453640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迭代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46023" y="2746534"/>
              <a:ext cx="5019802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给定初始近似 x⁽⁰⁾ ∈ Rⁿ，按 (2.7.3) 产生向量序列 {x⁽ᵏ⁾}，称为</a:t>
              </a:r>
              <a:r>
                <a:rPr lang="zh-CN" sz="128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迭</a:t>
              </a:r>
              <a:br/>
              <a:r>
                <a:rPr lang="zh-CN" sz="128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代序列</a:t>
              </a: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，H 称为</a:t>
              </a:r>
              <a:r>
                <a:rPr lang="zh-CN" sz="128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迭代矩阵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944880" y="3338512"/>
              <a:ext cx="6210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取极限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946023" y="3632359"/>
              <a:ext cx="5027930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若 x⁽ᵏ⁾ → x*，在 (2.7.3) 两端取极限得 x* = Hx* + g（2.7.4），极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限恰为方程组的解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44880" y="4224338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近似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46023" y="4518184"/>
              <a:ext cx="374354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迭代序列收敛时，k 充分大就把 x⁽ᵏ⁾ 取作近似解</a:t>
              </a:r>
            </a:p>
          </p:txBody>
        </p:sp>
      </p:grpSp>
      <p:grpSp>
        <p:nvGrpSpPr>
          <p:cNvPr id="31" name="c1-callout-2"/>
          <p:cNvGrpSpPr/>
          <p:nvPr/>
        </p:nvGrpSpPr>
        <p:grpSpPr>
          <a:xfrm>
            <a:off x="533400" y="4945380"/>
            <a:ext cx="5735002" cy="1411605"/>
            <a:chOff x="533400" y="4945380"/>
            <a:chExt cx="5735002" cy="1411605"/>
          </a:xfrm>
        </p:grpSpPr>
        <p:sp>
          <p:nvSpPr>
            <p:cNvPr id="25" name="Rectangle 25"/>
            <p:cNvSpPr/>
            <p:nvPr/>
          </p:nvSpPr>
          <p:spPr>
            <a:xfrm>
              <a:off x="533400" y="4945380"/>
              <a:ext cx="5735002" cy="1411605"/>
            </a:xfrm>
            <a:prstGeom prst="roundRect">
              <a:avLst>
                <a:gd name="adj" fmla="val 8097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29" name="Group 29"/>
            <p:cNvGrpSpPr/>
            <p:nvPr/>
          </p:nvGrpSpPr>
          <p:grpSpPr>
            <a:xfrm>
              <a:off x="726129" y="5547478"/>
              <a:ext cx="224134" cy="192560"/>
              <a:chOff x="726129" y="5547478"/>
              <a:chExt cx="224134" cy="192560"/>
            </a:xfrm>
          </p:grpSpPr>
          <p:sp>
            <p:nvSpPr>
              <p:cNvPr id="26" name="Freeform 26"/>
              <p:cNvSpPr/>
              <p:nvPr/>
            </p:nvSpPr>
            <p:spPr>
              <a:xfrm>
                <a:off x="838200" y="5617845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27" name="Freeform 27"/>
              <p:cNvSpPr/>
              <p:nvPr/>
            </p:nvSpPr>
            <p:spPr>
              <a:xfrm>
                <a:off x="726129" y="5547478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28" name="Freeform 28"/>
              <p:cNvSpPr/>
              <p:nvPr/>
            </p:nvSpPr>
            <p:spPr>
              <a:xfrm>
                <a:off x="838200" y="569563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30" name="TextBox 30"/>
            <p:cNvSpPr txBox="1"/>
            <p:nvPr/>
          </p:nvSpPr>
          <p:spPr>
            <a:xfrm>
              <a:off x="1040130" y="5408295"/>
              <a:ext cx="4749165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同一个方程组可以改写出不同的 H，有的收敛、有的发散</a:t>
              </a:r>
              <a:br/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（见例 2.4），所以要先判断收敛性再计算。</a:t>
              </a:r>
            </a:p>
          </p:txBody>
        </p:sp>
      </p:grpSp>
      <p:grpSp>
        <p:nvGrpSpPr>
          <p:cNvPr id="36" name="c2-card-1"/>
          <p:cNvGrpSpPr/>
          <p:nvPr/>
        </p:nvGrpSpPr>
        <p:grpSpPr>
          <a:xfrm>
            <a:off x="6573202" y="1524000"/>
            <a:ext cx="5085398" cy="1247775"/>
            <a:chOff x="6573202" y="1524000"/>
            <a:chExt cx="5085398" cy="1247775"/>
          </a:xfrm>
        </p:grpSpPr>
        <p:sp>
          <p:nvSpPr>
            <p:cNvPr id="32" name="Rectangle 32"/>
            <p:cNvSpPr/>
            <p:nvPr/>
          </p:nvSpPr>
          <p:spPr>
            <a:xfrm>
              <a:off x="6573202" y="1524000"/>
              <a:ext cx="5085398" cy="1247775"/>
            </a:xfrm>
            <a:prstGeom prst="roundRect">
              <a:avLst>
                <a:gd name="adj" fmla="val 10687"/>
              </a:avLst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33" name="Rectangle 33"/>
            <p:cNvSpPr/>
            <p:nvPr/>
          </p:nvSpPr>
          <p:spPr>
            <a:xfrm>
              <a:off x="6782752" y="1733550"/>
              <a:ext cx="1473518" cy="257175"/>
            </a:xfrm>
            <a:prstGeom prst="roundRect">
              <a:avLst>
                <a:gd name="adj" fmla="val 50000"/>
              </a:avLst>
            </a:prstGeom>
            <a:solidFill>
              <a:srgbClr val="23613D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6843316" y="1769269"/>
              <a:ext cx="13514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迭代公式（2.7.3）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5" name="formula132"/>
                <p:cNvSpPr txBox="1">
                  <a:spLocks noGrp="1"/>
                </p:cNvSpPr>
                <p:nvPr/>
              </p:nvSpPr>
              <p:spPr>
                <a:xfrm>
                  <a:off x="6782752" y="2085975"/>
                  <a:ext cx="4666298" cy="4572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sSup>
                          <m:e>
                            <m:r>
                              <a:rPr lang="zh-CN" sz="180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x</m:t>
                            </m:r>
                          </m:e>
                          <m:sup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80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80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k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80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+</m:t>
                                </m:r>
                                <m:r>
                                  <a:rPr lang="zh-CN" sz="180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e>
                            </m:d>
                          </m:sup>
                        </m:sSup>
                        <m:r>
                          <m:rPr>
                            <m:sty m:val="p"/>
                          </m:rPr>
                          <a:rPr lang="zh-CN" sz="180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r>
                          <a:rPr lang="zh-CN" sz="180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H</m:t>
                        </m:r>
                        <m:sSup>
                          <m:e>
                            <m:r>
                              <a:rPr lang="zh-CN" sz="180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x</m:t>
                            </m:r>
                          </m:e>
                          <m:sup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80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80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k</m:t>
                                </m:r>
                              </m:e>
                            </m:d>
                          </m:sup>
                        </m:sSup>
                        <m:r>
                          <m:rPr>
                            <m:sty m:val="p"/>
                          </m:rPr>
                          <a:rPr lang="zh-CN" sz="180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+</m:t>
                        </m:r>
                        <m:r>
                          <a:rPr lang="zh-CN" sz="180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g</m:t>
                        </m:r>
                        <m:r>
                          <m:rPr>
                            <m:sty m:val="p"/>
                          </m:rPr>
                          <a:rPr lang="zh-CN" sz="180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,</m:t>
                        </m:r>
                        <m:r>
                          <a:rPr lang="zh-CN" sz="180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  </m:t>
                        </m:r>
                        <m:r>
                          <a:rPr lang="zh-CN" sz="180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k</m:t>
                        </m:r>
                        <m:r>
                          <m:rPr>
                            <m:sty m:val="p"/>
                          </m:rPr>
                          <a:rPr lang="zh-CN" sz="180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r>
                          <a:rPr lang="zh-CN" sz="180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0</m:t>
                        </m:r>
                        <m:r>
                          <m:rPr>
                            <m:sty m:val="p"/>
                          </m:rPr>
                          <a:rPr lang="zh-CN" sz="180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,</m:t>
                        </m:r>
                        <m:r>
                          <a:rPr lang="zh-CN" sz="180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1</m:t>
                        </m:r>
                        <m:r>
                          <m:rPr>
                            <m:sty m:val="p"/>
                          </m:rPr>
                          <a:rPr lang="zh-CN" sz="180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,</m:t>
                        </m:r>
                        <m:r>
                          <a:rPr lang="zh-CN" sz="180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2</m:t>
                        </m:r>
                        <m:r>
                          <m:rPr>
                            <m:sty m:val="p"/>
                          </m:rPr>
                          <a:rPr lang="zh-CN" sz="180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,⋯</m:t>
                        </m:r>
                      </m:oMath>
                    </m:oMathPara>
                  </a14:m>
                </a:p>
              </p:txBody>
            </p:sp>
          </mc:Choice>
        </mc:AlternateContent>
      </p:grpSp>
      <p:grpSp>
        <p:nvGrpSpPr>
          <p:cNvPr id="42" name="c2-kv-2"/>
          <p:cNvGrpSpPr/>
          <p:nvPr/>
        </p:nvGrpSpPr>
        <p:grpSpPr>
          <a:xfrm>
            <a:off x="6565583" y="2987040"/>
            <a:ext cx="5093017" cy="1015365"/>
            <a:chOff x="6565583" y="2987040"/>
            <a:chExt cx="5093017" cy="1015365"/>
          </a:xfrm>
        </p:grpSpPr>
        <p:sp>
          <p:nvSpPr>
            <p:cNvPr id="37" name="TextBox 37"/>
            <p:cNvSpPr txBox="1"/>
            <p:nvPr/>
          </p:nvSpPr>
          <p:spPr>
            <a:xfrm>
              <a:off x="6565583" y="2987040"/>
              <a:ext cx="10248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简单迭代法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7804785" y="2987040"/>
              <a:ext cx="3615690" cy="5753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2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 (2.7.3) 构造序列求 (2.7.2) 近似解的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算法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6573202" y="3589020"/>
              <a:ext cx="508539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6565583" y="3709035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收敛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7804785" y="3709035"/>
              <a:ext cx="3831717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迭代序列 {x⁽ᵏ⁾} 收敛时，称此迭代法收敛</a:t>
              </a:r>
            </a:p>
          </p:txBody>
        </p:sp>
      </p:grpSp>
      <p:grpSp>
        <p:nvGrpSpPr>
          <p:cNvPr id="49" name="c2-card-3"/>
          <p:cNvGrpSpPr/>
          <p:nvPr/>
        </p:nvGrpSpPr>
        <p:grpSpPr>
          <a:xfrm>
            <a:off x="6573202" y="4133850"/>
            <a:ext cx="5085398" cy="2223135"/>
            <a:chOff x="6573202" y="4133850"/>
            <a:chExt cx="5085398" cy="2223135"/>
          </a:xfrm>
        </p:grpSpPr>
        <p:sp>
          <p:nvSpPr>
            <p:cNvPr id="43" name="Rectangle 43"/>
            <p:cNvSpPr/>
            <p:nvPr/>
          </p:nvSpPr>
          <p:spPr>
            <a:xfrm>
              <a:off x="6573202" y="4133850"/>
              <a:ext cx="5085398" cy="2223135"/>
            </a:xfrm>
            <a:prstGeom prst="roundRect">
              <a:avLst>
                <a:gd name="adj" fmla="val 5998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4" name="Rectangle 44"/>
            <p:cNvSpPr/>
            <p:nvPr/>
          </p:nvSpPr>
          <p:spPr>
            <a:xfrm>
              <a:off x="6582728" y="4267200"/>
              <a:ext cx="47625" cy="1956435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45" name="Rectangle 45"/>
            <p:cNvSpPr/>
            <p:nvPr/>
          </p:nvSpPr>
          <p:spPr>
            <a:xfrm>
              <a:off x="6820852" y="4343400"/>
              <a:ext cx="1062990" cy="25717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6894309" y="4379119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小例（补充）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6813233" y="4720590"/>
              <a:ext cx="433959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4x − y = 3，−x + 4y = 3 改写为 x = y/4 + 3/4，y =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x/4 + 3/4，即 H = [0 1/4; 1/4 0]。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6813233" y="5341620"/>
              <a:ext cx="4368165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从 (0, 0)ᵀ 出发：(0.75, 0.75)ᵀ → (0.9375,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0.9375)ᵀ → (0.984375, 0.984375)ᵀ，误差每步缩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小为 1/4，趋于精确解 (1, 1)ᵀ。</a:t>
              </a:r>
            </a:p>
          </p:txBody>
        </p:sp>
      </p:grpSp>
      <p:grpSp>
        <p:nvGrpSpPr>
          <p:cNvPr id="52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0" name="TextBox 50"/>
            <p:cNvSpPr txBox="1"/>
            <p:nvPr/>
          </p:nvSpPr>
          <p:spPr>
            <a:xfrm>
              <a:off x="528447" y="6581299"/>
              <a:ext cx="278038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第2章 解线性方程组的数值法（下）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10740641" cy="909257"/>
            <a:chOff x="520446" y="342900"/>
            <a:chExt cx="10740641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14588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6156" y="407194"/>
              <a:ext cx="22881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第2章 线性方程组（下） · 迭代法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10740641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误差满足 x⁽ᵏ⁾ − x* = Hᵏ(x⁽⁰⁾ − x*)：收敛只取决于 Hᵏ 是否趋于零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6" name="c1-steps-1"/>
          <p:cNvGrpSpPr/>
          <p:nvPr/>
        </p:nvGrpSpPr>
        <p:grpSpPr>
          <a:xfrm>
            <a:off x="533400" y="1533525"/>
            <a:ext cx="5271516" cy="1386269"/>
            <a:chOff x="533400" y="1533525"/>
            <a:chExt cx="5271516" cy="1386269"/>
          </a:xfrm>
        </p:grpSpPr>
        <p:sp>
          <p:nvSpPr>
            <p:cNvPr id="7" name="Rectangle 7"/>
            <p:cNvSpPr/>
            <p:nvPr/>
          </p:nvSpPr>
          <p:spPr>
            <a:xfrm>
              <a:off x="666750" y="1676400"/>
              <a:ext cx="19050" cy="83820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8" name="Ellipse 8"/>
            <p:cNvSpPr/>
            <p:nvPr/>
          </p:nvSpPr>
          <p:spPr>
            <a:xfrm>
              <a:off x="533400" y="1533525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27024" y="160734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533400" y="2371725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627024" y="244554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945261" y="1566386"/>
              <a:ext cx="39679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相减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946404" y="1846898"/>
              <a:ext cx="4858512" cy="4556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4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解 x* 满足 x* = Hx* + g，与 x⁽ᵏ⁺¹⁾ = Hx⁽ᵏ⁾ + g 相减得 x⁽ᵏ⁺¹⁾ − x* =</a:t>
              </a:r>
              <a:br/>
              <a:r>
                <a:rPr lang="en-US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H(x⁽ᵏ⁾ − x*)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45261" y="2404586"/>
              <a:ext cx="77912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反复代入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946404" y="2685098"/>
              <a:ext cx="424708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得到下面的 (2.7.6)，误差等于 H 的 k + 1 次幂乘初始误差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formula136"/>
              <p:cNvSpPr txBox="1">
                <a:spLocks noGrp="1"/>
              </p:cNvSpPr>
              <p:nvPr/>
            </p:nvSpPr>
            <p:spPr>
              <a:xfrm>
                <a:off x="533400" y="3090862"/>
                <a:ext cx="6059805" cy="4000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e>
                        <m:sup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k</m:t>
                              </m:r>
                              <m:r>
                                <m:rPr>
                                  <m:sty m:val="p"/>
                                </m:rP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+</m:t>
                              </m:r>
                              <m: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</m:e>
                          </m:d>
                        </m:sup>
                      </m:sSup>
                      <m:r>
                        <m:rPr>
                          <m:sty m:val="p"/>
                        </m:rPr>
                        <a:rPr lang="zh-CN" sz="15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−</m:t>
                      </m:r>
                      <m:sSup>
                        <m:e>
                          <m: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*</m:t>
                          </m:r>
                        </m:sup>
                      </m:sSup>
                      <m:r>
                        <m:rPr>
                          <m:sty m:val="p"/>
                        </m:rPr>
                        <a:rPr lang="zh-CN" sz="15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p>
                        <m:e>
                          <m: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p>
                          <m: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k</m:t>
                          </m:r>
                          <m:r>
                            <m:rPr>
                              <m:sty m:val="p"/>
                            </m:rP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+</m:t>
                          </m:r>
                          <m: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p>
                      </m:sSup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sSup>
                            <m:e>
                              <m: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x</m:t>
                              </m:r>
                            </m:e>
                            <m:sup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 m:val="on"/>
                                  <m:ctrlPr>
                                    <a:rPr lang="zh-CN" sz="15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r>
                                    <a:rPr lang="zh-CN" sz="15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0</m:t>
                                  </m:r>
                                </m:e>
                              </m:d>
                            </m:sup>
                          </m:sSup>
                          <m:r>
                            <m:rPr>
                              <m:sty m:val="p"/>
                            </m:rP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−</m:t>
                          </m:r>
                          <m:sSup>
                            <m:e>
                              <m: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x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*</m:t>
                              </m:r>
                            </m:sup>
                          </m:sSup>
                        </m:e>
                      </m:d>
                      <m:r>
                        <m:rPr>
                          <m:sty m:val="p"/>
                        </m:rPr>
                        <a:rPr lang="zh-CN" sz="15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,</m:t>
                      </m:r>
                      <m:r>
                        <a:rPr lang="zh-CN" sz="15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 xml:space="preserve">  </m:t>
                      </m:r>
                      <m:r>
                        <a:rPr lang="zh-CN" sz="15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k</m:t>
                      </m:r>
                      <m:r>
                        <m:rPr>
                          <m:sty m:val="p"/>
                        </m:rPr>
                        <a:rPr lang="zh-CN" sz="15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r>
                        <a:rPr lang="zh-CN" sz="15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0</m:t>
                      </m:r>
                      <m:r>
                        <m:rPr>
                          <m:sty m:val="p"/>
                        </m:rPr>
                        <a:rPr lang="zh-CN" sz="15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,</m:t>
                      </m:r>
                      <m:r>
                        <a:rPr lang="zh-CN" sz="15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1</m:t>
                      </m:r>
                      <m:r>
                        <m:rPr>
                          <m:sty m:val="p"/>
                        </m:rPr>
                        <a:rPr lang="zh-CN" sz="15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,</m:t>
                      </m:r>
                      <m:r>
                        <a:rPr lang="zh-CN" sz="15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2</m:t>
                      </m:r>
                      <m:r>
                        <m:rPr>
                          <m:sty m:val="p"/>
                        </m:rPr>
                        <a:rPr lang="zh-CN" sz="15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,⋯</m:t>
                      </m:r>
                      <m:r>
                        <a:rPr lang="zh-CN" sz="15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 xml:space="preserve">  </m:t>
                      </m:r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2.7.6</m:t>
                          </m:r>
                        </m:e>
                      </m:d>
                    </m:oMath>
                  </m:oMathPara>
                </a14:m>
              </a:p>
            </p:txBody>
          </p:sp>
        </mc:Choice>
      </mc:AlternateContent>
      <p:grpSp>
        <p:nvGrpSpPr>
          <p:cNvPr id="24" name="c1-card-3"/>
          <p:cNvGrpSpPr/>
          <p:nvPr/>
        </p:nvGrpSpPr>
        <p:grpSpPr>
          <a:xfrm>
            <a:off x="533400" y="3670935"/>
            <a:ext cx="6059805" cy="1529715"/>
            <a:chOff x="533400" y="3670935"/>
            <a:chExt cx="6059805" cy="1529715"/>
          </a:xfrm>
        </p:grpSpPr>
        <p:sp>
          <p:nvSpPr>
            <p:cNvPr id="18" name="Rectangle 18"/>
            <p:cNvSpPr/>
            <p:nvPr/>
          </p:nvSpPr>
          <p:spPr>
            <a:xfrm>
              <a:off x="533400" y="3670935"/>
              <a:ext cx="6059805" cy="1529715"/>
            </a:xfrm>
            <a:prstGeom prst="roundRect">
              <a:avLst>
                <a:gd name="adj" fmla="val 8717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542925" y="3804285"/>
              <a:ext cx="47625" cy="126301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20" name="Rectangle 20"/>
            <p:cNvSpPr/>
            <p:nvPr/>
          </p:nvSpPr>
          <p:spPr>
            <a:xfrm>
              <a:off x="769620" y="3869055"/>
              <a:ext cx="595312" cy="247650"/>
            </a:xfrm>
            <a:prstGeom prst="roundRect">
              <a:avLst>
                <a:gd name="adj" fmla="val 50000"/>
              </a:avLst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857037" y="3903345"/>
              <a:ext cx="41952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引理 1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2381" y="4229576"/>
              <a:ext cx="5361559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迭代法 (2.7.3) 对任何初始近似 x⁽⁰⁾ 均收敛的充分必要条件是 Hᵏ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→ O（零矩阵），k → ∞。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63524" y="4814888"/>
              <a:ext cx="484022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由 (2.7.6)：对任意 x⁽⁰⁾ 都有 x⁽ᵏ⁾ − x* → 0，当且仅当 Hᵏ → O。</a:t>
              </a:r>
            </a:p>
          </p:txBody>
        </p:sp>
      </p:grpSp>
      <p:grpSp>
        <p:nvGrpSpPr>
          <p:cNvPr id="30" name="c1-card-4"/>
          <p:cNvGrpSpPr/>
          <p:nvPr/>
        </p:nvGrpSpPr>
        <p:grpSpPr>
          <a:xfrm>
            <a:off x="533400" y="5380672"/>
            <a:ext cx="6059805" cy="979170"/>
            <a:chOff x="533400" y="5380672"/>
            <a:chExt cx="6059805" cy="979170"/>
          </a:xfrm>
        </p:grpSpPr>
        <p:sp>
          <p:nvSpPr>
            <p:cNvPr id="25" name="Rectangle 25"/>
            <p:cNvSpPr/>
            <p:nvPr/>
          </p:nvSpPr>
          <p:spPr>
            <a:xfrm>
              <a:off x="533400" y="5380672"/>
              <a:ext cx="6059805" cy="979170"/>
            </a:xfrm>
            <a:prstGeom prst="roundRect">
              <a:avLst>
                <a:gd name="adj" fmla="val 1361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6" name="Rectangle 26"/>
            <p:cNvSpPr/>
            <p:nvPr/>
          </p:nvSpPr>
          <p:spPr>
            <a:xfrm>
              <a:off x="542925" y="5514022"/>
              <a:ext cx="47625" cy="712470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27" name="Rectangle 27"/>
            <p:cNvSpPr/>
            <p:nvPr/>
          </p:nvSpPr>
          <p:spPr>
            <a:xfrm>
              <a:off x="769620" y="5578792"/>
              <a:ext cx="595312" cy="247650"/>
            </a:xfrm>
            <a:prstGeom prst="roundRect">
              <a:avLst>
                <a:gd name="adj" fmla="val 50000"/>
              </a:avLst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857037" y="5613083"/>
              <a:ext cx="41952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引理 2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762381" y="5940266"/>
              <a:ext cx="497581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Hᵏ → O（k → ∞）的充分必要条件是 H 的谱半径 ρ(H) &lt; 1。</a:t>
              </a:r>
            </a:p>
          </p:txBody>
        </p:sp>
      </p:grpSp>
      <p:grpSp>
        <p:nvGrpSpPr>
          <p:cNvPr id="33" name="c2-image-1"/>
          <p:cNvGrpSpPr/>
          <p:nvPr/>
        </p:nvGrpSpPr>
        <p:grpSpPr>
          <a:xfrm>
            <a:off x="6898005" y="1524000"/>
            <a:ext cx="4760595" cy="4861179"/>
            <a:chOff x="6898005" y="1524000"/>
            <a:chExt cx="4760595" cy="4861179"/>
          </a:xfrm>
        </p:grpSpPr>
        <p:pic>
          <p:nvPicPr>
            <p:cNvPr id="31" name="Image 31"/>
            <p:cNvPicPr>
              <a:picLocks noChangeAspect="1"/>
            </p:cNvPicPr>
            <p:nvPr/>
          </p:nvPicPr>
          <p:blipFill>
            <a:blip r:embed="rId2"/>
            <a:srcRect l="10872" t="0" r="10871" b="0"/>
            <a:stretch>
              <a:fillRect/>
            </a:stretch>
          </p:blipFill>
          <p:spPr>
            <a:xfrm>
              <a:off x="6898005" y="1524000"/>
              <a:ext cx="4760595" cy="4562475"/>
            </a:xfrm>
            <a:prstGeom prst="roundRect">
              <a:avLst>
                <a:gd name="adj" fmla="val 2922"/>
              </a:avLst>
            </a:prstGeom>
          </p:spPr>
        </p:pic>
        <p:sp>
          <p:nvSpPr>
            <p:cNvPr id="32" name="TextBox 32"/>
            <p:cNvSpPr txBox="1"/>
            <p:nvPr/>
          </p:nvSpPr>
          <p:spPr>
            <a:xfrm>
              <a:off x="6982149" y="6179820"/>
              <a:ext cx="459230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ρ(H) &lt; 1 时，误差每乘一次 H 最终按约 ρ(H) 的比例缩小，逐步收缩到零</a:t>
              </a:r>
            </a:p>
          </p:txBody>
        </p:sp>
      </p:grpSp>
      <p:grpSp>
        <p:nvGrpSpPr>
          <p:cNvPr id="36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34" name="TextBox 34"/>
            <p:cNvSpPr txBox="1"/>
            <p:nvPr/>
          </p:nvSpPr>
          <p:spPr>
            <a:xfrm>
              <a:off x="528447" y="6581299"/>
              <a:ext cx="278038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第2章 解线性方程组的数值法（下）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748807" cy="909257"/>
            <a:chOff x="520446" y="342900"/>
            <a:chExt cx="6748807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14588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6156" y="407194"/>
              <a:ext cx="22881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第2章 线性方程组（下） · 迭代法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748807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收敛基本定理 ρ(H) &lt; 1；实用判据 ‖H‖ &lt; 1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2" name="c1-card-1"/>
          <p:cNvGrpSpPr/>
          <p:nvPr/>
        </p:nvGrpSpPr>
        <p:grpSpPr>
          <a:xfrm>
            <a:off x="533400" y="1524000"/>
            <a:ext cx="5626418" cy="1906905"/>
            <a:chOff x="533400" y="1524000"/>
            <a:chExt cx="5626418" cy="190690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626418" cy="1906905"/>
            </a:xfrm>
            <a:prstGeom prst="roundRect">
              <a:avLst>
                <a:gd name="adj" fmla="val 6993"/>
              </a:avLst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742950" y="1733550"/>
              <a:ext cx="2343150" cy="257175"/>
            </a:xfrm>
            <a:prstGeom prst="roundRect">
              <a:avLst>
                <a:gd name="adj" fmla="val 50000"/>
              </a:avLst>
            </a:prstGeom>
            <a:solidFill>
              <a:srgbClr val="23613D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778002" y="1769269"/>
              <a:ext cx="22730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定理：简单迭代法收敛的基本定理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735330" y="2110740"/>
              <a:ext cx="501586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迭代法 (2.7.3) 对任何初始近似 x⁽⁰⁾ 均收敛的充分必要条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件是迭代矩阵 H 的谱半径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1" name="formula139"/>
                <p:cNvSpPr txBox="1">
                  <a:spLocks noGrp="1"/>
                </p:cNvSpPr>
                <p:nvPr/>
              </p:nvSpPr>
              <p:spPr>
                <a:xfrm>
                  <a:off x="742950" y="2707005"/>
                  <a:ext cx="5207318" cy="4953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r>
                          <a:rPr lang="zh-CN" sz="195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ρ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95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95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H</m:t>
                            </m:r>
                          </m:e>
                        </m:d>
                        <m:r>
                          <m:rPr>
                            <m:sty m:val="p"/>
                          </m:rPr>
                          <a:rPr lang="zh-CN" sz="195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&lt;</m:t>
                        </m:r>
                        <m:r>
                          <a:rPr lang="zh-CN" sz="195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1</m:t>
                        </m:r>
                      </m:oMath>
                    </m:oMathPara>
                  </a14:m>
                </a:p>
              </p:txBody>
            </p:sp>
          </mc:Choice>
        </mc:AlternateContent>
      </p:grpSp>
      <p:grpSp>
        <p:nvGrpSpPr>
          <p:cNvPr id="19" name="c1-card-2"/>
          <p:cNvGrpSpPr/>
          <p:nvPr/>
        </p:nvGrpSpPr>
        <p:grpSpPr>
          <a:xfrm>
            <a:off x="533400" y="3621405"/>
            <a:ext cx="5626418" cy="1847850"/>
            <a:chOff x="533400" y="3621405"/>
            <a:chExt cx="5626418" cy="1847850"/>
          </a:xfrm>
        </p:grpSpPr>
        <p:sp>
          <p:nvSpPr>
            <p:cNvPr id="13" name="Rectangle 13"/>
            <p:cNvSpPr/>
            <p:nvPr/>
          </p:nvSpPr>
          <p:spPr>
            <a:xfrm>
              <a:off x="533400" y="3621405"/>
              <a:ext cx="5626418" cy="1847850"/>
            </a:xfrm>
            <a:prstGeom prst="roundRect">
              <a:avLst>
                <a:gd name="adj" fmla="val 721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4" name="Rectangle 14"/>
            <p:cNvSpPr/>
            <p:nvPr/>
          </p:nvSpPr>
          <p:spPr>
            <a:xfrm>
              <a:off x="542925" y="3754755"/>
              <a:ext cx="47625" cy="1581150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5" name="Rectangle 15"/>
            <p:cNvSpPr/>
            <p:nvPr/>
          </p:nvSpPr>
          <p:spPr>
            <a:xfrm>
              <a:off x="781050" y="3830955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871258" y="386667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推论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773430" y="4208145"/>
              <a:ext cx="48920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若 ‖H‖ &lt; 1（‖·‖ 允许为任何一种相容的矩阵范数），则迭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代法 (2.7.3) 收敛。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74573" y="4825841"/>
              <a:ext cx="4865370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理由：矩阵的任何一种相容范数都是其谱半径的上界，ρ(H) ≤ ‖H‖ &lt;</a:t>
              </a:r>
              <a:br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1。</a:t>
              </a:r>
            </a:p>
          </p:txBody>
        </p:sp>
      </p:grpSp>
      <p:grpSp>
        <p:nvGrpSpPr>
          <p:cNvPr id="48" name="c2-flow-1"/>
          <p:cNvGrpSpPr/>
          <p:nvPr/>
        </p:nvGrpSpPr>
        <p:grpSpPr>
          <a:xfrm>
            <a:off x="6646545" y="1629728"/>
            <a:ext cx="4830127" cy="2386012"/>
            <a:chOff x="6646545" y="1629728"/>
            <a:chExt cx="4830127" cy="2386012"/>
          </a:xfrm>
        </p:grpSpPr>
        <p:sp>
          <p:nvSpPr>
            <p:cNvPr id="20" name="Freeform 20"/>
            <p:cNvSpPr/>
            <p:nvPr/>
          </p:nvSpPr>
          <p:spPr>
            <a:xfrm>
              <a:off x="7762875" y="2067878"/>
              <a:ext cx="9525" cy="105727"/>
            </a:xfrm>
            <a:custGeom>
              <a:avLst/>
              <a:gdLst/>
              <a:ahLst/>
              <a:cxnLst/>
              <a:rect l="l" t="t" r="r" b="b"/>
              <a:pathLst>
                <a:path w="9525" h="105727">
                  <a:moveTo>
                    <a:pt x="0" y="0"/>
                  </a:moveTo>
                  <a:lnTo>
                    <a:pt x="0" y="105727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21" name="Freeform 21"/>
            <p:cNvSpPr/>
            <p:nvPr/>
          </p:nvSpPr>
          <p:spPr>
            <a:xfrm>
              <a:off x="7710488" y="2173605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22" name="Freeform 22"/>
            <p:cNvSpPr/>
            <p:nvPr/>
          </p:nvSpPr>
          <p:spPr>
            <a:xfrm>
              <a:off x="7762875" y="2716530"/>
              <a:ext cx="9525" cy="106680"/>
            </a:xfrm>
            <a:custGeom>
              <a:avLst/>
              <a:gdLst/>
              <a:ahLst/>
              <a:cxnLst/>
              <a:rect l="l" t="t" r="r" b="b"/>
              <a:pathLst>
                <a:path w="9525" h="106680">
                  <a:moveTo>
                    <a:pt x="0" y="0"/>
                  </a:moveTo>
                  <a:lnTo>
                    <a:pt x="0" y="10668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23" name="Freeform 23"/>
            <p:cNvSpPr/>
            <p:nvPr/>
          </p:nvSpPr>
          <p:spPr>
            <a:xfrm>
              <a:off x="7710488" y="2823210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24" name="Freeform 24"/>
            <p:cNvSpPr/>
            <p:nvPr/>
          </p:nvSpPr>
          <p:spPr>
            <a:xfrm>
              <a:off x="7762875" y="3366135"/>
              <a:ext cx="9525" cy="106680"/>
            </a:xfrm>
            <a:custGeom>
              <a:avLst/>
              <a:gdLst/>
              <a:ahLst/>
              <a:cxnLst/>
              <a:rect l="l" t="t" r="r" b="b"/>
              <a:pathLst>
                <a:path w="9525" h="106680">
                  <a:moveTo>
                    <a:pt x="0" y="0"/>
                  </a:moveTo>
                  <a:lnTo>
                    <a:pt x="0" y="10668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25" name="Freeform 25"/>
            <p:cNvSpPr/>
            <p:nvPr/>
          </p:nvSpPr>
          <p:spPr>
            <a:xfrm>
              <a:off x="7710488" y="3472815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26" name="Freeform 26"/>
            <p:cNvSpPr/>
            <p:nvPr/>
          </p:nvSpPr>
          <p:spPr>
            <a:xfrm>
              <a:off x="10360342" y="3366135"/>
              <a:ext cx="9525" cy="106680"/>
            </a:xfrm>
            <a:custGeom>
              <a:avLst/>
              <a:gdLst/>
              <a:ahLst/>
              <a:cxnLst/>
              <a:rect l="l" t="t" r="r" b="b"/>
              <a:pathLst>
                <a:path w="9525" h="106680">
                  <a:moveTo>
                    <a:pt x="0" y="0"/>
                  </a:moveTo>
                  <a:lnTo>
                    <a:pt x="0" y="10668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27" name="Freeform 27"/>
            <p:cNvSpPr/>
            <p:nvPr/>
          </p:nvSpPr>
          <p:spPr>
            <a:xfrm>
              <a:off x="10307955" y="3472815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28" name="Rectangle 28"/>
            <p:cNvSpPr/>
            <p:nvPr/>
          </p:nvSpPr>
          <p:spPr>
            <a:xfrm>
              <a:off x="6646545" y="1629728"/>
              <a:ext cx="2233612" cy="438150"/>
            </a:xfrm>
            <a:prstGeom prst="roundRect">
              <a:avLst>
                <a:gd name="adj" fmla="val 50000"/>
              </a:avLst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9" name="Rectangle 29"/>
            <p:cNvSpPr/>
            <p:nvPr/>
          </p:nvSpPr>
          <p:spPr>
            <a:xfrm>
              <a:off x="6646545" y="2278380"/>
              <a:ext cx="2233612" cy="438150"/>
            </a:xfrm>
            <a:prstGeom prst="roundRect">
              <a:avLst>
                <a:gd name="adj" fmla="val 21739"/>
              </a:avLst>
            </a:prstGeom>
            <a:solidFill>
              <a:srgbClr val="FFFFFF"/>
            </a:solidFill>
            <a:ln w="15240">
              <a:solidFill>
                <a:srgbClr val="2E7D4F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6646545" y="2927985"/>
              <a:ext cx="2233612" cy="438150"/>
            </a:xfrm>
            <a:prstGeom prst="roundRect">
              <a:avLst>
                <a:gd name="adj" fmla="val 21739"/>
              </a:avLst>
            </a:prstGeom>
            <a:solidFill>
              <a:srgbClr val="FFFFFF"/>
            </a:solidFill>
            <a:ln w="15240">
              <a:solidFill>
                <a:srgbClr val="2E7D4F"/>
              </a:solidFill>
            </a:ln>
          </p:spPr>
        </p:sp>
        <p:sp>
          <p:nvSpPr>
            <p:cNvPr id="31" name="Rectangle 31"/>
            <p:cNvSpPr/>
            <p:nvPr/>
          </p:nvSpPr>
          <p:spPr>
            <a:xfrm>
              <a:off x="6646545" y="3577590"/>
              <a:ext cx="2233612" cy="438150"/>
            </a:xfrm>
            <a:prstGeom prst="roundRect">
              <a:avLst>
                <a:gd name="adj" fmla="val 21739"/>
              </a:avLst>
            </a:prstGeom>
            <a:solidFill>
              <a:srgbClr val="E5F2EA"/>
            </a:solidFill>
            <a:ln w="19050">
              <a:solidFill>
                <a:srgbClr val="2E7D4F"/>
              </a:solidFill>
            </a:ln>
          </p:spPr>
        </p:sp>
        <p:sp>
          <p:nvSpPr>
            <p:cNvPr id="32" name="Rectangle 32"/>
            <p:cNvSpPr/>
            <p:nvPr/>
          </p:nvSpPr>
          <p:spPr>
            <a:xfrm>
              <a:off x="9243060" y="2927985"/>
              <a:ext cx="2233612" cy="438150"/>
            </a:xfrm>
            <a:prstGeom prst="roundRect">
              <a:avLst>
                <a:gd name="adj" fmla="val 17391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33" name="Rectangle 33"/>
            <p:cNvSpPr/>
            <p:nvPr/>
          </p:nvSpPr>
          <p:spPr>
            <a:xfrm>
              <a:off x="9243060" y="3577590"/>
              <a:ext cx="2233612" cy="438150"/>
            </a:xfrm>
            <a:prstGeom prst="roundRect">
              <a:avLst>
                <a:gd name="adj" fmla="val 50000"/>
              </a:avLst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7036343" y="1759744"/>
              <a:ext cx="14530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误差递推 (2.7.6)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7206295" y="2408396"/>
              <a:ext cx="111316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收敛 ⇔ Hᵏ → O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7033392" y="3058001"/>
              <a:ext cx="145896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l-GR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Hᵏ → O ⇔ ρ(H) &lt; 1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7136679" y="3707606"/>
              <a:ext cx="125239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收敛 ⇔ ρ(H) &lt; 1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10048903" y="3058001"/>
              <a:ext cx="62287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‖H‖ &lt; 1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9923082" y="3707606"/>
              <a:ext cx="8745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推论：收敛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7791450" y="2081212"/>
              <a:ext cx="475298" cy="193358"/>
            </a:xfrm>
            <a:prstGeom prst="roundRect">
              <a:avLst>
                <a:gd name="adj" fmla="val 1970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7814691" y="2107882"/>
              <a:ext cx="41351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引理 1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7791450" y="2730818"/>
              <a:ext cx="475298" cy="193358"/>
            </a:xfrm>
            <a:prstGeom prst="roundRect">
              <a:avLst>
                <a:gd name="adj" fmla="val 1970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7814691" y="2757488"/>
              <a:ext cx="41351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引理 2</a:t>
              </a:r>
            </a:p>
          </p:txBody>
        </p:sp>
        <p:sp>
          <p:nvSpPr>
            <p:cNvPr id="44" name="Rectangle 44"/>
            <p:cNvSpPr/>
            <p:nvPr/>
          </p:nvSpPr>
          <p:spPr>
            <a:xfrm>
              <a:off x="7791450" y="3379470"/>
              <a:ext cx="628650" cy="193358"/>
            </a:xfrm>
            <a:prstGeom prst="roundRect">
              <a:avLst>
                <a:gd name="adj" fmla="val 1970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7814691" y="3406140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基本定理</a:t>
              </a:r>
            </a:p>
          </p:txBody>
        </p:sp>
        <p:sp>
          <p:nvSpPr>
            <p:cNvPr id="46" name="Rectangle 46"/>
            <p:cNvSpPr/>
            <p:nvPr/>
          </p:nvSpPr>
          <p:spPr>
            <a:xfrm>
              <a:off x="10388918" y="3379470"/>
              <a:ext cx="588645" cy="193358"/>
            </a:xfrm>
            <a:prstGeom prst="roundRect">
              <a:avLst>
                <a:gd name="adj" fmla="val 1970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10412159" y="3406140"/>
              <a:ext cx="49759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l-GR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ρ ≤ ‖H‖</a:t>
              </a:r>
            </a:p>
          </p:txBody>
        </p:sp>
      </p:grpSp>
      <p:grpSp>
        <p:nvGrpSpPr>
          <p:cNvPr id="64" name="c2-table-2"/>
          <p:cNvGrpSpPr/>
          <p:nvPr/>
        </p:nvGrpSpPr>
        <p:grpSpPr>
          <a:xfrm>
            <a:off x="6464618" y="4311015"/>
            <a:ext cx="5193982" cy="1346835"/>
            <a:chOff x="6464618" y="4311015"/>
            <a:chExt cx="5193982" cy="1346835"/>
          </a:xfrm>
        </p:grpSpPr>
        <p:sp>
          <p:nvSpPr>
            <p:cNvPr id="49" name="Rectangle 49"/>
            <p:cNvSpPr/>
            <p:nvPr/>
          </p:nvSpPr>
          <p:spPr>
            <a:xfrm>
              <a:off x="6464618" y="4311015"/>
              <a:ext cx="5193982" cy="448628"/>
            </a:xfrm>
            <a:prstGeom prst="rect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7376439" y="4446746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判据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9090939" y="4446746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性质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10596842" y="4446746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计算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6572441" y="4895374"/>
              <a:ext cx="73854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l-GR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ρ(H) &lt; 1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8753666" y="4895374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充分必要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10000488" y="4895374"/>
              <a:ext cx="8745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要求特征值</a:t>
              </a:r>
            </a:p>
          </p:txBody>
        </p:sp>
        <p:sp>
          <p:nvSpPr>
            <p:cNvPr id="56" name="Rectangle 56"/>
            <p:cNvSpPr/>
            <p:nvPr/>
          </p:nvSpPr>
          <p:spPr>
            <a:xfrm>
              <a:off x="6464618" y="5204460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7" name="Rectangle 57"/>
            <p:cNvSpPr/>
            <p:nvPr/>
          </p:nvSpPr>
          <p:spPr>
            <a:xfrm>
              <a:off x="6464618" y="5209222"/>
              <a:ext cx="5193982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8" name="TextBox 58"/>
            <p:cNvSpPr txBox="1"/>
            <p:nvPr/>
          </p:nvSpPr>
          <p:spPr>
            <a:xfrm>
              <a:off x="6572441" y="5344001"/>
              <a:ext cx="179110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‖H‖∞ &lt; 1 或 ‖H‖₁ &lt; 1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8753666" y="5344001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只是充分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10000488" y="5344001"/>
              <a:ext cx="121914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行和、列和即可</a:t>
              </a:r>
            </a:p>
          </p:txBody>
        </p:sp>
        <p:sp>
          <p:nvSpPr>
            <p:cNvPr id="61" name="Rectangle 61"/>
            <p:cNvSpPr/>
            <p:nvPr/>
          </p:nvSpPr>
          <p:spPr>
            <a:xfrm>
              <a:off x="6464618" y="4311015"/>
              <a:ext cx="5193982" cy="134683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62" name="Rectangle 62"/>
            <p:cNvSpPr/>
            <p:nvPr/>
          </p:nvSpPr>
          <p:spPr>
            <a:xfrm>
              <a:off x="8641080" y="4311015"/>
              <a:ext cx="9525" cy="134683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3" name="Rectangle 63"/>
            <p:cNvSpPr/>
            <p:nvPr/>
          </p:nvSpPr>
          <p:spPr>
            <a:xfrm>
              <a:off x="9887902" y="4311015"/>
              <a:ext cx="9525" cy="134683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71" name="takeaway"/>
          <p:cNvGrpSpPr/>
          <p:nvPr/>
        </p:nvGrpSpPr>
        <p:grpSpPr>
          <a:xfrm>
            <a:off x="533400" y="5829300"/>
            <a:ext cx="11125200" cy="533400"/>
            <a:chOff x="533400" y="5829300"/>
            <a:chExt cx="11125200" cy="533400"/>
          </a:xfrm>
        </p:grpSpPr>
        <p:sp>
          <p:nvSpPr>
            <p:cNvPr id="65" name="Rectangle 65"/>
            <p:cNvSpPr/>
            <p:nvPr/>
          </p:nvSpPr>
          <p:spPr>
            <a:xfrm>
              <a:off x="533400" y="5829300"/>
              <a:ext cx="11125200" cy="533400"/>
            </a:xfrm>
            <a:prstGeom prst="roundRect">
              <a:avLst>
                <a:gd name="adj" fmla="val 21429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69" name="Group 69"/>
            <p:cNvGrpSpPr/>
            <p:nvPr/>
          </p:nvGrpSpPr>
          <p:grpSpPr>
            <a:xfrm>
              <a:off x="726129" y="5992296"/>
              <a:ext cx="224134" cy="192560"/>
              <a:chOff x="726129" y="5992296"/>
              <a:chExt cx="224134" cy="192560"/>
            </a:xfrm>
          </p:grpSpPr>
          <p:sp>
            <p:nvSpPr>
              <p:cNvPr id="66" name="Freeform 66"/>
              <p:cNvSpPr/>
              <p:nvPr/>
            </p:nvSpPr>
            <p:spPr>
              <a:xfrm>
                <a:off x="838200" y="6062663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67" name="Freeform 67"/>
              <p:cNvSpPr/>
              <p:nvPr/>
            </p:nvSpPr>
            <p:spPr>
              <a:xfrm>
                <a:off x="726129" y="5992296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68" name="Freeform 68"/>
              <p:cNvSpPr/>
              <p:nvPr/>
            </p:nvSpPr>
            <p:spPr>
              <a:xfrm>
                <a:off x="838200" y="6140451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70" name="TextBox 70"/>
            <p:cNvSpPr txBox="1"/>
            <p:nvPr/>
          </p:nvSpPr>
          <p:spPr>
            <a:xfrm>
              <a:off x="1040130" y="5991225"/>
              <a:ext cx="916466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易错：‖H‖ ≥ 1 不能断定发散。例 2.5 中 Jacobi 迭代矩阵 ‖M_J‖∞ = 4，但 ρ(M_J) = 0，迭代收敛。</a:t>
              </a:r>
            </a:p>
          </p:txBody>
        </p:sp>
      </p:grpSp>
      <p:grpSp>
        <p:nvGrpSpPr>
          <p:cNvPr id="74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72" name="TextBox 72"/>
            <p:cNvSpPr txBox="1"/>
            <p:nvPr/>
          </p:nvSpPr>
          <p:spPr>
            <a:xfrm>
              <a:off x="528447" y="6581299"/>
              <a:ext cx="278038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第2章 解线性方程组的数值法（下）</a:t>
              </a:r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3458718" cy="909257"/>
            <a:chOff x="520446" y="342900"/>
            <a:chExt cx="3458718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14588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6156" y="407194"/>
              <a:ext cx="22881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第2章 线性方程组（下） · 迭代法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3458718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一般迭代法的求解步骤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45" name="c1-flow-1"/>
          <p:cNvGrpSpPr/>
          <p:nvPr/>
        </p:nvGrpSpPr>
        <p:grpSpPr>
          <a:xfrm>
            <a:off x="543878" y="1788795"/>
            <a:ext cx="6045516" cy="4391025"/>
            <a:chOff x="543878" y="1788795"/>
            <a:chExt cx="6045516" cy="4391025"/>
          </a:xfrm>
        </p:grpSpPr>
        <p:sp>
          <p:nvSpPr>
            <p:cNvPr id="7" name="Freeform 7"/>
            <p:cNvSpPr/>
            <p:nvPr/>
          </p:nvSpPr>
          <p:spPr>
            <a:xfrm>
              <a:off x="2102168" y="2226945"/>
              <a:ext cx="9525" cy="424815"/>
            </a:xfrm>
            <a:custGeom>
              <a:avLst/>
              <a:gdLst/>
              <a:ahLst/>
              <a:cxnLst/>
              <a:rect l="l" t="t" r="r" b="b"/>
              <a:pathLst>
                <a:path w="9525" h="424815">
                  <a:moveTo>
                    <a:pt x="0" y="0"/>
                  </a:moveTo>
                  <a:lnTo>
                    <a:pt x="0" y="424815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8" name="Freeform 8"/>
            <p:cNvSpPr/>
            <p:nvPr/>
          </p:nvSpPr>
          <p:spPr>
            <a:xfrm>
              <a:off x="2049780" y="2651760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9" name="Freeform 9"/>
            <p:cNvSpPr/>
            <p:nvPr/>
          </p:nvSpPr>
          <p:spPr>
            <a:xfrm>
              <a:off x="2102168" y="3194685"/>
              <a:ext cx="9525" cy="342900"/>
            </a:xfrm>
            <a:custGeom>
              <a:avLst/>
              <a:gdLst/>
              <a:ahLst/>
              <a:cxnLst/>
              <a:rect l="l" t="t" r="r" b="b"/>
              <a:pathLst>
                <a:path w="9525"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0" name="Freeform 10"/>
            <p:cNvSpPr/>
            <p:nvPr/>
          </p:nvSpPr>
          <p:spPr>
            <a:xfrm>
              <a:off x="2049780" y="3537585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1" name="Freeform 11"/>
            <p:cNvSpPr/>
            <p:nvPr/>
          </p:nvSpPr>
          <p:spPr>
            <a:xfrm>
              <a:off x="3451860" y="3943350"/>
              <a:ext cx="334328" cy="9525"/>
            </a:xfrm>
            <a:custGeom>
              <a:avLst/>
              <a:gdLst/>
              <a:ahLst/>
              <a:cxnLst/>
              <a:rect l="l" t="t" r="r" b="b"/>
              <a:pathLst>
                <a:path w="334328" h="9525">
                  <a:moveTo>
                    <a:pt x="0" y="0"/>
                  </a:moveTo>
                  <a:lnTo>
                    <a:pt x="334328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2" name="Freeform 12"/>
            <p:cNvSpPr/>
            <p:nvPr/>
          </p:nvSpPr>
          <p:spPr>
            <a:xfrm>
              <a:off x="3786188" y="3890962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104775" y="52388"/>
                  </a:moveTo>
                  <a:lnTo>
                    <a:pt x="0" y="1047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3" name="Freeform 13"/>
            <p:cNvSpPr/>
            <p:nvPr/>
          </p:nvSpPr>
          <p:spPr>
            <a:xfrm>
              <a:off x="2102168" y="4244340"/>
              <a:ext cx="9525" cy="342900"/>
            </a:xfrm>
            <a:custGeom>
              <a:avLst/>
              <a:gdLst/>
              <a:ahLst/>
              <a:cxnLst/>
              <a:rect l="l" t="t" r="r" b="b"/>
              <a:pathLst>
                <a:path w="9525"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4" name="Freeform 14"/>
            <p:cNvSpPr/>
            <p:nvPr/>
          </p:nvSpPr>
          <p:spPr>
            <a:xfrm>
              <a:off x="2049780" y="4587240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5" name="Freeform 15"/>
            <p:cNvSpPr/>
            <p:nvPr/>
          </p:nvSpPr>
          <p:spPr>
            <a:xfrm>
              <a:off x="2102168" y="5130165"/>
              <a:ext cx="9525" cy="342900"/>
            </a:xfrm>
            <a:custGeom>
              <a:avLst/>
              <a:gdLst/>
              <a:ahLst/>
              <a:cxnLst/>
              <a:rect l="l" t="t" r="r" b="b"/>
              <a:pathLst>
                <a:path w="9525"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6" name="Freeform 16"/>
            <p:cNvSpPr/>
            <p:nvPr/>
          </p:nvSpPr>
          <p:spPr>
            <a:xfrm>
              <a:off x="2049780" y="5473065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7" name="Freeform 17"/>
            <p:cNvSpPr/>
            <p:nvPr/>
          </p:nvSpPr>
          <p:spPr>
            <a:xfrm>
              <a:off x="3451860" y="5878830"/>
              <a:ext cx="334328" cy="9525"/>
            </a:xfrm>
            <a:custGeom>
              <a:avLst/>
              <a:gdLst/>
              <a:ahLst/>
              <a:cxnLst/>
              <a:rect l="l" t="t" r="r" b="b"/>
              <a:pathLst>
                <a:path w="334328" h="9525">
                  <a:moveTo>
                    <a:pt x="0" y="0"/>
                  </a:moveTo>
                  <a:lnTo>
                    <a:pt x="334328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8" name="Freeform 18"/>
            <p:cNvSpPr/>
            <p:nvPr/>
          </p:nvSpPr>
          <p:spPr>
            <a:xfrm>
              <a:off x="3786188" y="5826442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104775" y="52388"/>
                  </a:moveTo>
                  <a:lnTo>
                    <a:pt x="0" y="1047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9" name="Freeform 19"/>
            <p:cNvSpPr/>
            <p:nvPr/>
          </p:nvSpPr>
          <p:spPr>
            <a:xfrm>
              <a:off x="543878" y="4911090"/>
              <a:ext cx="209550" cy="967740"/>
            </a:xfrm>
            <a:custGeom>
              <a:avLst/>
              <a:gdLst/>
              <a:ahLst/>
              <a:cxnLst/>
              <a:rect l="l" t="t" r="r" b="b"/>
              <a:pathLst>
                <a:path w="209550" h="967740">
                  <a:moveTo>
                    <a:pt x="209550" y="967740"/>
                  </a:moveTo>
                  <a:lnTo>
                    <a:pt x="0" y="967740"/>
                  </a:lnTo>
                  <a:lnTo>
                    <a:pt x="0" y="0"/>
                  </a:lnTo>
                  <a:lnTo>
                    <a:pt x="104775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20" name="Freeform 20"/>
            <p:cNvSpPr/>
            <p:nvPr/>
          </p:nvSpPr>
          <p:spPr>
            <a:xfrm>
              <a:off x="648652" y="4858702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104775" y="52388"/>
                  </a:moveTo>
                  <a:lnTo>
                    <a:pt x="0" y="1047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21" name="Freeform 21"/>
            <p:cNvSpPr/>
            <p:nvPr/>
          </p:nvSpPr>
          <p:spPr>
            <a:xfrm>
              <a:off x="3556635" y="2007870"/>
              <a:ext cx="1684020" cy="1621155"/>
            </a:xfrm>
            <a:custGeom>
              <a:avLst/>
              <a:gdLst/>
              <a:ahLst/>
              <a:cxnLst/>
              <a:rect l="l" t="t" r="r" b="b"/>
              <a:pathLst>
                <a:path w="1684020" h="1621155">
                  <a:moveTo>
                    <a:pt x="1684020" y="1621155"/>
                  </a:moveTo>
                  <a:lnTo>
                    <a:pt x="1684020" y="1411605"/>
                  </a:lnTo>
                  <a:lnTo>
                    <a:pt x="1684020" y="0"/>
                  </a:lnTo>
                  <a:lnTo>
                    <a:pt x="104775" y="0"/>
                  </a:ln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22" name="Freeform 22"/>
            <p:cNvSpPr/>
            <p:nvPr/>
          </p:nvSpPr>
          <p:spPr>
            <a:xfrm>
              <a:off x="3451860" y="1955482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0" y="52388"/>
                  </a:moveTo>
                  <a:lnTo>
                    <a:pt x="104775" y="0"/>
                  </a:lnTo>
                  <a:lnTo>
                    <a:pt x="104775" y="104775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23" name="Rectangle 23"/>
            <p:cNvSpPr/>
            <p:nvPr/>
          </p:nvSpPr>
          <p:spPr>
            <a:xfrm>
              <a:off x="753428" y="1788795"/>
              <a:ext cx="2698432" cy="438150"/>
            </a:xfrm>
            <a:prstGeom prst="roundRect">
              <a:avLst>
                <a:gd name="adj" fmla="val 50000"/>
              </a:avLst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4" name="Rectangle 24"/>
            <p:cNvSpPr/>
            <p:nvPr/>
          </p:nvSpPr>
          <p:spPr>
            <a:xfrm>
              <a:off x="753428" y="2756535"/>
              <a:ext cx="2698432" cy="438150"/>
            </a:xfrm>
            <a:prstGeom prst="roundRect">
              <a:avLst>
                <a:gd name="adj" fmla="val 21739"/>
              </a:avLst>
            </a:prstGeom>
            <a:solidFill>
              <a:srgbClr val="FFFFFF"/>
            </a:solidFill>
            <a:ln w="15240">
              <a:solidFill>
                <a:srgbClr val="2E7D4F"/>
              </a:solidFill>
            </a:ln>
          </p:spPr>
        </p:sp>
        <p:sp>
          <p:nvSpPr>
            <p:cNvPr id="25" name="Freeform 25"/>
            <p:cNvSpPr/>
            <p:nvPr/>
          </p:nvSpPr>
          <p:spPr>
            <a:xfrm>
              <a:off x="753428" y="3642360"/>
              <a:ext cx="2698432" cy="601980"/>
            </a:xfrm>
            <a:custGeom>
              <a:avLst/>
              <a:gdLst/>
              <a:ahLst/>
              <a:cxnLst/>
              <a:rect l="l" t="t" r="r" b="b"/>
              <a:pathLst>
                <a:path w="2698432" h="601980">
                  <a:moveTo>
                    <a:pt x="1348740" y="0"/>
                  </a:moveTo>
                  <a:lnTo>
                    <a:pt x="2698432" y="300990"/>
                  </a:lnTo>
                  <a:lnTo>
                    <a:pt x="1348740" y="601980"/>
                  </a:lnTo>
                  <a:lnTo>
                    <a:pt x="0" y="300990"/>
                  </a:lnTo>
                  <a:close/>
                </a:path>
              </a:pathLst>
            </a:cu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26" name="Rectangle 26"/>
            <p:cNvSpPr/>
            <p:nvPr/>
          </p:nvSpPr>
          <p:spPr>
            <a:xfrm>
              <a:off x="3890962" y="3629025"/>
              <a:ext cx="2698432" cy="629602"/>
            </a:xfrm>
            <a:prstGeom prst="roundRect">
              <a:avLst>
                <a:gd name="adj" fmla="val 15129"/>
              </a:avLst>
            </a:prstGeom>
            <a:solidFill>
              <a:srgbClr val="F4F6FB"/>
            </a:solidFill>
            <a:ln w="13335">
              <a:solidFill>
                <a:srgbClr val="D9DFEA"/>
              </a:solidFill>
            </a:ln>
          </p:spPr>
        </p:sp>
        <p:sp>
          <p:nvSpPr>
            <p:cNvPr id="27" name="Rectangle 27"/>
            <p:cNvSpPr/>
            <p:nvPr/>
          </p:nvSpPr>
          <p:spPr>
            <a:xfrm>
              <a:off x="753428" y="4692015"/>
              <a:ext cx="2698432" cy="438150"/>
            </a:xfrm>
            <a:prstGeom prst="roundRect">
              <a:avLst>
                <a:gd name="adj" fmla="val 21739"/>
              </a:avLst>
            </a:prstGeom>
            <a:solidFill>
              <a:srgbClr val="FFFFFF"/>
            </a:solidFill>
            <a:ln w="15240">
              <a:solidFill>
                <a:srgbClr val="2E7D4F"/>
              </a:solidFill>
            </a:ln>
          </p:spPr>
        </p:sp>
        <p:sp>
          <p:nvSpPr>
            <p:cNvPr id="28" name="Freeform 28"/>
            <p:cNvSpPr/>
            <p:nvPr/>
          </p:nvSpPr>
          <p:spPr>
            <a:xfrm>
              <a:off x="753428" y="5577840"/>
              <a:ext cx="2698432" cy="601980"/>
            </a:xfrm>
            <a:custGeom>
              <a:avLst/>
              <a:gdLst/>
              <a:ahLst/>
              <a:cxnLst/>
              <a:rect l="l" t="t" r="r" b="b"/>
              <a:pathLst>
                <a:path w="2698432" h="601980">
                  <a:moveTo>
                    <a:pt x="1348740" y="0"/>
                  </a:moveTo>
                  <a:lnTo>
                    <a:pt x="2698432" y="300990"/>
                  </a:lnTo>
                  <a:lnTo>
                    <a:pt x="1348740" y="601980"/>
                  </a:lnTo>
                  <a:lnTo>
                    <a:pt x="0" y="300990"/>
                  </a:lnTo>
                  <a:close/>
                </a:path>
              </a:pathLst>
            </a:cu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29" name="Rectangle 29"/>
            <p:cNvSpPr/>
            <p:nvPr/>
          </p:nvSpPr>
          <p:spPr>
            <a:xfrm>
              <a:off x="3890962" y="5659755"/>
              <a:ext cx="2698432" cy="438150"/>
            </a:xfrm>
            <a:prstGeom prst="roundRect">
              <a:avLst>
                <a:gd name="adj" fmla="val 50000"/>
              </a:avLst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1347474" y="1918811"/>
              <a:ext cx="150938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分离 x：x = Hx + g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947204" y="2886551"/>
              <a:ext cx="230992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迭代格式 x⁽ᵏ⁺¹⁾ = Hx⁽ᵏ⁾ + g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751063" y="3854291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判断收敛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4177538" y="3744754"/>
              <a:ext cx="2126234" cy="4684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72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换一种分离方式（如调换方程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次序）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1277201" y="4822031"/>
              <a:ext cx="164993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迭代求解，算出 x⁽ᵏ⁾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1604597" y="5789771"/>
              <a:ext cx="99514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相邻差 &lt; ε？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4404919" y="5789771"/>
              <a:ext cx="167147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迭代结束，输出 x⁽ᵏ⁾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3556635" y="3727132"/>
              <a:ext cx="228600" cy="193358"/>
            </a:xfrm>
            <a:prstGeom prst="roundRect">
              <a:avLst>
                <a:gd name="adj" fmla="val 1970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3594925" y="3753802"/>
              <a:ext cx="1520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否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2130742" y="4375785"/>
              <a:ext cx="228600" cy="193358"/>
            </a:xfrm>
            <a:prstGeom prst="roundRect">
              <a:avLst>
                <a:gd name="adj" fmla="val 1970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2153984" y="4402455"/>
              <a:ext cx="1520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是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3556635" y="5662612"/>
              <a:ext cx="228600" cy="193358"/>
            </a:xfrm>
            <a:prstGeom prst="roundRect">
              <a:avLst>
                <a:gd name="adj" fmla="val 1970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3594925" y="5689283"/>
              <a:ext cx="1520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是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572452" y="5302568"/>
              <a:ext cx="228600" cy="193358"/>
            </a:xfrm>
            <a:prstGeom prst="roundRect">
              <a:avLst>
                <a:gd name="adj" fmla="val 1970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595694" y="5329238"/>
              <a:ext cx="1520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否</a:t>
              </a:r>
            </a:p>
          </p:txBody>
        </p:sp>
      </p:grpSp>
      <p:grpSp>
        <p:nvGrpSpPr>
          <p:cNvPr id="56" name="c2-card-1"/>
          <p:cNvGrpSpPr/>
          <p:nvPr/>
        </p:nvGrpSpPr>
        <p:grpSpPr>
          <a:xfrm>
            <a:off x="7114222" y="1524000"/>
            <a:ext cx="4544378" cy="2272665"/>
            <a:chOff x="7114222" y="1524000"/>
            <a:chExt cx="4544378" cy="2272665"/>
          </a:xfrm>
        </p:grpSpPr>
        <p:sp>
          <p:nvSpPr>
            <p:cNvPr id="46" name="Rectangle 46"/>
            <p:cNvSpPr/>
            <p:nvPr/>
          </p:nvSpPr>
          <p:spPr>
            <a:xfrm>
              <a:off x="7114222" y="1524000"/>
              <a:ext cx="4544378" cy="2272665"/>
            </a:xfrm>
            <a:prstGeom prst="roundRect">
              <a:avLst>
                <a:gd name="adj" fmla="val 5868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7" name="Rectangle 47"/>
            <p:cNvSpPr/>
            <p:nvPr/>
          </p:nvSpPr>
          <p:spPr>
            <a:xfrm>
              <a:off x="7123748" y="1657350"/>
              <a:ext cx="47625" cy="2005965"/>
            </a:xfrm>
            <a:prstGeom prst="roundRect">
              <a:avLst>
                <a:gd name="adj" fmla="val 50000"/>
              </a:avLst>
            </a:prstGeom>
            <a:solidFill>
              <a:srgbClr val="D97706"/>
            </a:solidFill>
            <a:ln>
              <a:noFill/>
            </a:ln>
          </p:spPr>
        </p:sp>
        <p:sp>
          <p:nvSpPr>
            <p:cNvPr id="48" name="Rectangle 48"/>
            <p:cNvSpPr/>
            <p:nvPr/>
          </p:nvSpPr>
          <p:spPr>
            <a:xfrm>
              <a:off x="7361872" y="1733550"/>
              <a:ext cx="921068" cy="257175"/>
            </a:xfrm>
            <a:prstGeom prst="roundRect">
              <a:avLst>
                <a:gd name="adj" fmla="val 50000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7439279" y="1769269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92400E"/>
                  </a:solidFill>
                  <a:latin typeface="+mn-lt"/>
                  <a:ea typeface="+mn-ea"/>
                  <a:cs typeface="+mn-cs"/>
                </a:rPr>
                <a:t>判断与终止</a:t>
              </a:r>
            </a:p>
          </p:txBody>
        </p:sp>
        <p:sp>
          <p:nvSpPr>
            <p:cNvPr id="50" name="Ellipse 50"/>
            <p:cNvSpPr/>
            <p:nvPr/>
          </p:nvSpPr>
          <p:spPr>
            <a:xfrm>
              <a:off x="7367588" y="2173605"/>
              <a:ext cx="64770" cy="6477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7525702" y="2110740"/>
              <a:ext cx="361569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判断收敛：ρ(H) &lt; 1（充要），或某种相容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范数 ‖H‖ &lt; 1（充分）</a:t>
              </a:r>
            </a:p>
          </p:txBody>
        </p:sp>
        <p:sp>
          <p:nvSpPr>
            <p:cNvPr id="52" name="Ellipse 52"/>
            <p:cNvSpPr/>
            <p:nvPr/>
          </p:nvSpPr>
          <p:spPr>
            <a:xfrm>
              <a:off x="7367588" y="2794635"/>
              <a:ext cx="64770" cy="6477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7525702" y="2731770"/>
              <a:ext cx="380142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终止条件常用相邻差 ‖x⁽ᵏ⁾ − x⁽ᵏ⁻¹⁾‖ &lt; ε</a:t>
              </a:r>
            </a:p>
          </p:txBody>
        </p:sp>
        <p:sp>
          <p:nvSpPr>
            <p:cNvPr id="54" name="Ellipse 54"/>
            <p:cNvSpPr/>
            <p:nvPr/>
          </p:nvSpPr>
          <p:spPr>
            <a:xfrm>
              <a:off x="7367588" y="3129915"/>
              <a:ext cx="64770" cy="6477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55" name="TextBox 55"/>
            <p:cNvSpPr txBox="1"/>
            <p:nvPr/>
          </p:nvSpPr>
          <p:spPr>
            <a:xfrm>
              <a:off x="7525702" y="3067050"/>
              <a:ext cx="3634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另设最大迭代次数 N，到达 N 次仍不满足时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停止，并报告可能不收敛</a:t>
              </a:r>
            </a:p>
          </p:txBody>
        </p:sp>
      </p:grpSp>
      <p:grpSp>
        <p:nvGrpSpPr>
          <p:cNvPr id="64" name="c2-card-2"/>
          <p:cNvGrpSpPr/>
          <p:nvPr/>
        </p:nvGrpSpPr>
        <p:grpSpPr>
          <a:xfrm>
            <a:off x="7114222" y="3987165"/>
            <a:ext cx="4544378" cy="2197418"/>
            <a:chOff x="7114222" y="3987165"/>
            <a:chExt cx="4544378" cy="2197418"/>
          </a:xfrm>
        </p:grpSpPr>
        <p:sp>
          <p:nvSpPr>
            <p:cNvPr id="57" name="Rectangle 57"/>
            <p:cNvSpPr/>
            <p:nvPr/>
          </p:nvSpPr>
          <p:spPr>
            <a:xfrm>
              <a:off x="7114222" y="3987165"/>
              <a:ext cx="4544378" cy="2197418"/>
            </a:xfrm>
            <a:prstGeom prst="roundRect">
              <a:avLst>
                <a:gd name="adj" fmla="val 6068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58" name="Rectangle 58"/>
            <p:cNvSpPr/>
            <p:nvPr/>
          </p:nvSpPr>
          <p:spPr>
            <a:xfrm>
              <a:off x="7123748" y="4120515"/>
              <a:ext cx="47625" cy="1930718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59" name="Rectangle 59"/>
            <p:cNvSpPr/>
            <p:nvPr/>
          </p:nvSpPr>
          <p:spPr>
            <a:xfrm>
              <a:off x="7361872" y="4196715"/>
              <a:ext cx="1631632" cy="25717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60" name="TextBox 60"/>
            <p:cNvSpPr txBox="1"/>
            <p:nvPr/>
          </p:nvSpPr>
          <p:spPr>
            <a:xfrm>
              <a:off x="7417626" y="4232434"/>
              <a:ext cx="1519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为什么看相邻两次之差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7354252" y="4573905"/>
              <a:ext cx="2741581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下页误差估计：q = ‖H‖ &lt; 1 时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2" name="formula141"/>
                <p:cNvSpPr txBox="1">
                  <a:spLocks noGrp="1"/>
                </p:cNvSpPr>
                <p:nvPr/>
              </p:nvSpPr>
              <p:spPr>
                <a:xfrm>
                  <a:off x="7361872" y="4884420"/>
                  <a:ext cx="4087178" cy="540068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d>
                          <m:dPr>
                            <m:begChr m:val="‖"/>
                            <m:sepChr m:val=""/>
                            <m:endChr m:val="‖"/>
                            <m:grow m:val="on"/>
                            <m:ctrlP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sSup>
                              <m:e>
                                <m: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  <m:sup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 m:val="on"/>
                                    <m:ctrlPr>
                                      <a:rPr lang="zh-CN" sz="15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dPr>
                                  <m:e>
                                    <m:r>
                                      <a:rPr lang="zh-CN" sz="15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k</m:t>
                                    </m:r>
                                  </m:e>
                                </m:d>
                              </m:sup>
                            </m:sSup>
                            <m:r>
                              <m:rPr>
                                <m:sty m:val="p"/>
                              </m:rP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−</m:t>
                            </m:r>
                            <m:sSup>
                              <m:e>
                                <m: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  <m:sup>
                                <m:r>
                                  <m:rPr>
                                    <m:sty m:val="p"/>
                                  </m:rP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*</m:t>
                                </m:r>
                              </m:sup>
                            </m:sSup>
                          </m:e>
                        </m:d>
                        <m:r>
                          <m:rPr>
                            <m:sty m:val="p"/>
                          </m:rPr>
                          <a:rPr lang="zh-CN" sz="15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≤</m:t>
                        </m:r>
                        <m:f>
                          <m:fPr>
                            <m:type m:val="bar"/>
                            <m:ctrlP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q</m:t>
                            </m:r>
                          </m:num>
                          <m:den>
                            <m: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  <m:r>
                              <m:rPr>
                                <m:sty m:val="p"/>
                              </m:rP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−</m:t>
                            </m:r>
                            <m: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q</m:t>
                            </m:r>
                          </m:den>
                        </m:f>
                        <m:r>
                          <a:rPr lang="zh-CN" sz="15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 </m:t>
                        </m:r>
                        <m:d>
                          <m:dPr>
                            <m:begChr m:val="‖"/>
                            <m:sepChr m:val=""/>
                            <m:endChr m:val="‖"/>
                            <m:grow m:val="on"/>
                            <m:ctrlP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sSup>
                              <m:e>
                                <m: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  <m:sup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 m:val="on"/>
                                    <m:ctrlPr>
                                      <a:rPr lang="zh-CN" sz="15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dPr>
                                  <m:e>
                                    <m:r>
                                      <a:rPr lang="zh-CN" sz="15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k</m:t>
                                    </m:r>
                                  </m:e>
                                </m:d>
                              </m:sup>
                            </m:sSup>
                            <m:r>
                              <m:rPr>
                                <m:sty m:val="p"/>
                              </m:rP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−</m:t>
                            </m:r>
                            <m:sSup>
                              <m:e>
                                <m: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  <m:sup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 m:val="on"/>
                                    <m:ctrlPr>
                                      <a:rPr lang="zh-CN" sz="15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dPr>
                                  <m:e>
                                    <m:r>
                                      <a:rPr lang="zh-CN" sz="15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k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zh-CN" sz="15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−</m:t>
                                    </m:r>
                                    <m:r>
                                      <a:rPr lang="zh-CN" sz="15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1</m:t>
                                    </m:r>
                                  </m:e>
                                </m:d>
                              </m:sup>
                            </m:sSup>
                          </m:e>
                        </m:d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63" name="TextBox 63"/>
            <p:cNvSpPr txBox="1"/>
            <p:nvPr/>
          </p:nvSpPr>
          <p:spPr>
            <a:xfrm>
              <a:off x="7355396" y="5541169"/>
              <a:ext cx="3922522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q 接近 1 时系数 q/(1 − q) 很大，相邻差很小并不代表</a:t>
              </a:r>
              <a:br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误差小，这时 ε 要取得更严。</a:t>
              </a:r>
            </a:p>
          </p:txBody>
        </p:sp>
      </p:grpSp>
      <p:grpSp>
        <p:nvGrpSpPr>
          <p:cNvPr id="67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5" name="TextBox 65"/>
            <p:cNvSpPr txBox="1"/>
            <p:nvPr/>
          </p:nvSpPr>
          <p:spPr>
            <a:xfrm>
              <a:off x="528447" y="6581299"/>
              <a:ext cx="278038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第2章 解线性方程组的数值法（下）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8355581" cy="909257"/>
            <a:chOff x="520446" y="342900"/>
            <a:chExt cx="8355581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14588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6156" y="407194"/>
              <a:ext cx="22881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第2章 线性方程组（下） · 迭代法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8355581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误差估计：用 q = ‖H‖ 控制误差，并事先估算迭代次数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7" name="c1-card-1"/>
          <p:cNvGrpSpPr/>
          <p:nvPr/>
        </p:nvGrpSpPr>
        <p:grpSpPr>
          <a:xfrm>
            <a:off x="533400" y="1524000"/>
            <a:ext cx="5193982" cy="4021455"/>
            <a:chOff x="533400" y="1524000"/>
            <a:chExt cx="5193982" cy="402145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193982" cy="4021455"/>
            </a:xfrm>
            <a:prstGeom prst="roundRect">
              <a:avLst>
                <a:gd name="adj" fmla="val 331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375475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81050" y="1733550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71258" y="176926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定理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382078" y="1768792"/>
              <a:ext cx="16306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迭代法的收敛速度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73430" y="2129790"/>
              <a:ext cx="441579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当 q = ‖H‖ &lt; 1 时，由迭代法 (2.7.3) 所定义的序列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{x⁽ᵏ⁾} 满足：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773430" y="2750820"/>
              <a:ext cx="28422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事后估计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：用最近两次迭代结果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4" name="formula144"/>
                <p:cNvSpPr txBox="1">
                  <a:spLocks noGrp="1"/>
                </p:cNvSpPr>
                <p:nvPr/>
              </p:nvSpPr>
              <p:spPr>
                <a:xfrm>
                  <a:off x="781050" y="3061335"/>
                  <a:ext cx="4736782" cy="56578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d>
                          <m:dPr>
                            <m:begChr m:val="‖"/>
                            <m:sepChr m:val=""/>
                            <m:endChr m:val="‖"/>
                            <m:grow m:val="on"/>
                            <m:ctrlP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sSup>
                              <m:e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  <m:sup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 m:val="on"/>
                                    <m:ctrlPr>
                                      <a:rPr lang="zh-CN" sz="16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dPr>
                                  <m:e>
                                    <m:r>
                                      <a:rPr lang="zh-CN" sz="16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k</m:t>
                                    </m:r>
                                  </m:e>
                                </m:d>
                              </m:sup>
                            </m:sSup>
                            <m:r>
                              <m:rPr>
                                <m:sty m:val="p"/>
                              </m:rP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−</m:t>
                            </m:r>
                            <m:sSup>
                              <m:e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  <m:sup>
                                <m:r>
                                  <m:rPr>
                                    <m:sty m:val="p"/>
                                  </m:rP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*</m:t>
                                </m:r>
                              </m:sup>
                            </m:sSup>
                          </m:e>
                        </m:d>
                        <m:r>
                          <m:rPr>
                            <m:sty m:val="p"/>
                          </m:rP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≤</m:t>
                        </m:r>
                        <m:f>
                          <m:fPr>
                            <m:type m:val="bar"/>
                            <m:ctrlP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q</m:t>
                            </m:r>
                          </m:num>
                          <m:den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  <m:r>
                              <m:rPr>
                                <m:sty m:val="p"/>
                              </m:rP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−</m:t>
                            </m:r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q</m:t>
                            </m:r>
                          </m:den>
                        </m:f>
                        <m: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 </m:t>
                        </m:r>
                        <m:d>
                          <m:dPr>
                            <m:begChr m:val="‖"/>
                            <m:sepChr m:val=""/>
                            <m:endChr m:val="‖"/>
                            <m:grow m:val="on"/>
                            <m:ctrlP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sSup>
                              <m:e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  <m:sup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 m:val="on"/>
                                    <m:ctrlPr>
                                      <a:rPr lang="zh-CN" sz="16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dPr>
                                  <m:e>
                                    <m:r>
                                      <a:rPr lang="zh-CN" sz="16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k</m:t>
                                    </m:r>
                                  </m:e>
                                </m:d>
                              </m:sup>
                            </m:sSup>
                            <m:r>
                              <m:rPr>
                                <m:sty m:val="p"/>
                              </m:rP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−</m:t>
                            </m:r>
                            <m:sSup>
                              <m:e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  <m:sup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 m:val="on"/>
                                    <m:ctrlPr>
                                      <a:rPr lang="zh-CN" sz="16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dPr>
                                  <m:e>
                                    <m:r>
                                      <a:rPr lang="zh-CN" sz="16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k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zh-CN" sz="16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−</m:t>
                                    </m:r>
                                    <m:r>
                                      <a:rPr lang="zh-CN" sz="16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1</m:t>
                                    </m:r>
                                  </m:e>
                                </m:d>
                              </m:sup>
                            </m:sSup>
                          </m:e>
                        </m:d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15" name="TextBox 15"/>
            <p:cNvSpPr txBox="1"/>
            <p:nvPr/>
          </p:nvSpPr>
          <p:spPr>
            <a:xfrm>
              <a:off x="773430" y="3747135"/>
              <a:ext cx="20345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事前估计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：只用第一步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6" name="formula145"/>
                <p:cNvSpPr txBox="1">
                  <a:spLocks noGrp="1"/>
                </p:cNvSpPr>
                <p:nvPr/>
              </p:nvSpPr>
              <p:spPr>
                <a:xfrm>
                  <a:off x="781050" y="4057650"/>
                  <a:ext cx="4736782" cy="56578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d>
                          <m:dPr>
                            <m:begChr m:val="‖"/>
                            <m:sepChr m:val=""/>
                            <m:endChr m:val="‖"/>
                            <m:grow m:val="on"/>
                            <m:ctrlP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sSup>
                              <m:e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  <m:sup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 m:val="on"/>
                                    <m:ctrlPr>
                                      <a:rPr lang="zh-CN" sz="16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dPr>
                                  <m:e>
                                    <m:r>
                                      <a:rPr lang="zh-CN" sz="16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k</m:t>
                                    </m:r>
                                  </m:e>
                                </m:d>
                              </m:sup>
                            </m:sSup>
                            <m:r>
                              <m:rPr>
                                <m:sty m:val="p"/>
                              </m:rP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−</m:t>
                            </m:r>
                            <m:sSup>
                              <m:e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  <m:sup>
                                <m:r>
                                  <m:rPr>
                                    <m:sty m:val="p"/>
                                  </m:rP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*</m:t>
                                </m:r>
                              </m:sup>
                            </m:sSup>
                          </m:e>
                        </m:d>
                        <m:r>
                          <m:rPr>
                            <m:sty m:val="p"/>
                          </m:rP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≤</m:t>
                        </m:r>
                        <m:f>
                          <m:fPr>
                            <m:type m:val="bar"/>
                            <m:ctrlP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sSup>
                              <m:e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q</m:t>
                                </m:r>
                              </m:e>
                              <m:sup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k</m:t>
                                </m:r>
                              </m:sup>
                            </m:sSup>
                          </m:num>
                          <m:den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  <m:r>
                              <m:rPr>
                                <m:sty m:val="p"/>
                              </m:rP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−</m:t>
                            </m:r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q</m:t>
                            </m:r>
                          </m:den>
                        </m:f>
                        <m: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 </m:t>
                        </m:r>
                        <m:d>
                          <m:dPr>
                            <m:begChr m:val="‖"/>
                            <m:sepChr m:val=""/>
                            <m:endChr m:val="‖"/>
                            <m:grow m:val="on"/>
                            <m:ctrlP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sSup>
                              <m:e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  <m:sup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 m:val="on"/>
                                    <m:ctrlPr>
                                      <a:rPr lang="zh-CN" sz="16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dPr>
                                  <m:e>
                                    <m:r>
                                      <a:rPr lang="zh-CN" sz="16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1</m:t>
                                    </m:r>
                                  </m:e>
                                </m:d>
                              </m:sup>
                            </m:sSup>
                            <m:r>
                              <m:rPr>
                                <m:sty m:val="p"/>
                              </m:rP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−</m:t>
                            </m:r>
                            <m:sSup>
                              <m:e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  <m:sup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 m:val="on"/>
                                    <m:ctrlPr>
                                      <a:rPr lang="zh-CN" sz="16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dPr>
                                  <m:e>
                                    <m:r>
                                      <a:rPr lang="zh-CN" sz="16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0</m:t>
                                    </m:r>
                                  </m:e>
                                </m:d>
                              </m:sup>
                            </m:sSup>
                          </m:e>
                        </m:d>
                      </m:oMath>
                    </m:oMathPara>
                  </a14:m>
                </a:p>
              </p:txBody>
            </p:sp>
          </mc:Choice>
        </mc:AlternateContent>
      </p:grpSp>
      <p:grpSp>
        <p:nvGrpSpPr>
          <p:cNvPr id="39" name="c2-card-1"/>
          <p:cNvGrpSpPr/>
          <p:nvPr/>
        </p:nvGrpSpPr>
        <p:grpSpPr>
          <a:xfrm>
            <a:off x="6032182" y="1524000"/>
            <a:ext cx="5626418" cy="4021455"/>
            <a:chOff x="6032182" y="1524000"/>
            <a:chExt cx="5626418" cy="4021455"/>
          </a:xfrm>
        </p:grpSpPr>
        <p:sp>
          <p:nvSpPr>
            <p:cNvPr id="18" name="Rectangle 18"/>
            <p:cNvSpPr/>
            <p:nvPr/>
          </p:nvSpPr>
          <p:spPr>
            <a:xfrm>
              <a:off x="6032182" y="1524000"/>
              <a:ext cx="5626418" cy="4021455"/>
            </a:xfrm>
            <a:prstGeom prst="roundRect">
              <a:avLst>
                <a:gd name="adj" fmla="val 331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6041708" y="1657350"/>
              <a:ext cx="47625" cy="3754755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20" name="Rectangle 20"/>
            <p:cNvSpPr/>
            <p:nvPr/>
          </p:nvSpPr>
          <p:spPr>
            <a:xfrm>
              <a:off x="6279832" y="1733550"/>
              <a:ext cx="2058352" cy="25717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6322784" y="1769269"/>
              <a:ext cx="197149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证明（原课件略，此处补充）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6413182" y="2238375"/>
              <a:ext cx="19050" cy="242220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3" name="Ellipse 23"/>
            <p:cNvSpPr/>
            <p:nvPr/>
          </p:nvSpPr>
          <p:spPr>
            <a:xfrm>
              <a:off x="6279832" y="2095500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373456" y="216931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25" name="Ellipse 25"/>
            <p:cNvSpPr/>
            <p:nvPr/>
          </p:nvSpPr>
          <p:spPr>
            <a:xfrm>
              <a:off x="6279832" y="2981325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373456" y="305514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27" name="Ellipse 27"/>
            <p:cNvSpPr/>
            <p:nvPr/>
          </p:nvSpPr>
          <p:spPr>
            <a:xfrm>
              <a:off x="6279832" y="3631882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373456" y="370570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29" name="Ellipse 29"/>
            <p:cNvSpPr/>
            <p:nvPr/>
          </p:nvSpPr>
          <p:spPr>
            <a:xfrm>
              <a:off x="6279832" y="4517708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373456" y="459152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691312" y="2129790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一步收缩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6692456" y="2423636"/>
              <a:ext cx="4434586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x⁽ᵏ⁾ − x* = H(x⁽ᵏ⁻¹⁾ − x*)，所以 ‖x⁽ᵏ⁾ − x*‖ ≤ q‖x⁽ᵏ⁻¹⁾</a:t>
              </a:r>
              <a:br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− x*‖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6691312" y="3015615"/>
              <a:ext cx="94916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插入 x⁽ᵏ⁾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6692456" y="3308509"/>
              <a:ext cx="384693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‖x⁽ᵏ⁻¹⁾ − x*‖ ≤ ‖x⁽ᵏ⁻¹⁾ − x⁽ᵏ⁾‖ + ‖x⁽ᵏ⁾ − x*‖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691312" y="3666172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移项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692456" y="3959066"/>
              <a:ext cx="4483354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代入第 1 步：(1 − q)‖x⁽ᵏ⁾ − x*‖ ≤ q‖x⁽ᵏ⁾ − x⁽ᵏ⁻¹⁾‖，得事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后估计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691312" y="4551998"/>
              <a:ext cx="10248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相邻差递推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6692456" y="4844891"/>
              <a:ext cx="4442714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x⁽ᵏ⁾ − x⁽ᵏ⁻¹⁾ = H(x⁽ᵏ⁻¹⁾ − x⁽ᵏ⁻²⁾)，故 ‖x⁽ᵏ⁾ − x⁽ᵏ⁻¹⁾‖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≤ qᵏ⁻¹‖x⁽¹⁾ − x⁽⁰⁾‖，代入得事前估计</a:t>
              </a:r>
            </a:p>
          </p:txBody>
        </p:sp>
      </p:grpSp>
      <p:grpSp>
        <p:nvGrpSpPr>
          <p:cNvPr id="46" name="takeaway"/>
          <p:cNvGrpSpPr/>
          <p:nvPr/>
        </p:nvGrpSpPr>
        <p:grpSpPr>
          <a:xfrm>
            <a:off x="533400" y="5829300"/>
            <a:ext cx="11125200" cy="533400"/>
            <a:chOff x="533400" y="5829300"/>
            <a:chExt cx="11125200" cy="533400"/>
          </a:xfrm>
        </p:grpSpPr>
        <p:sp>
          <p:nvSpPr>
            <p:cNvPr id="40" name="Rectangle 40"/>
            <p:cNvSpPr/>
            <p:nvPr/>
          </p:nvSpPr>
          <p:spPr>
            <a:xfrm>
              <a:off x="533400" y="5829300"/>
              <a:ext cx="11125200" cy="533400"/>
            </a:xfrm>
            <a:prstGeom prst="roundRect">
              <a:avLst>
                <a:gd name="adj" fmla="val 21429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44" name="Group 44"/>
            <p:cNvGrpSpPr/>
            <p:nvPr/>
          </p:nvGrpSpPr>
          <p:grpSpPr>
            <a:xfrm>
              <a:off x="738188" y="5995988"/>
              <a:ext cx="200026" cy="200025"/>
              <a:chOff x="738188" y="5995988"/>
              <a:chExt cx="200026" cy="200025"/>
            </a:xfrm>
          </p:grpSpPr>
          <p:sp>
            <p:nvSpPr>
              <p:cNvPr id="41" name="Freeform 41"/>
              <p:cNvSpPr/>
              <p:nvPr/>
            </p:nvSpPr>
            <p:spPr>
              <a:xfrm>
                <a:off x="738188" y="5995988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42" name="Freeform 42"/>
              <p:cNvSpPr/>
              <p:nvPr/>
            </p:nvSpPr>
            <p:spPr>
              <a:xfrm>
                <a:off x="777926" y="6040438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43" name="Freeform 43"/>
              <p:cNvSpPr/>
              <p:nvPr/>
            </p:nvSpPr>
            <p:spPr>
              <a:xfrm>
                <a:off x="812642" y="6151563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45" name="TextBox 45"/>
            <p:cNvSpPr txBox="1"/>
            <p:nvPr/>
          </p:nvSpPr>
          <p:spPr>
            <a:xfrm>
              <a:off x="1040130" y="5991225"/>
              <a:ext cx="1060646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事前估计可预估次数：要使误差 &lt; ε，只需 qᵏ‖x⁽¹⁾ − x⁽⁰⁾‖/(1 − q) &lt; ε，解出 k。例 2.4 调换次序后会实际算一次。</a:t>
              </a:r>
            </a:p>
          </p:txBody>
        </p:sp>
      </p:grpSp>
      <p:grpSp>
        <p:nvGrpSpPr>
          <p:cNvPr id="4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7" name="TextBox 47"/>
            <p:cNvSpPr txBox="1"/>
            <p:nvPr/>
          </p:nvSpPr>
          <p:spPr>
            <a:xfrm>
              <a:off x="528447" y="6581299"/>
              <a:ext cx="278038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第2章 解线性方程组的数值法（下）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9921509" cy="909257"/>
            <a:chOff x="520446" y="342900"/>
            <a:chExt cx="9921509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14588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6156" y="407194"/>
              <a:ext cx="22881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第2章 线性方程组（下） · 迭代法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9921509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Jacobi 迭代法：把 A 拆成对角、严格下三角、严格上三角三部分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39" name="c1-cells-1"/>
          <p:cNvGrpSpPr/>
          <p:nvPr/>
        </p:nvGrpSpPr>
        <p:grpSpPr>
          <a:xfrm>
            <a:off x="533400" y="1524000"/>
            <a:ext cx="2971800" cy="1981200"/>
            <a:chOff x="533400" y="1524000"/>
            <a:chExt cx="2971800" cy="198120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742950" cy="495300"/>
            </a:xfrm>
            <a:prstGeom prst="rect">
              <a:avLst/>
            </a:prstGeom>
            <a:solidFill>
              <a:srgbClr val="2E7D4F"/>
            </a:solidFill>
            <a:ln w="15240">
              <a:solidFill>
                <a:srgbClr val="2E7D4F"/>
              </a:solidFill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749131" y="1692116"/>
              <a:ext cx="31148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a₁₁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1276350" y="1524000"/>
              <a:ext cx="742950" cy="495300"/>
            </a:xfrm>
            <a:prstGeom prst="rect">
              <a:avLst/>
            </a:pr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1492081" y="1692116"/>
              <a:ext cx="31148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a₁₂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2019300" y="1524000"/>
              <a:ext cx="742950" cy="495300"/>
            </a:xfrm>
            <a:prstGeom prst="rect">
              <a:avLst/>
            </a:pr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2235031" y="1692116"/>
              <a:ext cx="31148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a₁₃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2762250" y="1524000"/>
              <a:ext cx="742950" cy="495300"/>
            </a:xfrm>
            <a:prstGeom prst="rect">
              <a:avLst/>
            </a:pr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2977981" y="1692116"/>
              <a:ext cx="31148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a₁₄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533400" y="2019300"/>
              <a:ext cx="742950" cy="495300"/>
            </a:xfrm>
            <a:prstGeom prst="rect">
              <a:avLst/>
            </a:prstGeom>
            <a:solidFill>
              <a:srgbClr val="E3F5F1"/>
            </a:solidFill>
            <a:ln w="15240">
              <a:solidFill>
                <a:srgbClr val="14A38B"/>
              </a:solidFill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749131" y="2187416"/>
              <a:ext cx="31148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a₂₁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1276350" y="2019300"/>
              <a:ext cx="742950" cy="495300"/>
            </a:xfrm>
            <a:prstGeom prst="rect">
              <a:avLst/>
            </a:prstGeom>
            <a:solidFill>
              <a:srgbClr val="2E7D4F"/>
            </a:solidFill>
            <a:ln w="15240">
              <a:solidFill>
                <a:srgbClr val="2E7D4F"/>
              </a:solidFill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1492081" y="2187416"/>
              <a:ext cx="31148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a₂₂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2019300" y="2019300"/>
              <a:ext cx="742950" cy="495300"/>
            </a:xfrm>
            <a:prstGeom prst="rect">
              <a:avLst/>
            </a:pr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2235031" y="2187416"/>
              <a:ext cx="31148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a₂₃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2762250" y="2019300"/>
              <a:ext cx="742950" cy="495300"/>
            </a:xfrm>
            <a:prstGeom prst="rect">
              <a:avLst/>
            </a:pr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2977981" y="2187416"/>
              <a:ext cx="31148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a₂₄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533400" y="2514600"/>
              <a:ext cx="742950" cy="495300"/>
            </a:xfrm>
            <a:prstGeom prst="rect">
              <a:avLst/>
            </a:prstGeom>
            <a:solidFill>
              <a:srgbClr val="E3F5F1"/>
            </a:solidFill>
            <a:ln w="15240">
              <a:solidFill>
                <a:srgbClr val="14A38B"/>
              </a:solidFill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49131" y="2682716"/>
              <a:ext cx="31148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a₃₁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1276350" y="2514600"/>
              <a:ext cx="742950" cy="495300"/>
            </a:xfrm>
            <a:prstGeom prst="rect">
              <a:avLst/>
            </a:prstGeom>
            <a:solidFill>
              <a:srgbClr val="E3F5F1"/>
            </a:solidFill>
            <a:ln w="15240">
              <a:solidFill>
                <a:srgbClr val="14A38B"/>
              </a:solidFill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1492081" y="2682716"/>
              <a:ext cx="31148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a₃₂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2019300" y="2514600"/>
              <a:ext cx="742950" cy="495300"/>
            </a:xfrm>
            <a:prstGeom prst="rect">
              <a:avLst/>
            </a:prstGeom>
            <a:solidFill>
              <a:srgbClr val="2E7D4F"/>
            </a:solidFill>
            <a:ln w="15240">
              <a:solidFill>
                <a:srgbClr val="2E7D4F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2235031" y="2682716"/>
              <a:ext cx="31148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a₃₃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2762250" y="2514600"/>
              <a:ext cx="742950" cy="495300"/>
            </a:xfrm>
            <a:prstGeom prst="rect">
              <a:avLst/>
            </a:pr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2977981" y="2682716"/>
              <a:ext cx="31148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a₃₄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533400" y="3009900"/>
              <a:ext cx="742950" cy="495300"/>
            </a:xfrm>
            <a:prstGeom prst="rect">
              <a:avLst/>
            </a:prstGeom>
            <a:solidFill>
              <a:srgbClr val="E3F5F1"/>
            </a:solidFill>
            <a:ln w="15240">
              <a:solidFill>
                <a:srgbClr val="14A38B"/>
              </a:solidFill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749131" y="3178016"/>
              <a:ext cx="31148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a₄₁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1276350" y="3009900"/>
              <a:ext cx="742950" cy="495300"/>
            </a:xfrm>
            <a:prstGeom prst="rect">
              <a:avLst/>
            </a:prstGeom>
            <a:solidFill>
              <a:srgbClr val="E3F5F1"/>
            </a:solidFill>
            <a:ln w="15240">
              <a:solidFill>
                <a:srgbClr val="14A38B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1492081" y="3178016"/>
              <a:ext cx="31148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a₄₂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2019300" y="3009900"/>
              <a:ext cx="742950" cy="495300"/>
            </a:xfrm>
            <a:prstGeom prst="rect">
              <a:avLst/>
            </a:prstGeom>
            <a:solidFill>
              <a:srgbClr val="E3F5F1"/>
            </a:solidFill>
            <a:ln w="15240">
              <a:solidFill>
                <a:srgbClr val="14A38B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2235031" y="3178016"/>
              <a:ext cx="31148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a₄₃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2762250" y="3009900"/>
              <a:ext cx="742950" cy="495300"/>
            </a:xfrm>
            <a:prstGeom prst="rect">
              <a:avLst/>
            </a:prstGeom>
            <a:solidFill>
              <a:srgbClr val="2E7D4F"/>
            </a:solidFill>
            <a:ln w="15240">
              <a:solidFill>
                <a:srgbClr val="2E7D4F"/>
              </a:solidFill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2977981" y="3178016"/>
              <a:ext cx="31148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a₄₄</a:t>
              </a:r>
            </a:p>
          </p:txBody>
        </p:sp>
      </p:grpSp>
      <p:grpSp>
        <p:nvGrpSpPr>
          <p:cNvPr id="48" name="c1-kv-2"/>
          <p:cNvGrpSpPr/>
          <p:nvPr/>
        </p:nvGrpSpPr>
        <p:grpSpPr>
          <a:xfrm>
            <a:off x="525780" y="3720465"/>
            <a:ext cx="4551998" cy="1173480"/>
            <a:chOff x="525780" y="3720465"/>
            <a:chExt cx="4551998" cy="1173480"/>
          </a:xfrm>
        </p:grpSpPr>
        <p:sp>
          <p:nvSpPr>
            <p:cNvPr id="40" name="TextBox 40"/>
            <p:cNvSpPr txBox="1"/>
            <p:nvPr/>
          </p:nvSpPr>
          <p:spPr>
            <a:xfrm>
              <a:off x="525780" y="3720465"/>
              <a:ext cx="13845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D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1002982" y="3720465"/>
              <a:ext cx="393268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深色格：对角部分 diag(a₁₁, a₂₂, …, aₙₙ)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533400" y="4040505"/>
              <a:ext cx="454437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525780" y="4160520"/>
              <a:ext cx="261671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−L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1002982" y="4160520"/>
              <a:ext cx="261975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绿色格：A 的严格下三角部分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533400" y="4480560"/>
              <a:ext cx="454437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525780" y="4600575"/>
              <a:ext cx="261671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−U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1002982" y="4600575"/>
              <a:ext cx="261975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橙色格：A 的严格上三角部分</a:t>
              </a:r>
            </a:p>
          </p:txBody>
        </p:sp>
      </p:grpSp>
      <p:grpSp>
        <p:nvGrpSpPr>
          <p:cNvPr id="55" name="c1-callout-3"/>
          <p:cNvGrpSpPr/>
          <p:nvPr/>
        </p:nvGrpSpPr>
        <p:grpSpPr>
          <a:xfrm>
            <a:off x="533400" y="5025390"/>
            <a:ext cx="4544378" cy="1059180"/>
            <a:chOff x="533400" y="5025390"/>
            <a:chExt cx="4544378" cy="1059180"/>
          </a:xfrm>
        </p:grpSpPr>
        <p:sp>
          <p:nvSpPr>
            <p:cNvPr id="49" name="Rectangle 49"/>
            <p:cNvSpPr/>
            <p:nvPr/>
          </p:nvSpPr>
          <p:spPr>
            <a:xfrm>
              <a:off x="533400" y="5025390"/>
              <a:ext cx="4544378" cy="1059180"/>
            </a:xfrm>
            <a:prstGeom prst="roundRect">
              <a:avLst>
                <a:gd name="adj" fmla="val 10791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53" name="Group 53"/>
            <p:cNvGrpSpPr/>
            <p:nvPr/>
          </p:nvGrpSpPr>
          <p:grpSpPr>
            <a:xfrm>
              <a:off x="726129" y="5451276"/>
              <a:ext cx="224134" cy="192560"/>
              <a:chOff x="726129" y="5451276"/>
              <a:chExt cx="224134" cy="192560"/>
            </a:xfrm>
          </p:grpSpPr>
          <p:sp>
            <p:nvSpPr>
              <p:cNvPr id="50" name="Freeform 50"/>
              <p:cNvSpPr/>
              <p:nvPr/>
            </p:nvSpPr>
            <p:spPr>
              <a:xfrm>
                <a:off x="838200" y="5521643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51" name="Freeform 51"/>
              <p:cNvSpPr/>
              <p:nvPr/>
            </p:nvSpPr>
            <p:spPr>
              <a:xfrm>
                <a:off x="726129" y="5451276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52" name="Freeform 52"/>
              <p:cNvSpPr/>
              <p:nvPr/>
            </p:nvSpPr>
            <p:spPr>
              <a:xfrm>
                <a:off x="838200" y="5599431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54" name="TextBox 54"/>
            <p:cNvSpPr txBox="1"/>
            <p:nvPr/>
          </p:nvSpPr>
          <p:spPr>
            <a:xfrm>
              <a:off x="1040130" y="5173980"/>
              <a:ext cx="3568065" cy="8458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注意符号：L、U 是 A 的严格下、上三角部</a:t>
              </a:r>
              <a:br/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分的相反数，所以 A = D − L − U，不是 D +</a:t>
              </a:r>
              <a:br/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L + U。</a:t>
              </a:r>
            </a:p>
          </p:txBody>
        </p:sp>
      </p:grpSp>
      <p:grpSp>
        <p:nvGrpSpPr>
          <p:cNvPr id="57" name="c2-text-1"/>
          <p:cNvGrpSpPr/>
          <p:nvPr/>
        </p:nvGrpSpPr>
        <p:grpSpPr>
          <a:xfrm>
            <a:off x="5374958" y="1548765"/>
            <a:ext cx="5835015" cy="588645"/>
            <a:chOff x="5374958" y="1548765"/>
            <a:chExt cx="5835015" cy="588645"/>
          </a:xfrm>
        </p:grpSpPr>
        <p:sp>
          <p:nvSpPr>
            <p:cNvPr id="56" name="TextBox 56"/>
            <p:cNvSpPr txBox="1"/>
            <p:nvPr/>
          </p:nvSpPr>
          <p:spPr>
            <a:xfrm>
              <a:off x="5374958" y="1548765"/>
              <a:ext cx="5835015" cy="58864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325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考虑方程组 Ax = b，A ∈ Rⁿˣⁿ 非奇异，b ∈ Rⁿ 为已知向量。将 A 写成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 = D − L − U，其中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58" name="formula148"/>
              <p:cNvSpPr txBox="1">
                <a:spLocks noGrp="1"/>
              </p:cNvSpPr>
              <p:nvPr/>
            </p:nvSpPr>
            <p:spPr>
              <a:xfrm>
                <a:off x="5382578" y="2268855"/>
                <a:ext cx="6276022" cy="94011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zh-CN" sz="15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L</m:t>
                      </m:r>
                      <m:r>
                        <m:rPr>
                          <m:sty m:val="p"/>
                        </m:rPr>
                        <a:rPr lang="zh-CN" sz="15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=−</m:t>
                      </m:r>
                      <m:d>
                        <m:dPr>
                          <m:begChr m:val="["/>
                          <m:sepChr m:val=""/>
                          <m:endChr m:val="]"/>
                          <m:grow m:val="on"/>
                          <m:ctrlP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count m:val="1"/>
                                  </m:mcPr>
                                </m:mc>
                                <m:mc>
                                  <m:mcPr>
                                    <m:count m:val="1"/>
                                  </m:mcPr>
                                </m:mc>
                                <m:mc>
                                  <m:mcPr>
                                    <m:count m:val="1"/>
                                  </m:mcPr>
                                </m:mc>
                                <m:mc>
                                  <m:mcPr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</m:t>
                                </m:r>
                              </m:e>
                              <m:e/>
                              <m:e/>
                              <m:e/>
                            </m:mr>
                            <m:mr>
                              <m:e>
                                <m:sSub>
                                  <m:e>
                                    <m:r>
                                      <a:rPr lang="zh-CN" sz="15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a</m:t>
                                    </m:r>
                                  </m:e>
                                  <m:sub>
                                    <m:r>
                                      <a:rPr lang="zh-CN" sz="15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21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</m:t>
                                </m:r>
                              </m:e>
                              <m:e/>
                              <m:e/>
                            </m:mr>
                            <m:mr>
                              <m:e>
                                <m:r>
                                  <m:rPr>
                                    <m:sty m:val="p"/>
                                  </m:rP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m:rPr>
                                    <m:sty m:val="p"/>
                                  </m:rP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⋱</m:t>
                                </m:r>
                              </m:e>
                              <m:e>
                                <m:r>
                                  <m:rPr>
                                    <m:sty m:val="p"/>
                                  </m:rP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⋱</m:t>
                                </m:r>
                              </m:e>
                              <m:e/>
                            </m:mr>
                            <m:mr>
                              <m:e>
                                <m:sSub>
                                  <m:e>
                                    <m:r>
                                      <a:rPr lang="zh-CN" sz="15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a</m:t>
                                    </m:r>
                                  </m:e>
                                  <m:sub>
                                    <m:r>
                                      <a:rPr lang="zh-CN" sz="15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n1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m:rPr>
                                    <m:sty m:val="p"/>
                                  </m:rP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e>
                                    <m:r>
                                      <a:rPr lang="zh-CN" sz="15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a</m:t>
                                    </m:r>
                                  </m:e>
                                  <m:sub>
                                    <m:r>
                                      <a:rPr lang="zh-CN" sz="15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n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zh-CN" sz="15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,</m:t>
                                    </m:r>
                                    <m:r>
                                      <a:rPr lang="zh-CN" sz="15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n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zh-CN" sz="15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−</m:t>
                                    </m:r>
                                    <m:r>
                                      <a:rPr lang="zh-CN" sz="15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  <m:r>
                        <m:rPr>
                          <m:sty m:val="p"/>
                        </m:rPr>
                        <a:rPr lang="zh-CN" sz="15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,</m:t>
                      </m:r>
                      <m:r>
                        <a:rPr lang="zh-CN" sz="15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 xml:space="preserve">  </m:t>
                      </m:r>
                      <m:r>
                        <a:rPr lang="zh-CN" sz="15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U</m:t>
                      </m:r>
                      <m:r>
                        <m:rPr>
                          <m:sty m:val="p"/>
                        </m:rPr>
                        <a:rPr lang="zh-CN" sz="15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=−</m:t>
                      </m:r>
                      <m:d>
                        <m:dPr>
                          <m:begChr m:val="["/>
                          <m:sepChr m:val=""/>
                          <m:endChr m:val="]"/>
                          <m:grow m:val="on"/>
                          <m:ctrlP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count m:val="1"/>
                                  </m:mcPr>
                                </m:mc>
                                <m:mc>
                                  <m:mcPr>
                                    <m:count m:val="1"/>
                                  </m:mcPr>
                                </m:mc>
                                <m:mc>
                                  <m:mcPr>
                                    <m:count m:val="1"/>
                                  </m:mcPr>
                                </m:mc>
                                <m:mc>
                                  <m:mcPr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</m:t>
                                </m:r>
                              </m:e>
                              <m:e>
                                <m:sSub>
                                  <m:e>
                                    <m:r>
                                      <a:rPr lang="zh-CN" sz="15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a</m:t>
                                    </m:r>
                                  </m:e>
                                  <m:sub>
                                    <m:r>
                                      <a:rPr lang="zh-CN" sz="15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12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m:rPr>
                                    <m:sty m:val="p"/>
                                  </m:rP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e>
                                    <m:r>
                                      <a:rPr lang="zh-CN" sz="15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a</m:t>
                                    </m:r>
                                  </m:e>
                                  <m:sub>
                                    <m:r>
                                      <a:rPr lang="zh-CN" sz="15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1n</m:t>
                                    </m:r>
                                  </m:sub>
                                </m:sSub>
                              </m:e>
                            </m:mr>
                            <m:mr>
                              <m:e/>
                              <m:e>
                                <m: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sty m:val="p"/>
                                  </m:rP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⋱</m:t>
                                </m:r>
                              </m:e>
                              <m:e>
                                <m:r>
                                  <m:rPr>
                                    <m:sty m:val="p"/>
                                  </m:rP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⋮</m:t>
                                </m:r>
                              </m:e>
                            </m:mr>
                            <m:mr>
                              <m:e/>
                              <m:e/>
                              <m:e>
                                <m:r>
                                  <m:rPr>
                                    <m:sty m:val="p"/>
                                  </m:rP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⋱</m:t>
                                </m:r>
                              </m:e>
                              <m:e>
                                <m:sSub>
                                  <m:e>
                                    <m:r>
                                      <a:rPr lang="zh-CN" sz="15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a</m:t>
                                    </m:r>
                                  </m:e>
                                  <m:sub>
                                    <m:r>
                                      <a:rPr lang="zh-CN" sz="15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n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zh-CN" sz="15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−</m:t>
                                    </m:r>
                                    <m:r>
                                      <a:rPr lang="zh-CN" sz="15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1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zh-CN" sz="15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,</m:t>
                                    </m:r>
                                    <m:r>
                                      <a:rPr lang="zh-CN" sz="15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n</m:t>
                                    </m:r>
                                  </m:sub>
                                </m:sSub>
                              </m:e>
                            </m:mr>
                            <m:mr>
                              <m:e/>
                              <m:e/>
                              <m:e/>
                              <m:e>
                                <m: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</p:txBody>
          </p:sp>
        </mc:Choice>
      </mc:AlternateContent>
      <p:grpSp>
        <p:nvGrpSpPr>
          <p:cNvPr id="65" name="c2-card-3"/>
          <p:cNvGrpSpPr/>
          <p:nvPr/>
        </p:nvGrpSpPr>
        <p:grpSpPr>
          <a:xfrm>
            <a:off x="5382578" y="3399472"/>
            <a:ext cx="6276022" cy="2685098"/>
            <a:chOff x="5382578" y="3399472"/>
            <a:chExt cx="6276022" cy="2685098"/>
          </a:xfrm>
        </p:grpSpPr>
        <p:sp>
          <p:nvSpPr>
            <p:cNvPr id="59" name="Rectangle 59"/>
            <p:cNvSpPr/>
            <p:nvPr/>
          </p:nvSpPr>
          <p:spPr>
            <a:xfrm>
              <a:off x="5382578" y="3399472"/>
              <a:ext cx="6276022" cy="2685098"/>
            </a:xfrm>
            <a:prstGeom prst="roundRect">
              <a:avLst>
                <a:gd name="adj" fmla="val 496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60" name="Rectangle 60"/>
            <p:cNvSpPr/>
            <p:nvPr/>
          </p:nvSpPr>
          <p:spPr>
            <a:xfrm>
              <a:off x="5392102" y="3532822"/>
              <a:ext cx="47625" cy="2418398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61" name="Rectangle 61"/>
            <p:cNvSpPr/>
            <p:nvPr/>
          </p:nvSpPr>
          <p:spPr>
            <a:xfrm>
              <a:off x="5630228" y="3609022"/>
              <a:ext cx="1825942" cy="25717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62" name="TextBox 62"/>
            <p:cNvSpPr txBox="1"/>
            <p:nvPr/>
          </p:nvSpPr>
          <p:spPr>
            <a:xfrm>
              <a:off x="5681373" y="3644741"/>
              <a:ext cx="17246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例（例 2.5 的系数矩阵）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3" name="formula149"/>
                <p:cNvSpPr txBox="1">
                  <a:spLocks noGrp="1"/>
                </p:cNvSpPr>
                <p:nvPr/>
              </p:nvSpPr>
              <p:spPr>
                <a:xfrm>
                  <a:off x="5630228" y="3961448"/>
                  <a:ext cx="5818822" cy="625792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r>
                          <a:rPr lang="zh-CN" sz="13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A</m:t>
                        </m:r>
                        <m:r>
                          <m:rPr>
                            <m:sty m:val="p"/>
                          </m:rPr>
                          <a:rPr lang="zh-CN" sz="13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d>
                          <m:dPr>
                            <m:begChr m:val="["/>
                            <m:sepChr m:val=""/>
                            <m:endChr m:val="]"/>
                            <m:grow m:val="on"/>
                            <m:ctrlP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m>
                              <m:mPr>
                                <m:baseJc m:val="center"/>
                                <m:plcHide m:val="on"/>
                                <m:mcs>
                                  <m:mc>
                                    <m:mcPr>
                                      <m:count m:val="1"/>
                                    </m:mcPr>
                                  </m:mc>
                                  <m:mc>
                                    <m:mcPr>
                                      <m:count m:val="1"/>
                                    </m:mcPr>
                                  </m:mc>
                                  <m:mc>
                                    <m:mcPr>
                                      <m:count m:val="1"/>
                                    </m:mcPr>
                                  </m:mc>
                                </m:mcs>
                              </m:mPr>
                              <m:mr>
                                <m:e>
                                  <m:r>
                                    <a:rPr lang="zh-CN" sz="13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1</m:t>
                                  </m:r>
                                </m:e>
                                <m:e>
                                  <m:r>
                                    <m:rPr>
                                      <m:sty m:val="p"/>
                                    </m:rPr>
                                    <a:rPr lang="zh-CN" sz="13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−</m:t>
                                  </m:r>
                                  <m:r>
                                    <a:rPr lang="zh-CN" sz="13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2</m:t>
                                  </m:r>
                                </m:e>
                                <m:e>
                                  <m:r>
                                    <a:rPr lang="zh-CN" sz="13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2</m:t>
                                  </m:r>
                                </m:e>
                              </m:mr>
                              <m:mr>
                                <m:e>
                                  <m:r>
                                    <m:rPr>
                                      <m:sty m:val="p"/>
                                    </m:rPr>
                                    <a:rPr lang="zh-CN" sz="13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−</m:t>
                                  </m:r>
                                  <m:r>
                                    <a:rPr lang="zh-CN" sz="13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1</m:t>
                                  </m:r>
                                </m:e>
                                <m:e>
                                  <m:r>
                                    <a:rPr lang="zh-CN" sz="13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1</m:t>
                                  </m:r>
                                </m:e>
                                <m:e>
                                  <m:r>
                                    <m:rPr>
                                      <m:sty m:val="p"/>
                                    </m:rPr>
                                    <a:rPr lang="zh-CN" sz="13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−</m:t>
                                  </m:r>
                                  <m:r>
                                    <a:rPr lang="zh-CN" sz="13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1</m:t>
                                  </m:r>
                                </m:e>
                              </m:mr>
                              <m:mr>
                                <m:e>
                                  <m:r>
                                    <m:rPr>
                                      <m:sty m:val="p"/>
                                    </m:rPr>
                                    <a:rPr lang="zh-CN" sz="13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−</m:t>
                                  </m:r>
                                  <m:r>
                                    <a:rPr lang="zh-CN" sz="13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2</m:t>
                                  </m:r>
                                </m:e>
                                <m:e>
                                  <m:r>
                                    <m:rPr>
                                      <m:sty m:val="p"/>
                                    </m:rPr>
                                    <a:rPr lang="zh-CN" sz="13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−</m:t>
                                  </m:r>
                                  <m:r>
                                    <a:rPr lang="zh-CN" sz="13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2</m:t>
                                  </m:r>
                                </m:e>
                                <m:e>
                                  <m:r>
                                    <a:rPr lang="zh-CN" sz="13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1</m:t>
                                  </m:r>
                                </m:e>
                              </m:mr>
                            </m:m>
                          </m:e>
                        </m:d>
                        <m:r>
                          <m:rPr>
                            <m:sty m:val="p"/>
                          </m:rPr>
                          <a:rPr lang="zh-CN" sz="13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:</m:t>
                        </m:r>
                        <m:r>
                          <a:rPr lang="zh-CN" sz="13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 </m:t>
                        </m:r>
                        <m:r>
                          <a:rPr lang="zh-CN" sz="13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D</m:t>
                        </m:r>
                        <m:r>
                          <m:rPr>
                            <m:sty m:val="p"/>
                          </m:rPr>
                          <a:rPr lang="zh-CN" sz="13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r>
                          <a:rPr lang="zh-CN" sz="13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I</m:t>
                        </m:r>
                        <m:r>
                          <m:rPr>
                            <m:sty m:val="p"/>
                          </m:rPr>
                          <a:rPr lang="zh-CN" sz="13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,</m:t>
                        </m:r>
                        <m:r>
                          <a:rPr lang="zh-CN" sz="13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 </m:t>
                        </m:r>
                        <m:r>
                          <a:rPr lang="zh-CN" sz="13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L</m:t>
                        </m:r>
                        <m:r>
                          <m:rPr>
                            <m:sty m:val="p"/>
                          </m:rPr>
                          <a:rPr lang="zh-CN" sz="13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d>
                          <m:dPr>
                            <m:begChr m:val="["/>
                            <m:sepChr m:val=""/>
                            <m:endChr m:val="]"/>
                            <m:grow m:val="on"/>
                            <m:ctrlP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m>
                              <m:mPr>
                                <m:baseJc m:val="center"/>
                                <m:plcHide m:val="on"/>
                                <m:mcs>
                                  <m:mc>
                                    <m:mcPr>
                                      <m:count m:val="1"/>
                                    </m:mcPr>
                                  </m:mc>
                                  <m:mc>
                                    <m:mcPr>
                                      <m:count m:val="1"/>
                                    </m:mcPr>
                                  </m:mc>
                                  <m:mc>
                                    <m:mcPr>
                                      <m:count m:val="1"/>
                                    </m:mcPr>
                                  </m:mc>
                                </m:mcs>
                              </m:mPr>
                              <m:mr>
                                <m:e>
                                  <m:r>
                                    <a:rPr lang="zh-CN" sz="13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zh-CN" sz="13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zh-CN" sz="13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0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zh-CN" sz="13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1</m:t>
                                  </m:r>
                                </m:e>
                                <m:e>
                                  <m:r>
                                    <a:rPr lang="zh-CN" sz="13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zh-CN" sz="13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0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zh-CN" sz="13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2</m:t>
                                  </m:r>
                                </m:e>
                                <m:e>
                                  <m:r>
                                    <a:rPr lang="zh-CN" sz="13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2</m:t>
                                  </m:r>
                                </m:e>
                                <m:e>
                                  <m:r>
                                    <a:rPr lang="zh-CN" sz="13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0</m:t>
                                  </m:r>
                                </m:e>
                              </m:mr>
                            </m:m>
                          </m:e>
                        </m:d>
                        <m:r>
                          <m:rPr>
                            <m:sty m:val="p"/>
                          </m:rPr>
                          <a:rPr lang="zh-CN" sz="13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,</m:t>
                        </m:r>
                        <m:r>
                          <a:rPr lang="zh-CN" sz="13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 </m:t>
                        </m:r>
                        <m:r>
                          <a:rPr lang="zh-CN" sz="13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U</m:t>
                        </m:r>
                        <m:r>
                          <m:rPr>
                            <m:sty m:val="p"/>
                          </m:rPr>
                          <a:rPr lang="zh-CN" sz="13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d>
                          <m:dPr>
                            <m:begChr m:val="["/>
                            <m:sepChr m:val=""/>
                            <m:endChr m:val="]"/>
                            <m:grow m:val="on"/>
                            <m:ctrlP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m>
                              <m:mPr>
                                <m:baseJc m:val="center"/>
                                <m:plcHide m:val="on"/>
                                <m:mcs>
                                  <m:mc>
                                    <m:mcPr>
                                      <m:count m:val="1"/>
                                    </m:mcPr>
                                  </m:mc>
                                  <m:mc>
                                    <m:mcPr>
                                      <m:count m:val="1"/>
                                    </m:mcPr>
                                  </m:mc>
                                  <m:mc>
                                    <m:mcPr>
                                      <m:count m:val="1"/>
                                    </m:mcPr>
                                  </m:mc>
                                </m:mcs>
                              </m:mPr>
                              <m:mr>
                                <m:e>
                                  <m:r>
                                    <a:rPr lang="zh-CN" sz="13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zh-CN" sz="13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2</m:t>
                                  </m:r>
                                </m:e>
                                <m:e>
                                  <m:r>
                                    <m:rPr>
                                      <m:sty m:val="p"/>
                                    </m:rPr>
                                    <a:rPr lang="zh-CN" sz="13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−</m:t>
                                  </m:r>
                                  <m:r>
                                    <a:rPr lang="zh-CN" sz="13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2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zh-CN" sz="13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zh-CN" sz="13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zh-CN" sz="13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1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zh-CN" sz="13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zh-CN" sz="13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zh-CN" sz="13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0</m:t>
                                  </m:r>
                                </m:e>
                              </m:mr>
                            </m:m>
                          </m:e>
                        </m:d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64" name="TextBox 64"/>
            <p:cNvSpPr txBox="1"/>
            <p:nvPr/>
          </p:nvSpPr>
          <p:spPr>
            <a:xfrm>
              <a:off x="5623751" y="4703921"/>
              <a:ext cx="5523738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验算 D − L − U 就回到 A；后面例 2.5 的 Jacobi 迭代矩阵 D⁻¹(L + U) 由此得</a:t>
              </a:r>
              <a:br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到。</a:t>
              </a:r>
            </a:p>
          </p:txBody>
        </p:sp>
      </p:grpSp>
      <p:grpSp>
        <p:nvGrpSpPr>
          <p:cNvPr id="68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6" name="TextBox 66"/>
            <p:cNvSpPr txBox="1"/>
            <p:nvPr/>
          </p:nvSpPr>
          <p:spPr>
            <a:xfrm>
              <a:off x="528447" y="6581299"/>
              <a:ext cx="278038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第2章 解线性方程组的数值法（下）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050724" cy="909257"/>
            <a:chOff x="520446" y="342900"/>
            <a:chExt cx="605072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14588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6156" y="407194"/>
              <a:ext cx="22881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第2章 线性方程组（下） · 迭代法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05072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Jacobi 迭代格式：矩阵形式与分量形式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4" name="c1-steps-1"/>
          <p:cNvGrpSpPr/>
          <p:nvPr/>
        </p:nvGrpSpPr>
        <p:grpSpPr>
          <a:xfrm>
            <a:off x="533400" y="1533525"/>
            <a:ext cx="5182438" cy="2632139"/>
            <a:chOff x="533400" y="1533525"/>
            <a:chExt cx="5182438" cy="2632139"/>
          </a:xfrm>
        </p:grpSpPr>
        <p:sp>
          <p:nvSpPr>
            <p:cNvPr id="7" name="Rectangle 7"/>
            <p:cNvSpPr/>
            <p:nvPr/>
          </p:nvSpPr>
          <p:spPr>
            <a:xfrm>
              <a:off x="666750" y="1676400"/>
              <a:ext cx="19050" cy="208311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8" name="Ellipse 8"/>
            <p:cNvSpPr/>
            <p:nvPr/>
          </p:nvSpPr>
          <p:spPr>
            <a:xfrm>
              <a:off x="533400" y="1533525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27024" y="160734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533400" y="2154555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627024" y="222837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533400" y="2996565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627024" y="307038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33400" y="3616642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627024" y="369046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945261" y="1566386"/>
              <a:ext cx="39679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移项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46404" y="1846898"/>
              <a:ext cx="337649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由 A = D − L − U，Ax = b 即 Dx = (L + U)x + b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945261" y="2187416"/>
              <a:ext cx="57706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 可逆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46404" y="2467927"/>
              <a:ext cx="4698492" cy="4556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4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当 aᵢᵢ ≠ 0（i = 1, 2, …, n）时，得等价形式 x = D⁻¹(L + U)x + D⁻¹b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（2.7.9）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945261" y="3029426"/>
              <a:ext cx="39679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迭代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946404" y="3309938"/>
              <a:ext cx="476943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于是得到迭代格式（2.7.10），称为求解 Ax = b 的 Jacobi 迭代法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45261" y="3650456"/>
              <a:ext cx="97028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另一种写法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46404" y="3930968"/>
              <a:ext cx="364053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注意到 L + U = D − A，迭代矩阵也可写成 I − D⁻¹A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25" name="formula156"/>
              <p:cNvSpPr txBox="1">
                <a:spLocks noGrp="1"/>
              </p:cNvSpPr>
              <p:nvPr/>
            </p:nvSpPr>
            <p:spPr>
              <a:xfrm>
                <a:off x="533400" y="4341495"/>
                <a:ext cx="5410200" cy="381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e>
                        <m:sup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k</m:t>
                              </m:r>
                              <m:r>
                                <m:rPr>
                                  <m:sty m:val="p"/>
                                </m:rP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+</m:t>
                              </m:r>
                              <m: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</m:e>
                          </m:d>
                        </m:sup>
                      </m:sSup>
                      <m:r>
                        <m:rPr>
                          <m:sty m:val="p"/>
                        </m:rPr>
                        <a:rPr lang="zh-CN" sz="15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p>
                        <m:e>
                          <m: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−</m:t>
                          </m:r>
                          <m: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p>
                      </m:sSup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L</m:t>
                          </m:r>
                          <m:r>
                            <m:rPr>
                              <m:sty m:val="p"/>
                            </m:rP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+</m:t>
                          </m:r>
                          <m: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r>
                        <a:rPr lang="zh-CN" sz="15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 xml:space="preserve"> </m:t>
                      </m:r>
                      <m:sSup>
                        <m:e>
                          <m: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e>
                        <m:sup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k</m:t>
                              </m:r>
                            </m:e>
                          </m:d>
                        </m:sup>
                      </m:sSup>
                      <m:r>
                        <m:rPr>
                          <m:sty m:val="p"/>
                        </m:rPr>
                        <a:rPr lang="zh-CN" sz="15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</m:t>
                      </m:r>
                      <m:sSup>
                        <m:e>
                          <m: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−</m:t>
                          </m:r>
                          <m: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p>
                      </m:sSup>
                      <m:r>
                        <a:rPr lang="zh-CN" sz="15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b</m:t>
                      </m:r>
                      <m:r>
                        <m:rPr>
                          <m:sty m:val="p"/>
                        </m:rPr>
                        <a:rPr lang="zh-CN" sz="15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,</m:t>
                      </m:r>
                      <m:r>
                        <a:rPr lang="zh-CN" sz="15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 xml:space="preserve">  </m:t>
                      </m:r>
                      <m:r>
                        <a:rPr lang="zh-CN" sz="15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k</m:t>
                      </m:r>
                      <m:r>
                        <m:rPr>
                          <m:sty m:val="p"/>
                        </m:rPr>
                        <a:rPr lang="zh-CN" sz="15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r>
                        <a:rPr lang="zh-CN" sz="15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0</m:t>
                      </m:r>
                      <m:r>
                        <m:rPr>
                          <m:sty m:val="p"/>
                        </m:rPr>
                        <a:rPr lang="zh-CN" sz="15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,</m:t>
                      </m:r>
                      <m:r>
                        <a:rPr lang="zh-CN" sz="15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1</m:t>
                      </m:r>
                      <m:r>
                        <m:rPr>
                          <m:sty m:val="p"/>
                        </m:rPr>
                        <a:rPr lang="zh-CN" sz="15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,</m:t>
                      </m:r>
                      <m:r>
                        <a:rPr lang="zh-CN" sz="15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2</m:t>
                      </m:r>
                      <m:r>
                        <m:rPr>
                          <m:sty m:val="p"/>
                        </m:rPr>
                        <a:rPr lang="zh-CN" sz="15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,⋯</m:t>
                      </m:r>
                    </m:oMath>
                  </m:oMathPara>
                </a14:m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6" name="formula157"/>
              <p:cNvSpPr txBox="1">
                <a:spLocks noGrp="1"/>
              </p:cNvSpPr>
              <p:nvPr/>
            </p:nvSpPr>
            <p:spPr>
              <a:xfrm>
                <a:off x="533400" y="4908232"/>
                <a:ext cx="5410200" cy="419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zh-CN" sz="16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p>
                        <m:e>
                          <m: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−</m:t>
                          </m:r>
                          <m: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p>
                      </m:sSup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L</m:t>
                          </m:r>
                          <m:r>
                            <m:rPr>
                              <m:sty m:val="p"/>
                            </m:rP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+</m:t>
                          </m:r>
                          <m: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d>
                      <m:r>
                        <m:rPr>
                          <m:sty m:val="p"/>
                        </m:rPr>
                        <a:rPr lang="zh-CN" sz="16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r>
                        <a:rPr lang="zh-CN" sz="16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I</m:t>
                      </m:r>
                      <m:r>
                        <m:rPr>
                          <m:sty m:val="p"/>
                        </m:rPr>
                        <a:rPr lang="zh-CN" sz="16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−</m:t>
                      </m:r>
                      <m:sSup>
                        <m:e>
                          <m: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−</m:t>
                          </m:r>
                          <m: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p>
                      </m:sSup>
                      <m:r>
                        <a:rPr lang="zh-CN" sz="16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A</m:t>
                      </m:r>
                    </m:oMath>
                  </m:oMathPara>
                </a14:m>
              </a:p>
            </p:txBody>
          </p:sp>
        </mc:Choice>
      </mc:AlternateContent>
      <p:grpSp>
        <p:nvGrpSpPr>
          <p:cNvPr id="32" name="c2-card-1"/>
          <p:cNvGrpSpPr/>
          <p:nvPr/>
        </p:nvGrpSpPr>
        <p:grpSpPr>
          <a:xfrm>
            <a:off x="6248400" y="1524000"/>
            <a:ext cx="5410200" cy="1762125"/>
            <a:chOff x="6248400" y="1524000"/>
            <a:chExt cx="5410200" cy="1762125"/>
          </a:xfrm>
        </p:grpSpPr>
        <p:sp>
          <p:nvSpPr>
            <p:cNvPr id="27" name="Rectangle 27"/>
            <p:cNvSpPr/>
            <p:nvPr/>
          </p:nvSpPr>
          <p:spPr>
            <a:xfrm>
              <a:off x="6248400" y="1524000"/>
              <a:ext cx="5410200" cy="1762125"/>
            </a:xfrm>
            <a:prstGeom prst="roundRect">
              <a:avLst>
                <a:gd name="adj" fmla="val 7568"/>
              </a:avLst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52235" y="1727835"/>
              <a:ext cx="1555432" cy="257175"/>
            </a:xfrm>
            <a:prstGeom prst="roundRect">
              <a:avLst>
                <a:gd name="adj" fmla="val 50000"/>
              </a:avLst>
            </a:prstGeom>
            <a:solidFill>
              <a:srgbClr val="23613D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511173" y="1763554"/>
              <a:ext cx="143851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分量形式（2.7.11）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0" name="formula158"/>
                <p:cNvSpPr txBox="1">
                  <a:spLocks noGrp="1"/>
                </p:cNvSpPr>
                <p:nvPr/>
              </p:nvSpPr>
              <p:spPr>
                <a:xfrm>
                  <a:off x="6452235" y="2077402"/>
                  <a:ext cx="5002530" cy="66675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sSubSup>
                          <m:e>
                            <m:r>
                              <a:rPr lang="zh-CN" sz="150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x</m:t>
                            </m:r>
                          </m:e>
                          <m:sub>
                            <m:r>
                              <a:rPr lang="zh-CN" sz="150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i</m:t>
                            </m:r>
                          </m:sub>
                          <m:sup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50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50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k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50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+</m:t>
                                </m:r>
                                <m:r>
                                  <a:rPr lang="zh-CN" sz="150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e>
                            </m:d>
                          </m:sup>
                        </m:sSubSup>
                        <m:r>
                          <m:rPr>
                            <m:sty m:val="p"/>
                          </m:rPr>
                          <a:rPr lang="zh-CN" sz="150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=−</m:t>
                        </m:r>
                        <m:f>
                          <m:fPr>
                            <m:type m:val="bar"/>
                            <m:ctrlPr>
                              <a:rPr lang="zh-CN" sz="150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r>
                              <a:rPr lang="zh-CN" sz="150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</m:num>
                          <m:den>
                            <m:sSub>
                              <m:e>
                                <m:r>
                                  <a:rPr lang="zh-CN" sz="150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a</m:t>
                                </m:r>
                              </m:e>
                              <m:sub>
                                <m:r>
                                  <a:rPr lang="zh-CN" sz="150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ii</m:t>
                                </m:r>
                              </m:sub>
                            </m:sSub>
                          </m:den>
                        </m:f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50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nary>
                              <m:naryPr>
                                <m:chr m:val="∑"/>
                                <m:limLoc m:val="undOvr"/>
                                <m:grow m:val="off"/>
                                <m:subHide m:val="off"/>
                                <m:supHide m:val="off"/>
                                <m:ctrlPr>
                                  <a:rPr lang="zh-CN" sz="150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naryPr>
                              <m:sub>
                                <m:r>
                                  <a:rPr lang="zh-CN" sz="150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j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50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=</m:t>
                                </m:r>
                                <m:r>
                                  <a:rPr lang="zh-CN" sz="150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zh-CN" sz="150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i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50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−</m:t>
                                </m:r>
                                <m:r>
                                  <a:rPr lang="zh-CN" sz="150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sup>
                              <m:e>
                                <m:sSub>
                                  <m:e>
                                    <m:r>
                                      <a:rPr lang="zh-CN" sz="1500" dirty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a</m:t>
                                    </m:r>
                                  </m:e>
                                  <m:sub>
                                    <m:r>
                                      <a:rPr lang="zh-CN" sz="1500" dirty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ij</m:t>
                                    </m:r>
                                  </m:sub>
                                </m:sSub>
                                <m:sSubSup>
                                  <m:e>
                                    <m:r>
                                      <a:rPr lang="zh-CN" sz="1500" dirty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</m:e>
                                  <m:sub>
                                    <m:r>
                                      <a:rPr lang="zh-CN" sz="1500" dirty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j</m:t>
                                    </m:r>
                                  </m:sub>
                                  <m:sup>
                                    <m:d>
                                      <m:dPr>
                                        <m:begChr m:val="("/>
                                        <m:sepChr m:val=""/>
                                        <m:endChr m:val=")"/>
                                        <m:grow m:val="on"/>
                                        <m:ctrlPr>
                                          <a:rPr lang="zh-CN" sz="1500" dirty="0">
                                            <a:solidFill>
                                              <a:srgbClr val="FFFFFF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zh-CN" sz="1500" dirty="0">
                                            <a:solidFill>
                                              <a:srgbClr val="FFFFFF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k</m:t>
                                        </m:r>
                                      </m:e>
                                    </m:d>
                                  </m:sup>
                                </m:sSubSup>
                              </m:e>
                            </m:nary>
                            <m:r>
                              <m:rPr>
                                <m:sty m:val="p"/>
                              </m:rPr>
                              <a:rPr lang="zh-CN" sz="150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+</m:t>
                            </m:r>
                            <m:nary>
                              <m:naryPr>
                                <m:chr m:val="∑"/>
                                <m:limLoc m:val="undOvr"/>
                                <m:grow m:val="off"/>
                                <m:subHide m:val="off"/>
                                <m:supHide m:val="off"/>
                                <m:ctrlPr>
                                  <a:rPr lang="zh-CN" sz="150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naryPr>
                              <m:sub>
                                <m:r>
                                  <a:rPr lang="zh-CN" sz="150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j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50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=</m:t>
                                </m:r>
                                <m:r>
                                  <a:rPr lang="zh-CN" sz="150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i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50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+</m:t>
                                </m:r>
                                <m:r>
                                  <a:rPr lang="zh-CN" sz="150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zh-CN" sz="150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n</m:t>
                                </m:r>
                              </m:sup>
                              <m:e>
                                <m:sSub>
                                  <m:e>
                                    <m:r>
                                      <a:rPr lang="zh-CN" sz="1500" dirty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a</m:t>
                                    </m:r>
                                  </m:e>
                                  <m:sub>
                                    <m:r>
                                      <a:rPr lang="zh-CN" sz="1500" dirty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ij</m:t>
                                    </m:r>
                                  </m:sub>
                                </m:sSub>
                                <m:sSubSup>
                                  <m:e>
                                    <m:r>
                                      <a:rPr lang="zh-CN" sz="1500" dirty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</m:e>
                                  <m:sub>
                                    <m:r>
                                      <a:rPr lang="zh-CN" sz="1500" dirty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j</m:t>
                                    </m:r>
                                  </m:sub>
                                  <m:sup>
                                    <m:d>
                                      <m:dPr>
                                        <m:begChr m:val="("/>
                                        <m:sepChr m:val=""/>
                                        <m:endChr m:val=")"/>
                                        <m:grow m:val="on"/>
                                        <m:ctrlPr>
                                          <a:rPr lang="zh-CN" sz="1500" dirty="0">
                                            <a:solidFill>
                                              <a:srgbClr val="FFFFFF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zh-CN" sz="1500" dirty="0">
                                            <a:solidFill>
                                              <a:srgbClr val="FFFFFF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k</m:t>
                                        </m:r>
                                      </m:e>
                                    </m:d>
                                  </m:sup>
                                </m:sSubSup>
                              </m:e>
                            </m:nary>
                            <m:r>
                              <m:rPr>
                                <m:sty m:val="p"/>
                              </m:rPr>
                              <a:rPr lang="zh-CN" sz="150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−</m:t>
                            </m:r>
                            <m:sSub>
                              <m:e>
                                <m:r>
                                  <a:rPr lang="zh-CN" sz="150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b</m:t>
                                </m:r>
                              </m:e>
                              <m:sub>
                                <m:r>
                                  <a:rPr lang="zh-CN" sz="150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i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31" name="TextBox 31"/>
            <p:cNvSpPr txBox="1"/>
            <p:nvPr/>
          </p:nvSpPr>
          <p:spPr>
            <a:xfrm>
              <a:off x="6444996" y="2859881"/>
              <a:ext cx="262381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i = 1, 2, …, n；k = 0, 1, 2, …</a:t>
              </a:r>
            </a:p>
          </p:txBody>
        </p:sp>
      </p:grpSp>
      <p:grpSp>
        <p:nvGrpSpPr>
          <p:cNvPr id="38" name="c2-card-2"/>
          <p:cNvGrpSpPr/>
          <p:nvPr/>
        </p:nvGrpSpPr>
        <p:grpSpPr>
          <a:xfrm>
            <a:off x="6248400" y="3471862"/>
            <a:ext cx="5410200" cy="1274445"/>
            <a:chOff x="6248400" y="3471862"/>
            <a:chExt cx="5410200" cy="1274445"/>
          </a:xfrm>
        </p:grpSpPr>
        <p:sp>
          <p:nvSpPr>
            <p:cNvPr id="33" name="Rectangle 33"/>
            <p:cNvSpPr/>
            <p:nvPr/>
          </p:nvSpPr>
          <p:spPr>
            <a:xfrm>
              <a:off x="6248400" y="3471862"/>
              <a:ext cx="5410200" cy="1274445"/>
            </a:xfrm>
            <a:prstGeom prst="roundRect">
              <a:avLst>
                <a:gd name="adj" fmla="val 1046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4" name="Rectangle 34"/>
            <p:cNvSpPr/>
            <p:nvPr/>
          </p:nvSpPr>
          <p:spPr>
            <a:xfrm>
              <a:off x="6257925" y="3605212"/>
              <a:ext cx="47625" cy="1007745"/>
            </a:xfrm>
            <a:prstGeom prst="roundRect">
              <a:avLst>
                <a:gd name="adj" fmla="val 50000"/>
              </a:avLst>
            </a:prstGeom>
            <a:solidFill>
              <a:srgbClr val="D97706"/>
            </a:solidFill>
            <a:ln>
              <a:noFill/>
            </a:ln>
          </p:spPr>
        </p:sp>
        <p:sp>
          <p:nvSpPr>
            <p:cNvPr id="35" name="Rectangle 35"/>
            <p:cNvSpPr/>
            <p:nvPr/>
          </p:nvSpPr>
          <p:spPr>
            <a:xfrm>
              <a:off x="6490335" y="3675698"/>
              <a:ext cx="636270" cy="257175"/>
            </a:xfrm>
            <a:prstGeom prst="roundRect">
              <a:avLst>
                <a:gd name="adj" fmla="val 50000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6576593" y="3711416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92400E"/>
                  </a:solidFill>
                  <a:latin typeface="+mn-lt"/>
                  <a:ea typeface="+mn-ea"/>
                  <a:cs typeface="+mn-cs"/>
                </a:rPr>
                <a:t>怎么记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483096" y="4048601"/>
              <a:ext cx="4631182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 i 个方程只保留 xᵢ 在左边，其余各项移到右边，再除以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aᵢᵢ；右边的 xⱼ 全部代入</a:t>
              </a:r>
              <a:r>
                <a:rPr lang="zh-CN" sz="14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上一步的旧值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xⱼ⁽ᵏ⁾。</a:t>
              </a:r>
            </a:p>
          </p:txBody>
        </p:sp>
      </p:grpSp>
      <p:grpSp>
        <p:nvGrpSpPr>
          <p:cNvPr id="44" name="c2-card-3"/>
          <p:cNvGrpSpPr/>
          <p:nvPr/>
        </p:nvGrpSpPr>
        <p:grpSpPr>
          <a:xfrm>
            <a:off x="6248400" y="4932045"/>
            <a:ext cx="5410200" cy="1274445"/>
            <a:chOff x="6248400" y="4932045"/>
            <a:chExt cx="5410200" cy="1274445"/>
          </a:xfrm>
        </p:grpSpPr>
        <p:sp>
          <p:nvSpPr>
            <p:cNvPr id="39" name="Rectangle 39"/>
            <p:cNvSpPr/>
            <p:nvPr/>
          </p:nvSpPr>
          <p:spPr>
            <a:xfrm>
              <a:off x="6248400" y="4932045"/>
              <a:ext cx="5410200" cy="1274445"/>
            </a:xfrm>
            <a:prstGeom prst="roundRect">
              <a:avLst>
                <a:gd name="adj" fmla="val 1046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0" name="Rectangle 40"/>
            <p:cNvSpPr/>
            <p:nvPr/>
          </p:nvSpPr>
          <p:spPr>
            <a:xfrm>
              <a:off x="6257925" y="5065395"/>
              <a:ext cx="47625" cy="1007745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41" name="Rectangle 41"/>
            <p:cNvSpPr/>
            <p:nvPr/>
          </p:nvSpPr>
          <p:spPr>
            <a:xfrm>
              <a:off x="6490335" y="5135880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6580543" y="517159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更正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6483096" y="5508784"/>
              <a:ext cx="4685284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原课件 (2.7.11) 写作 k = 1, 2, …；与 (2.7.10) 一致，k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应从 0 开始。</a:t>
              </a:r>
            </a:p>
          </p:txBody>
        </p:sp>
      </p:grpSp>
      <p:grpSp>
        <p:nvGrpSpPr>
          <p:cNvPr id="47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5" name="TextBox 45"/>
            <p:cNvSpPr txBox="1"/>
            <p:nvPr/>
          </p:nvSpPr>
          <p:spPr>
            <a:xfrm>
              <a:off x="528447" y="6581299"/>
              <a:ext cx="278038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第2章 解线性方程组的数值法（下）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657441" cy="909257"/>
            <a:chOff x="520446" y="342900"/>
            <a:chExt cx="7657441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14588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6156" y="407194"/>
              <a:ext cx="22881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第2章 线性方程组（下） · 迭代法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657441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 2.4 按原次序做 Jacobi 迭代：越算越大，发散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5" name="c1-card-1"/>
          <p:cNvGrpSpPr/>
          <p:nvPr/>
        </p:nvGrpSpPr>
        <p:grpSpPr>
          <a:xfrm>
            <a:off x="533400" y="1524000"/>
            <a:ext cx="4544378" cy="2829878"/>
            <a:chOff x="533400" y="1524000"/>
            <a:chExt cx="4544378" cy="2829878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4544378" cy="2829878"/>
            </a:xfrm>
            <a:prstGeom prst="roundRect">
              <a:avLst>
                <a:gd name="adj" fmla="val 4712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2563178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52475" y="1704975"/>
              <a:ext cx="588645" cy="23812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40820" y="1737836"/>
              <a:ext cx="41195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例 2.4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448943" y="1744504"/>
              <a:ext cx="8745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求解方程组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2" name="formula171"/>
                <p:cNvSpPr txBox="1">
                  <a:spLocks noGrp="1"/>
                </p:cNvSpPr>
                <p:nvPr/>
              </p:nvSpPr>
              <p:spPr>
                <a:xfrm>
                  <a:off x="752475" y="2040255"/>
                  <a:ext cx="4144328" cy="900112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d>
                          <m:dPr>
                            <m:begChr m:val="{"/>
                            <m:sepChr m:val=""/>
                            <m:endChr m:val=""/>
                            <m:grow m:val="on"/>
                            <m:ctrlP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eqArr>
                              <m:eqArrPr>
                                <m:baseJc m:val="center"/>
                              </m:eqArrPr>
                              <m:e>
                                <m:r>
                                  <a:rPr lang="zh-CN" sz="13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&amp;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3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−</m:t>
                                </m:r>
                                <m:r>
                                  <a:rPr lang="zh-CN" sz="13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2x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3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+</m:t>
                                </m:r>
                                <m:r>
                                  <a:rPr lang="zh-CN" sz="13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y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3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+</m:t>
                                </m:r>
                                <m:r>
                                  <a:rPr lang="zh-CN" sz="13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5z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3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=</m:t>
                                </m:r>
                                <m:r>
                                  <a:rPr lang="zh-CN" sz="13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15</m:t>
                                </m:r>
                              </m:e>
                              <m:e>
                                <m:r>
                                  <a:rPr lang="zh-CN" sz="13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&amp;</m:t>
                                </m:r>
                                <m:r>
                                  <a:rPr lang="zh-CN" sz="13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4x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3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−</m:t>
                                </m:r>
                                <m:r>
                                  <a:rPr lang="zh-CN" sz="13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8y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3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+</m:t>
                                </m:r>
                                <m:r>
                                  <a:rPr lang="zh-CN" sz="13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z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3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=−</m:t>
                                </m:r>
                                <m:r>
                                  <a:rPr lang="zh-CN" sz="13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21</m:t>
                                </m:r>
                              </m:e>
                              <m:e>
                                <m:r>
                                  <a:rPr lang="zh-CN" sz="13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&amp;</m:t>
                                </m:r>
                                <m:r>
                                  <a:rPr lang="zh-CN" sz="13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4x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3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−</m:t>
                                </m:r>
                                <m:r>
                                  <a:rPr lang="zh-CN" sz="13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y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3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+</m:t>
                                </m:r>
                                <m:r>
                                  <a:rPr lang="zh-CN" sz="13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z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3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=</m:t>
                                </m:r>
                                <m:r>
                                  <a:rPr lang="zh-CN" sz="13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7</m:t>
                                </m:r>
                              </m:e>
                            </m:eqArr>
                          </m:e>
                        </m:d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13" name="TextBox 13"/>
            <p:cNvSpPr txBox="1"/>
            <p:nvPr/>
          </p:nvSpPr>
          <p:spPr>
            <a:xfrm>
              <a:off x="745998" y="3042761"/>
              <a:ext cx="305973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Jacobi 迭代公式（初值 (1, 2, 2)ᵀ）：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4" name="formula172"/>
                <p:cNvSpPr txBox="1">
                  <a:spLocks noGrp="1"/>
                </p:cNvSpPr>
                <p:nvPr/>
              </p:nvSpPr>
              <p:spPr>
                <a:xfrm>
                  <a:off x="752475" y="3306128"/>
                  <a:ext cx="4144328" cy="84963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d>
                          <m:dPr>
                            <m:begChr m:val="{"/>
                            <m:sepChr m:val=""/>
                            <m:endChr m:val=""/>
                            <m:grow m:val="on"/>
                            <m:ctrlPr>
                              <a:rPr lang="zh-CN" sz="12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eqArr>
                              <m:eqArrPr>
                                <m:baseJc m:val="center"/>
                              </m:eqArrPr>
                              <m:e>
                                <m:r>
                                  <a:rPr lang="zh-CN" sz="12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&amp;</m:t>
                                </m:r>
                                <m:sSup>
                                  <m:e>
                                    <m:r>
                                      <a:rPr lang="zh-CN" sz="12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</m:e>
                                  <m:sup>
                                    <m:d>
                                      <m:dPr>
                                        <m:begChr m:val="("/>
                                        <m:sepChr m:val=""/>
                                        <m:endChr m:val=")"/>
                                        <m:grow m:val="on"/>
                                        <m:ctrlPr>
                                          <a:rPr lang="zh-CN" sz="128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zh-CN" sz="128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k</m:t>
                                        </m:r>
                                        <m:r>
                                          <m:rPr>
                                            <m:sty m:val="p"/>
                                          </m:rPr>
                                          <a:rPr lang="zh-CN" sz="128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+</m:t>
                                        </m:r>
                                        <m:r>
                                          <a:rPr lang="zh-CN" sz="128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1</m:t>
                                        </m:r>
                                      </m:e>
                                    </m:d>
                                  </m:sup>
                                </m:sSup>
                                <m:r>
                                  <m:rPr>
                                    <m:sty m:val="p"/>
                                  </m:rPr>
                                  <a:rPr lang="zh-CN" sz="12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=</m:t>
                                </m:r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 m:val="on"/>
                                    <m:ctrlPr>
                                      <a:rPr lang="zh-CN" sz="12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zh-CN" sz="12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−</m:t>
                                    </m:r>
                                    <m:r>
                                      <a:rPr lang="zh-CN" sz="12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15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zh-CN" sz="12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+</m:t>
                                    </m:r>
                                    <m:sSup>
                                      <m:e>
                                        <m:r>
                                          <a:rPr lang="zh-CN" sz="128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y</m:t>
                                        </m:r>
                                      </m:e>
                                      <m:sup>
                                        <m:d>
                                          <m:dPr>
                                            <m:begChr m:val="("/>
                                            <m:sepChr m:val=""/>
                                            <m:endChr m:val=")"/>
                                            <m:grow m:val="on"/>
                                            <m:ctrlPr>
                                              <a:rPr lang="zh-CN" sz="1280" dirty="0">
                                                <a:solidFill>
                                                  <a:srgbClr val="1F2937"/>
                                                </a:solidFill>
                                                <a:latin typeface="Cambria Math"/>
                                                <a:ea typeface="Cambria Math"/>
                                                <a:cs typeface="Cambria Math"/>
                                              </a:rPr>
                                            </m:ctrlPr>
                                          </m:dPr>
                                          <m:e>
                                            <m:r>
                                              <a:rPr lang="zh-CN" sz="1280" dirty="0">
                                                <a:solidFill>
                                                  <a:srgbClr val="1F2937"/>
                                                </a:solidFill>
                                                <a:latin typeface="Cambria Math"/>
                                                <a:ea typeface="Cambria Math"/>
                                                <a:cs typeface="Cambria Math"/>
                                              </a:rPr>
                                              <m:t>k</m:t>
                                            </m:r>
                                          </m:e>
                                        </m:d>
                                      </m:sup>
                                    </m:sSup>
                                    <m:r>
                                      <m:rPr>
                                        <m:sty m:val="p"/>
                                      </m:rPr>
                                      <a:rPr lang="zh-CN" sz="12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+</m:t>
                                    </m:r>
                                    <m:r>
                                      <a:rPr lang="zh-CN" sz="12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5</m:t>
                                    </m:r>
                                    <m:sSup>
                                      <m:e>
                                        <m:r>
                                          <a:rPr lang="zh-CN" sz="128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z</m:t>
                                        </m:r>
                                      </m:e>
                                      <m:sup>
                                        <m:d>
                                          <m:dPr>
                                            <m:begChr m:val="("/>
                                            <m:sepChr m:val=""/>
                                            <m:endChr m:val=")"/>
                                            <m:grow m:val="on"/>
                                            <m:ctrlPr>
                                              <a:rPr lang="zh-CN" sz="1280" dirty="0">
                                                <a:solidFill>
                                                  <a:srgbClr val="1F2937"/>
                                                </a:solidFill>
                                                <a:latin typeface="Cambria Math"/>
                                                <a:ea typeface="Cambria Math"/>
                                                <a:cs typeface="Cambria Math"/>
                                              </a:rPr>
                                            </m:ctrlPr>
                                          </m:dPr>
                                          <m:e>
                                            <m:r>
                                              <a:rPr lang="zh-CN" sz="1280" dirty="0">
                                                <a:solidFill>
                                                  <a:srgbClr val="1F2937"/>
                                                </a:solidFill>
                                                <a:latin typeface="Cambria Math"/>
                                                <a:ea typeface="Cambria Math"/>
                                                <a:cs typeface="Cambria Math"/>
                                              </a:rPr>
                                              <m:t>k</m:t>
                                            </m:r>
                                          </m:e>
                                        </m:d>
                                      </m:sup>
                                    </m:sSup>
                                  </m:e>
                                </m:d>
                                <m:r>
                                  <m:rPr>
                                    <m:sty m:val="p"/>
                                  </m:rPr>
                                  <a:rPr lang="zh-CN" sz="12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/</m:t>
                                </m:r>
                                <m:r>
                                  <a:rPr lang="zh-CN" sz="12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2</m:t>
                                </m:r>
                              </m:e>
                              <m:e>
                                <m:r>
                                  <a:rPr lang="zh-CN" sz="12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&amp;</m:t>
                                </m:r>
                                <m:sSup>
                                  <m:e>
                                    <m:r>
                                      <a:rPr lang="zh-CN" sz="12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y</m:t>
                                    </m:r>
                                  </m:e>
                                  <m:sup>
                                    <m:d>
                                      <m:dPr>
                                        <m:begChr m:val="("/>
                                        <m:sepChr m:val=""/>
                                        <m:endChr m:val=")"/>
                                        <m:grow m:val="on"/>
                                        <m:ctrlPr>
                                          <a:rPr lang="zh-CN" sz="128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zh-CN" sz="128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k</m:t>
                                        </m:r>
                                        <m:r>
                                          <m:rPr>
                                            <m:sty m:val="p"/>
                                          </m:rPr>
                                          <a:rPr lang="zh-CN" sz="128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+</m:t>
                                        </m:r>
                                        <m:r>
                                          <a:rPr lang="zh-CN" sz="128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1</m:t>
                                        </m:r>
                                      </m:e>
                                    </m:d>
                                  </m:sup>
                                </m:sSup>
                                <m:r>
                                  <m:rPr>
                                    <m:sty m:val="p"/>
                                  </m:rPr>
                                  <a:rPr lang="zh-CN" sz="12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=</m:t>
                                </m:r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 m:val="on"/>
                                    <m:ctrlPr>
                                      <a:rPr lang="zh-CN" sz="12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dPr>
                                  <m:e>
                                    <m:r>
                                      <a:rPr lang="zh-CN" sz="12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21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zh-CN" sz="12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+</m:t>
                                    </m:r>
                                    <m:r>
                                      <a:rPr lang="zh-CN" sz="12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4</m:t>
                                    </m:r>
                                    <m:sSup>
                                      <m:e>
                                        <m:r>
                                          <a:rPr lang="zh-CN" sz="128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x</m:t>
                                        </m:r>
                                      </m:e>
                                      <m:sup>
                                        <m:d>
                                          <m:dPr>
                                            <m:begChr m:val="("/>
                                            <m:sepChr m:val=""/>
                                            <m:endChr m:val=")"/>
                                            <m:grow m:val="on"/>
                                            <m:ctrlPr>
                                              <a:rPr lang="zh-CN" sz="1280" dirty="0">
                                                <a:solidFill>
                                                  <a:srgbClr val="1F2937"/>
                                                </a:solidFill>
                                                <a:latin typeface="Cambria Math"/>
                                                <a:ea typeface="Cambria Math"/>
                                                <a:cs typeface="Cambria Math"/>
                                              </a:rPr>
                                            </m:ctrlPr>
                                          </m:dPr>
                                          <m:e>
                                            <m:r>
                                              <a:rPr lang="zh-CN" sz="1280" dirty="0">
                                                <a:solidFill>
                                                  <a:srgbClr val="1F2937"/>
                                                </a:solidFill>
                                                <a:latin typeface="Cambria Math"/>
                                                <a:ea typeface="Cambria Math"/>
                                                <a:cs typeface="Cambria Math"/>
                                              </a:rPr>
                                              <m:t>k</m:t>
                                            </m:r>
                                          </m:e>
                                        </m:d>
                                      </m:sup>
                                    </m:sSup>
                                    <m:r>
                                      <m:rPr>
                                        <m:sty m:val="p"/>
                                      </m:rPr>
                                      <a:rPr lang="zh-CN" sz="12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+</m:t>
                                    </m:r>
                                    <m:sSup>
                                      <m:e>
                                        <m:r>
                                          <a:rPr lang="zh-CN" sz="128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z</m:t>
                                        </m:r>
                                      </m:e>
                                      <m:sup>
                                        <m:d>
                                          <m:dPr>
                                            <m:begChr m:val="("/>
                                            <m:sepChr m:val=""/>
                                            <m:endChr m:val=")"/>
                                            <m:grow m:val="on"/>
                                            <m:ctrlPr>
                                              <a:rPr lang="zh-CN" sz="1280" dirty="0">
                                                <a:solidFill>
                                                  <a:srgbClr val="1F2937"/>
                                                </a:solidFill>
                                                <a:latin typeface="Cambria Math"/>
                                                <a:ea typeface="Cambria Math"/>
                                                <a:cs typeface="Cambria Math"/>
                                              </a:rPr>
                                            </m:ctrlPr>
                                          </m:dPr>
                                          <m:e>
                                            <m:r>
                                              <a:rPr lang="zh-CN" sz="1280" dirty="0">
                                                <a:solidFill>
                                                  <a:srgbClr val="1F2937"/>
                                                </a:solidFill>
                                                <a:latin typeface="Cambria Math"/>
                                                <a:ea typeface="Cambria Math"/>
                                                <a:cs typeface="Cambria Math"/>
                                              </a:rPr>
                                              <m:t>k</m:t>
                                            </m:r>
                                          </m:e>
                                        </m:d>
                                      </m:sup>
                                    </m:sSup>
                                  </m:e>
                                </m:d>
                                <m:r>
                                  <m:rPr>
                                    <m:sty m:val="p"/>
                                  </m:rPr>
                                  <a:rPr lang="zh-CN" sz="12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/</m:t>
                                </m:r>
                                <m:r>
                                  <a:rPr lang="zh-CN" sz="12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8</m:t>
                                </m:r>
                              </m:e>
                              <m:e>
                                <m:r>
                                  <a:rPr lang="zh-CN" sz="12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&amp;</m:t>
                                </m:r>
                                <m:sSup>
                                  <m:e>
                                    <m:r>
                                      <a:rPr lang="zh-CN" sz="12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z</m:t>
                                    </m:r>
                                  </m:e>
                                  <m:sup>
                                    <m:d>
                                      <m:dPr>
                                        <m:begChr m:val="("/>
                                        <m:sepChr m:val=""/>
                                        <m:endChr m:val=")"/>
                                        <m:grow m:val="on"/>
                                        <m:ctrlPr>
                                          <a:rPr lang="zh-CN" sz="128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zh-CN" sz="128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k</m:t>
                                        </m:r>
                                        <m:r>
                                          <m:rPr>
                                            <m:sty m:val="p"/>
                                          </m:rPr>
                                          <a:rPr lang="zh-CN" sz="128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+</m:t>
                                        </m:r>
                                        <m:r>
                                          <a:rPr lang="zh-CN" sz="128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1</m:t>
                                        </m:r>
                                      </m:e>
                                    </m:d>
                                  </m:sup>
                                </m:sSup>
                                <m:r>
                                  <m:rPr>
                                    <m:sty m:val="p"/>
                                  </m:rPr>
                                  <a:rPr lang="zh-CN" sz="12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=</m:t>
                                </m:r>
                                <m:r>
                                  <a:rPr lang="zh-CN" sz="12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7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2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−</m:t>
                                </m:r>
                                <m:r>
                                  <a:rPr lang="zh-CN" sz="12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4</m:t>
                                </m:r>
                                <m:sSup>
                                  <m:e>
                                    <m:r>
                                      <a:rPr lang="zh-CN" sz="12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</m:e>
                                  <m:sup>
                                    <m:d>
                                      <m:dPr>
                                        <m:begChr m:val="("/>
                                        <m:sepChr m:val=""/>
                                        <m:endChr m:val=")"/>
                                        <m:grow m:val="on"/>
                                        <m:ctrlPr>
                                          <a:rPr lang="zh-CN" sz="128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zh-CN" sz="128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k</m:t>
                                        </m:r>
                                      </m:e>
                                    </m:d>
                                  </m:sup>
                                </m:sSup>
                                <m:r>
                                  <m:rPr>
                                    <m:sty m:val="p"/>
                                  </m:rPr>
                                  <a:rPr lang="zh-CN" sz="12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+</m:t>
                                </m:r>
                                <m:sSup>
                                  <m:e>
                                    <m:r>
                                      <a:rPr lang="zh-CN" sz="12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y</m:t>
                                    </m:r>
                                  </m:e>
                                  <m:sup>
                                    <m:d>
                                      <m:dPr>
                                        <m:begChr m:val="("/>
                                        <m:sepChr m:val=""/>
                                        <m:endChr m:val=")"/>
                                        <m:grow m:val="on"/>
                                        <m:ctrlPr>
                                          <a:rPr lang="zh-CN" sz="128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zh-CN" sz="128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k</m:t>
                                        </m:r>
                                      </m:e>
                                    </m:d>
                                  </m:sup>
                                </m:sSup>
                              </m:e>
                            </m:eqArr>
                          </m:e>
                        </m:d>
                      </m:oMath>
                    </m:oMathPara>
                  </a14:m>
                </a:p>
              </p:txBody>
            </p:sp>
          </mc:Choice>
        </mc:AlternateContent>
      </p:grpSp>
      <p:grpSp>
        <p:nvGrpSpPr>
          <p:cNvPr id="21" name="c1-card-2"/>
          <p:cNvGrpSpPr/>
          <p:nvPr/>
        </p:nvGrpSpPr>
        <p:grpSpPr>
          <a:xfrm>
            <a:off x="533400" y="4518660"/>
            <a:ext cx="4544378" cy="1143952"/>
            <a:chOff x="533400" y="4518660"/>
            <a:chExt cx="4544378" cy="1143952"/>
          </a:xfrm>
        </p:grpSpPr>
        <p:sp>
          <p:nvSpPr>
            <p:cNvPr id="16" name="Rectangle 16"/>
            <p:cNvSpPr/>
            <p:nvPr/>
          </p:nvSpPr>
          <p:spPr>
            <a:xfrm>
              <a:off x="533400" y="4518660"/>
              <a:ext cx="4544378" cy="1143952"/>
            </a:xfrm>
            <a:prstGeom prst="roundRect">
              <a:avLst>
                <a:gd name="adj" fmla="val 11657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7" name="Rectangle 17"/>
            <p:cNvSpPr/>
            <p:nvPr/>
          </p:nvSpPr>
          <p:spPr>
            <a:xfrm>
              <a:off x="542925" y="4652010"/>
              <a:ext cx="47625" cy="877252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18" name="Rectangle 18"/>
            <p:cNvSpPr/>
            <p:nvPr/>
          </p:nvSpPr>
          <p:spPr>
            <a:xfrm>
              <a:off x="752475" y="4699635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845147" y="4732496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更正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745998" y="5039201"/>
              <a:ext cx="3272282" cy="4922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原课件表中 k = 2 时 x 写作 6.687，精确值为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6.6875。</a:t>
              </a:r>
            </a:p>
          </p:txBody>
        </p:sp>
      </p:grpSp>
      <p:grpSp>
        <p:nvGrpSpPr>
          <p:cNvPr id="71" name="c2-table-1"/>
          <p:cNvGrpSpPr/>
          <p:nvPr/>
        </p:nvGrpSpPr>
        <p:grpSpPr>
          <a:xfrm>
            <a:off x="5377624" y="1524000"/>
            <a:ext cx="6280976" cy="3315366"/>
            <a:chOff x="5377624" y="1524000"/>
            <a:chExt cx="6280976" cy="3315366"/>
          </a:xfrm>
        </p:grpSpPr>
        <p:sp>
          <p:nvSpPr>
            <p:cNvPr id="22" name="Rectangle 22"/>
            <p:cNvSpPr/>
            <p:nvPr/>
          </p:nvSpPr>
          <p:spPr>
            <a:xfrm>
              <a:off x="5382578" y="1524000"/>
              <a:ext cx="6276022" cy="381000"/>
            </a:xfrm>
            <a:prstGeom prst="rect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5650753" y="1641157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k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6782751" y="1641157"/>
              <a:ext cx="33718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x⁽ᵏ⁾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8665843" y="1641157"/>
              <a:ext cx="33718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y⁽ᵏ⁾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10548936" y="1641157"/>
              <a:ext cx="33718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z⁽ᵏ⁾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5650753" y="2023110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7554792" y="2023110"/>
              <a:ext cx="24389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1.0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9436932" y="2023110"/>
              <a:ext cx="24389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2.0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1320024" y="2023110"/>
              <a:ext cx="24389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2.0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5382578" y="2282190"/>
              <a:ext cx="627602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5382578" y="2286952"/>
              <a:ext cx="6276022" cy="38100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5650753" y="2404110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7477049" y="2404110"/>
              <a:ext cx="32164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−1.5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9281446" y="2404110"/>
              <a:ext cx="39938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3.375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11320024" y="2404110"/>
              <a:ext cx="24389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5.0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5382578" y="2663190"/>
              <a:ext cx="627602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5650753" y="2785110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7321563" y="2785110"/>
              <a:ext cx="47712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6.6875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9436932" y="2785110"/>
              <a:ext cx="24389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2.5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11086795" y="2785110"/>
              <a:ext cx="47712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16.375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5382578" y="3045142"/>
              <a:ext cx="627602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3" name="Rectangle 43"/>
            <p:cNvSpPr/>
            <p:nvPr/>
          </p:nvSpPr>
          <p:spPr>
            <a:xfrm>
              <a:off x="5382578" y="3049905"/>
              <a:ext cx="6276022" cy="38100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5650753" y="3167062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7243820" y="3167062"/>
              <a:ext cx="55486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34.6875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9048217" y="3167062"/>
              <a:ext cx="63261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8.015625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11086795" y="3167062"/>
              <a:ext cx="47712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−17.25</a:t>
              </a:r>
            </a:p>
          </p:txBody>
        </p:sp>
        <p:sp>
          <p:nvSpPr>
            <p:cNvPr id="48" name="Rectangle 48"/>
            <p:cNvSpPr/>
            <p:nvPr/>
          </p:nvSpPr>
          <p:spPr>
            <a:xfrm>
              <a:off x="5382578" y="3426142"/>
              <a:ext cx="627602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5650753" y="3548062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7010591" y="3548062"/>
              <a:ext cx="78809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−46.617188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9125960" y="3548062"/>
              <a:ext cx="55486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17.8125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10698080" y="3548062"/>
              <a:ext cx="86584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−123.734375</a:t>
              </a:r>
            </a:p>
          </p:txBody>
        </p:sp>
        <p:sp>
          <p:nvSpPr>
            <p:cNvPr id="53" name="Rectangle 53"/>
            <p:cNvSpPr/>
            <p:nvPr/>
          </p:nvSpPr>
          <p:spPr>
            <a:xfrm>
              <a:off x="5382578" y="3807142"/>
              <a:ext cx="627602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4" name="Rectangle 54"/>
            <p:cNvSpPr/>
            <p:nvPr/>
          </p:nvSpPr>
          <p:spPr>
            <a:xfrm>
              <a:off x="5382578" y="3811905"/>
              <a:ext cx="6276022" cy="38100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5" name="TextBox 55"/>
            <p:cNvSpPr txBox="1"/>
            <p:nvPr/>
          </p:nvSpPr>
          <p:spPr>
            <a:xfrm>
              <a:off x="5650753" y="3930015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6932847" y="3930015"/>
              <a:ext cx="86584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−307.929688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8892730" y="3930015"/>
              <a:ext cx="78809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−36.150391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10853566" y="3930015"/>
              <a:ext cx="71035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211.28125</a:t>
              </a:r>
            </a:p>
          </p:txBody>
        </p:sp>
        <p:sp>
          <p:nvSpPr>
            <p:cNvPr id="59" name="Rectangle 59"/>
            <p:cNvSpPr/>
            <p:nvPr/>
          </p:nvSpPr>
          <p:spPr>
            <a:xfrm>
              <a:off x="5382578" y="4189095"/>
              <a:ext cx="627602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0" name="TextBox 60"/>
            <p:cNvSpPr txBox="1"/>
            <p:nvPr/>
          </p:nvSpPr>
          <p:spPr>
            <a:xfrm>
              <a:off x="5650753" y="4311015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61" name="Rectangle 61"/>
            <p:cNvSpPr/>
            <p:nvPr/>
          </p:nvSpPr>
          <p:spPr>
            <a:xfrm>
              <a:off x="6019800" y="4203382"/>
              <a:ext cx="1864042" cy="361950"/>
            </a:xfrm>
            <a:prstGeom prst="rect">
              <a:avLst/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62" name="TextBox 62"/>
            <p:cNvSpPr txBox="1"/>
            <p:nvPr/>
          </p:nvSpPr>
          <p:spPr>
            <a:xfrm>
              <a:off x="7010591" y="4311015"/>
              <a:ext cx="78809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502.627930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8814987" y="4311015"/>
              <a:ext cx="86584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−124.929688</a:t>
              </a:r>
            </a:p>
          </p:txBody>
        </p:sp>
        <p:sp>
          <p:nvSpPr>
            <p:cNvPr id="64" name="Rectangle 64"/>
            <p:cNvSpPr/>
            <p:nvPr/>
          </p:nvSpPr>
          <p:spPr>
            <a:xfrm>
              <a:off x="9785032" y="4203382"/>
              <a:ext cx="1864042" cy="361950"/>
            </a:xfrm>
            <a:prstGeom prst="rect">
              <a:avLst/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65" name="TextBox 65"/>
            <p:cNvSpPr txBox="1"/>
            <p:nvPr/>
          </p:nvSpPr>
          <p:spPr>
            <a:xfrm>
              <a:off x="10698080" y="4311015"/>
              <a:ext cx="86584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1202.568359</a:t>
              </a:r>
            </a:p>
          </p:txBody>
        </p:sp>
        <p:sp>
          <p:nvSpPr>
            <p:cNvPr id="66" name="Rectangle 66"/>
            <p:cNvSpPr/>
            <p:nvPr/>
          </p:nvSpPr>
          <p:spPr>
            <a:xfrm>
              <a:off x="5382578" y="1524000"/>
              <a:ext cx="6276022" cy="3050858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67" name="Rectangle 67"/>
            <p:cNvSpPr/>
            <p:nvPr/>
          </p:nvSpPr>
          <p:spPr>
            <a:xfrm>
              <a:off x="6005512" y="1524000"/>
              <a:ext cx="9525" cy="305085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8" name="Rectangle 68"/>
            <p:cNvSpPr/>
            <p:nvPr/>
          </p:nvSpPr>
          <p:spPr>
            <a:xfrm>
              <a:off x="7888605" y="1524000"/>
              <a:ext cx="9525" cy="305085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9" name="Rectangle 69"/>
            <p:cNvSpPr/>
            <p:nvPr/>
          </p:nvSpPr>
          <p:spPr>
            <a:xfrm>
              <a:off x="9770745" y="1524000"/>
              <a:ext cx="9525" cy="305085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0" name="TextBox 70"/>
            <p:cNvSpPr txBox="1"/>
            <p:nvPr/>
          </p:nvSpPr>
          <p:spPr>
            <a:xfrm>
              <a:off x="5377624" y="4648676"/>
              <a:ext cx="242418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精确解是 (2, 4, 3)ᵀ，迭代值却越来越大</a:t>
              </a:r>
            </a:p>
          </p:txBody>
        </p:sp>
      </p:grpSp>
      <p:grpSp>
        <p:nvGrpSpPr>
          <p:cNvPr id="78" name="takeaway"/>
          <p:cNvGrpSpPr/>
          <p:nvPr/>
        </p:nvGrpSpPr>
        <p:grpSpPr>
          <a:xfrm>
            <a:off x="533400" y="5895022"/>
            <a:ext cx="11125200" cy="467678"/>
            <a:chOff x="533400" y="5895022"/>
            <a:chExt cx="11125200" cy="467678"/>
          </a:xfrm>
        </p:grpSpPr>
        <p:sp>
          <p:nvSpPr>
            <p:cNvPr id="72" name="Rectangle 72"/>
            <p:cNvSpPr/>
            <p:nvPr/>
          </p:nvSpPr>
          <p:spPr>
            <a:xfrm>
              <a:off x="533400" y="5895022"/>
              <a:ext cx="11125200" cy="467678"/>
            </a:xfrm>
            <a:prstGeom prst="roundRect">
              <a:avLst>
                <a:gd name="adj" fmla="val 24440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76" name="Group 76"/>
            <p:cNvGrpSpPr/>
            <p:nvPr/>
          </p:nvGrpSpPr>
          <p:grpSpPr>
            <a:xfrm>
              <a:off x="726129" y="6024681"/>
              <a:ext cx="224134" cy="192560"/>
              <a:chOff x="726129" y="6024681"/>
              <a:chExt cx="224134" cy="192560"/>
            </a:xfrm>
          </p:grpSpPr>
          <p:sp>
            <p:nvSpPr>
              <p:cNvPr id="73" name="Freeform 73"/>
              <p:cNvSpPr/>
              <p:nvPr/>
            </p:nvSpPr>
            <p:spPr>
              <a:xfrm>
                <a:off x="838200" y="6095048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74" name="Freeform 74"/>
              <p:cNvSpPr/>
              <p:nvPr/>
            </p:nvSpPr>
            <p:spPr>
              <a:xfrm>
                <a:off x="726129" y="6024681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75" name="Freeform 75"/>
              <p:cNvSpPr/>
              <p:nvPr/>
            </p:nvSpPr>
            <p:spPr>
              <a:xfrm>
                <a:off x="838200" y="6172836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77" name="TextBox 77"/>
            <p:cNvSpPr txBox="1"/>
            <p:nvPr/>
          </p:nvSpPr>
          <p:spPr>
            <a:xfrm>
              <a:off x="1041273" y="6039326"/>
              <a:ext cx="836918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原因：H_J = [0 1/2 5/2; 1/2 0 1/8; −4 1 0]，特征值约 0.104、−0.052 ± 3.104i，ρ(H_J) ≈ 3.10 &gt; 1。</a:t>
              </a:r>
            </a:p>
          </p:txBody>
        </p:sp>
      </p:grpSp>
      <p:grpSp>
        <p:nvGrpSpPr>
          <p:cNvPr id="8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79" name="TextBox 79"/>
            <p:cNvSpPr txBox="1"/>
            <p:nvPr/>
          </p:nvSpPr>
          <p:spPr>
            <a:xfrm>
              <a:off x="528447" y="6581299"/>
              <a:ext cx="278038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第2章 解线性方程组的数值法（下）</a:t>
              </a:r>
            </a:p>
          </p:txBody>
        </p:sp>
        <p:sp>
          <p:nvSpPr>
            <p:cNvPr id="80" name="TextBox 8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9479243" cy="909257"/>
            <a:chOff x="520446" y="342900"/>
            <a:chExt cx="9479243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14588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6156" y="407194"/>
              <a:ext cx="22881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第2章 线性方程组（下） · 迭代法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9479243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调换方程次序后严格对角占优，Jacobi 迭代收敛到 (2, 4, 3)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formula185"/>
              <p:cNvSpPr txBox="1">
                <a:spLocks noGrp="1"/>
              </p:cNvSpPr>
              <p:nvPr/>
            </p:nvSpPr>
            <p:spPr>
              <a:xfrm>
                <a:off x="533400" y="1524000"/>
                <a:ext cx="4652962" cy="95059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d>
                        <m:dPr>
                          <m:begChr m:val="{"/>
                          <m:sepChr m:val=""/>
                          <m:endChr m:val=""/>
                          <m:grow m:val="on"/>
                          <m:ctrlP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eqArr>
                            <m:eqArrPr>
                              <m:baseJc m:val="center"/>
                            </m:eqArrPr>
                            <m:e>
                              <m: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&amp;</m:t>
                              </m:r>
                              <m: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4x</m:t>
                              </m:r>
                              <m:r>
                                <m:rPr>
                                  <m:sty m:val="p"/>
                                </m:rP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−</m:t>
                              </m:r>
                              <m: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y</m:t>
                              </m:r>
                              <m:r>
                                <m:rPr>
                                  <m:sty m:val="p"/>
                                </m:rP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+</m:t>
                              </m:r>
                              <m: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z</m:t>
                              </m:r>
                              <m:r>
                                <m:rPr>
                                  <m:sty m:val="p"/>
                                </m:rP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=</m:t>
                              </m:r>
                              <m: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7</m:t>
                              </m:r>
                            </m:e>
                            <m:e>
                              <m: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&amp;</m:t>
                              </m:r>
                              <m: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4x</m:t>
                              </m:r>
                              <m:r>
                                <m:rPr>
                                  <m:sty m:val="p"/>
                                </m:rP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−</m:t>
                              </m:r>
                              <m: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8y</m:t>
                              </m:r>
                              <m:r>
                                <m:rPr>
                                  <m:sty m:val="p"/>
                                </m:rP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+</m:t>
                              </m:r>
                              <m: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z</m:t>
                              </m:r>
                              <m:r>
                                <m:rPr>
                                  <m:sty m:val="p"/>
                                </m:rP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=−</m:t>
                              </m:r>
                              <m: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21</m:t>
                              </m:r>
                            </m:e>
                            <m:e>
                              <m: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&amp;</m:t>
                              </m:r>
                              <m:r>
                                <m:rPr>
                                  <m:sty m:val="p"/>
                                </m:rP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−</m:t>
                              </m:r>
                              <m: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2x</m:t>
                              </m:r>
                              <m:r>
                                <m:rPr>
                                  <m:sty m:val="p"/>
                                </m:rP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+</m:t>
                              </m:r>
                              <m: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y</m:t>
                              </m:r>
                              <m:r>
                                <m:rPr>
                                  <m:sty m:val="p"/>
                                </m:rP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+</m:t>
                              </m:r>
                              <m: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5z</m:t>
                              </m:r>
                              <m:r>
                                <m:rPr>
                                  <m:sty m:val="p"/>
                                </m:rP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=</m:t>
                              </m:r>
                              <m: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15</m:t>
                              </m:r>
                            </m:e>
                          </m:eqArr>
                        </m:e>
                      </m:d>
                    </m:oMath>
                  </m:oMathPara>
                </a14:m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formula186"/>
              <p:cNvSpPr txBox="1">
                <a:spLocks noGrp="1"/>
              </p:cNvSpPr>
              <p:nvPr/>
            </p:nvSpPr>
            <p:spPr>
              <a:xfrm>
                <a:off x="533400" y="2648902"/>
                <a:ext cx="4652962" cy="90011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d>
                        <m:dPr>
                          <m:begChr m:val="{"/>
                          <m:sepChr m:val=""/>
                          <m:endChr m:val=""/>
                          <m:grow m:val="on"/>
                          <m:ctrlPr>
                            <a:rPr lang="zh-CN" sz="13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eqArr>
                            <m:eqArrPr>
                              <m:baseJc m:val="center"/>
                            </m:eqArrPr>
                            <m:e>
                              <m:r>
                                <a:rPr lang="zh-CN" sz="13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&amp;</m:t>
                              </m:r>
                              <m:sSup>
                                <m:e>
                                  <m:r>
                                    <a:rPr lang="zh-CN" sz="13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x</m:t>
                                  </m:r>
                                </m:e>
                                <m:sup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 m:val="on"/>
                                      <m:ctrlPr>
                                        <a:rPr lang="zh-CN" sz="135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zh-CN" sz="135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k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zh-CN" sz="135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+</m:t>
                                      </m:r>
                                      <m:r>
                                        <a:rPr lang="zh-CN" sz="135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1</m:t>
                                      </m:r>
                                    </m:e>
                                  </m:d>
                                </m:sup>
                              </m:sSup>
                              <m:r>
                                <m:rPr>
                                  <m:sty m:val="p"/>
                                </m:rPr>
                                <a:rPr lang="zh-CN" sz="13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=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 m:val="on"/>
                                  <m:ctrlPr>
                                    <a:rPr lang="zh-CN" sz="13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r>
                                    <a:rPr lang="zh-CN" sz="13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7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zh-CN" sz="13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+</m:t>
                                  </m:r>
                                  <m:sSup>
                                    <m:e>
                                      <m:r>
                                        <a:rPr lang="zh-CN" sz="135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y</m:t>
                                      </m:r>
                                    </m:e>
                                    <m:sup>
                                      <m:d>
                                        <m:dPr>
                                          <m:begChr m:val="("/>
                                          <m:sepChr m:val=""/>
                                          <m:endChr m:val=")"/>
                                          <m:grow m:val="on"/>
                                          <m:ctrlPr>
                                            <a:rPr lang="zh-CN" sz="1350" dirty="0">
                                              <a:solidFill>
                                                <a:srgbClr val="1F2937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zh-CN" sz="1350" dirty="0">
                                              <a:solidFill>
                                                <a:srgbClr val="1F2937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k</m:t>
                                          </m:r>
                                        </m:e>
                                      </m:d>
                                    </m:sup>
                                  </m:sSup>
                                  <m:r>
                                    <m:rPr>
                                      <m:sty m:val="p"/>
                                    </m:rPr>
                                    <a:rPr lang="zh-CN" sz="13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−</m:t>
                                  </m:r>
                                  <m:sSup>
                                    <m:e>
                                      <m:r>
                                        <a:rPr lang="zh-CN" sz="135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z</m:t>
                                      </m:r>
                                    </m:e>
                                    <m:sup>
                                      <m:d>
                                        <m:dPr>
                                          <m:begChr m:val="("/>
                                          <m:sepChr m:val=""/>
                                          <m:endChr m:val=")"/>
                                          <m:grow m:val="on"/>
                                          <m:ctrlPr>
                                            <a:rPr lang="zh-CN" sz="1350" dirty="0">
                                              <a:solidFill>
                                                <a:srgbClr val="1F2937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zh-CN" sz="1350" dirty="0">
                                              <a:solidFill>
                                                <a:srgbClr val="1F2937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k</m:t>
                                          </m:r>
                                        </m:e>
                                      </m:d>
                                    </m:sup>
                                  </m:sSup>
                                </m:e>
                              </m:d>
                              <m:r>
                                <m:rPr>
                                  <m:sty m:val="p"/>
                                </m:rPr>
                                <a:rPr lang="zh-CN" sz="13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/</m:t>
                              </m:r>
                              <m:r>
                                <a:rPr lang="zh-CN" sz="13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4</m:t>
                              </m:r>
                            </m:e>
                            <m:e>
                              <m:r>
                                <a:rPr lang="zh-CN" sz="13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&amp;</m:t>
                              </m:r>
                              <m:sSup>
                                <m:e>
                                  <m:r>
                                    <a:rPr lang="zh-CN" sz="13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y</m:t>
                                  </m:r>
                                </m:e>
                                <m:sup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 m:val="on"/>
                                      <m:ctrlPr>
                                        <a:rPr lang="zh-CN" sz="135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zh-CN" sz="135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k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zh-CN" sz="135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+</m:t>
                                      </m:r>
                                      <m:r>
                                        <a:rPr lang="zh-CN" sz="135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1</m:t>
                                      </m:r>
                                    </m:e>
                                  </m:d>
                                </m:sup>
                              </m:sSup>
                              <m:r>
                                <m:rPr>
                                  <m:sty m:val="p"/>
                                </m:rPr>
                                <a:rPr lang="zh-CN" sz="13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=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 m:val="on"/>
                                  <m:ctrlPr>
                                    <a:rPr lang="zh-CN" sz="13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r>
                                    <a:rPr lang="zh-CN" sz="13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21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zh-CN" sz="13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+</m:t>
                                  </m:r>
                                  <m:r>
                                    <a:rPr lang="zh-CN" sz="13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4</m:t>
                                  </m:r>
                                  <m:sSup>
                                    <m:e>
                                      <m:r>
                                        <a:rPr lang="zh-CN" sz="135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x</m:t>
                                      </m:r>
                                    </m:e>
                                    <m:sup>
                                      <m:d>
                                        <m:dPr>
                                          <m:begChr m:val="("/>
                                          <m:sepChr m:val=""/>
                                          <m:endChr m:val=")"/>
                                          <m:grow m:val="on"/>
                                          <m:ctrlPr>
                                            <a:rPr lang="zh-CN" sz="1350" dirty="0">
                                              <a:solidFill>
                                                <a:srgbClr val="1F2937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zh-CN" sz="1350" dirty="0">
                                              <a:solidFill>
                                                <a:srgbClr val="1F2937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k</m:t>
                                          </m:r>
                                        </m:e>
                                      </m:d>
                                    </m:sup>
                                  </m:sSup>
                                  <m:r>
                                    <m:rPr>
                                      <m:sty m:val="p"/>
                                    </m:rPr>
                                    <a:rPr lang="zh-CN" sz="13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+</m:t>
                                  </m:r>
                                  <m:sSup>
                                    <m:e>
                                      <m:r>
                                        <a:rPr lang="zh-CN" sz="135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z</m:t>
                                      </m:r>
                                    </m:e>
                                    <m:sup>
                                      <m:d>
                                        <m:dPr>
                                          <m:begChr m:val="("/>
                                          <m:sepChr m:val=""/>
                                          <m:endChr m:val=")"/>
                                          <m:grow m:val="on"/>
                                          <m:ctrlPr>
                                            <a:rPr lang="zh-CN" sz="1350" dirty="0">
                                              <a:solidFill>
                                                <a:srgbClr val="1F2937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zh-CN" sz="1350" dirty="0">
                                              <a:solidFill>
                                                <a:srgbClr val="1F2937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k</m:t>
                                          </m:r>
                                        </m:e>
                                      </m:d>
                                    </m:sup>
                                  </m:sSup>
                                </m:e>
                              </m:d>
                              <m:r>
                                <m:rPr>
                                  <m:sty m:val="p"/>
                                </m:rPr>
                                <a:rPr lang="zh-CN" sz="13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/</m:t>
                              </m:r>
                              <m:r>
                                <a:rPr lang="zh-CN" sz="13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8</m:t>
                              </m:r>
                            </m:e>
                            <m:e>
                              <m:r>
                                <a:rPr lang="zh-CN" sz="13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&amp;</m:t>
                              </m:r>
                              <m:sSup>
                                <m:e>
                                  <m:r>
                                    <a:rPr lang="zh-CN" sz="13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z</m:t>
                                  </m:r>
                                </m:e>
                                <m:sup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 m:val="on"/>
                                      <m:ctrlPr>
                                        <a:rPr lang="zh-CN" sz="135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zh-CN" sz="135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k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zh-CN" sz="135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+</m:t>
                                      </m:r>
                                      <m:r>
                                        <a:rPr lang="zh-CN" sz="135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1</m:t>
                                      </m:r>
                                    </m:e>
                                  </m:d>
                                </m:sup>
                              </m:sSup>
                              <m:r>
                                <m:rPr>
                                  <m:sty m:val="p"/>
                                </m:rPr>
                                <a:rPr lang="zh-CN" sz="13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=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 m:val="on"/>
                                  <m:ctrlPr>
                                    <a:rPr lang="zh-CN" sz="13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r>
                                    <a:rPr lang="zh-CN" sz="13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15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zh-CN" sz="13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+</m:t>
                                  </m:r>
                                  <m:r>
                                    <a:rPr lang="zh-CN" sz="13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2</m:t>
                                  </m:r>
                                  <m:sSup>
                                    <m:e>
                                      <m:r>
                                        <a:rPr lang="zh-CN" sz="135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x</m:t>
                                      </m:r>
                                    </m:e>
                                    <m:sup>
                                      <m:d>
                                        <m:dPr>
                                          <m:begChr m:val="("/>
                                          <m:sepChr m:val=""/>
                                          <m:endChr m:val=")"/>
                                          <m:grow m:val="on"/>
                                          <m:ctrlPr>
                                            <a:rPr lang="zh-CN" sz="1350" dirty="0">
                                              <a:solidFill>
                                                <a:srgbClr val="1F2937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zh-CN" sz="1350" dirty="0">
                                              <a:solidFill>
                                                <a:srgbClr val="1F2937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k</m:t>
                                          </m:r>
                                        </m:e>
                                      </m:d>
                                    </m:sup>
                                  </m:sSup>
                                  <m:r>
                                    <m:rPr>
                                      <m:sty m:val="p"/>
                                    </m:rPr>
                                    <a:rPr lang="zh-CN" sz="13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−</m:t>
                                  </m:r>
                                  <m:sSup>
                                    <m:e>
                                      <m:r>
                                        <a:rPr lang="zh-CN" sz="135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y</m:t>
                                      </m:r>
                                    </m:e>
                                    <m:sup>
                                      <m:d>
                                        <m:dPr>
                                          <m:begChr m:val="("/>
                                          <m:sepChr m:val=""/>
                                          <m:endChr m:val=")"/>
                                          <m:grow m:val="on"/>
                                          <m:ctrlPr>
                                            <a:rPr lang="zh-CN" sz="1350" dirty="0">
                                              <a:solidFill>
                                                <a:srgbClr val="1F2937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zh-CN" sz="1350" dirty="0">
                                              <a:solidFill>
                                                <a:srgbClr val="1F2937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k</m:t>
                                          </m:r>
                                        </m:e>
                                      </m:d>
                                    </m:sup>
                                  </m:sSup>
                                </m:e>
                              </m:d>
                              <m:r>
                                <m:rPr>
                                  <m:sty m:val="p"/>
                                </m:rPr>
                                <a:rPr lang="zh-CN" sz="13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/</m:t>
                              </m:r>
                              <m:r>
                                <a:rPr lang="zh-CN" sz="13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5</m:t>
                              </m:r>
                            </m:e>
                          </m:eqArr>
                        </m:e>
                      </m:d>
                    </m:oMath>
                  </m:oMathPara>
                </a14:m>
              </a:p>
            </p:txBody>
          </p:sp>
        </mc:Choice>
      </mc:AlternateContent>
      <p:grpSp>
        <p:nvGrpSpPr>
          <p:cNvPr id="16" name="c1-card-3"/>
          <p:cNvGrpSpPr/>
          <p:nvPr/>
        </p:nvGrpSpPr>
        <p:grpSpPr>
          <a:xfrm>
            <a:off x="533400" y="3724275"/>
            <a:ext cx="4652962" cy="2446972"/>
            <a:chOff x="533400" y="3724275"/>
            <a:chExt cx="4652962" cy="2446972"/>
          </a:xfrm>
        </p:grpSpPr>
        <p:sp>
          <p:nvSpPr>
            <p:cNvPr id="9" name="Rectangle 9"/>
            <p:cNvSpPr/>
            <p:nvPr/>
          </p:nvSpPr>
          <p:spPr>
            <a:xfrm>
              <a:off x="533400" y="3724275"/>
              <a:ext cx="4652962" cy="2446972"/>
            </a:xfrm>
            <a:prstGeom prst="roundRect">
              <a:avLst>
                <a:gd name="adj" fmla="val 5450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0" name="Rectangle 10"/>
            <p:cNvSpPr/>
            <p:nvPr/>
          </p:nvSpPr>
          <p:spPr>
            <a:xfrm>
              <a:off x="542925" y="3857625"/>
              <a:ext cx="47625" cy="2180272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1" name="Rectangle 11"/>
            <p:cNvSpPr/>
            <p:nvPr/>
          </p:nvSpPr>
          <p:spPr>
            <a:xfrm>
              <a:off x="763905" y="3916680"/>
              <a:ext cx="742950" cy="247650"/>
            </a:xfrm>
            <a:prstGeom prst="roundRect">
              <a:avLst>
                <a:gd name="adj" fmla="val 50000"/>
              </a:avLst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847344" y="3950970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收敛判断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757047" y="4272915"/>
              <a:ext cx="381990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|4| &gt; 1 + 1，|−8| &gt; 4 + 1，|5| &gt; 2 + 1，严格对角占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优。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4" name="formula187"/>
                <p:cNvSpPr txBox="1">
                  <a:spLocks noGrp="1"/>
                </p:cNvSpPr>
                <p:nvPr/>
              </p:nvSpPr>
              <p:spPr>
                <a:xfrm>
                  <a:off x="763905" y="4811078"/>
                  <a:ext cx="4230052" cy="591502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sSub>
                          <m:e>
                            <m:r>
                              <a:rPr lang="zh-CN" sz="12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H</m:t>
                            </m:r>
                          </m:e>
                          <m:sub>
                            <m:r>
                              <a:rPr lang="zh-CN" sz="12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J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zh-CN" sz="12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sSup>
                          <m:e>
                            <m:r>
                              <a:rPr lang="zh-CN" sz="12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D</m:t>
                            </m:r>
                          </m:e>
                          <m:sup>
                            <m:r>
                              <m:rPr>
                                <m:sty m:val="p"/>
                              </m:rPr>
                              <a:rPr lang="zh-CN" sz="12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−</m:t>
                            </m:r>
                            <m:r>
                              <a:rPr lang="zh-CN" sz="12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</m:sup>
                        </m:sSup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2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2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L</m:t>
                            </m:r>
                            <m:r>
                              <m:rPr>
                                <m:sty m:val="p"/>
                              </m:rPr>
                              <a:rPr lang="zh-CN" sz="12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+</m:t>
                            </m:r>
                            <m:r>
                              <a:rPr lang="zh-CN" sz="12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U</m:t>
                            </m:r>
                          </m:e>
                        </m:d>
                        <m:r>
                          <m:rPr>
                            <m:sty m:val="p"/>
                          </m:rPr>
                          <a:rPr lang="zh-CN" sz="12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d>
                          <m:dPr>
                            <m:begChr m:val="["/>
                            <m:sepChr m:val=""/>
                            <m:endChr m:val="]"/>
                            <m:grow m:val="on"/>
                            <m:ctrlPr>
                              <a:rPr lang="zh-CN" sz="12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m>
                              <m:mPr>
                                <m:baseJc m:val="center"/>
                                <m:plcHide m:val="on"/>
                                <m:mcs>
                                  <m:mc>
                                    <m:mcPr>
                                      <m:count m:val="1"/>
                                    </m:mcPr>
                                  </m:mc>
                                  <m:mc>
                                    <m:mcPr>
                                      <m:count m:val="1"/>
                                    </m:mcPr>
                                  </m:mc>
                                  <m:mc>
                                    <m:mcPr>
                                      <m:count m:val="1"/>
                                    </m:mcPr>
                                  </m:mc>
                                </m:mcs>
                              </m:mPr>
                              <m:mr>
                                <m:e>
                                  <m:r>
                                    <a:rPr lang="zh-CN" sz="12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zh-CN" sz="12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1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zh-CN" sz="12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/</m:t>
                                  </m:r>
                                  <m:r>
                                    <a:rPr lang="zh-CN" sz="12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4</m:t>
                                  </m:r>
                                </m:e>
                                <m:e>
                                  <m:r>
                                    <m:rPr>
                                      <m:sty m:val="p"/>
                                    </m:rPr>
                                    <a:rPr lang="zh-CN" sz="12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−</m:t>
                                  </m:r>
                                  <m:r>
                                    <a:rPr lang="zh-CN" sz="12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1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zh-CN" sz="12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/</m:t>
                                  </m:r>
                                  <m:r>
                                    <a:rPr lang="zh-CN" sz="12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4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zh-CN" sz="12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1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zh-CN" sz="12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/</m:t>
                                  </m:r>
                                  <m:r>
                                    <a:rPr lang="zh-CN" sz="12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2</m:t>
                                  </m:r>
                                </m:e>
                                <m:e>
                                  <m:r>
                                    <a:rPr lang="zh-CN" sz="12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zh-CN" sz="12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1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zh-CN" sz="12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/</m:t>
                                  </m:r>
                                  <m:r>
                                    <a:rPr lang="zh-CN" sz="12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8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zh-CN" sz="12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2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zh-CN" sz="12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/</m:t>
                                  </m:r>
                                  <m:r>
                                    <a:rPr lang="zh-CN" sz="12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5</m:t>
                                  </m:r>
                                </m:e>
                                <m:e>
                                  <m:r>
                                    <m:rPr>
                                      <m:sty m:val="p"/>
                                    </m:rPr>
                                    <a:rPr lang="zh-CN" sz="12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−</m:t>
                                  </m:r>
                                  <m:r>
                                    <a:rPr lang="zh-CN" sz="12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1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zh-CN" sz="12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/</m:t>
                                  </m:r>
                                  <m:r>
                                    <a:rPr lang="zh-CN" sz="12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5</m:t>
                                  </m:r>
                                </m:e>
                                <m:e>
                                  <m:r>
                                    <a:rPr lang="zh-CN" sz="12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0</m:t>
                                  </m:r>
                                </m:e>
                              </m:mr>
                            </m:m>
                          </m:e>
                        </m:d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15" name="TextBox 15"/>
            <p:cNvSpPr txBox="1"/>
            <p:nvPr/>
          </p:nvSpPr>
          <p:spPr>
            <a:xfrm>
              <a:off x="757047" y="5511165"/>
              <a:ext cx="3871341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行和分别为 1/2、5/8、3/5，所以 ‖H_J‖∞ = 5/8 &lt;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1，迭代收敛。</a:t>
              </a:r>
            </a:p>
          </p:txBody>
        </p:sp>
      </p:grpSp>
      <p:grpSp>
        <p:nvGrpSpPr>
          <p:cNvPr id="87" name="c2-table-1"/>
          <p:cNvGrpSpPr/>
          <p:nvPr/>
        </p:nvGrpSpPr>
        <p:grpSpPr>
          <a:xfrm>
            <a:off x="5485829" y="1524000"/>
            <a:ext cx="6172771" cy="4337304"/>
            <a:chOff x="5485829" y="1524000"/>
            <a:chExt cx="6172771" cy="4337304"/>
          </a:xfrm>
        </p:grpSpPr>
        <p:sp>
          <p:nvSpPr>
            <p:cNvPr id="17" name="Rectangle 17"/>
            <p:cNvSpPr/>
            <p:nvPr/>
          </p:nvSpPr>
          <p:spPr>
            <a:xfrm>
              <a:off x="5491162" y="1524000"/>
              <a:ext cx="6167438" cy="405765"/>
            </a:xfrm>
            <a:prstGeom prst="rect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5719089" y="164830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k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513358" y="1648301"/>
              <a:ext cx="3597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x⁽ᵏ⁾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7808758" y="1648301"/>
              <a:ext cx="3597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y⁽ᵏ⁾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9104158" y="1648301"/>
              <a:ext cx="3597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z⁽ᵏ⁾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0131968" y="1648301"/>
              <a:ext cx="132542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‖x⁽ᵏ⁾ − x⁽ᵏ⁻¹⁾‖∞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5719089" y="205406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6980697" y="2054066"/>
              <a:ext cx="2602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1.0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8276097" y="2054066"/>
              <a:ext cx="2602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2.0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9571497" y="2054066"/>
              <a:ext cx="2602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2.0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10747505" y="2054066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—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5491162" y="2330768"/>
              <a:ext cx="616743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9" name="Rectangle 29"/>
            <p:cNvSpPr/>
            <p:nvPr/>
          </p:nvSpPr>
          <p:spPr>
            <a:xfrm>
              <a:off x="5491162" y="2335530"/>
              <a:ext cx="6167438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5719089" y="245983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897771" y="2459831"/>
              <a:ext cx="3431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1.75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8110245" y="2459831"/>
              <a:ext cx="4260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3.375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9571497" y="2459831"/>
              <a:ext cx="2602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3.0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10581653" y="2459831"/>
              <a:ext cx="4260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1.375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5491162" y="2736532"/>
              <a:ext cx="616743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5719089" y="286559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648994" y="2865596"/>
              <a:ext cx="5919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1.84375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8110245" y="2865596"/>
              <a:ext cx="4260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3.875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9405645" y="2865596"/>
              <a:ext cx="4260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3.025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10664579" y="2865596"/>
              <a:ext cx="2602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0.5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5491162" y="3142298"/>
              <a:ext cx="616743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2" name="Rectangle 42"/>
            <p:cNvSpPr/>
            <p:nvPr/>
          </p:nvSpPr>
          <p:spPr>
            <a:xfrm>
              <a:off x="5491162" y="3147060"/>
              <a:ext cx="6167438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5719089" y="327136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6731919" y="3271361"/>
              <a:ext cx="50898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1.9625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8110245" y="3271361"/>
              <a:ext cx="4260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3.925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9322719" y="3271361"/>
              <a:ext cx="50898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2.9625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10581653" y="3271361"/>
              <a:ext cx="4260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0.119</a:t>
              </a:r>
            </a:p>
          </p:txBody>
        </p:sp>
        <p:sp>
          <p:nvSpPr>
            <p:cNvPr id="48" name="Rectangle 48"/>
            <p:cNvSpPr/>
            <p:nvPr/>
          </p:nvSpPr>
          <p:spPr>
            <a:xfrm>
              <a:off x="5491162" y="3548062"/>
              <a:ext cx="616743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5719089" y="367712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6566068" y="3677126"/>
              <a:ext cx="674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1.990625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7861468" y="3677126"/>
              <a:ext cx="674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3.976563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9156868" y="3677126"/>
              <a:ext cx="674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3.000000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10415801" y="3677126"/>
              <a:ext cx="7577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5.16×10⁻²</a:t>
              </a:r>
            </a:p>
          </p:txBody>
        </p:sp>
        <p:sp>
          <p:nvSpPr>
            <p:cNvPr id="54" name="Rectangle 54"/>
            <p:cNvSpPr/>
            <p:nvPr/>
          </p:nvSpPr>
          <p:spPr>
            <a:xfrm>
              <a:off x="5491162" y="3953828"/>
              <a:ext cx="616743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5" name="Rectangle 55"/>
            <p:cNvSpPr/>
            <p:nvPr/>
          </p:nvSpPr>
          <p:spPr>
            <a:xfrm>
              <a:off x="5491162" y="3958590"/>
              <a:ext cx="6167438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6" name="TextBox 56"/>
            <p:cNvSpPr txBox="1"/>
            <p:nvPr/>
          </p:nvSpPr>
          <p:spPr>
            <a:xfrm>
              <a:off x="5719089" y="408289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6566068" y="4082891"/>
              <a:ext cx="674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1.994141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7861468" y="4082891"/>
              <a:ext cx="674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3.995313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9156868" y="4082891"/>
              <a:ext cx="674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3.000938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10415801" y="4082891"/>
              <a:ext cx="7577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1.87×10⁻²</a:t>
              </a:r>
            </a:p>
          </p:txBody>
        </p:sp>
        <p:sp>
          <p:nvSpPr>
            <p:cNvPr id="61" name="Rectangle 61"/>
            <p:cNvSpPr/>
            <p:nvPr/>
          </p:nvSpPr>
          <p:spPr>
            <a:xfrm>
              <a:off x="5491162" y="4359592"/>
              <a:ext cx="616743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2" name="TextBox 62"/>
            <p:cNvSpPr txBox="1"/>
            <p:nvPr/>
          </p:nvSpPr>
          <p:spPr>
            <a:xfrm>
              <a:off x="5719089" y="448865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6566068" y="4488656"/>
              <a:ext cx="674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1.998594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7861468" y="4488656"/>
              <a:ext cx="674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3.997188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9156868" y="4488656"/>
              <a:ext cx="674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2.998594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10415801" y="4488656"/>
              <a:ext cx="7577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4.45×10⁻³</a:t>
              </a:r>
            </a:p>
          </p:txBody>
        </p:sp>
        <p:sp>
          <p:nvSpPr>
            <p:cNvPr id="67" name="Rectangle 67"/>
            <p:cNvSpPr/>
            <p:nvPr/>
          </p:nvSpPr>
          <p:spPr>
            <a:xfrm>
              <a:off x="5491162" y="4765358"/>
              <a:ext cx="616743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8" name="Rectangle 68"/>
            <p:cNvSpPr/>
            <p:nvPr/>
          </p:nvSpPr>
          <p:spPr>
            <a:xfrm>
              <a:off x="5491162" y="4770120"/>
              <a:ext cx="6167438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69" name="TextBox 69"/>
            <p:cNvSpPr txBox="1"/>
            <p:nvPr/>
          </p:nvSpPr>
          <p:spPr>
            <a:xfrm>
              <a:off x="5719089" y="489442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…</a:t>
              </a:r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7146549" y="4894421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…</a:t>
              </a:r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8441949" y="4894421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…</a:t>
              </a:r>
            </a:p>
          </p:txBody>
        </p:sp>
        <p:sp>
          <p:nvSpPr>
            <p:cNvPr id="72" name="TextBox 72"/>
            <p:cNvSpPr txBox="1"/>
            <p:nvPr/>
          </p:nvSpPr>
          <p:spPr>
            <a:xfrm>
              <a:off x="9737349" y="4894421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…</a:t>
              </a:r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10747505" y="4894421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…</a:t>
              </a:r>
            </a:p>
          </p:txBody>
        </p:sp>
        <p:sp>
          <p:nvSpPr>
            <p:cNvPr id="74" name="Rectangle 74"/>
            <p:cNvSpPr/>
            <p:nvPr/>
          </p:nvSpPr>
          <p:spPr>
            <a:xfrm>
              <a:off x="5491162" y="5171122"/>
              <a:ext cx="616743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5" name="TextBox 75"/>
            <p:cNvSpPr txBox="1"/>
            <p:nvPr/>
          </p:nvSpPr>
          <p:spPr>
            <a:xfrm>
              <a:off x="5675553" y="5300186"/>
              <a:ext cx="1855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14</a:t>
              </a:r>
            </a:p>
          </p:txBody>
        </p:sp>
        <p:sp>
          <p:nvSpPr>
            <p:cNvPr id="76" name="TextBox 76"/>
            <p:cNvSpPr txBox="1"/>
            <p:nvPr/>
          </p:nvSpPr>
          <p:spPr>
            <a:xfrm>
              <a:off x="6566068" y="5300186"/>
              <a:ext cx="674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2.000000</a:t>
              </a:r>
            </a:p>
          </p:txBody>
        </p:sp>
        <p:sp>
          <p:nvSpPr>
            <p:cNvPr id="77" name="TextBox 77"/>
            <p:cNvSpPr txBox="1"/>
            <p:nvPr/>
          </p:nvSpPr>
          <p:spPr>
            <a:xfrm>
              <a:off x="7861468" y="5300186"/>
              <a:ext cx="674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4.000000</a:t>
              </a:r>
            </a:p>
          </p:txBody>
        </p:sp>
        <p:sp>
          <p:nvSpPr>
            <p:cNvPr id="78" name="TextBox 78"/>
            <p:cNvSpPr txBox="1"/>
            <p:nvPr/>
          </p:nvSpPr>
          <p:spPr>
            <a:xfrm>
              <a:off x="9156868" y="5300186"/>
              <a:ext cx="674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3.000000</a:t>
              </a:r>
            </a:p>
          </p:txBody>
        </p:sp>
        <p:sp>
          <p:nvSpPr>
            <p:cNvPr id="79" name="Rectangle 79"/>
            <p:cNvSpPr/>
            <p:nvPr/>
          </p:nvSpPr>
          <p:spPr>
            <a:xfrm>
              <a:off x="9941242" y="5185410"/>
              <a:ext cx="1707832" cy="386715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80" name="TextBox 80"/>
            <p:cNvSpPr txBox="1"/>
            <p:nvPr/>
          </p:nvSpPr>
          <p:spPr>
            <a:xfrm>
              <a:off x="10415801" y="5300186"/>
              <a:ext cx="7577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9.89×10⁻⁷</a:t>
              </a:r>
            </a:p>
          </p:txBody>
        </p:sp>
        <p:sp>
          <p:nvSpPr>
            <p:cNvPr id="81" name="Rectangle 81"/>
            <p:cNvSpPr/>
            <p:nvPr/>
          </p:nvSpPr>
          <p:spPr>
            <a:xfrm>
              <a:off x="5491162" y="1524000"/>
              <a:ext cx="6167438" cy="405765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82" name="Rectangle 82"/>
            <p:cNvSpPr/>
            <p:nvPr/>
          </p:nvSpPr>
          <p:spPr>
            <a:xfrm>
              <a:off x="6041708" y="1524000"/>
              <a:ext cx="9525" cy="405765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83" name="Rectangle 83"/>
            <p:cNvSpPr/>
            <p:nvPr/>
          </p:nvSpPr>
          <p:spPr>
            <a:xfrm>
              <a:off x="7336155" y="1524000"/>
              <a:ext cx="9525" cy="405765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84" name="Rectangle 84"/>
            <p:cNvSpPr/>
            <p:nvPr/>
          </p:nvSpPr>
          <p:spPr>
            <a:xfrm>
              <a:off x="8631555" y="1524000"/>
              <a:ext cx="9525" cy="405765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85" name="Rectangle 85"/>
            <p:cNvSpPr/>
            <p:nvPr/>
          </p:nvSpPr>
          <p:spPr>
            <a:xfrm>
              <a:off x="9926955" y="1524000"/>
              <a:ext cx="9525" cy="405765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86" name="TextBox 86"/>
            <p:cNvSpPr txBox="1"/>
            <p:nvPr/>
          </p:nvSpPr>
          <p:spPr>
            <a:xfrm>
              <a:off x="5485829" y="5655945"/>
              <a:ext cx="347376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初值同样取 (1, 2, 2)ᵀ；第 14 次相邻差首次小于 10⁻⁶</a:t>
              </a:r>
            </a:p>
          </p:txBody>
        </p:sp>
      </p:grpSp>
      <p:grpSp>
        <p:nvGrpSpPr>
          <p:cNvPr id="90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88" name="TextBox 88"/>
            <p:cNvSpPr txBox="1"/>
            <p:nvPr/>
          </p:nvSpPr>
          <p:spPr>
            <a:xfrm>
              <a:off x="528447" y="6581299"/>
              <a:ext cx="278038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第2章 解线性方程组的数值法（下）</a:t>
              </a:r>
            </a:p>
          </p:txBody>
        </p:sp>
        <p:sp>
          <p:nvSpPr>
            <p:cNvPr id="89" name="TextBox 89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8264652" cy="909257"/>
            <a:chOff x="520446" y="342900"/>
            <a:chExt cx="8264652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14588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6156" y="407194"/>
              <a:ext cx="22881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第2章 线性方程组（下） · 迭代法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826465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用误差估计式检验：事前估计偏保守，事后估计较贴近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780" y="1548765"/>
            <a:ext cx="9592532" cy="293370"/>
            <a:chOff x="525780" y="1548765"/>
            <a:chExt cx="9592532" cy="293370"/>
          </a:xfrm>
        </p:grpSpPr>
        <p:sp>
          <p:nvSpPr>
            <p:cNvPr id="7" name="TextBox 7"/>
            <p:cNvSpPr txBox="1"/>
            <p:nvPr/>
          </p:nvSpPr>
          <p:spPr>
            <a:xfrm>
              <a:off x="525780" y="1548765"/>
              <a:ext cx="959253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仍是调换次序后的 Jacobi 迭代：q = ‖H_J‖∞ = 5/8，‖x⁽¹⁾ − x⁽⁰⁾‖∞ = 1.375，精确解 x* = (2, 4, 3)ᵀ。</a:t>
              </a:r>
            </a:p>
          </p:txBody>
        </p:sp>
      </p:grpSp>
      <p:grpSp>
        <p:nvGrpSpPr>
          <p:cNvPr id="20" name="c1-card-1"/>
          <p:cNvGrpSpPr/>
          <p:nvPr/>
        </p:nvGrpSpPr>
        <p:grpSpPr>
          <a:xfrm>
            <a:off x="533400" y="1954530"/>
            <a:ext cx="4869180" cy="3388995"/>
            <a:chOff x="533400" y="1954530"/>
            <a:chExt cx="4869180" cy="3388995"/>
          </a:xfrm>
        </p:grpSpPr>
        <p:sp>
          <p:nvSpPr>
            <p:cNvPr id="9" name="Rectangle 9"/>
            <p:cNvSpPr/>
            <p:nvPr/>
          </p:nvSpPr>
          <p:spPr>
            <a:xfrm>
              <a:off x="533400" y="1954530"/>
              <a:ext cx="4869180" cy="3388995"/>
            </a:xfrm>
            <a:prstGeom prst="roundRect">
              <a:avLst>
                <a:gd name="adj" fmla="val 3935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0" name="Rectangle 10"/>
            <p:cNvSpPr/>
            <p:nvPr/>
          </p:nvSpPr>
          <p:spPr>
            <a:xfrm>
              <a:off x="542925" y="2087880"/>
              <a:ext cx="47625" cy="3122295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11" name="Rectangle 11"/>
            <p:cNvSpPr/>
            <p:nvPr/>
          </p:nvSpPr>
          <p:spPr>
            <a:xfrm>
              <a:off x="775335" y="2158365"/>
              <a:ext cx="778192" cy="25717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857644" y="2194084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事前估计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660588" y="2197894"/>
              <a:ext cx="281019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要使误差小于 10⁻⁶，需迭代几次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4" name="formula190"/>
                <p:cNvSpPr txBox="1">
                  <a:spLocks noGrp="1"/>
                </p:cNvSpPr>
                <p:nvPr/>
              </p:nvSpPr>
              <p:spPr>
                <a:xfrm>
                  <a:off x="775335" y="2526030"/>
                  <a:ext cx="4423410" cy="540068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f>
                          <m:fPr>
                            <m:type m:val="bar"/>
                            <m:ctrlP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sSup>
                              <m:e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 m:val="on"/>
                                    <m:ctrlPr>
                                      <a:rPr lang="zh-CN" sz="15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dPr>
                                  <m:e>
                                    <m:r>
                                      <a:rPr lang="zh-CN" sz="15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5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zh-CN" sz="15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/</m:t>
                                    </m:r>
                                    <m:r>
                                      <a:rPr lang="zh-CN" sz="15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8</m:t>
                                    </m:r>
                                  </m:e>
                                </m:d>
                              </m:e>
                              <m:sup>
                                <m: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k</m:t>
                                </m:r>
                              </m:sup>
                            </m:sSup>
                          </m:num>
                          <m:den>
                            <m: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  <m:r>
                              <m:rPr>
                                <m:sty m:val="p"/>
                              </m:rP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−</m:t>
                            </m:r>
                            <m: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5</m:t>
                            </m:r>
                            <m:r>
                              <m:rPr>
                                <m:sty m:val="p"/>
                              </m:rP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/</m:t>
                            </m:r>
                            <m: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8</m:t>
                            </m:r>
                          </m:den>
                        </m:f>
                        <m:r>
                          <m:rPr>
                            <m:sty m:val="p"/>
                          </m:rPr>
                          <a:rPr lang="zh-CN" sz="15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×</m:t>
                        </m:r>
                        <m:r>
                          <a:rPr lang="zh-CN" sz="15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1.375</m:t>
                        </m:r>
                        <m:r>
                          <m:rPr>
                            <m:sty m:val="p"/>
                          </m:rPr>
                          <a:rPr lang="zh-CN" sz="15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&lt;</m:t>
                        </m:r>
                        <m:r>
                          <a:rPr lang="zh-CN" sz="15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1</m:t>
                        </m:r>
                        <m:sSup>
                          <m:e>
                            <m: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0</m:t>
                            </m:r>
                          </m:e>
                          <m:sup>
                            <m:r>
                              <m:rPr>
                                <m:sty m:val="p"/>
                              </m:rP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−</m:t>
                            </m:r>
                            <m: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6</m:t>
                            </m:r>
                          </m:sup>
                        </m:sSup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15" name="Ellipse 15"/>
            <p:cNvSpPr/>
            <p:nvPr/>
          </p:nvSpPr>
          <p:spPr>
            <a:xfrm>
              <a:off x="782955" y="3242310"/>
              <a:ext cx="60960" cy="6096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39546" y="3182779"/>
              <a:ext cx="389178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取对数：k &gt; ln(10⁻⁶ × 0.375/1.375)/ln 0.625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≈ 32.2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782955" y="3833812"/>
              <a:ext cx="60960" cy="6096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939546" y="3774281"/>
              <a:ext cx="3341751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k = 32 时右边约 1.08×10⁻⁶，k = 33 时约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6.7×10⁻⁷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69239" y="4361498"/>
              <a:ext cx="206380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结论：估计需要迭代 33 次。</a:t>
              </a:r>
            </a:p>
          </p:txBody>
        </p:sp>
      </p:grpSp>
      <p:grpSp>
        <p:nvGrpSpPr>
          <p:cNvPr id="46" name="c2-table-1"/>
          <p:cNvGrpSpPr/>
          <p:nvPr/>
        </p:nvGrpSpPr>
        <p:grpSpPr>
          <a:xfrm>
            <a:off x="5701665" y="1954530"/>
            <a:ext cx="5956935" cy="2229327"/>
            <a:chOff x="5701665" y="1954530"/>
            <a:chExt cx="5956935" cy="2229327"/>
          </a:xfrm>
        </p:grpSpPr>
        <p:sp>
          <p:nvSpPr>
            <p:cNvPr id="21" name="Rectangle 21"/>
            <p:cNvSpPr/>
            <p:nvPr/>
          </p:nvSpPr>
          <p:spPr>
            <a:xfrm>
              <a:off x="5707380" y="1954530"/>
              <a:ext cx="5951220" cy="643890"/>
            </a:xfrm>
            <a:prstGeom prst="rect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5951818" y="2192655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k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6648450" y="2085975"/>
              <a:ext cx="1093470" cy="4480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680"/>
                </a:lnSpc>
              </a:pPr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相邻差 ‖x⁽ᵏ⁾ −</a:t>
              </a:r>
              <a:br/>
              <a:r>
                <a:rPr lang="en-US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x⁽ᵏ⁻¹⁾‖∞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8305038" y="2085975"/>
              <a:ext cx="1350264" cy="4480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680"/>
                </a:lnSpc>
              </a:pPr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事后上界 (5/3)×相</a:t>
              </a:r>
              <a:br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邻差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0031158" y="2085975"/>
              <a:ext cx="1469898" cy="4480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680"/>
                </a:lnSpc>
              </a:pPr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实际误差 ‖x⁽ᵏ⁾ − x*</a:t>
              </a:r>
              <a:br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‖∞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951818" y="2728912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789268" y="2728912"/>
              <a:ext cx="81183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1.87×10⁻²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8574253" y="2728912"/>
              <a:ext cx="81183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3.13×10⁻²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10360190" y="2728912"/>
              <a:ext cx="81183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5.86×10⁻³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5707380" y="3023235"/>
              <a:ext cx="595122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1" name="Rectangle 31"/>
            <p:cNvSpPr/>
            <p:nvPr/>
          </p:nvSpPr>
          <p:spPr>
            <a:xfrm>
              <a:off x="5707380" y="3027998"/>
              <a:ext cx="5951220" cy="43053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5905172" y="3159442"/>
              <a:ext cx="19877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6789268" y="3159442"/>
              <a:ext cx="81183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7.25×10⁻⁵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8574253" y="3159442"/>
              <a:ext cx="81183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1.21×10⁻⁴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10360190" y="3159442"/>
              <a:ext cx="81183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3.30×10⁻⁵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5707380" y="3453765"/>
              <a:ext cx="595122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5905172" y="3589972"/>
              <a:ext cx="19877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14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6789268" y="3589972"/>
              <a:ext cx="81183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9.89×10⁻⁷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8574253" y="3589972"/>
              <a:ext cx="81183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1.65×10⁻⁶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10360190" y="3589972"/>
              <a:ext cx="81183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3.09×10⁻⁷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5707380" y="1954530"/>
              <a:ext cx="5951220" cy="193357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6297930" y="1954530"/>
              <a:ext cx="9525" cy="193357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3" name="Rectangle 43"/>
            <p:cNvSpPr/>
            <p:nvPr/>
          </p:nvSpPr>
          <p:spPr>
            <a:xfrm>
              <a:off x="8082915" y="1954530"/>
              <a:ext cx="9525" cy="193357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4" name="Rectangle 44"/>
            <p:cNvSpPr/>
            <p:nvPr/>
          </p:nvSpPr>
          <p:spPr>
            <a:xfrm>
              <a:off x="9868852" y="1954530"/>
              <a:ext cx="9525" cy="193357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5701665" y="3963829"/>
              <a:ext cx="219012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q/(1 − q) = (5/8)/(3/8) = 5/3</a:t>
              </a:r>
            </a:p>
          </p:txBody>
        </p:sp>
      </p:grpSp>
      <p:grpSp>
        <p:nvGrpSpPr>
          <p:cNvPr id="53" name="c2-callout-2"/>
          <p:cNvGrpSpPr/>
          <p:nvPr/>
        </p:nvGrpSpPr>
        <p:grpSpPr>
          <a:xfrm>
            <a:off x="5707380" y="4325302"/>
            <a:ext cx="5951220" cy="1018222"/>
            <a:chOff x="5707380" y="4325302"/>
            <a:chExt cx="5951220" cy="1018222"/>
          </a:xfrm>
        </p:grpSpPr>
        <p:sp>
          <p:nvSpPr>
            <p:cNvPr id="47" name="Rectangle 47"/>
            <p:cNvSpPr/>
            <p:nvPr/>
          </p:nvSpPr>
          <p:spPr>
            <a:xfrm>
              <a:off x="5707380" y="4325302"/>
              <a:ext cx="5951220" cy="1018222"/>
            </a:xfrm>
            <a:prstGeom prst="roundRect">
              <a:avLst>
                <a:gd name="adj" fmla="val 11225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51" name="Group 51"/>
            <p:cNvGrpSpPr/>
            <p:nvPr/>
          </p:nvGrpSpPr>
          <p:grpSpPr>
            <a:xfrm>
              <a:off x="5912168" y="4734878"/>
              <a:ext cx="200026" cy="200026"/>
              <a:chOff x="5912168" y="4734878"/>
              <a:chExt cx="200026" cy="200026"/>
            </a:xfrm>
          </p:grpSpPr>
          <p:sp>
            <p:nvSpPr>
              <p:cNvPr id="48" name="Freeform 48"/>
              <p:cNvSpPr/>
              <p:nvPr/>
            </p:nvSpPr>
            <p:spPr>
              <a:xfrm>
                <a:off x="5912168" y="4734878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49" name="Freeform 49"/>
              <p:cNvSpPr/>
              <p:nvPr/>
            </p:nvSpPr>
            <p:spPr>
              <a:xfrm>
                <a:off x="6012180" y="480155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50" name="Freeform 50"/>
              <p:cNvSpPr/>
              <p:nvPr/>
            </p:nvSpPr>
            <p:spPr>
              <a:xfrm>
                <a:off x="6001068" y="4834890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52" name="TextBox 52"/>
            <p:cNvSpPr txBox="1"/>
            <p:nvPr/>
          </p:nvSpPr>
          <p:spPr>
            <a:xfrm>
              <a:off x="6214491" y="4472464"/>
              <a:ext cx="4883658" cy="80448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实际第 14 次误差就只有约 3×10⁻⁷。事前估计要 33 次，是因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为它用的 q = ‖H_J‖∞ = 0.625 比真正决定速度的 ρ(H_J) ≈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0.335 大得多。</a:t>
              </a:r>
            </a:p>
          </p:txBody>
        </p:sp>
      </p:grpSp>
      <p:grpSp>
        <p:nvGrpSpPr>
          <p:cNvPr id="60" name="takeaway"/>
          <p:cNvGrpSpPr/>
          <p:nvPr/>
        </p:nvGrpSpPr>
        <p:grpSpPr>
          <a:xfrm>
            <a:off x="533400" y="5606415"/>
            <a:ext cx="11125200" cy="756285"/>
            <a:chOff x="533400" y="5606415"/>
            <a:chExt cx="11125200" cy="756285"/>
          </a:xfrm>
        </p:grpSpPr>
        <p:sp>
          <p:nvSpPr>
            <p:cNvPr id="54" name="Rectangle 54"/>
            <p:cNvSpPr/>
            <p:nvPr/>
          </p:nvSpPr>
          <p:spPr>
            <a:xfrm>
              <a:off x="533400" y="5606415"/>
              <a:ext cx="11125200" cy="756285"/>
            </a:xfrm>
            <a:prstGeom prst="roundRect">
              <a:avLst>
                <a:gd name="adj" fmla="val 15113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58" name="Group 58"/>
            <p:cNvGrpSpPr/>
            <p:nvPr/>
          </p:nvGrpSpPr>
          <p:grpSpPr>
            <a:xfrm>
              <a:off x="726129" y="5880853"/>
              <a:ext cx="224134" cy="192560"/>
              <a:chOff x="726129" y="5880853"/>
              <a:chExt cx="224134" cy="192560"/>
            </a:xfrm>
          </p:grpSpPr>
          <p:sp>
            <p:nvSpPr>
              <p:cNvPr id="55" name="Freeform 55"/>
              <p:cNvSpPr/>
              <p:nvPr/>
            </p:nvSpPr>
            <p:spPr>
              <a:xfrm>
                <a:off x="838200" y="5951220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56" name="Freeform 56"/>
              <p:cNvSpPr/>
              <p:nvPr/>
            </p:nvSpPr>
            <p:spPr>
              <a:xfrm>
                <a:off x="726129" y="5880853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57" name="Freeform 57"/>
              <p:cNvSpPr/>
              <p:nvPr/>
            </p:nvSpPr>
            <p:spPr>
              <a:xfrm>
                <a:off x="838200" y="602900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59" name="TextBox 59"/>
            <p:cNvSpPr txBox="1"/>
            <p:nvPr/>
          </p:nvSpPr>
          <p:spPr>
            <a:xfrm>
              <a:off x="1040511" y="5753576"/>
              <a:ext cx="9797923" cy="5415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注意：第 14 次相邻差 &lt; 10⁻⁶ 时，事后估计只能保证误差 ≤ 1.65×10⁻⁶。要保证误差 &lt; 10⁻⁶，应要求相邻差 &lt; (1 − q)/q ×</a:t>
              </a:r>
              <a:br/>
              <a:r>
                <a:rPr lang="zh-CN" sz="142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10⁻⁶ = 6×10⁻⁷。</a:t>
              </a:r>
            </a:p>
          </p:txBody>
        </p:sp>
      </p:grpSp>
      <p:grpSp>
        <p:nvGrpSpPr>
          <p:cNvPr id="6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1" name="TextBox 61"/>
            <p:cNvSpPr txBox="1"/>
            <p:nvPr/>
          </p:nvSpPr>
          <p:spPr>
            <a:xfrm>
              <a:off x="528447" y="6581299"/>
              <a:ext cx="278038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第2章 解线性方程组的数值法（下）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819150" cy="909257"/>
            <a:chOff x="520446" y="342900"/>
            <a:chExt cx="6819150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14588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6156" y="407194"/>
              <a:ext cx="22881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第2章 线性方程组（下） · 迭代法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819150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Gauss-Seidel 迭代：算出的新分量立刻用上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6" name="c1-card-1"/>
          <p:cNvGrpSpPr/>
          <p:nvPr/>
        </p:nvGrpSpPr>
        <p:grpSpPr>
          <a:xfrm>
            <a:off x="533400" y="1524000"/>
            <a:ext cx="5410200" cy="4730115"/>
            <a:chOff x="533400" y="1524000"/>
            <a:chExt cx="5410200" cy="473011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10200" cy="4730115"/>
            </a:xfrm>
            <a:prstGeom prst="roundRect">
              <a:avLst>
                <a:gd name="adj" fmla="val 281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4463415"/>
            </a:xfrm>
            <a:prstGeom prst="roundRect">
              <a:avLst>
                <a:gd name="adj" fmla="val 50000"/>
              </a:avLst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81050" y="1733550"/>
              <a:ext cx="957262" cy="257175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55015" y="1769269"/>
              <a:ext cx="8083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Seidel 技巧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73430" y="2110740"/>
              <a:ext cx="313505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简单迭代法 (2.7.3) 的分量形式是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2" name="formula194"/>
                <p:cNvSpPr txBox="1">
                  <a:spLocks noGrp="1"/>
                </p:cNvSpPr>
                <p:nvPr/>
              </p:nvSpPr>
              <p:spPr>
                <a:xfrm>
                  <a:off x="781050" y="2421255"/>
                  <a:ext cx="4953000" cy="597218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sSubSup>
                          <m:e>
                            <m: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x</m:t>
                            </m:r>
                          </m:e>
                          <m:sub>
                            <m: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i</m:t>
                            </m:r>
                          </m:sub>
                          <m:sup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k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+</m:t>
                                </m:r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e>
                            </m:d>
                          </m:sup>
                        </m:sSubSup>
                        <m:r>
                          <m:rPr>
                            <m:sty m:val="p"/>
                          </m:rPr>
                          <a:rPr lang="zh-CN" sz="14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nary>
                          <m:naryPr>
                            <m:chr m:val="∑"/>
                            <m:limLoc m:val="undOvr"/>
                            <m:grow m:val="off"/>
                            <m:subHide m:val="off"/>
                            <m:supHide m:val="off"/>
                            <m:ctrlP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naryPr>
                          <m:sub>
                            <m: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j</m:t>
                            </m:r>
                            <m:r>
                              <m:rPr>
                                <m:sty m:val="p"/>
                              </m:rP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=</m:t>
                            </m:r>
                            <m: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</m:sub>
                          <m:sup>
                            <m: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i</m:t>
                            </m:r>
                            <m:r>
                              <m:rPr>
                                <m:sty m:val="p"/>
                              </m:rP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−</m:t>
                            </m:r>
                            <m: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</m:sup>
                          <m:e>
                            <m:sSub>
                              <m:e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ij</m:t>
                                </m:r>
                              </m:sub>
                            </m:sSub>
                            <m:sSubSup>
                              <m:e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j</m:t>
                                </m:r>
                              </m:sub>
                              <m:sup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 m:val="on"/>
                                    <m:ctrlPr>
                                      <a:rPr lang="zh-CN" sz="14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dPr>
                                  <m:e>
                                    <m:r>
                                      <a:rPr lang="zh-CN" sz="14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k</m:t>
                                    </m:r>
                                  </m:e>
                                </m:d>
                              </m:sup>
                            </m:sSubSup>
                          </m:e>
                        </m:nary>
                        <m:r>
                          <m:rPr>
                            <m:sty m:val="p"/>
                          </m:rPr>
                          <a:rPr lang="zh-CN" sz="14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+</m:t>
                        </m:r>
                        <m:nary>
                          <m:naryPr>
                            <m:chr m:val="∑"/>
                            <m:limLoc m:val="undOvr"/>
                            <m:grow m:val="off"/>
                            <m:subHide m:val="off"/>
                            <m:supHide m:val="off"/>
                            <m:ctrlP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naryPr>
                          <m:sub>
                            <m: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j</m:t>
                            </m:r>
                            <m:r>
                              <m:rPr>
                                <m:sty m:val="p"/>
                              </m:rP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=</m:t>
                            </m:r>
                            <m: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i</m:t>
                            </m:r>
                          </m:sub>
                          <m:sup>
                            <m: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n</m:t>
                            </m:r>
                          </m:sup>
                          <m:e>
                            <m:sSub>
                              <m:e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ij</m:t>
                                </m:r>
                              </m:sub>
                            </m:sSub>
                            <m:sSubSup>
                              <m:e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j</m:t>
                                </m:r>
                              </m:sub>
                              <m:sup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 m:val="on"/>
                                    <m:ctrlPr>
                                      <a:rPr lang="zh-CN" sz="14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dPr>
                                  <m:e>
                                    <m:r>
                                      <a:rPr lang="zh-CN" sz="14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k</m:t>
                                    </m:r>
                                  </m:e>
                                </m:d>
                              </m:sup>
                            </m:sSubSup>
                          </m:e>
                        </m:nary>
                        <m:r>
                          <m:rPr>
                            <m:sty m:val="p"/>
                          </m:rPr>
                          <a:rPr lang="zh-CN" sz="14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+</m:t>
                        </m:r>
                        <m:sSub>
                          <m:e>
                            <m: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g</m:t>
                            </m:r>
                          </m:e>
                          <m:sub>
                            <m: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i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zh-CN" sz="14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,</m:t>
                        </m:r>
                        <m:r>
                          <a:rPr lang="zh-CN" sz="14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 </m:t>
                        </m:r>
                        <m:r>
                          <a:rPr lang="zh-CN" sz="14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i</m:t>
                        </m:r>
                        <m:r>
                          <m:rPr>
                            <m:sty m:val="p"/>
                          </m:rPr>
                          <a:rPr lang="zh-CN" sz="14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r>
                          <a:rPr lang="zh-CN" sz="14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1</m:t>
                        </m:r>
                        <m:r>
                          <m:rPr>
                            <m:sty m:val="p"/>
                          </m:rPr>
                          <a:rPr lang="zh-CN" sz="14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,</m:t>
                        </m:r>
                        <m:r>
                          <a:rPr lang="zh-CN" sz="14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2</m:t>
                        </m:r>
                        <m:r>
                          <m:rPr>
                            <m:sty m:val="p"/>
                          </m:rPr>
                          <a:rPr lang="zh-CN" sz="14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,⋯,</m:t>
                        </m:r>
                        <m:r>
                          <a:rPr lang="zh-CN" sz="14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n</m:t>
                        </m:r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13" name="TextBox 13"/>
            <p:cNvSpPr txBox="1"/>
            <p:nvPr/>
          </p:nvSpPr>
          <p:spPr>
            <a:xfrm>
              <a:off x="773430" y="3138488"/>
              <a:ext cx="47396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计算 xᵢ⁽ᵏ⁺¹⁾ 时，x₁⁽ᵏ⁺¹⁾, …, xᵢ₋₁⁽ᵏ⁺¹⁾ 已经算出。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可以用这些新值来计算 xᵢ⁽ᵏ⁺¹⁾，于是得到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4" name="formula195"/>
                <p:cNvSpPr txBox="1">
                  <a:spLocks noGrp="1"/>
                </p:cNvSpPr>
                <p:nvPr/>
              </p:nvSpPr>
              <p:spPr>
                <a:xfrm>
                  <a:off x="781050" y="3734752"/>
                  <a:ext cx="4953000" cy="597218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sSubSup>
                          <m:e>
                            <m: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x</m:t>
                            </m:r>
                          </m:e>
                          <m:sub>
                            <m: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i</m:t>
                            </m:r>
                          </m:sub>
                          <m:sup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k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+</m:t>
                                </m:r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e>
                            </m:d>
                          </m:sup>
                        </m:sSubSup>
                        <m:r>
                          <m:rPr>
                            <m:sty m:val="p"/>
                          </m:rPr>
                          <a:rPr lang="zh-CN" sz="14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nary>
                          <m:naryPr>
                            <m:chr m:val="∑"/>
                            <m:limLoc m:val="undOvr"/>
                            <m:grow m:val="off"/>
                            <m:subHide m:val="off"/>
                            <m:supHide m:val="off"/>
                            <m:ctrlP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naryPr>
                          <m:sub>
                            <m: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j</m:t>
                            </m:r>
                            <m:r>
                              <m:rPr>
                                <m:sty m:val="p"/>
                              </m:rP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=</m:t>
                            </m:r>
                            <m: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</m:sub>
                          <m:sup>
                            <m: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i</m:t>
                            </m:r>
                            <m:r>
                              <m:rPr>
                                <m:sty m:val="p"/>
                              </m:rP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−</m:t>
                            </m:r>
                            <m: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</m:sup>
                          <m:e>
                            <m:sSub>
                              <m:e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ij</m:t>
                                </m:r>
                              </m:sub>
                            </m:sSub>
                            <m:sSubSup>
                              <m:e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j</m:t>
                                </m:r>
                              </m:sub>
                              <m:sup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 m:val="on"/>
                                    <m:ctrlPr>
                                      <a:rPr lang="zh-CN" sz="14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dPr>
                                  <m:e>
                                    <m:r>
                                      <a:rPr lang="zh-CN" sz="14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k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zh-CN" sz="14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+</m:t>
                                    </m:r>
                                    <m:r>
                                      <a:rPr lang="zh-CN" sz="14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1</m:t>
                                    </m:r>
                                  </m:e>
                                </m:d>
                              </m:sup>
                            </m:sSubSup>
                          </m:e>
                        </m:nary>
                        <m:r>
                          <m:rPr>
                            <m:sty m:val="p"/>
                          </m:rPr>
                          <a:rPr lang="zh-CN" sz="14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+</m:t>
                        </m:r>
                        <m:nary>
                          <m:naryPr>
                            <m:chr m:val="∑"/>
                            <m:limLoc m:val="undOvr"/>
                            <m:grow m:val="off"/>
                            <m:subHide m:val="off"/>
                            <m:supHide m:val="off"/>
                            <m:ctrlP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naryPr>
                          <m:sub>
                            <m: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j</m:t>
                            </m:r>
                            <m:r>
                              <m:rPr>
                                <m:sty m:val="p"/>
                              </m:rP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=</m:t>
                            </m:r>
                            <m: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i</m:t>
                            </m:r>
                          </m:sub>
                          <m:sup>
                            <m: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n</m:t>
                            </m:r>
                          </m:sup>
                          <m:e>
                            <m:sSub>
                              <m:e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ij</m:t>
                                </m:r>
                              </m:sub>
                            </m:sSub>
                            <m:sSubSup>
                              <m:e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j</m:t>
                                </m:r>
                              </m:sub>
                              <m:sup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 m:val="on"/>
                                    <m:ctrlPr>
                                      <a:rPr lang="zh-CN" sz="14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dPr>
                                  <m:e>
                                    <m:r>
                                      <a:rPr lang="zh-CN" sz="14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k</m:t>
                                    </m:r>
                                  </m:e>
                                </m:d>
                              </m:sup>
                            </m:sSubSup>
                          </m:e>
                        </m:nary>
                        <m:r>
                          <m:rPr>
                            <m:sty m:val="p"/>
                          </m:rPr>
                          <a:rPr lang="zh-CN" sz="14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+</m:t>
                        </m:r>
                        <m:sSub>
                          <m:e>
                            <m: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g</m:t>
                            </m:r>
                          </m:e>
                          <m:sub>
                            <m: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i</m:t>
                            </m:r>
                          </m:sub>
                        </m:sSub>
                        <m:r>
                          <a:rPr lang="zh-CN" sz="14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 xml:space="preserve">  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2.7.12</m:t>
                            </m:r>
                          </m:e>
                        </m:d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15" name="TextBox 15"/>
            <p:cNvSpPr txBox="1"/>
            <p:nvPr/>
          </p:nvSpPr>
          <p:spPr>
            <a:xfrm>
              <a:off x="773430" y="4451985"/>
              <a:ext cx="275860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这种方法称为 </a:t>
              </a:r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Seidel 迭代法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。</a:t>
              </a:r>
            </a:p>
          </p:txBody>
        </p:sp>
      </p:grpSp>
      <p:grpSp>
        <p:nvGrpSpPr>
          <p:cNvPr id="23" name="c2-card-1"/>
          <p:cNvGrpSpPr/>
          <p:nvPr/>
        </p:nvGrpSpPr>
        <p:grpSpPr>
          <a:xfrm>
            <a:off x="6248400" y="1524000"/>
            <a:ext cx="5410200" cy="2127885"/>
            <a:chOff x="6248400" y="1524000"/>
            <a:chExt cx="5410200" cy="2127885"/>
          </a:xfrm>
        </p:grpSpPr>
        <p:sp>
          <p:nvSpPr>
            <p:cNvPr id="17" name="Rectangle 17"/>
            <p:cNvSpPr/>
            <p:nvPr/>
          </p:nvSpPr>
          <p:spPr>
            <a:xfrm>
              <a:off x="6248400" y="1524000"/>
              <a:ext cx="5410200" cy="2127885"/>
            </a:xfrm>
            <a:prstGeom prst="roundRect">
              <a:avLst>
                <a:gd name="adj" fmla="val 6267"/>
              </a:avLst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8" name="Rectangle 18"/>
            <p:cNvSpPr/>
            <p:nvPr/>
          </p:nvSpPr>
          <p:spPr>
            <a:xfrm>
              <a:off x="6457950" y="1733550"/>
              <a:ext cx="2369820" cy="257175"/>
            </a:xfrm>
            <a:prstGeom prst="roundRect">
              <a:avLst>
                <a:gd name="adj" fmla="val 50000"/>
              </a:avLst>
            </a:prstGeom>
            <a:solidFill>
              <a:srgbClr val="23613D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6487177" y="1769269"/>
              <a:ext cx="23113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Gauss-Seidel 迭代法（2.7.13）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6450330" y="2110740"/>
              <a:ext cx="4077367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对 Jacobi 迭代 (2.7.11) 运用 Seidel 技巧：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1" name="formula196"/>
                <p:cNvSpPr txBox="1">
                  <a:spLocks noGrp="1"/>
                </p:cNvSpPr>
                <p:nvPr/>
              </p:nvSpPr>
              <p:spPr>
                <a:xfrm>
                  <a:off x="6457950" y="2421255"/>
                  <a:ext cx="4991100" cy="66675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sSubSup>
                          <m:e>
                            <m:r>
                              <a:rPr lang="zh-CN" sz="150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x</m:t>
                            </m:r>
                          </m:e>
                          <m:sub>
                            <m:r>
                              <a:rPr lang="zh-CN" sz="150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i</m:t>
                            </m:r>
                          </m:sub>
                          <m:sup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50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50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k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50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+</m:t>
                                </m:r>
                                <m:r>
                                  <a:rPr lang="zh-CN" sz="150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e>
                            </m:d>
                          </m:sup>
                        </m:sSubSup>
                        <m:r>
                          <m:rPr>
                            <m:sty m:val="p"/>
                          </m:rPr>
                          <a:rPr lang="zh-CN" sz="150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=−</m:t>
                        </m:r>
                        <m:f>
                          <m:fPr>
                            <m:type m:val="bar"/>
                            <m:ctrlPr>
                              <a:rPr lang="zh-CN" sz="150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r>
                              <a:rPr lang="zh-CN" sz="150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</m:num>
                          <m:den>
                            <m:sSub>
                              <m:e>
                                <m:r>
                                  <a:rPr lang="zh-CN" sz="150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a</m:t>
                                </m:r>
                              </m:e>
                              <m:sub>
                                <m:r>
                                  <a:rPr lang="zh-CN" sz="150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ii</m:t>
                                </m:r>
                              </m:sub>
                            </m:sSub>
                          </m:den>
                        </m:f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50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nary>
                              <m:naryPr>
                                <m:chr m:val="∑"/>
                                <m:limLoc m:val="undOvr"/>
                                <m:grow m:val="off"/>
                                <m:subHide m:val="off"/>
                                <m:supHide m:val="off"/>
                                <m:ctrlPr>
                                  <a:rPr lang="zh-CN" sz="150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naryPr>
                              <m:sub>
                                <m:r>
                                  <a:rPr lang="zh-CN" sz="150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j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50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=</m:t>
                                </m:r>
                                <m:r>
                                  <a:rPr lang="zh-CN" sz="150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zh-CN" sz="150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i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50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−</m:t>
                                </m:r>
                                <m:r>
                                  <a:rPr lang="zh-CN" sz="150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sup>
                              <m:e>
                                <m:sSub>
                                  <m:e>
                                    <m:r>
                                      <a:rPr lang="zh-CN" sz="1500" dirty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a</m:t>
                                    </m:r>
                                  </m:e>
                                  <m:sub>
                                    <m:r>
                                      <a:rPr lang="zh-CN" sz="1500" dirty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ij</m:t>
                                    </m:r>
                                  </m:sub>
                                </m:sSub>
                                <m:sSubSup>
                                  <m:e>
                                    <m:r>
                                      <a:rPr lang="zh-CN" sz="1500" dirty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</m:e>
                                  <m:sub>
                                    <m:r>
                                      <a:rPr lang="zh-CN" sz="1500" dirty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j</m:t>
                                    </m:r>
                                  </m:sub>
                                  <m:sup>
                                    <m:d>
                                      <m:dPr>
                                        <m:begChr m:val="("/>
                                        <m:sepChr m:val=""/>
                                        <m:endChr m:val=")"/>
                                        <m:grow m:val="on"/>
                                        <m:ctrlPr>
                                          <a:rPr lang="zh-CN" sz="1500" dirty="0">
                                            <a:solidFill>
                                              <a:srgbClr val="FFFFFF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zh-CN" sz="1500" dirty="0">
                                            <a:solidFill>
                                              <a:srgbClr val="FFFFFF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k</m:t>
                                        </m:r>
                                        <m:r>
                                          <m:rPr>
                                            <m:sty m:val="p"/>
                                          </m:rPr>
                                          <a:rPr lang="zh-CN" sz="1500" dirty="0">
                                            <a:solidFill>
                                              <a:srgbClr val="FFFFFF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+</m:t>
                                        </m:r>
                                        <m:r>
                                          <a:rPr lang="zh-CN" sz="1500" dirty="0">
                                            <a:solidFill>
                                              <a:srgbClr val="FFFFFF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1</m:t>
                                        </m:r>
                                      </m:e>
                                    </m:d>
                                  </m:sup>
                                </m:sSubSup>
                              </m:e>
                            </m:nary>
                            <m:r>
                              <m:rPr>
                                <m:sty m:val="p"/>
                              </m:rPr>
                              <a:rPr lang="zh-CN" sz="150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+</m:t>
                            </m:r>
                            <m:nary>
                              <m:naryPr>
                                <m:chr m:val="∑"/>
                                <m:limLoc m:val="undOvr"/>
                                <m:grow m:val="off"/>
                                <m:subHide m:val="off"/>
                                <m:supHide m:val="off"/>
                                <m:ctrlPr>
                                  <a:rPr lang="zh-CN" sz="150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naryPr>
                              <m:sub>
                                <m:r>
                                  <a:rPr lang="zh-CN" sz="150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j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50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=</m:t>
                                </m:r>
                                <m:r>
                                  <a:rPr lang="zh-CN" sz="150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i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50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+</m:t>
                                </m:r>
                                <m:r>
                                  <a:rPr lang="zh-CN" sz="150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zh-CN" sz="150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n</m:t>
                                </m:r>
                              </m:sup>
                              <m:e>
                                <m:sSub>
                                  <m:e>
                                    <m:r>
                                      <a:rPr lang="zh-CN" sz="1500" dirty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a</m:t>
                                    </m:r>
                                  </m:e>
                                  <m:sub>
                                    <m:r>
                                      <a:rPr lang="zh-CN" sz="1500" dirty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ij</m:t>
                                    </m:r>
                                  </m:sub>
                                </m:sSub>
                                <m:sSubSup>
                                  <m:e>
                                    <m:r>
                                      <a:rPr lang="zh-CN" sz="1500" dirty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</m:e>
                                  <m:sub>
                                    <m:r>
                                      <a:rPr lang="zh-CN" sz="1500" dirty="0">
                                        <a:solidFill>
                                          <a:srgbClr val="FFFFFF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j</m:t>
                                    </m:r>
                                  </m:sub>
                                  <m:sup>
                                    <m:d>
                                      <m:dPr>
                                        <m:begChr m:val="("/>
                                        <m:sepChr m:val=""/>
                                        <m:endChr m:val=")"/>
                                        <m:grow m:val="on"/>
                                        <m:ctrlPr>
                                          <a:rPr lang="zh-CN" sz="1500" dirty="0">
                                            <a:solidFill>
                                              <a:srgbClr val="FFFFFF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zh-CN" sz="1500" dirty="0">
                                            <a:solidFill>
                                              <a:srgbClr val="FFFFFF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k</m:t>
                                        </m:r>
                                      </m:e>
                                    </m:d>
                                  </m:sup>
                                </m:sSubSup>
                              </m:e>
                            </m:nary>
                            <m:r>
                              <m:rPr>
                                <m:sty m:val="p"/>
                              </m:rPr>
                              <a:rPr lang="zh-CN" sz="150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−</m:t>
                            </m:r>
                            <m:sSub>
                              <m:e>
                                <m:r>
                                  <a:rPr lang="zh-CN" sz="150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b</m:t>
                                </m:r>
                              </m:e>
                              <m:sub>
                                <m:r>
                                  <a:rPr lang="zh-CN" sz="150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i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22" name="TextBox 22"/>
            <p:cNvSpPr txBox="1"/>
            <p:nvPr/>
          </p:nvSpPr>
          <p:spPr>
            <a:xfrm>
              <a:off x="6450330" y="3208020"/>
              <a:ext cx="277158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i = 1, 2, …, n；k = 0, 1, 2, …</a:t>
              </a:r>
            </a:p>
          </p:txBody>
        </p:sp>
      </p:grpSp>
      <p:grpSp>
        <p:nvGrpSpPr>
          <p:cNvPr id="42" name="c2-cells-2"/>
          <p:cNvGrpSpPr/>
          <p:nvPr/>
        </p:nvGrpSpPr>
        <p:grpSpPr>
          <a:xfrm>
            <a:off x="6242304" y="3842385"/>
            <a:ext cx="3795141" cy="1162050"/>
            <a:chOff x="6242304" y="3842385"/>
            <a:chExt cx="3795141" cy="1162050"/>
          </a:xfrm>
        </p:grpSpPr>
        <p:sp>
          <p:nvSpPr>
            <p:cNvPr id="24" name="TextBox 24"/>
            <p:cNvSpPr txBox="1"/>
            <p:nvPr/>
          </p:nvSpPr>
          <p:spPr>
            <a:xfrm>
              <a:off x="6242304" y="4015740"/>
              <a:ext cx="98479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Jacobi 算 x₃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294245" y="3842385"/>
              <a:ext cx="685800" cy="495300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D9DFEA"/>
              </a:solidFill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7397820" y="4015740"/>
              <a:ext cx="47865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x₁⁽ᵏ⁾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980045" y="3842385"/>
              <a:ext cx="685800" cy="495300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D9DFEA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8083620" y="4015740"/>
              <a:ext cx="47865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x₂⁽ᵏ⁾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8665845" y="3842385"/>
              <a:ext cx="685800" cy="495300"/>
            </a:xfrm>
            <a:prstGeom prst="rect">
              <a:avLst/>
            </a:prstGeom>
            <a:solidFill>
              <a:srgbClr val="2E7D4F"/>
            </a:solidFill>
            <a:ln w="15240">
              <a:solidFill>
                <a:srgbClr val="2E7D4F"/>
              </a:solidFill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8956003" y="4015740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?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9351645" y="3842385"/>
              <a:ext cx="685800" cy="495300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D9DFEA"/>
              </a:solidFill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9455220" y="4015740"/>
              <a:ext cx="47865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x₄⁽ᵏ⁾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6242304" y="4682490"/>
              <a:ext cx="76068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G-S 算 x₃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7294245" y="4509135"/>
              <a:ext cx="685800" cy="495300"/>
            </a:xfrm>
            <a:prstGeom prst="rect">
              <a:avLst/>
            </a:prstGeom>
            <a:solidFill>
              <a:srgbClr val="E3F5F1"/>
            </a:solidFill>
            <a:ln w="15240">
              <a:solidFill>
                <a:srgbClr val="14A38B"/>
              </a:solidFill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7326677" y="4686776"/>
              <a:ext cx="6209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x₁⁽ᵏ⁺¹⁾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7980045" y="4509135"/>
              <a:ext cx="685800" cy="495300"/>
            </a:xfrm>
            <a:prstGeom prst="rect">
              <a:avLst/>
            </a:prstGeom>
            <a:solidFill>
              <a:srgbClr val="E3F5F1"/>
            </a:solidFill>
            <a:ln w="15240">
              <a:solidFill>
                <a:srgbClr val="14A38B"/>
              </a:solidFill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8012477" y="4686776"/>
              <a:ext cx="6209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x₂⁽ᵏ⁺¹⁾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8665845" y="4509135"/>
              <a:ext cx="685800" cy="495300"/>
            </a:xfrm>
            <a:prstGeom prst="rect">
              <a:avLst/>
            </a:prstGeom>
            <a:solidFill>
              <a:srgbClr val="2E7D4F"/>
            </a:solidFill>
            <a:ln w="15240">
              <a:solidFill>
                <a:srgbClr val="2E7D4F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8956003" y="4682490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?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9351645" y="4509135"/>
              <a:ext cx="685800" cy="495300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D9DFEA"/>
              </a:solidFill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9455220" y="4682490"/>
              <a:ext cx="47865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x₄⁽ᵏ⁾</a:t>
              </a:r>
            </a:p>
          </p:txBody>
        </p:sp>
      </p:grpSp>
      <p:grpSp>
        <p:nvGrpSpPr>
          <p:cNvPr id="49" name="c2-callout-3"/>
          <p:cNvGrpSpPr/>
          <p:nvPr/>
        </p:nvGrpSpPr>
        <p:grpSpPr>
          <a:xfrm>
            <a:off x="6248400" y="5194935"/>
            <a:ext cx="5410200" cy="1059180"/>
            <a:chOff x="6248400" y="5194935"/>
            <a:chExt cx="5410200" cy="1059180"/>
          </a:xfrm>
        </p:grpSpPr>
        <p:sp>
          <p:nvSpPr>
            <p:cNvPr id="43" name="Rectangle 43"/>
            <p:cNvSpPr/>
            <p:nvPr/>
          </p:nvSpPr>
          <p:spPr>
            <a:xfrm>
              <a:off x="6248400" y="5194935"/>
              <a:ext cx="5410200" cy="1059180"/>
            </a:xfrm>
            <a:prstGeom prst="roundRect">
              <a:avLst>
                <a:gd name="adj" fmla="val 10791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47" name="Group 47"/>
            <p:cNvGrpSpPr/>
            <p:nvPr/>
          </p:nvGrpSpPr>
          <p:grpSpPr>
            <a:xfrm>
              <a:off x="6453188" y="5624513"/>
              <a:ext cx="200026" cy="200026"/>
              <a:chOff x="6453188" y="5624513"/>
              <a:chExt cx="200026" cy="200026"/>
            </a:xfrm>
          </p:grpSpPr>
          <p:sp>
            <p:nvSpPr>
              <p:cNvPr id="44" name="Freeform 44"/>
              <p:cNvSpPr/>
              <p:nvPr/>
            </p:nvSpPr>
            <p:spPr>
              <a:xfrm>
                <a:off x="6453188" y="5624513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45" name="Freeform 45"/>
              <p:cNvSpPr/>
              <p:nvPr/>
            </p:nvSpPr>
            <p:spPr>
              <a:xfrm>
                <a:off x="6553200" y="569118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46" name="Freeform 46"/>
              <p:cNvSpPr/>
              <p:nvPr/>
            </p:nvSpPr>
            <p:spPr>
              <a:xfrm>
                <a:off x="6542088" y="5724525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48" name="TextBox 48"/>
            <p:cNvSpPr txBox="1"/>
            <p:nvPr/>
          </p:nvSpPr>
          <p:spPr>
            <a:xfrm>
              <a:off x="6755130" y="5343525"/>
              <a:ext cx="4387215" cy="8458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绿色是本轮刚算出的新值，灰色是上一轮的旧值。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G-S 每算出一个分量就覆盖旧值，程序里只需一个数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组（见下页）。</a:t>
              </a:r>
            </a:p>
          </p:txBody>
        </p:sp>
      </p:grpSp>
      <p:grpSp>
        <p:nvGrpSpPr>
          <p:cNvPr id="52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0" name="TextBox 50"/>
            <p:cNvSpPr txBox="1"/>
            <p:nvPr/>
          </p:nvSpPr>
          <p:spPr>
            <a:xfrm>
              <a:off x="528447" y="6581299"/>
              <a:ext cx="278038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第2章 解线性方程组的数值法（下）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9177029" cy="909257"/>
            <a:chOff x="520446" y="342900"/>
            <a:chExt cx="9177029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14588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6156" y="407194"/>
              <a:ext cx="22881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第2章 线性方程组（下） · 迭代法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9177029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Gauss-Seidel 的矩阵形式，以及与 Jacobi 在程序上的差别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0" name="c1-steps-1"/>
          <p:cNvGrpSpPr/>
          <p:nvPr/>
        </p:nvGrpSpPr>
        <p:grpSpPr>
          <a:xfrm>
            <a:off x="533400" y="1533525"/>
            <a:ext cx="5000818" cy="2107407"/>
            <a:chOff x="533400" y="1533525"/>
            <a:chExt cx="5000818" cy="2107407"/>
          </a:xfrm>
        </p:grpSpPr>
        <p:sp>
          <p:nvSpPr>
            <p:cNvPr id="7" name="Rectangle 7"/>
            <p:cNvSpPr/>
            <p:nvPr/>
          </p:nvSpPr>
          <p:spPr>
            <a:xfrm>
              <a:off x="666750" y="1676400"/>
              <a:ext cx="19050" cy="158781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8" name="Ellipse 8"/>
            <p:cNvSpPr/>
            <p:nvPr/>
          </p:nvSpPr>
          <p:spPr>
            <a:xfrm>
              <a:off x="533400" y="1533525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27024" y="160734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533400" y="2327910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627024" y="240172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533400" y="3121342"/>
              <a:ext cx="285750" cy="28575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627024" y="319516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45642" y="1564957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写成矩阵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946785" y="1833086"/>
              <a:ext cx="4200398" cy="42767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3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(2.7.13) 两边乘 aᵢᵢ：右边新值部分是 (Lx⁽ᵏ⁺¹⁾)ᵢ，旧值部分是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(Ux⁽ᵏ⁾)ᵢ，得下面第一式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945642" y="2359342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移项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46785" y="2627471"/>
              <a:ext cx="4435094" cy="42767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3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Dx⁽ᵏ⁺¹⁾ = Lx⁽ᵏ⁺¹⁾ + Ux⁽ᵏ⁾ + b，把新值项移到左边：(D − L)x⁽ᵏ⁺¹⁾</a:t>
              </a:r>
              <a:br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= Ux⁽ᵏ⁾ + b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945642" y="3153727"/>
              <a:ext cx="8913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 − L 可逆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46785" y="3420904"/>
              <a:ext cx="458743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它是下三角阵，对角元 aᵢᵢ ≠ 0，整理成一般迭代法的形式 (2.7.14)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21" name="formula205"/>
              <p:cNvSpPr txBox="1">
                <a:spLocks noGrp="1"/>
              </p:cNvSpPr>
              <p:nvPr/>
            </p:nvSpPr>
            <p:spPr>
              <a:xfrm>
                <a:off x="533400" y="3810000"/>
                <a:ext cx="5085398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e>
                        <m:sup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k</m:t>
                              </m:r>
                              <m:r>
                                <m:rPr>
                                  <m:sty m:val="p"/>
                                </m:rP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+</m:t>
                              </m:r>
                              <m: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</m:e>
                          </m:d>
                        </m:sup>
                      </m:sSup>
                      <m:r>
                        <m:rPr>
                          <m:sty m:val="p"/>
                        </m:rPr>
                        <a:rPr lang="zh-CN" sz="14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p>
                        <m:e>
                          <m: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−</m:t>
                          </m:r>
                          <m: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p>
                      </m:sSup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L</m:t>
                          </m:r>
                          <m:sSup>
                            <m:e>
                              <m: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x</m:t>
                              </m:r>
                            </m:e>
                            <m:sup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 m:val="on"/>
                                  <m:ctrlPr>
                                    <a:rPr lang="zh-CN" sz="14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r>
                                    <a:rPr lang="zh-CN" sz="14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k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zh-CN" sz="14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+</m:t>
                                  </m:r>
                                  <m:r>
                                    <a:rPr lang="zh-CN" sz="14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1</m:t>
                                  </m:r>
                                </m:e>
                              </m:d>
                            </m:sup>
                          </m:sSup>
                          <m:r>
                            <m:rPr>
                              <m:sty m:val="p"/>
                            </m:rP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+</m:t>
                          </m:r>
                          <m: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  <m:sSup>
                            <m:e>
                              <m: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x</m:t>
                              </m:r>
                            </m:e>
                            <m:sup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 m:val="on"/>
                                  <m:ctrlPr>
                                    <a:rPr lang="zh-CN" sz="14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r>
                                    <a:rPr lang="zh-CN" sz="14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k</m:t>
                                  </m:r>
                                </m:e>
                              </m:d>
                            </m:sup>
                          </m:sSup>
                          <m:r>
                            <m:rPr>
                              <m:sty m:val="p"/>
                            </m:rP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+</m:t>
                          </m:r>
                          <m: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b</m:t>
                          </m:r>
                        </m:e>
                      </m:d>
                    </m:oMath>
                  </m:oMathPara>
                </a14:m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2" name="formula206"/>
              <p:cNvSpPr txBox="1">
                <a:spLocks noGrp="1"/>
              </p:cNvSpPr>
              <p:nvPr/>
            </p:nvSpPr>
            <p:spPr>
              <a:xfrm>
                <a:off x="533400" y="4347210"/>
                <a:ext cx="5085398" cy="342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a:rPr lang="zh-CN" sz="13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e>
                        <m:sup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3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zh-CN" sz="13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k</m:t>
                              </m:r>
                              <m:r>
                                <m:rPr>
                                  <m:sty m:val="p"/>
                                </m:rPr>
                                <a:rPr lang="zh-CN" sz="13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+</m:t>
                              </m:r>
                              <m:r>
                                <a:rPr lang="zh-CN" sz="13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</m:e>
                          </m:d>
                        </m:sup>
                      </m:sSup>
                      <m:r>
                        <m:rPr>
                          <m:sty m:val="p"/>
                        </m:rPr>
                        <a:rPr lang="zh-CN" sz="13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3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zh-CN" sz="13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D</m:t>
                              </m:r>
                              <m:r>
                                <m:rPr>
                                  <m:sty m:val="p"/>
                                </m:rPr>
                                <a:rPr lang="zh-CN" sz="13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−</m:t>
                              </m:r>
                              <m:r>
                                <a:rPr lang="zh-CN" sz="13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L</m:t>
                              </m:r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a:rPr lang="zh-CN" sz="13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−</m:t>
                          </m:r>
                          <m:r>
                            <a:rPr lang="zh-CN" sz="13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p>
                      </m:sSup>
                      <m:r>
                        <a:rPr lang="zh-CN" sz="13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U</m:t>
                      </m:r>
                      <m:r>
                        <a:rPr lang="zh-CN" sz="13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 xml:space="preserve"> </m:t>
                      </m:r>
                      <m:sSup>
                        <m:e>
                          <m:r>
                            <a:rPr lang="zh-CN" sz="13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e>
                        <m:sup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3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zh-CN" sz="13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k</m:t>
                              </m:r>
                            </m:e>
                          </m:d>
                        </m:sup>
                      </m:sSup>
                      <m:r>
                        <m:rPr>
                          <m:sty m:val="p"/>
                        </m:rPr>
                        <a:rPr lang="zh-CN" sz="13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3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zh-CN" sz="13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D</m:t>
                              </m:r>
                              <m:r>
                                <m:rPr>
                                  <m:sty m:val="p"/>
                                </m:rPr>
                                <a:rPr lang="zh-CN" sz="13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−</m:t>
                              </m:r>
                              <m:r>
                                <a:rPr lang="zh-CN" sz="13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L</m:t>
                              </m:r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a:rPr lang="zh-CN" sz="13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−</m:t>
                          </m:r>
                          <m:r>
                            <a:rPr lang="zh-CN" sz="13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p>
                      </m:sSup>
                      <m:r>
                        <a:rPr lang="zh-CN" sz="13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b</m:t>
                      </m:r>
                      <m:r>
                        <m:rPr>
                          <m:sty m:val="p"/>
                        </m:rPr>
                        <a:rPr lang="zh-CN" sz="13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,</m:t>
                      </m:r>
                      <m:r>
                        <a:rPr lang="zh-CN" sz="13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 xml:space="preserve">  </m:t>
                      </m:r>
                      <m:sSub>
                        <m:e>
                          <m:r>
                            <a:rPr lang="zh-CN" sz="13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a:rPr lang="zh-CN" sz="13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zh-CN" sz="13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3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zh-CN" sz="13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D</m:t>
                              </m:r>
                              <m:r>
                                <m:rPr>
                                  <m:sty m:val="p"/>
                                </m:rPr>
                                <a:rPr lang="zh-CN" sz="13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−</m:t>
                              </m:r>
                              <m:r>
                                <a:rPr lang="zh-CN" sz="13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L</m:t>
                              </m:r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a:rPr lang="zh-CN" sz="13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−</m:t>
                          </m:r>
                          <m:r>
                            <a:rPr lang="zh-CN" sz="13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p>
                      </m:sSup>
                      <m:r>
                        <a:rPr lang="zh-CN" sz="13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U</m:t>
                      </m:r>
                    </m:oMath>
                  </m:oMathPara>
                </a14:m>
              </a:p>
            </p:txBody>
          </p:sp>
        </mc:Choice>
      </mc:AlternateContent>
      <p:grpSp>
        <p:nvGrpSpPr>
          <p:cNvPr id="28" name="c1-card-4"/>
          <p:cNvGrpSpPr/>
          <p:nvPr/>
        </p:nvGrpSpPr>
        <p:grpSpPr>
          <a:xfrm>
            <a:off x="533400" y="4865370"/>
            <a:ext cx="5085398" cy="1466850"/>
            <a:chOff x="533400" y="4865370"/>
            <a:chExt cx="5085398" cy="1466850"/>
          </a:xfrm>
        </p:grpSpPr>
        <p:sp>
          <p:nvSpPr>
            <p:cNvPr id="23" name="Rectangle 23"/>
            <p:cNvSpPr/>
            <p:nvPr/>
          </p:nvSpPr>
          <p:spPr>
            <a:xfrm>
              <a:off x="533400" y="4865370"/>
              <a:ext cx="5085398" cy="1466850"/>
            </a:xfrm>
            <a:prstGeom prst="roundRect">
              <a:avLst>
                <a:gd name="adj" fmla="val 9091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542925" y="4998720"/>
              <a:ext cx="47625" cy="1200150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763905" y="5057775"/>
              <a:ext cx="476250" cy="247650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855345" y="5092065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更正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757047" y="5414010"/>
              <a:ext cx="4411408" cy="7783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原课件此页公式编号写作 (1.7.13)、(1.7.14)，并称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“(1.7.9) 式为 Gauss-Seidel 迭代法”，应为 (2.7.13)、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(2.7.14)。</a:t>
              </a:r>
            </a:p>
          </p:txBody>
        </p:sp>
      </p:grpSp>
      <p:grpSp>
        <p:nvGrpSpPr>
          <p:cNvPr id="34" name="c2-code-1"/>
          <p:cNvGrpSpPr/>
          <p:nvPr/>
        </p:nvGrpSpPr>
        <p:grpSpPr>
          <a:xfrm>
            <a:off x="5923598" y="1524000"/>
            <a:ext cx="5735002" cy="3089910"/>
            <a:chOff x="5923598" y="1524000"/>
            <a:chExt cx="5735002" cy="3089910"/>
          </a:xfrm>
        </p:grpSpPr>
        <p:sp>
          <p:nvSpPr>
            <p:cNvPr id="29" name="Rectangle 29"/>
            <p:cNvSpPr/>
            <p:nvPr/>
          </p:nvSpPr>
          <p:spPr>
            <a:xfrm>
              <a:off x="5923598" y="1524000"/>
              <a:ext cx="5735002" cy="3089910"/>
            </a:xfrm>
            <a:prstGeom prst="roundRect">
              <a:avLst>
                <a:gd name="adj" fmla="val 3083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051994" y="1675924"/>
              <a:ext cx="187734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一步迭代：只差“写回哪个数组”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5942648" y="2821305"/>
              <a:ext cx="5696902" cy="184785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5942648" y="4113848"/>
              <a:ext cx="5696902" cy="184785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6051728" y="1936956"/>
              <a:ext cx="4255224" cy="260316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455"/>
                </a:lnSpc>
              </a:pPr>
              <a:r>
                <a:rPr lang="en-US" sz="1030" b="1" dirty="0">
                  <a:solidFill>
                    <a:srgbClr val="2E7D4F"/>
                  </a:solidFill>
                  <a:latin typeface="Consolas"/>
                  <a:ea typeface="Consolas"/>
                  <a:cs typeface="Consolas"/>
                </a:rPr>
                <a:t>def</a:t>
              </a:r>
              <a:r>
                <a:rPr lang="en-US" sz="103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jacobi_step(A, b, x):</a:t>
              </a:r>
              <a:br/>
              <a:r>
                <a:rPr lang="en-US" sz="103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n = len(b)</a:t>
              </a:r>
              <a:br/>
              <a:r>
                <a:rPr lang="en-US" sz="103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new = [0.0] * n</a:t>
              </a:r>
              <a:br/>
              <a:r>
                <a:rPr lang="zh-CN" sz="103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030" b="1" dirty="0">
                  <a:solidFill>
                    <a:srgbClr val="2E7D4F"/>
                  </a:solidFill>
                  <a:latin typeface="Consolas"/>
                  <a:ea typeface="Consolas"/>
                  <a:cs typeface="Consolas"/>
                </a:rPr>
                <a:t>for</a:t>
              </a:r>
              <a:r>
                <a:rPr lang="en-US" sz="103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i </a:t>
              </a:r>
              <a:r>
                <a:rPr lang="en-US" sz="1030" b="1" dirty="0">
                  <a:solidFill>
                    <a:srgbClr val="2E7D4F"/>
                  </a:solidFill>
                  <a:latin typeface="Consolas"/>
                  <a:ea typeface="Consolas"/>
                  <a:cs typeface="Consolas"/>
                </a:rPr>
                <a:t>in</a:t>
              </a:r>
              <a:r>
                <a:rPr lang="en-US" sz="103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range(n):</a:t>
              </a:r>
              <a:br/>
              <a:r>
                <a:rPr lang="en-US" sz="103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s = sum(A[i][j] * x[j] </a:t>
              </a:r>
              <a:r>
                <a:rPr lang="en-US" sz="1030" b="1" dirty="0">
                  <a:solidFill>
                    <a:srgbClr val="2E7D4F"/>
                  </a:solidFill>
                  <a:latin typeface="Consolas"/>
                  <a:ea typeface="Consolas"/>
                  <a:cs typeface="Consolas"/>
                </a:rPr>
                <a:t>for</a:t>
              </a:r>
              <a:r>
                <a:rPr lang="en-US" sz="103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j </a:t>
              </a:r>
              <a:r>
                <a:rPr lang="en-US" sz="1030" b="1" dirty="0">
                  <a:solidFill>
                    <a:srgbClr val="2E7D4F"/>
                  </a:solidFill>
                  <a:latin typeface="Consolas"/>
                  <a:ea typeface="Consolas"/>
                  <a:cs typeface="Consolas"/>
                </a:rPr>
                <a:t>in</a:t>
              </a:r>
              <a:r>
                <a:rPr lang="en-US" sz="103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range(n) </a:t>
              </a:r>
              <a:r>
                <a:rPr lang="en-US" sz="1030" b="1" dirty="0">
                  <a:solidFill>
                    <a:srgbClr val="2E7D4F"/>
                  </a:solidFill>
                  <a:latin typeface="Consolas"/>
                  <a:ea typeface="Consolas"/>
                  <a:cs typeface="Consolas"/>
                </a:rPr>
                <a:t>if</a:t>
              </a:r>
              <a:r>
                <a:rPr lang="en-US" sz="103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j != i)</a:t>
              </a:r>
              <a:br/>
              <a:r>
                <a:rPr lang="en-US" sz="103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new[i] = (b[i] - s) / A[i][i]</a:t>
              </a:r>
              <a:br/>
              <a:r>
                <a:rPr lang="zh-CN" sz="103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030" b="1" dirty="0">
                  <a:solidFill>
                    <a:srgbClr val="2E7D4F"/>
                  </a:solidFill>
                  <a:latin typeface="Consolas"/>
                  <a:ea typeface="Consolas"/>
                  <a:cs typeface="Consolas"/>
                </a:rPr>
                <a:t>return</a:t>
              </a:r>
              <a:r>
                <a:rPr lang="en-US" sz="103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new        </a:t>
              </a:r>
              <a:r>
                <a:rPr lang="zh-CN" sz="103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# 右边全用旧值 x</a:t>
              </a:r>
              <a:br/>
              <a:r>
                <a:rPr lang="zh-CN" sz="103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en-US" sz="1030" b="1" dirty="0">
                  <a:solidFill>
                    <a:srgbClr val="2E7D4F"/>
                  </a:solidFill>
                  <a:latin typeface="Consolas"/>
                  <a:ea typeface="Consolas"/>
                  <a:cs typeface="Consolas"/>
                </a:rPr>
                <a:t>def</a:t>
              </a:r>
              <a:r>
                <a:rPr lang="en-US" sz="103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gauss_seidel_step(A, b, x):</a:t>
              </a:r>
              <a:br/>
              <a:r>
                <a:rPr lang="en-US" sz="103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n = len(b)</a:t>
              </a:r>
              <a:br/>
              <a:r>
                <a:rPr lang="zh-CN" sz="103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030" b="1" dirty="0">
                  <a:solidFill>
                    <a:srgbClr val="2E7D4F"/>
                  </a:solidFill>
                  <a:latin typeface="Consolas"/>
                  <a:ea typeface="Consolas"/>
                  <a:cs typeface="Consolas"/>
                </a:rPr>
                <a:t>for</a:t>
              </a:r>
              <a:r>
                <a:rPr lang="en-US" sz="103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i </a:t>
              </a:r>
              <a:r>
                <a:rPr lang="en-US" sz="1030" b="1" dirty="0">
                  <a:solidFill>
                    <a:srgbClr val="2E7D4F"/>
                  </a:solidFill>
                  <a:latin typeface="Consolas"/>
                  <a:ea typeface="Consolas"/>
                  <a:cs typeface="Consolas"/>
                </a:rPr>
                <a:t>in</a:t>
              </a:r>
              <a:r>
                <a:rPr lang="en-US" sz="103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range(n):</a:t>
              </a:r>
              <a:br/>
              <a:r>
                <a:rPr lang="en-US" sz="103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s = sum(A[i][j] * x[j] </a:t>
              </a:r>
              <a:r>
                <a:rPr lang="en-US" sz="1030" b="1" dirty="0">
                  <a:solidFill>
                    <a:srgbClr val="2E7D4F"/>
                  </a:solidFill>
                  <a:latin typeface="Consolas"/>
                  <a:ea typeface="Consolas"/>
                  <a:cs typeface="Consolas"/>
                </a:rPr>
                <a:t>for</a:t>
              </a:r>
              <a:r>
                <a:rPr lang="en-US" sz="103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j </a:t>
              </a:r>
              <a:r>
                <a:rPr lang="en-US" sz="1030" b="1" dirty="0">
                  <a:solidFill>
                    <a:srgbClr val="2E7D4F"/>
                  </a:solidFill>
                  <a:latin typeface="Consolas"/>
                  <a:ea typeface="Consolas"/>
                  <a:cs typeface="Consolas"/>
                </a:rPr>
                <a:t>in</a:t>
              </a:r>
              <a:r>
                <a:rPr lang="en-US" sz="103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range(n) </a:t>
              </a:r>
              <a:r>
                <a:rPr lang="en-US" sz="1030" b="1" dirty="0">
                  <a:solidFill>
                    <a:srgbClr val="2E7D4F"/>
                  </a:solidFill>
                  <a:latin typeface="Consolas"/>
                  <a:ea typeface="Consolas"/>
                  <a:cs typeface="Consolas"/>
                </a:rPr>
                <a:t>if</a:t>
              </a:r>
              <a:r>
                <a:rPr lang="en-US" sz="103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j != i)</a:t>
              </a:r>
              <a:br/>
              <a:r>
                <a:rPr lang="en-US" sz="103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x[i] = (b[i] - s) / A[i][i]   </a:t>
              </a:r>
              <a:r>
                <a:rPr lang="zh-CN" sz="103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# 就地写回</a:t>
              </a:r>
              <a:br/>
              <a:r>
                <a:rPr lang="zh-CN" sz="103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030" b="1" dirty="0">
                  <a:solidFill>
                    <a:srgbClr val="2E7D4F"/>
                  </a:solidFill>
                  <a:latin typeface="Consolas"/>
                  <a:ea typeface="Consolas"/>
                  <a:cs typeface="Consolas"/>
                </a:rPr>
                <a:t>return</a:t>
              </a:r>
              <a:r>
                <a:rPr lang="en-US" sz="103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x          </a:t>
              </a:r>
              <a:r>
                <a:rPr lang="zh-CN" sz="103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# x[0..i-1] 已是新值</a:t>
              </a:r>
            </a:p>
          </p:txBody>
        </p:sp>
      </p:grpSp>
      <p:grpSp>
        <p:nvGrpSpPr>
          <p:cNvPr id="50" name="c2-table-2"/>
          <p:cNvGrpSpPr/>
          <p:nvPr/>
        </p:nvGrpSpPr>
        <p:grpSpPr>
          <a:xfrm>
            <a:off x="5923598" y="4788218"/>
            <a:ext cx="5735002" cy="1217295"/>
            <a:chOff x="5923598" y="4788218"/>
            <a:chExt cx="5735002" cy="1217295"/>
          </a:xfrm>
        </p:grpSpPr>
        <p:sp>
          <p:nvSpPr>
            <p:cNvPr id="35" name="Rectangle 35"/>
            <p:cNvSpPr/>
            <p:nvPr/>
          </p:nvSpPr>
          <p:spPr>
            <a:xfrm>
              <a:off x="5923598" y="4788218"/>
              <a:ext cx="5735002" cy="405765"/>
            </a:xfrm>
            <a:prstGeom prst="rect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6397663" y="491251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对比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8054475" y="4912519"/>
              <a:ext cx="4988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Jacobi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10046826" y="4912519"/>
              <a:ext cx="9870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Gauss-Seidel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6023610" y="531828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存储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7285672" y="5318284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新旧两个向量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9522142" y="5318284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一个向量就地更新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5923598" y="5594985"/>
              <a:ext cx="573500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3" name="Rectangle 43"/>
            <p:cNvSpPr/>
            <p:nvPr/>
          </p:nvSpPr>
          <p:spPr>
            <a:xfrm>
              <a:off x="5923598" y="5599748"/>
              <a:ext cx="5735002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6023610" y="572404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并行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7285672" y="5724049"/>
              <a:ext cx="16699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各分量互不依赖，可并行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9522142" y="5724049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必须按顺序逐个计算</a:t>
              </a:r>
            </a:p>
          </p:txBody>
        </p:sp>
        <p:sp>
          <p:nvSpPr>
            <p:cNvPr id="47" name="Rectangle 47"/>
            <p:cNvSpPr/>
            <p:nvPr/>
          </p:nvSpPr>
          <p:spPr>
            <a:xfrm>
              <a:off x="5923598" y="4788218"/>
              <a:ext cx="5735002" cy="121729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48" name="Rectangle 48"/>
            <p:cNvSpPr/>
            <p:nvPr/>
          </p:nvSpPr>
          <p:spPr>
            <a:xfrm>
              <a:off x="7180898" y="4788218"/>
              <a:ext cx="9525" cy="121729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9" name="Rectangle 49"/>
            <p:cNvSpPr/>
            <p:nvPr/>
          </p:nvSpPr>
          <p:spPr>
            <a:xfrm>
              <a:off x="9417368" y="4788218"/>
              <a:ext cx="9525" cy="121729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5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1" name="TextBox 51"/>
            <p:cNvSpPr txBox="1"/>
            <p:nvPr/>
          </p:nvSpPr>
          <p:spPr>
            <a:xfrm>
              <a:off x="528447" y="6581299"/>
              <a:ext cx="278038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第2章 解线性方程组的数值法（下）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9193335" cy="909257"/>
            <a:chOff x="520446" y="342900"/>
            <a:chExt cx="9193335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14588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6156" y="407194"/>
              <a:ext cx="22881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第2章 线性方程组（下） · 迭代法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9193335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 2.4（调换次序后）：Gauss-Seidel 比 Jacobi 收敛更快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formula215"/>
              <p:cNvSpPr txBox="1">
                <a:spLocks noGrp="1"/>
              </p:cNvSpPr>
              <p:nvPr/>
            </p:nvSpPr>
            <p:spPr>
              <a:xfrm>
                <a:off x="533400" y="1524000"/>
                <a:ext cx="5626418" cy="90011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d>
                        <m:dPr>
                          <m:begChr m:val="{"/>
                          <m:sepChr m:val=""/>
                          <m:endChr m:val=""/>
                          <m:grow m:val="on"/>
                          <m:ctrlPr>
                            <a:rPr lang="zh-CN" sz="13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eqArr>
                            <m:eqArrPr>
                              <m:baseJc m:val="center"/>
                            </m:eqArrPr>
                            <m:e>
                              <m:r>
                                <a:rPr lang="zh-CN" sz="13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&amp;</m:t>
                              </m:r>
                              <m:sSup>
                                <m:e>
                                  <m:r>
                                    <a:rPr lang="zh-CN" sz="13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x</m:t>
                                  </m:r>
                                </m:e>
                                <m:sup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 m:val="on"/>
                                      <m:ctrlPr>
                                        <a:rPr lang="zh-CN" sz="135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zh-CN" sz="135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k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zh-CN" sz="135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+</m:t>
                                      </m:r>
                                      <m:r>
                                        <a:rPr lang="zh-CN" sz="135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1</m:t>
                                      </m:r>
                                    </m:e>
                                  </m:d>
                                </m:sup>
                              </m:sSup>
                              <m:r>
                                <m:rPr>
                                  <m:sty m:val="p"/>
                                </m:rPr>
                                <a:rPr lang="zh-CN" sz="13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=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 m:val="on"/>
                                  <m:ctrlPr>
                                    <a:rPr lang="zh-CN" sz="13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r>
                                    <a:rPr lang="zh-CN" sz="13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7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zh-CN" sz="13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+</m:t>
                                  </m:r>
                                  <m:sSup>
                                    <m:e>
                                      <m:r>
                                        <a:rPr lang="zh-CN" sz="135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y</m:t>
                                      </m:r>
                                    </m:e>
                                    <m:sup>
                                      <m:d>
                                        <m:dPr>
                                          <m:begChr m:val="("/>
                                          <m:sepChr m:val=""/>
                                          <m:endChr m:val=")"/>
                                          <m:grow m:val="on"/>
                                          <m:ctrlPr>
                                            <a:rPr lang="zh-CN" sz="1350" dirty="0">
                                              <a:solidFill>
                                                <a:srgbClr val="1F2937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zh-CN" sz="1350" dirty="0">
                                              <a:solidFill>
                                                <a:srgbClr val="1F2937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k</m:t>
                                          </m:r>
                                        </m:e>
                                      </m:d>
                                    </m:sup>
                                  </m:sSup>
                                  <m:r>
                                    <m:rPr>
                                      <m:sty m:val="p"/>
                                    </m:rPr>
                                    <a:rPr lang="zh-CN" sz="13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−</m:t>
                                  </m:r>
                                  <m:sSup>
                                    <m:e>
                                      <m:r>
                                        <a:rPr lang="zh-CN" sz="135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z</m:t>
                                      </m:r>
                                    </m:e>
                                    <m:sup>
                                      <m:d>
                                        <m:dPr>
                                          <m:begChr m:val="("/>
                                          <m:sepChr m:val=""/>
                                          <m:endChr m:val=")"/>
                                          <m:grow m:val="on"/>
                                          <m:ctrlPr>
                                            <a:rPr lang="zh-CN" sz="1350" dirty="0">
                                              <a:solidFill>
                                                <a:srgbClr val="1F2937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zh-CN" sz="1350" dirty="0">
                                              <a:solidFill>
                                                <a:srgbClr val="1F2937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k</m:t>
                                          </m:r>
                                        </m:e>
                                      </m:d>
                                    </m:sup>
                                  </m:sSup>
                                </m:e>
                              </m:d>
                              <m:r>
                                <m:rPr>
                                  <m:sty m:val="p"/>
                                </m:rPr>
                                <a:rPr lang="zh-CN" sz="13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/</m:t>
                              </m:r>
                              <m:r>
                                <a:rPr lang="zh-CN" sz="13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4</m:t>
                              </m:r>
                            </m:e>
                            <m:e>
                              <m:r>
                                <a:rPr lang="zh-CN" sz="13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&amp;</m:t>
                              </m:r>
                              <m:sSup>
                                <m:e>
                                  <m:r>
                                    <a:rPr lang="zh-CN" sz="13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y</m:t>
                                  </m:r>
                                </m:e>
                                <m:sup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 m:val="on"/>
                                      <m:ctrlPr>
                                        <a:rPr lang="zh-CN" sz="135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zh-CN" sz="135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k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zh-CN" sz="135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+</m:t>
                                      </m:r>
                                      <m:r>
                                        <a:rPr lang="zh-CN" sz="135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1</m:t>
                                      </m:r>
                                    </m:e>
                                  </m:d>
                                </m:sup>
                              </m:sSup>
                              <m:r>
                                <m:rPr>
                                  <m:sty m:val="p"/>
                                </m:rPr>
                                <a:rPr lang="zh-CN" sz="13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=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 m:val="on"/>
                                  <m:ctrlPr>
                                    <a:rPr lang="zh-CN" sz="13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r>
                                    <a:rPr lang="zh-CN" sz="13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21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zh-CN" sz="13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+</m:t>
                                  </m:r>
                                  <m:r>
                                    <a:rPr lang="zh-CN" sz="13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4</m:t>
                                  </m:r>
                                  <m:sSup>
                                    <m:e>
                                      <m:r>
                                        <a:rPr lang="zh-CN" sz="135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x</m:t>
                                      </m:r>
                                    </m:e>
                                    <m:sup>
                                      <m:d>
                                        <m:dPr>
                                          <m:begChr m:val="("/>
                                          <m:sepChr m:val=""/>
                                          <m:endChr m:val=")"/>
                                          <m:grow m:val="on"/>
                                          <m:ctrlPr>
                                            <a:rPr lang="zh-CN" sz="1350" dirty="0">
                                              <a:solidFill>
                                                <a:srgbClr val="1F2937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zh-CN" sz="1350" dirty="0">
                                              <a:solidFill>
                                                <a:srgbClr val="1F2937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k</m:t>
                                          </m:r>
                                          <m:r>
                                            <m:rPr>
                                              <m:sty m:val="p"/>
                                            </m:rPr>
                                            <a:rPr lang="zh-CN" sz="1350" dirty="0">
                                              <a:solidFill>
                                                <a:srgbClr val="1F2937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+</m:t>
                                          </m:r>
                                          <m:r>
                                            <a:rPr lang="zh-CN" sz="1350" dirty="0">
                                              <a:solidFill>
                                                <a:srgbClr val="1F2937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1</m:t>
                                          </m:r>
                                        </m:e>
                                      </m:d>
                                    </m:sup>
                                  </m:sSup>
                                  <m:r>
                                    <m:rPr>
                                      <m:sty m:val="p"/>
                                    </m:rPr>
                                    <a:rPr lang="zh-CN" sz="13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+</m:t>
                                  </m:r>
                                  <m:sSup>
                                    <m:e>
                                      <m:r>
                                        <a:rPr lang="zh-CN" sz="135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z</m:t>
                                      </m:r>
                                    </m:e>
                                    <m:sup>
                                      <m:d>
                                        <m:dPr>
                                          <m:begChr m:val="("/>
                                          <m:sepChr m:val=""/>
                                          <m:endChr m:val=")"/>
                                          <m:grow m:val="on"/>
                                          <m:ctrlPr>
                                            <a:rPr lang="zh-CN" sz="1350" dirty="0">
                                              <a:solidFill>
                                                <a:srgbClr val="1F2937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zh-CN" sz="1350" dirty="0">
                                              <a:solidFill>
                                                <a:srgbClr val="1F2937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k</m:t>
                                          </m:r>
                                        </m:e>
                                      </m:d>
                                    </m:sup>
                                  </m:sSup>
                                </m:e>
                              </m:d>
                              <m:r>
                                <m:rPr>
                                  <m:sty m:val="p"/>
                                </m:rPr>
                                <a:rPr lang="zh-CN" sz="13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/</m:t>
                              </m:r>
                              <m:r>
                                <a:rPr lang="zh-CN" sz="13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8</m:t>
                              </m:r>
                            </m:e>
                            <m:e>
                              <m:r>
                                <a:rPr lang="zh-CN" sz="13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&amp;</m:t>
                              </m:r>
                              <m:sSup>
                                <m:e>
                                  <m:r>
                                    <a:rPr lang="zh-CN" sz="13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z</m:t>
                                  </m:r>
                                </m:e>
                                <m:sup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 m:val="on"/>
                                      <m:ctrlPr>
                                        <a:rPr lang="zh-CN" sz="135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zh-CN" sz="135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k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zh-CN" sz="135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+</m:t>
                                      </m:r>
                                      <m:r>
                                        <a:rPr lang="zh-CN" sz="135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1</m:t>
                                      </m:r>
                                    </m:e>
                                  </m:d>
                                </m:sup>
                              </m:sSup>
                              <m:r>
                                <m:rPr>
                                  <m:sty m:val="p"/>
                                </m:rPr>
                                <a:rPr lang="zh-CN" sz="13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=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 m:val="on"/>
                                  <m:ctrlPr>
                                    <a:rPr lang="zh-CN" sz="13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r>
                                    <a:rPr lang="zh-CN" sz="13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15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zh-CN" sz="13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+</m:t>
                                  </m:r>
                                  <m:r>
                                    <a:rPr lang="zh-CN" sz="13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2</m:t>
                                  </m:r>
                                  <m:sSup>
                                    <m:e>
                                      <m:r>
                                        <a:rPr lang="zh-CN" sz="135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x</m:t>
                                      </m:r>
                                    </m:e>
                                    <m:sup>
                                      <m:d>
                                        <m:dPr>
                                          <m:begChr m:val="("/>
                                          <m:sepChr m:val=""/>
                                          <m:endChr m:val=")"/>
                                          <m:grow m:val="on"/>
                                          <m:ctrlPr>
                                            <a:rPr lang="zh-CN" sz="1350" dirty="0">
                                              <a:solidFill>
                                                <a:srgbClr val="1F2937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zh-CN" sz="1350" dirty="0">
                                              <a:solidFill>
                                                <a:srgbClr val="1F2937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k</m:t>
                                          </m:r>
                                          <m:r>
                                            <m:rPr>
                                              <m:sty m:val="p"/>
                                            </m:rPr>
                                            <a:rPr lang="zh-CN" sz="1350" dirty="0">
                                              <a:solidFill>
                                                <a:srgbClr val="1F2937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+</m:t>
                                          </m:r>
                                          <m:r>
                                            <a:rPr lang="zh-CN" sz="1350" dirty="0">
                                              <a:solidFill>
                                                <a:srgbClr val="1F2937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1</m:t>
                                          </m:r>
                                        </m:e>
                                      </m:d>
                                    </m:sup>
                                  </m:sSup>
                                  <m:r>
                                    <m:rPr>
                                      <m:sty m:val="p"/>
                                    </m:rPr>
                                    <a:rPr lang="zh-CN" sz="13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−</m:t>
                                  </m:r>
                                  <m:sSup>
                                    <m:e>
                                      <m:r>
                                        <a:rPr lang="zh-CN" sz="135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y</m:t>
                                      </m:r>
                                    </m:e>
                                    <m:sup>
                                      <m:d>
                                        <m:dPr>
                                          <m:begChr m:val="("/>
                                          <m:sepChr m:val=""/>
                                          <m:endChr m:val=")"/>
                                          <m:grow m:val="on"/>
                                          <m:ctrlPr>
                                            <a:rPr lang="zh-CN" sz="1350" dirty="0">
                                              <a:solidFill>
                                                <a:srgbClr val="1F2937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zh-CN" sz="1350" dirty="0">
                                              <a:solidFill>
                                                <a:srgbClr val="1F2937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k</m:t>
                                          </m:r>
                                          <m:r>
                                            <m:rPr>
                                              <m:sty m:val="p"/>
                                            </m:rPr>
                                            <a:rPr lang="zh-CN" sz="1350" dirty="0">
                                              <a:solidFill>
                                                <a:srgbClr val="1F2937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+</m:t>
                                          </m:r>
                                          <m:r>
                                            <a:rPr lang="zh-CN" sz="1350" dirty="0">
                                              <a:solidFill>
                                                <a:srgbClr val="1F2937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1</m:t>
                                          </m:r>
                                        </m:e>
                                      </m:d>
                                    </m:sup>
                                  </m:sSup>
                                </m:e>
                              </m:d>
                              <m:r>
                                <m:rPr>
                                  <m:sty m:val="p"/>
                                </m:rPr>
                                <a:rPr lang="zh-CN" sz="13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/</m:t>
                              </m:r>
                              <m:r>
                                <a:rPr lang="zh-CN" sz="13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5</m:t>
                              </m:r>
                            </m:e>
                          </m:eqArr>
                        </m:e>
                      </m:d>
                    </m:oMath>
                  </m:oMathPara>
                </a14:m>
              </a:p>
            </p:txBody>
          </p:sp>
        </mc:Choice>
      </mc:AlternateContent>
      <p:grpSp>
        <p:nvGrpSpPr>
          <p:cNvPr id="59" name="c1-table-2"/>
          <p:cNvGrpSpPr/>
          <p:nvPr/>
        </p:nvGrpSpPr>
        <p:grpSpPr>
          <a:xfrm>
            <a:off x="528066" y="2599372"/>
            <a:ext cx="5631752" cy="3120009"/>
            <a:chOff x="528066" y="2599372"/>
            <a:chExt cx="5631752" cy="3120009"/>
          </a:xfrm>
        </p:grpSpPr>
        <p:sp>
          <p:nvSpPr>
            <p:cNvPr id="8" name="Rectangle 8"/>
            <p:cNvSpPr/>
            <p:nvPr/>
          </p:nvSpPr>
          <p:spPr>
            <a:xfrm>
              <a:off x="533400" y="2599372"/>
              <a:ext cx="5626418" cy="405765"/>
            </a:xfrm>
            <a:prstGeom prst="rect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737514" y="272367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k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478443" y="2723674"/>
              <a:ext cx="3597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x⁽ᵏ⁾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2716693" y="2723674"/>
              <a:ext cx="3597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y⁽ᵏ⁾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3954943" y="2723674"/>
              <a:ext cx="3597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z⁽ᵏ⁾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5224996" y="2723674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相邻差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737514" y="312943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834281" y="3129439"/>
              <a:ext cx="3431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1.75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3072531" y="3129439"/>
              <a:ext cx="3431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3.75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4309829" y="3129439"/>
              <a:ext cx="3431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2.95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5285306" y="3129439"/>
              <a:ext cx="3431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1.75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533400" y="3406140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0" name="Rectangle 20"/>
            <p:cNvSpPr/>
            <p:nvPr/>
          </p:nvSpPr>
          <p:spPr>
            <a:xfrm>
              <a:off x="533400" y="3410902"/>
              <a:ext cx="5626418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737514" y="353520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834281" y="3535204"/>
              <a:ext cx="3431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1.95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2823754" y="3535204"/>
              <a:ext cx="5919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3.96875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4061051" y="3535204"/>
              <a:ext cx="5919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2.98625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5243843" y="3535204"/>
              <a:ext cx="4260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0.219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533400" y="3811905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737514" y="394096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502578" y="3940969"/>
              <a:ext cx="674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1.995625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2740828" y="3940969"/>
              <a:ext cx="674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3.996094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3978125" y="3940969"/>
              <a:ext cx="674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2.999031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5077991" y="3940969"/>
              <a:ext cx="7577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4.56×10⁻²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533400" y="4217670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3" name="Rectangle 33"/>
            <p:cNvSpPr/>
            <p:nvPr/>
          </p:nvSpPr>
          <p:spPr>
            <a:xfrm>
              <a:off x="533400" y="4222432"/>
              <a:ext cx="5626418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737514" y="434673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1502578" y="4346734"/>
              <a:ext cx="674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1.999266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2740828" y="4346734"/>
              <a:ext cx="674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3.999512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3978125" y="4346734"/>
              <a:ext cx="674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2.999804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5077991" y="4346734"/>
              <a:ext cx="7577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3.64×10⁻³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533400" y="4623435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737514" y="475249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…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2083059" y="4752499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…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3321309" y="4752499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…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4558607" y="4752499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…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5409695" y="4752499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…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533400" y="5029200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6" name="Rectangle 46"/>
            <p:cNvSpPr/>
            <p:nvPr/>
          </p:nvSpPr>
          <p:spPr>
            <a:xfrm>
              <a:off x="533400" y="5033962"/>
              <a:ext cx="5626418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737514" y="515826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9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1502578" y="5158264"/>
              <a:ext cx="674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2.000000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2740828" y="5158264"/>
              <a:ext cx="674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4.000000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3978125" y="5158264"/>
              <a:ext cx="674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3.000000</a:t>
              </a:r>
            </a:p>
          </p:txBody>
        </p:sp>
        <p:sp>
          <p:nvSpPr>
            <p:cNvPr id="51" name="Rectangle 51"/>
            <p:cNvSpPr/>
            <p:nvPr/>
          </p:nvSpPr>
          <p:spPr>
            <a:xfrm>
              <a:off x="4762500" y="5043488"/>
              <a:ext cx="1387792" cy="386715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5077991" y="5158264"/>
              <a:ext cx="7577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1.48×10⁻⁷</a:t>
              </a:r>
            </a:p>
          </p:txBody>
        </p:sp>
        <p:sp>
          <p:nvSpPr>
            <p:cNvPr id="53" name="Rectangle 53"/>
            <p:cNvSpPr/>
            <p:nvPr/>
          </p:nvSpPr>
          <p:spPr>
            <a:xfrm>
              <a:off x="533400" y="2599372"/>
              <a:ext cx="5626418" cy="284035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54" name="Rectangle 54"/>
            <p:cNvSpPr/>
            <p:nvPr/>
          </p:nvSpPr>
          <p:spPr>
            <a:xfrm>
              <a:off x="1035368" y="2599372"/>
              <a:ext cx="9525" cy="284035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5" name="Rectangle 55"/>
            <p:cNvSpPr/>
            <p:nvPr/>
          </p:nvSpPr>
          <p:spPr>
            <a:xfrm>
              <a:off x="2272665" y="2599372"/>
              <a:ext cx="9525" cy="284035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6" name="Rectangle 56"/>
            <p:cNvSpPr/>
            <p:nvPr/>
          </p:nvSpPr>
          <p:spPr>
            <a:xfrm>
              <a:off x="3510915" y="2599372"/>
              <a:ext cx="9525" cy="284035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7" name="Rectangle 57"/>
            <p:cNvSpPr/>
            <p:nvPr/>
          </p:nvSpPr>
          <p:spPr>
            <a:xfrm>
              <a:off x="4748212" y="2599372"/>
              <a:ext cx="9525" cy="284035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8" name="TextBox 58"/>
            <p:cNvSpPr txBox="1"/>
            <p:nvPr/>
          </p:nvSpPr>
          <p:spPr>
            <a:xfrm>
              <a:off x="528066" y="5514022"/>
              <a:ext cx="373526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初值 (1, 2, 2)ᵀ；相邻差用 ∞-范数，第 9 次首次小于 10⁻⁶</a:t>
              </a:r>
            </a:p>
          </p:txBody>
        </p:sp>
      </p:grpSp>
      <p:grpSp>
        <p:nvGrpSpPr>
          <p:cNvPr id="79" name="c2-table-1"/>
          <p:cNvGrpSpPr/>
          <p:nvPr/>
        </p:nvGrpSpPr>
        <p:grpSpPr>
          <a:xfrm>
            <a:off x="6464618" y="1524000"/>
            <a:ext cx="5193982" cy="1217295"/>
            <a:chOff x="6464618" y="1524000"/>
            <a:chExt cx="5193982" cy="1217295"/>
          </a:xfrm>
        </p:grpSpPr>
        <p:sp>
          <p:nvSpPr>
            <p:cNvPr id="60" name="Rectangle 60"/>
            <p:cNvSpPr/>
            <p:nvPr/>
          </p:nvSpPr>
          <p:spPr>
            <a:xfrm>
              <a:off x="6464618" y="1524000"/>
              <a:ext cx="5193982" cy="405765"/>
            </a:xfrm>
            <a:prstGeom prst="rect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61" name="TextBox 61"/>
            <p:cNvSpPr txBox="1"/>
            <p:nvPr/>
          </p:nvSpPr>
          <p:spPr>
            <a:xfrm>
              <a:off x="6932016" y="1648301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方法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7989401" y="1648301"/>
              <a:ext cx="37943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‖H‖∞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9032554" y="1648301"/>
              <a:ext cx="3695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l-GR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ρ(H)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9976285" y="1648301"/>
              <a:ext cx="14939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相邻差 &lt; 10⁻⁶ 的次数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6839085" y="2054066"/>
              <a:ext cx="4988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Jacobi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8049014" y="2054066"/>
              <a:ext cx="2602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5/8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9004313" y="2054066"/>
              <a:ext cx="4260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0.335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10634604" y="2054066"/>
              <a:ext cx="1772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14</a:t>
              </a:r>
            </a:p>
          </p:txBody>
        </p:sp>
        <p:sp>
          <p:nvSpPr>
            <p:cNvPr id="69" name="Rectangle 69"/>
            <p:cNvSpPr/>
            <p:nvPr/>
          </p:nvSpPr>
          <p:spPr>
            <a:xfrm>
              <a:off x="6464618" y="2330768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0" name="Rectangle 70"/>
            <p:cNvSpPr/>
            <p:nvPr/>
          </p:nvSpPr>
          <p:spPr>
            <a:xfrm>
              <a:off x="6464618" y="2335530"/>
              <a:ext cx="5193982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71" name="TextBox 71"/>
            <p:cNvSpPr txBox="1"/>
            <p:nvPr/>
          </p:nvSpPr>
          <p:spPr>
            <a:xfrm>
              <a:off x="6594966" y="2459831"/>
              <a:ext cx="9870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Gauss-Seidel</a:t>
              </a:r>
            </a:p>
          </p:txBody>
        </p:sp>
        <p:sp>
          <p:nvSpPr>
            <p:cNvPr id="72" name="TextBox 72"/>
            <p:cNvSpPr txBox="1"/>
            <p:nvPr/>
          </p:nvSpPr>
          <p:spPr>
            <a:xfrm>
              <a:off x="8049014" y="2459831"/>
              <a:ext cx="2602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1/2</a:t>
              </a:r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9004313" y="2459831"/>
              <a:ext cx="4260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0.125</a:t>
              </a:r>
            </a:p>
          </p:txBody>
        </p:sp>
        <p:sp>
          <p:nvSpPr>
            <p:cNvPr id="74" name="TextBox 74"/>
            <p:cNvSpPr txBox="1"/>
            <p:nvPr/>
          </p:nvSpPr>
          <p:spPr>
            <a:xfrm>
              <a:off x="10673994" y="245983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9</a:t>
              </a:r>
            </a:p>
          </p:txBody>
        </p:sp>
        <p:sp>
          <p:nvSpPr>
            <p:cNvPr id="75" name="Rectangle 75"/>
            <p:cNvSpPr/>
            <p:nvPr/>
          </p:nvSpPr>
          <p:spPr>
            <a:xfrm>
              <a:off x="6464618" y="1524000"/>
              <a:ext cx="5193982" cy="121729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76" name="Rectangle 76"/>
            <p:cNvSpPr/>
            <p:nvPr/>
          </p:nvSpPr>
          <p:spPr>
            <a:xfrm>
              <a:off x="7706678" y="1524000"/>
              <a:ext cx="9525" cy="121729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7" name="Rectangle 77"/>
            <p:cNvSpPr/>
            <p:nvPr/>
          </p:nvSpPr>
          <p:spPr>
            <a:xfrm>
              <a:off x="8641080" y="1524000"/>
              <a:ext cx="9525" cy="121729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8" name="Rectangle 78"/>
            <p:cNvSpPr/>
            <p:nvPr/>
          </p:nvSpPr>
          <p:spPr>
            <a:xfrm>
              <a:off x="9784080" y="1524000"/>
              <a:ext cx="9525" cy="121729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80" name="formula216"/>
              <p:cNvSpPr txBox="1">
                <a:spLocks noGrp="1"/>
              </p:cNvSpPr>
              <p:nvPr/>
            </p:nvSpPr>
            <p:spPr>
              <a:xfrm>
                <a:off x="6464618" y="2916555"/>
                <a:ext cx="5193982" cy="66103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zh-CN" sz="14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D</m:t>
                              </m:r>
                              <m:r>
                                <m:rPr>
                                  <m:sty m:val="p"/>
                                </m:rP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−</m:t>
                              </m:r>
                              <m:r>
                                <a:rPr lang="zh-CN" sz="14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L</m:t>
                              </m:r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−</m:t>
                          </m:r>
                          <m: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p>
                      </m:sSup>
                      <m:r>
                        <a:rPr lang="zh-CN" sz="14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U</m:t>
                      </m:r>
                      <m:r>
                        <m:rPr>
                          <m:sty m:val="p"/>
                        </m:rPr>
                        <a:rPr lang="zh-CN" sz="14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d>
                        <m:dPr>
                          <m:begChr m:val="["/>
                          <m:sepChr m:val=""/>
                          <m:endChr m:val="]"/>
                          <m:grow m:val="on"/>
                          <m:ctrlP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count m:val="1"/>
                                  </m:mcPr>
                                </m:mc>
                                <m:mc>
                                  <m:mcPr>
                                    <m:count m:val="1"/>
                                  </m:mcPr>
                                </m:mc>
                                <m:mc>
                                  <m:mcPr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/</m:t>
                                </m:r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4</m:t>
                                </m:r>
                              </m:e>
                              <m:e>
                                <m:r>
                                  <m:rPr>
                                    <m:sty m:val="p"/>
                                  </m:rP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−</m:t>
                                </m:r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/</m:t>
                                </m:r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4</m:t>
                                </m:r>
                              </m:e>
                            </m:mr>
                            <m:mr>
                              <m:e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/</m:t>
                                </m:r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8</m:t>
                                </m:r>
                              </m:e>
                              <m:e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3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/</m:t>
                                </m:r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40</m:t>
                                </m:r>
                              </m:e>
                              <m:e>
                                <m:r>
                                  <m:rPr>
                                    <m:sty m:val="p"/>
                                  </m:rP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−</m:t>
                                </m:r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/</m:t>
                                </m:r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</p:txBody>
          </p:sp>
        </mc:Choice>
      </mc:AlternateContent>
      <p:grpSp>
        <p:nvGrpSpPr>
          <p:cNvPr id="87" name="c2-callout-3"/>
          <p:cNvGrpSpPr/>
          <p:nvPr/>
        </p:nvGrpSpPr>
        <p:grpSpPr>
          <a:xfrm>
            <a:off x="6464618" y="3751898"/>
            <a:ext cx="5193982" cy="729615"/>
            <a:chOff x="6464618" y="3751898"/>
            <a:chExt cx="5193982" cy="729615"/>
          </a:xfrm>
        </p:grpSpPr>
        <p:sp>
          <p:nvSpPr>
            <p:cNvPr id="81" name="Rectangle 81"/>
            <p:cNvSpPr/>
            <p:nvPr/>
          </p:nvSpPr>
          <p:spPr>
            <a:xfrm>
              <a:off x="6464618" y="3751898"/>
              <a:ext cx="5193982" cy="729615"/>
            </a:xfrm>
            <a:prstGeom prst="roundRect">
              <a:avLst>
                <a:gd name="adj" fmla="val 15666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85" name="Group 85"/>
            <p:cNvGrpSpPr/>
            <p:nvPr/>
          </p:nvGrpSpPr>
          <p:grpSpPr>
            <a:xfrm>
              <a:off x="6669405" y="4016693"/>
              <a:ext cx="200026" cy="200025"/>
              <a:chOff x="6669405" y="4016693"/>
              <a:chExt cx="200026" cy="200025"/>
            </a:xfrm>
          </p:grpSpPr>
          <p:sp>
            <p:nvSpPr>
              <p:cNvPr id="82" name="Freeform 82"/>
              <p:cNvSpPr/>
              <p:nvPr/>
            </p:nvSpPr>
            <p:spPr>
              <a:xfrm>
                <a:off x="6669405" y="4016693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83" name="Freeform 83"/>
              <p:cNvSpPr/>
              <p:nvPr/>
            </p:nvSpPr>
            <p:spPr>
              <a:xfrm>
                <a:off x="6709144" y="4061143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84" name="Freeform 84"/>
              <p:cNvSpPr/>
              <p:nvPr/>
            </p:nvSpPr>
            <p:spPr>
              <a:xfrm>
                <a:off x="6743859" y="4172268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86" name="TextBox 86"/>
            <p:cNvSpPr txBox="1"/>
            <p:nvPr/>
          </p:nvSpPr>
          <p:spPr>
            <a:xfrm>
              <a:off x="6972110" y="3898582"/>
              <a:ext cx="4128516" cy="5126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误差大约每迭代一次乘以 ρ(H)。ρ 越小收敛越快，G-S</a:t>
              </a:r>
              <a:br/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在这里每步把误差缩小到约 1/8。</a:t>
              </a:r>
            </a:p>
          </p:txBody>
        </p:sp>
      </p:grpSp>
      <p:grpSp>
        <p:nvGrpSpPr>
          <p:cNvPr id="93" name="c2-callout-4"/>
          <p:cNvGrpSpPr/>
          <p:nvPr/>
        </p:nvGrpSpPr>
        <p:grpSpPr>
          <a:xfrm>
            <a:off x="6464618" y="4656772"/>
            <a:ext cx="5193982" cy="1022032"/>
            <a:chOff x="6464618" y="4656772"/>
            <a:chExt cx="5193982" cy="1022032"/>
          </a:xfrm>
        </p:grpSpPr>
        <p:sp>
          <p:nvSpPr>
            <p:cNvPr id="88" name="Rectangle 88"/>
            <p:cNvSpPr/>
            <p:nvPr/>
          </p:nvSpPr>
          <p:spPr>
            <a:xfrm>
              <a:off x="6464618" y="4656772"/>
              <a:ext cx="5193982" cy="1022032"/>
            </a:xfrm>
            <a:prstGeom prst="roundRect">
              <a:avLst>
                <a:gd name="adj" fmla="val 11184"/>
              </a:avLst>
            </a:prstGeom>
            <a:solidFill>
              <a:srgbClr val="E3F5F1"/>
            </a:solidFill>
            <a:ln>
              <a:noFill/>
            </a:ln>
          </p:spPr>
        </p:sp>
        <p:grpSp>
          <p:nvGrpSpPr>
            <p:cNvPr id="91" name="Group 91"/>
            <p:cNvGrpSpPr/>
            <p:nvPr/>
          </p:nvGrpSpPr>
          <p:grpSpPr>
            <a:xfrm>
              <a:off x="6669405" y="5067300"/>
              <a:ext cx="200026" cy="200026"/>
              <a:chOff x="6669405" y="5067300"/>
              <a:chExt cx="200026" cy="200026"/>
            </a:xfrm>
          </p:grpSpPr>
          <p:sp>
            <p:nvSpPr>
              <p:cNvPr id="89" name="Freeform 89"/>
              <p:cNvSpPr/>
              <p:nvPr/>
            </p:nvSpPr>
            <p:spPr>
              <a:xfrm>
                <a:off x="6669405" y="5067300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  <p:sp>
            <p:nvSpPr>
              <p:cNvPr id="90" name="Freeform 90"/>
              <p:cNvSpPr/>
              <p:nvPr/>
            </p:nvSpPr>
            <p:spPr>
              <a:xfrm>
                <a:off x="6736080" y="5145088"/>
                <a:ext cx="6667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66675" h="44450">
                    <a:moveTo>
                      <a:pt x="0" y="22225"/>
                    </a:moveTo>
                    <a:lnTo>
                      <a:pt x="22225" y="44450"/>
                    </a:lnTo>
                    <a:lnTo>
                      <a:pt x="66675" y="0"/>
                    </a:ln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</p:grpSp>
        <p:sp>
          <p:nvSpPr>
            <p:cNvPr id="92" name="TextBox 92"/>
            <p:cNvSpPr txBox="1"/>
            <p:nvPr/>
          </p:nvSpPr>
          <p:spPr>
            <a:xfrm>
              <a:off x="6972110" y="4948238"/>
              <a:ext cx="3571304" cy="5126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同样迭代 5 次：Jacobi 的误差 ‖x⁽⁵⁾ − x*‖∞ ≈</a:t>
              </a:r>
              <a:br/>
              <a:r>
                <a:rPr lang="zh-CN" sz="135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5.86×10⁻³，G-S 只有约 7.30×10⁻⁵。</a:t>
              </a:r>
            </a:p>
          </p:txBody>
        </p:sp>
      </p:grpSp>
      <p:grpSp>
        <p:nvGrpSpPr>
          <p:cNvPr id="100" name="takeaway"/>
          <p:cNvGrpSpPr/>
          <p:nvPr/>
        </p:nvGrpSpPr>
        <p:grpSpPr>
          <a:xfrm>
            <a:off x="533400" y="5874068"/>
            <a:ext cx="11125200" cy="488632"/>
            <a:chOff x="533400" y="5874068"/>
            <a:chExt cx="11125200" cy="488632"/>
          </a:xfrm>
        </p:grpSpPr>
        <p:sp>
          <p:nvSpPr>
            <p:cNvPr id="94" name="Rectangle 94"/>
            <p:cNvSpPr/>
            <p:nvPr/>
          </p:nvSpPr>
          <p:spPr>
            <a:xfrm>
              <a:off x="533400" y="5874068"/>
              <a:ext cx="11125200" cy="488632"/>
            </a:xfrm>
            <a:prstGeom prst="roundRect">
              <a:avLst>
                <a:gd name="adj" fmla="val 23392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98" name="Group 98"/>
            <p:cNvGrpSpPr/>
            <p:nvPr/>
          </p:nvGrpSpPr>
          <p:grpSpPr>
            <a:xfrm>
              <a:off x="726129" y="6014203"/>
              <a:ext cx="224134" cy="192560"/>
              <a:chOff x="726129" y="6014203"/>
              <a:chExt cx="224134" cy="192560"/>
            </a:xfrm>
          </p:grpSpPr>
          <p:sp>
            <p:nvSpPr>
              <p:cNvPr id="95" name="Freeform 95"/>
              <p:cNvSpPr/>
              <p:nvPr/>
            </p:nvSpPr>
            <p:spPr>
              <a:xfrm>
                <a:off x="838200" y="6084570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96" name="Freeform 96"/>
              <p:cNvSpPr/>
              <p:nvPr/>
            </p:nvSpPr>
            <p:spPr>
              <a:xfrm>
                <a:off x="726129" y="6014203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97" name="Freeform 97"/>
              <p:cNvSpPr/>
              <p:nvPr/>
            </p:nvSpPr>
            <p:spPr>
              <a:xfrm>
                <a:off x="838200" y="616235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99" name="TextBox 99"/>
            <p:cNvSpPr txBox="1"/>
            <p:nvPr/>
          </p:nvSpPr>
          <p:spPr>
            <a:xfrm>
              <a:off x="1040892" y="6023610"/>
              <a:ext cx="75649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Gauss-Seidel 并不总比 Jacobi 好：下面的例 2.5 中 Jacobi 收敛，Gauss-Seidel 反而发散。</a:t>
              </a:r>
            </a:p>
          </p:txBody>
        </p:sp>
      </p:grpSp>
      <p:grpSp>
        <p:nvGrpSpPr>
          <p:cNvPr id="10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01" name="TextBox 101"/>
            <p:cNvSpPr txBox="1"/>
            <p:nvPr/>
          </p:nvSpPr>
          <p:spPr>
            <a:xfrm>
              <a:off x="528447" y="6581299"/>
              <a:ext cx="278038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第2章 解线性方程组的数值法（下）</a:t>
              </a:r>
            </a:p>
          </p:txBody>
        </p:sp>
        <p:sp>
          <p:nvSpPr>
            <p:cNvPr id="102" name="TextBox 102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9193428" cy="909257"/>
            <a:chOff x="520446" y="342900"/>
            <a:chExt cx="9193428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14588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6156" y="407194"/>
              <a:ext cx="22881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第2章 线性方程组（下） · 迭代法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9193428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 2.5：同一个方程组，Jacobi 收敛而 Gauss-Seidel 发散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7" name="c1-card-1"/>
          <p:cNvGrpSpPr/>
          <p:nvPr/>
        </p:nvGrpSpPr>
        <p:grpSpPr>
          <a:xfrm>
            <a:off x="533400" y="1524000"/>
            <a:ext cx="4760595" cy="4641532"/>
            <a:chOff x="533400" y="1524000"/>
            <a:chExt cx="4760595" cy="4641532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4760595" cy="4641532"/>
            </a:xfrm>
            <a:prstGeom prst="roundRect">
              <a:avLst>
                <a:gd name="adj" fmla="val 287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4374832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81050" y="1733550"/>
              <a:ext cx="642938" cy="25717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67538" y="1769269"/>
              <a:ext cx="47091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例 2.5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530668" y="1768792"/>
              <a:ext cx="28422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用两种方法求解，并分析收敛性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2" name="formula220"/>
                <p:cNvSpPr txBox="1">
                  <a:spLocks noGrp="1"/>
                </p:cNvSpPr>
                <p:nvPr/>
              </p:nvSpPr>
              <p:spPr>
                <a:xfrm>
                  <a:off x="781050" y="2105025"/>
                  <a:ext cx="4303395" cy="100012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d>
                          <m:dPr>
                            <m:begChr m:val="{"/>
                            <m:sepChr m:val=""/>
                            <m:endChr m:val=""/>
                            <m:grow m:val="on"/>
                            <m:ctrlP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eqArr>
                              <m:eqArrPr>
                                <m:baseJc m:val="center"/>
                              </m:eqArrPr>
                              <m:e>
                                <m: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&amp;</m:t>
                                </m:r>
                                <m:sSub>
                                  <m:e>
                                    <m:r>
                                      <a:rPr lang="zh-CN" sz="150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</m:e>
                                  <m:sub>
                                    <m:r>
                                      <a:rPr lang="zh-CN" sz="150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−</m:t>
                                </m:r>
                                <m: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2</m:t>
                                </m:r>
                                <m:sSub>
                                  <m:e>
                                    <m:r>
                                      <a:rPr lang="zh-CN" sz="150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</m:e>
                                  <m:sub>
                                    <m:r>
                                      <a:rPr lang="zh-CN" sz="150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+</m:t>
                                </m:r>
                                <m: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2</m:t>
                                </m:r>
                                <m:sSub>
                                  <m:e>
                                    <m:r>
                                      <a:rPr lang="zh-CN" sz="150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</m:e>
                                  <m:sub>
                                    <m:r>
                                      <a:rPr lang="zh-CN" sz="150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3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=</m:t>
                                </m:r>
                                <m: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6</m:t>
                                </m:r>
                              </m:e>
                              <m:e>
                                <m: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&amp;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−</m:t>
                                </m:r>
                                <m:sSub>
                                  <m:e>
                                    <m:r>
                                      <a:rPr lang="zh-CN" sz="150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</m:e>
                                  <m:sub>
                                    <m:r>
                                      <a:rPr lang="zh-CN" sz="150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+</m:t>
                                </m:r>
                                <m:sSub>
                                  <m:e>
                                    <m:r>
                                      <a:rPr lang="zh-CN" sz="150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</m:e>
                                  <m:sub>
                                    <m:r>
                                      <a:rPr lang="zh-CN" sz="150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−</m:t>
                                </m:r>
                                <m:sSub>
                                  <m:e>
                                    <m:r>
                                      <a:rPr lang="zh-CN" sz="150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</m:e>
                                  <m:sub>
                                    <m:r>
                                      <a:rPr lang="zh-CN" sz="150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3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=−</m:t>
                                </m:r>
                                <m: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&amp;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−</m:t>
                                </m:r>
                                <m: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2</m:t>
                                </m:r>
                                <m:sSub>
                                  <m:e>
                                    <m:r>
                                      <a:rPr lang="zh-CN" sz="150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</m:e>
                                  <m:sub>
                                    <m:r>
                                      <a:rPr lang="zh-CN" sz="150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−</m:t>
                                </m:r>
                                <m: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2</m:t>
                                </m:r>
                                <m:sSub>
                                  <m:e>
                                    <m:r>
                                      <a:rPr lang="zh-CN" sz="150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</m:e>
                                  <m:sub>
                                    <m:r>
                                      <a:rPr lang="zh-CN" sz="150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+</m:t>
                                </m:r>
                                <m:sSub>
                                  <m:e>
                                    <m:r>
                                      <a:rPr lang="zh-CN" sz="150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</m:e>
                                  <m:sub>
                                    <m:r>
                                      <a:rPr lang="zh-CN" sz="150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3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=−</m:t>
                                </m:r>
                                <m: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3</m:t>
                                </m:r>
                              </m:e>
                            </m:eqArr>
                          </m:e>
                        </m:d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13" name="TextBox 13"/>
            <p:cNvSpPr txBox="1"/>
            <p:nvPr/>
          </p:nvSpPr>
          <p:spPr>
            <a:xfrm>
              <a:off x="773430" y="3225165"/>
              <a:ext cx="86995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Jacobi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：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4" name="formula221"/>
                <p:cNvSpPr txBox="1">
                  <a:spLocks noGrp="1"/>
                </p:cNvSpPr>
                <p:nvPr/>
              </p:nvSpPr>
              <p:spPr>
                <a:xfrm>
                  <a:off x="781050" y="3535680"/>
                  <a:ext cx="4303395" cy="95059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d>
                          <m:dPr>
                            <m:begChr m:val="{"/>
                            <m:sepChr m:val=""/>
                            <m:endChr m:val=""/>
                            <m:grow m:val="on"/>
                            <m:ctrlP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eqArr>
                              <m:eqArrPr>
                                <m:baseJc m:val="center"/>
                              </m:eqArrPr>
                              <m:e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&amp;</m:t>
                                </m:r>
                                <m:sSubSup>
                                  <m:e>
                                    <m:r>
                                      <a:rPr lang="zh-CN" sz="14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</m:e>
                                  <m:sub>
                                    <m:r>
                                      <a:rPr lang="zh-CN" sz="14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1</m:t>
                                    </m:r>
                                  </m:sub>
                                  <m:sup>
                                    <m:d>
                                      <m:dPr>
                                        <m:begChr m:val="("/>
                                        <m:sepChr m:val=""/>
                                        <m:endChr m:val=")"/>
                                        <m:grow m:val="on"/>
                                        <m:ctrlPr>
                                          <a:rPr lang="zh-CN" sz="142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zh-CN" sz="142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k</m:t>
                                        </m:r>
                                        <m:r>
                                          <m:rPr>
                                            <m:sty m:val="p"/>
                                          </m:rPr>
                                          <a:rPr lang="zh-CN" sz="142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+</m:t>
                                        </m:r>
                                        <m:r>
                                          <a:rPr lang="zh-CN" sz="142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1</m:t>
                                        </m:r>
                                      </m:e>
                                    </m:d>
                                  </m:sup>
                                </m:sSubSup>
                                <m:r>
                                  <m:rPr>
                                    <m:sty m:val="p"/>
                                  </m:rP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=</m:t>
                                </m:r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6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+</m:t>
                                </m:r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2</m:t>
                                </m:r>
                                <m:sSubSup>
                                  <m:e>
                                    <m:r>
                                      <a:rPr lang="zh-CN" sz="14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</m:e>
                                  <m:sub>
                                    <m:r>
                                      <a:rPr lang="zh-CN" sz="14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2</m:t>
                                    </m:r>
                                  </m:sub>
                                  <m:sup>
                                    <m:d>
                                      <m:dPr>
                                        <m:begChr m:val="("/>
                                        <m:sepChr m:val=""/>
                                        <m:endChr m:val=")"/>
                                        <m:grow m:val="on"/>
                                        <m:ctrlPr>
                                          <a:rPr lang="zh-CN" sz="142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zh-CN" sz="142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k</m:t>
                                        </m:r>
                                      </m:e>
                                    </m:d>
                                  </m:sup>
                                </m:sSubSup>
                                <m:r>
                                  <m:rPr>
                                    <m:sty m:val="p"/>
                                  </m:rP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−</m:t>
                                </m:r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2</m:t>
                                </m:r>
                                <m:sSubSup>
                                  <m:e>
                                    <m:r>
                                      <a:rPr lang="zh-CN" sz="14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</m:e>
                                  <m:sub>
                                    <m:r>
                                      <a:rPr lang="zh-CN" sz="14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3</m:t>
                                    </m:r>
                                  </m:sub>
                                  <m:sup>
                                    <m:d>
                                      <m:dPr>
                                        <m:begChr m:val="("/>
                                        <m:sepChr m:val=""/>
                                        <m:endChr m:val=")"/>
                                        <m:grow m:val="on"/>
                                        <m:ctrlPr>
                                          <a:rPr lang="zh-CN" sz="142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zh-CN" sz="142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k</m:t>
                                        </m:r>
                                      </m:e>
                                    </m:d>
                                  </m:sup>
                                </m:sSubSup>
                              </m:e>
                              <m:e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&amp;</m:t>
                                </m:r>
                                <m:sSubSup>
                                  <m:e>
                                    <m:r>
                                      <a:rPr lang="zh-CN" sz="14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</m:e>
                                  <m:sub>
                                    <m:r>
                                      <a:rPr lang="zh-CN" sz="14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2</m:t>
                                    </m:r>
                                  </m:sub>
                                  <m:sup>
                                    <m:d>
                                      <m:dPr>
                                        <m:begChr m:val="("/>
                                        <m:sepChr m:val=""/>
                                        <m:endChr m:val=")"/>
                                        <m:grow m:val="on"/>
                                        <m:ctrlPr>
                                          <a:rPr lang="zh-CN" sz="142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zh-CN" sz="142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k</m:t>
                                        </m:r>
                                        <m:r>
                                          <m:rPr>
                                            <m:sty m:val="p"/>
                                          </m:rPr>
                                          <a:rPr lang="zh-CN" sz="142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+</m:t>
                                        </m:r>
                                        <m:r>
                                          <a:rPr lang="zh-CN" sz="142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1</m:t>
                                        </m:r>
                                      </m:e>
                                    </m:d>
                                  </m:sup>
                                </m:sSubSup>
                                <m:r>
                                  <m:rPr>
                                    <m:sty m:val="p"/>
                                  </m:rP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=−</m:t>
                                </m:r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4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+</m:t>
                                </m:r>
                                <m:sSubSup>
                                  <m:e>
                                    <m:r>
                                      <a:rPr lang="zh-CN" sz="14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</m:e>
                                  <m:sub>
                                    <m:r>
                                      <a:rPr lang="zh-CN" sz="14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1</m:t>
                                    </m:r>
                                  </m:sub>
                                  <m:sup>
                                    <m:d>
                                      <m:dPr>
                                        <m:begChr m:val="("/>
                                        <m:sepChr m:val=""/>
                                        <m:endChr m:val=")"/>
                                        <m:grow m:val="on"/>
                                        <m:ctrlPr>
                                          <a:rPr lang="zh-CN" sz="142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zh-CN" sz="142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k</m:t>
                                        </m:r>
                                      </m:e>
                                    </m:d>
                                  </m:sup>
                                </m:sSubSup>
                                <m:r>
                                  <m:rPr>
                                    <m:sty m:val="p"/>
                                  </m:rP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+</m:t>
                                </m:r>
                                <m:sSubSup>
                                  <m:e>
                                    <m:r>
                                      <a:rPr lang="zh-CN" sz="14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</m:e>
                                  <m:sub>
                                    <m:r>
                                      <a:rPr lang="zh-CN" sz="14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3</m:t>
                                    </m:r>
                                  </m:sub>
                                  <m:sup>
                                    <m:d>
                                      <m:dPr>
                                        <m:begChr m:val="("/>
                                        <m:sepChr m:val=""/>
                                        <m:endChr m:val=")"/>
                                        <m:grow m:val="on"/>
                                        <m:ctrlPr>
                                          <a:rPr lang="zh-CN" sz="142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zh-CN" sz="142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k</m:t>
                                        </m:r>
                                      </m:e>
                                    </m:d>
                                  </m:sup>
                                </m:sSubSup>
                              </m:e>
                              <m:e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&amp;</m:t>
                                </m:r>
                                <m:sSubSup>
                                  <m:e>
                                    <m:r>
                                      <a:rPr lang="zh-CN" sz="14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</m:e>
                                  <m:sub>
                                    <m:r>
                                      <a:rPr lang="zh-CN" sz="14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3</m:t>
                                    </m:r>
                                  </m:sub>
                                  <m:sup>
                                    <m:d>
                                      <m:dPr>
                                        <m:begChr m:val="("/>
                                        <m:sepChr m:val=""/>
                                        <m:endChr m:val=")"/>
                                        <m:grow m:val="on"/>
                                        <m:ctrlPr>
                                          <a:rPr lang="zh-CN" sz="142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zh-CN" sz="142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k</m:t>
                                        </m:r>
                                        <m:r>
                                          <m:rPr>
                                            <m:sty m:val="p"/>
                                          </m:rPr>
                                          <a:rPr lang="zh-CN" sz="142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+</m:t>
                                        </m:r>
                                        <m:r>
                                          <a:rPr lang="zh-CN" sz="142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1</m:t>
                                        </m:r>
                                      </m:e>
                                    </m:d>
                                  </m:sup>
                                </m:sSubSup>
                                <m:r>
                                  <m:rPr>
                                    <m:sty m:val="p"/>
                                  </m:rP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=−</m:t>
                                </m:r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3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+</m:t>
                                </m:r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2</m:t>
                                </m:r>
                                <m:sSubSup>
                                  <m:e>
                                    <m:r>
                                      <a:rPr lang="zh-CN" sz="14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</m:e>
                                  <m:sub>
                                    <m:r>
                                      <a:rPr lang="zh-CN" sz="14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1</m:t>
                                    </m:r>
                                  </m:sub>
                                  <m:sup>
                                    <m:d>
                                      <m:dPr>
                                        <m:begChr m:val="("/>
                                        <m:sepChr m:val=""/>
                                        <m:endChr m:val=")"/>
                                        <m:grow m:val="on"/>
                                        <m:ctrlPr>
                                          <a:rPr lang="zh-CN" sz="142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zh-CN" sz="142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k</m:t>
                                        </m:r>
                                      </m:e>
                                    </m:d>
                                  </m:sup>
                                </m:sSubSup>
                                <m:r>
                                  <m:rPr>
                                    <m:sty m:val="p"/>
                                  </m:rP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+</m:t>
                                </m:r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2</m:t>
                                </m:r>
                                <m:sSubSup>
                                  <m:e>
                                    <m:r>
                                      <a:rPr lang="zh-CN" sz="14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</m:e>
                                  <m:sub>
                                    <m:r>
                                      <a:rPr lang="zh-CN" sz="14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2</m:t>
                                    </m:r>
                                  </m:sub>
                                  <m:sup>
                                    <m:d>
                                      <m:dPr>
                                        <m:begChr m:val="("/>
                                        <m:sepChr m:val=""/>
                                        <m:endChr m:val=")"/>
                                        <m:grow m:val="on"/>
                                        <m:ctrlPr>
                                          <a:rPr lang="zh-CN" sz="142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zh-CN" sz="142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k</m:t>
                                        </m:r>
                                      </m:e>
                                    </m:d>
                                  </m:sup>
                                </m:sSubSup>
                              </m:e>
                            </m:eqArr>
                          </m:e>
                        </m:d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15" name="TextBox 15"/>
            <p:cNvSpPr txBox="1"/>
            <p:nvPr/>
          </p:nvSpPr>
          <p:spPr>
            <a:xfrm>
              <a:off x="773430" y="4606290"/>
              <a:ext cx="152384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Gauss-Seidel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：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6" name="formula222"/>
                <p:cNvSpPr txBox="1">
                  <a:spLocks noGrp="1"/>
                </p:cNvSpPr>
                <p:nvPr/>
              </p:nvSpPr>
              <p:spPr>
                <a:xfrm>
                  <a:off x="781050" y="4915852"/>
                  <a:ext cx="4303395" cy="95059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d>
                          <m:dPr>
                            <m:begChr m:val="{"/>
                            <m:sepChr m:val=""/>
                            <m:endChr m:val=""/>
                            <m:grow m:val="on"/>
                            <m:ctrlP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eqArr>
                              <m:eqArrPr>
                                <m:baseJc m:val="center"/>
                              </m:eqArrPr>
                              <m:e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&amp;</m:t>
                                </m:r>
                                <m:sSubSup>
                                  <m:e>
                                    <m:r>
                                      <a:rPr lang="zh-CN" sz="14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</m:e>
                                  <m:sub>
                                    <m:r>
                                      <a:rPr lang="zh-CN" sz="14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1</m:t>
                                    </m:r>
                                  </m:sub>
                                  <m:sup>
                                    <m:d>
                                      <m:dPr>
                                        <m:begChr m:val="("/>
                                        <m:sepChr m:val=""/>
                                        <m:endChr m:val=")"/>
                                        <m:grow m:val="on"/>
                                        <m:ctrlPr>
                                          <a:rPr lang="zh-CN" sz="142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zh-CN" sz="142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k</m:t>
                                        </m:r>
                                        <m:r>
                                          <m:rPr>
                                            <m:sty m:val="p"/>
                                          </m:rPr>
                                          <a:rPr lang="zh-CN" sz="142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+</m:t>
                                        </m:r>
                                        <m:r>
                                          <a:rPr lang="zh-CN" sz="142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1</m:t>
                                        </m:r>
                                      </m:e>
                                    </m:d>
                                  </m:sup>
                                </m:sSubSup>
                                <m:r>
                                  <m:rPr>
                                    <m:sty m:val="p"/>
                                  </m:rP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=</m:t>
                                </m:r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6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+</m:t>
                                </m:r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2</m:t>
                                </m:r>
                                <m:sSubSup>
                                  <m:e>
                                    <m:r>
                                      <a:rPr lang="zh-CN" sz="14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</m:e>
                                  <m:sub>
                                    <m:r>
                                      <a:rPr lang="zh-CN" sz="14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2</m:t>
                                    </m:r>
                                  </m:sub>
                                  <m:sup>
                                    <m:d>
                                      <m:dPr>
                                        <m:begChr m:val="("/>
                                        <m:sepChr m:val=""/>
                                        <m:endChr m:val=")"/>
                                        <m:grow m:val="on"/>
                                        <m:ctrlPr>
                                          <a:rPr lang="zh-CN" sz="142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zh-CN" sz="142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k</m:t>
                                        </m:r>
                                      </m:e>
                                    </m:d>
                                  </m:sup>
                                </m:sSubSup>
                                <m:r>
                                  <m:rPr>
                                    <m:sty m:val="p"/>
                                  </m:rP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−</m:t>
                                </m:r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2</m:t>
                                </m:r>
                                <m:sSubSup>
                                  <m:e>
                                    <m:r>
                                      <a:rPr lang="zh-CN" sz="14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</m:e>
                                  <m:sub>
                                    <m:r>
                                      <a:rPr lang="zh-CN" sz="14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3</m:t>
                                    </m:r>
                                  </m:sub>
                                  <m:sup>
                                    <m:d>
                                      <m:dPr>
                                        <m:begChr m:val="("/>
                                        <m:sepChr m:val=""/>
                                        <m:endChr m:val=")"/>
                                        <m:grow m:val="on"/>
                                        <m:ctrlPr>
                                          <a:rPr lang="zh-CN" sz="142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zh-CN" sz="142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k</m:t>
                                        </m:r>
                                      </m:e>
                                    </m:d>
                                  </m:sup>
                                </m:sSubSup>
                              </m:e>
                              <m:e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&amp;</m:t>
                                </m:r>
                                <m:sSubSup>
                                  <m:e>
                                    <m:r>
                                      <a:rPr lang="zh-CN" sz="14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</m:e>
                                  <m:sub>
                                    <m:r>
                                      <a:rPr lang="zh-CN" sz="14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2</m:t>
                                    </m:r>
                                  </m:sub>
                                  <m:sup>
                                    <m:d>
                                      <m:dPr>
                                        <m:begChr m:val="("/>
                                        <m:sepChr m:val=""/>
                                        <m:endChr m:val=")"/>
                                        <m:grow m:val="on"/>
                                        <m:ctrlPr>
                                          <a:rPr lang="zh-CN" sz="142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zh-CN" sz="142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k</m:t>
                                        </m:r>
                                        <m:r>
                                          <m:rPr>
                                            <m:sty m:val="p"/>
                                          </m:rPr>
                                          <a:rPr lang="zh-CN" sz="142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+</m:t>
                                        </m:r>
                                        <m:r>
                                          <a:rPr lang="zh-CN" sz="142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1</m:t>
                                        </m:r>
                                      </m:e>
                                    </m:d>
                                  </m:sup>
                                </m:sSubSup>
                                <m:r>
                                  <m:rPr>
                                    <m:sty m:val="p"/>
                                  </m:rP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=−</m:t>
                                </m:r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4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+</m:t>
                                </m:r>
                                <m:sSubSup>
                                  <m:e>
                                    <m:r>
                                      <a:rPr lang="zh-CN" sz="14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</m:e>
                                  <m:sub>
                                    <m:r>
                                      <a:rPr lang="zh-CN" sz="14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1</m:t>
                                    </m:r>
                                  </m:sub>
                                  <m:sup>
                                    <m:d>
                                      <m:dPr>
                                        <m:begChr m:val="("/>
                                        <m:sepChr m:val=""/>
                                        <m:endChr m:val=")"/>
                                        <m:grow m:val="on"/>
                                        <m:ctrlPr>
                                          <a:rPr lang="zh-CN" sz="142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zh-CN" sz="142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k</m:t>
                                        </m:r>
                                        <m:r>
                                          <m:rPr>
                                            <m:sty m:val="p"/>
                                          </m:rPr>
                                          <a:rPr lang="zh-CN" sz="142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+</m:t>
                                        </m:r>
                                        <m:r>
                                          <a:rPr lang="zh-CN" sz="142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1</m:t>
                                        </m:r>
                                      </m:e>
                                    </m:d>
                                  </m:sup>
                                </m:sSubSup>
                                <m:r>
                                  <m:rPr>
                                    <m:sty m:val="p"/>
                                  </m:rP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+</m:t>
                                </m:r>
                                <m:sSubSup>
                                  <m:e>
                                    <m:r>
                                      <a:rPr lang="zh-CN" sz="14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</m:e>
                                  <m:sub>
                                    <m:r>
                                      <a:rPr lang="zh-CN" sz="14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3</m:t>
                                    </m:r>
                                  </m:sub>
                                  <m:sup>
                                    <m:d>
                                      <m:dPr>
                                        <m:begChr m:val="("/>
                                        <m:sepChr m:val=""/>
                                        <m:endChr m:val=")"/>
                                        <m:grow m:val="on"/>
                                        <m:ctrlPr>
                                          <a:rPr lang="zh-CN" sz="142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zh-CN" sz="142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k</m:t>
                                        </m:r>
                                      </m:e>
                                    </m:d>
                                  </m:sup>
                                </m:sSubSup>
                              </m:e>
                              <m:e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&amp;</m:t>
                                </m:r>
                                <m:sSubSup>
                                  <m:e>
                                    <m:r>
                                      <a:rPr lang="zh-CN" sz="14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</m:e>
                                  <m:sub>
                                    <m:r>
                                      <a:rPr lang="zh-CN" sz="14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3</m:t>
                                    </m:r>
                                  </m:sub>
                                  <m:sup>
                                    <m:d>
                                      <m:dPr>
                                        <m:begChr m:val="("/>
                                        <m:sepChr m:val=""/>
                                        <m:endChr m:val=")"/>
                                        <m:grow m:val="on"/>
                                        <m:ctrlPr>
                                          <a:rPr lang="zh-CN" sz="142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zh-CN" sz="142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k</m:t>
                                        </m:r>
                                        <m:r>
                                          <m:rPr>
                                            <m:sty m:val="p"/>
                                          </m:rPr>
                                          <a:rPr lang="zh-CN" sz="142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+</m:t>
                                        </m:r>
                                        <m:r>
                                          <a:rPr lang="zh-CN" sz="142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1</m:t>
                                        </m:r>
                                      </m:e>
                                    </m:d>
                                  </m:sup>
                                </m:sSubSup>
                                <m:r>
                                  <m:rPr>
                                    <m:sty m:val="p"/>
                                  </m:rP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=−</m:t>
                                </m:r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3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+</m:t>
                                </m:r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2</m:t>
                                </m:r>
                                <m:sSubSup>
                                  <m:e>
                                    <m:r>
                                      <a:rPr lang="zh-CN" sz="14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</m:e>
                                  <m:sub>
                                    <m:r>
                                      <a:rPr lang="zh-CN" sz="14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1</m:t>
                                    </m:r>
                                  </m:sub>
                                  <m:sup>
                                    <m:d>
                                      <m:dPr>
                                        <m:begChr m:val="("/>
                                        <m:sepChr m:val=""/>
                                        <m:endChr m:val=")"/>
                                        <m:grow m:val="on"/>
                                        <m:ctrlPr>
                                          <a:rPr lang="zh-CN" sz="142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zh-CN" sz="142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k</m:t>
                                        </m:r>
                                        <m:r>
                                          <m:rPr>
                                            <m:sty m:val="p"/>
                                          </m:rPr>
                                          <a:rPr lang="zh-CN" sz="142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+</m:t>
                                        </m:r>
                                        <m:r>
                                          <a:rPr lang="zh-CN" sz="142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1</m:t>
                                        </m:r>
                                      </m:e>
                                    </m:d>
                                  </m:sup>
                                </m:sSubSup>
                                <m:r>
                                  <m:rPr>
                                    <m:sty m:val="p"/>
                                  </m:rP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+</m:t>
                                </m:r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2</m:t>
                                </m:r>
                                <m:sSubSup>
                                  <m:e>
                                    <m:r>
                                      <a:rPr lang="zh-CN" sz="14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</m:e>
                                  <m:sub>
                                    <m:r>
                                      <a:rPr lang="zh-CN" sz="142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2</m:t>
                                    </m:r>
                                  </m:sub>
                                  <m:sup>
                                    <m:d>
                                      <m:dPr>
                                        <m:begChr m:val="("/>
                                        <m:sepChr m:val=""/>
                                        <m:endChr m:val=")"/>
                                        <m:grow m:val="on"/>
                                        <m:ctrlPr>
                                          <a:rPr lang="zh-CN" sz="142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zh-CN" sz="142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k</m:t>
                                        </m:r>
                                        <m:r>
                                          <m:rPr>
                                            <m:sty m:val="p"/>
                                          </m:rPr>
                                          <a:rPr lang="zh-CN" sz="142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+</m:t>
                                        </m:r>
                                        <m:r>
                                          <a:rPr lang="zh-CN" sz="1420" dirty="0">
                                            <a:solidFill>
                                              <a:srgbClr val="1F2937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1</m:t>
                                        </m:r>
                                      </m:e>
                                    </m:d>
                                  </m:sup>
                                </m:sSubSup>
                              </m:e>
                            </m:eqArr>
                          </m:e>
                        </m:d>
                      </m:oMath>
                    </m:oMathPara>
                  </a14:m>
                </a:p>
              </p:txBody>
            </p:sp>
          </mc:Choice>
        </mc:AlternateContent>
      </p:grpSp>
      <p:grpSp>
        <p:nvGrpSpPr>
          <p:cNvPr id="81" name="c2-table-1"/>
          <p:cNvGrpSpPr/>
          <p:nvPr/>
        </p:nvGrpSpPr>
        <p:grpSpPr>
          <a:xfrm>
            <a:off x="5593080" y="1524000"/>
            <a:ext cx="6065520" cy="2988469"/>
            <a:chOff x="5593080" y="1524000"/>
            <a:chExt cx="6065520" cy="2988469"/>
          </a:xfrm>
        </p:grpSpPr>
        <p:sp>
          <p:nvSpPr>
            <p:cNvPr id="18" name="Rectangle 18"/>
            <p:cNvSpPr/>
            <p:nvPr/>
          </p:nvSpPr>
          <p:spPr>
            <a:xfrm>
              <a:off x="5598795" y="1524000"/>
              <a:ext cx="6059805" cy="448628"/>
            </a:xfrm>
            <a:prstGeom prst="rect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5785450" y="1659731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k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6238913" y="1659731"/>
              <a:ext cx="47807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J: x₁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026631" y="1659731"/>
              <a:ext cx="47807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J: x₂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814348" y="1659731"/>
              <a:ext cx="47807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J: x₃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8648113" y="1659731"/>
              <a:ext cx="68887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G-S: x₁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9708246" y="1659731"/>
              <a:ext cx="68887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G-S: x₂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0768378" y="1659731"/>
              <a:ext cx="68887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G-S: x₃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785450" y="2108359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424089" y="2108359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7211807" y="2108359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7999524" y="2108359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8938689" y="2108359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9998822" y="2108359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1058954" y="2108359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5598795" y="2416492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4" name="Rectangle 34"/>
            <p:cNvSpPr/>
            <p:nvPr/>
          </p:nvSpPr>
          <p:spPr>
            <a:xfrm>
              <a:off x="5598795" y="2421255"/>
              <a:ext cx="6059805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5785450" y="2556986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424089" y="2556986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7164421" y="2556986"/>
              <a:ext cx="20249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−4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7952138" y="2556986"/>
              <a:ext cx="20249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−3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8938689" y="2556986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9998822" y="2556986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11011568" y="2556986"/>
              <a:ext cx="20249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13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5598795" y="2866072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5785450" y="3005614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6424089" y="3005614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7164421" y="3005614"/>
              <a:ext cx="20249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−1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7999524" y="3005614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8843917" y="3005614"/>
              <a:ext cx="29727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−16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9951436" y="3005614"/>
              <a:ext cx="20249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−7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10964182" y="3005614"/>
              <a:ext cx="29727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−49</a:t>
              </a:r>
            </a:p>
          </p:txBody>
        </p:sp>
        <p:sp>
          <p:nvSpPr>
            <p:cNvPr id="50" name="Rectangle 50"/>
            <p:cNvSpPr/>
            <p:nvPr/>
          </p:nvSpPr>
          <p:spPr>
            <a:xfrm>
              <a:off x="5598795" y="3314700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1" name="Rectangle 51"/>
            <p:cNvSpPr/>
            <p:nvPr/>
          </p:nvSpPr>
          <p:spPr>
            <a:xfrm>
              <a:off x="5598795" y="3319462"/>
              <a:ext cx="6059805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5785450" y="3454241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53" name="Rectangle 53"/>
            <p:cNvSpPr/>
            <p:nvPr/>
          </p:nvSpPr>
          <p:spPr>
            <a:xfrm>
              <a:off x="6093142" y="3328988"/>
              <a:ext cx="768668" cy="429578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6424089" y="3454241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55" name="Rectangle 55"/>
            <p:cNvSpPr/>
            <p:nvPr/>
          </p:nvSpPr>
          <p:spPr>
            <a:xfrm>
              <a:off x="6880860" y="3328988"/>
              <a:ext cx="768668" cy="429578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56" name="TextBox 56"/>
            <p:cNvSpPr txBox="1"/>
            <p:nvPr/>
          </p:nvSpPr>
          <p:spPr>
            <a:xfrm>
              <a:off x="7211807" y="3454241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57" name="Rectangle 57"/>
            <p:cNvSpPr/>
            <p:nvPr/>
          </p:nvSpPr>
          <p:spPr>
            <a:xfrm>
              <a:off x="7668578" y="3328988"/>
              <a:ext cx="768668" cy="429578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58" name="TextBox 58"/>
            <p:cNvSpPr txBox="1"/>
            <p:nvPr/>
          </p:nvSpPr>
          <p:spPr>
            <a:xfrm>
              <a:off x="7999524" y="3454241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8891303" y="3454241"/>
              <a:ext cx="20249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90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9951436" y="3454241"/>
              <a:ext cx="20249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37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10964182" y="3454241"/>
              <a:ext cx="29727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251</a:t>
              </a:r>
            </a:p>
          </p:txBody>
        </p:sp>
        <p:sp>
          <p:nvSpPr>
            <p:cNvPr id="62" name="Rectangle 62"/>
            <p:cNvSpPr/>
            <p:nvPr/>
          </p:nvSpPr>
          <p:spPr>
            <a:xfrm>
              <a:off x="5598795" y="3763328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3" name="TextBox 63"/>
            <p:cNvSpPr txBox="1"/>
            <p:nvPr/>
          </p:nvSpPr>
          <p:spPr>
            <a:xfrm>
              <a:off x="5785450" y="3903821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6424089" y="3903821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7211807" y="3903821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7999524" y="3903821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67" name="Rectangle 67"/>
            <p:cNvSpPr/>
            <p:nvPr/>
          </p:nvSpPr>
          <p:spPr>
            <a:xfrm>
              <a:off x="8456295" y="3777615"/>
              <a:ext cx="1071562" cy="429578"/>
            </a:xfrm>
            <a:prstGeom prst="rect">
              <a:avLst/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68" name="TextBox 68"/>
            <p:cNvSpPr txBox="1"/>
            <p:nvPr/>
          </p:nvSpPr>
          <p:spPr>
            <a:xfrm>
              <a:off x="8796531" y="3903821"/>
              <a:ext cx="39204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−422</a:t>
              </a:r>
            </a:p>
          </p:txBody>
        </p:sp>
        <p:sp>
          <p:nvSpPr>
            <p:cNvPr id="69" name="Rectangle 69"/>
            <p:cNvSpPr/>
            <p:nvPr/>
          </p:nvSpPr>
          <p:spPr>
            <a:xfrm>
              <a:off x="9546908" y="3777615"/>
              <a:ext cx="1010602" cy="429578"/>
            </a:xfrm>
            <a:prstGeom prst="rect">
              <a:avLst/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70" name="TextBox 70"/>
            <p:cNvSpPr txBox="1"/>
            <p:nvPr/>
          </p:nvSpPr>
          <p:spPr>
            <a:xfrm>
              <a:off x="9856663" y="3903821"/>
              <a:ext cx="39204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−175</a:t>
              </a:r>
            </a:p>
          </p:txBody>
        </p:sp>
        <p:sp>
          <p:nvSpPr>
            <p:cNvPr id="71" name="Rectangle 71"/>
            <p:cNvSpPr/>
            <p:nvPr/>
          </p:nvSpPr>
          <p:spPr>
            <a:xfrm>
              <a:off x="10577512" y="3777615"/>
              <a:ext cx="1071562" cy="429578"/>
            </a:xfrm>
            <a:prstGeom prst="rect">
              <a:avLst/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72" name="TextBox 72"/>
            <p:cNvSpPr txBox="1"/>
            <p:nvPr/>
          </p:nvSpPr>
          <p:spPr>
            <a:xfrm>
              <a:off x="10869409" y="3903821"/>
              <a:ext cx="48681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−1197</a:t>
              </a:r>
            </a:p>
          </p:txBody>
        </p:sp>
        <p:sp>
          <p:nvSpPr>
            <p:cNvPr id="73" name="Rectangle 73"/>
            <p:cNvSpPr/>
            <p:nvPr/>
          </p:nvSpPr>
          <p:spPr>
            <a:xfrm>
              <a:off x="5598795" y="1524000"/>
              <a:ext cx="6059805" cy="2692718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74" name="Rectangle 74"/>
            <p:cNvSpPr/>
            <p:nvPr/>
          </p:nvSpPr>
          <p:spPr>
            <a:xfrm>
              <a:off x="6078855" y="1524000"/>
              <a:ext cx="9525" cy="269271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5" name="Rectangle 75"/>
            <p:cNvSpPr/>
            <p:nvPr/>
          </p:nvSpPr>
          <p:spPr>
            <a:xfrm>
              <a:off x="6866572" y="1524000"/>
              <a:ext cx="9525" cy="269271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6" name="Rectangle 76"/>
            <p:cNvSpPr/>
            <p:nvPr/>
          </p:nvSpPr>
          <p:spPr>
            <a:xfrm>
              <a:off x="7654290" y="1524000"/>
              <a:ext cx="9525" cy="269271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7" name="Rectangle 77"/>
            <p:cNvSpPr/>
            <p:nvPr/>
          </p:nvSpPr>
          <p:spPr>
            <a:xfrm>
              <a:off x="8442008" y="1524000"/>
              <a:ext cx="9525" cy="269271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8" name="Rectangle 78"/>
            <p:cNvSpPr/>
            <p:nvPr/>
          </p:nvSpPr>
          <p:spPr>
            <a:xfrm>
              <a:off x="9532620" y="1524000"/>
              <a:ext cx="9525" cy="269271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9" name="Rectangle 79"/>
            <p:cNvSpPr/>
            <p:nvPr/>
          </p:nvSpPr>
          <p:spPr>
            <a:xfrm>
              <a:off x="10563225" y="1524000"/>
              <a:ext cx="9525" cy="269271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80" name="TextBox 80"/>
            <p:cNvSpPr txBox="1"/>
            <p:nvPr/>
          </p:nvSpPr>
          <p:spPr>
            <a:xfrm>
              <a:off x="5593080" y="4292441"/>
              <a:ext cx="410495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表 2.2 两种方法都以 (0, 0, 0)ᵀ 为初值；精确解 (2, 1, 3)ᵀ</a:t>
              </a:r>
            </a:p>
          </p:txBody>
        </p:sp>
      </p:grpSp>
      <p:grpSp>
        <p:nvGrpSpPr>
          <p:cNvPr id="87" name="c2-callout-2"/>
          <p:cNvGrpSpPr/>
          <p:nvPr/>
        </p:nvGrpSpPr>
        <p:grpSpPr>
          <a:xfrm>
            <a:off x="5598795" y="4658678"/>
            <a:ext cx="6059805" cy="782955"/>
            <a:chOff x="5598795" y="4658678"/>
            <a:chExt cx="6059805" cy="782955"/>
          </a:xfrm>
        </p:grpSpPr>
        <p:sp>
          <p:nvSpPr>
            <p:cNvPr id="82" name="Rectangle 82"/>
            <p:cNvSpPr/>
            <p:nvPr/>
          </p:nvSpPr>
          <p:spPr>
            <a:xfrm>
              <a:off x="5598795" y="4658678"/>
              <a:ext cx="6059805" cy="782955"/>
            </a:xfrm>
            <a:prstGeom prst="roundRect">
              <a:avLst>
                <a:gd name="adj" fmla="val 14599"/>
              </a:avLst>
            </a:prstGeom>
            <a:solidFill>
              <a:srgbClr val="E3F5F1"/>
            </a:solidFill>
            <a:ln>
              <a:noFill/>
            </a:ln>
          </p:spPr>
        </p:sp>
        <p:grpSp>
          <p:nvGrpSpPr>
            <p:cNvPr id="85" name="Group 85"/>
            <p:cNvGrpSpPr/>
            <p:nvPr/>
          </p:nvGrpSpPr>
          <p:grpSpPr>
            <a:xfrm>
              <a:off x="5803583" y="4950143"/>
              <a:ext cx="200026" cy="200026"/>
              <a:chOff x="5803583" y="4950143"/>
              <a:chExt cx="200026" cy="200026"/>
            </a:xfrm>
          </p:grpSpPr>
          <p:sp>
            <p:nvSpPr>
              <p:cNvPr id="83" name="Freeform 83"/>
              <p:cNvSpPr/>
              <p:nvPr/>
            </p:nvSpPr>
            <p:spPr>
              <a:xfrm>
                <a:off x="5803583" y="4950143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  <p:sp>
            <p:nvSpPr>
              <p:cNvPr id="84" name="Freeform 84"/>
              <p:cNvSpPr/>
              <p:nvPr/>
            </p:nvSpPr>
            <p:spPr>
              <a:xfrm>
                <a:off x="5870258" y="5027930"/>
                <a:ext cx="6667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66675" h="44450">
                    <a:moveTo>
                      <a:pt x="0" y="22225"/>
                    </a:moveTo>
                    <a:lnTo>
                      <a:pt x="22225" y="44450"/>
                    </a:lnTo>
                    <a:lnTo>
                      <a:pt x="66675" y="0"/>
                    </a:ln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</p:grpSp>
        <p:sp>
          <p:nvSpPr>
            <p:cNvPr id="86" name="TextBox 86"/>
            <p:cNvSpPr txBox="1"/>
            <p:nvPr/>
          </p:nvSpPr>
          <p:spPr>
            <a:xfrm>
              <a:off x="6105525" y="4807268"/>
              <a:ext cx="5149215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Jacobi 第 3 次迭代就得到精确解 (2, 1, 3)ᵀ，第 4 次结果不</a:t>
              </a:r>
              <a:br/>
              <a:r>
                <a:rPr lang="zh-CN" sz="150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再变化（原课件说“迭代到第 4 次已经收敛”）。</a:t>
              </a:r>
            </a:p>
          </p:txBody>
        </p:sp>
      </p:grpSp>
      <p:grpSp>
        <p:nvGrpSpPr>
          <p:cNvPr id="94" name="c2-callout-3"/>
          <p:cNvGrpSpPr/>
          <p:nvPr/>
        </p:nvGrpSpPr>
        <p:grpSpPr>
          <a:xfrm>
            <a:off x="5598795" y="5632132"/>
            <a:ext cx="6059805" cy="533400"/>
            <a:chOff x="5598795" y="5632132"/>
            <a:chExt cx="6059805" cy="533400"/>
          </a:xfrm>
        </p:grpSpPr>
        <p:sp>
          <p:nvSpPr>
            <p:cNvPr id="88" name="Rectangle 88"/>
            <p:cNvSpPr/>
            <p:nvPr/>
          </p:nvSpPr>
          <p:spPr>
            <a:xfrm>
              <a:off x="5598795" y="5632132"/>
              <a:ext cx="6059805" cy="533400"/>
            </a:xfrm>
            <a:prstGeom prst="roundRect">
              <a:avLst>
                <a:gd name="adj" fmla="val 21429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92" name="Group 92"/>
            <p:cNvGrpSpPr/>
            <p:nvPr/>
          </p:nvGrpSpPr>
          <p:grpSpPr>
            <a:xfrm>
              <a:off x="5791524" y="5795128"/>
              <a:ext cx="224134" cy="192560"/>
              <a:chOff x="5791524" y="5795128"/>
              <a:chExt cx="224134" cy="192560"/>
            </a:xfrm>
          </p:grpSpPr>
          <p:sp>
            <p:nvSpPr>
              <p:cNvPr id="89" name="Freeform 89"/>
              <p:cNvSpPr/>
              <p:nvPr/>
            </p:nvSpPr>
            <p:spPr>
              <a:xfrm>
                <a:off x="5903595" y="5865495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90" name="Freeform 90"/>
              <p:cNvSpPr/>
              <p:nvPr/>
            </p:nvSpPr>
            <p:spPr>
              <a:xfrm>
                <a:off x="5791524" y="5795128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91" name="Freeform 91"/>
              <p:cNvSpPr/>
              <p:nvPr/>
            </p:nvSpPr>
            <p:spPr>
              <a:xfrm>
                <a:off x="5903595" y="594328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93" name="TextBox 93"/>
            <p:cNvSpPr txBox="1"/>
            <p:nvPr/>
          </p:nvSpPr>
          <p:spPr>
            <a:xfrm>
              <a:off x="6105525" y="5794058"/>
              <a:ext cx="5218141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Gauss-Seidel 的迭代值绝对值每步放大 4 到 5 倍，发散。</a:t>
              </a:r>
            </a:p>
          </p:txBody>
        </p:sp>
      </p:grpSp>
      <p:grpSp>
        <p:nvGrpSpPr>
          <p:cNvPr id="97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95" name="TextBox 95"/>
            <p:cNvSpPr txBox="1"/>
            <p:nvPr/>
          </p:nvSpPr>
          <p:spPr>
            <a:xfrm>
              <a:off x="528447" y="6581299"/>
              <a:ext cx="278038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第2章 解线性方程组的数值法（下）</a:t>
              </a:r>
            </a:p>
          </p:txBody>
        </p:sp>
        <p:sp>
          <p:nvSpPr>
            <p:cNvPr id="96" name="TextBox 96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702529" cy="909257"/>
            <a:chOff x="520446" y="342900"/>
            <a:chExt cx="7702529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14588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6156" y="407194"/>
              <a:ext cx="22881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第2章 线性方程组（下） · 迭代法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702529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 2.5 的收敛性分析：比较两个迭代矩阵的谱半径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5" name="c1-card-1"/>
          <p:cNvGrpSpPr/>
          <p:nvPr/>
        </p:nvGrpSpPr>
        <p:grpSpPr>
          <a:xfrm>
            <a:off x="533400" y="1524000"/>
            <a:ext cx="5410200" cy="3429000"/>
            <a:chOff x="533400" y="1524000"/>
            <a:chExt cx="5410200" cy="342900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10200" cy="3429000"/>
            </a:xfrm>
            <a:prstGeom prst="roundRect">
              <a:avLst>
                <a:gd name="adj" fmla="val 388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3162300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81050" y="1733550"/>
              <a:ext cx="1091565" cy="25717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51251" y="1769269"/>
              <a:ext cx="9511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Jacobi：收敛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1" name="formula227"/>
                <p:cNvSpPr txBox="1">
                  <a:spLocks noGrp="1"/>
                </p:cNvSpPr>
                <p:nvPr/>
              </p:nvSpPr>
              <p:spPr>
                <a:xfrm>
                  <a:off x="781050" y="2085975"/>
                  <a:ext cx="4953000" cy="69532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sSub>
                          <m:e>
                            <m: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M</m:t>
                            </m:r>
                          </m:e>
                          <m:sub>
                            <m: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J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zh-CN" sz="15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sSup>
                          <m:e>
                            <m: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D</m:t>
                            </m:r>
                          </m:e>
                          <m:sup>
                            <m:r>
                              <m:rPr>
                                <m:sty m:val="p"/>
                              </m:rP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−</m:t>
                            </m:r>
                            <m: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</m:sup>
                        </m:sSup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L</m:t>
                            </m:r>
                            <m:r>
                              <m:rPr>
                                <m:sty m:val="p"/>
                              </m:rP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+</m:t>
                            </m:r>
                            <m: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U</m:t>
                            </m:r>
                          </m:e>
                        </m:d>
                        <m:r>
                          <m:rPr>
                            <m:sty m:val="p"/>
                          </m:rPr>
                          <a:rPr lang="zh-CN" sz="15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d>
                          <m:dPr>
                            <m:begChr m:val="["/>
                            <m:sepChr m:val=""/>
                            <m:endChr m:val="]"/>
                            <m:grow m:val="on"/>
                            <m:ctrlP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m>
                              <m:mPr>
                                <m:baseJc m:val="center"/>
                                <m:plcHide m:val="on"/>
                                <m:mcs>
                                  <m:mc>
                                    <m:mcPr>
                                      <m:count m:val="1"/>
                                    </m:mcPr>
                                  </m:mc>
                                  <m:mc>
                                    <m:mcPr>
                                      <m:count m:val="1"/>
                                    </m:mcPr>
                                  </m:mc>
                                  <m:mc>
                                    <m:mcPr>
                                      <m:count m:val="1"/>
                                    </m:mcPr>
                                  </m:mc>
                                </m:mcs>
                              </m:mPr>
                              <m:mr>
                                <m:e>
                                  <m:r>
                                    <a:rPr lang="zh-CN" sz="15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zh-CN" sz="15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2</m:t>
                                  </m:r>
                                </m:e>
                                <m:e>
                                  <m:r>
                                    <m:rPr>
                                      <m:sty m:val="p"/>
                                    </m:rPr>
                                    <a:rPr lang="zh-CN" sz="15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−</m:t>
                                  </m:r>
                                  <m:r>
                                    <a:rPr lang="zh-CN" sz="15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2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zh-CN" sz="15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1</m:t>
                                  </m:r>
                                </m:e>
                                <m:e>
                                  <m:r>
                                    <a:rPr lang="zh-CN" sz="15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zh-CN" sz="15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1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zh-CN" sz="15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2</m:t>
                                  </m:r>
                                </m:e>
                                <m:e>
                                  <m:r>
                                    <a:rPr lang="zh-CN" sz="15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2</m:t>
                                  </m:r>
                                </m:e>
                                <m:e>
                                  <m:r>
                                    <a:rPr lang="zh-CN" sz="15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0</m:t>
                                  </m:r>
                                </m:e>
                              </m:mr>
                            </m:m>
                          </m:e>
                        </m:d>
                      </m:oMath>
                    </m:oMathPara>
                  </a14:m>
                </a:p>
              </p:txBody>
            </p:sp>
          </mc:Choice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2" name="formula228"/>
                <p:cNvSpPr txBox="1">
                  <a:spLocks noGrp="1"/>
                </p:cNvSpPr>
                <p:nvPr/>
              </p:nvSpPr>
              <p:spPr>
                <a:xfrm>
                  <a:off x="781050" y="2876550"/>
                  <a:ext cx="4953000" cy="69532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d>
                          <m:dPr>
                            <m:begChr m:val="|"/>
                            <m:sepChr m:val=""/>
                            <m:endChr m:val="|"/>
                            <m:grow m:val="on"/>
                            <m:ctrlP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sSub>
                              <m:e>
                                <m: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M</m:t>
                                </m:r>
                              </m:e>
                              <m:sub>
                                <m: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J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−</m:t>
                            </m:r>
                            <m: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λI</m:t>
                            </m:r>
                          </m:e>
                        </m:d>
                        <m:r>
                          <m:rPr>
                            <m:sty m:val="p"/>
                          </m:rPr>
                          <a:rPr lang="zh-CN" sz="15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d>
                          <m:dPr>
                            <m:begChr m:val="|"/>
                            <m:sepChr m:val=""/>
                            <m:endChr m:val="|"/>
                            <m:grow m:val="on"/>
                            <m:ctrlP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m>
                              <m:mPr>
                                <m:baseJc m:val="center"/>
                                <m:plcHide m:val="on"/>
                                <m:mcs>
                                  <m:mc>
                                    <m:mcPr>
                                      <m:count m:val="1"/>
                                    </m:mcPr>
                                  </m:mc>
                                  <m:mc>
                                    <m:mcPr>
                                      <m:count m:val="1"/>
                                    </m:mcPr>
                                  </m:mc>
                                  <m:mc>
                                    <m:mcPr>
                                      <m:count m:val="1"/>
                                    </m:mcPr>
                                  </m:mc>
                                </m:mcs>
                              </m:mPr>
                              <m:mr>
                                <m:e>
                                  <m:r>
                                    <m:rPr>
                                      <m:sty m:val="p"/>
                                    </m:rPr>
                                    <a:rPr lang="zh-CN" sz="15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−</m:t>
                                  </m:r>
                                  <m:r>
                                    <a:rPr lang="zh-CN" sz="15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λ</m:t>
                                  </m:r>
                                </m:e>
                                <m:e>
                                  <m:r>
                                    <a:rPr lang="zh-CN" sz="15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2</m:t>
                                  </m:r>
                                </m:e>
                                <m:e>
                                  <m:r>
                                    <m:rPr>
                                      <m:sty m:val="p"/>
                                    </m:rPr>
                                    <a:rPr lang="zh-CN" sz="15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−</m:t>
                                  </m:r>
                                  <m:r>
                                    <a:rPr lang="zh-CN" sz="15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2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zh-CN" sz="15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1</m:t>
                                  </m:r>
                                </m:e>
                                <m:e>
                                  <m:r>
                                    <m:rPr>
                                      <m:sty m:val="p"/>
                                    </m:rPr>
                                    <a:rPr lang="zh-CN" sz="15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−</m:t>
                                  </m:r>
                                  <m:r>
                                    <a:rPr lang="zh-CN" sz="15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λ</m:t>
                                  </m:r>
                                </m:e>
                                <m:e>
                                  <m:r>
                                    <a:rPr lang="zh-CN" sz="15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1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zh-CN" sz="15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2</m:t>
                                  </m:r>
                                </m:e>
                                <m:e>
                                  <m:r>
                                    <a:rPr lang="zh-CN" sz="15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2</m:t>
                                  </m:r>
                                </m:e>
                                <m:e>
                                  <m:r>
                                    <m:rPr>
                                      <m:sty m:val="p"/>
                                    </m:rPr>
                                    <a:rPr lang="zh-CN" sz="15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−</m:t>
                                  </m:r>
                                  <m:r>
                                    <a:rPr lang="zh-CN" sz="15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λ</m:t>
                                  </m:r>
                                </m:e>
                              </m:mr>
                            </m:m>
                          </m:e>
                        </m:d>
                        <m:r>
                          <m:rPr>
                            <m:sty m:val="p"/>
                          </m:rPr>
                          <a:rPr lang="zh-CN" sz="15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=−</m:t>
                        </m:r>
                        <m:sSup>
                          <m:e>
                            <m: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λ</m:t>
                            </m:r>
                          </m:e>
                          <m:sup>
                            <m: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3</m:t>
                            </m:r>
                          </m:sup>
                        </m:sSup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13" name="TextBox 13"/>
            <p:cNvSpPr txBox="1"/>
            <p:nvPr/>
          </p:nvSpPr>
          <p:spPr>
            <a:xfrm>
              <a:off x="773430" y="3691890"/>
              <a:ext cx="468249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即 λ₁ = λ₂ = λ₃ = 0，ρ(M_J) = 0 &lt; 1，由收敛基本定理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知 Jacobi 迭代法收敛。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774573" y="4309586"/>
              <a:ext cx="4637786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补充：还可验证 M_J³ = O，误差 x⁽³⁾ − x* = M_J³(x⁽⁰⁾ − x*)</a:t>
              </a:r>
              <a:br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= 0，所以第 3 步恰好得到精确解。</a:t>
              </a:r>
            </a:p>
          </p:txBody>
        </p:sp>
      </p:grpSp>
      <p:grpSp>
        <p:nvGrpSpPr>
          <p:cNvPr id="24" name="c2-card-1"/>
          <p:cNvGrpSpPr/>
          <p:nvPr/>
        </p:nvGrpSpPr>
        <p:grpSpPr>
          <a:xfrm>
            <a:off x="6248400" y="1524000"/>
            <a:ext cx="5410200" cy="3429000"/>
            <a:chOff x="6248400" y="1524000"/>
            <a:chExt cx="5410200" cy="3429000"/>
          </a:xfrm>
        </p:grpSpPr>
        <p:sp>
          <p:nvSpPr>
            <p:cNvPr id="16" name="Rectangle 16"/>
            <p:cNvSpPr/>
            <p:nvPr/>
          </p:nvSpPr>
          <p:spPr>
            <a:xfrm>
              <a:off x="6248400" y="1524000"/>
              <a:ext cx="5410200" cy="3429000"/>
            </a:xfrm>
            <a:prstGeom prst="roundRect">
              <a:avLst>
                <a:gd name="adj" fmla="val 388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7" name="Rectangle 17"/>
            <p:cNvSpPr/>
            <p:nvPr/>
          </p:nvSpPr>
          <p:spPr>
            <a:xfrm>
              <a:off x="6257925" y="1657350"/>
              <a:ext cx="47625" cy="3162300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18" name="Rectangle 18"/>
            <p:cNvSpPr/>
            <p:nvPr/>
          </p:nvSpPr>
          <p:spPr>
            <a:xfrm>
              <a:off x="6496050" y="1733550"/>
              <a:ext cx="1546860" cy="257175"/>
            </a:xfrm>
            <a:prstGeom prst="roundRect">
              <a:avLst>
                <a:gd name="adj" fmla="val 50000"/>
              </a:avLst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6549779" y="1769269"/>
              <a:ext cx="14394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Gauss-Seidel：发散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0" name="formula229"/>
                <p:cNvSpPr txBox="1">
                  <a:spLocks noGrp="1"/>
                </p:cNvSpPr>
                <p:nvPr/>
              </p:nvSpPr>
              <p:spPr>
                <a:xfrm>
                  <a:off x="6496050" y="2085975"/>
                  <a:ext cx="4953000" cy="69532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sSub>
                          <m:e>
                            <m: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M</m:t>
                            </m:r>
                          </m:e>
                          <m:sub>
                            <m: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G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zh-CN" sz="15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sSup>
                          <m:e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D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−</m:t>
                                </m:r>
                                <m: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L</m:t>
                                </m:r>
                              </m:e>
                            </m:d>
                          </m:e>
                          <m:sup>
                            <m:r>
                              <m:rPr>
                                <m:sty m:val="p"/>
                              </m:rP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−</m:t>
                            </m:r>
                            <m: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</m:sup>
                        </m:sSup>
                        <m:r>
                          <a:rPr lang="zh-CN" sz="15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U</m:t>
                        </m:r>
                        <m:r>
                          <m:rPr>
                            <m:sty m:val="p"/>
                          </m:rPr>
                          <a:rPr lang="zh-CN" sz="15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d>
                          <m:dPr>
                            <m:begChr m:val="["/>
                            <m:sepChr m:val=""/>
                            <m:endChr m:val="]"/>
                            <m:grow m:val="on"/>
                            <m:ctrlP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m>
                              <m:mPr>
                                <m:baseJc m:val="center"/>
                                <m:plcHide m:val="on"/>
                                <m:mcs>
                                  <m:mc>
                                    <m:mcPr>
                                      <m:count m:val="1"/>
                                    </m:mcPr>
                                  </m:mc>
                                  <m:mc>
                                    <m:mcPr>
                                      <m:count m:val="1"/>
                                    </m:mcPr>
                                  </m:mc>
                                  <m:mc>
                                    <m:mcPr>
                                      <m:count m:val="1"/>
                                    </m:mcPr>
                                  </m:mc>
                                </m:mcs>
                              </m:mPr>
                              <m:mr>
                                <m:e>
                                  <m:r>
                                    <a:rPr lang="zh-CN" sz="15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zh-CN" sz="15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2</m:t>
                                  </m:r>
                                </m:e>
                                <m:e>
                                  <m:r>
                                    <m:rPr>
                                      <m:sty m:val="p"/>
                                    </m:rPr>
                                    <a:rPr lang="zh-CN" sz="15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−</m:t>
                                  </m:r>
                                  <m:r>
                                    <a:rPr lang="zh-CN" sz="15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2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zh-CN" sz="15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zh-CN" sz="15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2</m:t>
                                  </m:r>
                                </m:e>
                                <m:e>
                                  <m:r>
                                    <m:rPr>
                                      <m:sty m:val="p"/>
                                    </m:rPr>
                                    <a:rPr lang="zh-CN" sz="15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−</m:t>
                                  </m:r>
                                  <m:r>
                                    <a:rPr lang="zh-CN" sz="15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1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zh-CN" sz="15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zh-CN" sz="15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8</m:t>
                                  </m:r>
                                </m:e>
                                <m:e>
                                  <m:r>
                                    <m:rPr>
                                      <m:sty m:val="p"/>
                                    </m:rPr>
                                    <a:rPr lang="zh-CN" sz="15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−</m:t>
                                  </m:r>
                                  <m:r>
                                    <a:rPr lang="zh-CN" sz="15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6</m:t>
                                  </m:r>
                                </m:e>
                              </m:mr>
                            </m:m>
                          </m:e>
                        </m:d>
                      </m:oMath>
                    </m:oMathPara>
                  </a14:m>
                </a:p>
              </p:txBody>
            </p:sp>
          </mc:Choice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1" name="formula230"/>
                <p:cNvSpPr txBox="1">
                  <a:spLocks noGrp="1"/>
                </p:cNvSpPr>
                <p:nvPr/>
              </p:nvSpPr>
              <p:spPr>
                <a:xfrm>
                  <a:off x="6496050" y="2876550"/>
                  <a:ext cx="4953000" cy="66103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d>
                          <m:dPr>
                            <m:begChr m:val="|"/>
                            <m:sepChr m:val=""/>
                            <m:endChr m:val="|"/>
                            <m:grow m:val="on"/>
                            <m:ctrlP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sSub>
                              <m:e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M</m:t>
                                </m:r>
                              </m:e>
                              <m:sub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G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−</m:t>
                            </m:r>
                            <m: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λI</m:t>
                            </m:r>
                          </m:e>
                        </m:d>
                        <m:r>
                          <m:rPr>
                            <m:sty m:val="p"/>
                          </m:rPr>
                          <a:rPr lang="zh-CN" sz="14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d>
                          <m:dPr>
                            <m:begChr m:val="|"/>
                            <m:sepChr m:val=""/>
                            <m:endChr m:val="|"/>
                            <m:grow m:val="on"/>
                            <m:ctrlP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m>
                              <m:mPr>
                                <m:baseJc m:val="center"/>
                                <m:plcHide m:val="on"/>
                                <m:mcs>
                                  <m:mc>
                                    <m:mcPr>
                                      <m:count m:val="1"/>
                                    </m:mcPr>
                                  </m:mc>
                                  <m:mc>
                                    <m:mcPr>
                                      <m:count m:val="1"/>
                                    </m:mcPr>
                                  </m:mc>
                                  <m:mc>
                                    <m:mcPr>
                                      <m:count m:val="1"/>
                                    </m:mcPr>
                                  </m:mc>
                                </m:mcs>
                              </m:mPr>
                              <m:mr>
                                <m:e>
                                  <m:r>
                                    <m:rPr>
                                      <m:sty m:val="p"/>
                                    </m:rPr>
                                    <a:rPr lang="zh-CN" sz="14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−</m:t>
                                  </m:r>
                                  <m:r>
                                    <a:rPr lang="zh-CN" sz="14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λ</m:t>
                                  </m:r>
                                </m:e>
                                <m:e>
                                  <m:r>
                                    <a:rPr lang="zh-CN" sz="14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2</m:t>
                                  </m:r>
                                </m:e>
                                <m:e>
                                  <m:r>
                                    <m:rPr>
                                      <m:sty m:val="p"/>
                                    </m:rPr>
                                    <a:rPr lang="zh-CN" sz="14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−</m:t>
                                  </m:r>
                                  <m:r>
                                    <a:rPr lang="zh-CN" sz="14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2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zh-CN" sz="14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zh-CN" sz="14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2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zh-CN" sz="14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−</m:t>
                                  </m:r>
                                  <m:r>
                                    <a:rPr lang="zh-CN" sz="14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λ</m:t>
                                  </m:r>
                                </m:e>
                                <m:e>
                                  <m:r>
                                    <m:rPr>
                                      <m:sty m:val="p"/>
                                    </m:rPr>
                                    <a:rPr lang="zh-CN" sz="14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−</m:t>
                                  </m:r>
                                  <m:r>
                                    <a:rPr lang="zh-CN" sz="14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1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zh-CN" sz="14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zh-CN" sz="14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8</m:t>
                                  </m:r>
                                </m:e>
                                <m:e>
                                  <m:r>
                                    <m:rPr>
                                      <m:sty m:val="p"/>
                                    </m:rPr>
                                    <a:rPr lang="zh-CN" sz="14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−</m:t>
                                  </m:r>
                                  <m:r>
                                    <a:rPr lang="zh-CN" sz="14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6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zh-CN" sz="14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−</m:t>
                                  </m:r>
                                  <m:r>
                                    <a:rPr lang="zh-CN" sz="14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λ</m:t>
                                  </m:r>
                                </m:e>
                              </m:mr>
                            </m:m>
                          </m:e>
                        </m:d>
                        <m:r>
                          <m:rPr>
                            <m:sty m:val="p"/>
                          </m:rPr>
                          <a:rPr lang="zh-CN" sz="14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=−</m:t>
                        </m:r>
                        <m:r>
                          <a:rPr lang="zh-CN" sz="14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λ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sSup>
                              <m:e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λ</m:t>
                                </m:r>
                              </m:e>
                              <m:sup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2</m:t>
                                </m:r>
                              </m:sup>
                            </m:sSup>
                            <m:r>
                              <m:rPr>
                                <m:sty m:val="p"/>
                              </m:rP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+</m:t>
                            </m:r>
                            <m: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4λ</m:t>
                            </m:r>
                            <m:r>
                              <m:rPr>
                                <m:sty m:val="p"/>
                              </m:rP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−</m:t>
                            </m:r>
                            <m: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4</m:t>
                            </m:r>
                          </m:e>
                        </m:d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22" name="TextBox 22"/>
            <p:cNvSpPr txBox="1"/>
            <p:nvPr/>
          </p:nvSpPr>
          <p:spPr>
            <a:xfrm>
              <a:off x="6488430" y="3657600"/>
              <a:ext cx="42443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即 λ₁ = 0，λ₂,₃ = −2 ± 2√2，ρ(M_G) = 2 + 2√2 ≈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4.83 &gt; 1，Gauss-Seidel 迭代法发散。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6489573" y="4274344"/>
              <a:ext cx="478604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按第 1 列展开：−λ[(2 − λ)(−6 − λ) + 8] = −λ(λ² + 4λ − 4)。</a:t>
              </a:r>
            </a:p>
          </p:txBody>
        </p:sp>
      </p:grpSp>
      <p:grpSp>
        <p:nvGrpSpPr>
          <p:cNvPr id="30" name="takeaway"/>
          <p:cNvGrpSpPr/>
          <p:nvPr/>
        </p:nvGrpSpPr>
        <p:grpSpPr>
          <a:xfrm>
            <a:off x="533400" y="5829300"/>
            <a:ext cx="11125200" cy="533400"/>
            <a:chOff x="533400" y="5829300"/>
            <a:chExt cx="11125200" cy="533400"/>
          </a:xfrm>
        </p:grpSpPr>
        <p:sp>
          <p:nvSpPr>
            <p:cNvPr id="25" name="Rectangle 25"/>
            <p:cNvSpPr/>
            <p:nvPr/>
          </p:nvSpPr>
          <p:spPr>
            <a:xfrm>
              <a:off x="533400" y="5829300"/>
              <a:ext cx="11125200" cy="533400"/>
            </a:xfrm>
            <a:prstGeom prst="roundRect">
              <a:avLst>
                <a:gd name="adj" fmla="val 21429"/>
              </a:avLst>
            </a:prstGeom>
            <a:solidFill>
              <a:srgbClr val="2E7D4F"/>
            </a:solidFill>
            <a:ln>
              <a:noFill/>
            </a:ln>
          </p:spPr>
        </p:sp>
        <p:grpSp>
          <p:nvGrpSpPr>
            <p:cNvPr id="28" name="Group 28"/>
            <p:cNvGrpSpPr/>
            <p:nvPr/>
          </p:nvGrpSpPr>
          <p:grpSpPr>
            <a:xfrm>
              <a:off x="738188" y="5995990"/>
              <a:ext cx="200023" cy="200023"/>
              <a:chOff x="738188" y="5995990"/>
              <a:chExt cx="200023" cy="200023"/>
            </a:xfrm>
          </p:grpSpPr>
          <p:sp>
            <p:nvSpPr>
              <p:cNvPr id="26" name="Freeform 26"/>
              <p:cNvSpPr/>
              <p:nvPr/>
            </p:nvSpPr>
            <p:spPr>
              <a:xfrm>
                <a:off x="738188" y="599599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27" name="Freeform 27"/>
              <p:cNvSpPr/>
              <p:nvPr/>
            </p:nvSpPr>
            <p:spPr>
              <a:xfrm>
                <a:off x="871538" y="606266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29" name="TextBox 29"/>
            <p:cNvSpPr txBox="1"/>
            <p:nvPr/>
          </p:nvSpPr>
          <p:spPr>
            <a:xfrm>
              <a:off x="1040130" y="5991225"/>
              <a:ext cx="922858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判断收敛要看谱半径：这里 ‖M_J‖∞ = 4 &gt; 1，用范数判据得不出结论，算出 ρ(M_J) = 0 才知道收敛。</a:t>
              </a:r>
            </a:p>
          </p:txBody>
        </p:sp>
      </p:grpSp>
      <p:grpSp>
        <p:nvGrpSpPr>
          <p:cNvPr id="3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31" name="TextBox 31"/>
            <p:cNvSpPr txBox="1"/>
            <p:nvPr/>
          </p:nvSpPr>
          <p:spPr>
            <a:xfrm>
              <a:off x="528447" y="6581299"/>
              <a:ext cx="278038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第2章 解线性方程组的数值法（下）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9520403" cy="909257"/>
            <a:chOff x="520446" y="342900"/>
            <a:chExt cx="9520403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14588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6156" y="407194"/>
              <a:ext cx="22881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第2章 线性方程组（下） · 迭代法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9520403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Jacobi 与 Gauss-Seidel 谁收敛要具体计算；常用的充分条件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38" name="c1-table-1"/>
          <p:cNvGrpSpPr/>
          <p:nvPr/>
        </p:nvGrpSpPr>
        <p:grpSpPr>
          <a:xfrm>
            <a:off x="527685" y="1524000"/>
            <a:ext cx="6281737" cy="2446497"/>
            <a:chOff x="527685" y="1524000"/>
            <a:chExt cx="6281737" cy="2446497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6276022" cy="430530"/>
            </a:xfrm>
            <a:prstGeom prst="rect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1226058" y="1655445"/>
              <a:ext cx="49682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方程组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2621928" y="1655445"/>
              <a:ext cx="59306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l-GR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ρ(H_J)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625863" y="1655445"/>
              <a:ext cx="59306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l-GR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ρ(H_G)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5449252" y="1655445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结论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638746" y="2085022"/>
              <a:ext cx="104001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 2.4 原次序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2734666" y="2085022"/>
              <a:ext cx="36758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3.10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738601" y="2085022"/>
              <a:ext cx="36758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8.35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4529709" y="2085022"/>
              <a:ext cx="8199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两者都发散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533400" y="2379345"/>
              <a:ext cx="627602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533400" y="2384108"/>
              <a:ext cx="6276022" cy="43053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638746" y="2515552"/>
              <a:ext cx="120156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 2.4 调换次序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2690241" y="2515552"/>
              <a:ext cx="45643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0.335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694176" y="2515552"/>
              <a:ext cx="45643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0.125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4529709" y="2515552"/>
              <a:ext cx="133094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都收敛，G-S 更快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533400" y="2809875"/>
              <a:ext cx="627602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638746" y="2946082"/>
              <a:ext cx="50449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 2.5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2867939" y="2946082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3738601" y="2946082"/>
              <a:ext cx="36758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4.83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4529709" y="2946082"/>
              <a:ext cx="169903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Jacobi 收敛，G-S 发散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533400" y="3239452"/>
              <a:ext cx="627602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8" name="Rectangle 28"/>
            <p:cNvSpPr/>
            <p:nvPr/>
          </p:nvSpPr>
          <p:spPr>
            <a:xfrm>
              <a:off x="533400" y="3244215"/>
              <a:ext cx="6276022" cy="43053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38746" y="3375660"/>
              <a:ext cx="115067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2.2 节消元例题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2867939" y="3375660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3694176" y="3375660"/>
              <a:ext cx="45643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0.473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4529709" y="3375660"/>
              <a:ext cx="186057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Jacobi 不收敛，G-S 收敛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533400" y="1524000"/>
              <a:ext cx="6276022" cy="215074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34" name="Rectangle 34"/>
            <p:cNvSpPr/>
            <p:nvPr/>
          </p:nvSpPr>
          <p:spPr>
            <a:xfrm>
              <a:off x="2411730" y="1524000"/>
              <a:ext cx="9525" cy="215074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5" name="Rectangle 35"/>
            <p:cNvSpPr/>
            <p:nvPr/>
          </p:nvSpPr>
          <p:spPr>
            <a:xfrm>
              <a:off x="3415665" y="1524000"/>
              <a:ext cx="9525" cy="215074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6" name="Rectangle 36"/>
            <p:cNvSpPr/>
            <p:nvPr/>
          </p:nvSpPr>
          <p:spPr>
            <a:xfrm>
              <a:off x="4419600" y="1524000"/>
              <a:ext cx="9525" cy="215074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527685" y="3750469"/>
              <a:ext cx="431603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最后一行是上一节的方程组 3x₁ + 2x₂ + x₃ = 39 等（补充计算）</a:t>
              </a:r>
            </a:p>
          </p:txBody>
        </p:sp>
      </p:grpSp>
      <p:grpSp>
        <p:nvGrpSpPr>
          <p:cNvPr id="47" name="c1-card-2"/>
          <p:cNvGrpSpPr/>
          <p:nvPr/>
        </p:nvGrpSpPr>
        <p:grpSpPr>
          <a:xfrm>
            <a:off x="533400" y="4111942"/>
            <a:ext cx="6276022" cy="2137410"/>
            <a:chOff x="533400" y="4111942"/>
            <a:chExt cx="6276022" cy="2137410"/>
          </a:xfrm>
        </p:grpSpPr>
        <p:sp>
          <p:nvSpPr>
            <p:cNvPr id="39" name="Rectangle 39"/>
            <p:cNvSpPr/>
            <p:nvPr/>
          </p:nvSpPr>
          <p:spPr>
            <a:xfrm>
              <a:off x="533400" y="4111942"/>
              <a:ext cx="6276022" cy="2137410"/>
            </a:xfrm>
            <a:prstGeom prst="roundRect">
              <a:avLst>
                <a:gd name="adj" fmla="val 623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0" name="Rectangle 40"/>
            <p:cNvSpPr/>
            <p:nvPr/>
          </p:nvSpPr>
          <p:spPr>
            <a:xfrm>
              <a:off x="542925" y="4245292"/>
              <a:ext cx="47625" cy="1870710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41" name="Rectangle 41"/>
            <p:cNvSpPr/>
            <p:nvPr/>
          </p:nvSpPr>
          <p:spPr>
            <a:xfrm>
              <a:off x="775335" y="4315778"/>
              <a:ext cx="2761298" cy="25717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798299" y="4351496"/>
              <a:ext cx="27163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2.2 节例题的两种迭代（初值 0，补充）</a:t>
              </a:r>
            </a:p>
          </p:txBody>
        </p:sp>
        <p:sp>
          <p:nvSpPr>
            <p:cNvPr id="43" name="Ellipse 43"/>
            <p:cNvSpPr/>
            <p:nvPr/>
          </p:nvSpPr>
          <p:spPr>
            <a:xfrm>
              <a:off x="782955" y="4748212"/>
              <a:ext cx="60960" cy="6096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939546" y="4688681"/>
              <a:ext cx="5424678" cy="82162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H_J 的特征值为 −1、1/3、2/3，ρ(H_J) = 1。Jacobi 的奇、偶次迭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代来回摆动：x⁽¹⁾ ≈ (13, 11.3, 8.7)，x⁽²⁾ ≈ (2.6, −0.2,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−3.2)，x⁽³⁾ ≈ (14.2, 10.7, 8.0)，不收敛</a:t>
              </a:r>
            </a:p>
          </p:txBody>
        </p:sp>
        <p:sp>
          <p:nvSpPr>
            <p:cNvPr id="45" name="Ellipse 45"/>
            <p:cNvSpPr/>
            <p:nvPr/>
          </p:nvSpPr>
          <p:spPr>
            <a:xfrm>
              <a:off x="782955" y="5611177"/>
              <a:ext cx="60960" cy="6096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939546" y="5551646"/>
              <a:ext cx="5271389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ρ(H_G) = (17 + √73)/54 ≈ 0.473，G-S 第 20 次误差约 10⁻⁶，收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敛到 (37/4, 17/4, 11/4)</a:t>
              </a:r>
            </a:p>
          </p:txBody>
        </p:sp>
      </p:grpSp>
      <p:grpSp>
        <p:nvGrpSpPr>
          <p:cNvPr id="56" name="c2-card-1"/>
          <p:cNvGrpSpPr/>
          <p:nvPr/>
        </p:nvGrpSpPr>
        <p:grpSpPr>
          <a:xfrm>
            <a:off x="7114222" y="1524000"/>
            <a:ext cx="4544378" cy="1876425"/>
            <a:chOff x="7114222" y="1524000"/>
            <a:chExt cx="4544378" cy="1876425"/>
          </a:xfrm>
        </p:grpSpPr>
        <p:sp>
          <p:nvSpPr>
            <p:cNvPr id="48" name="Rectangle 48"/>
            <p:cNvSpPr/>
            <p:nvPr/>
          </p:nvSpPr>
          <p:spPr>
            <a:xfrm>
              <a:off x="7114222" y="1524000"/>
              <a:ext cx="4544378" cy="1876425"/>
            </a:xfrm>
            <a:prstGeom prst="roundRect">
              <a:avLst>
                <a:gd name="adj" fmla="val 7107"/>
              </a:avLst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49" name="Rectangle 49"/>
            <p:cNvSpPr/>
            <p:nvPr/>
          </p:nvSpPr>
          <p:spPr>
            <a:xfrm>
              <a:off x="7318058" y="1727835"/>
              <a:ext cx="1631632" cy="257175"/>
            </a:xfrm>
            <a:prstGeom prst="roundRect">
              <a:avLst>
                <a:gd name="adj" fmla="val 50000"/>
              </a:avLst>
            </a:prstGeom>
            <a:solidFill>
              <a:srgbClr val="23613D"/>
            </a:solidFill>
            <a:ln>
              <a:noFill/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7373810" y="1763554"/>
              <a:ext cx="1519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常用充分条件（补充）</a:t>
              </a:r>
            </a:p>
          </p:txBody>
        </p:sp>
        <p:sp>
          <p:nvSpPr>
            <p:cNvPr id="51" name="Ellipse 51"/>
            <p:cNvSpPr/>
            <p:nvPr/>
          </p:nvSpPr>
          <p:spPr>
            <a:xfrm>
              <a:off x="7325677" y="2161222"/>
              <a:ext cx="60960" cy="6096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7482268" y="2100739"/>
              <a:ext cx="3594227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A 严格对角占优（每行 |aᵢᵢ| &gt; Σⱼ≠ᵢ |aᵢⱼ|）⇒</a:t>
              </a:r>
              <a:br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Jacobi 与 Gauss-Seidel 都收敛</a:t>
              </a:r>
            </a:p>
          </p:txBody>
        </p:sp>
        <p:sp>
          <p:nvSpPr>
            <p:cNvPr id="53" name="Ellipse 53"/>
            <p:cNvSpPr/>
            <p:nvPr/>
          </p:nvSpPr>
          <p:spPr>
            <a:xfrm>
              <a:off x="7325677" y="2752725"/>
              <a:ext cx="60960" cy="6096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7482268" y="2692241"/>
              <a:ext cx="279123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A 对称正定 ⇒ Gauss-Seidel 收敛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7311962" y="3008948"/>
              <a:ext cx="340461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条件不满足时不能断定发散，只能计算谱半径。</a:t>
              </a:r>
            </a:p>
          </p:txBody>
        </p:sp>
      </p:grpSp>
      <p:grpSp>
        <p:nvGrpSpPr>
          <p:cNvPr id="65" name="c2-card-2"/>
          <p:cNvGrpSpPr/>
          <p:nvPr/>
        </p:nvGrpSpPr>
        <p:grpSpPr>
          <a:xfrm>
            <a:off x="7114222" y="3585210"/>
            <a:ext cx="4544378" cy="2664142"/>
            <a:chOff x="7114222" y="3585210"/>
            <a:chExt cx="4544378" cy="2664142"/>
          </a:xfrm>
        </p:grpSpPr>
        <p:sp>
          <p:nvSpPr>
            <p:cNvPr id="57" name="Rectangle 57"/>
            <p:cNvSpPr/>
            <p:nvPr/>
          </p:nvSpPr>
          <p:spPr>
            <a:xfrm>
              <a:off x="7114222" y="3585210"/>
              <a:ext cx="4544378" cy="2664142"/>
            </a:xfrm>
            <a:prstGeom prst="roundRect">
              <a:avLst>
                <a:gd name="adj" fmla="val 5005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58" name="Rectangle 58"/>
            <p:cNvSpPr/>
            <p:nvPr/>
          </p:nvSpPr>
          <p:spPr>
            <a:xfrm>
              <a:off x="7123748" y="3718560"/>
              <a:ext cx="47625" cy="2397442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59" name="Rectangle 59"/>
            <p:cNvSpPr/>
            <p:nvPr/>
          </p:nvSpPr>
          <p:spPr>
            <a:xfrm>
              <a:off x="7356158" y="3789045"/>
              <a:ext cx="778192" cy="25717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60" name="TextBox 60"/>
            <p:cNvSpPr txBox="1"/>
            <p:nvPr/>
          </p:nvSpPr>
          <p:spPr>
            <a:xfrm>
              <a:off x="7437514" y="3824764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对照上表</a:t>
              </a:r>
            </a:p>
          </p:txBody>
        </p:sp>
        <p:sp>
          <p:nvSpPr>
            <p:cNvPr id="61" name="Ellipse 61"/>
            <p:cNvSpPr/>
            <p:nvPr/>
          </p:nvSpPr>
          <p:spPr>
            <a:xfrm>
              <a:off x="7363777" y="4222432"/>
              <a:ext cx="60960" cy="6096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62" name="TextBox 62"/>
            <p:cNvSpPr txBox="1"/>
            <p:nvPr/>
          </p:nvSpPr>
          <p:spPr>
            <a:xfrm>
              <a:off x="7520368" y="4161949"/>
              <a:ext cx="3666363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 2.4 调换次序后严格对角占优，两种方法都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收敛</a:t>
              </a:r>
            </a:p>
          </p:txBody>
        </p:sp>
        <p:sp>
          <p:nvSpPr>
            <p:cNvPr id="63" name="Ellipse 63"/>
            <p:cNvSpPr/>
            <p:nvPr/>
          </p:nvSpPr>
          <p:spPr>
            <a:xfrm>
              <a:off x="7363777" y="4813935"/>
              <a:ext cx="60960" cy="60960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64" name="TextBox 64"/>
            <p:cNvSpPr txBox="1"/>
            <p:nvPr/>
          </p:nvSpPr>
          <p:spPr>
            <a:xfrm>
              <a:off x="7520368" y="4753451"/>
              <a:ext cx="3774567" cy="82162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 2.5 和 2.2 节例题都不是严格对角占优（后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者每行 |aᵢᵢ| 恰好等于其余元素绝对值之和），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结论只能靠 ρ 判断</a:t>
              </a:r>
            </a:p>
          </p:txBody>
        </p:sp>
      </p:grpSp>
      <p:grpSp>
        <p:nvGrpSpPr>
          <p:cNvPr id="68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6" name="TextBox 66"/>
            <p:cNvSpPr txBox="1"/>
            <p:nvPr/>
          </p:nvSpPr>
          <p:spPr>
            <a:xfrm>
              <a:off x="528447" y="6581299"/>
              <a:ext cx="278038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第2章 解线性方程组的数值法（下）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2427542" cy="909257"/>
            <a:chOff x="520446" y="342900"/>
            <a:chExt cx="2427542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14588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6156" y="407194"/>
              <a:ext cx="22881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第2章 线性方程组（下） · 迭代法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1055751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自测题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2" name="c1-card-1"/>
          <p:cNvGrpSpPr/>
          <p:nvPr/>
        </p:nvGrpSpPr>
        <p:grpSpPr>
          <a:xfrm>
            <a:off x="533400" y="1524000"/>
            <a:ext cx="3505200" cy="1865948"/>
            <a:chOff x="533400" y="1524000"/>
            <a:chExt cx="3505200" cy="1865948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3505200" cy="1865948"/>
            </a:xfrm>
            <a:prstGeom prst="roundRect">
              <a:avLst>
                <a:gd name="adj" fmla="val 7147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737235" y="1727835"/>
              <a:ext cx="403860" cy="257175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824722" y="1763554"/>
              <a:ext cx="22888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Q1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729996" y="2100739"/>
              <a:ext cx="2828684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求 x = (3, −4, 0)ᵀ 的 1、2、∞ 范</a:t>
              </a:r>
              <a:br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数。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29996" y="2692241"/>
              <a:ext cx="2692527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‖x‖₁ = 7，‖x‖₂ = 5，‖x‖∞ =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4。</a:t>
              </a:r>
            </a:p>
          </p:txBody>
        </p:sp>
      </p:grpSp>
      <p:grpSp>
        <p:nvGrpSpPr>
          <p:cNvPr id="18" name="c1-card-2"/>
          <p:cNvGrpSpPr/>
          <p:nvPr/>
        </p:nvGrpSpPr>
        <p:grpSpPr>
          <a:xfrm>
            <a:off x="533400" y="3575685"/>
            <a:ext cx="3505200" cy="2680335"/>
            <a:chOff x="533400" y="3575685"/>
            <a:chExt cx="3505200" cy="2680335"/>
          </a:xfrm>
        </p:grpSpPr>
        <p:sp>
          <p:nvSpPr>
            <p:cNvPr id="13" name="Rectangle 13"/>
            <p:cNvSpPr/>
            <p:nvPr/>
          </p:nvSpPr>
          <p:spPr>
            <a:xfrm>
              <a:off x="533400" y="3575685"/>
              <a:ext cx="3505200" cy="2680335"/>
            </a:xfrm>
            <a:prstGeom prst="roundRect">
              <a:avLst>
                <a:gd name="adj" fmla="val 4975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4" name="Rectangle 14"/>
            <p:cNvSpPr/>
            <p:nvPr/>
          </p:nvSpPr>
          <p:spPr>
            <a:xfrm>
              <a:off x="737235" y="3779520"/>
              <a:ext cx="403860" cy="257175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824722" y="3815239"/>
              <a:ext cx="22888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Q4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29996" y="4152424"/>
              <a:ext cx="2970251" cy="82162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10x − y = 9，−x + 10y = 9，从 0 出</a:t>
              </a:r>
              <a:br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发用 Jacobi 迭代。按事前估计，几</a:t>
              </a:r>
              <a:br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次后误差（∞-范数）小于 10⁻⁴？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729996" y="5015389"/>
              <a:ext cx="2755646" cy="109308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‖H_J‖∞ = 0.1，x⁽¹⁾ = (0.9,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0.9)ᵀ，上界 0.1ᵏ/(1 − 0.1) ×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0.9 = 0.1ᵏ &lt; 10⁻⁴，k ≥ 5（k = 4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时恰为 10⁻⁴）。</a:t>
              </a:r>
            </a:p>
          </p:txBody>
        </p:sp>
      </p:grpSp>
      <p:grpSp>
        <p:nvGrpSpPr>
          <p:cNvPr id="24" name="c2-card-1"/>
          <p:cNvGrpSpPr/>
          <p:nvPr/>
        </p:nvGrpSpPr>
        <p:grpSpPr>
          <a:xfrm>
            <a:off x="4343400" y="1524000"/>
            <a:ext cx="3505200" cy="2137410"/>
            <a:chOff x="4343400" y="1524000"/>
            <a:chExt cx="3505200" cy="2137410"/>
          </a:xfrm>
        </p:grpSpPr>
        <p:sp>
          <p:nvSpPr>
            <p:cNvPr id="19" name="Rectangle 19"/>
            <p:cNvSpPr/>
            <p:nvPr/>
          </p:nvSpPr>
          <p:spPr>
            <a:xfrm>
              <a:off x="4343400" y="1524000"/>
              <a:ext cx="3505200" cy="2137410"/>
            </a:xfrm>
            <a:prstGeom prst="roundRect">
              <a:avLst>
                <a:gd name="adj" fmla="val 6239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0" name="Rectangle 20"/>
            <p:cNvSpPr/>
            <p:nvPr/>
          </p:nvSpPr>
          <p:spPr>
            <a:xfrm>
              <a:off x="4547235" y="1727835"/>
              <a:ext cx="403860" cy="257175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4634722" y="1763554"/>
              <a:ext cx="22888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Q2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4539996" y="2100739"/>
              <a:ext cx="2666829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 = [1 −2; 3 0]，求 ‖A‖₁、‖A‖</a:t>
              </a:r>
              <a:br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∞，并验证 ρ(A) 不超过它们。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4539996" y="2692241"/>
              <a:ext cx="2926969" cy="82162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列和 4、2，‖A‖₁ = 4；行和 3、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3，‖A‖∞ = 3。特征值 (1 ± i√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23)/2，模为 √6 ≈ 2.449 ≤ 3。</a:t>
              </a:r>
            </a:p>
          </p:txBody>
        </p:sp>
      </p:grpSp>
      <p:grpSp>
        <p:nvGrpSpPr>
          <p:cNvPr id="30" name="c2-card-2"/>
          <p:cNvGrpSpPr/>
          <p:nvPr/>
        </p:nvGrpSpPr>
        <p:grpSpPr>
          <a:xfrm>
            <a:off x="4343400" y="3847148"/>
            <a:ext cx="3505200" cy="2408872"/>
            <a:chOff x="4343400" y="3847148"/>
            <a:chExt cx="3505200" cy="2408872"/>
          </a:xfrm>
        </p:grpSpPr>
        <p:sp>
          <p:nvSpPr>
            <p:cNvPr id="25" name="Rectangle 25"/>
            <p:cNvSpPr/>
            <p:nvPr/>
          </p:nvSpPr>
          <p:spPr>
            <a:xfrm>
              <a:off x="4343400" y="3847148"/>
              <a:ext cx="3505200" cy="2408872"/>
            </a:xfrm>
            <a:prstGeom prst="roundRect">
              <a:avLst>
                <a:gd name="adj" fmla="val 5536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6" name="Rectangle 26"/>
            <p:cNvSpPr/>
            <p:nvPr/>
          </p:nvSpPr>
          <p:spPr>
            <a:xfrm>
              <a:off x="4547235" y="4050982"/>
              <a:ext cx="403860" cy="257175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34722" y="4086701"/>
              <a:ext cx="22888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Q5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4539996" y="4423886"/>
              <a:ext cx="2821470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某迭代矩阵 ‖H‖∞ = 1.2，能否断定</a:t>
              </a:r>
              <a:br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迭代发散？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4539996" y="5015389"/>
              <a:ext cx="2899918" cy="82162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不能。范数判据只是充分条件，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要看 ρ(H) 是否小于 1（如例 2.5 中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‖M_J‖∞ = 4 仍收敛）。</a:t>
              </a:r>
            </a:p>
          </p:txBody>
        </p:sp>
      </p:grpSp>
      <p:grpSp>
        <p:nvGrpSpPr>
          <p:cNvPr id="36" name="c3-card-1"/>
          <p:cNvGrpSpPr/>
          <p:nvPr/>
        </p:nvGrpSpPr>
        <p:grpSpPr>
          <a:xfrm>
            <a:off x="8153400" y="1524000"/>
            <a:ext cx="3505200" cy="2408872"/>
            <a:chOff x="8153400" y="1524000"/>
            <a:chExt cx="3505200" cy="2408872"/>
          </a:xfrm>
        </p:grpSpPr>
        <p:sp>
          <p:nvSpPr>
            <p:cNvPr id="31" name="Rectangle 31"/>
            <p:cNvSpPr/>
            <p:nvPr/>
          </p:nvSpPr>
          <p:spPr>
            <a:xfrm>
              <a:off x="8153400" y="1524000"/>
              <a:ext cx="3505200" cy="2408872"/>
            </a:xfrm>
            <a:prstGeom prst="roundRect">
              <a:avLst>
                <a:gd name="adj" fmla="val 5536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8357235" y="1727835"/>
              <a:ext cx="403860" cy="257175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44722" y="1763554"/>
              <a:ext cx="22888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Q3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8349996" y="2100739"/>
              <a:ext cx="2694781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 = [1 1; 1 1.0001]，求 Cond∞</a:t>
              </a:r>
              <a:br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(A)，判断是否病态。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8349996" y="2692241"/>
              <a:ext cx="2872867" cy="109308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en-US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A⁻¹ = [10001 −10000; −10000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10000]，‖A⁻¹‖∞ = 20001，‖A‖∞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= 2.0001，Cond∞ ≈ 40004，严重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病态。</a:t>
              </a:r>
            </a:p>
          </p:txBody>
        </p:sp>
      </p:grpSp>
      <p:grpSp>
        <p:nvGrpSpPr>
          <p:cNvPr id="42" name="c3-card-2"/>
          <p:cNvGrpSpPr/>
          <p:nvPr/>
        </p:nvGrpSpPr>
        <p:grpSpPr>
          <a:xfrm>
            <a:off x="8153400" y="4118610"/>
            <a:ext cx="3505200" cy="2137410"/>
            <a:chOff x="8153400" y="4118610"/>
            <a:chExt cx="3505200" cy="2137410"/>
          </a:xfrm>
        </p:grpSpPr>
        <p:sp>
          <p:nvSpPr>
            <p:cNvPr id="37" name="Rectangle 37"/>
            <p:cNvSpPr/>
            <p:nvPr/>
          </p:nvSpPr>
          <p:spPr>
            <a:xfrm>
              <a:off x="8153400" y="4118610"/>
              <a:ext cx="3505200" cy="2137410"/>
            </a:xfrm>
            <a:prstGeom prst="roundRect">
              <a:avLst>
                <a:gd name="adj" fmla="val 6239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8" name="Rectangle 38"/>
            <p:cNvSpPr/>
            <p:nvPr/>
          </p:nvSpPr>
          <p:spPr>
            <a:xfrm>
              <a:off x="8357235" y="4322445"/>
              <a:ext cx="403860" cy="257175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8444722" y="4358164"/>
              <a:ext cx="22888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Q6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8349996" y="4695349"/>
              <a:ext cx="2762409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Gauss-Seidel 是否一定比 Jacobi</a:t>
              </a:r>
              <a:br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收敛快？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8349996" y="5286851"/>
              <a:ext cx="2881884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不一定。例 2.5 中 Jacobi 收敛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而 G-S 发散；2.2 节例题则相反。</a:t>
              </a:r>
            </a:p>
          </p:txBody>
        </p:sp>
      </p:grpSp>
      <p:grpSp>
        <p:nvGrpSpPr>
          <p:cNvPr id="45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3" name="TextBox 43"/>
            <p:cNvSpPr txBox="1"/>
            <p:nvPr/>
          </p:nvSpPr>
          <p:spPr>
            <a:xfrm>
              <a:off x="528447" y="6581299"/>
              <a:ext cx="278038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第2章 解线性方程组的数值法（下）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2428875" cy="909257"/>
            <a:chOff x="520446" y="342900"/>
            <a:chExt cx="2428875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816418" cy="266700"/>
            </a:xfrm>
            <a:prstGeom prst="roundRect">
              <a:avLst>
                <a:gd name="adj" fmla="val 50000"/>
              </a:avLst>
            </a:prstGeom>
            <a:solidFill>
              <a:srgbClr val="E5F2EA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14262" y="407194"/>
              <a:ext cx="16537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E7D4F"/>
                  </a:solidFill>
                  <a:latin typeface="+mn-lt"/>
                  <a:ea typeface="+mn-ea"/>
                  <a:cs typeface="+mn-cs"/>
                </a:rPr>
                <a:t>第2章 线性方程组（下）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2428875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本章（下）小结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E7D4F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40" name="c1-table-1"/>
          <p:cNvGrpSpPr/>
          <p:nvPr/>
        </p:nvGrpSpPr>
        <p:grpSpPr>
          <a:xfrm>
            <a:off x="533400" y="1524000"/>
            <a:ext cx="6059805" cy="2840355"/>
            <a:chOff x="533400" y="1524000"/>
            <a:chExt cx="6059805" cy="284035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6059805" cy="405765"/>
            </a:xfrm>
            <a:prstGeom prst="rect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982701" y="1648301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内容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2740063" y="1648301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要点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5164176" y="1648301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公式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633412" y="2054066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向量范数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844993" y="2054066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三种范数互相等价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148138" y="2054066"/>
              <a:ext cx="1519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‖x‖∞ ≤ ‖x‖₂ ≤ √n‖x‖∞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533400" y="2330768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5" name="Rectangle 15"/>
            <p:cNvSpPr/>
            <p:nvPr/>
          </p:nvSpPr>
          <p:spPr>
            <a:xfrm>
              <a:off x="533400" y="2335530"/>
              <a:ext cx="6059805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633412" y="2459831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矩阵范数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844993" y="2459831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行和、列和、谱范数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148138" y="2459831"/>
              <a:ext cx="7937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l-GR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ρ(A) ≤ ‖A‖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533400" y="2736532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33412" y="2865596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条件数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844993" y="2865596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相对误差的放大系数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4148138" y="2865596"/>
              <a:ext cx="14745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Cond(A) = ‖A‖‖A⁻¹‖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533400" y="3142298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4" name="Rectangle 24"/>
            <p:cNvSpPr/>
            <p:nvPr/>
          </p:nvSpPr>
          <p:spPr>
            <a:xfrm>
              <a:off x="533400" y="3147060"/>
              <a:ext cx="6059805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33412" y="3271361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迭代收敛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1844993" y="3271361"/>
              <a:ext cx="96415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充要 ρ(H) &lt; 1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4148138" y="3271361"/>
              <a:ext cx="18793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x⁽ᵏ⁾ − x* = Hᵏ(x⁽⁰⁾ − x*)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533400" y="3548062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33412" y="3677126"/>
              <a:ext cx="4988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Jacobi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844993" y="3677126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右边全用旧值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4148138" y="3677126"/>
              <a:ext cx="125403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H_J = D⁻¹(L + U)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533400" y="3953828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3" name="Rectangle 33"/>
            <p:cNvSpPr/>
            <p:nvPr/>
          </p:nvSpPr>
          <p:spPr>
            <a:xfrm>
              <a:off x="533400" y="3958590"/>
              <a:ext cx="6059805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633412" y="4082891"/>
              <a:ext cx="9870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Gauss-Seidel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1844993" y="4082891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新值立即使用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4148138" y="4082891"/>
              <a:ext cx="125403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H_G = (D − L)⁻¹U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533400" y="1524000"/>
              <a:ext cx="6059805" cy="284035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38" name="Rectangle 38"/>
            <p:cNvSpPr/>
            <p:nvPr/>
          </p:nvSpPr>
          <p:spPr>
            <a:xfrm>
              <a:off x="1740218" y="1524000"/>
              <a:ext cx="9525" cy="284035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9" name="Rectangle 39"/>
            <p:cNvSpPr/>
            <p:nvPr/>
          </p:nvSpPr>
          <p:spPr>
            <a:xfrm>
              <a:off x="4043362" y="1524000"/>
              <a:ext cx="9525" cy="284035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49" name="c1-card-2"/>
          <p:cNvGrpSpPr/>
          <p:nvPr/>
        </p:nvGrpSpPr>
        <p:grpSpPr>
          <a:xfrm>
            <a:off x="533400" y="4539615"/>
            <a:ext cx="6059805" cy="1768792"/>
            <a:chOff x="533400" y="4539615"/>
            <a:chExt cx="6059805" cy="1768792"/>
          </a:xfrm>
        </p:grpSpPr>
        <p:sp>
          <p:nvSpPr>
            <p:cNvPr id="41" name="Rectangle 41"/>
            <p:cNvSpPr/>
            <p:nvPr/>
          </p:nvSpPr>
          <p:spPr>
            <a:xfrm>
              <a:off x="533400" y="4539615"/>
              <a:ext cx="6059805" cy="1768792"/>
            </a:xfrm>
            <a:prstGeom prst="roundRect">
              <a:avLst>
                <a:gd name="adj" fmla="val 753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542925" y="4672965"/>
              <a:ext cx="47625" cy="1502092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43" name="Rectangle 43"/>
            <p:cNvSpPr/>
            <p:nvPr/>
          </p:nvSpPr>
          <p:spPr>
            <a:xfrm>
              <a:off x="763905" y="4732020"/>
              <a:ext cx="1943100" cy="247650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811339" y="4766310"/>
              <a:ext cx="184823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本讲义对原课件的更正与说明</a:t>
              </a:r>
            </a:p>
          </p:txBody>
        </p:sp>
        <p:sp>
          <p:nvSpPr>
            <p:cNvPr id="45" name="Ellipse 45"/>
            <p:cNvSpPr/>
            <p:nvPr/>
          </p:nvSpPr>
          <p:spPr>
            <a:xfrm>
              <a:off x="772478" y="5144452"/>
              <a:ext cx="59055" cy="5905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928497" y="5088255"/>
              <a:ext cx="4548568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定理、公式编号混用 1.x 与 2.x（如定理 1.5、(1.6.3)、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(1.7.13)），本讲义用定理名称指代，公式统一编为 2.x.x</a:t>
              </a:r>
            </a:p>
          </p:txBody>
        </p:sp>
        <p:sp>
          <p:nvSpPr>
            <p:cNvPr id="47" name="Ellipse 47"/>
            <p:cNvSpPr/>
            <p:nvPr/>
          </p:nvSpPr>
          <p:spPr>
            <a:xfrm>
              <a:off x="772478" y="5704522"/>
              <a:ext cx="59055" cy="5905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928497" y="5648325"/>
              <a:ext cx="502005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 2.4 表中 6.687 应为 6.6875；(2.7.11) 中 k 应从 0 开始；例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2.5 的 Jacobi 第 3 次已得精确解</a:t>
              </a:r>
            </a:p>
          </p:txBody>
        </p:sp>
      </p:grpSp>
      <p:grpSp>
        <p:nvGrpSpPr>
          <p:cNvPr id="65" name="c2-bullets-1"/>
          <p:cNvGrpSpPr/>
          <p:nvPr/>
        </p:nvGrpSpPr>
        <p:grpSpPr>
          <a:xfrm>
            <a:off x="6897052" y="1534478"/>
            <a:ext cx="4837938" cy="2549080"/>
            <a:chOff x="6897052" y="1534478"/>
            <a:chExt cx="4837938" cy="2549080"/>
          </a:xfrm>
        </p:grpSpPr>
        <p:sp>
          <p:nvSpPr>
            <p:cNvPr id="50" name="Ellipse 50"/>
            <p:cNvSpPr/>
            <p:nvPr/>
          </p:nvSpPr>
          <p:spPr>
            <a:xfrm>
              <a:off x="6897052" y="1534478"/>
              <a:ext cx="192405" cy="1924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6952731" y="1572863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7177849" y="1545907"/>
              <a:ext cx="455714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范数度量向量和矩阵的大小，有限维空间里各种范数等价</a:t>
              </a:r>
            </a:p>
          </p:txBody>
        </p:sp>
        <p:sp>
          <p:nvSpPr>
            <p:cNvPr id="53" name="Ellipse 53"/>
            <p:cNvSpPr/>
            <p:nvPr/>
          </p:nvSpPr>
          <p:spPr>
            <a:xfrm>
              <a:off x="6897052" y="1844993"/>
              <a:ext cx="192405" cy="1924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6952731" y="1884331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7177849" y="1857375"/>
              <a:ext cx="4214241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手算常用 ‖·‖∞（行和）和 ‖·‖₁（列和）；ρ(A) 不超过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任何相容范数</a:t>
              </a:r>
            </a:p>
          </p:txBody>
        </p:sp>
        <p:sp>
          <p:nvSpPr>
            <p:cNvPr id="56" name="Ellipse 56"/>
            <p:cNvSpPr/>
            <p:nvPr/>
          </p:nvSpPr>
          <p:spPr>
            <a:xfrm>
              <a:off x="6897052" y="2413635"/>
              <a:ext cx="192405" cy="1924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57" name="TextBox 57"/>
            <p:cNvSpPr txBox="1"/>
            <p:nvPr/>
          </p:nvSpPr>
          <p:spPr>
            <a:xfrm>
              <a:off x="6952731" y="2452021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7177849" y="2426018"/>
              <a:ext cx="361416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条件数大则病态，扰动引起的相对误差最多放大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Cond(A) 倍</a:t>
              </a:r>
            </a:p>
          </p:txBody>
        </p:sp>
        <p:sp>
          <p:nvSpPr>
            <p:cNvPr id="59" name="Ellipse 59"/>
            <p:cNvSpPr/>
            <p:nvPr/>
          </p:nvSpPr>
          <p:spPr>
            <a:xfrm>
              <a:off x="6897052" y="2982277"/>
              <a:ext cx="192405" cy="1924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60" name="TextBox 60"/>
            <p:cNvSpPr txBox="1"/>
            <p:nvPr/>
          </p:nvSpPr>
          <p:spPr>
            <a:xfrm>
              <a:off x="6952731" y="3020663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7177849" y="2993708"/>
              <a:ext cx="4248531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迭代法对任意初值收敛 ⇔ ρ(H) &lt; 1；‖H‖ &lt; 1 时可估计误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差与次数</a:t>
              </a:r>
            </a:p>
          </p:txBody>
        </p:sp>
        <p:sp>
          <p:nvSpPr>
            <p:cNvPr id="62" name="Ellipse 62"/>
            <p:cNvSpPr/>
            <p:nvPr/>
          </p:nvSpPr>
          <p:spPr>
            <a:xfrm>
              <a:off x="6897052" y="3549968"/>
              <a:ext cx="192405" cy="192405"/>
            </a:xfrm>
            <a:prstGeom prst="ellipse">
              <a:avLst/>
            </a:prstGeom>
            <a:solidFill>
              <a:srgbClr val="2E7D4F"/>
            </a:solidFill>
            <a:ln>
              <a:noFill/>
            </a:ln>
          </p:spPr>
        </p:sp>
        <p:sp>
          <p:nvSpPr>
            <p:cNvPr id="63" name="TextBox 63"/>
            <p:cNvSpPr txBox="1"/>
            <p:nvPr/>
          </p:nvSpPr>
          <p:spPr>
            <a:xfrm>
              <a:off x="6952731" y="3589306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7177849" y="3562350"/>
              <a:ext cx="423138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Jacobi 与 G-S 谁收敛、谁更快要具体算；严格对角占优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时两者都收敛</a:t>
              </a:r>
            </a:p>
          </p:txBody>
        </p:sp>
      </p:grpSp>
      <p:grpSp>
        <p:nvGrpSpPr>
          <p:cNvPr id="71" name="c2-callout-2"/>
          <p:cNvGrpSpPr/>
          <p:nvPr/>
        </p:nvGrpSpPr>
        <p:grpSpPr>
          <a:xfrm>
            <a:off x="6898005" y="4205288"/>
            <a:ext cx="4760595" cy="729615"/>
            <a:chOff x="6898005" y="4205288"/>
            <a:chExt cx="4760595" cy="729615"/>
          </a:xfrm>
        </p:grpSpPr>
        <p:sp>
          <p:nvSpPr>
            <p:cNvPr id="66" name="Rectangle 66"/>
            <p:cNvSpPr/>
            <p:nvPr/>
          </p:nvSpPr>
          <p:spPr>
            <a:xfrm>
              <a:off x="6898005" y="4205288"/>
              <a:ext cx="4760595" cy="729615"/>
            </a:xfrm>
            <a:prstGeom prst="roundRect">
              <a:avLst>
                <a:gd name="adj" fmla="val 15666"/>
              </a:avLst>
            </a:prstGeom>
            <a:solidFill>
              <a:srgbClr val="2E7D4F"/>
            </a:solidFill>
            <a:ln>
              <a:noFill/>
            </a:ln>
          </p:spPr>
        </p:sp>
        <p:grpSp>
          <p:nvGrpSpPr>
            <p:cNvPr id="69" name="Group 69"/>
            <p:cNvGrpSpPr/>
            <p:nvPr/>
          </p:nvGrpSpPr>
          <p:grpSpPr>
            <a:xfrm>
              <a:off x="7102793" y="4470085"/>
              <a:ext cx="200023" cy="200023"/>
              <a:chOff x="7102793" y="4470085"/>
              <a:chExt cx="200023" cy="200023"/>
            </a:xfrm>
          </p:grpSpPr>
          <p:sp>
            <p:nvSpPr>
              <p:cNvPr id="67" name="Freeform 67"/>
              <p:cNvSpPr/>
              <p:nvPr/>
            </p:nvSpPr>
            <p:spPr>
              <a:xfrm>
                <a:off x="7102793" y="4470085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68" name="Freeform 68"/>
              <p:cNvSpPr/>
              <p:nvPr/>
            </p:nvSpPr>
            <p:spPr>
              <a:xfrm>
                <a:off x="7236143" y="453675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70" name="TextBox 70"/>
            <p:cNvSpPr txBox="1"/>
            <p:nvPr/>
          </p:nvSpPr>
          <p:spPr>
            <a:xfrm>
              <a:off x="7405497" y="4351972"/>
              <a:ext cx="3794188" cy="5126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复习重点：三种矩阵范数与条件数的手算，Jacobi</a:t>
              </a:r>
              <a:br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与 G-S 的迭代表，用谱半径判断收敛。</a:t>
              </a:r>
            </a:p>
          </p:txBody>
        </p:sp>
      </p:grpSp>
      <p:grpSp>
        <p:nvGrpSpPr>
          <p:cNvPr id="74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72" name="TextBox 72"/>
            <p:cNvSpPr txBox="1"/>
            <p:nvPr/>
          </p:nvSpPr>
          <p:spPr>
            <a:xfrm>
              <a:off x="528447" y="6581299"/>
              <a:ext cx="278038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计算方法 · 第2章 解线性方程组的数值法（下）</a:t>
              </a:r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theme/theme1.xml><?xml version="1.0" encoding="utf-8"?>
<a:theme xmlns:a="http://schemas.openxmlformats.org/drawingml/2006/main" name="numa_ch2b">
  <a:themeElements>
    <a:clrScheme name="numa_ch2b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numa_ch2b">
      <a:majorFont>
        <a:latin typeface="Microsoft YaHei"/>
        <a:ea typeface="Microsoft YaHei"/>
        <a:cs typeface="Microsoft YaHe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Microsoft YaHei"/>
        <a:ea typeface="Microsoft YaHei"/>
        <a:cs typeface="Microsoft YaHe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numa_ch2b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41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>zh-CN</dc:language>
  <cp:lastModifiedBy/>
  <cp:revision>1</cp:revision>
  <dcterms:created xsi:type="dcterms:W3CDTF">2026-09-23T06:15:05Z</dcterms:created>
  <dcterms:modified xsi:type="dcterms:W3CDTF">2026-09-23T06:15:05Z</dcterms:modified>
  <cp:category/>
  <cp:contentStatus/>
</cp:coreProperties>
</file>