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Default Extension="png" ContentType="image/png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</p:sldIdLst>
  <p:sldSz cx="12192000" cy="6858000" type="screen16x9"/>
  <p:notesSz cx="6858000" cy="9144000"/>
  <p:defaultTextStyle>
    <a:defPPr>
      <a:defRPr lang="zh-CN"/>
    </a:defPPr>
    <a:lvl1pPr marL="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7.xml><?xml version="1.0" encoding="utf-8"?>
<p:sldLayout xmlns:a="http://schemas.openxmlformats.org/drawingml/2006/main" xmlns:p="http://schemas.openxmlformats.org/presentationml/2006/main" type="blank" preserve="1">
  <p:cSld name="numa_ch5 — 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zh-CN" smtClean="0"/>
              <a:t>1/27/13</a:t>
            </a:fld>
            <a:endParaRPr lang="zh-C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zh-CN" smtClean="0"/>
              <a:t>‹#›</a:t>
            </a:fld>
            <a:endParaRPr lang="zh-CN"/>
          </a:p>
        </p:txBody>
      </p:sp>
    </p:spTree>
  </p:cSld>
  <p:clrMapOvr>
    <a:masterClrMapping/>
  </p:clrMapOvr>
</p:sldLayout>
</file>

<file path=ppt/slideMasters/_rels/slideMaster1.xml.rels><?xml version='1.0' encoding='UTF-8' standalone='yes'?>
<Relationships xmlns="http://schemas.openxmlformats.org/package/2006/relationships"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 name="numa_ch5 — 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lang="zh-CN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zh-CN" smtClean="0"/>
              <a:t>1/27/13</a:t>
            </a:fld>
            <a:endParaRPr lang="zh-C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lang="zh-CN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lang="zh-CN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zh-CN" smtClean="0"/>
              <a:t>‹#›</a:t>
            </a:fld>
            <a:endParaRPr lang="zh-C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 lang="zh-CN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 lang="zh-CN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 lang="zh-CN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 lang="zh-CN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 lang="zh-CN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 lang="zh-CN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 lang="zh-CN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 lang="zh-CN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 lang="zh-CN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 lang="zh-CN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image" Target="../media/image_f55568a3e6f98038.png"/>
</Relationships>
</file>

<file path=ppt/slides/_rels/slide2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4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image" Target="../media/image_a1aaebdf5ecb846e.png"/>
</Relationships>
</file>

<file path=ppt/slides/_rels/slide5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6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7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8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9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0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1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2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3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4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5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6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7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8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9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0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1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2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3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4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5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6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7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8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9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0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1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2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image" Target="../media/image_d03ea92d4e697308.png"/>
</Relationships>
</file>

<file path=ppt/slides/_rels/slide33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4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5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6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7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8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9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40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41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42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43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44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45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46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47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48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cover-hero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cover-scrim"/>
          <p:cNvSpPr/>
          <p:nvPr/>
        </p:nvSpPr>
        <p:spPr>
          <a:xfrm>
            <a:off x="0" y="0"/>
            <a:ext cx="7620000" cy="6858000"/>
          </a:xfrm>
          <a:prstGeom prst="rect">
            <a:avLst/>
          </a:prstGeom>
          <a:gradFill>
            <a:gsLst>
              <a:gs pos="0">
                <a:srgbClr val="FFFFFF">
                  <a:alpha val="97000"/>
                </a:srgbClr>
              </a:gs>
              <a:gs pos="58000">
                <a:srgbClr val="FFFFFF">
                  <a:alpha val="85000"/>
                </a:srgbClr>
              </a:gs>
              <a:gs pos="100000">
                <a:srgbClr val="FFFFFF">
                  <a:alpha val="0"/>
                </a:srgbClr>
              </a:gs>
            </a:gsLst>
            <a:lin ang="0" scaled="1"/>
          </a:gradFill>
          <a:ln>
            <a:noFill/>
          </a:ln>
        </p:spPr>
      </p:sp>
      <p:grpSp>
        <p:nvGrpSpPr>
          <p:cNvPr id="17" name="cover-title"/>
          <p:cNvGrpSpPr/>
          <p:nvPr/>
        </p:nvGrpSpPr>
        <p:grpSpPr>
          <a:xfrm>
            <a:off x="666750" y="1619250"/>
            <a:ext cx="5126736" cy="3437763"/>
            <a:chOff x="666750" y="1619250"/>
            <a:chExt cx="5126736" cy="3437763"/>
          </a:xfrm>
        </p:grpSpPr>
        <p:sp>
          <p:nvSpPr>
            <p:cNvPr id="4" name="Rectangle 4"/>
            <p:cNvSpPr/>
            <p:nvPr/>
          </p:nvSpPr>
          <p:spPr>
            <a:xfrm>
              <a:off x="685800" y="1619250"/>
              <a:ext cx="1529715" cy="342900"/>
            </a:xfrm>
            <a:prstGeom prst="roundRect">
              <a:avLst>
                <a:gd name="adj" fmla="val 50000"/>
              </a:avLst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5" name="TextBox 5"/>
            <p:cNvSpPr txBox="1"/>
            <p:nvPr/>
          </p:nvSpPr>
          <p:spPr>
            <a:xfrm>
              <a:off x="815751" y="1718310"/>
              <a:ext cx="126981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计算方法 · 第5章</a:t>
              </a:r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666750" y="2407920"/>
              <a:ext cx="5126736" cy="8191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4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函数插值与曲线拟合</a:t>
              </a:r>
            </a:p>
          </p:txBody>
        </p:sp>
        <p:sp>
          <p:nvSpPr>
            <p:cNvPr id="7" name="Rectangle 7"/>
            <p:cNvSpPr/>
            <p:nvPr/>
          </p:nvSpPr>
          <p:spPr>
            <a:xfrm>
              <a:off x="685800" y="3147060"/>
              <a:ext cx="990600" cy="5715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E7D4F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676656" y="3467100"/>
              <a:ext cx="4864608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用多项式穿过已知数据点，并估计误差有多大</a:t>
              </a:r>
            </a:p>
          </p:txBody>
        </p:sp>
        <p:sp>
          <p:nvSpPr>
            <p:cNvPr id="9" name="Ellipse 9"/>
            <p:cNvSpPr/>
            <p:nvPr/>
          </p:nvSpPr>
          <p:spPr>
            <a:xfrm>
              <a:off x="709612" y="3976688"/>
              <a:ext cx="66675" cy="66675"/>
            </a:xfrm>
            <a:prstGeom prst="ellipse">
              <a:avLst/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869442" y="3921442"/>
              <a:ext cx="183108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图像缩放与插值的概念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709612" y="4267200"/>
              <a:ext cx="66675" cy="66675"/>
            </a:xfrm>
            <a:prstGeom prst="ellipse">
              <a:avLst/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869442" y="4211955"/>
              <a:ext cx="178260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Lagrange 插值与余项</a:t>
              </a:r>
            </a:p>
          </p:txBody>
        </p:sp>
        <p:sp>
          <p:nvSpPr>
            <p:cNvPr id="13" name="Ellipse 13"/>
            <p:cNvSpPr/>
            <p:nvPr/>
          </p:nvSpPr>
          <p:spPr>
            <a:xfrm>
              <a:off x="709612" y="4557712"/>
              <a:ext cx="66675" cy="66675"/>
            </a:xfrm>
            <a:prstGeom prst="ellipse">
              <a:avLst/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869442" y="4502468"/>
              <a:ext cx="167455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差商与 Newton 插值</a:t>
              </a:r>
            </a:p>
          </p:txBody>
        </p:sp>
        <p:sp>
          <p:nvSpPr>
            <p:cNvPr id="15" name="Ellipse 15"/>
            <p:cNvSpPr/>
            <p:nvPr/>
          </p:nvSpPr>
          <p:spPr>
            <a:xfrm>
              <a:off x="709612" y="4848225"/>
              <a:ext cx="66675" cy="66675"/>
            </a:xfrm>
            <a:prstGeom prst="ellipse">
              <a:avLst/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869442" y="4792980"/>
              <a:ext cx="154677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三次 Hermite 插值</a:t>
              </a:r>
            </a:p>
          </p:txBody>
        </p:sp>
      </p:grpSp>
      <p:grpSp>
        <p:nvGrpSpPr>
          <p:cNvPr id="19" name="cover-credit"/>
          <p:cNvGrpSpPr/>
          <p:nvPr/>
        </p:nvGrpSpPr>
        <p:grpSpPr>
          <a:xfrm>
            <a:off x="680466" y="6192202"/>
            <a:ext cx="6505746" cy="205359"/>
            <a:chOff x="680466" y="6192202"/>
            <a:chExt cx="6505746" cy="205359"/>
          </a:xfrm>
        </p:grpSpPr>
        <p:sp>
          <p:nvSpPr>
            <p:cNvPr id="18" name="TextBox 18"/>
            <p:cNvSpPr txBox="1"/>
            <p:nvPr/>
          </p:nvSpPr>
          <p:spPr>
            <a:xfrm>
              <a:off x="680466" y="6192202"/>
              <a:ext cx="6505746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重制讲义 · 自学复习版｜据吉林大学《计算方法》第5章课件整理（原课件讲到 5.4 节，未含曲线拟合）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2085594" cy="909257"/>
            <a:chOff x="520446" y="342900"/>
            <a:chExt cx="2085594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1246822" cy="266700"/>
            </a:xfrm>
            <a:prstGeom prst="roundRect">
              <a:avLst>
                <a:gd name="adj" fmla="val 50000"/>
              </a:avLst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31966" y="407194"/>
              <a:ext cx="105064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第5章 函数插值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2085594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本章学习路线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E7D4F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26" name="c1-agenda-1"/>
          <p:cNvGrpSpPr/>
          <p:nvPr/>
        </p:nvGrpSpPr>
        <p:grpSpPr>
          <a:xfrm>
            <a:off x="521970" y="1515428"/>
            <a:ext cx="6287453" cy="3924585"/>
            <a:chOff x="521970" y="1515428"/>
            <a:chExt cx="6287453" cy="3924585"/>
          </a:xfrm>
        </p:grpSpPr>
        <p:sp>
          <p:nvSpPr>
            <p:cNvPr id="7" name="TextBox 7"/>
            <p:cNvSpPr txBox="1"/>
            <p:nvPr/>
          </p:nvSpPr>
          <p:spPr>
            <a:xfrm>
              <a:off x="521970" y="1515428"/>
              <a:ext cx="372704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01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1065086" y="1551622"/>
              <a:ext cx="157162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引入：图像缩放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066990" y="1868329"/>
              <a:ext cx="432079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点阵图放大需要补像素，最近邻插值，插值的历史与应用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1073468" y="2181225"/>
              <a:ext cx="573595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521970" y="2286952"/>
              <a:ext cx="372704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02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1065086" y="2323148"/>
              <a:ext cx="1349502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拉格朗日插值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066990" y="2639854"/>
              <a:ext cx="5231130" cy="483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45"/>
                </a:lnSpc>
              </a:pPr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插值问题与存在唯一性，余项定理，线性、抛物线与 n 次公式，例 5.1、</a:t>
              </a:r>
              <a:br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5.2，Runge 现象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1073468" y="3188018"/>
              <a:ext cx="573595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521970" y="3293745"/>
              <a:ext cx="372704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03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1065086" y="3329940"/>
              <a:ext cx="90525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牛顿插值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066990" y="3646646"/>
              <a:ext cx="4973147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差商及其性质，差商表，Newton 公式与余项，节点选择，例 5.3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1073468" y="3960495"/>
              <a:ext cx="573595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521970" y="4065270"/>
              <a:ext cx="372704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04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1065086" y="4101465"/>
              <a:ext cx="1793748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三次埃尔米特插值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1066990" y="4419124"/>
              <a:ext cx="483773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整齐与非整齐的插值条件，基函数法，重节点差商法，插值余项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1073468" y="4732020"/>
              <a:ext cx="573595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521970" y="4837748"/>
              <a:ext cx="372704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05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1065086" y="4873942"/>
              <a:ext cx="112737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补充与练习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066990" y="5190649"/>
              <a:ext cx="474296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等距节点的差分公式（5.5*），实验题，习题 1–8 讲解，自测</a:t>
              </a:r>
            </a:p>
          </p:txBody>
        </p:sp>
      </p:grpSp>
      <p:grpSp>
        <p:nvGrpSpPr>
          <p:cNvPr id="39" name="c2-card-1"/>
          <p:cNvGrpSpPr/>
          <p:nvPr/>
        </p:nvGrpSpPr>
        <p:grpSpPr>
          <a:xfrm>
            <a:off x="7114222" y="1524000"/>
            <a:ext cx="4544378" cy="3866198"/>
            <a:chOff x="7114222" y="1524000"/>
            <a:chExt cx="4544378" cy="3866198"/>
          </a:xfrm>
        </p:grpSpPr>
        <p:sp>
          <p:nvSpPr>
            <p:cNvPr id="27" name="Rectangle 27"/>
            <p:cNvSpPr/>
            <p:nvPr/>
          </p:nvSpPr>
          <p:spPr>
            <a:xfrm>
              <a:off x="7114222" y="1524000"/>
              <a:ext cx="4544378" cy="3866198"/>
            </a:xfrm>
            <a:prstGeom prst="roundRect">
              <a:avLst>
                <a:gd name="adj" fmla="val 3449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7123748" y="1657350"/>
              <a:ext cx="47625" cy="3599498"/>
            </a:xfrm>
            <a:prstGeom prst="roundRect">
              <a:avLst>
                <a:gd name="adj" fmla="val 50000"/>
              </a:avLst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29" name="Rectangle 29"/>
            <p:cNvSpPr/>
            <p:nvPr/>
          </p:nvSpPr>
          <p:spPr>
            <a:xfrm>
              <a:off x="7361872" y="1733550"/>
              <a:ext cx="778192" cy="257175"/>
            </a:xfrm>
            <a:prstGeom prst="roundRect">
              <a:avLst>
                <a:gd name="adj" fmla="val 50000"/>
              </a:avLst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7443229" y="1769269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学习目标</a:t>
              </a:r>
            </a:p>
          </p:txBody>
        </p:sp>
        <p:sp>
          <p:nvSpPr>
            <p:cNvPr id="31" name="Ellipse 31"/>
            <p:cNvSpPr/>
            <p:nvPr/>
          </p:nvSpPr>
          <p:spPr>
            <a:xfrm>
              <a:off x="7367588" y="2173605"/>
              <a:ext cx="64770" cy="6477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7525702" y="2110740"/>
              <a:ext cx="3663315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写出 n 次 Lagrange 插值多项式和余项，用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余项估计误差</a:t>
              </a:r>
            </a:p>
          </p:txBody>
        </p:sp>
        <p:sp>
          <p:nvSpPr>
            <p:cNvPr id="33" name="Ellipse 33"/>
            <p:cNvSpPr/>
            <p:nvPr/>
          </p:nvSpPr>
          <p:spPr>
            <a:xfrm>
              <a:off x="7367588" y="2794635"/>
              <a:ext cx="64770" cy="6477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7525702" y="2731770"/>
              <a:ext cx="365379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手算差商表，写出 Newton 插值多项式，按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离 x 最近的原则选节点</a:t>
              </a:r>
            </a:p>
          </p:txBody>
        </p:sp>
        <p:sp>
          <p:nvSpPr>
            <p:cNvPr id="35" name="Ellipse 35"/>
            <p:cNvSpPr/>
            <p:nvPr/>
          </p:nvSpPr>
          <p:spPr>
            <a:xfrm>
              <a:off x="7367588" y="3415665"/>
              <a:ext cx="64770" cy="6477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7525702" y="3352800"/>
              <a:ext cx="3701415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解释 Runge 现象，说明节点多时为什么改用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分段低次插值</a:t>
              </a:r>
            </a:p>
          </p:txBody>
        </p:sp>
        <p:sp>
          <p:nvSpPr>
            <p:cNvPr id="37" name="Ellipse 37"/>
            <p:cNvSpPr/>
            <p:nvPr/>
          </p:nvSpPr>
          <p:spPr>
            <a:xfrm>
              <a:off x="7367588" y="4036695"/>
              <a:ext cx="64770" cy="6477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7525702" y="3973830"/>
              <a:ext cx="30632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用基函数法或重节点差商表构造三次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Hermite 插值多项式</a:t>
              </a:r>
            </a:p>
          </p:txBody>
        </p:sp>
      </p:grpSp>
      <p:grpSp>
        <p:nvGrpSpPr>
          <p:cNvPr id="42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40" name="TextBox 40"/>
            <p:cNvSpPr txBox="1"/>
            <p:nvPr/>
          </p:nvSpPr>
          <p:spPr>
            <a:xfrm>
              <a:off x="528447" y="6581299"/>
              <a:ext cx="225267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计算方法 · 第5章 函数插值与曲线拟合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11581087" y="6581299"/>
              <a:ext cx="824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-disc"/>
          <p:cNvSpPr/>
          <p:nvPr/>
        </p:nvSpPr>
        <p:spPr>
          <a:xfrm>
            <a:off x="7715250" y="571500"/>
            <a:ext cx="5715000" cy="5715000"/>
          </a:xfrm>
          <a:prstGeom prst="ellipse">
            <a:avLst/>
          </a:prstGeom>
          <a:solidFill>
            <a:srgbClr val="2E7D4F"/>
          </a:solidFill>
          <a:ln>
            <a:noFill/>
          </a:ln>
        </p:spPr>
      </p:sp>
      <p:sp>
        <p:nvSpPr>
          <p:cNvPr id="3" name="section-ring"/>
          <p:cNvSpPr/>
          <p:nvPr/>
        </p:nvSpPr>
        <p:spPr>
          <a:xfrm>
            <a:off x="7334250" y="190500"/>
            <a:ext cx="6477000" cy="6477000"/>
          </a:xfrm>
          <a:prstGeom prst="ellipse">
            <a:avLst/>
          </a:prstGeom>
          <a:noFill/>
          <a:ln w="133350">
            <a:solidFill>
              <a:srgbClr val="E5F2EA"/>
            </a:solidFill>
          </a:ln>
        </p:spPr>
      </p:sp>
      <p:grpSp>
        <p:nvGrpSpPr>
          <p:cNvPr id="5" name="section-num"/>
          <p:cNvGrpSpPr/>
          <p:nvPr/>
        </p:nvGrpSpPr>
        <p:grpSpPr>
          <a:xfrm>
            <a:off x="8954033" y="2705100"/>
            <a:ext cx="1903933" cy="2305050"/>
            <a:chOff x="8954033" y="2705100"/>
            <a:chExt cx="1903933" cy="2305050"/>
          </a:xfrm>
        </p:grpSpPr>
        <p:sp>
          <p:nvSpPr>
            <p:cNvPr id="4" name="TextBox 4"/>
            <p:cNvSpPr txBox="1"/>
            <p:nvPr/>
          </p:nvSpPr>
          <p:spPr>
            <a:xfrm>
              <a:off x="8954033" y="2705100"/>
              <a:ext cx="1903933" cy="2305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01</a:t>
              </a:r>
            </a:p>
          </p:txBody>
        </p:sp>
      </p:grpSp>
      <p:grpSp>
        <p:nvGrpSpPr>
          <p:cNvPr id="16" name="section-title"/>
          <p:cNvGrpSpPr/>
          <p:nvPr/>
        </p:nvGrpSpPr>
        <p:grpSpPr>
          <a:xfrm>
            <a:off x="667512" y="1835468"/>
            <a:ext cx="4691253" cy="2997517"/>
            <a:chOff x="667512" y="1835468"/>
            <a:chExt cx="4691253" cy="2997517"/>
          </a:xfrm>
        </p:grpSpPr>
        <p:sp>
          <p:nvSpPr>
            <p:cNvPr id="6" name="TextBox 6"/>
            <p:cNvSpPr txBox="1"/>
            <p:nvPr/>
          </p:nvSpPr>
          <p:spPr>
            <a:xfrm>
              <a:off x="678942" y="1835468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第一部分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667512" y="2240280"/>
              <a:ext cx="3429000" cy="704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6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引入：图像缩放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685800" y="3041332"/>
              <a:ext cx="762000" cy="47625"/>
            </a:xfrm>
            <a:prstGeom prst="roundRect">
              <a:avLst>
                <a:gd name="adj" fmla="val 50000"/>
              </a:avLst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677418" y="3377565"/>
              <a:ext cx="4681347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放大图片时，新增像素的值要由已有像素算出来</a:t>
              </a:r>
            </a:p>
          </p:txBody>
        </p:sp>
        <p:sp>
          <p:nvSpPr>
            <p:cNvPr id="10" name="Ellipse 10"/>
            <p:cNvSpPr/>
            <p:nvPr/>
          </p:nvSpPr>
          <p:spPr>
            <a:xfrm>
              <a:off x="723900" y="3888105"/>
              <a:ext cx="76200" cy="7620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906780" y="3830955"/>
              <a:ext cx="2024444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5.1 点阵图放大与插值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723900" y="4242435"/>
              <a:ext cx="76200" cy="7620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906780" y="4185285"/>
              <a:ext cx="203454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最近邻插值的坐标映射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723900" y="4596765"/>
              <a:ext cx="76200" cy="7620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906780" y="4539615"/>
              <a:ext cx="163068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插值的历史与应用</a:t>
              </a:r>
            </a:p>
          </p:txBody>
        </p:sp>
      </p:grpSp>
      <p:grpSp>
        <p:nvGrpSpPr>
          <p:cNvPr id="19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17" name="TextBox 17"/>
            <p:cNvSpPr txBox="1"/>
            <p:nvPr/>
          </p:nvSpPr>
          <p:spPr>
            <a:xfrm>
              <a:off x="528447" y="6581299"/>
              <a:ext cx="225267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计算方法 · 第5章 函数插值与曲线拟合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1581087" y="6581299"/>
              <a:ext cx="824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6548247" cy="909257"/>
            <a:chOff x="520446" y="342900"/>
            <a:chExt cx="6548247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414588" cy="266700"/>
            </a:xfrm>
            <a:prstGeom prst="roundRect">
              <a:avLst>
                <a:gd name="adj" fmla="val 50000"/>
              </a:avLst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96156" y="407194"/>
              <a:ext cx="228812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第5章 函数插值 · 引入：图像缩放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6548247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放大点阵图时，新增的像素要用插值算出来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E7D4F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7" name="c1-card-1"/>
          <p:cNvGrpSpPr/>
          <p:nvPr/>
        </p:nvGrpSpPr>
        <p:grpSpPr>
          <a:xfrm>
            <a:off x="533400" y="1524000"/>
            <a:ext cx="5842635" cy="1966912"/>
            <a:chOff x="533400" y="1524000"/>
            <a:chExt cx="5842635" cy="1966912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842635" cy="1966912"/>
            </a:xfrm>
            <a:prstGeom prst="roundRect">
              <a:avLst>
                <a:gd name="adj" fmla="val 6780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542925" y="1657350"/>
              <a:ext cx="47625" cy="1700212"/>
            </a:xfrm>
            <a:prstGeom prst="roundRect">
              <a:avLst>
                <a:gd name="adj" fmla="val 50000"/>
              </a:avLst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81050" y="1733550"/>
              <a:ext cx="494348" cy="257175"/>
            </a:xfrm>
            <a:prstGeom prst="roundRect">
              <a:avLst>
                <a:gd name="adj" fmla="val 50000"/>
              </a:avLst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871258" y="1769269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背景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382078" y="1768792"/>
              <a:ext cx="142875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点阵图与矢量图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786765" y="2192655"/>
              <a:ext cx="64770" cy="6477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944880" y="2129790"/>
              <a:ext cx="506349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点阵图</a:t>
              </a: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：用像素矩阵描述图像，放大时像素个数随之增加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786765" y="2527935"/>
              <a:ext cx="64770" cy="6477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944880" y="2465070"/>
              <a:ext cx="49682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矢量图</a:t>
              </a: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：用函数描述图形，放大时不需要补像素，本节不讨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论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774573" y="3082766"/>
              <a:ext cx="535467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新增像素的值，由它周围已有像素的值按数学公式计算，这就是插值。</a:t>
              </a:r>
            </a:p>
          </p:txBody>
        </p:sp>
      </p:grpSp>
      <p:grpSp>
        <p:nvGrpSpPr>
          <p:cNvPr id="37" name="c1-table-2"/>
          <p:cNvGrpSpPr/>
          <p:nvPr/>
        </p:nvGrpSpPr>
        <p:grpSpPr>
          <a:xfrm>
            <a:off x="533400" y="3681412"/>
            <a:ext cx="5842635" cy="2475548"/>
            <a:chOff x="533400" y="3681412"/>
            <a:chExt cx="5842635" cy="2475548"/>
          </a:xfrm>
        </p:grpSpPr>
        <p:sp>
          <p:nvSpPr>
            <p:cNvPr id="18" name="Rectangle 18"/>
            <p:cNvSpPr/>
            <p:nvPr/>
          </p:nvSpPr>
          <p:spPr>
            <a:xfrm>
              <a:off x="533400" y="3681412"/>
              <a:ext cx="5842635" cy="448628"/>
            </a:xfrm>
            <a:prstGeom prst="rect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997547" y="3817144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算法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2466569" y="3817144"/>
              <a:ext cx="1391463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新像素的取值依据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5262842" y="3817144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效果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641223" y="4379119"/>
              <a:ext cx="87452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最近邻插值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1927098" y="4379119"/>
              <a:ext cx="1761937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离它最近的 1 个原像素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4614100" y="4265771"/>
              <a:ext cx="1475994" cy="4760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8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最快；放大后出现锯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齿和色块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533400" y="4801552"/>
              <a:ext cx="584263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6" name="Rectangle 26"/>
            <p:cNvSpPr/>
            <p:nvPr/>
          </p:nvSpPr>
          <p:spPr>
            <a:xfrm>
              <a:off x="533400" y="4806315"/>
              <a:ext cx="5842635" cy="675322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641223" y="5054441"/>
              <a:ext cx="87452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双线性插值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1927098" y="4941094"/>
              <a:ext cx="2191258" cy="4760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8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周围 2×2 共 4 个像素，沿行、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列两个方向做线性插值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4614100" y="5054441"/>
              <a:ext cx="156377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较平滑，边缘略模糊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533400" y="5476875"/>
              <a:ext cx="584263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641223" y="5729764"/>
              <a:ext cx="87452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双三次插值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927098" y="5616416"/>
              <a:ext cx="2280666" cy="4760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8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周围 4×4 共 16 个像素，用三次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函数加权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4614100" y="5729764"/>
              <a:ext cx="156377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更平滑，计算量最大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533400" y="3681412"/>
              <a:ext cx="5842635" cy="2475548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35" name="Rectangle 35"/>
            <p:cNvSpPr/>
            <p:nvPr/>
          </p:nvSpPr>
          <p:spPr>
            <a:xfrm>
              <a:off x="1814512" y="3681412"/>
              <a:ext cx="9525" cy="2475548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6" name="Rectangle 36"/>
            <p:cNvSpPr/>
            <p:nvPr/>
          </p:nvSpPr>
          <p:spPr>
            <a:xfrm>
              <a:off x="4501515" y="3681412"/>
              <a:ext cx="9525" cy="2475548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40" name="c2-image-1"/>
          <p:cNvGrpSpPr/>
          <p:nvPr/>
        </p:nvGrpSpPr>
        <p:grpSpPr>
          <a:xfrm>
            <a:off x="6680835" y="1524000"/>
            <a:ext cx="4977765" cy="3614262"/>
            <a:chOff x="6680835" y="1524000"/>
            <a:chExt cx="4977765" cy="3614262"/>
          </a:xfrm>
        </p:grpSpPr>
        <p:pic>
          <p:nvPicPr>
            <p:cNvPr id="38" name="Image 38"/>
            <p:cNvPicPr>
              <a:picLocks noChangeAspect="1"/>
            </p:cNvPicPr>
            <p:nvPr/>
          </p:nvPicPr>
          <p:blipFill>
            <a:blip r:embed="rId2"/>
            <a:srcRect l="0" t="5810" r="0" b="5811"/>
            <a:stretch>
              <a:fillRect/>
            </a:stretch>
          </p:blipFill>
          <p:spPr>
            <a:xfrm>
              <a:off x="6680835" y="1524000"/>
              <a:ext cx="4977765" cy="3299460"/>
            </a:xfrm>
            <a:prstGeom prst="roundRect">
              <a:avLst>
                <a:gd name="adj" fmla="val 4041"/>
              </a:avLst>
            </a:prstGeom>
          </p:spPr>
        </p:pic>
        <p:sp>
          <p:nvSpPr>
            <p:cNvPr id="39" name="TextBox 39"/>
            <p:cNvSpPr txBox="1"/>
            <p:nvPr/>
          </p:nvSpPr>
          <p:spPr>
            <a:xfrm>
              <a:off x="7505484" y="4918234"/>
              <a:ext cx="332846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最近邻放大：多出来的格子照搬相邻原格子的颜色</a:t>
              </a:r>
            </a:p>
          </p:txBody>
        </p:sp>
      </p:grpSp>
      <p:grpSp>
        <p:nvGrpSpPr>
          <p:cNvPr id="47" name="c2-callout-2"/>
          <p:cNvGrpSpPr/>
          <p:nvPr/>
        </p:nvGrpSpPr>
        <p:grpSpPr>
          <a:xfrm>
            <a:off x="6680835" y="5303520"/>
            <a:ext cx="4977765" cy="1059180"/>
            <a:chOff x="6680835" y="5303520"/>
            <a:chExt cx="4977765" cy="1059180"/>
          </a:xfrm>
        </p:grpSpPr>
        <p:sp>
          <p:nvSpPr>
            <p:cNvPr id="41" name="Rectangle 41"/>
            <p:cNvSpPr/>
            <p:nvPr/>
          </p:nvSpPr>
          <p:spPr>
            <a:xfrm>
              <a:off x="6680835" y="5303520"/>
              <a:ext cx="4977765" cy="1059180"/>
            </a:xfrm>
            <a:prstGeom prst="roundRect">
              <a:avLst>
                <a:gd name="adj" fmla="val 10791"/>
              </a:avLst>
            </a:prstGeom>
            <a:solidFill>
              <a:srgbClr val="FDECEA"/>
            </a:solidFill>
            <a:ln>
              <a:noFill/>
            </a:ln>
          </p:spPr>
        </p:sp>
        <p:grpSp>
          <p:nvGrpSpPr>
            <p:cNvPr id="45" name="Group 45"/>
            <p:cNvGrpSpPr/>
            <p:nvPr/>
          </p:nvGrpSpPr>
          <p:grpSpPr>
            <a:xfrm>
              <a:off x="6873564" y="5729406"/>
              <a:ext cx="224134" cy="192560"/>
              <a:chOff x="6873564" y="5729406"/>
              <a:chExt cx="224134" cy="192560"/>
            </a:xfrm>
          </p:grpSpPr>
          <p:sp>
            <p:nvSpPr>
              <p:cNvPr id="42" name="Freeform 42"/>
              <p:cNvSpPr/>
              <p:nvPr/>
            </p:nvSpPr>
            <p:spPr>
              <a:xfrm>
                <a:off x="6985635" y="5799773"/>
                <a:ext cx="95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44450">
                    <a:moveTo>
                      <a:pt x="0" y="0"/>
                    </a:moveTo>
                    <a:lnTo>
                      <a:pt x="0" y="4445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43" name="Freeform 43"/>
              <p:cNvSpPr/>
              <p:nvPr/>
            </p:nvSpPr>
            <p:spPr>
              <a:xfrm>
                <a:off x="6873564" y="5729406"/>
                <a:ext cx="224134" cy="192560"/>
              </a:xfrm>
              <a:custGeom>
                <a:avLst/>
                <a:gdLst/>
                <a:ahLst/>
                <a:cxnLst/>
                <a:rect l="l" t="t" r="r" b="b"/>
                <a:pathLst>
                  <a:path w="224134" h="192560">
                    <a:moveTo>
                      <a:pt x="93880" y="10259"/>
                    </a:moveTo>
                    <a:lnTo>
                      <a:pt x="3802" y="160656"/>
                    </a:lnTo>
                    <a:cubicBezTo>
                      <a:pt x="23" y="167200"/>
                      <a:pt x="0" y="175257"/>
                      <a:pt x="3741" y="181823"/>
                    </a:cubicBezTo>
                    <a:cubicBezTo>
                      <a:pt x="7482" y="188388"/>
                      <a:pt x="14426" y="192476"/>
                      <a:pt x="21982" y="192560"/>
                    </a:cubicBezTo>
                    <a:lnTo>
                      <a:pt x="202160" y="192560"/>
                    </a:lnTo>
                    <a:cubicBezTo>
                      <a:pt x="209713" y="192473"/>
                      <a:pt x="216653" y="188387"/>
                      <a:pt x="220393" y="181826"/>
                    </a:cubicBezTo>
                    <a:cubicBezTo>
                      <a:pt x="224134" y="175264"/>
                      <a:pt x="224114" y="167211"/>
                      <a:pt x="220341" y="160667"/>
                    </a:cubicBezTo>
                    <a:lnTo>
                      <a:pt x="130262" y="10248"/>
                    </a:lnTo>
                    <a:cubicBezTo>
                      <a:pt x="126408" y="3886"/>
                      <a:pt x="119510" y="0"/>
                      <a:pt x="112071" y="0"/>
                    </a:cubicBezTo>
                    <a:cubicBezTo>
                      <a:pt x="104633" y="0"/>
                      <a:pt x="97734" y="3886"/>
                      <a:pt x="93880" y="10248"/>
                    </a:cubicBez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44" name="Freeform 44"/>
              <p:cNvSpPr/>
              <p:nvPr/>
            </p:nvSpPr>
            <p:spPr>
              <a:xfrm>
                <a:off x="6985635" y="5877561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</p:grpSp>
        <p:sp>
          <p:nvSpPr>
            <p:cNvPr id="46" name="TextBox 46"/>
            <p:cNvSpPr txBox="1"/>
            <p:nvPr/>
          </p:nvSpPr>
          <p:spPr>
            <a:xfrm>
              <a:off x="7187565" y="5452110"/>
              <a:ext cx="4015740" cy="8458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插值让放大后的图像看起来平滑、干净，但</a:t>
              </a:r>
              <a:r>
                <a:rPr lang="zh-CN" sz="150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不能</a:t>
              </a:r>
              <a:br/>
              <a:r>
                <a:rPr lang="zh-CN" sz="150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增加光学信息</a:t>
              </a:r>
              <a:r>
                <a:rPr lang="zh-CN" sz="150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。数码变焦就是插值放大，光学变</a:t>
              </a:r>
              <a:br/>
              <a:r>
                <a:rPr lang="zh-CN" sz="150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焦靠镜头结构才真正拍到更多细节。</a:t>
              </a:r>
            </a:p>
          </p:txBody>
        </p:sp>
      </p:grpSp>
      <p:grpSp>
        <p:nvGrpSpPr>
          <p:cNvPr id="50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48" name="TextBox 48"/>
            <p:cNvSpPr txBox="1"/>
            <p:nvPr/>
          </p:nvSpPr>
          <p:spPr>
            <a:xfrm>
              <a:off x="528447" y="6581299"/>
              <a:ext cx="225267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计算方法 · 第5章 函数插值与曲线拟合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11581087" y="6581299"/>
              <a:ext cx="824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7996504" cy="909257"/>
            <a:chOff x="520446" y="342900"/>
            <a:chExt cx="7996504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414588" cy="266700"/>
            </a:xfrm>
            <a:prstGeom prst="roundRect">
              <a:avLst>
                <a:gd name="adj" fmla="val 50000"/>
              </a:avLst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96156" y="407194"/>
              <a:ext cx="228812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第5章 函数插值 · 引入：图像缩放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7996504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最近邻插值：把 B 的坐标映射回 A，取最近的原像素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E7D4F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6542" y="1545907"/>
            <a:ext cx="10480739" cy="512636"/>
            <a:chOff x="526542" y="1545907"/>
            <a:chExt cx="10480739" cy="512636"/>
          </a:xfrm>
        </p:grpSpPr>
        <p:sp>
          <p:nvSpPr>
            <p:cNvPr id="7" name="TextBox 7"/>
            <p:cNvSpPr txBox="1"/>
            <p:nvPr/>
          </p:nvSpPr>
          <p:spPr>
            <a:xfrm>
              <a:off x="526542" y="1545907"/>
              <a:ext cx="10480739" cy="51263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58"/>
                </a:lnSpc>
              </a:pPr>
              <a:r>
                <a:rPr lang="zh-CN" sz="13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例：把 3×3 的 256 级灰度图 A 放大成 4×4 的 B。行、列坐标都从 0 开始，Bx、By 是 B 中某位置的横（列）、纵（行）坐标，Ax、Ay 是它</a:t>
              </a:r>
              <a:br/>
              <a:r>
                <a:rPr lang="zh-CN" sz="13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映射回 A 后的坐标。</a:t>
              </a:r>
            </a:p>
          </p:txBody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formula11"/>
              <p:cNvSpPr txBox="1">
                <a:spLocks noGrp="1"/>
              </p:cNvSpPr>
              <p:nvPr/>
            </p:nvSpPr>
            <p:spPr>
              <a:xfrm>
                <a:off x="533400" y="2177415"/>
                <a:ext cx="5410200" cy="54006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lIns="0" tIns="0" rIns="0" bIns="0" wrap="none" anchor="ctr">
                <a:normAutofit/>
              </a:bodyPr>
              <a:lstStyle/>
              <a:p>
                <a:pPr algn="ctr"/>
                <a14:m>
                  <m:oMathPara xmlns:a="http://schemas.openxmlformats.org/drawingml/2006/main"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a:rPr lang="zh-CN" sz="15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A</m:t>
                          </m:r>
                        </m:e>
                        <m:sub>
                          <m:r>
                            <a:rPr lang="zh-CN" sz="15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x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zh-CN" sz="158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sSub>
                        <m:e>
                          <m:r>
                            <a:rPr lang="zh-CN" sz="15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B</m:t>
                          </m:r>
                        </m:e>
                        <m:sub>
                          <m:r>
                            <a:rPr lang="zh-CN" sz="15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x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zh-CN" sz="158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×</m:t>
                      </m:r>
                      <m:f>
                        <m:fPr>
                          <m:type m:val="bar"/>
                          <m:ctrlPr>
                            <a:rPr lang="zh-CN" sz="15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Pr>
                        <m:num>
                          <m:sSub>
                            <m:e>
                              <m:r>
                                <a:rPr lang="zh-CN" sz="15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m</m:t>
                              </m:r>
                            </m:e>
                            <m:sub>
                              <m:r>
                                <a:rPr lang="zh-CN" sz="15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A</m:t>
                              </m:r>
                            </m:sub>
                          </m:sSub>
                        </m:num>
                        <m:den>
                          <m:sSub>
                            <m:e>
                              <m:r>
                                <a:rPr lang="zh-CN" sz="15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m</m:t>
                              </m:r>
                            </m:e>
                            <m:sub>
                              <m:r>
                                <a:rPr lang="zh-CN" sz="15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B</m:t>
                              </m:r>
                            </m:sub>
                          </m:sSub>
                        </m:den>
                      </m:f>
                      <m:r>
                        <a:rPr lang="zh-CN" sz="158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 xml:space="preserve"> </m:t>
                      </m:r>
                      <m:d>
                        <m:dPr>
                          <m:begChr m:val="("/>
                          <m:sepChr m:val=""/>
                          <m:endChr m:val=")"/>
                          <m:grow m:val="on"/>
                          <m:ctrlPr>
                            <a:rPr lang="zh-CN" sz="15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a:rPr lang="zh-CN" sz="15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5.1.1</m:t>
                          </m:r>
                        </m:e>
                      </m:d>
                      <m:r>
                        <m:rPr>
                          <m:sty m:val="p"/>
                        </m:rPr>
                        <a:rPr lang="zh-CN" sz="158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,</m:t>
                      </m:r>
                      <m:r>
                        <a:rPr lang="zh-CN" sz="158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 xml:space="preserve">  </m:t>
                      </m:r>
                      <m:sSub>
                        <m:e>
                          <m:r>
                            <a:rPr lang="zh-CN" sz="15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A</m:t>
                          </m:r>
                        </m:e>
                        <m:sub>
                          <m:r>
                            <a:rPr lang="zh-CN" sz="15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y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zh-CN" sz="158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sSub>
                        <m:e>
                          <m:r>
                            <a:rPr lang="zh-CN" sz="15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B</m:t>
                          </m:r>
                        </m:e>
                        <m:sub>
                          <m:r>
                            <a:rPr lang="zh-CN" sz="15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y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zh-CN" sz="158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×</m:t>
                      </m:r>
                      <m:f>
                        <m:fPr>
                          <m:type m:val="bar"/>
                          <m:ctrlPr>
                            <a:rPr lang="zh-CN" sz="15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Pr>
                        <m:num>
                          <m:sSub>
                            <m:e>
                              <m:r>
                                <a:rPr lang="zh-CN" sz="15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n</m:t>
                              </m:r>
                            </m:e>
                            <m:sub>
                              <m:r>
                                <a:rPr lang="zh-CN" sz="15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A</m:t>
                              </m:r>
                            </m:sub>
                          </m:sSub>
                        </m:num>
                        <m:den>
                          <m:sSub>
                            <m:e>
                              <m:r>
                                <a:rPr lang="zh-CN" sz="15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n</m:t>
                              </m:r>
                            </m:e>
                            <m:sub>
                              <m:r>
                                <a:rPr lang="zh-CN" sz="15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B</m:t>
                              </m:r>
                            </m:sub>
                          </m:sSub>
                        </m:den>
                      </m:f>
                      <m:r>
                        <a:rPr lang="zh-CN" sz="158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 xml:space="preserve"> </m:t>
                      </m:r>
                      <m:d>
                        <m:dPr>
                          <m:begChr m:val="("/>
                          <m:sepChr m:val=""/>
                          <m:endChr m:val=")"/>
                          <m:grow m:val="on"/>
                          <m:ctrlPr>
                            <a:rPr lang="zh-CN" sz="15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a:rPr lang="zh-CN" sz="15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5.1.2</m:t>
                          </m:r>
                        </m:e>
                      </m:d>
                    </m:oMath>
                  </m:oMathPara>
                </a14:m>
              </a:p>
            </p:txBody>
          </p:sp>
        </mc:Choice>
      </mc:AlternateContent>
      <p:grpSp>
        <p:nvGrpSpPr>
          <p:cNvPr id="11" name="c1-text-2"/>
          <p:cNvGrpSpPr/>
          <p:nvPr/>
        </p:nvGrpSpPr>
        <p:grpSpPr>
          <a:xfrm>
            <a:off x="527685" y="2905601"/>
            <a:ext cx="3456625" cy="220028"/>
            <a:chOff x="527685" y="2905601"/>
            <a:chExt cx="3456625" cy="220028"/>
          </a:xfrm>
        </p:grpSpPr>
        <p:sp>
          <p:nvSpPr>
            <p:cNvPr id="10" name="TextBox 10"/>
            <p:cNvSpPr txBox="1"/>
            <p:nvPr/>
          </p:nvSpPr>
          <p:spPr>
            <a:xfrm>
              <a:off x="527685" y="2905601"/>
              <a:ext cx="345662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m 表示列数，n 表示行数。本例两个比值都是 3/4。</a:t>
              </a:r>
            </a:p>
          </p:txBody>
        </p:sp>
      </p:grpSp>
      <p:grpSp>
        <p:nvGrpSpPr>
          <p:cNvPr id="43" name="c1-table-3"/>
          <p:cNvGrpSpPr/>
          <p:nvPr/>
        </p:nvGrpSpPr>
        <p:grpSpPr>
          <a:xfrm>
            <a:off x="528447" y="3251835"/>
            <a:ext cx="5415153" cy="1863756"/>
            <a:chOff x="528447" y="3251835"/>
            <a:chExt cx="5415153" cy="1863756"/>
          </a:xfrm>
        </p:grpSpPr>
        <p:sp>
          <p:nvSpPr>
            <p:cNvPr id="12" name="Rectangle 12"/>
            <p:cNvSpPr/>
            <p:nvPr/>
          </p:nvSpPr>
          <p:spPr>
            <a:xfrm>
              <a:off x="533400" y="3251835"/>
              <a:ext cx="5410200" cy="400050"/>
            </a:xfrm>
            <a:prstGeom prst="rect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900039" y="3373279"/>
              <a:ext cx="60593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B 的坐标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2251036" y="3373279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3227349" y="3373279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4285576" y="3373279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5344756" y="3373279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630555" y="3773329"/>
              <a:ext cx="60593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映射回 A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2253110" y="3773329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3105033" y="3773329"/>
              <a:ext cx="34313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0.75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4204724" y="3773329"/>
              <a:ext cx="26020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1.5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5222441" y="3773329"/>
              <a:ext cx="34313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2.25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533400" y="4047172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4" name="Rectangle 24"/>
            <p:cNvSpPr/>
            <p:nvPr/>
          </p:nvSpPr>
          <p:spPr>
            <a:xfrm>
              <a:off x="533400" y="4051935"/>
              <a:ext cx="5410200" cy="40005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630555" y="4173379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四舍五入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2253110" y="4173379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2736532" y="4061460"/>
              <a:ext cx="1081088" cy="381000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3229422" y="4173379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4287650" y="4173379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5346830" y="4173379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533400" y="4447222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630555" y="4573429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舍去小数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2253110" y="4573429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3229422" y="4573429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4287650" y="4573429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5346830" y="4573429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533400" y="3251835"/>
              <a:ext cx="5410200" cy="1600200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38" name="Rectangle 38"/>
            <p:cNvSpPr/>
            <p:nvPr/>
          </p:nvSpPr>
          <p:spPr>
            <a:xfrm>
              <a:off x="1868805" y="3251835"/>
              <a:ext cx="9525" cy="160020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9" name="Rectangle 39"/>
            <p:cNvSpPr/>
            <p:nvPr/>
          </p:nvSpPr>
          <p:spPr>
            <a:xfrm>
              <a:off x="2722245" y="3251835"/>
              <a:ext cx="9525" cy="160020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3821430" y="3251835"/>
              <a:ext cx="9525" cy="160020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1" name="Rectangle 41"/>
            <p:cNvSpPr/>
            <p:nvPr/>
          </p:nvSpPr>
          <p:spPr>
            <a:xfrm>
              <a:off x="4838700" y="3251835"/>
              <a:ext cx="9525" cy="160020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2" name="TextBox 42"/>
            <p:cNvSpPr txBox="1"/>
            <p:nvPr/>
          </p:nvSpPr>
          <p:spPr>
            <a:xfrm>
              <a:off x="528447" y="4924901"/>
              <a:ext cx="1593037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横、纵两个方向的映射相同</a:t>
              </a:r>
            </a:p>
          </p:txBody>
        </p:sp>
      </p:grpSp>
      <p:grpSp>
        <p:nvGrpSpPr>
          <p:cNvPr id="50" name="c1-callout-4"/>
          <p:cNvGrpSpPr/>
          <p:nvPr/>
        </p:nvGrpSpPr>
        <p:grpSpPr>
          <a:xfrm>
            <a:off x="533400" y="5247322"/>
            <a:ext cx="5410200" cy="729615"/>
            <a:chOff x="533400" y="5247322"/>
            <a:chExt cx="5410200" cy="729615"/>
          </a:xfrm>
        </p:grpSpPr>
        <p:sp>
          <p:nvSpPr>
            <p:cNvPr id="44" name="Rectangle 44"/>
            <p:cNvSpPr/>
            <p:nvPr/>
          </p:nvSpPr>
          <p:spPr>
            <a:xfrm>
              <a:off x="533400" y="5247322"/>
              <a:ext cx="5410200" cy="729615"/>
            </a:xfrm>
            <a:prstGeom prst="roundRect">
              <a:avLst>
                <a:gd name="adj" fmla="val 15666"/>
              </a:avLst>
            </a:prstGeom>
            <a:solidFill>
              <a:srgbClr val="FDEEE7"/>
            </a:solidFill>
            <a:ln>
              <a:noFill/>
            </a:ln>
          </p:spPr>
        </p:sp>
        <p:grpSp>
          <p:nvGrpSpPr>
            <p:cNvPr id="48" name="Group 48"/>
            <p:cNvGrpSpPr/>
            <p:nvPr/>
          </p:nvGrpSpPr>
          <p:grpSpPr>
            <a:xfrm>
              <a:off x="738188" y="5512118"/>
              <a:ext cx="200026" cy="200025"/>
              <a:chOff x="738188" y="5512118"/>
              <a:chExt cx="200026" cy="200025"/>
            </a:xfrm>
          </p:grpSpPr>
          <p:sp>
            <p:nvSpPr>
              <p:cNvPr id="45" name="Freeform 45"/>
              <p:cNvSpPr/>
              <p:nvPr/>
            </p:nvSpPr>
            <p:spPr>
              <a:xfrm>
                <a:off x="738188" y="5512118"/>
                <a:ext cx="200026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00013">
                    <a:moveTo>
                      <a:pt x="0" y="100013"/>
                    </a:moveTo>
                    <a:lnTo>
                      <a:pt x="11113" y="100013"/>
                    </a:lnTo>
                    <a:moveTo>
                      <a:pt x="100013" y="0"/>
                    </a:moveTo>
                    <a:lnTo>
                      <a:pt x="100013" y="11113"/>
                    </a:lnTo>
                    <a:moveTo>
                      <a:pt x="188913" y="100013"/>
                    </a:moveTo>
                    <a:lnTo>
                      <a:pt x="200026" y="100013"/>
                    </a:lnTo>
                    <a:moveTo>
                      <a:pt x="28893" y="28893"/>
                    </a:moveTo>
                    <a:lnTo>
                      <a:pt x="36671" y="36671"/>
                    </a:lnTo>
                    <a:moveTo>
                      <a:pt x="171133" y="28893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46" name="Freeform 46"/>
              <p:cNvSpPr/>
              <p:nvPr/>
            </p:nvSpPr>
            <p:spPr>
              <a:xfrm>
                <a:off x="777926" y="5556568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3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3" y="15304"/>
                      <a:pt x="112986" y="37992"/>
                    </a:cubicBezTo>
                    <a:cubicBezTo>
                      <a:pt x="120548" y="60681"/>
                      <a:pt x="112745" y="85663"/>
                      <a:pt x="93612" y="100013"/>
                    </a:cubicBezTo>
                    <a:cubicBezTo>
                      <a:pt x="84812" y="108723"/>
                      <a:pt x="80686" y="121103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3"/>
                      <a:pt x="35736" y="108723"/>
                      <a:pt x="26937" y="100013"/>
                    </a:cubicBez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47" name="Freeform 47"/>
              <p:cNvSpPr/>
              <p:nvPr/>
            </p:nvSpPr>
            <p:spPr>
              <a:xfrm>
                <a:off x="812642" y="5667693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</p:grpSp>
        <p:sp>
          <p:nvSpPr>
            <p:cNvPr id="49" name="TextBox 49"/>
            <p:cNvSpPr txBox="1"/>
            <p:nvPr/>
          </p:nvSpPr>
          <p:spPr>
            <a:xfrm>
              <a:off x="1040892" y="5393055"/>
              <a:ext cx="4265676" cy="51263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58"/>
                </a:lnSpc>
              </a:pPr>
              <a:r>
                <a:rPr lang="zh-CN" sz="135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B(1,0) 指第 1 列、第 0 行：(1×3/4, 0×3/4) = (0.75,</a:t>
              </a:r>
              <a:br/>
              <a:r>
                <a:rPr lang="zh-CN" sz="135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0)，四舍五入得 (1, 0)，所以 B(1,0) = A(1,0) = 88。</a:t>
              </a:r>
            </a:p>
          </p:txBody>
        </p:sp>
      </p:grpSp>
      <p:grpSp>
        <p:nvGrpSpPr>
          <p:cNvPr id="52" name="c2-text-1"/>
          <p:cNvGrpSpPr/>
          <p:nvPr/>
        </p:nvGrpSpPr>
        <p:grpSpPr>
          <a:xfrm>
            <a:off x="6241542" y="2199322"/>
            <a:ext cx="2760345" cy="264033"/>
            <a:chOff x="6241542" y="2199322"/>
            <a:chExt cx="2760345" cy="264033"/>
          </a:xfrm>
        </p:grpSpPr>
        <p:sp>
          <p:nvSpPr>
            <p:cNvPr id="51" name="TextBox 51"/>
            <p:cNvSpPr txBox="1"/>
            <p:nvPr/>
          </p:nvSpPr>
          <p:spPr>
            <a:xfrm>
              <a:off x="6241542" y="2199322"/>
              <a:ext cx="276034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原图 A 与两种取整方式得到的 B：</a:t>
              </a:r>
            </a:p>
          </p:txBody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53" name="formula12"/>
              <p:cNvSpPr txBox="1">
                <a:spLocks noGrp="1"/>
              </p:cNvSpPr>
              <p:nvPr/>
            </p:nvSpPr>
            <p:spPr>
              <a:xfrm>
                <a:off x="6248400" y="2580322"/>
                <a:ext cx="5410200" cy="990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lIns="0" tIns="0" rIns="0" bIns="0" wrap="none" anchor="ctr">
                <a:normAutofit/>
              </a:bodyPr>
              <a:lstStyle/>
              <a:p>
                <a:pPr algn="ctr"/>
                <a14:m>
                  <m:oMathPara xmlns:a="http://schemas.openxmlformats.org/drawingml/2006/main" xmlns:m="http://schemas.openxmlformats.org/officeDocument/2006/math">
                    <m:oMathParaPr>
                      <m:jc m:val="center"/>
                    </m:oMathParaPr>
                    <m:oMath>
                      <m:r>
                        <a:rPr lang="zh-CN" sz="158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A</m:t>
                      </m:r>
                      <m:r>
                        <m:rPr>
                          <m:sty m:val="p"/>
                        </m:rPr>
                        <a:rPr lang="zh-CN" sz="158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d>
                        <m:dPr>
                          <m:begChr m:val="["/>
                          <m:sepChr m:val=""/>
                          <m:endChr m:val="]"/>
                          <m:grow m:val="on"/>
                          <m:ctrlPr>
                            <a:rPr lang="zh-CN" sz="15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m>
                            <m:mPr>
                              <m:baseJc m:val="center"/>
                              <m:plcHide m:val="on"/>
                              <m:mcs>
                                <m:mc>
                                  <m:mcPr>
                                    <m:count m:val="1"/>
                                  </m:mcPr>
                                </m:mc>
                                <m:mc>
                                  <m:mcPr>
                                    <m:count m:val="1"/>
                                  </m:mcPr>
                                </m:mc>
                                <m:mc>
                                  <m:mcPr>
                                    <m:count m:val="1"/>
                                  </m:mcPr>
                                </m:mc>
                              </m:mcs>
                            </m:mPr>
                            <m:mr>
                              <m:e>
                                <m:r>
                                  <a:rPr lang="zh-CN" sz="15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99</m:t>
                                </m:r>
                              </m:e>
                              <m:e>
                                <m:r>
                                  <a:rPr lang="zh-CN" sz="15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88</m:t>
                                </m:r>
                              </m:e>
                              <m:e>
                                <m:r>
                                  <a:rPr lang="zh-CN" sz="15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77</m:t>
                                </m:r>
                              </m:e>
                            </m:mr>
                            <m:mr>
                              <m:e>
                                <m:r>
                                  <a:rPr lang="zh-CN" sz="15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66</m:t>
                                </m:r>
                              </m:e>
                              <m:e>
                                <m:r>
                                  <a:rPr lang="zh-CN" sz="15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55</m:t>
                                </m:r>
                              </m:e>
                              <m:e>
                                <m:r>
                                  <a:rPr lang="zh-CN" sz="15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44</m:t>
                                </m:r>
                              </m:e>
                            </m:mr>
                            <m:mr>
                              <m:e>
                                <m:r>
                                  <a:rPr lang="zh-CN" sz="15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33</m:t>
                                </m:r>
                              </m:e>
                              <m:e>
                                <m:r>
                                  <a:rPr lang="zh-CN" sz="15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22</m:t>
                                </m:r>
                              </m:e>
                              <m:e>
                                <m:r>
                                  <a:rPr lang="zh-CN" sz="15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11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4" name="formula13"/>
              <p:cNvSpPr txBox="1">
                <a:spLocks noGrp="1"/>
              </p:cNvSpPr>
              <p:nvPr/>
            </p:nvSpPr>
            <p:spPr>
              <a:xfrm>
                <a:off x="6248400" y="3740468"/>
                <a:ext cx="5410200" cy="126015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lIns="0" tIns="0" rIns="0" bIns="0" wrap="none" anchor="ctr">
                <a:normAutofit/>
              </a:bodyPr>
              <a:lstStyle/>
              <a:p>
                <a:pPr algn="ctr"/>
                <a14:m>
                  <m:oMathPara xmlns:a="http://schemas.openxmlformats.org/drawingml/2006/main" xmlns:m="http://schemas.openxmlformats.org/officeDocument/2006/math">
                    <m:oMathParaPr>
                      <m:jc m:val="center"/>
                    </m:oMathParaPr>
                    <m:oMath>
                      <m:r>
                        <a:rPr lang="zh-CN" sz="158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B</m:t>
                      </m:r>
                      <m:r>
                        <m:rPr>
                          <m:sty m:val="p"/>
                        </m:rPr>
                        <a:rPr lang="zh-CN" sz="158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d>
                        <m:dPr>
                          <m:begChr m:val="["/>
                          <m:sepChr m:val=""/>
                          <m:endChr m:val="]"/>
                          <m:grow m:val="on"/>
                          <m:ctrlPr>
                            <a:rPr lang="zh-CN" sz="15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m>
                            <m:mPr>
                              <m:baseJc m:val="center"/>
                              <m:plcHide m:val="on"/>
                              <m:mcs>
                                <m:mc>
                                  <m:mcPr>
                                    <m:count m:val="1"/>
                                  </m:mcPr>
                                </m:mc>
                                <m:mc>
                                  <m:mcPr>
                                    <m:count m:val="1"/>
                                  </m:mcPr>
                                </m:mc>
                                <m:mc>
                                  <m:mcPr>
                                    <m:count m:val="1"/>
                                  </m:mcPr>
                                </m:mc>
                                <m:mc>
                                  <m:mcPr>
                                    <m:count m:val="1"/>
                                  </m:mcPr>
                                </m:mc>
                              </m:mcs>
                            </m:mPr>
                            <m:mr>
                              <m:e>
                                <m:r>
                                  <a:rPr lang="zh-CN" sz="15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99</m:t>
                                </m:r>
                              </m:e>
                              <m:e>
                                <m:r>
                                  <a:rPr lang="zh-CN" sz="15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88</m:t>
                                </m:r>
                              </m:e>
                              <m:e>
                                <m:r>
                                  <a:rPr lang="zh-CN" sz="15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77</m:t>
                                </m:r>
                              </m:e>
                              <m:e>
                                <m:r>
                                  <a:rPr lang="zh-CN" sz="15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77</m:t>
                                </m:r>
                              </m:e>
                            </m:mr>
                            <m:mr>
                              <m:e>
                                <m:r>
                                  <a:rPr lang="zh-CN" sz="15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66</m:t>
                                </m:r>
                              </m:e>
                              <m:e>
                                <m:r>
                                  <a:rPr lang="zh-CN" sz="15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55</m:t>
                                </m:r>
                              </m:e>
                              <m:e>
                                <m:r>
                                  <a:rPr lang="zh-CN" sz="15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44</m:t>
                                </m:r>
                              </m:e>
                              <m:e>
                                <m:r>
                                  <a:rPr lang="zh-CN" sz="15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44</m:t>
                                </m:r>
                              </m:e>
                            </m:mr>
                            <m:mr>
                              <m:e>
                                <m:r>
                                  <a:rPr lang="zh-CN" sz="15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33</m:t>
                                </m:r>
                              </m:e>
                              <m:e>
                                <m:r>
                                  <a:rPr lang="zh-CN" sz="15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22</m:t>
                                </m:r>
                              </m:e>
                              <m:e>
                                <m:r>
                                  <a:rPr lang="zh-CN" sz="15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11</m:t>
                                </m:r>
                              </m:e>
                              <m:e>
                                <m:r>
                                  <a:rPr lang="zh-CN" sz="15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11</m:t>
                                </m:r>
                              </m:e>
                            </m:mr>
                            <m:mr>
                              <m:e>
                                <m:r>
                                  <a:rPr lang="zh-CN" sz="15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33</m:t>
                                </m:r>
                              </m:e>
                              <m:e>
                                <m:r>
                                  <a:rPr lang="zh-CN" sz="15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22</m:t>
                                </m:r>
                              </m:e>
                              <m:e>
                                <m:r>
                                  <a:rPr lang="zh-CN" sz="15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11</m:t>
                                </m:r>
                              </m:e>
                              <m:e>
                                <m:r>
                                  <a:rPr lang="zh-CN" sz="15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11</m:t>
                                </m:r>
                              </m:e>
                            </m:mr>
                          </m:m>
                        </m:e>
                      </m:d>
                      <m:r>
                        <m:rPr>
                          <m:sty m:val="p"/>
                        </m:rPr>
                        <a:rPr lang="zh-CN" sz="158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,</m:t>
                      </m:r>
                      <m:r>
                        <a:rPr lang="zh-CN" sz="158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 xml:space="preserve">  </m:t>
                      </m:r>
                      <m:sSup>
                        <m:e>
                          <m:r>
                            <a:rPr lang="zh-CN" sz="15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B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a:rPr lang="zh-CN" sz="15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′</m:t>
                          </m:r>
                        </m:sup>
                      </m:sSup>
                      <m:r>
                        <m:rPr>
                          <m:sty m:val="p"/>
                        </m:rPr>
                        <a:rPr lang="zh-CN" sz="158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d>
                        <m:dPr>
                          <m:begChr m:val="["/>
                          <m:sepChr m:val=""/>
                          <m:endChr m:val="]"/>
                          <m:grow m:val="on"/>
                          <m:ctrlPr>
                            <a:rPr lang="zh-CN" sz="15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m>
                            <m:mPr>
                              <m:baseJc m:val="center"/>
                              <m:plcHide m:val="on"/>
                              <m:mcs>
                                <m:mc>
                                  <m:mcPr>
                                    <m:count m:val="1"/>
                                  </m:mcPr>
                                </m:mc>
                                <m:mc>
                                  <m:mcPr>
                                    <m:count m:val="1"/>
                                  </m:mcPr>
                                </m:mc>
                                <m:mc>
                                  <m:mcPr>
                                    <m:count m:val="1"/>
                                  </m:mcPr>
                                </m:mc>
                                <m:mc>
                                  <m:mcPr>
                                    <m:count m:val="1"/>
                                  </m:mcPr>
                                </m:mc>
                              </m:mcs>
                            </m:mPr>
                            <m:mr>
                              <m:e>
                                <m:r>
                                  <a:rPr lang="zh-CN" sz="15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99</m:t>
                                </m:r>
                              </m:e>
                              <m:e>
                                <m:r>
                                  <a:rPr lang="zh-CN" sz="15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99</m:t>
                                </m:r>
                              </m:e>
                              <m:e>
                                <m:r>
                                  <a:rPr lang="zh-CN" sz="15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88</m:t>
                                </m:r>
                              </m:e>
                              <m:e>
                                <m:r>
                                  <a:rPr lang="zh-CN" sz="15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77</m:t>
                                </m:r>
                              </m:e>
                            </m:mr>
                            <m:mr>
                              <m:e>
                                <m:r>
                                  <a:rPr lang="zh-CN" sz="15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99</m:t>
                                </m:r>
                              </m:e>
                              <m:e>
                                <m:r>
                                  <a:rPr lang="zh-CN" sz="15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99</m:t>
                                </m:r>
                              </m:e>
                              <m:e>
                                <m:r>
                                  <a:rPr lang="zh-CN" sz="15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88</m:t>
                                </m:r>
                              </m:e>
                              <m:e>
                                <m:r>
                                  <a:rPr lang="zh-CN" sz="15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77</m:t>
                                </m:r>
                              </m:e>
                            </m:mr>
                            <m:mr>
                              <m:e>
                                <m:r>
                                  <a:rPr lang="zh-CN" sz="15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66</m:t>
                                </m:r>
                              </m:e>
                              <m:e>
                                <m:r>
                                  <a:rPr lang="zh-CN" sz="15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66</m:t>
                                </m:r>
                              </m:e>
                              <m:e>
                                <m:r>
                                  <a:rPr lang="zh-CN" sz="15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55</m:t>
                                </m:r>
                              </m:e>
                              <m:e>
                                <m:r>
                                  <a:rPr lang="zh-CN" sz="15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44</m:t>
                                </m:r>
                              </m:e>
                            </m:mr>
                            <m:mr>
                              <m:e>
                                <m:r>
                                  <a:rPr lang="zh-CN" sz="15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33</m:t>
                                </m:r>
                              </m:e>
                              <m:e>
                                <m:r>
                                  <a:rPr lang="zh-CN" sz="15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33</m:t>
                                </m:r>
                              </m:e>
                              <m:e>
                                <m:r>
                                  <a:rPr lang="zh-CN" sz="15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22</m:t>
                                </m:r>
                              </m:e>
                              <m:e>
                                <m:r>
                                  <a:rPr lang="zh-CN" sz="15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11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</a:p>
            </p:txBody>
          </p:sp>
        </mc:Choice>
      </mc:AlternateContent>
      <p:grpSp>
        <p:nvGrpSpPr>
          <p:cNvPr id="56" name="c2-text-4"/>
          <p:cNvGrpSpPr/>
          <p:nvPr/>
        </p:nvGrpSpPr>
        <p:grpSpPr>
          <a:xfrm>
            <a:off x="6242685" y="5188744"/>
            <a:ext cx="5167630" cy="441008"/>
            <a:chOff x="6242685" y="5188744"/>
            <a:chExt cx="5167630" cy="441008"/>
          </a:xfrm>
        </p:grpSpPr>
        <p:sp>
          <p:nvSpPr>
            <p:cNvPr id="55" name="TextBox 55"/>
            <p:cNvSpPr txBox="1"/>
            <p:nvPr/>
          </p:nvSpPr>
          <p:spPr>
            <a:xfrm>
              <a:off x="6242685" y="5188744"/>
              <a:ext cx="5167630" cy="4410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40"/>
                </a:lnSpc>
              </a:pPr>
              <a:r>
                <a:rPr lang="zh-CN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B 按四舍五入取整（原课件的结果），B′ 按舍去小数取整。两种做法都是让每个新</a:t>
              </a:r>
              <a:br/>
              <a:r>
                <a:rPr lang="zh-CN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像素照搬一个原像素，所以放大后出现成块的相同灰度。</a:t>
              </a:r>
            </a:p>
          </p:txBody>
        </p:sp>
      </p:grpSp>
      <p:grpSp>
        <p:nvGrpSpPr>
          <p:cNvPr id="59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57" name="TextBox 57"/>
            <p:cNvSpPr txBox="1"/>
            <p:nvPr/>
          </p:nvSpPr>
          <p:spPr>
            <a:xfrm>
              <a:off x="528447" y="6581299"/>
              <a:ext cx="225267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计算方法 · 第5章 函数插值与曲线拟合</a:t>
              </a:r>
            </a:p>
          </p:txBody>
        </p:sp>
        <p:sp>
          <p:nvSpPr>
            <p:cNvPr id="58" name="TextBox 58"/>
            <p:cNvSpPr txBox="1"/>
            <p:nvPr/>
          </p:nvSpPr>
          <p:spPr>
            <a:xfrm>
              <a:off x="11581087" y="6581299"/>
              <a:ext cx="824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5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7578090" cy="909257"/>
            <a:chOff x="520446" y="342900"/>
            <a:chExt cx="7578090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414588" cy="266700"/>
            </a:xfrm>
            <a:prstGeom prst="roundRect">
              <a:avLst>
                <a:gd name="adj" fmla="val 50000"/>
              </a:avLst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96156" y="407194"/>
              <a:ext cx="228812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第5章 函数插值 · 引入：图像缩放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7578090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插值的历史与用途：从隋代历法到数值分析各分支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E7D4F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20" name="c1-steps-1"/>
          <p:cNvGrpSpPr/>
          <p:nvPr/>
        </p:nvGrpSpPr>
        <p:grpSpPr>
          <a:xfrm>
            <a:off x="533400" y="1533525"/>
            <a:ext cx="4628576" cy="1685449"/>
            <a:chOff x="533400" y="1533525"/>
            <a:chExt cx="4628576" cy="1685449"/>
          </a:xfrm>
        </p:grpSpPr>
        <p:sp>
          <p:nvSpPr>
            <p:cNvPr id="7" name="Rectangle 7"/>
            <p:cNvSpPr/>
            <p:nvPr/>
          </p:nvSpPr>
          <p:spPr>
            <a:xfrm>
              <a:off x="666750" y="1676400"/>
              <a:ext cx="19050" cy="116586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8" name="Ellipse 8"/>
            <p:cNvSpPr/>
            <p:nvPr/>
          </p:nvSpPr>
          <p:spPr>
            <a:xfrm>
              <a:off x="533400" y="1533525"/>
              <a:ext cx="285750" cy="28575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627024" y="160734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10" name="Ellipse 10"/>
            <p:cNvSpPr/>
            <p:nvPr/>
          </p:nvSpPr>
          <p:spPr>
            <a:xfrm>
              <a:off x="533400" y="2116455"/>
              <a:ext cx="285750" cy="28575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627024" y="219027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533400" y="2699385"/>
              <a:ext cx="285750" cy="28575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627024" y="277320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945642" y="1564957"/>
              <a:ext cx="96011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公元 6 世纪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946785" y="1833086"/>
              <a:ext cx="363001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隋代天文学家刘焯把等距节点的二次插值用于天文计算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945642" y="2147888"/>
              <a:ext cx="64434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17 世纪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946785" y="2416016"/>
              <a:ext cx="421519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牛顿、格雷戈里（Gregory）建立了等距节点上的一般插值公式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945642" y="2730818"/>
              <a:ext cx="64434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18 世纪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946785" y="2998946"/>
              <a:ext cx="272536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拉格朗日给出了非等距节点上的插值公式</a:t>
              </a:r>
            </a:p>
          </p:txBody>
        </p:sp>
      </p:grpSp>
      <p:grpSp>
        <p:nvGrpSpPr>
          <p:cNvPr id="26" name="c1-callout-2"/>
          <p:cNvGrpSpPr/>
          <p:nvPr/>
        </p:nvGrpSpPr>
        <p:grpSpPr>
          <a:xfrm>
            <a:off x="533400" y="3382328"/>
            <a:ext cx="5410200" cy="729615"/>
            <a:chOff x="533400" y="3382328"/>
            <a:chExt cx="5410200" cy="729615"/>
          </a:xfrm>
        </p:grpSpPr>
        <p:sp>
          <p:nvSpPr>
            <p:cNvPr id="21" name="Rectangle 21"/>
            <p:cNvSpPr/>
            <p:nvPr/>
          </p:nvSpPr>
          <p:spPr>
            <a:xfrm>
              <a:off x="533400" y="3382328"/>
              <a:ext cx="5410200" cy="729615"/>
            </a:xfrm>
            <a:prstGeom prst="roundRect">
              <a:avLst>
                <a:gd name="adj" fmla="val 15666"/>
              </a:avLst>
            </a:prstGeom>
            <a:solidFill>
              <a:srgbClr val="2E7D4F"/>
            </a:solidFill>
            <a:ln>
              <a:noFill/>
            </a:ln>
          </p:spPr>
        </p:sp>
        <p:grpSp>
          <p:nvGrpSpPr>
            <p:cNvPr id="24" name="Group 24"/>
            <p:cNvGrpSpPr/>
            <p:nvPr/>
          </p:nvGrpSpPr>
          <p:grpSpPr>
            <a:xfrm>
              <a:off x="738188" y="3647125"/>
              <a:ext cx="200023" cy="200023"/>
              <a:chOff x="738188" y="3647125"/>
              <a:chExt cx="200023" cy="200023"/>
            </a:xfrm>
          </p:grpSpPr>
          <p:sp>
            <p:nvSpPr>
              <p:cNvPr id="22" name="Freeform 22"/>
              <p:cNvSpPr/>
              <p:nvPr/>
            </p:nvSpPr>
            <p:spPr>
              <a:xfrm>
                <a:off x="738188" y="3647125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23" name="Freeform 23"/>
              <p:cNvSpPr/>
              <p:nvPr/>
            </p:nvSpPr>
            <p:spPr>
              <a:xfrm>
                <a:off x="871538" y="3713798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25" name="TextBox 25"/>
            <p:cNvSpPr txBox="1"/>
            <p:nvPr/>
          </p:nvSpPr>
          <p:spPr>
            <a:xfrm>
              <a:off x="1040892" y="3529012"/>
              <a:ext cx="4471416" cy="51263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58"/>
                </a:lnSpc>
              </a:pPr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插值问题：已知若干点上的函数值（有时还有导数值），构</a:t>
              </a:r>
              <a:br/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造一个简单函数经过这些点，再用它计算其他点的近似值。</a:t>
              </a:r>
            </a:p>
          </p:txBody>
        </p:sp>
      </p:grpSp>
      <p:grpSp>
        <p:nvGrpSpPr>
          <p:cNvPr id="43" name="c1-compare-3"/>
          <p:cNvGrpSpPr/>
          <p:nvPr/>
        </p:nvGrpSpPr>
        <p:grpSpPr>
          <a:xfrm>
            <a:off x="533400" y="4281488"/>
            <a:ext cx="5410200" cy="1995488"/>
            <a:chOff x="533400" y="4281488"/>
            <a:chExt cx="5410200" cy="1995488"/>
          </a:xfrm>
        </p:grpSpPr>
        <p:sp>
          <p:nvSpPr>
            <p:cNvPr id="27" name="Rectangle 27"/>
            <p:cNvSpPr/>
            <p:nvPr/>
          </p:nvSpPr>
          <p:spPr>
            <a:xfrm>
              <a:off x="533400" y="4281488"/>
              <a:ext cx="2533650" cy="1995488"/>
            </a:xfrm>
            <a:prstGeom prst="roundRect">
              <a:avLst>
                <a:gd name="adj" fmla="val 6683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542925" y="4414838"/>
              <a:ext cx="47625" cy="1728788"/>
            </a:xfrm>
            <a:prstGeom prst="roundRect">
              <a:avLst>
                <a:gd name="adj" fmla="val 50000"/>
              </a:avLst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751332" y="4491038"/>
              <a:ext cx="37719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插值</a:t>
              </a:r>
            </a:p>
          </p:txBody>
        </p:sp>
        <p:sp>
          <p:nvSpPr>
            <p:cNvPr id="30" name="Ellipse 30"/>
            <p:cNvSpPr/>
            <p:nvPr/>
          </p:nvSpPr>
          <p:spPr>
            <a:xfrm>
              <a:off x="766762" y="4864417"/>
              <a:ext cx="59055" cy="59055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922782" y="4808220"/>
              <a:ext cx="1728216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曲线必须严格经过每个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数据点</a:t>
              </a:r>
            </a:p>
          </p:txBody>
        </p:sp>
        <p:sp>
          <p:nvSpPr>
            <p:cNvPr id="32" name="Ellipse 32"/>
            <p:cNvSpPr/>
            <p:nvPr/>
          </p:nvSpPr>
          <p:spPr>
            <a:xfrm>
              <a:off x="766762" y="5421630"/>
              <a:ext cx="59055" cy="59055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922782" y="5365433"/>
              <a:ext cx="183108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适合数据准确的函数表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3409950" y="4281488"/>
              <a:ext cx="2533650" cy="1995488"/>
            </a:xfrm>
            <a:prstGeom prst="roundRect">
              <a:avLst>
                <a:gd name="adj" fmla="val 6683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35" name="Rectangle 35"/>
            <p:cNvSpPr/>
            <p:nvPr/>
          </p:nvSpPr>
          <p:spPr>
            <a:xfrm>
              <a:off x="3419475" y="4414838"/>
              <a:ext cx="47625" cy="1728788"/>
            </a:xfrm>
            <a:prstGeom prst="roundRect">
              <a:avLst>
                <a:gd name="adj" fmla="val 50000"/>
              </a:avLst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3627882" y="4491038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曲线拟合</a:t>
              </a:r>
            </a:p>
          </p:txBody>
        </p:sp>
        <p:sp>
          <p:nvSpPr>
            <p:cNvPr id="37" name="Ellipse 37"/>
            <p:cNvSpPr/>
            <p:nvPr/>
          </p:nvSpPr>
          <p:spPr>
            <a:xfrm>
              <a:off x="3643312" y="4864417"/>
              <a:ext cx="59055" cy="59055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3799332" y="4808220"/>
              <a:ext cx="1728216" cy="77838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不要求经过数据点，只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要整体偏差最小（如最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小二乘）</a:t>
              </a:r>
            </a:p>
          </p:txBody>
        </p:sp>
        <p:sp>
          <p:nvSpPr>
            <p:cNvPr id="39" name="Ellipse 39"/>
            <p:cNvSpPr/>
            <p:nvPr/>
          </p:nvSpPr>
          <p:spPr>
            <a:xfrm>
              <a:off x="3643312" y="5678805"/>
              <a:ext cx="59055" cy="59055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40" name="TextBox 40"/>
            <p:cNvSpPr txBox="1"/>
            <p:nvPr/>
          </p:nvSpPr>
          <p:spPr>
            <a:xfrm>
              <a:off x="3799332" y="5622608"/>
              <a:ext cx="1728216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适合带测量误差的实验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数据</a:t>
              </a:r>
            </a:p>
          </p:txBody>
        </p:sp>
        <p:sp>
          <p:nvSpPr>
            <p:cNvPr id="41" name="Ellipse 41"/>
            <p:cNvSpPr/>
            <p:nvPr/>
          </p:nvSpPr>
          <p:spPr>
            <a:xfrm>
              <a:off x="3076575" y="5117782"/>
              <a:ext cx="323850" cy="323850"/>
            </a:xfrm>
            <a:prstGeom prst="ellipse">
              <a:avLst/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42" name="TextBox 42"/>
            <p:cNvSpPr txBox="1"/>
            <p:nvPr/>
          </p:nvSpPr>
          <p:spPr>
            <a:xfrm>
              <a:off x="3146915" y="5213985"/>
              <a:ext cx="1831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VS</a:t>
              </a:r>
            </a:p>
          </p:txBody>
        </p:sp>
      </p:grpSp>
      <p:grpSp>
        <p:nvGrpSpPr>
          <p:cNvPr id="54" name="c2-card-1"/>
          <p:cNvGrpSpPr/>
          <p:nvPr/>
        </p:nvGrpSpPr>
        <p:grpSpPr>
          <a:xfrm>
            <a:off x="6248400" y="1524000"/>
            <a:ext cx="5410200" cy="1743075"/>
            <a:chOff x="6248400" y="1524000"/>
            <a:chExt cx="5410200" cy="1743075"/>
          </a:xfrm>
        </p:grpSpPr>
        <p:sp>
          <p:nvSpPr>
            <p:cNvPr id="44" name="Rectangle 44"/>
            <p:cNvSpPr/>
            <p:nvPr/>
          </p:nvSpPr>
          <p:spPr>
            <a:xfrm>
              <a:off x="6248400" y="1524000"/>
              <a:ext cx="5410200" cy="1743075"/>
            </a:xfrm>
            <a:prstGeom prst="roundRect">
              <a:avLst>
                <a:gd name="adj" fmla="val 7650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45" name="Rectangle 45"/>
            <p:cNvSpPr/>
            <p:nvPr/>
          </p:nvSpPr>
          <p:spPr>
            <a:xfrm>
              <a:off x="6257925" y="1657350"/>
              <a:ext cx="47625" cy="1476375"/>
            </a:xfrm>
            <a:prstGeom prst="roundRect">
              <a:avLst>
                <a:gd name="adj" fmla="val 50000"/>
              </a:avLst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46" name="Rectangle 46"/>
            <p:cNvSpPr/>
            <p:nvPr/>
          </p:nvSpPr>
          <p:spPr>
            <a:xfrm>
              <a:off x="6473190" y="1710690"/>
              <a:ext cx="1081088" cy="238125"/>
            </a:xfrm>
            <a:prstGeom prst="roundRect">
              <a:avLst>
                <a:gd name="adj" fmla="val 5000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47" name="TextBox 47"/>
            <p:cNvSpPr txBox="1"/>
            <p:nvPr/>
          </p:nvSpPr>
          <p:spPr>
            <a:xfrm>
              <a:off x="6546558" y="1743551"/>
              <a:ext cx="933399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为什么需要插值</a:t>
              </a:r>
            </a:p>
          </p:txBody>
        </p:sp>
        <p:sp>
          <p:nvSpPr>
            <p:cNvPr id="48" name="Ellipse 48"/>
            <p:cNvSpPr/>
            <p:nvPr/>
          </p:nvSpPr>
          <p:spPr>
            <a:xfrm>
              <a:off x="6473190" y="2043112"/>
              <a:ext cx="192405" cy="192405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49" name="TextBox 49"/>
            <p:cNvSpPr txBox="1"/>
            <p:nvPr/>
          </p:nvSpPr>
          <p:spPr>
            <a:xfrm>
              <a:off x="6528868" y="2081498"/>
              <a:ext cx="81049" cy="1790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6753987" y="2054542"/>
              <a:ext cx="4471416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函数来自实验或观测，只知道离散点上的值，不知道解析表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达式</a:t>
              </a:r>
            </a:p>
          </p:txBody>
        </p:sp>
        <p:sp>
          <p:nvSpPr>
            <p:cNvPr id="51" name="Ellipse 51"/>
            <p:cNvSpPr/>
            <p:nvPr/>
          </p:nvSpPr>
          <p:spPr>
            <a:xfrm>
              <a:off x="6473190" y="2600325"/>
              <a:ext cx="192405" cy="192405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52" name="TextBox 52"/>
            <p:cNvSpPr txBox="1"/>
            <p:nvPr/>
          </p:nvSpPr>
          <p:spPr>
            <a:xfrm>
              <a:off x="6528868" y="2638711"/>
              <a:ext cx="81049" cy="1790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6753987" y="2612708"/>
              <a:ext cx="4471416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表达式已知但形式复杂，不便于分析和计算，想用简单函数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近似代替</a:t>
              </a:r>
            </a:p>
          </p:txBody>
        </p:sp>
      </p:grpSp>
      <p:grpSp>
        <p:nvGrpSpPr>
          <p:cNvPr id="67" name="c2-card-2"/>
          <p:cNvGrpSpPr/>
          <p:nvPr/>
        </p:nvGrpSpPr>
        <p:grpSpPr>
          <a:xfrm>
            <a:off x="6248400" y="3436620"/>
            <a:ext cx="5410200" cy="2840355"/>
            <a:chOff x="6248400" y="3436620"/>
            <a:chExt cx="5410200" cy="2840355"/>
          </a:xfrm>
        </p:grpSpPr>
        <p:sp>
          <p:nvSpPr>
            <p:cNvPr id="55" name="Rectangle 55"/>
            <p:cNvSpPr/>
            <p:nvPr/>
          </p:nvSpPr>
          <p:spPr>
            <a:xfrm>
              <a:off x="6248400" y="3436620"/>
              <a:ext cx="5410200" cy="2840355"/>
            </a:xfrm>
            <a:prstGeom prst="roundRect">
              <a:avLst>
                <a:gd name="adj" fmla="val 4695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56" name="Rectangle 56"/>
            <p:cNvSpPr/>
            <p:nvPr/>
          </p:nvSpPr>
          <p:spPr>
            <a:xfrm>
              <a:off x="6257925" y="3569970"/>
              <a:ext cx="47625" cy="2573655"/>
            </a:xfrm>
            <a:prstGeom prst="roundRect">
              <a:avLst>
                <a:gd name="adj" fmla="val 50000"/>
              </a:avLst>
            </a:prstGeom>
            <a:solidFill>
              <a:srgbClr val="D97706"/>
            </a:solidFill>
            <a:ln>
              <a:noFill/>
            </a:ln>
          </p:spPr>
        </p:sp>
        <p:sp>
          <p:nvSpPr>
            <p:cNvPr id="57" name="Rectangle 57"/>
            <p:cNvSpPr/>
            <p:nvPr/>
          </p:nvSpPr>
          <p:spPr>
            <a:xfrm>
              <a:off x="6473190" y="3623310"/>
              <a:ext cx="956310" cy="238125"/>
            </a:xfrm>
            <a:prstGeom prst="roundRect">
              <a:avLst>
                <a:gd name="adj" fmla="val 50000"/>
              </a:avLst>
            </a:prstGeom>
            <a:solidFill>
              <a:srgbClr val="FEF3C7"/>
            </a:solidFill>
            <a:ln>
              <a:noFill/>
            </a:ln>
          </p:spPr>
        </p:sp>
        <p:sp>
          <p:nvSpPr>
            <p:cNvPr id="58" name="TextBox 58"/>
            <p:cNvSpPr txBox="1"/>
            <p:nvPr/>
          </p:nvSpPr>
          <p:spPr>
            <a:xfrm>
              <a:off x="6550609" y="3656171"/>
              <a:ext cx="80147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92400E"/>
                  </a:solidFill>
                  <a:latin typeface="+mn-lt"/>
                  <a:ea typeface="+mn-ea"/>
                  <a:cs typeface="+mn-cs"/>
                </a:rPr>
                <a:t>插值用在哪里</a:t>
              </a:r>
            </a:p>
          </p:txBody>
        </p:sp>
        <p:sp>
          <p:nvSpPr>
            <p:cNvPr id="59" name="Ellipse 59"/>
            <p:cNvSpPr/>
            <p:nvPr/>
          </p:nvSpPr>
          <p:spPr>
            <a:xfrm>
              <a:off x="6481762" y="4024312"/>
              <a:ext cx="59055" cy="59055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60" name="TextBox 60"/>
            <p:cNvSpPr txBox="1"/>
            <p:nvPr/>
          </p:nvSpPr>
          <p:spPr>
            <a:xfrm>
              <a:off x="6637782" y="3968115"/>
              <a:ext cx="403919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数值积分（第 6 章的插值型求积公式）、数值微分</a:t>
              </a:r>
            </a:p>
          </p:txBody>
        </p:sp>
        <p:sp>
          <p:nvSpPr>
            <p:cNvPr id="61" name="Ellipse 61"/>
            <p:cNvSpPr/>
            <p:nvPr/>
          </p:nvSpPr>
          <p:spPr>
            <a:xfrm>
              <a:off x="6481762" y="4324350"/>
              <a:ext cx="59055" cy="59055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62" name="TextBox 62"/>
            <p:cNvSpPr txBox="1"/>
            <p:nvPr/>
          </p:nvSpPr>
          <p:spPr>
            <a:xfrm>
              <a:off x="6637782" y="4268152"/>
              <a:ext cx="255803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微分方程数值解、曲线曲面拟合</a:t>
              </a:r>
            </a:p>
          </p:txBody>
        </p:sp>
        <p:sp>
          <p:nvSpPr>
            <p:cNvPr id="63" name="Ellipse 63"/>
            <p:cNvSpPr/>
            <p:nvPr/>
          </p:nvSpPr>
          <p:spPr>
            <a:xfrm>
              <a:off x="6481762" y="4624388"/>
              <a:ext cx="59055" cy="59055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64" name="TextBox 64"/>
            <p:cNvSpPr txBox="1"/>
            <p:nvPr/>
          </p:nvSpPr>
          <p:spPr>
            <a:xfrm>
              <a:off x="6637782" y="4568190"/>
              <a:ext cx="333950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函数值的近似计算，如查表求 sin 0.3367</a:t>
              </a:r>
            </a:p>
          </p:txBody>
        </p:sp>
        <p:sp>
          <p:nvSpPr>
            <p:cNvPr id="65" name="Ellipse 65"/>
            <p:cNvSpPr/>
            <p:nvPr/>
          </p:nvSpPr>
          <p:spPr>
            <a:xfrm>
              <a:off x="6481762" y="4924425"/>
              <a:ext cx="59055" cy="59055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66" name="TextBox 66"/>
            <p:cNvSpPr txBox="1"/>
            <p:nvPr/>
          </p:nvSpPr>
          <p:spPr>
            <a:xfrm>
              <a:off x="6637782" y="4868228"/>
              <a:ext cx="164934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图像缩放、数码变焦</a:t>
              </a:r>
            </a:p>
          </p:txBody>
        </p:sp>
      </p:grpSp>
      <p:grpSp>
        <p:nvGrpSpPr>
          <p:cNvPr id="70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68" name="TextBox 68"/>
            <p:cNvSpPr txBox="1"/>
            <p:nvPr/>
          </p:nvSpPr>
          <p:spPr>
            <a:xfrm>
              <a:off x="528447" y="6581299"/>
              <a:ext cx="225267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计算方法 · 第5章 函数插值与曲线拟合</a:t>
              </a:r>
            </a:p>
          </p:txBody>
        </p:sp>
        <p:sp>
          <p:nvSpPr>
            <p:cNvPr id="69" name="TextBox 69"/>
            <p:cNvSpPr txBox="1"/>
            <p:nvPr/>
          </p:nvSpPr>
          <p:spPr>
            <a:xfrm>
              <a:off x="11581087" y="6581299"/>
              <a:ext cx="824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6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-disc"/>
          <p:cNvSpPr/>
          <p:nvPr/>
        </p:nvSpPr>
        <p:spPr>
          <a:xfrm>
            <a:off x="7715250" y="571500"/>
            <a:ext cx="5715000" cy="5715000"/>
          </a:xfrm>
          <a:prstGeom prst="ellipse">
            <a:avLst/>
          </a:prstGeom>
          <a:solidFill>
            <a:srgbClr val="2E7D4F"/>
          </a:solidFill>
          <a:ln>
            <a:noFill/>
          </a:ln>
        </p:spPr>
      </p:sp>
      <p:sp>
        <p:nvSpPr>
          <p:cNvPr id="3" name="section-ring"/>
          <p:cNvSpPr/>
          <p:nvPr/>
        </p:nvSpPr>
        <p:spPr>
          <a:xfrm>
            <a:off x="7334250" y="190500"/>
            <a:ext cx="6477000" cy="6477000"/>
          </a:xfrm>
          <a:prstGeom prst="ellipse">
            <a:avLst/>
          </a:prstGeom>
          <a:noFill/>
          <a:ln w="133350">
            <a:solidFill>
              <a:srgbClr val="E5F2EA"/>
            </a:solidFill>
          </a:ln>
        </p:spPr>
      </p:sp>
      <p:grpSp>
        <p:nvGrpSpPr>
          <p:cNvPr id="5" name="section-num"/>
          <p:cNvGrpSpPr/>
          <p:nvPr/>
        </p:nvGrpSpPr>
        <p:grpSpPr>
          <a:xfrm>
            <a:off x="8954033" y="2705100"/>
            <a:ext cx="1903933" cy="2305050"/>
            <a:chOff x="8954033" y="2705100"/>
            <a:chExt cx="1903933" cy="2305050"/>
          </a:xfrm>
        </p:grpSpPr>
        <p:sp>
          <p:nvSpPr>
            <p:cNvPr id="4" name="TextBox 4"/>
            <p:cNvSpPr txBox="1"/>
            <p:nvPr/>
          </p:nvSpPr>
          <p:spPr>
            <a:xfrm>
              <a:off x="8954033" y="2705100"/>
              <a:ext cx="1903933" cy="2305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02</a:t>
              </a:r>
            </a:p>
          </p:txBody>
        </p:sp>
      </p:grpSp>
      <p:grpSp>
        <p:nvGrpSpPr>
          <p:cNvPr id="18" name="section-title"/>
          <p:cNvGrpSpPr/>
          <p:nvPr/>
        </p:nvGrpSpPr>
        <p:grpSpPr>
          <a:xfrm>
            <a:off x="667512" y="1835468"/>
            <a:ext cx="4913376" cy="3351847"/>
            <a:chOff x="667512" y="1835468"/>
            <a:chExt cx="4913376" cy="3351847"/>
          </a:xfrm>
        </p:grpSpPr>
        <p:sp>
          <p:nvSpPr>
            <p:cNvPr id="6" name="TextBox 6"/>
            <p:cNvSpPr txBox="1"/>
            <p:nvPr/>
          </p:nvSpPr>
          <p:spPr>
            <a:xfrm>
              <a:off x="678942" y="1835468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第二部分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667512" y="2240280"/>
              <a:ext cx="2944368" cy="704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6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拉格朗日插值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685800" y="3041332"/>
              <a:ext cx="762000" cy="47625"/>
            </a:xfrm>
            <a:prstGeom prst="roundRect">
              <a:avLst>
                <a:gd name="adj" fmla="val 50000"/>
              </a:avLst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677418" y="3377565"/>
              <a:ext cx="4903470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用基函数直接写出插值多项式，再用余项估计误差</a:t>
              </a:r>
            </a:p>
          </p:txBody>
        </p:sp>
        <p:sp>
          <p:nvSpPr>
            <p:cNvPr id="10" name="Ellipse 10"/>
            <p:cNvSpPr/>
            <p:nvPr/>
          </p:nvSpPr>
          <p:spPr>
            <a:xfrm>
              <a:off x="723900" y="3888105"/>
              <a:ext cx="76200" cy="7620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906780" y="3830955"/>
              <a:ext cx="2428304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5.2 插值问题与存在唯一性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723900" y="4242435"/>
              <a:ext cx="76200" cy="7620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906780" y="4185285"/>
              <a:ext cx="1842706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5.2.2 插值余项定理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723900" y="4596765"/>
              <a:ext cx="76200" cy="7620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906780" y="4539615"/>
              <a:ext cx="3286506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5.2.3 线性、抛物线与 n 次插值公式</a:t>
              </a:r>
            </a:p>
          </p:txBody>
        </p:sp>
        <p:sp>
          <p:nvSpPr>
            <p:cNvPr id="16" name="Ellipse 16"/>
            <p:cNvSpPr/>
            <p:nvPr/>
          </p:nvSpPr>
          <p:spPr>
            <a:xfrm>
              <a:off x="723900" y="4951095"/>
              <a:ext cx="76200" cy="7620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906780" y="4893945"/>
              <a:ext cx="275905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例 5.1、例 5.2 与 Runge 现象</a:t>
              </a:r>
            </a:p>
          </p:txBody>
        </p:sp>
      </p:grpSp>
      <p:grpSp>
        <p:nvGrpSpPr>
          <p:cNvPr id="21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19" name="TextBox 19"/>
            <p:cNvSpPr txBox="1"/>
            <p:nvPr/>
          </p:nvSpPr>
          <p:spPr>
            <a:xfrm>
              <a:off x="528447" y="6581299"/>
              <a:ext cx="225267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计算方法 · 第5章 函数插值与曲线拟合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11581087" y="6581299"/>
              <a:ext cx="824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7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8335883" cy="909257"/>
            <a:chOff x="520446" y="342900"/>
            <a:chExt cx="8335883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272665" cy="266700"/>
            </a:xfrm>
            <a:prstGeom prst="roundRect">
              <a:avLst>
                <a:gd name="adj" fmla="val 50000"/>
              </a:avLst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01058" y="407194"/>
              <a:ext cx="213734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第5章 函数插值 · 拉格朗日插值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8335883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插值问题：找一个简单函数，在节点上与 f 取相同的值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E7D4F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7" name="c1-card-1"/>
          <p:cNvGrpSpPr/>
          <p:nvPr/>
        </p:nvGrpSpPr>
        <p:grpSpPr>
          <a:xfrm>
            <a:off x="533400" y="1524000"/>
            <a:ext cx="5626418" cy="4432935"/>
            <a:chOff x="533400" y="1524000"/>
            <a:chExt cx="5626418" cy="4432935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626418" cy="4432935"/>
            </a:xfrm>
            <a:prstGeom prst="roundRect">
              <a:avLst>
                <a:gd name="adj" fmla="val 3008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542925" y="1657350"/>
              <a:ext cx="47625" cy="4166235"/>
            </a:xfrm>
            <a:prstGeom prst="roundRect">
              <a:avLst>
                <a:gd name="adj" fmla="val 50000"/>
              </a:avLst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81050" y="1733550"/>
              <a:ext cx="494348" cy="257175"/>
            </a:xfrm>
            <a:prstGeom prst="roundRect">
              <a:avLst>
                <a:gd name="adj" fmla="val 50000"/>
              </a:avLst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871258" y="1769269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定义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382078" y="1768792"/>
              <a:ext cx="163068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插值函数与插值法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773430" y="2129790"/>
              <a:ext cx="4825365" cy="8648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设 y = f(x) 在 [a, b] 上有定义，已知互异节点 x₀,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x₁, …, xₙ ∈ [a, b] 上的值 yᵢ = f(xᵢ)，有时还知道直到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r 阶的导数值。若简单函数 φ(x) 满足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3" name="formula16"/>
                <p:cNvSpPr txBox="1">
                  <a:spLocks noGrp="1"/>
                </p:cNvSpPr>
                <p:nvPr/>
              </p:nvSpPr>
              <p:spPr>
                <a:xfrm>
                  <a:off x="781050" y="3011805"/>
                  <a:ext cx="5169218" cy="4191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lIns="0" tIns="0" rIns="0" bIns="0" wrap="none" anchor="ctr">
                  <a:normAutofit/>
                </a:bodyPr>
                <a:lstStyle/>
                <a:p>
                  <a:pPr algn="ctr"/>
                  <a14:m>
                    <m:oMathPara xmlns:a="http://schemas.openxmlformats.org/drawingml/2006/main" xmlns:m="http://schemas.openxmlformats.org/officeDocument/2006/math">
                      <m:oMathParaPr>
                        <m:jc m:val="center"/>
                      </m:oMathParaPr>
                      <m:oMath>
                        <m:r>
                          <a:rPr lang="zh-CN" sz="16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φ</m:t>
                        </m:r>
                        <m:d>
                          <m:dPr>
                            <m:begChr m:val="("/>
                            <m:sepChr m:val=""/>
                            <m:endChr m:val=")"/>
                            <m:grow m:val="on"/>
                            <m:ctrlPr>
                              <a:rPr lang="zh-CN" sz="16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sSub>
                              <m:e>
                                <m:r>
                                  <a:rPr lang="zh-CN" sz="16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x</m:t>
                                </m:r>
                              </m:e>
                              <m:sub>
                                <m:r>
                                  <a:rPr lang="zh-CN" sz="16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i</m:t>
                                </m:r>
                              </m:sub>
                            </m:sSub>
                          </m:e>
                        </m:d>
                        <m:r>
                          <m:rPr>
                            <m:sty m:val="p"/>
                          </m:rPr>
                          <a:rPr lang="zh-CN" sz="16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=</m:t>
                        </m:r>
                        <m:sSub>
                          <m:e>
                            <m:r>
                              <a:rPr lang="zh-CN" sz="16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y</m:t>
                            </m:r>
                          </m:e>
                          <m:sub>
                            <m:r>
                              <a:rPr lang="zh-CN" sz="16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i</m:t>
                            </m:r>
                          </m:sub>
                        </m:sSub>
                        <m:r>
                          <a:rPr lang="zh-CN" sz="16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 xml:space="preserve"> </m:t>
                        </m:r>
                        <m:d>
                          <m:dPr>
                            <m:begChr m:val="("/>
                            <m:sepChr m:val=""/>
                            <m:endChr m:val=")"/>
                            <m:grow m:val="on"/>
                            <m:ctrlPr>
                              <a:rPr lang="zh-CN" sz="16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r>
                              <a:rPr lang="zh-CN" sz="16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i</m:t>
                            </m:r>
                            <m:r>
                              <m:rPr>
                                <m:sty m:val="p"/>
                              </m:rPr>
                              <a:rPr lang="zh-CN" sz="16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=</m:t>
                            </m:r>
                            <m:r>
                              <a:rPr lang="zh-CN" sz="16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0</m:t>
                            </m:r>
                            <m:r>
                              <m:rPr>
                                <m:sty m:val="p"/>
                              </m:rPr>
                              <a:rPr lang="zh-CN" sz="16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,</m:t>
                            </m:r>
                            <m:r>
                              <a:rPr lang="zh-CN" sz="16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1</m:t>
                            </m:r>
                            <m:r>
                              <m:rPr>
                                <m:sty m:val="p"/>
                              </m:rPr>
                              <a:rPr lang="zh-CN" sz="16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,…,</m:t>
                            </m:r>
                            <m:r>
                              <a:rPr lang="zh-CN" sz="16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n</m:t>
                            </m:r>
                          </m:e>
                        </m:d>
                        <m:r>
                          <a:rPr lang="zh-CN" sz="16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 xml:space="preserve">  </m:t>
                        </m:r>
                        <m:d>
                          <m:dPr>
                            <m:begChr m:val="("/>
                            <m:sepChr m:val=""/>
                            <m:endChr m:val=")"/>
                            <m:grow m:val="on"/>
                            <m:ctrlPr>
                              <a:rPr lang="zh-CN" sz="16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r>
                              <a:rPr lang="zh-CN" sz="16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5.2.1</m:t>
                            </m:r>
                          </m:e>
                        </m:d>
                      </m:oMath>
                    </m:oMathPara>
                  </a14:m>
                </a:p>
              </p:txBody>
            </p:sp>
          </mc:Choice>
        </mc:AlternateContent>
        <p:sp>
          <p:nvSpPr>
            <p:cNvPr id="14" name="TextBox 14"/>
            <p:cNvSpPr txBox="1"/>
            <p:nvPr/>
          </p:nvSpPr>
          <p:spPr>
            <a:xfrm>
              <a:off x="773430" y="3550920"/>
              <a:ext cx="8229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或还满足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5" name="formula17"/>
                <p:cNvSpPr txBox="1">
                  <a:spLocks noGrp="1"/>
                </p:cNvSpPr>
                <p:nvPr/>
              </p:nvSpPr>
              <p:spPr>
                <a:xfrm>
                  <a:off x="781050" y="3861435"/>
                  <a:ext cx="5169218" cy="4191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lIns="0" tIns="0" rIns="0" bIns="0" wrap="none" anchor="ctr">
                  <a:normAutofit/>
                </a:bodyPr>
                <a:lstStyle/>
                <a:p>
                  <a:pPr algn="ctr"/>
                  <a14:m>
                    <m:oMathPara xmlns:a="http://schemas.openxmlformats.org/drawingml/2006/main" xmlns:m="http://schemas.openxmlformats.org/officeDocument/2006/math">
                      <m:oMathParaPr>
                        <m:jc m:val="center"/>
                      </m:oMathParaPr>
                      <m:oMath>
                        <m:sSup>
                          <m:e>
                            <m:r>
                              <a:rPr lang="zh-CN" sz="16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φ</m:t>
                            </m:r>
                          </m:e>
                          <m:sup>
                            <m:d>
                              <m:dPr>
                                <m:begChr m:val="("/>
                                <m:sepChr m:val=""/>
                                <m:endChr m:val=")"/>
                                <m:grow m:val="on"/>
                                <m:ctrlPr>
                                  <a:rPr lang="zh-CN" sz="16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</m:ctrlPr>
                              </m:dPr>
                              <m:e>
                                <m:r>
                                  <a:rPr lang="zh-CN" sz="16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k</m:t>
                                </m:r>
                              </m:e>
                            </m:d>
                          </m:sup>
                        </m:sSup>
                        <m:d>
                          <m:dPr>
                            <m:begChr m:val="("/>
                            <m:sepChr m:val=""/>
                            <m:endChr m:val=")"/>
                            <m:grow m:val="on"/>
                            <m:ctrlPr>
                              <a:rPr lang="zh-CN" sz="16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sSub>
                              <m:e>
                                <m:r>
                                  <a:rPr lang="zh-CN" sz="16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x</m:t>
                                </m:r>
                              </m:e>
                              <m:sub>
                                <m:r>
                                  <a:rPr lang="zh-CN" sz="16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i</m:t>
                                </m:r>
                              </m:sub>
                            </m:sSub>
                          </m:e>
                        </m:d>
                        <m:r>
                          <m:rPr>
                            <m:sty m:val="p"/>
                          </m:rPr>
                          <a:rPr lang="zh-CN" sz="16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=</m:t>
                        </m:r>
                        <m:sSup>
                          <m:e>
                            <m:r>
                              <a:rPr lang="zh-CN" sz="16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f</m:t>
                            </m:r>
                          </m:e>
                          <m:sup>
                            <m:d>
                              <m:dPr>
                                <m:begChr m:val="("/>
                                <m:sepChr m:val=""/>
                                <m:endChr m:val=")"/>
                                <m:grow m:val="on"/>
                                <m:ctrlPr>
                                  <a:rPr lang="zh-CN" sz="16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</m:ctrlPr>
                              </m:dPr>
                              <m:e>
                                <m:r>
                                  <a:rPr lang="zh-CN" sz="16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k</m:t>
                                </m:r>
                              </m:e>
                            </m:d>
                          </m:sup>
                        </m:sSup>
                        <m:d>
                          <m:dPr>
                            <m:begChr m:val="("/>
                            <m:sepChr m:val=""/>
                            <m:endChr m:val=")"/>
                            <m:grow m:val="on"/>
                            <m:ctrlPr>
                              <a:rPr lang="zh-CN" sz="16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sSub>
                              <m:e>
                                <m:r>
                                  <a:rPr lang="zh-CN" sz="16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x</m:t>
                                </m:r>
                              </m:e>
                              <m:sub>
                                <m:r>
                                  <a:rPr lang="zh-CN" sz="16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i</m:t>
                                </m:r>
                              </m:sub>
                            </m:sSub>
                          </m:e>
                        </m:d>
                        <m:r>
                          <a:rPr lang="zh-CN" sz="16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 xml:space="preserve"> </m:t>
                        </m:r>
                        <m:d>
                          <m:dPr>
                            <m:begChr m:val="("/>
                            <m:sepChr m:val=""/>
                            <m:endChr m:val=")"/>
                            <m:grow m:val="on"/>
                            <m:ctrlPr>
                              <a:rPr lang="zh-CN" sz="16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r>
                              <a:rPr lang="zh-CN" sz="16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k</m:t>
                            </m:r>
                            <m:r>
                              <m:rPr>
                                <m:sty m:val="p"/>
                              </m:rPr>
                              <a:rPr lang="zh-CN" sz="16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=</m:t>
                            </m:r>
                            <m:r>
                              <a:rPr lang="zh-CN" sz="16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1</m:t>
                            </m:r>
                            <m:r>
                              <m:rPr>
                                <m:sty m:val="p"/>
                              </m:rPr>
                              <a:rPr lang="zh-CN" sz="16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,</m:t>
                            </m:r>
                            <m:r>
                              <a:rPr lang="zh-CN" sz="16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2</m:t>
                            </m:r>
                            <m:r>
                              <m:rPr>
                                <m:sty m:val="p"/>
                              </m:rPr>
                              <a:rPr lang="zh-CN" sz="16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,…,</m:t>
                            </m:r>
                            <m:r>
                              <a:rPr lang="zh-CN" sz="16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r</m:t>
                            </m:r>
                          </m:e>
                        </m:d>
                        <m:r>
                          <a:rPr lang="zh-CN" sz="16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 xml:space="preserve">  </m:t>
                        </m:r>
                        <m:d>
                          <m:dPr>
                            <m:begChr m:val="("/>
                            <m:sepChr m:val=""/>
                            <m:endChr m:val=")"/>
                            <m:grow m:val="on"/>
                            <m:ctrlPr>
                              <a:rPr lang="zh-CN" sz="16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r>
                              <a:rPr lang="zh-CN" sz="16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5.2.2</m:t>
                            </m:r>
                          </m:e>
                        </m:d>
                      </m:oMath>
                    </m:oMathPara>
                  </a14:m>
                </a:p>
              </p:txBody>
            </p:sp>
          </mc:Choice>
        </mc:AlternateContent>
        <p:sp>
          <p:nvSpPr>
            <p:cNvPr id="16" name="TextBox 16"/>
            <p:cNvSpPr txBox="1"/>
            <p:nvPr/>
          </p:nvSpPr>
          <p:spPr>
            <a:xfrm>
              <a:off x="773430" y="4400550"/>
              <a:ext cx="48539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则称 φ(x) 为 f(x) 的</a:t>
              </a:r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插值函数</a:t>
              </a: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，求 φ(x) 的方法称为</a:t>
              </a:r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插值</a:t>
              </a:r>
              <a:br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法</a:t>
              </a: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。</a:t>
              </a:r>
            </a:p>
          </p:txBody>
        </p:sp>
      </p:grpSp>
      <p:grpSp>
        <p:nvGrpSpPr>
          <p:cNvPr id="63" name="c2-graph-1"/>
          <p:cNvGrpSpPr/>
          <p:nvPr/>
        </p:nvGrpSpPr>
        <p:grpSpPr>
          <a:xfrm>
            <a:off x="6573202" y="1553051"/>
            <a:ext cx="4949696" cy="2705101"/>
            <a:chOff x="6573202" y="1553051"/>
            <a:chExt cx="4949696" cy="2705101"/>
          </a:xfrm>
        </p:grpSpPr>
        <p:sp>
          <p:nvSpPr>
            <p:cNvPr id="18" name="Freeform 18"/>
            <p:cNvSpPr/>
            <p:nvPr/>
          </p:nvSpPr>
          <p:spPr>
            <a:xfrm>
              <a:off x="6631305" y="3976688"/>
              <a:ext cx="4738688" cy="9525"/>
            </a:xfrm>
            <a:custGeom>
              <a:avLst/>
              <a:gdLst/>
              <a:ahLst/>
              <a:cxnLst/>
              <a:rect l="l" t="t" r="r" b="b"/>
              <a:pathLst>
                <a:path w="4738688" h="9525">
                  <a:moveTo>
                    <a:pt x="0" y="0"/>
                  </a:moveTo>
                  <a:lnTo>
                    <a:pt x="4738688" y="0"/>
                  </a:lnTo>
                </a:path>
              </a:pathLst>
            </a:custGeom>
            <a:noFill/>
            <a:ln w="13335">
              <a:solidFill>
                <a:srgbClr val="5B6475"/>
              </a:solidFill>
            </a:ln>
          </p:spPr>
        </p:sp>
        <p:sp>
          <p:nvSpPr>
            <p:cNvPr id="19" name="Freeform 19"/>
            <p:cNvSpPr/>
            <p:nvPr/>
          </p:nvSpPr>
          <p:spPr>
            <a:xfrm>
              <a:off x="11369992" y="3929062"/>
              <a:ext cx="95250" cy="95250"/>
            </a:xfrm>
            <a:custGeom>
              <a:avLst/>
              <a:gdLst/>
              <a:ahLst/>
              <a:cxnLst/>
              <a:rect l="l" t="t" r="r" b="b"/>
              <a:pathLst>
                <a:path w="95250" h="95250">
                  <a:moveTo>
                    <a:pt x="95250" y="47625"/>
                  </a:moveTo>
                  <a:lnTo>
                    <a:pt x="0" y="952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20" name="Freeform 20"/>
            <p:cNvSpPr/>
            <p:nvPr/>
          </p:nvSpPr>
          <p:spPr>
            <a:xfrm>
              <a:off x="6620828" y="1777365"/>
              <a:ext cx="9525" cy="2188845"/>
            </a:xfrm>
            <a:custGeom>
              <a:avLst/>
              <a:gdLst/>
              <a:ahLst/>
              <a:cxnLst/>
              <a:rect l="l" t="t" r="r" b="b"/>
              <a:pathLst>
                <a:path w="9525" h="2188845">
                  <a:moveTo>
                    <a:pt x="0" y="2188845"/>
                  </a:moveTo>
                  <a:lnTo>
                    <a:pt x="0" y="0"/>
                  </a:lnTo>
                </a:path>
              </a:pathLst>
            </a:custGeom>
            <a:noFill/>
            <a:ln w="13335">
              <a:solidFill>
                <a:srgbClr val="5B6475"/>
              </a:solidFill>
            </a:ln>
          </p:spPr>
        </p:sp>
        <p:sp>
          <p:nvSpPr>
            <p:cNvPr id="21" name="Freeform 21"/>
            <p:cNvSpPr/>
            <p:nvPr/>
          </p:nvSpPr>
          <p:spPr>
            <a:xfrm>
              <a:off x="6573202" y="1682115"/>
              <a:ext cx="95250" cy="95250"/>
            </a:xfrm>
            <a:custGeom>
              <a:avLst/>
              <a:gdLst/>
              <a:ahLst/>
              <a:cxnLst/>
              <a:rect l="l" t="t" r="r" b="b"/>
              <a:pathLst>
                <a:path w="95250" h="95250">
                  <a:moveTo>
                    <a:pt x="47625" y="0"/>
                  </a:moveTo>
                  <a:lnTo>
                    <a:pt x="95250" y="95250"/>
                  </a:lnTo>
                  <a:lnTo>
                    <a:pt x="0" y="9525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22" name="Freeform 22"/>
            <p:cNvSpPr/>
            <p:nvPr/>
          </p:nvSpPr>
          <p:spPr>
            <a:xfrm>
              <a:off x="6987540" y="2168842"/>
              <a:ext cx="4001452" cy="772478"/>
            </a:xfrm>
            <a:custGeom>
              <a:avLst/>
              <a:gdLst/>
              <a:ahLst/>
              <a:cxnLst/>
              <a:rect l="l" t="t" r="r" b="b"/>
              <a:pathLst>
                <a:path w="4001452" h="772478">
                  <a:moveTo>
                    <a:pt x="0" y="546735"/>
                  </a:moveTo>
                  <a:lnTo>
                    <a:pt x="36195" y="517208"/>
                  </a:lnTo>
                  <a:lnTo>
                    <a:pt x="80962" y="481012"/>
                  </a:lnTo>
                  <a:lnTo>
                    <a:pt x="126682" y="445770"/>
                  </a:lnTo>
                  <a:lnTo>
                    <a:pt x="171450" y="411480"/>
                  </a:lnTo>
                  <a:lnTo>
                    <a:pt x="217170" y="378142"/>
                  </a:lnTo>
                  <a:lnTo>
                    <a:pt x="261938" y="346710"/>
                  </a:lnTo>
                  <a:lnTo>
                    <a:pt x="307657" y="316230"/>
                  </a:lnTo>
                  <a:lnTo>
                    <a:pt x="352425" y="286703"/>
                  </a:lnTo>
                  <a:lnTo>
                    <a:pt x="397192" y="260033"/>
                  </a:lnTo>
                  <a:lnTo>
                    <a:pt x="442912" y="234315"/>
                  </a:lnTo>
                  <a:lnTo>
                    <a:pt x="487680" y="211455"/>
                  </a:lnTo>
                  <a:lnTo>
                    <a:pt x="533400" y="189548"/>
                  </a:lnTo>
                  <a:lnTo>
                    <a:pt x="578167" y="169545"/>
                  </a:lnTo>
                  <a:lnTo>
                    <a:pt x="623888" y="152400"/>
                  </a:lnTo>
                  <a:lnTo>
                    <a:pt x="668655" y="137160"/>
                  </a:lnTo>
                  <a:lnTo>
                    <a:pt x="714375" y="124778"/>
                  </a:lnTo>
                  <a:lnTo>
                    <a:pt x="759142" y="114300"/>
                  </a:lnTo>
                  <a:lnTo>
                    <a:pt x="803910" y="106680"/>
                  </a:lnTo>
                  <a:lnTo>
                    <a:pt x="848678" y="100965"/>
                  </a:lnTo>
                  <a:lnTo>
                    <a:pt x="894397" y="97155"/>
                  </a:lnTo>
                  <a:lnTo>
                    <a:pt x="939165" y="96203"/>
                  </a:lnTo>
                  <a:lnTo>
                    <a:pt x="984885" y="98108"/>
                  </a:lnTo>
                  <a:lnTo>
                    <a:pt x="1029653" y="101918"/>
                  </a:lnTo>
                  <a:lnTo>
                    <a:pt x="1074420" y="107633"/>
                  </a:lnTo>
                  <a:lnTo>
                    <a:pt x="1120140" y="116205"/>
                  </a:lnTo>
                  <a:lnTo>
                    <a:pt x="1164907" y="126683"/>
                  </a:lnTo>
                  <a:lnTo>
                    <a:pt x="1210628" y="139065"/>
                  </a:lnTo>
                  <a:lnTo>
                    <a:pt x="1255395" y="153353"/>
                  </a:lnTo>
                  <a:lnTo>
                    <a:pt x="1301115" y="169545"/>
                  </a:lnTo>
                  <a:lnTo>
                    <a:pt x="1345882" y="187643"/>
                  </a:lnTo>
                  <a:lnTo>
                    <a:pt x="1391603" y="206693"/>
                  </a:lnTo>
                  <a:lnTo>
                    <a:pt x="1436370" y="228600"/>
                  </a:lnTo>
                  <a:lnTo>
                    <a:pt x="1481138" y="250508"/>
                  </a:lnTo>
                  <a:lnTo>
                    <a:pt x="1526857" y="274320"/>
                  </a:lnTo>
                  <a:lnTo>
                    <a:pt x="1571625" y="299085"/>
                  </a:lnTo>
                  <a:lnTo>
                    <a:pt x="1616392" y="324803"/>
                  </a:lnTo>
                  <a:lnTo>
                    <a:pt x="1662112" y="350520"/>
                  </a:lnTo>
                  <a:lnTo>
                    <a:pt x="1706880" y="378142"/>
                  </a:lnTo>
                  <a:lnTo>
                    <a:pt x="1752600" y="404812"/>
                  </a:lnTo>
                  <a:lnTo>
                    <a:pt x="1797367" y="432435"/>
                  </a:lnTo>
                  <a:lnTo>
                    <a:pt x="1842135" y="460058"/>
                  </a:lnTo>
                  <a:lnTo>
                    <a:pt x="1887855" y="486728"/>
                  </a:lnTo>
                  <a:lnTo>
                    <a:pt x="1932622" y="513398"/>
                  </a:lnTo>
                  <a:lnTo>
                    <a:pt x="1978342" y="540067"/>
                  </a:lnTo>
                  <a:lnTo>
                    <a:pt x="2023110" y="565785"/>
                  </a:lnTo>
                  <a:lnTo>
                    <a:pt x="2068830" y="590550"/>
                  </a:lnTo>
                  <a:lnTo>
                    <a:pt x="2113598" y="614362"/>
                  </a:lnTo>
                  <a:lnTo>
                    <a:pt x="2158365" y="637223"/>
                  </a:lnTo>
                  <a:lnTo>
                    <a:pt x="2204085" y="658178"/>
                  </a:lnTo>
                  <a:lnTo>
                    <a:pt x="2248852" y="678180"/>
                  </a:lnTo>
                  <a:lnTo>
                    <a:pt x="2294572" y="697230"/>
                  </a:lnTo>
                  <a:lnTo>
                    <a:pt x="2339340" y="713423"/>
                  </a:lnTo>
                  <a:lnTo>
                    <a:pt x="2384107" y="727710"/>
                  </a:lnTo>
                  <a:lnTo>
                    <a:pt x="2429828" y="741045"/>
                  </a:lnTo>
                  <a:lnTo>
                    <a:pt x="2474595" y="751523"/>
                  </a:lnTo>
                  <a:lnTo>
                    <a:pt x="2519362" y="760095"/>
                  </a:lnTo>
                  <a:lnTo>
                    <a:pt x="2565082" y="766762"/>
                  </a:lnTo>
                  <a:lnTo>
                    <a:pt x="2609850" y="770573"/>
                  </a:lnTo>
                  <a:lnTo>
                    <a:pt x="2655570" y="772478"/>
                  </a:lnTo>
                  <a:lnTo>
                    <a:pt x="2700338" y="772478"/>
                  </a:lnTo>
                  <a:lnTo>
                    <a:pt x="2746057" y="769620"/>
                  </a:lnTo>
                  <a:lnTo>
                    <a:pt x="2790825" y="763905"/>
                  </a:lnTo>
                  <a:lnTo>
                    <a:pt x="2836545" y="756285"/>
                  </a:lnTo>
                  <a:lnTo>
                    <a:pt x="2881312" y="745808"/>
                  </a:lnTo>
                  <a:lnTo>
                    <a:pt x="2926080" y="733425"/>
                  </a:lnTo>
                  <a:lnTo>
                    <a:pt x="2971800" y="719138"/>
                  </a:lnTo>
                  <a:lnTo>
                    <a:pt x="3016567" y="701992"/>
                  </a:lnTo>
                  <a:lnTo>
                    <a:pt x="3062287" y="682942"/>
                  </a:lnTo>
                  <a:lnTo>
                    <a:pt x="3107055" y="661988"/>
                  </a:lnTo>
                  <a:lnTo>
                    <a:pt x="3152775" y="638175"/>
                  </a:lnTo>
                  <a:lnTo>
                    <a:pt x="3196590" y="613410"/>
                  </a:lnTo>
                  <a:lnTo>
                    <a:pt x="3242310" y="586740"/>
                  </a:lnTo>
                  <a:lnTo>
                    <a:pt x="3287078" y="558165"/>
                  </a:lnTo>
                  <a:lnTo>
                    <a:pt x="3332798" y="527685"/>
                  </a:lnTo>
                  <a:lnTo>
                    <a:pt x="3377565" y="496253"/>
                  </a:lnTo>
                  <a:lnTo>
                    <a:pt x="3423285" y="462915"/>
                  </a:lnTo>
                  <a:lnTo>
                    <a:pt x="3468052" y="428625"/>
                  </a:lnTo>
                  <a:lnTo>
                    <a:pt x="3513772" y="394335"/>
                  </a:lnTo>
                  <a:lnTo>
                    <a:pt x="3558540" y="358140"/>
                  </a:lnTo>
                  <a:lnTo>
                    <a:pt x="3603308" y="321945"/>
                  </a:lnTo>
                  <a:lnTo>
                    <a:pt x="3649028" y="284798"/>
                  </a:lnTo>
                  <a:lnTo>
                    <a:pt x="3693795" y="247650"/>
                  </a:lnTo>
                  <a:lnTo>
                    <a:pt x="3739515" y="210503"/>
                  </a:lnTo>
                  <a:lnTo>
                    <a:pt x="3784283" y="172403"/>
                  </a:lnTo>
                  <a:lnTo>
                    <a:pt x="3830002" y="136208"/>
                  </a:lnTo>
                  <a:lnTo>
                    <a:pt x="3874770" y="99060"/>
                  </a:lnTo>
                  <a:lnTo>
                    <a:pt x="3920490" y="62865"/>
                  </a:lnTo>
                  <a:lnTo>
                    <a:pt x="3964305" y="27623"/>
                  </a:lnTo>
                  <a:lnTo>
                    <a:pt x="4001452" y="0"/>
                  </a:lnTo>
                </a:path>
              </a:pathLst>
            </a:custGeom>
            <a:noFill/>
            <a:ln w="24765">
              <a:solidFill>
                <a:srgbClr val="1F2937"/>
              </a:solidFill>
            </a:ln>
          </p:spPr>
        </p:sp>
        <p:sp>
          <p:nvSpPr>
            <p:cNvPr id="23" name="Freeform 23"/>
            <p:cNvSpPr/>
            <p:nvPr/>
          </p:nvSpPr>
          <p:spPr>
            <a:xfrm>
              <a:off x="6984682" y="2035492"/>
              <a:ext cx="3849053" cy="948690"/>
            </a:xfrm>
            <a:custGeom>
              <a:avLst/>
              <a:gdLst/>
              <a:ahLst/>
              <a:cxnLst/>
              <a:rect l="l" t="t" r="r" b="b"/>
              <a:pathLst>
                <a:path w="3849053" h="948690">
                  <a:moveTo>
                    <a:pt x="0" y="779145"/>
                  </a:moveTo>
                  <a:lnTo>
                    <a:pt x="37148" y="724853"/>
                  </a:lnTo>
                  <a:lnTo>
                    <a:pt x="80962" y="665798"/>
                  </a:lnTo>
                  <a:lnTo>
                    <a:pt x="123825" y="610553"/>
                  </a:lnTo>
                  <a:lnTo>
                    <a:pt x="167640" y="559117"/>
                  </a:lnTo>
                  <a:lnTo>
                    <a:pt x="210503" y="512445"/>
                  </a:lnTo>
                  <a:lnTo>
                    <a:pt x="254318" y="468630"/>
                  </a:lnTo>
                  <a:lnTo>
                    <a:pt x="297180" y="429578"/>
                  </a:lnTo>
                  <a:lnTo>
                    <a:pt x="340995" y="393383"/>
                  </a:lnTo>
                  <a:lnTo>
                    <a:pt x="384810" y="360998"/>
                  </a:lnTo>
                  <a:lnTo>
                    <a:pt x="427673" y="331470"/>
                  </a:lnTo>
                  <a:lnTo>
                    <a:pt x="471488" y="305753"/>
                  </a:lnTo>
                  <a:lnTo>
                    <a:pt x="514350" y="282893"/>
                  </a:lnTo>
                  <a:lnTo>
                    <a:pt x="558165" y="263843"/>
                  </a:lnTo>
                  <a:lnTo>
                    <a:pt x="601028" y="246698"/>
                  </a:lnTo>
                  <a:lnTo>
                    <a:pt x="644843" y="233362"/>
                  </a:lnTo>
                  <a:lnTo>
                    <a:pt x="688658" y="221933"/>
                  </a:lnTo>
                  <a:lnTo>
                    <a:pt x="731520" y="214312"/>
                  </a:lnTo>
                  <a:lnTo>
                    <a:pt x="775335" y="208598"/>
                  </a:lnTo>
                  <a:lnTo>
                    <a:pt x="818198" y="204788"/>
                  </a:lnTo>
                  <a:lnTo>
                    <a:pt x="862012" y="203835"/>
                  </a:lnTo>
                  <a:lnTo>
                    <a:pt x="904875" y="205740"/>
                  </a:lnTo>
                  <a:lnTo>
                    <a:pt x="948690" y="208598"/>
                  </a:lnTo>
                  <a:lnTo>
                    <a:pt x="991553" y="214312"/>
                  </a:lnTo>
                  <a:lnTo>
                    <a:pt x="1035368" y="221933"/>
                  </a:lnTo>
                  <a:lnTo>
                    <a:pt x="1078230" y="231458"/>
                  </a:lnTo>
                  <a:lnTo>
                    <a:pt x="1122045" y="242888"/>
                  </a:lnTo>
                  <a:lnTo>
                    <a:pt x="1164908" y="255270"/>
                  </a:lnTo>
                  <a:lnTo>
                    <a:pt x="1208723" y="269558"/>
                  </a:lnTo>
                  <a:lnTo>
                    <a:pt x="1251585" y="285750"/>
                  </a:lnTo>
                  <a:lnTo>
                    <a:pt x="1294448" y="302895"/>
                  </a:lnTo>
                  <a:lnTo>
                    <a:pt x="1338262" y="320993"/>
                  </a:lnTo>
                  <a:lnTo>
                    <a:pt x="1381125" y="340043"/>
                  </a:lnTo>
                  <a:lnTo>
                    <a:pt x="1424940" y="360998"/>
                  </a:lnTo>
                  <a:lnTo>
                    <a:pt x="1468755" y="382905"/>
                  </a:lnTo>
                  <a:lnTo>
                    <a:pt x="1511618" y="404812"/>
                  </a:lnTo>
                  <a:lnTo>
                    <a:pt x="1555433" y="427673"/>
                  </a:lnTo>
                  <a:lnTo>
                    <a:pt x="1598295" y="451485"/>
                  </a:lnTo>
                  <a:lnTo>
                    <a:pt x="1642110" y="475298"/>
                  </a:lnTo>
                  <a:lnTo>
                    <a:pt x="1684973" y="500062"/>
                  </a:lnTo>
                  <a:lnTo>
                    <a:pt x="1728788" y="524828"/>
                  </a:lnTo>
                  <a:lnTo>
                    <a:pt x="1772603" y="549592"/>
                  </a:lnTo>
                  <a:lnTo>
                    <a:pt x="1815465" y="575310"/>
                  </a:lnTo>
                  <a:lnTo>
                    <a:pt x="1859280" y="600075"/>
                  </a:lnTo>
                  <a:lnTo>
                    <a:pt x="1902143" y="625792"/>
                  </a:lnTo>
                  <a:lnTo>
                    <a:pt x="1945958" y="650558"/>
                  </a:lnTo>
                  <a:lnTo>
                    <a:pt x="1988820" y="674370"/>
                  </a:lnTo>
                  <a:lnTo>
                    <a:pt x="2032635" y="699135"/>
                  </a:lnTo>
                  <a:lnTo>
                    <a:pt x="2075498" y="722948"/>
                  </a:lnTo>
                  <a:lnTo>
                    <a:pt x="2119312" y="745808"/>
                  </a:lnTo>
                  <a:lnTo>
                    <a:pt x="2162175" y="767715"/>
                  </a:lnTo>
                  <a:lnTo>
                    <a:pt x="2205990" y="789623"/>
                  </a:lnTo>
                  <a:lnTo>
                    <a:pt x="2248852" y="810578"/>
                  </a:lnTo>
                  <a:lnTo>
                    <a:pt x="2292668" y="829628"/>
                  </a:lnTo>
                  <a:lnTo>
                    <a:pt x="2335530" y="848678"/>
                  </a:lnTo>
                  <a:lnTo>
                    <a:pt x="2379345" y="864870"/>
                  </a:lnTo>
                  <a:lnTo>
                    <a:pt x="2422208" y="881062"/>
                  </a:lnTo>
                  <a:lnTo>
                    <a:pt x="2466023" y="896303"/>
                  </a:lnTo>
                  <a:lnTo>
                    <a:pt x="2508885" y="908685"/>
                  </a:lnTo>
                  <a:lnTo>
                    <a:pt x="2552700" y="920115"/>
                  </a:lnTo>
                  <a:lnTo>
                    <a:pt x="2595562" y="929640"/>
                  </a:lnTo>
                  <a:lnTo>
                    <a:pt x="2639378" y="937260"/>
                  </a:lnTo>
                  <a:lnTo>
                    <a:pt x="2682240" y="942975"/>
                  </a:lnTo>
                  <a:lnTo>
                    <a:pt x="2726055" y="946785"/>
                  </a:lnTo>
                  <a:lnTo>
                    <a:pt x="2768918" y="948690"/>
                  </a:lnTo>
                  <a:lnTo>
                    <a:pt x="2812732" y="947738"/>
                  </a:lnTo>
                  <a:lnTo>
                    <a:pt x="2856548" y="944880"/>
                  </a:lnTo>
                  <a:lnTo>
                    <a:pt x="2899410" y="939165"/>
                  </a:lnTo>
                  <a:lnTo>
                    <a:pt x="2943225" y="931545"/>
                  </a:lnTo>
                  <a:lnTo>
                    <a:pt x="2986088" y="921067"/>
                  </a:lnTo>
                  <a:lnTo>
                    <a:pt x="3029903" y="907733"/>
                  </a:lnTo>
                  <a:lnTo>
                    <a:pt x="3072765" y="890588"/>
                  </a:lnTo>
                  <a:lnTo>
                    <a:pt x="3116580" y="871538"/>
                  </a:lnTo>
                  <a:lnTo>
                    <a:pt x="3160395" y="849630"/>
                  </a:lnTo>
                  <a:lnTo>
                    <a:pt x="3203257" y="823912"/>
                  </a:lnTo>
                  <a:lnTo>
                    <a:pt x="3247073" y="795338"/>
                  </a:lnTo>
                  <a:lnTo>
                    <a:pt x="3289935" y="762953"/>
                  </a:lnTo>
                  <a:lnTo>
                    <a:pt x="3333750" y="727710"/>
                  </a:lnTo>
                  <a:lnTo>
                    <a:pt x="3376612" y="687705"/>
                  </a:lnTo>
                  <a:lnTo>
                    <a:pt x="3420428" y="644842"/>
                  </a:lnTo>
                  <a:lnTo>
                    <a:pt x="3463290" y="598170"/>
                  </a:lnTo>
                  <a:lnTo>
                    <a:pt x="3507105" y="547688"/>
                  </a:lnTo>
                  <a:lnTo>
                    <a:pt x="3549968" y="493395"/>
                  </a:lnTo>
                  <a:lnTo>
                    <a:pt x="3593782" y="434340"/>
                  </a:lnTo>
                  <a:lnTo>
                    <a:pt x="3636645" y="371475"/>
                  </a:lnTo>
                  <a:lnTo>
                    <a:pt x="3680460" y="303848"/>
                  </a:lnTo>
                  <a:lnTo>
                    <a:pt x="3723323" y="232410"/>
                  </a:lnTo>
                  <a:lnTo>
                    <a:pt x="3767138" y="156210"/>
                  </a:lnTo>
                  <a:lnTo>
                    <a:pt x="3810000" y="76200"/>
                  </a:lnTo>
                  <a:lnTo>
                    <a:pt x="3849053" y="0"/>
                  </a:lnTo>
                </a:path>
              </a:pathLst>
            </a:custGeom>
            <a:noFill/>
            <a:ln w="24765">
              <a:solidFill>
                <a:srgbClr val="F26B3A"/>
              </a:solidFill>
            </a:ln>
          </p:spPr>
        </p:sp>
        <p:sp>
          <p:nvSpPr>
            <p:cNvPr id="24" name="Freeform 24"/>
            <p:cNvSpPr/>
            <p:nvPr/>
          </p:nvSpPr>
          <p:spPr>
            <a:xfrm>
              <a:off x="7178040" y="2577465"/>
              <a:ext cx="9525" cy="1388745"/>
            </a:xfrm>
            <a:custGeom>
              <a:avLst/>
              <a:gdLst/>
              <a:ahLst/>
              <a:cxnLst/>
              <a:rect l="l" t="t" r="r" b="b"/>
              <a:pathLst>
                <a:path w="9525" h="1388745">
                  <a:moveTo>
                    <a:pt x="0" y="1388745"/>
                  </a:moveTo>
                  <a:lnTo>
                    <a:pt x="0" y="0"/>
                  </a:lnTo>
                </a:path>
              </a:pathLst>
            </a:custGeom>
            <a:noFill/>
            <a:ln w="11430">
              <a:solidFill>
                <a:srgbClr val="5B6475"/>
              </a:solidFill>
              <a:custDash>
                <a:ds d="500000" sp="333333"/>
              </a:custDash>
            </a:ln>
          </p:spPr>
        </p:sp>
        <p:sp>
          <p:nvSpPr>
            <p:cNvPr id="25" name="Freeform 25"/>
            <p:cNvSpPr/>
            <p:nvPr/>
          </p:nvSpPr>
          <p:spPr>
            <a:xfrm>
              <a:off x="8212455" y="2322195"/>
              <a:ext cx="9525" cy="1644015"/>
            </a:xfrm>
            <a:custGeom>
              <a:avLst/>
              <a:gdLst/>
              <a:ahLst/>
              <a:cxnLst/>
              <a:rect l="l" t="t" r="r" b="b"/>
              <a:pathLst>
                <a:path w="9525" h="1644015">
                  <a:moveTo>
                    <a:pt x="0" y="1644015"/>
                  </a:moveTo>
                  <a:lnTo>
                    <a:pt x="0" y="0"/>
                  </a:lnTo>
                </a:path>
              </a:pathLst>
            </a:custGeom>
            <a:noFill/>
            <a:ln w="11430">
              <a:solidFill>
                <a:srgbClr val="5B6475"/>
              </a:solidFill>
              <a:custDash>
                <a:ds d="500000" sp="333333"/>
              </a:custDash>
            </a:ln>
          </p:spPr>
        </p:sp>
        <p:sp>
          <p:nvSpPr>
            <p:cNvPr id="26" name="Freeform 26"/>
            <p:cNvSpPr/>
            <p:nvPr/>
          </p:nvSpPr>
          <p:spPr>
            <a:xfrm>
              <a:off x="9246870" y="2862262"/>
              <a:ext cx="9525" cy="1103947"/>
            </a:xfrm>
            <a:custGeom>
              <a:avLst/>
              <a:gdLst/>
              <a:ahLst/>
              <a:cxnLst/>
              <a:rect l="l" t="t" r="r" b="b"/>
              <a:pathLst>
                <a:path w="9525" h="1103947">
                  <a:moveTo>
                    <a:pt x="0" y="1103947"/>
                  </a:moveTo>
                  <a:lnTo>
                    <a:pt x="0" y="0"/>
                  </a:lnTo>
                </a:path>
              </a:pathLst>
            </a:custGeom>
            <a:noFill/>
            <a:ln w="11430">
              <a:solidFill>
                <a:srgbClr val="5B6475"/>
              </a:solidFill>
              <a:custDash>
                <a:ds d="500000" sp="333333"/>
              </a:custDash>
            </a:ln>
          </p:spPr>
        </p:sp>
        <p:sp>
          <p:nvSpPr>
            <p:cNvPr id="27" name="Freeform 27"/>
            <p:cNvSpPr/>
            <p:nvPr/>
          </p:nvSpPr>
          <p:spPr>
            <a:xfrm>
              <a:off x="10520362" y="2558415"/>
              <a:ext cx="9525" cy="1407795"/>
            </a:xfrm>
            <a:custGeom>
              <a:avLst/>
              <a:gdLst/>
              <a:ahLst/>
              <a:cxnLst/>
              <a:rect l="l" t="t" r="r" b="b"/>
              <a:pathLst>
                <a:path w="9525" h="1407795">
                  <a:moveTo>
                    <a:pt x="0" y="1407795"/>
                  </a:moveTo>
                  <a:lnTo>
                    <a:pt x="0" y="0"/>
                  </a:lnTo>
                </a:path>
              </a:pathLst>
            </a:custGeom>
            <a:noFill/>
            <a:ln w="11430">
              <a:solidFill>
                <a:srgbClr val="5B6475"/>
              </a:solidFill>
              <a:custDash>
                <a:ds d="500000" sp="333333"/>
              </a:custDash>
            </a:ln>
          </p:spPr>
        </p:sp>
        <p:sp>
          <p:nvSpPr>
            <p:cNvPr id="28" name="Freeform 28"/>
            <p:cNvSpPr/>
            <p:nvPr/>
          </p:nvSpPr>
          <p:spPr>
            <a:xfrm>
              <a:off x="9963150" y="2860358"/>
              <a:ext cx="9525" cy="1105852"/>
            </a:xfrm>
            <a:custGeom>
              <a:avLst/>
              <a:gdLst/>
              <a:ahLst/>
              <a:cxnLst/>
              <a:rect l="l" t="t" r="r" b="b"/>
              <a:pathLst>
                <a:path w="9525" h="1105852">
                  <a:moveTo>
                    <a:pt x="0" y="1105852"/>
                  </a:moveTo>
                  <a:lnTo>
                    <a:pt x="0" y="0"/>
                  </a:lnTo>
                </a:path>
              </a:pathLst>
            </a:custGeom>
            <a:noFill/>
            <a:ln w="13335">
              <a:solidFill>
                <a:srgbClr val="B42318"/>
              </a:solidFill>
              <a:custDash>
                <a:ds d="428571" sp="285714"/>
              </a:custDash>
            </a:ln>
          </p:spPr>
        </p:sp>
        <p:sp>
          <p:nvSpPr>
            <p:cNvPr id="29" name="Ellipse 29"/>
            <p:cNvSpPr/>
            <p:nvPr/>
          </p:nvSpPr>
          <p:spPr>
            <a:xfrm>
              <a:off x="6619875" y="3975735"/>
              <a:ext cx="1905" cy="1905"/>
            </a:xfrm>
            <a:prstGeom prst="ellipse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0" name="Ellipse 30"/>
            <p:cNvSpPr/>
            <p:nvPr/>
          </p:nvSpPr>
          <p:spPr>
            <a:xfrm>
              <a:off x="11474768" y="3975735"/>
              <a:ext cx="1905" cy="1905"/>
            </a:xfrm>
            <a:prstGeom prst="ellipse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1" name="Ellipse 31"/>
            <p:cNvSpPr/>
            <p:nvPr/>
          </p:nvSpPr>
          <p:spPr>
            <a:xfrm>
              <a:off x="6619875" y="3975735"/>
              <a:ext cx="1905" cy="1905"/>
            </a:xfrm>
            <a:prstGeom prst="ellipse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2" name="Ellipse 32"/>
            <p:cNvSpPr/>
            <p:nvPr/>
          </p:nvSpPr>
          <p:spPr>
            <a:xfrm>
              <a:off x="6619875" y="1670685"/>
              <a:ext cx="1905" cy="1905"/>
            </a:xfrm>
            <a:prstGeom prst="ellipse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3" name="Ellipse 33"/>
            <p:cNvSpPr/>
            <p:nvPr/>
          </p:nvSpPr>
          <p:spPr>
            <a:xfrm>
              <a:off x="6978015" y="2721292"/>
              <a:ext cx="1905" cy="1905"/>
            </a:xfrm>
            <a:prstGeom prst="ellipse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4" name="Ellipse 34"/>
            <p:cNvSpPr/>
            <p:nvPr/>
          </p:nvSpPr>
          <p:spPr>
            <a:xfrm>
              <a:off x="10996612" y="2161222"/>
              <a:ext cx="1905" cy="1905"/>
            </a:xfrm>
            <a:prstGeom prst="ellipse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5" name="Ellipse 35"/>
            <p:cNvSpPr/>
            <p:nvPr/>
          </p:nvSpPr>
          <p:spPr>
            <a:xfrm>
              <a:off x="6978015" y="2822257"/>
              <a:ext cx="1905" cy="1905"/>
            </a:xfrm>
            <a:prstGeom prst="ellipse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6" name="Ellipse 36"/>
            <p:cNvSpPr/>
            <p:nvPr/>
          </p:nvSpPr>
          <p:spPr>
            <a:xfrm>
              <a:off x="10837545" y="2025015"/>
              <a:ext cx="1905" cy="1905"/>
            </a:xfrm>
            <a:prstGeom prst="ellipse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7" name="Ellipse 37"/>
            <p:cNvSpPr/>
            <p:nvPr/>
          </p:nvSpPr>
          <p:spPr>
            <a:xfrm>
              <a:off x="7177088" y="3975735"/>
              <a:ext cx="1905" cy="1905"/>
            </a:xfrm>
            <a:prstGeom prst="ellipse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8" name="Ellipse 38"/>
            <p:cNvSpPr/>
            <p:nvPr/>
          </p:nvSpPr>
          <p:spPr>
            <a:xfrm>
              <a:off x="7177088" y="2566035"/>
              <a:ext cx="1905" cy="1905"/>
            </a:xfrm>
            <a:prstGeom prst="ellipse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9" name="Ellipse 39"/>
            <p:cNvSpPr/>
            <p:nvPr/>
          </p:nvSpPr>
          <p:spPr>
            <a:xfrm>
              <a:off x="7130415" y="2519362"/>
              <a:ext cx="95250" cy="9525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40" name="Ellipse 40"/>
            <p:cNvSpPr/>
            <p:nvPr/>
          </p:nvSpPr>
          <p:spPr>
            <a:xfrm>
              <a:off x="8211502" y="3975735"/>
              <a:ext cx="1905" cy="1905"/>
            </a:xfrm>
            <a:prstGeom prst="ellipse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1" name="Ellipse 41"/>
            <p:cNvSpPr/>
            <p:nvPr/>
          </p:nvSpPr>
          <p:spPr>
            <a:xfrm>
              <a:off x="8211502" y="2310765"/>
              <a:ext cx="1905" cy="1905"/>
            </a:xfrm>
            <a:prstGeom prst="ellipse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2" name="Ellipse 42"/>
            <p:cNvSpPr/>
            <p:nvPr/>
          </p:nvSpPr>
          <p:spPr>
            <a:xfrm>
              <a:off x="8164830" y="2264092"/>
              <a:ext cx="95250" cy="9525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43" name="Ellipse 43"/>
            <p:cNvSpPr/>
            <p:nvPr/>
          </p:nvSpPr>
          <p:spPr>
            <a:xfrm>
              <a:off x="9245918" y="3975735"/>
              <a:ext cx="1905" cy="1905"/>
            </a:xfrm>
            <a:prstGeom prst="ellipse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4" name="Ellipse 44"/>
            <p:cNvSpPr/>
            <p:nvPr/>
          </p:nvSpPr>
          <p:spPr>
            <a:xfrm>
              <a:off x="9245918" y="2850832"/>
              <a:ext cx="1905" cy="1905"/>
            </a:xfrm>
            <a:prstGeom prst="ellipse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5" name="Ellipse 45"/>
            <p:cNvSpPr/>
            <p:nvPr/>
          </p:nvSpPr>
          <p:spPr>
            <a:xfrm>
              <a:off x="9199245" y="2804160"/>
              <a:ext cx="95250" cy="9525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46" name="Ellipse 46"/>
            <p:cNvSpPr/>
            <p:nvPr/>
          </p:nvSpPr>
          <p:spPr>
            <a:xfrm>
              <a:off x="10519410" y="3975735"/>
              <a:ext cx="1905" cy="1905"/>
            </a:xfrm>
            <a:prstGeom prst="ellipse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7" name="Ellipse 47"/>
            <p:cNvSpPr/>
            <p:nvPr/>
          </p:nvSpPr>
          <p:spPr>
            <a:xfrm>
              <a:off x="10519410" y="2546985"/>
              <a:ext cx="1905" cy="1905"/>
            </a:xfrm>
            <a:prstGeom prst="ellipse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8" name="Ellipse 48"/>
            <p:cNvSpPr/>
            <p:nvPr/>
          </p:nvSpPr>
          <p:spPr>
            <a:xfrm>
              <a:off x="10472738" y="2500312"/>
              <a:ext cx="95250" cy="9525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49" name="Ellipse 49"/>
            <p:cNvSpPr/>
            <p:nvPr/>
          </p:nvSpPr>
          <p:spPr>
            <a:xfrm>
              <a:off x="9962198" y="3975735"/>
              <a:ext cx="1905" cy="1905"/>
            </a:xfrm>
            <a:prstGeom prst="ellipse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0" name="Ellipse 50"/>
            <p:cNvSpPr/>
            <p:nvPr/>
          </p:nvSpPr>
          <p:spPr>
            <a:xfrm>
              <a:off x="9962198" y="2848927"/>
              <a:ext cx="1905" cy="1905"/>
            </a:xfrm>
            <a:prstGeom prst="ellipse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1" name="Ellipse 51"/>
            <p:cNvSpPr/>
            <p:nvPr/>
          </p:nvSpPr>
          <p:spPr>
            <a:xfrm>
              <a:off x="9925050" y="2848928"/>
              <a:ext cx="76200" cy="76200"/>
            </a:xfrm>
            <a:prstGeom prst="ellipse">
              <a:avLst/>
            </a:prstGeom>
            <a:solidFill>
              <a:srgbClr val="1F2937"/>
            </a:solidFill>
            <a:ln>
              <a:noFill/>
            </a:ln>
          </p:spPr>
        </p:sp>
        <p:sp>
          <p:nvSpPr>
            <p:cNvPr id="52" name="Ellipse 52"/>
            <p:cNvSpPr/>
            <p:nvPr/>
          </p:nvSpPr>
          <p:spPr>
            <a:xfrm>
              <a:off x="9925050" y="2920365"/>
              <a:ext cx="76200" cy="76200"/>
            </a:xfrm>
            <a:prstGeom prst="ellipse">
              <a:avLst/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53" name="TextBox 53"/>
            <p:cNvSpPr txBox="1"/>
            <p:nvPr/>
          </p:nvSpPr>
          <p:spPr>
            <a:xfrm>
              <a:off x="11428542" y="3995261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x</a:t>
              </a:r>
            </a:p>
          </p:txBody>
        </p:sp>
        <p:sp>
          <p:nvSpPr>
            <p:cNvPr id="54" name="TextBox 54"/>
            <p:cNvSpPr txBox="1"/>
            <p:nvPr/>
          </p:nvSpPr>
          <p:spPr>
            <a:xfrm>
              <a:off x="6738938" y="1553051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y</a:t>
              </a:r>
            </a:p>
          </p:txBody>
        </p:sp>
        <p:sp>
          <p:nvSpPr>
            <p:cNvPr id="55" name="TextBox 55"/>
            <p:cNvSpPr txBox="1"/>
            <p:nvPr/>
          </p:nvSpPr>
          <p:spPr>
            <a:xfrm>
              <a:off x="7089399" y="4038124"/>
              <a:ext cx="17728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x₀</a:t>
              </a:r>
            </a:p>
          </p:txBody>
        </p:sp>
        <p:sp>
          <p:nvSpPr>
            <p:cNvPr id="56" name="TextBox 56"/>
            <p:cNvSpPr txBox="1"/>
            <p:nvPr/>
          </p:nvSpPr>
          <p:spPr>
            <a:xfrm>
              <a:off x="8123814" y="4038124"/>
              <a:ext cx="17728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x₁</a:t>
              </a:r>
            </a:p>
          </p:txBody>
        </p:sp>
        <p:sp>
          <p:nvSpPr>
            <p:cNvPr id="57" name="TextBox 57"/>
            <p:cNvSpPr txBox="1"/>
            <p:nvPr/>
          </p:nvSpPr>
          <p:spPr>
            <a:xfrm>
              <a:off x="9158229" y="4038124"/>
              <a:ext cx="17728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x₂</a:t>
              </a:r>
            </a:p>
          </p:txBody>
        </p:sp>
        <p:sp>
          <p:nvSpPr>
            <p:cNvPr id="58" name="TextBox 58"/>
            <p:cNvSpPr txBox="1"/>
            <p:nvPr/>
          </p:nvSpPr>
          <p:spPr>
            <a:xfrm>
              <a:off x="10431722" y="4038124"/>
              <a:ext cx="17728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x₃</a:t>
              </a:r>
            </a:p>
          </p:txBody>
        </p:sp>
        <p:sp>
          <p:nvSpPr>
            <p:cNvPr id="59" name="TextBox 59"/>
            <p:cNvSpPr txBox="1"/>
            <p:nvPr/>
          </p:nvSpPr>
          <p:spPr>
            <a:xfrm>
              <a:off x="9870363" y="4038124"/>
              <a:ext cx="1855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x′</a:t>
              </a:r>
            </a:p>
          </p:txBody>
        </p:sp>
        <p:sp>
          <p:nvSpPr>
            <p:cNvPr id="60" name="TextBox 60"/>
            <p:cNvSpPr txBox="1"/>
            <p:nvPr/>
          </p:nvSpPr>
          <p:spPr>
            <a:xfrm>
              <a:off x="10772574" y="2076926"/>
              <a:ext cx="6288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y = f(x)</a:t>
              </a:r>
            </a:p>
          </p:txBody>
        </p:sp>
        <p:sp>
          <p:nvSpPr>
            <p:cNvPr id="61" name="TextBox 61"/>
            <p:cNvSpPr txBox="1"/>
            <p:nvPr/>
          </p:nvSpPr>
          <p:spPr>
            <a:xfrm>
              <a:off x="10035939" y="1721644"/>
              <a:ext cx="72921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112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y = Pₙ(x)</a:t>
              </a:r>
            </a:p>
          </p:txBody>
        </p:sp>
        <p:sp>
          <p:nvSpPr>
            <p:cNvPr id="62" name="TextBox 62"/>
            <p:cNvSpPr txBox="1"/>
            <p:nvPr/>
          </p:nvSpPr>
          <p:spPr>
            <a:xfrm>
              <a:off x="10052685" y="2531269"/>
              <a:ext cx="111236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f(x′) ≈ Pₙ(x′)</a:t>
              </a:r>
            </a:p>
          </p:txBody>
        </p:sp>
      </p:grpSp>
      <p:grpSp>
        <p:nvGrpSpPr>
          <p:cNvPr id="75" name="c2-kv-2"/>
          <p:cNvGrpSpPr/>
          <p:nvPr/>
        </p:nvGrpSpPr>
        <p:grpSpPr>
          <a:xfrm>
            <a:off x="6456998" y="4526280"/>
            <a:ext cx="5276183" cy="1895475"/>
            <a:chOff x="6456998" y="4526280"/>
            <a:chExt cx="5276183" cy="1895475"/>
          </a:xfrm>
        </p:grpSpPr>
        <p:sp>
          <p:nvSpPr>
            <p:cNvPr id="64" name="TextBox 64"/>
            <p:cNvSpPr txBox="1"/>
            <p:nvPr/>
          </p:nvSpPr>
          <p:spPr>
            <a:xfrm>
              <a:off x="6456998" y="4526280"/>
              <a:ext cx="102489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被插值函数</a:t>
              </a:r>
            </a:p>
          </p:txBody>
        </p:sp>
        <p:sp>
          <p:nvSpPr>
            <p:cNvPr id="65" name="TextBox 65"/>
            <p:cNvSpPr txBox="1"/>
            <p:nvPr/>
          </p:nvSpPr>
          <p:spPr>
            <a:xfrm>
              <a:off x="8015288" y="4526280"/>
              <a:ext cx="1469136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f(x)，图中黑线</a:t>
              </a:r>
            </a:p>
          </p:txBody>
        </p:sp>
        <p:sp>
          <p:nvSpPr>
            <p:cNvPr id="66" name="Rectangle 66"/>
            <p:cNvSpPr/>
            <p:nvPr/>
          </p:nvSpPr>
          <p:spPr>
            <a:xfrm>
              <a:off x="6464618" y="4846320"/>
              <a:ext cx="519398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67" name="TextBox 67"/>
            <p:cNvSpPr txBox="1"/>
            <p:nvPr/>
          </p:nvSpPr>
          <p:spPr>
            <a:xfrm>
              <a:off x="6456998" y="4966335"/>
              <a:ext cx="8229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插值函数</a:t>
              </a:r>
            </a:p>
          </p:txBody>
        </p:sp>
        <p:sp>
          <p:nvSpPr>
            <p:cNvPr id="68" name="TextBox 68"/>
            <p:cNvSpPr txBox="1"/>
            <p:nvPr/>
          </p:nvSpPr>
          <p:spPr>
            <a:xfrm>
              <a:off x="8015288" y="4966335"/>
              <a:ext cx="3717893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φ(x)，取多项式时记为 Pₙ(x)，图中橙线</a:t>
              </a:r>
            </a:p>
          </p:txBody>
        </p:sp>
        <p:sp>
          <p:nvSpPr>
            <p:cNvPr id="69" name="Rectangle 69"/>
            <p:cNvSpPr/>
            <p:nvPr/>
          </p:nvSpPr>
          <p:spPr>
            <a:xfrm>
              <a:off x="6464618" y="5286375"/>
              <a:ext cx="519398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70" name="TextBox 70"/>
            <p:cNvSpPr txBox="1"/>
            <p:nvPr/>
          </p:nvSpPr>
          <p:spPr>
            <a:xfrm>
              <a:off x="6456998" y="5406390"/>
              <a:ext cx="8229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插值节点</a:t>
              </a:r>
            </a:p>
          </p:txBody>
        </p:sp>
        <p:sp>
          <p:nvSpPr>
            <p:cNvPr id="71" name="TextBox 71"/>
            <p:cNvSpPr txBox="1"/>
            <p:nvPr/>
          </p:nvSpPr>
          <p:spPr>
            <a:xfrm>
              <a:off x="8015288" y="5406390"/>
              <a:ext cx="3501390" cy="57531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2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xᵢ（i = 0, 1, …, n），两条曲线在这里相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交</a:t>
              </a:r>
            </a:p>
          </p:txBody>
        </p:sp>
        <p:sp>
          <p:nvSpPr>
            <p:cNvPr id="72" name="Rectangle 72"/>
            <p:cNvSpPr/>
            <p:nvPr/>
          </p:nvSpPr>
          <p:spPr>
            <a:xfrm>
              <a:off x="6464618" y="6008370"/>
              <a:ext cx="519398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73" name="TextBox 73"/>
            <p:cNvSpPr txBox="1"/>
            <p:nvPr/>
          </p:nvSpPr>
          <p:spPr>
            <a:xfrm>
              <a:off x="6456998" y="6128385"/>
              <a:ext cx="142875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插值区间与条件</a:t>
              </a:r>
            </a:p>
          </p:txBody>
        </p:sp>
        <p:sp>
          <p:nvSpPr>
            <p:cNvPr id="74" name="TextBox 74"/>
            <p:cNvSpPr txBox="1"/>
            <p:nvPr/>
          </p:nvSpPr>
          <p:spPr>
            <a:xfrm>
              <a:off x="8015288" y="6128385"/>
              <a:ext cx="2852357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[a, b]；(5.2.1)、(5.2.2) 式</a:t>
              </a:r>
            </a:p>
          </p:txBody>
        </p:sp>
      </p:grpSp>
      <p:grpSp>
        <p:nvGrpSpPr>
          <p:cNvPr id="78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76" name="TextBox 76"/>
            <p:cNvSpPr txBox="1"/>
            <p:nvPr/>
          </p:nvSpPr>
          <p:spPr>
            <a:xfrm>
              <a:off x="528447" y="6581299"/>
              <a:ext cx="225267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计算方法 · 第5章 函数插值与曲线拟合</a:t>
              </a:r>
            </a:p>
          </p:txBody>
        </p:sp>
        <p:sp>
          <p:nvSpPr>
            <p:cNvPr id="77" name="TextBox 77"/>
            <p:cNvSpPr txBox="1"/>
            <p:nvPr/>
          </p:nvSpPr>
          <p:spPr>
            <a:xfrm>
              <a:off x="11581087" y="6581299"/>
              <a:ext cx="824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8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10059844" cy="909257"/>
            <a:chOff x="520446" y="342900"/>
            <a:chExt cx="10059844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272665" cy="266700"/>
            </a:xfrm>
            <a:prstGeom prst="roundRect">
              <a:avLst>
                <a:gd name="adj" fmla="val 50000"/>
              </a:avLst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01058" y="407194"/>
              <a:ext cx="213734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第5章 函数插值 · 拉格朗日插值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10059844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代数插值多项式存在且唯一：系数行列式是 Vandermonde 行列式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E7D4F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c1-text-1"/>
          <p:cNvGrpSpPr/>
          <p:nvPr/>
        </p:nvGrpSpPr>
        <p:grpSpPr>
          <a:xfrm>
            <a:off x="526542" y="1545907"/>
            <a:ext cx="4840034" cy="529780"/>
            <a:chOff x="526542" y="1545907"/>
            <a:chExt cx="4840034" cy="529780"/>
          </a:xfrm>
        </p:grpSpPr>
        <p:sp>
          <p:nvSpPr>
            <p:cNvPr id="7" name="TextBox 7"/>
            <p:cNvSpPr txBox="1"/>
            <p:nvPr/>
          </p:nvSpPr>
          <p:spPr>
            <a:xfrm>
              <a:off x="526542" y="1545907"/>
              <a:ext cx="4840034" cy="5297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92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取插值函数为次数不超过 n 的代数多项式（</a:t>
              </a:r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代数多项式插值</a:t>
              </a: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），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Pₙ(x) 称为代数插值多项式：</a:t>
              </a:r>
            </a:p>
          </p:txBody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formula27"/>
              <p:cNvSpPr txBox="1">
                <a:spLocks noGrp="1"/>
              </p:cNvSpPr>
              <p:nvPr/>
            </p:nvSpPr>
            <p:spPr>
              <a:xfrm>
                <a:off x="533400" y="2192655"/>
                <a:ext cx="5410200" cy="4000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lIns="0" tIns="0" rIns="0" bIns="0" wrap="none" anchor="ctr">
                <a:normAutofit/>
              </a:bodyPr>
              <a:lstStyle/>
              <a:p>
                <a:pPr algn="ctr"/>
                <a14:m>
                  <m:oMathPara xmlns:a="http://schemas.openxmlformats.org/drawingml/2006/main"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a:rPr lang="zh-CN" sz="15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P</m:t>
                          </m:r>
                        </m:e>
                        <m:sub>
                          <m:r>
                            <a:rPr lang="zh-CN" sz="15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n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 m:val="on"/>
                          <m:ctrlPr>
                            <a:rPr lang="zh-CN" sz="15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a:rPr lang="zh-CN" sz="15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a:rPr lang="zh-CN" sz="158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sSub>
                        <m:e>
                          <m:r>
                            <a:rPr lang="zh-CN" sz="15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a</m:t>
                          </m:r>
                        </m:e>
                        <m:sub>
                          <m:r>
                            <a:rPr lang="zh-CN" sz="15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zh-CN" sz="158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+</m:t>
                      </m:r>
                      <m:sSub>
                        <m:e>
                          <m:r>
                            <a:rPr lang="zh-CN" sz="15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a</m:t>
                          </m:r>
                        </m:e>
                        <m:sub>
                          <m:r>
                            <a:rPr lang="zh-CN" sz="15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</m:t>
                          </m:r>
                        </m:sub>
                      </m:sSub>
                      <m:r>
                        <a:rPr lang="zh-CN" sz="158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x</m:t>
                      </m:r>
                      <m:r>
                        <m:rPr>
                          <m:sty m:val="p"/>
                        </m:rPr>
                        <a:rPr lang="zh-CN" sz="158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+</m:t>
                      </m:r>
                      <m:sSub>
                        <m:e>
                          <m:r>
                            <a:rPr lang="zh-CN" sz="15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a</m:t>
                          </m:r>
                        </m:e>
                        <m:sub>
                          <m:r>
                            <a:rPr lang="zh-CN" sz="15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</m:t>
                          </m:r>
                        </m:sub>
                      </m:sSub>
                      <m:sSup>
                        <m:e>
                          <m:r>
                            <a:rPr lang="zh-CN" sz="15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x</m:t>
                          </m:r>
                        </m:e>
                        <m:sup>
                          <m:r>
                            <a:rPr lang="zh-CN" sz="15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a:rPr lang="zh-CN" sz="158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+⋯+</m:t>
                      </m:r>
                      <m:sSub>
                        <m:e>
                          <m:r>
                            <a:rPr lang="zh-CN" sz="15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a</m:t>
                          </m:r>
                        </m:e>
                        <m:sub>
                          <m:r>
                            <a:rPr lang="zh-CN" sz="15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n</m:t>
                          </m:r>
                        </m:sub>
                      </m:sSub>
                      <m:sSup>
                        <m:e>
                          <m:r>
                            <a:rPr lang="zh-CN" sz="15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x</m:t>
                          </m:r>
                        </m:e>
                        <m:sup>
                          <m:r>
                            <a:rPr lang="zh-CN" sz="15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n</m:t>
                          </m:r>
                        </m:sup>
                      </m:sSup>
                    </m:oMath>
                  </m:oMathPara>
                </a14:m>
              </a:p>
            </p:txBody>
          </p:sp>
        </mc:Choice>
      </mc:AlternateContent>
      <p:grpSp>
        <p:nvGrpSpPr>
          <p:cNvPr id="11" name="c1-text-3"/>
          <p:cNvGrpSpPr/>
          <p:nvPr/>
        </p:nvGrpSpPr>
        <p:grpSpPr>
          <a:xfrm>
            <a:off x="526542" y="2785110"/>
            <a:ext cx="5174361" cy="529780"/>
            <a:chOff x="526542" y="2785110"/>
            <a:chExt cx="5174361" cy="529780"/>
          </a:xfrm>
        </p:grpSpPr>
        <p:sp>
          <p:nvSpPr>
            <p:cNvPr id="10" name="TextBox 10"/>
            <p:cNvSpPr txBox="1"/>
            <p:nvPr/>
          </p:nvSpPr>
          <p:spPr>
            <a:xfrm>
              <a:off x="526542" y="2785110"/>
              <a:ext cx="5174361" cy="5297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92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由插值条件 Pₙ(xᵢ) = yᵢ，系数 a₀, a₁, …, aₙ 满足 n+1 阶线性方程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组</a:t>
              </a:r>
            </a:p>
          </p:txBody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12" name="formula28"/>
              <p:cNvSpPr txBox="1">
                <a:spLocks noGrp="1"/>
              </p:cNvSpPr>
              <p:nvPr/>
            </p:nvSpPr>
            <p:spPr>
              <a:xfrm>
                <a:off x="533400" y="3431858"/>
                <a:ext cx="5410200" cy="114014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lIns="0" tIns="0" rIns="0" bIns="0" wrap="none" anchor="ctr">
                <a:normAutofit/>
              </a:bodyPr>
              <a:lstStyle/>
              <a:p>
                <a:pPr algn="ctr"/>
                <a14:m>
                  <m:oMathPara xmlns:a="http://schemas.openxmlformats.org/drawingml/2006/main" xmlns:m="http://schemas.openxmlformats.org/officeDocument/2006/math">
                    <m:oMathParaPr>
                      <m:jc m:val="center"/>
                    </m:oMathParaPr>
                    <m:oMath>
                      <m:d>
                        <m:dPr>
                          <m:begChr m:val="{"/>
                          <m:sepChr m:val=""/>
                          <m:endChr m:val=""/>
                          <m:grow m:val="on"/>
                          <m:ctrlPr>
                            <a:rPr lang="zh-CN" sz="14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eqArr>
                            <m:eqArrPr>
                              <m:baseJc m:val="center"/>
                            </m:eqArrPr>
                            <m:e>
                              <m:r>
                                <a:rPr lang="zh-CN" sz="14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&amp;</m:t>
                              </m:r>
                              <m:sSub>
                                <m:e>
                                  <m:r>
                                    <a:rPr lang="zh-CN" sz="142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a</m:t>
                                  </m:r>
                                </m:e>
                                <m:sub>
                                  <m:r>
                                    <a:rPr lang="zh-CN" sz="142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0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a:rPr lang="zh-CN" sz="14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+</m:t>
                              </m:r>
                              <m:sSub>
                                <m:e>
                                  <m:r>
                                    <a:rPr lang="zh-CN" sz="142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a</m:t>
                                  </m:r>
                                </m:e>
                                <m:sub>
                                  <m:r>
                                    <a:rPr lang="zh-CN" sz="142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1</m:t>
                                  </m:r>
                                </m:sub>
                              </m:sSub>
                              <m:sSub>
                                <m:e>
                                  <m:r>
                                    <a:rPr lang="zh-CN" sz="142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x</m:t>
                                  </m:r>
                                </m:e>
                                <m:sub>
                                  <m:r>
                                    <a:rPr lang="zh-CN" sz="142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0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a:rPr lang="zh-CN" sz="14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+</m:t>
                              </m:r>
                              <m:sSub>
                                <m:e>
                                  <m:r>
                                    <a:rPr lang="zh-CN" sz="142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a</m:t>
                                  </m:r>
                                </m:e>
                                <m:sub>
                                  <m:r>
                                    <a:rPr lang="zh-CN" sz="142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2</m:t>
                                  </m:r>
                                </m:sub>
                              </m:sSub>
                              <m:sSubSup>
                                <m:e>
                                  <m:r>
                                    <a:rPr lang="zh-CN" sz="142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x</m:t>
                                  </m:r>
                                </m:e>
                                <m:sub>
                                  <m:r>
                                    <a:rPr lang="zh-CN" sz="142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0</m:t>
                                  </m:r>
                                </m:sub>
                                <m:sup>
                                  <m:r>
                                    <a:rPr lang="zh-CN" sz="142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2</m:t>
                                  </m:r>
                                </m:sup>
                              </m:sSubSup>
                              <m:r>
                                <m:rPr>
                                  <m:sty m:val="p"/>
                                </m:rPr>
                                <a:rPr lang="zh-CN" sz="14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+⋯+</m:t>
                              </m:r>
                              <m:sSub>
                                <m:e>
                                  <m:r>
                                    <a:rPr lang="zh-CN" sz="142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a</m:t>
                                  </m:r>
                                </m:e>
                                <m:sub>
                                  <m:r>
                                    <a:rPr lang="zh-CN" sz="142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n</m:t>
                                  </m:r>
                                </m:sub>
                              </m:sSub>
                              <m:sSubSup>
                                <m:e>
                                  <m:r>
                                    <a:rPr lang="zh-CN" sz="142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x</m:t>
                                  </m:r>
                                </m:e>
                                <m:sub>
                                  <m:r>
                                    <a:rPr lang="zh-CN" sz="142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0</m:t>
                                  </m:r>
                                </m:sub>
                                <m:sup>
                                  <m:r>
                                    <a:rPr lang="zh-CN" sz="142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n</m:t>
                                  </m:r>
                                </m:sup>
                              </m:sSubSup>
                              <m:r>
                                <m:rPr>
                                  <m:sty m:val="p"/>
                                </m:rPr>
                                <a:rPr lang="zh-CN" sz="14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=</m:t>
                              </m:r>
                              <m:sSub>
                                <m:e>
                                  <m:r>
                                    <a:rPr lang="zh-CN" sz="142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y</m:t>
                                  </m:r>
                                </m:e>
                                <m:sub>
                                  <m:r>
                                    <a:rPr lang="zh-CN" sz="142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0</m:t>
                                  </m:r>
                                </m:sub>
                              </m:sSub>
                            </m:e>
                            <m:e>
                              <m:r>
                                <a:rPr lang="zh-CN" sz="14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&amp;</m:t>
                              </m:r>
                              <m:sSub>
                                <m:e>
                                  <m:r>
                                    <a:rPr lang="zh-CN" sz="142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a</m:t>
                                  </m:r>
                                </m:e>
                                <m:sub>
                                  <m:r>
                                    <a:rPr lang="zh-CN" sz="142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0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a:rPr lang="zh-CN" sz="14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+</m:t>
                              </m:r>
                              <m:sSub>
                                <m:e>
                                  <m:r>
                                    <a:rPr lang="zh-CN" sz="142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a</m:t>
                                  </m:r>
                                </m:e>
                                <m:sub>
                                  <m:r>
                                    <a:rPr lang="zh-CN" sz="142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1</m:t>
                                  </m:r>
                                </m:sub>
                              </m:sSub>
                              <m:sSub>
                                <m:e>
                                  <m:r>
                                    <a:rPr lang="zh-CN" sz="142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x</m:t>
                                  </m:r>
                                </m:e>
                                <m:sub>
                                  <m:r>
                                    <a:rPr lang="zh-CN" sz="142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a:rPr lang="zh-CN" sz="14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+</m:t>
                              </m:r>
                              <m:sSub>
                                <m:e>
                                  <m:r>
                                    <a:rPr lang="zh-CN" sz="142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a</m:t>
                                  </m:r>
                                </m:e>
                                <m:sub>
                                  <m:r>
                                    <a:rPr lang="zh-CN" sz="142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2</m:t>
                                  </m:r>
                                </m:sub>
                              </m:sSub>
                              <m:sSubSup>
                                <m:e>
                                  <m:r>
                                    <a:rPr lang="zh-CN" sz="142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x</m:t>
                                  </m:r>
                                </m:e>
                                <m:sub>
                                  <m:r>
                                    <a:rPr lang="zh-CN" sz="142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1</m:t>
                                  </m:r>
                                </m:sub>
                                <m:sup>
                                  <m:r>
                                    <a:rPr lang="zh-CN" sz="142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2</m:t>
                                  </m:r>
                                </m:sup>
                              </m:sSubSup>
                              <m:r>
                                <m:rPr>
                                  <m:sty m:val="p"/>
                                </m:rPr>
                                <a:rPr lang="zh-CN" sz="14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+⋯+</m:t>
                              </m:r>
                              <m:sSub>
                                <m:e>
                                  <m:r>
                                    <a:rPr lang="zh-CN" sz="142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a</m:t>
                                  </m:r>
                                </m:e>
                                <m:sub>
                                  <m:r>
                                    <a:rPr lang="zh-CN" sz="142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n</m:t>
                                  </m:r>
                                </m:sub>
                              </m:sSub>
                              <m:sSubSup>
                                <m:e>
                                  <m:r>
                                    <a:rPr lang="zh-CN" sz="142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x</m:t>
                                  </m:r>
                                </m:e>
                                <m:sub>
                                  <m:r>
                                    <a:rPr lang="zh-CN" sz="142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1</m:t>
                                  </m:r>
                                </m:sub>
                                <m:sup>
                                  <m:r>
                                    <a:rPr lang="zh-CN" sz="142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n</m:t>
                                  </m:r>
                                </m:sup>
                              </m:sSubSup>
                              <m:r>
                                <m:rPr>
                                  <m:sty m:val="p"/>
                                </m:rPr>
                                <a:rPr lang="zh-CN" sz="14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=</m:t>
                              </m:r>
                              <m:sSub>
                                <m:e>
                                  <m:r>
                                    <a:rPr lang="zh-CN" sz="142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y</m:t>
                                  </m:r>
                                </m:e>
                                <m:sub>
                                  <m:r>
                                    <a:rPr lang="zh-CN" sz="142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  <m:e>
                              <m:r>
                                <a:rPr lang="zh-CN" sz="14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&amp;</m:t>
                              </m:r>
                              <m:r>
                                <a:rPr lang="zh-CN" sz="14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 xml:space="preserve">  </m:t>
                              </m:r>
                              <m:r>
                                <m:rPr>
                                  <m:sty m:val="p"/>
                                </m:rPr>
                                <a:rPr lang="zh-CN" sz="14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⋯⋯</m:t>
                              </m:r>
                            </m:e>
                            <m:e>
                              <m:r>
                                <a:rPr lang="zh-CN" sz="14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&amp;</m:t>
                              </m:r>
                              <m:sSub>
                                <m:e>
                                  <m:r>
                                    <a:rPr lang="zh-CN" sz="142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a</m:t>
                                  </m:r>
                                </m:e>
                                <m:sub>
                                  <m:r>
                                    <a:rPr lang="zh-CN" sz="142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0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a:rPr lang="zh-CN" sz="14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+</m:t>
                              </m:r>
                              <m:sSub>
                                <m:e>
                                  <m:r>
                                    <a:rPr lang="zh-CN" sz="142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a</m:t>
                                  </m:r>
                                </m:e>
                                <m:sub>
                                  <m:r>
                                    <a:rPr lang="zh-CN" sz="142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1</m:t>
                                  </m:r>
                                </m:sub>
                              </m:sSub>
                              <m:sSub>
                                <m:e>
                                  <m:r>
                                    <a:rPr lang="zh-CN" sz="142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x</m:t>
                                  </m:r>
                                </m:e>
                                <m:sub>
                                  <m:r>
                                    <a:rPr lang="zh-CN" sz="142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n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a:rPr lang="zh-CN" sz="14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+</m:t>
                              </m:r>
                              <m:sSub>
                                <m:e>
                                  <m:r>
                                    <a:rPr lang="zh-CN" sz="142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a</m:t>
                                  </m:r>
                                </m:e>
                                <m:sub>
                                  <m:r>
                                    <a:rPr lang="zh-CN" sz="142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2</m:t>
                                  </m:r>
                                </m:sub>
                              </m:sSub>
                              <m:sSubSup>
                                <m:e>
                                  <m:r>
                                    <a:rPr lang="zh-CN" sz="142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x</m:t>
                                  </m:r>
                                </m:e>
                                <m:sub>
                                  <m:r>
                                    <a:rPr lang="zh-CN" sz="142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n</m:t>
                                  </m:r>
                                </m:sub>
                                <m:sup>
                                  <m:r>
                                    <a:rPr lang="zh-CN" sz="142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2</m:t>
                                  </m:r>
                                </m:sup>
                              </m:sSubSup>
                              <m:r>
                                <m:rPr>
                                  <m:sty m:val="p"/>
                                </m:rPr>
                                <a:rPr lang="zh-CN" sz="14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+⋯+</m:t>
                              </m:r>
                              <m:sSub>
                                <m:e>
                                  <m:r>
                                    <a:rPr lang="zh-CN" sz="142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a</m:t>
                                  </m:r>
                                </m:e>
                                <m:sub>
                                  <m:r>
                                    <a:rPr lang="zh-CN" sz="142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n</m:t>
                                  </m:r>
                                </m:sub>
                              </m:sSub>
                              <m:sSubSup>
                                <m:e>
                                  <m:r>
                                    <a:rPr lang="zh-CN" sz="142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x</m:t>
                                  </m:r>
                                </m:e>
                                <m:sub>
                                  <m:r>
                                    <a:rPr lang="zh-CN" sz="142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n</m:t>
                                  </m:r>
                                </m:sub>
                                <m:sup>
                                  <m:r>
                                    <a:rPr lang="zh-CN" sz="142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n</m:t>
                                  </m:r>
                                </m:sup>
                              </m:sSubSup>
                              <m:r>
                                <m:rPr>
                                  <m:sty m:val="p"/>
                                </m:rPr>
                                <a:rPr lang="zh-CN" sz="14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=</m:t>
                              </m:r>
                              <m:sSub>
                                <m:e>
                                  <m:r>
                                    <a:rPr lang="zh-CN" sz="142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y</m:t>
                                  </m:r>
                                </m:e>
                                <m:sub>
                                  <m:r>
                                    <a:rPr lang="zh-CN" sz="142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n</m:t>
                                  </m:r>
                                </m:sub>
                              </m:sSub>
                            </m:e>
                          </m:eqArr>
                        </m:e>
                      </m:d>
                      <m:r>
                        <a:rPr lang="zh-CN" sz="142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 xml:space="preserve"> </m:t>
                      </m:r>
                      <m:d>
                        <m:dPr>
                          <m:begChr m:val="("/>
                          <m:sepChr m:val=""/>
                          <m:endChr m:val=")"/>
                          <m:grow m:val="on"/>
                          <m:ctrlPr>
                            <a:rPr lang="zh-CN" sz="14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a:rPr lang="zh-CN" sz="14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5.2.4</m:t>
                          </m:r>
                        </m:e>
                      </m:d>
                    </m:oMath>
                  </m:oMathPara>
                </a14:m>
              </a:p>
            </p:txBody>
          </p:sp>
        </mc:Choice>
      </mc:AlternateContent>
      <p:grpSp>
        <p:nvGrpSpPr>
          <p:cNvPr id="18" name="c1-card-5"/>
          <p:cNvGrpSpPr/>
          <p:nvPr/>
        </p:nvGrpSpPr>
        <p:grpSpPr>
          <a:xfrm>
            <a:off x="533400" y="4741545"/>
            <a:ext cx="5410200" cy="1185862"/>
            <a:chOff x="533400" y="4741545"/>
            <a:chExt cx="5410200" cy="1185862"/>
          </a:xfrm>
        </p:grpSpPr>
        <p:sp>
          <p:nvSpPr>
            <p:cNvPr id="13" name="Rectangle 13"/>
            <p:cNvSpPr/>
            <p:nvPr/>
          </p:nvSpPr>
          <p:spPr>
            <a:xfrm>
              <a:off x="533400" y="4741545"/>
              <a:ext cx="5410200" cy="1185862"/>
            </a:xfrm>
            <a:prstGeom prst="roundRect">
              <a:avLst>
                <a:gd name="adj" fmla="val 11245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14" name="Rectangle 14"/>
            <p:cNvSpPr/>
            <p:nvPr/>
          </p:nvSpPr>
          <p:spPr>
            <a:xfrm>
              <a:off x="542925" y="4874895"/>
              <a:ext cx="47625" cy="919162"/>
            </a:xfrm>
            <a:prstGeom prst="roundRect">
              <a:avLst>
                <a:gd name="adj" fmla="val 50000"/>
              </a:avLst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15" name="Rectangle 15"/>
            <p:cNvSpPr/>
            <p:nvPr/>
          </p:nvSpPr>
          <p:spPr>
            <a:xfrm>
              <a:off x="758190" y="4928235"/>
              <a:ext cx="458152" cy="238125"/>
            </a:xfrm>
            <a:prstGeom prst="roundRect">
              <a:avLst>
                <a:gd name="adj" fmla="val 5000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850862" y="4961096"/>
              <a:ext cx="27376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更正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751332" y="5273040"/>
              <a:ext cx="4711446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原课件 Vandermonde 行列式最后一行第 3 个元素写作 xₙ，应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为 xₙ²。</a:t>
              </a:r>
            </a:p>
          </p:txBody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19" name="formula29"/>
              <p:cNvSpPr txBox="1">
                <a:spLocks noGrp="1"/>
              </p:cNvSpPr>
              <p:nvPr/>
            </p:nvSpPr>
            <p:spPr>
              <a:xfrm>
                <a:off x="6248400" y="1524000"/>
                <a:ext cx="5410200" cy="114014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lIns="0" tIns="0" rIns="0" bIns="0" wrap="none" anchor="ctr">
                <a:normAutofit/>
              </a:bodyPr>
              <a:lstStyle/>
              <a:p>
                <a:pPr algn="ctr"/>
                <a14:m>
                  <m:oMathPara xmlns:a="http://schemas.openxmlformats.org/drawingml/2006/main"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a:rPr lang="zh-CN" sz="14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V</m:t>
                          </m:r>
                        </m:e>
                        <m:sub>
                          <m:r>
                            <a:rPr lang="zh-CN" sz="14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n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 m:val="on"/>
                          <m:ctrlPr>
                            <a:rPr lang="zh-CN" sz="14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sSub>
                            <m:e>
                              <m:r>
                                <a:rPr lang="zh-CN" sz="14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x</m:t>
                              </m:r>
                            </m:e>
                            <m:sub>
                              <m:r>
                                <a:rPr lang="zh-CN" sz="14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0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a:rPr lang="zh-CN" sz="14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,…,</m:t>
                          </m:r>
                          <m:sSub>
                            <m:e>
                              <m:r>
                                <a:rPr lang="zh-CN" sz="14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x</m:t>
                              </m:r>
                            </m:e>
                            <m:sub>
                              <m:r>
                                <a:rPr lang="zh-CN" sz="14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n</m:t>
                              </m:r>
                            </m:sub>
                          </m:sSub>
                        </m:e>
                      </m:d>
                      <m:r>
                        <m:rPr>
                          <m:sty m:val="p"/>
                        </m:rPr>
                        <a:rPr lang="zh-CN" sz="142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d>
                        <m:dPr>
                          <m:begChr m:val="|"/>
                          <m:sepChr m:val=""/>
                          <m:endChr m:val="|"/>
                          <m:grow m:val="on"/>
                          <m:ctrlPr>
                            <a:rPr lang="zh-CN" sz="14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m>
                            <m:mPr>
                              <m:baseJc m:val="center"/>
                              <m:plcHide m:val="on"/>
                              <m:mcs>
                                <m:mc>
                                  <m:mcPr>
                                    <m:count m:val="1"/>
                                  </m:mcPr>
                                </m:mc>
                                <m:mc>
                                  <m:mcPr>
                                    <m:count m:val="1"/>
                                  </m:mcPr>
                                </m:mc>
                                <m:mc>
                                  <m:mcPr>
                                    <m:count m:val="1"/>
                                  </m:mcPr>
                                </m:mc>
                                <m:mc>
                                  <m:mcPr>
                                    <m:count m:val="1"/>
                                  </m:mcPr>
                                </m:mc>
                                <m:mc>
                                  <m:mcPr>
                                    <m:count m:val="1"/>
                                  </m:mcPr>
                                </m:mc>
                              </m:mcs>
                            </m:mPr>
                            <m:mr>
                              <m:e>
                                <m:r>
                                  <a:rPr lang="zh-CN" sz="14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1</m:t>
                                </m:r>
                              </m:e>
                              <m:e>
                                <m:sSub>
                                  <m:e>
                                    <m:r>
                                      <a:rPr lang="zh-CN" sz="142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x</m:t>
                                    </m:r>
                                  </m:e>
                                  <m:sub>
                                    <m:r>
                                      <a:rPr lang="zh-CN" sz="142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0</m:t>
                                    </m:r>
                                  </m:sub>
                                </m:sSub>
                              </m:e>
                              <m:e>
                                <m:sSubSup>
                                  <m:e>
                                    <m:r>
                                      <a:rPr lang="zh-CN" sz="142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x</m:t>
                                    </m:r>
                                  </m:e>
                                  <m:sub>
                                    <m:r>
                                      <a:rPr lang="zh-CN" sz="142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0</m:t>
                                    </m:r>
                                  </m:sub>
                                  <m:sup>
                                    <m:r>
                                      <a:rPr lang="zh-CN" sz="142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2</m:t>
                                    </m:r>
                                  </m:sup>
                                </m:sSubSup>
                              </m:e>
                              <m:e>
                                <m:r>
                                  <m:rPr>
                                    <m:sty m:val="p"/>
                                  </m:rPr>
                                  <a:rPr lang="zh-CN" sz="14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⋯</m:t>
                                </m:r>
                              </m:e>
                              <m:e>
                                <m:sSubSup>
                                  <m:e>
                                    <m:r>
                                      <a:rPr lang="zh-CN" sz="142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x</m:t>
                                    </m:r>
                                  </m:e>
                                  <m:sub>
                                    <m:r>
                                      <a:rPr lang="zh-CN" sz="142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0</m:t>
                                    </m:r>
                                  </m:sub>
                                  <m:sup>
                                    <m:r>
                                      <a:rPr lang="zh-CN" sz="142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n</m:t>
                                    </m:r>
                                  </m:sup>
                                </m:sSubSup>
                              </m:e>
                            </m:mr>
                            <m:mr>
                              <m:e>
                                <m:r>
                                  <a:rPr lang="zh-CN" sz="14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1</m:t>
                                </m:r>
                              </m:e>
                              <m:e>
                                <m:sSub>
                                  <m:e>
                                    <m:r>
                                      <a:rPr lang="zh-CN" sz="142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x</m:t>
                                    </m:r>
                                  </m:e>
                                  <m:sub>
                                    <m:r>
                                      <a:rPr lang="zh-CN" sz="142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  <m:e>
                                <m:sSubSup>
                                  <m:e>
                                    <m:r>
                                      <a:rPr lang="zh-CN" sz="142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x</m:t>
                                    </m:r>
                                  </m:e>
                                  <m:sub>
                                    <m:r>
                                      <a:rPr lang="zh-CN" sz="142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1</m:t>
                                    </m:r>
                                  </m:sub>
                                  <m:sup>
                                    <m:r>
                                      <a:rPr lang="zh-CN" sz="142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2</m:t>
                                    </m:r>
                                  </m:sup>
                                </m:sSubSup>
                              </m:e>
                              <m:e>
                                <m:r>
                                  <m:rPr>
                                    <m:sty m:val="p"/>
                                  </m:rPr>
                                  <a:rPr lang="zh-CN" sz="14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⋯</m:t>
                                </m:r>
                              </m:e>
                              <m:e>
                                <m:sSubSup>
                                  <m:e>
                                    <m:r>
                                      <a:rPr lang="zh-CN" sz="142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x</m:t>
                                    </m:r>
                                  </m:e>
                                  <m:sub>
                                    <m:r>
                                      <a:rPr lang="zh-CN" sz="142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1</m:t>
                                    </m:r>
                                  </m:sub>
                                  <m:sup>
                                    <m:r>
                                      <a:rPr lang="zh-CN" sz="142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n</m:t>
                                    </m:r>
                                  </m:sup>
                                </m:sSubSup>
                              </m:e>
                            </m:mr>
                            <m:mr>
                              <m:e>
                                <m:r>
                                  <m:rPr>
                                    <m:sty m:val="p"/>
                                  </m:rPr>
                                  <a:rPr lang="zh-CN" sz="14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⋮</m:t>
                                </m:r>
                              </m:e>
                              <m:e>
                                <m:r>
                                  <m:rPr>
                                    <m:sty m:val="p"/>
                                  </m:rPr>
                                  <a:rPr lang="zh-CN" sz="14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⋮</m:t>
                                </m:r>
                              </m:e>
                              <m:e>
                                <m:r>
                                  <m:rPr>
                                    <m:sty m:val="p"/>
                                  </m:rPr>
                                  <a:rPr lang="zh-CN" sz="14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⋮</m:t>
                                </m:r>
                              </m:e>
                              <m:e/>
                              <m:e>
                                <m:r>
                                  <m:rPr>
                                    <m:sty m:val="p"/>
                                  </m:rPr>
                                  <a:rPr lang="zh-CN" sz="14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⋮</m:t>
                                </m:r>
                              </m:e>
                            </m:mr>
                            <m:mr>
                              <m:e>
                                <m:r>
                                  <a:rPr lang="zh-CN" sz="14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1</m:t>
                                </m:r>
                              </m:e>
                              <m:e>
                                <m:sSub>
                                  <m:e>
                                    <m:r>
                                      <a:rPr lang="zh-CN" sz="142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x</m:t>
                                    </m:r>
                                  </m:e>
                                  <m:sub>
                                    <m:r>
                                      <a:rPr lang="zh-CN" sz="142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n</m:t>
                                    </m:r>
                                  </m:sub>
                                </m:sSub>
                              </m:e>
                              <m:e>
                                <m:sSubSup>
                                  <m:e>
                                    <m:r>
                                      <a:rPr lang="zh-CN" sz="142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x</m:t>
                                    </m:r>
                                  </m:e>
                                  <m:sub>
                                    <m:r>
                                      <a:rPr lang="zh-CN" sz="142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n</m:t>
                                    </m:r>
                                  </m:sub>
                                  <m:sup>
                                    <m:r>
                                      <a:rPr lang="zh-CN" sz="142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2</m:t>
                                    </m:r>
                                  </m:sup>
                                </m:sSubSup>
                              </m:e>
                              <m:e>
                                <m:r>
                                  <m:rPr>
                                    <m:sty m:val="p"/>
                                  </m:rPr>
                                  <a:rPr lang="zh-CN" sz="14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⋯</m:t>
                                </m:r>
                              </m:e>
                              <m:e>
                                <m:sSubSup>
                                  <m:e>
                                    <m:r>
                                      <a:rPr lang="zh-CN" sz="142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x</m:t>
                                    </m:r>
                                  </m:e>
                                  <m:sub>
                                    <m:r>
                                      <a:rPr lang="zh-CN" sz="142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n</m:t>
                                    </m:r>
                                  </m:sub>
                                  <m:sup>
                                    <m:r>
                                      <a:rPr lang="zh-CN" sz="142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n</m:t>
                                    </m:r>
                                  </m:sup>
                                </m:sSubSup>
                              </m:e>
                            </m:mr>
                          </m:m>
                        </m:e>
                      </m:d>
                      <m:r>
                        <m:rPr>
                          <m:sty m:val="p"/>
                        </m:rPr>
                        <a:rPr lang="zh-CN" sz="142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nary>
                        <m:naryPr>
                          <m:chr m:val="∏"/>
                          <m:limLoc m:val="undOvr"/>
                          <m:grow m:val="off"/>
                          <m:subHide m:val="off"/>
                          <m:supHide m:val="off"/>
                          <m:ctrlPr>
                            <a:rPr lang="zh-CN" sz="14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naryPr>
                        <m:sub>
                          <m:r>
                            <a:rPr lang="zh-CN" sz="14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i</m:t>
                          </m:r>
                          <m:r>
                            <m:rPr>
                              <m:sty m:val="p"/>
                            </m:rPr>
                            <a:rPr lang="zh-CN" sz="14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=</m:t>
                          </m:r>
                          <m:r>
                            <a:rPr lang="zh-CN" sz="14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</m:t>
                          </m:r>
                        </m:sub>
                        <m:sup>
                          <m:r>
                            <a:rPr lang="zh-CN" sz="14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n</m:t>
                          </m:r>
                        </m:sup>
                        <m:e>
                          <m:nary>
                            <m:naryPr>
                              <m:chr m:val="∏"/>
                              <m:limLoc m:val="undOvr"/>
                              <m:grow m:val="off"/>
                              <m:subHide m:val="off"/>
                              <m:supHide m:val="off"/>
                              <m:ctrlPr>
                                <a:rPr lang="zh-CN" sz="14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naryPr>
                            <m:sub>
                              <m:r>
                                <a:rPr lang="zh-CN" sz="14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j</m:t>
                              </m:r>
                              <m:r>
                                <m:rPr>
                                  <m:sty m:val="p"/>
                                </m:rPr>
                                <a:rPr lang="zh-CN" sz="14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=</m:t>
                              </m:r>
                              <m:r>
                                <a:rPr lang="zh-CN" sz="14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0</m:t>
                              </m:r>
                            </m:sub>
                            <m:sup>
                              <m:r>
                                <a:rPr lang="zh-CN" sz="14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i</m:t>
                              </m:r>
                              <m:r>
                                <m:rPr>
                                  <m:sty m:val="p"/>
                                </m:rPr>
                                <a:rPr lang="zh-CN" sz="14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−</m:t>
                              </m:r>
                              <m:r>
                                <a:rPr lang="zh-CN" sz="14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1</m:t>
                              </m:r>
                            </m:sup>
                            <m:e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 m:val="on"/>
                                  <m:ctrlPr>
                                    <a:rPr lang="zh-CN" sz="142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dPr>
                                <m:e>
                                  <m:sSub>
                                    <m:e>
                                      <m:r>
                                        <a:rPr lang="zh-CN" sz="1420" dirty="0">
                                          <a:solidFill>
                                            <a:srgbClr val="1F2937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x</m:t>
                                      </m:r>
                                    </m:e>
                                    <m:sub>
                                      <m:r>
                                        <a:rPr lang="zh-CN" sz="1420" dirty="0">
                                          <a:solidFill>
                                            <a:srgbClr val="1F2937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i</m:t>
                                      </m:r>
                                    </m:sub>
                                  </m:sSub>
                                  <m:r>
                                    <m:rPr>
                                      <m:sty m:val="p"/>
                                    </m:rPr>
                                    <a:rPr lang="zh-CN" sz="142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−</m:t>
                                  </m:r>
                                  <m:sSub>
                                    <m:e>
                                      <m:r>
                                        <a:rPr lang="zh-CN" sz="1420" dirty="0">
                                          <a:solidFill>
                                            <a:srgbClr val="1F2937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x</m:t>
                                      </m:r>
                                    </m:e>
                                    <m:sub>
                                      <m:r>
                                        <a:rPr lang="zh-CN" sz="1420" dirty="0">
                                          <a:solidFill>
                                            <a:srgbClr val="1F2937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j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nary>
                        </m:e>
                      </m:nary>
                    </m:oMath>
                  </m:oMathPara>
                </a14:m>
              </a:p>
            </p:txBody>
          </p:sp>
        </mc:Choice>
      </mc:AlternateContent>
      <p:grpSp>
        <p:nvGrpSpPr>
          <p:cNvPr id="33" name="c2-steps-2"/>
          <p:cNvGrpSpPr/>
          <p:nvPr/>
        </p:nvGrpSpPr>
        <p:grpSpPr>
          <a:xfrm>
            <a:off x="6248400" y="2843212"/>
            <a:ext cx="5307681" cy="1893095"/>
            <a:chOff x="6248400" y="2843212"/>
            <a:chExt cx="5307681" cy="1893095"/>
          </a:xfrm>
        </p:grpSpPr>
        <p:sp>
          <p:nvSpPr>
            <p:cNvPr id="20" name="Rectangle 20"/>
            <p:cNvSpPr/>
            <p:nvPr/>
          </p:nvSpPr>
          <p:spPr>
            <a:xfrm>
              <a:off x="6381750" y="2986088"/>
              <a:ext cx="19050" cy="137350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1" name="Ellipse 21"/>
            <p:cNvSpPr/>
            <p:nvPr/>
          </p:nvSpPr>
          <p:spPr>
            <a:xfrm>
              <a:off x="6248400" y="2843212"/>
              <a:ext cx="285750" cy="28575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6342024" y="2917031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23" name="Ellipse 23"/>
            <p:cNvSpPr/>
            <p:nvPr/>
          </p:nvSpPr>
          <p:spPr>
            <a:xfrm>
              <a:off x="6248400" y="3633788"/>
              <a:ext cx="285750" cy="28575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6342024" y="3707606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25" name="Ellipse 25"/>
            <p:cNvSpPr/>
            <p:nvPr/>
          </p:nvSpPr>
          <p:spPr>
            <a:xfrm>
              <a:off x="6248400" y="4216718"/>
              <a:ext cx="285750" cy="28575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342024" y="4290536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6660642" y="2875598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化为方程组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6661785" y="3142774"/>
              <a:ext cx="4676902" cy="42767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635"/>
                </a:lnSpc>
              </a:pPr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证明 Pₙ(x) 存在唯一，只需证明方程组 (5.2.4) 的解存在唯一，即系数行</a:t>
              </a:r>
              <a:br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列式不为零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6660642" y="3665220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认出行列式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6661785" y="3933349"/>
              <a:ext cx="489429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系数行列式是 Vandermonde 行列式，等于所有 (xᵢ − xⱼ)（i &gt; j）的乘积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6660642" y="4248150"/>
              <a:ext cx="55892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下结论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6661785" y="4516279"/>
              <a:ext cx="455358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节点互异，每个因子都不为 0，所以 Vₙ ≠ 0，插值多项式存在且唯一</a:t>
              </a:r>
            </a:p>
          </p:txBody>
        </p:sp>
      </p:grpSp>
      <p:grpSp>
        <p:nvGrpSpPr>
          <p:cNvPr id="40" name="c2-callout-3"/>
          <p:cNvGrpSpPr/>
          <p:nvPr/>
        </p:nvGrpSpPr>
        <p:grpSpPr>
          <a:xfrm>
            <a:off x="6248400" y="4899660"/>
            <a:ext cx="5410200" cy="978218"/>
            <a:chOff x="6248400" y="4899660"/>
            <a:chExt cx="5410200" cy="978218"/>
          </a:xfrm>
        </p:grpSpPr>
        <p:sp>
          <p:nvSpPr>
            <p:cNvPr id="34" name="Rectangle 34"/>
            <p:cNvSpPr/>
            <p:nvPr/>
          </p:nvSpPr>
          <p:spPr>
            <a:xfrm>
              <a:off x="6248400" y="4899660"/>
              <a:ext cx="5410200" cy="978218"/>
            </a:xfrm>
            <a:prstGeom prst="roundRect">
              <a:avLst>
                <a:gd name="adj" fmla="val 11685"/>
              </a:avLst>
            </a:prstGeom>
            <a:solidFill>
              <a:srgbClr val="FDEEE7"/>
            </a:solidFill>
            <a:ln>
              <a:noFill/>
            </a:ln>
          </p:spPr>
        </p:sp>
        <p:grpSp>
          <p:nvGrpSpPr>
            <p:cNvPr id="38" name="Group 38"/>
            <p:cNvGrpSpPr/>
            <p:nvPr/>
          </p:nvGrpSpPr>
          <p:grpSpPr>
            <a:xfrm>
              <a:off x="6453188" y="5289233"/>
              <a:ext cx="200026" cy="200025"/>
              <a:chOff x="6453188" y="5289233"/>
              <a:chExt cx="200026" cy="200025"/>
            </a:xfrm>
          </p:grpSpPr>
          <p:sp>
            <p:nvSpPr>
              <p:cNvPr id="35" name="Freeform 35"/>
              <p:cNvSpPr/>
              <p:nvPr/>
            </p:nvSpPr>
            <p:spPr>
              <a:xfrm>
                <a:off x="6453188" y="5289233"/>
                <a:ext cx="200026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00013">
                    <a:moveTo>
                      <a:pt x="0" y="100013"/>
                    </a:moveTo>
                    <a:lnTo>
                      <a:pt x="11113" y="100013"/>
                    </a:lnTo>
                    <a:moveTo>
                      <a:pt x="100013" y="0"/>
                    </a:moveTo>
                    <a:lnTo>
                      <a:pt x="100013" y="11113"/>
                    </a:lnTo>
                    <a:moveTo>
                      <a:pt x="188913" y="100013"/>
                    </a:moveTo>
                    <a:lnTo>
                      <a:pt x="200026" y="100013"/>
                    </a:lnTo>
                    <a:moveTo>
                      <a:pt x="28893" y="28893"/>
                    </a:moveTo>
                    <a:lnTo>
                      <a:pt x="36671" y="36671"/>
                    </a:lnTo>
                    <a:moveTo>
                      <a:pt x="171133" y="28893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36" name="Freeform 36"/>
              <p:cNvSpPr/>
              <p:nvPr/>
            </p:nvSpPr>
            <p:spPr>
              <a:xfrm>
                <a:off x="6492926" y="5333683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3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3" y="15304"/>
                      <a:pt x="112986" y="37992"/>
                    </a:cubicBezTo>
                    <a:cubicBezTo>
                      <a:pt x="120548" y="60681"/>
                      <a:pt x="112745" y="85663"/>
                      <a:pt x="93612" y="100013"/>
                    </a:cubicBezTo>
                    <a:cubicBezTo>
                      <a:pt x="84812" y="108723"/>
                      <a:pt x="80686" y="121103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3"/>
                      <a:pt x="35736" y="108723"/>
                      <a:pt x="26937" y="100013"/>
                    </a:cubicBez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37" name="Freeform 37"/>
              <p:cNvSpPr/>
              <p:nvPr/>
            </p:nvSpPr>
            <p:spPr>
              <a:xfrm>
                <a:off x="6527642" y="5444808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</p:grpSp>
        <p:sp>
          <p:nvSpPr>
            <p:cNvPr id="39" name="TextBox 39"/>
            <p:cNvSpPr txBox="1"/>
            <p:nvPr/>
          </p:nvSpPr>
          <p:spPr>
            <a:xfrm>
              <a:off x="6755892" y="5046345"/>
              <a:ext cx="4514278" cy="76123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58"/>
                </a:lnSpc>
              </a:pPr>
              <a:r>
                <a:rPr lang="zh-CN" sz="135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例：节点 0, 1, 2 时 V₂ = (1 − 0)(2 − 0)(2 − 1) = 2。实际</a:t>
              </a:r>
              <a:br/>
              <a:r>
                <a:rPr lang="zh-CN" sz="135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计算中不解这个方程组，直接构造插值多项式（Lagrange</a:t>
              </a:r>
              <a:br/>
              <a:r>
                <a:rPr lang="zh-CN" sz="135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法、Newton 法）。</a:t>
              </a:r>
            </a:p>
          </p:txBody>
        </p:sp>
      </p:grpSp>
      <p:grpSp>
        <p:nvGrpSpPr>
          <p:cNvPr id="43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41" name="TextBox 41"/>
            <p:cNvSpPr txBox="1"/>
            <p:nvPr/>
          </p:nvSpPr>
          <p:spPr>
            <a:xfrm>
              <a:off x="528447" y="6581299"/>
              <a:ext cx="225267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计算方法 · 第5章 函数插值与曲线拟合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11581087" y="6581299"/>
              <a:ext cx="824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9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9430949" cy="909257"/>
            <a:chOff x="520446" y="342900"/>
            <a:chExt cx="9430949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272665" cy="266700"/>
            </a:xfrm>
            <a:prstGeom prst="roundRect">
              <a:avLst>
                <a:gd name="adj" fmla="val 50000"/>
              </a:avLst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01058" y="407194"/>
              <a:ext cx="213734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第5章 函数插值 · 拉格朗日插值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9430949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定理 5.1 插值余项：误差由 n+1 阶导数和 ωₙ₊₁(x) 共同决定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E7D4F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5" name="c1-card-1"/>
          <p:cNvGrpSpPr/>
          <p:nvPr/>
        </p:nvGrpSpPr>
        <p:grpSpPr>
          <a:xfrm>
            <a:off x="533400" y="1524000"/>
            <a:ext cx="5842635" cy="3269932"/>
            <a:chOff x="533400" y="1524000"/>
            <a:chExt cx="5842635" cy="3269932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842635" cy="3269932"/>
            </a:xfrm>
            <a:prstGeom prst="roundRect">
              <a:avLst>
                <a:gd name="adj" fmla="val 4078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542925" y="1657350"/>
              <a:ext cx="47625" cy="3003232"/>
            </a:xfrm>
            <a:prstGeom prst="roundRect">
              <a:avLst>
                <a:gd name="adj" fmla="val 50000"/>
              </a:avLst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81050" y="1733550"/>
              <a:ext cx="784860" cy="257175"/>
            </a:xfrm>
            <a:prstGeom prst="roundRect">
              <a:avLst>
                <a:gd name="adj" fmla="val 50000"/>
              </a:avLst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862635" y="1769269"/>
              <a:ext cx="62168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定理 5.1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773430" y="2110740"/>
              <a:ext cx="5044440" cy="11506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设 f(x) 在 [a, b] 上 n 阶导数连续，f⁽ⁿ⁺¹⁾(x) 在 (a, b)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内存在，节点 a ≤ x₀ &lt; x₁ &lt; ⋯ &lt; xₙ ≤ b，Lₙ(x) 是满足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Lₙ(xⱼ) = f(xⱼ)（j = 0, 1, …, n）的插值多项式，则对任何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x ∈ [a, b] 有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2" name="formula33"/>
                <p:cNvSpPr txBox="1">
                  <a:spLocks noGrp="1"/>
                </p:cNvSpPr>
                <p:nvPr/>
              </p:nvSpPr>
              <p:spPr>
                <a:xfrm>
                  <a:off x="781050" y="3278505"/>
                  <a:ext cx="5385435" cy="437198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lIns="0" tIns="0" rIns="0" bIns="0" wrap="none" anchor="ctr">
                  <a:normAutofit/>
                </a:bodyPr>
                <a:lstStyle/>
                <a:p>
                  <a:pPr algn="ctr"/>
                  <a14:m>
                    <m:oMathPara xmlns:a="http://schemas.openxmlformats.org/drawingml/2006/main" xmlns:m="http://schemas.openxmlformats.org/officeDocument/2006/math">
                      <m:oMathParaPr>
                        <m:jc m:val="center"/>
                      </m:oMathParaPr>
                      <m:oMath>
                        <m:sSub>
                          <m:e>
                            <m:r>
                              <a:rPr lang="zh-CN" sz="12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R</m:t>
                            </m:r>
                          </m:e>
                          <m:sub>
                            <m:r>
                              <a:rPr lang="zh-CN" sz="12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n</m:t>
                            </m:r>
                          </m:sub>
                        </m:sSub>
                        <m:d>
                          <m:dPr>
                            <m:begChr m:val="("/>
                            <m:sepChr m:val=""/>
                            <m:endChr m:val=")"/>
                            <m:grow m:val="on"/>
                            <m:ctrlPr>
                              <a:rPr lang="zh-CN" sz="12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r>
                              <a:rPr lang="zh-CN" sz="12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x</m:t>
                            </m:r>
                          </m:e>
                        </m:d>
                        <m:r>
                          <m:rPr>
                            <m:sty m:val="p"/>
                          </m:rPr>
                          <a:rPr lang="zh-CN" sz="128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=</m:t>
                        </m:r>
                        <m:r>
                          <a:rPr lang="zh-CN" sz="128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f</m:t>
                        </m:r>
                        <m:d>
                          <m:dPr>
                            <m:begChr m:val="("/>
                            <m:sepChr m:val=""/>
                            <m:endChr m:val=")"/>
                            <m:grow m:val="on"/>
                            <m:ctrlPr>
                              <a:rPr lang="zh-CN" sz="12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r>
                              <a:rPr lang="zh-CN" sz="12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x</m:t>
                            </m:r>
                          </m:e>
                        </m:d>
                        <m:r>
                          <m:rPr>
                            <m:sty m:val="p"/>
                          </m:rPr>
                          <a:rPr lang="zh-CN" sz="128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−</m:t>
                        </m:r>
                        <m:sSub>
                          <m:e>
                            <m:r>
                              <a:rPr lang="zh-CN" sz="12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L</m:t>
                            </m:r>
                          </m:e>
                          <m:sub>
                            <m:r>
                              <a:rPr lang="zh-CN" sz="12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n</m:t>
                            </m:r>
                          </m:sub>
                        </m:sSub>
                        <m:d>
                          <m:dPr>
                            <m:begChr m:val="("/>
                            <m:sepChr m:val=""/>
                            <m:endChr m:val=")"/>
                            <m:grow m:val="on"/>
                            <m:ctrlPr>
                              <a:rPr lang="zh-CN" sz="12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r>
                              <a:rPr lang="zh-CN" sz="12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x</m:t>
                            </m:r>
                          </m:e>
                        </m:d>
                        <m:r>
                          <m:rPr>
                            <m:sty m:val="p"/>
                          </m:rPr>
                          <a:rPr lang="zh-CN" sz="128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=</m:t>
                        </m:r>
                        <m:f>
                          <m:fPr>
                            <m:type m:val="bar"/>
                            <m:ctrlPr>
                              <a:rPr lang="zh-CN" sz="12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fPr>
                          <m:num>
                            <m:sSup>
                              <m:e>
                                <m:r>
                                  <a:rPr lang="zh-CN" sz="12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f</m:t>
                                </m:r>
                              </m:e>
                              <m:sup>
                                <m:d>
                                  <m:dPr>
                                    <m:begChr m:val="("/>
                                    <m:sepChr m:val=""/>
                                    <m:endChr m:val=")"/>
                                    <m:grow m:val="on"/>
                                    <m:ctrlPr>
                                      <a:rPr lang="zh-CN" sz="128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dPr>
                                  <m:e>
                                    <m:r>
                                      <a:rPr lang="zh-CN" sz="128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n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zh-CN" sz="128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+</m:t>
                                    </m:r>
                                    <m:r>
                                      <a:rPr lang="zh-CN" sz="128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1</m:t>
                                    </m:r>
                                  </m:e>
                                </m:d>
                              </m:sup>
                            </m:sSup>
                            <m:d>
                              <m:dPr>
                                <m:begChr m:val="("/>
                                <m:sepChr m:val=""/>
                                <m:endChr m:val=")"/>
                                <m:grow m:val="on"/>
                                <m:ctrlPr>
                                  <a:rPr lang="zh-CN" sz="12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</m:ctrlPr>
                              </m:dPr>
                              <m:e>
                                <m:r>
                                  <a:rPr lang="zh-CN" sz="12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ξ</m:t>
                                </m:r>
                              </m:e>
                            </m:d>
                          </m:num>
                          <m:den>
                            <m:d>
                              <m:dPr>
                                <m:begChr m:val="("/>
                                <m:sepChr m:val=""/>
                                <m:endChr m:val=")"/>
                                <m:grow m:val="on"/>
                                <m:ctrlPr>
                                  <a:rPr lang="zh-CN" sz="12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</m:ctrlPr>
                              </m:dPr>
                              <m:e>
                                <m:r>
                                  <a:rPr lang="zh-CN" sz="12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n</m:t>
                                </m:r>
                                <m:r>
                                  <m:rPr>
                                    <m:sty m:val="p"/>
                                  </m:rPr>
                                  <a:rPr lang="zh-CN" sz="12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+</m:t>
                                </m:r>
                                <m:r>
                                  <a:rPr lang="zh-CN" sz="12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1</m:t>
                                </m:r>
                              </m:e>
                            </m:d>
                            <m:r>
                              <m:rPr>
                                <m:sty m:val="p"/>
                              </m:rPr>
                              <a:rPr lang="zh-CN" sz="12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!</m:t>
                            </m:r>
                          </m:den>
                        </m:f>
                        <m:r>
                          <a:rPr lang="zh-CN" sz="128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 xml:space="preserve"> </m:t>
                        </m:r>
                        <m:sSub>
                          <m:e>
                            <m:r>
                              <a:rPr lang="zh-CN" sz="12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ω</m:t>
                            </m:r>
                          </m:e>
                          <m:sub>
                            <m:r>
                              <a:rPr lang="zh-CN" sz="12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n</m:t>
                            </m:r>
                            <m:r>
                              <m:rPr>
                                <m:sty m:val="p"/>
                              </m:rPr>
                              <a:rPr lang="zh-CN" sz="12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+</m:t>
                            </m:r>
                            <m:r>
                              <a:rPr lang="zh-CN" sz="12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1</m:t>
                            </m:r>
                          </m:sub>
                        </m:sSub>
                        <m:d>
                          <m:dPr>
                            <m:begChr m:val="("/>
                            <m:sepChr m:val=""/>
                            <m:endChr m:val=")"/>
                            <m:grow m:val="on"/>
                            <m:ctrlPr>
                              <a:rPr lang="zh-CN" sz="12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r>
                              <a:rPr lang="zh-CN" sz="12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x</m:t>
                            </m:r>
                          </m:e>
                        </m:d>
                        <m:r>
                          <a:rPr lang="zh-CN" sz="128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 xml:space="preserve">  </m:t>
                        </m:r>
                        <m:d>
                          <m:dPr>
                            <m:begChr m:val="("/>
                            <m:sepChr m:val=""/>
                            <m:endChr m:val=")"/>
                            <m:grow m:val="on"/>
                            <m:ctrlPr>
                              <a:rPr lang="zh-CN" sz="12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r>
                              <a:rPr lang="zh-CN" sz="12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5.2.7</m:t>
                            </m:r>
                          </m:e>
                        </m:d>
                      </m:oMath>
                    </m:oMathPara>
                  </a14:m>
                </a:p>
              </p:txBody>
            </p:sp>
          </mc:Choice>
        </mc:AlternateContent>
        <p:sp>
          <p:nvSpPr>
            <p:cNvPr id="13" name="TextBox 13"/>
            <p:cNvSpPr txBox="1"/>
            <p:nvPr/>
          </p:nvSpPr>
          <p:spPr>
            <a:xfrm>
              <a:off x="773430" y="3835718"/>
              <a:ext cx="1842706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其中 ξ ∈ (a, b)，且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4" name="formula34"/>
                <p:cNvSpPr txBox="1">
                  <a:spLocks noGrp="1"/>
                </p:cNvSpPr>
                <p:nvPr/>
              </p:nvSpPr>
              <p:spPr>
                <a:xfrm>
                  <a:off x="781050" y="4146232"/>
                  <a:ext cx="5385435" cy="4191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lIns="0" tIns="0" rIns="0" bIns="0" wrap="none" anchor="ctr">
                  <a:normAutofit/>
                </a:bodyPr>
                <a:lstStyle/>
                <a:p>
                  <a:pPr algn="ctr"/>
                  <a14:m>
                    <m:oMathPara xmlns:a="http://schemas.openxmlformats.org/drawingml/2006/main" xmlns:m="http://schemas.openxmlformats.org/officeDocument/2006/math">
                      <m:oMathParaPr>
                        <m:jc m:val="center"/>
                      </m:oMathParaPr>
                      <m:oMath>
                        <m:sSub>
                          <m:e>
                            <m:r>
                              <a:rPr lang="zh-CN" sz="16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ω</m:t>
                            </m:r>
                          </m:e>
                          <m:sub>
                            <m:r>
                              <a:rPr lang="zh-CN" sz="16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n</m:t>
                            </m:r>
                            <m:r>
                              <m:rPr>
                                <m:sty m:val="p"/>
                              </m:rPr>
                              <a:rPr lang="zh-CN" sz="16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+</m:t>
                            </m:r>
                            <m:r>
                              <a:rPr lang="zh-CN" sz="16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1</m:t>
                            </m:r>
                          </m:sub>
                        </m:sSub>
                        <m:d>
                          <m:dPr>
                            <m:begChr m:val="("/>
                            <m:sepChr m:val=""/>
                            <m:endChr m:val=")"/>
                            <m:grow m:val="on"/>
                            <m:ctrlPr>
                              <a:rPr lang="zh-CN" sz="16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r>
                              <a:rPr lang="zh-CN" sz="16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x</m:t>
                            </m:r>
                          </m:e>
                        </m:d>
                        <m:r>
                          <m:rPr>
                            <m:sty m:val="p"/>
                          </m:rPr>
                          <a:rPr lang="zh-CN" sz="16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=</m:t>
                        </m:r>
                        <m:d>
                          <m:dPr>
                            <m:begChr m:val="("/>
                            <m:sepChr m:val=""/>
                            <m:endChr m:val=")"/>
                            <m:grow m:val="on"/>
                            <m:ctrlPr>
                              <a:rPr lang="zh-CN" sz="16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r>
                              <a:rPr lang="zh-CN" sz="16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x</m:t>
                            </m:r>
                            <m:r>
                              <m:rPr>
                                <m:sty m:val="p"/>
                              </m:rPr>
                              <a:rPr lang="zh-CN" sz="16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−</m:t>
                            </m:r>
                            <m:sSub>
                              <m:e>
                                <m:r>
                                  <a:rPr lang="zh-CN" sz="16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x</m:t>
                                </m:r>
                              </m:e>
                              <m:sub>
                                <m:r>
                                  <a:rPr lang="zh-CN" sz="16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0</m:t>
                                </m:r>
                              </m:sub>
                            </m:sSub>
                          </m:e>
                        </m:d>
                        <m:d>
                          <m:dPr>
                            <m:begChr m:val="("/>
                            <m:sepChr m:val=""/>
                            <m:endChr m:val=")"/>
                            <m:grow m:val="on"/>
                            <m:ctrlPr>
                              <a:rPr lang="zh-CN" sz="16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r>
                              <a:rPr lang="zh-CN" sz="16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x</m:t>
                            </m:r>
                            <m:r>
                              <m:rPr>
                                <m:sty m:val="p"/>
                              </m:rPr>
                              <a:rPr lang="zh-CN" sz="16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−</m:t>
                            </m:r>
                            <m:sSub>
                              <m:e>
                                <m:r>
                                  <a:rPr lang="zh-CN" sz="16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x</m:t>
                                </m:r>
                              </m:e>
                              <m:sub>
                                <m:r>
                                  <a:rPr lang="zh-CN" sz="16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1</m:t>
                                </m:r>
                              </m:sub>
                            </m:sSub>
                          </m:e>
                        </m:d>
                        <m:r>
                          <m:rPr>
                            <m:sty m:val="p"/>
                          </m:rPr>
                          <a:rPr lang="zh-CN" sz="16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⋯</m:t>
                        </m:r>
                        <m:d>
                          <m:dPr>
                            <m:begChr m:val="("/>
                            <m:sepChr m:val=""/>
                            <m:endChr m:val=")"/>
                            <m:grow m:val="on"/>
                            <m:ctrlPr>
                              <a:rPr lang="zh-CN" sz="16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r>
                              <a:rPr lang="zh-CN" sz="16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x</m:t>
                            </m:r>
                            <m:r>
                              <m:rPr>
                                <m:sty m:val="p"/>
                              </m:rPr>
                              <a:rPr lang="zh-CN" sz="16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−</m:t>
                            </m:r>
                            <m:sSub>
                              <m:e>
                                <m:r>
                                  <a:rPr lang="zh-CN" sz="16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x</m:t>
                                </m:r>
                              </m:e>
                              <m:sub>
                                <m:r>
                                  <a:rPr lang="zh-CN" sz="16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n</m:t>
                                </m:r>
                              </m:sub>
                            </m:sSub>
                          </m:e>
                        </m:d>
                      </m:oMath>
                    </m:oMathPara>
                  </a14:m>
                </a:p>
              </p:txBody>
            </p:sp>
          </mc:Choice>
        </mc:AlternateContent>
      </p:grpSp>
      <p:grpSp>
        <p:nvGrpSpPr>
          <p:cNvPr id="17" name="c1-text-2"/>
          <p:cNvGrpSpPr/>
          <p:nvPr/>
        </p:nvGrpSpPr>
        <p:grpSpPr>
          <a:xfrm>
            <a:off x="525780" y="5009198"/>
            <a:ext cx="5606415" cy="588645"/>
            <a:chOff x="525780" y="5009198"/>
            <a:chExt cx="5606415" cy="588645"/>
          </a:xfrm>
        </p:grpSpPr>
        <p:sp>
          <p:nvSpPr>
            <p:cNvPr id="16" name="TextBox 16"/>
            <p:cNvSpPr txBox="1"/>
            <p:nvPr/>
          </p:nvSpPr>
          <p:spPr>
            <a:xfrm>
              <a:off x="525780" y="5009198"/>
              <a:ext cx="5606415" cy="58864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325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Rₙ(x) 称为</a:t>
              </a:r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插值余项</a:t>
              </a: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或截断误差项。节点上 Rₙ(xᵢ) = 0，其他点一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般 Lₙ(x) ≠ f(x)。</a:t>
              </a:r>
            </a:p>
          </p:txBody>
        </p:sp>
      </p:grpSp>
      <p:grpSp>
        <p:nvGrpSpPr>
          <p:cNvPr id="28" name="c2-card-1"/>
          <p:cNvGrpSpPr/>
          <p:nvPr/>
        </p:nvGrpSpPr>
        <p:grpSpPr>
          <a:xfrm>
            <a:off x="6680835" y="1524000"/>
            <a:ext cx="4977765" cy="3219450"/>
            <a:chOff x="6680835" y="1524000"/>
            <a:chExt cx="4977765" cy="3219450"/>
          </a:xfrm>
        </p:grpSpPr>
        <p:sp>
          <p:nvSpPr>
            <p:cNvPr id="18" name="Rectangle 18"/>
            <p:cNvSpPr/>
            <p:nvPr/>
          </p:nvSpPr>
          <p:spPr>
            <a:xfrm>
              <a:off x="6680835" y="1524000"/>
              <a:ext cx="4977765" cy="3219450"/>
            </a:xfrm>
            <a:prstGeom prst="roundRect">
              <a:avLst>
                <a:gd name="adj" fmla="val 4142"/>
              </a:avLst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9" name="Rectangle 19"/>
            <p:cNvSpPr/>
            <p:nvPr/>
          </p:nvSpPr>
          <p:spPr>
            <a:xfrm>
              <a:off x="6890385" y="1733550"/>
              <a:ext cx="1204912" cy="257175"/>
            </a:xfrm>
            <a:prstGeom prst="roundRect">
              <a:avLst>
                <a:gd name="adj" fmla="val 50000"/>
              </a:avLst>
            </a:prstGeom>
            <a:solidFill>
              <a:srgbClr val="23613D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6959892" y="1769269"/>
              <a:ext cx="10668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怎样用这个公式</a:t>
              </a:r>
            </a:p>
          </p:txBody>
        </p:sp>
        <p:sp>
          <p:nvSpPr>
            <p:cNvPr id="21" name="Ellipse 21"/>
            <p:cNvSpPr/>
            <p:nvPr/>
          </p:nvSpPr>
          <p:spPr>
            <a:xfrm>
              <a:off x="6896100" y="2173605"/>
              <a:ext cx="64770" cy="64770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7054215" y="2110740"/>
              <a:ext cx="39014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ξ 的具体位置不知道，实际用上界。记 Mₙ₊₁ =</a:t>
              </a:r>
              <a:br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max|f⁽ⁿ⁺¹⁾(x)|（a ≤ x ≤ b），则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3" name="formula35"/>
                <p:cNvSpPr txBox="1">
                  <a:spLocks noGrp="1"/>
                </p:cNvSpPr>
                <p:nvPr/>
              </p:nvSpPr>
              <p:spPr>
                <a:xfrm>
                  <a:off x="6890385" y="2707005"/>
                  <a:ext cx="4558665" cy="565785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lIns="0" tIns="0" rIns="0" bIns="0" wrap="none" anchor="ctr">
                  <a:normAutofit/>
                </a:bodyPr>
                <a:lstStyle/>
                <a:p>
                  <a:pPr algn="ctr"/>
                  <a14:m>
                    <m:oMathPara xmlns:a="http://schemas.openxmlformats.org/drawingml/2006/main" xmlns:m="http://schemas.openxmlformats.org/officeDocument/2006/math">
                      <m:oMathParaPr>
                        <m:jc m:val="center"/>
                      </m:oMathParaPr>
                      <m:oMath>
                        <m:d>
                          <m:dPr>
                            <m:begChr m:val="|"/>
                            <m:sepChr m:val=""/>
                            <m:endChr m:val="|"/>
                            <m:grow m:val="on"/>
                            <m:ctrlPr>
                              <a:rPr lang="zh-CN" sz="165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sSub>
                              <m:e>
                                <m:r>
                                  <a:rPr lang="zh-CN" sz="1650" dirty="0">
                                    <a:solidFill>
                                      <a:srgbClr val="FFFF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R</m:t>
                                </m:r>
                              </m:e>
                              <m:sub>
                                <m:r>
                                  <a:rPr lang="zh-CN" sz="1650" dirty="0">
                                    <a:solidFill>
                                      <a:srgbClr val="FFFF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n</m:t>
                                </m:r>
                              </m:sub>
                            </m:sSub>
                            <m:d>
                              <m:dPr>
                                <m:begChr m:val="("/>
                                <m:sepChr m:val=""/>
                                <m:endChr m:val=")"/>
                                <m:grow m:val="on"/>
                                <m:ctrlPr>
                                  <a:rPr lang="zh-CN" sz="1650" dirty="0">
                                    <a:solidFill>
                                      <a:srgbClr val="FFFF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</m:ctrlPr>
                              </m:dPr>
                              <m:e>
                                <m:r>
                                  <a:rPr lang="zh-CN" sz="1650" dirty="0">
                                    <a:solidFill>
                                      <a:srgbClr val="FFFF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x</m:t>
                                </m:r>
                              </m:e>
                            </m:d>
                          </m:e>
                        </m:d>
                        <m:r>
                          <m:rPr>
                            <m:sty m:val="p"/>
                          </m:rPr>
                          <a:rPr lang="zh-CN" sz="1650" dirty="0">
                            <a:solidFill>
                              <a:srgbClr val="FFFFFF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≤</m:t>
                        </m:r>
                        <m:f>
                          <m:fPr>
                            <m:type m:val="bar"/>
                            <m:ctrlPr>
                              <a:rPr lang="zh-CN" sz="165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fPr>
                          <m:num>
                            <m:sSub>
                              <m:e>
                                <m:r>
                                  <a:rPr lang="zh-CN" sz="1650" dirty="0">
                                    <a:solidFill>
                                      <a:srgbClr val="FFFF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M</m:t>
                                </m:r>
                              </m:e>
                              <m:sub>
                                <m:r>
                                  <a:rPr lang="zh-CN" sz="1650" dirty="0">
                                    <a:solidFill>
                                      <a:srgbClr val="FFFF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n</m:t>
                                </m:r>
                                <m:r>
                                  <m:rPr>
                                    <m:sty m:val="p"/>
                                  </m:rPr>
                                  <a:rPr lang="zh-CN" sz="1650" dirty="0">
                                    <a:solidFill>
                                      <a:srgbClr val="FFFF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+</m:t>
                                </m:r>
                                <m:r>
                                  <a:rPr lang="zh-CN" sz="1650" dirty="0">
                                    <a:solidFill>
                                      <a:srgbClr val="FFFF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1</m:t>
                                </m:r>
                              </m:sub>
                            </m:sSub>
                          </m:num>
                          <m:den>
                            <m:d>
                              <m:dPr>
                                <m:begChr m:val="("/>
                                <m:sepChr m:val=""/>
                                <m:endChr m:val=")"/>
                                <m:grow m:val="on"/>
                                <m:ctrlPr>
                                  <a:rPr lang="zh-CN" sz="1650" dirty="0">
                                    <a:solidFill>
                                      <a:srgbClr val="FFFF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</m:ctrlPr>
                              </m:dPr>
                              <m:e>
                                <m:r>
                                  <a:rPr lang="zh-CN" sz="1650" dirty="0">
                                    <a:solidFill>
                                      <a:srgbClr val="FFFF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n</m:t>
                                </m:r>
                                <m:r>
                                  <m:rPr>
                                    <m:sty m:val="p"/>
                                  </m:rPr>
                                  <a:rPr lang="zh-CN" sz="1650" dirty="0">
                                    <a:solidFill>
                                      <a:srgbClr val="FFFF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+</m:t>
                                </m:r>
                                <m:r>
                                  <a:rPr lang="zh-CN" sz="1650" dirty="0">
                                    <a:solidFill>
                                      <a:srgbClr val="FFFF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1</m:t>
                                </m:r>
                              </m:e>
                            </m:d>
                            <m:r>
                              <m:rPr>
                                <m:sty m:val="p"/>
                              </m:rPr>
                              <a:rPr lang="zh-CN" sz="165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!</m:t>
                            </m:r>
                          </m:den>
                        </m:f>
                        <m:r>
                          <a:rPr lang="zh-CN" sz="1650" dirty="0">
                            <a:solidFill>
                              <a:srgbClr val="FFFFFF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 xml:space="preserve"> </m:t>
                        </m:r>
                        <m:d>
                          <m:dPr>
                            <m:begChr m:val="|"/>
                            <m:sepChr m:val=""/>
                            <m:endChr m:val="|"/>
                            <m:grow m:val="on"/>
                            <m:ctrlPr>
                              <a:rPr lang="zh-CN" sz="165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sSub>
                              <m:e>
                                <m:r>
                                  <a:rPr lang="zh-CN" sz="1650" dirty="0">
                                    <a:solidFill>
                                      <a:srgbClr val="FFFF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ω</m:t>
                                </m:r>
                              </m:e>
                              <m:sub>
                                <m:r>
                                  <a:rPr lang="zh-CN" sz="1650" dirty="0">
                                    <a:solidFill>
                                      <a:srgbClr val="FFFF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n</m:t>
                                </m:r>
                                <m:r>
                                  <m:rPr>
                                    <m:sty m:val="p"/>
                                  </m:rPr>
                                  <a:rPr lang="zh-CN" sz="1650" dirty="0">
                                    <a:solidFill>
                                      <a:srgbClr val="FFFF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+</m:t>
                                </m:r>
                                <m:r>
                                  <a:rPr lang="zh-CN" sz="1650" dirty="0">
                                    <a:solidFill>
                                      <a:srgbClr val="FFFF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1</m:t>
                                </m:r>
                              </m:sub>
                            </m:sSub>
                            <m:d>
                              <m:dPr>
                                <m:begChr m:val="("/>
                                <m:sepChr m:val=""/>
                                <m:endChr m:val=")"/>
                                <m:grow m:val="on"/>
                                <m:ctrlPr>
                                  <a:rPr lang="zh-CN" sz="1650" dirty="0">
                                    <a:solidFill>
                                      <a:srgbClr val="FFFF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</m:ctrlPr>
                              </m:dPr>
                              <m:e>
                                <m:r>
                                  <a:rPr lang="zh-CN" sz="1650" dirty="0">
                                    <a:solidFill>
                                      <a:srgbClr val="FFFF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x</m:t>
                                </m:r>
                              </m:e>
                            </m:d>
                          </m:e>
                        </m:d>
                      </m:oMath>
                    </m:oMathPara>
                  </a14:m>
                </a:p>
              </p:txBody>
            </p:sp>
          </mc:Choice>
        </mc:AlternateContent>
        <p:sp>
          <p:nvSpPr>
            <p:cNvPr id="24" name="Ellipse 24"/>
            <p:cNvSpPr/>
            <p:nvPr/>
          </p:nvSpPr>
          <p:spPr>
            <a:xfrm>
              <a:off x="6896100" y="3455670"/>
              <a:ext cx="64770" cy="64770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7054215" y="3392805"/>
              <a:ext cx="407289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f 是次数不超过 n 的多项式时 f⁽ⁿ⁺¹⁾ ≡ 0，插值</a:t>
              </a:r>
              <a:br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没有误差</a:t>
              </a:r>
            </a:p>
          </p:txBody>
        </p:sp>
        <p:sp>
          <p:nvSpPr>
            <p:cNvPr id="26" name="Ellipse 26"/>
            <p:cNvSpPr/>
            <p:nvPr/>
          </p:nvSpPr>
          <p:spPr>
            <a:xfrm>
              <a:off x="6896100" y="4076700"/>
              <a:ext cx="64770" cy="64770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7054215" y="4013835"/>
              <a:ext cx="4158615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|ωₙ₊₁(x)| 由 x 与各节点的距离决定：x 离节点越</a:t>
              </a:r>
              <a:br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近，误差越小</a:t>
              </a:r>
            </a:p>
          </p:txBody>
        </p:sp>
      </p:grpSp>
      <p:grpSp>
        <p:nvGrpSpPr>
          <p:cNvPr id="35" name="c2-callout-2"/>
          <p:cNvGrpSpPr/>
          <p:nvPr/>
        </p:nvGrpSpPr>
        <p:grpSpPr>
          <a:xfrm>
            <a:off x="6680835" y="4933950"/>
            <a:ext cx="4977765" cy="1059180"/>
            <a:chOff x="6680835" y="4933950"/>
            <a:chExt cx="4977765" cy="1059180"/>
          </a:xfrm>
        </p:grpSpPr>
        <p:sp>
          <p:nvSpPr>
            <p:cNvPr id="29" name="Rectangle 29"/>
            <p:cNvSpPr/>
            <p:nvPr/>
          </p:nvSpPr>
          <p:spPr>
            <a:xfrm>
              <a:off x="6680835" y="4933950"/>
              <a:ext cx="4977765" cy="1059180"/>
            </a:xfrm>
            <a:prstGeom prst="roundRect">
              <a:avLst>
                <a:gd name="adj" fmla="val 10791"/>
              </a:avLst>
            </a:prstGeom>
            <a:solidFill>
              <a:srgbClr val="F4F6FB"/>
            </a:solidFill>
            <a:ln>
              <a:noFill/>
            </a:ln>
          </p:spPr>
        </p:sp>
        <p:grpSp>
          <p:nvGrpSpPr>
            <p:cNvPr id="33" name="Group 33"/>
            <p:cNvGrpSpPr/>
            <p:nvPr/>
          </p:nvGrpSpPr>
          <p:grpSpPr>
            <a:xfrm>
              <a:off x="6885623" y="5363528"/>
              <a:ext cx="200026" cy="200026"/>
              <a:chOff x="6885623" y="5363528"/>
              <a:chExt cx="200026" cy="200026"/>
            </a:xfrm>
          </p:grpSpPr>
          <p:sp>
            <p:nvSpPr>
              <p:cNvPr id="30" name="Freeform 30"/>
              <p:cNvSpPr/>
              <p:nvPr/>
            </p:nvSpPr>
            <p:spPr>
              <a:xfrm>
                <a:off x="6885623" y="5363528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31" name="Freeform 31"/>
              <p:cNvSpPr/>
              <p:nvPr/>
            </p:nvSpPr>
            <p:spPr>
              <a:xfrm>
                <a:off x="6985635" y="5430203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32" name="Freeform 32"/>
              <p:cNvSpPr/>
              <p:nvPr/>
            </p:nvSpPr>
            <p:spPr>
              <a:xfrm>
                <a:off x="6974523" y="5463540"/>
                <a:ext cx="222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22225" h="44450">
                    <a:moveTo>
                      <a:pt x="0" y="0"/>
                    </a:moveTo>
                    <a:lnTo>
                      <a:pt x="11113" y="0"/>
                    </a:lnTo>
                    <a:lnTo>
                      <a:pt x="11113" y="44450"/>
                    </a:lnTo>
                    <a:lnTo>
                      <a:pt x="22225" y="4445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</p:grpSp>
        <p:sp>
          <p:nvSpPr>
            <p:cNvPr id="34" name="TextBox 34"/>
            <p:cNvSpPr txBox="1"/>
            <p:nvPr/>
          </p:nvSpPr>
          <p:spPr>
            <a:xfrm>
              <a:off x="7187565" y="5082540"/>
              <a:ext cx="3949065" cy="8458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ξ 实际位于 x, x₀, …, xₙ 中最小者与最大者之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间，比 (a, b) 更精确，估计 Mₙ₊₁ 时可以只在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这个小区间上取最大值。</a:t>
              </a:r>
            </a:p>
          </p:txBody>
        </p:sp>
      </p:grpSp>
      <p:grpSp>
        <p:nvGrpSpPr>
          <p:cNvPr id="38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36" name="TextBox 36"/>
            <p:cNvSpPr txBox="1"/>
            <p:nvPr/>
          </p:nvSpPr>
          <p:spPr>
            <a:xfrm>
              <a:off x="528447" y="6581299"/>
              <a:ext cx="225267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计算方法 · 第5章 函数插值与曲线拟合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10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7930426" cy="909257"/>
            <a:chOff x="520446" y="342900"/>
            <a:chExt cx="7930426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272665" cy="266700"/>
            </a:xfrm>
            <a:prstGeom prst="roundRect">
              <a:avLst>
                <a:gd name="adj" fmla="val 50000"/>
              </a:avLst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01058" y="407194"/>
              <a:ext cx="213734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第5章 函数插值 · 拉格朗日插值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7930426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证明余项定理：构造辅助函数，反复使用 Rolle 定理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E7D4F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24" name="c1-steps-1"/>
          <p:cNvGrpSpPr/>
          <p:nvPr/>
        </p:nvGrpSpPr>
        <p:grpSpPr>
          <a:xfrm>
            <a:off x="533400" y="1533525"/>
            <a:ext cx="5297104" cy="2682716"/>
            <a:chOff x="533400" y="1533525"/>
            <a:chExt cx="5297104" cy="2682716"/>
          </a:xfrm>
        </p:grpSpPr>
        <p:sp>
          <p:nvSpPr>
            <p:cNvPr id="7" name="Rectangle 7"/>
            <p:cNvSpPr/>
            <p:nvPr/>
          </p:nvSpPr>
          <p:spPr>
            <a:xfrm>
              <a:off x="666750" y="1676400"/>
              <a:ext cx="19050" cy="1955482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8" name="Ellipse 8"/>
            <p:cNvSpPr/>
            <p:nvPr/>
          </p:nvSpPr>
          <p:spPr>
            <a:xfrm>
              <a:off x="533400" y="1533525"/>
              <a:ext cx="285750" cy="28575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627024" y="160734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10" name="Ellipse 10"/>
            <p:cNvSpPr/>
            <p:nvPr/>
          </p:nvSpPr>
          <p:spPr>
            <a:xfrm>
              <a:off x="533400" y="2323148"/>
              <a:ext cx="285750" cy="28575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627024" y="2396966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533400" y="2906078"/>
              <a:ext cx="285750" cy="28575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627024" y="2979896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533400" y="3489008"/>
              <a:ext cx="285750" cy="28575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627024" y="3562826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945642" y="1564957"/>
              <a:ext cx="53939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固定 x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946785" y="1833086"/>
              <a:ext cx="4349750" cy="42767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635"/>
                </a:lnSpc>
              </a:pPr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取定 x ∈ [a, b]，x ≠ xᵢ（x = xᵢ 时两边都为 0，结论成立），记 F =</a:t>
              </a:r>
              <a:br/>
              <a:r>
                <a:rPr lang="el-GR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(f(x) − Lₙ(x)) / ωₙ₊₁(x)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945642" y="2355532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构造辅助函数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946785" y="2622709"/>
              <a:ext cx="311671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φ(t) = f(t) − Lₙ(t) − F·ωₙ₊₁(t)，t 为变量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945642" y="2938462"/>
              <a:ext cx="55892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数零点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946785" y="3205639"/>
              <a:ext cx="488371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φ(xᵢ) = 0（i = 0, 1, …, n），由 F 的取法 φ(x) = 0，共 n+2 个互异零点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945642" y="3521392"/>
              <a:ext cx="147240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反复用 Rolle 定理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946785" y="3788569"/>
              <a:ext cx="4634230" cy="42767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635"/>
                </a:lnSpc>
              </a:pPr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相邻两个零点之间 φ′ 至少有一个零点，共 n+1 个；如此 n+1 次，φ⁽ⁿ⁺¹⁾</a:t>
              </a:r>
              <a:br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在 (a, b) 内至少有一个零点 ξ</a:t>
              </a:r>
            </a:p>
          </p:txBody>
        </p:sp>
      </p:grpSp>
      <p:grpSp>
        <p:nvGrpSpPr>
          <p:cNvPr id="31" name="c1-card-2"/>
          <p:cNvGrpSpPr/>
          <p:nvPr/>
        </p:nvGrpSpPr>
        <p:grpSpPr>
          <a:xfrm>
            <a:off x="533400" y="4379595"/>
            <a:ext cx="5410200" cy="1654492"/>
            <a:chOff x="533400" y="4379595"/>
            <a:chExt cx="5410200" cy="1654492"/>
          </a:xfrm>
        </p:grpSpPr>
        <p:sp>
          <p:nvSpPr>
            <p:cNvPr id="25" name="Rectangle 25"/>
            <p:cNvSpPr/>
            <p:nvPr/>
          </p:nvSpPr>
          <p:spPr>
            <a:xfrm>
              <a:off x="533400" y="4379595"/>
              <a:ext cx="5410200" cy="1654492"/>
            </a:xfrm>
            <a:prstGeom prst="roundRect">
              <a:avLst>
                <a:gd name="adj" fmla="val 8060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26" name="Rectangle 26"/>
            <p:cNvSpPr/>
            <p:nvPr/>
          </p:nvSpPr>
          <p:spPr>
            <a:xfrm>
              <a:off x="542925" y="4512945"/>
              <a:ext cx="47625" cy="1387792"/>
            </a:xfrm>
            <a:prstGeom prst="roundRect">
              <a:avLst>
                <a:gd name="adj" fmla="val 50000"/>
              </a:avLst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27" name="Rectangle 27"/>
            <p:cNvSpPr/>
            <p:nvPr/>
          </p:nvSpPr>
          <p:spPr>
            <a:xfrm>
              <a:off x="758190" y="4566285"/>
              <a:ext cx="1164908" cy="238125"/>
            </a:xfrm>
            <a:prstGeom prst="roundRect">
              <a:avLst>
                <a:gd name="adj" fmla="val 5000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827730" y="4599146"/>
              <a:ext cx="1026779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复习：Rolle 定理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751332" y="4911090"/>
              <a:ext cx="4814316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φ 在 [α, β] 上连续、在 (α, β) 内可导，且 φ(α) = φ(β)，则存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在 η ∈ (α, β) 使 φ′(η) = 0。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752475" y="5464016"/>
              <a:ext cx="4406646" cy="42767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635"/>
                </a:lnSpc>
              </a:pPr>
              <a:r>
                <a:rPr lang="zh-CN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定理 5.1 要求 f 的 n 阶导数连续、n+1 阶导数存在，正是为了能对 φ,</a:t>
              </a:r>
              <a:br/>
              <a:r>
                <a:rPr lang="zh-CN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φ′, …, φ⁽ⁿ⁾ 逐个使用它。</a:t>
              </a:r>
            </a:p>
          </p:txBody>
        </p:sp>
      </p:grpSp>
      <p:grpSp>
        <p:nvGrpSpPr>
          <p:cNvPr id="33" name="c2-text-1"/>
          <p:cNvGrpSpPr/>
          <p:nvPr/>
        </p:nvGrpSpPr>
        <p:grpSpPr>
          <a:xfrm>
            <a:off x="6241542" y="1545907"/>
            <a:ext cx="5114354" cy="529780"/>
            <a:chOff x="6241542" y="1545907"/>
            <a:chExt cx="5114354" cy="529780"/>
          </a:xfrm>
        </p:grpSpPr>
        <p:sp>
          <p:nvSpPr>
            <p:cNvPr id="32" name="TextBox 32"/>
            <p:cNvSpPr txBox="1"/>
            <p:nvPr/>
          </p:nvSpPr>
          <p:spPr>
            <a:xfrm>
              <a:off x="6241542" y="1545907"/>
              <a:ext cx="5114354" cy="5297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92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Lₙ 的次数不超过 n，故 Lₙ⁽ⁿ⁺¹⁾ ≡ 0；ωₙ₊₁(t) 的首项是 tⁿ⁺¹，其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n+1 阶导数为 (n+1)!。于是</a:t>
              </a:r>
            </a:p>
          </p:txBody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34" name="formula45"/>
              <p:cNvSpPr txBox="1">
                <a:spLocks noGrp="1"/>
              </p:cNvSpPr>
              <p:nvPr/>
            </p:nvSpPr>
            <p:spPr>
              <a:xfrm>
                <a:off x="6248400" y="2192655"/>
                <a:ext cx="5410200" cy="4000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lIns="0" tIns="0" rIns="0" bIns="0" wrap="none" anchor="ctr">
                <a:normAutofit/>
              </a:bodyPr>
              <a:lstStyle/>
              <a:p>
                <a:pPr algn="ctr"/>
                <a14:m>
                  <m:oMathPara xmlns:a="http://schemas.openxmlformats.org/drawingml/2006/main"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a:rPr lang="zh-CN" sz="15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φ</m:t>
                          </m:r>
                        </m:e>
                        <m:sup>
                          <m:d>
                            <m:dPr>
                              <m:begChr m:val="("/>
                              <m:sepChr m:val=""/>
                              <m:endChr m:val=")"/>
                              <m:grow m:val="on"/>
                              <m:ctrlPr>
                                <a:rPr lang="zh-CN" sz="15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r>
                                <a:rPr lang="zh-CN" sz="15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n</m:t>
                              </m:r>
                              <m:r>
                                <m:rPr>
                                  <m:sty m:val="p"/>
                                </m:rPr>
                                <a:rPr lang="zh-CN" sz="15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+</m:t>
                              </m:r>
                              <m:r>
                                <a:rPr lang="zh-CN" sz="15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1</m:t>
                              </m:r>
                            </m:e>
                          </m:d>
                        </m:sup>
                      </m:sSup>
                      <m:d>
                        <m:dPr>
                          <m:begChr m:val="("/>
                          <m:sepChr m:val=""/>
                          <m:endChr m:val=")"/>
                          <m:grow m:val="on"/>
                          <m:ctrlPr>
                            <a:rPr lang="zh-CN" sz="15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a:rPr lang="zh-CN" sz="15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ξ</m:t>
                          </m:r>
                        </m:e>
                      </m:d>
                      <m:r>
                        <m:rPr>
                          <m:sty m:val="p"/>
                        </m:rPr>
                        <a:rPr lang="zh-CN" sz="158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sSup>
                        <m:e>
                          <m:r>
                            <a:rPr lang="zh-CN" sz="15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f</m:t>
                          </m:r>
                        </m:e>
                        <m:sup>
                          <m:d>
                            <m:dPr>
                              <m:begChr m:val="("/>
                              <m:sepChr m:val=""/>
                              <m:endChr m:val=")"/>
                              <m:grow m:val="on"/>
                              <m:ctrlPr>
                                <a:rPr lang="zh-CN" sz="15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r>
                                <a:rPr lang="zh-CN" sz="15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n</m:t>
                              </m:r>
                              <m:r>
                                <m:rPr>
                                  <m:sty m:val="p"/>
                                </m:rPr>
                                <a:rPr lang="zh-CN" sz="15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+</m:t>
                              </m:r>
                              <m:r>
                                <a:rPr lang="zh-CN" sz="15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1</m:t>
                              </m:r>
                            </m:e>
                          </m:d>
                        </m:sup>
                      </m:sSup>
                      <m:d>
                        <m:dPr>
                          <m:begChr m:val="("/>
                          <m:sepChr m:val=""/>
                          <m:endChr m:val=")"/>
                          <m:grow m:val="on"/>
                          <m:ctrlPr>
                            <a:rPr lang="zh-CN" sz="15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a:rPr lang="zh-CN" sz="15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ξ</m:t>
                          </m:r>
                        </m:e>
                      </m:d>
                      <m:r>
                        <m:rPr>
                          <m:sty m:val="p"/>
                        </m:rPr>
                        <a:rPr lang="zh-CN" sz="158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−</m:t>
                      </m:r>
                      <m:r>
                        <a:rPr lang="zh-CN" sz="158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F</m:t>
                      </m:r>
                      <m:r>
                        <a:rPr lang="zh-CN" sz="158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 xml:space="preserve"> </m:t>
                      </m:r>
                      <m:d>
                        <m:dPr>
                          <m:begChr m:val="("/>
                          <m:sepChr m:val=""/>
                          <m:endChr m:val=")"/>
                          <m:grow m:val="on"/>
                          <m:ctrlPr>
                            <a:rPr lang="zh-CN" sz="15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a:rPr lang="zh-CN" sz="15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n</m:t>
                          </m:r>
                          <m:r>
                            <m:rPr>
                              <m:sty m:val="p"/>
                            </m:rPr>
                            <a:rPr lang="zh-CN" sz="15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+</m:t>
                          </m:r>
                          <m:r>
                            <a:rPr lang="zh-CN" sz="15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a:rPr lang="zh-CN" sz="158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!=</m:t>
                      </m:r>
                      <m:r>
                        <a:rPr lang="zh-CN" sz="158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0</m:t>
                      </m:r>
                      <m:r>
                        <a:rPr lang="zh-CN" sz="158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 xml:space="preserve">  </m:t>
                      </m:r>
                      <m:d>
                        <m:dPr>
                          <m:begChr m:val="("/>
                          <m:sepChr m:val=""/>
                          <m:endChr m:val=")"/>
                          <m:grow m:val="on"/>
                          <m:ctrlPr>
                            <a:rPr lang="zh-CN" sz="15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a:rPr lang="zh-CN" sz="15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5.2.5</m:t>
                          </m:r>
                        </m:e>
                      </m:d>
                    </m:oMath>
                  </m:oMathPara>
                </a14:m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5" name="formula46"/>
              <p:cNvSpPr txBox="1">
                <a:spLocks noGrp="1"/>
              </p:cNvSpPr>
              <p:nvPr/>
            </p:nvSpPr>
            <p:spPr>
              <a:xfrm>
                <a:off x="6248400" y="2763202"/>
                <a:ext cx="5410200" cy="54006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lIns="0" tIns="0" rIns="0" bIns="0" wrap="none" anchor="ctr">
                <a:normAutofit/>
              </a:bodyPr>
              <a:lstStyle/>
              <a:p>
                <a:pPr algn="ctr"/>
                <a14:m>
                  <m:oMathPara xmlns:a="http://schemas.openxmlformats.org/drawingml/2006/main" xmlns:m="http://schemas.openxmlformats.org/officeDocument/2006/math">
                    <m:oMathParaPr>
                      <m:jc m:val="center"/>
                    </m:oMathParaPr>
                    <m:oMath>
                      <m:r>
                        <a:rPr lang="zh-CN" sz="158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F</m:t>
                      </m:r>
                      <m:r>
                        <m:rPr>
                          <m:sty m:val="p"/>
                        </m:rPr>
                        <a:rPr lang="zh-CN" sz="158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f>
                        <m:fPr>
                          <m:type m:val="bar"/>
                          <m:ctrlPr>
                            <a:rPr lang="zh-CN" sz="15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Pr>
                        <m:num>
                          <m:sSup>
                            <m:e>
                              <m:r>
                                <a:rPr lang="zh-CN" sz="15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f</m:t>
                              </m:r>
                            </m:e>
                            <m:sup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 m:val="on"/>
                                  <m:ctrlPr>
                                    <a:rPr lang="zh-CN" sz="158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dPr>
                                <m:e>
                                  <m:r>
                                    <a:rPr lang="zh-CN" sz="158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n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zh-CN" sz="158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+</m:t>
                                  </m:r>
                                  <m:r>
                                    <a:rPr lang="zh-CN" sz="158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1</m:t>
                                  </m:r>
                                </m:e>
                              </m:d>
                            </m:sup>
                          </m:sSup>
                          <m:d>
                            <m:dPr>
                              <m:begChr m:val="("/>
                              <m:sepChr m:val=""/>
                              <m:endChr m:val=")"/>
                              <m:grow m:val="on"/>
                              <m:ctrlPr>
                                <a:rPr lang="zh-CN" sz="15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r>
                                <a:rPr lang="zh-CN" sz="15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ξ</m:t>
                              </m:r>
                            </m:e>
                          </m:d>
                        </m:num>
                        <m:den>
                          <m:d>
                            <m:dPr>
                              <m:begChr m:val="("/>
                              <m:sepChr m:val=""/>
                              <m:endChr m:val=")"/>
                              <m:grow m:val="on"/>
                              <m:ctrlPr>
                                <a:rPr lang="zh-CN" sz="15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r>
                                <a:rPr lang="zh-CN" sz="15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n</m:t>
                              </m:r>
                              <m:r>
                                <m:rPr>
                                  <m:sty m:val="p"/>
                                </m:rPr>
                                <a:rPr lang="zh-CN" sz="15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+</m:t>
                              </m:r>
                              <m:r>
                                <a:rPr lang="zh-CN" sz="15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1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a:rPr lang="zh-CN" sz="15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!</m:t>
                          </m:r>
                        </m:den>
                      </m:f>
                      <m:r>
                        <a:rPr lang="zh-CN" sz="158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 xml:space="preserve">  </m:t>
                      </m:r>
                      <m:d>
                        <m:dPr>
                          <m:begChr m:val="("/>
                          <m:sepChr m:val=""/>
                          <m:endChr m:val=")"/>
                          <m:grow m:val="on"/>
                          <m:ctrlPr>
                            <a:rPr lang="zh-CN" sz="15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a:rPr lang="zh-CN" sz="15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5.2.6</m:t>
                          </m:r>
                        </m:e>
                      </m:d>
                    </m:oMath>
                  </m:oMathPara>
                </a14:m>
              </a:p>
            </p:txBody>
          </p:sp>
        </mc:Choice>
      </mc:AlternateContent>
      <p:grpSp>
        <p:nvGrpSpPr>
          <p:cNvPr id="37" name="c2-text-4"/>
          <p:cNvGrpSpPr/>
          <p:nvPr/>
        </p:nvGrpSpPr>
        <p:grpSpPr>
          <a:xfrm>
            <a:off x="6241542" y="3494722"/>
            <a:ext cx="2778862" cy="264033"/>
            <a:chOff x="6241542" y="3494722"/>
            <a:chExt cx="2778862" cy="264033"/>
          </a:xfrm>
        </p:grpSpPr>
        <p:sp>
          <p:nvSpPr>
            <p:cNvPr id="36" name="TextBox 36"/>
            <p:cNvSpPr txBox="1"/>
            <p:nvPr/>
          </p:nvSpPr>
          <p:spPr>
            <a:xfrm>
              <a:off x="6241542" y="3494722"/>
              <a:ext cx="277886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代回 F 的定义，得插值余项公式：</a:t>
              </a:r>
            </a:p>
          </p:txBody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38" name="formula47"/>
              <p:cNvSpPr txBox="1">
                <a:spLocks noGrp="1"/>
              </p:cNvSpPr>
              <p:nvPr/>
            </p:nvSpPr>
            <p:spPr>
              <a:xfrm>
                <a:off x="6248400" y="3875722"/>
                <a:ext cx="5410200" cy="54006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lIns="0" tIns="0" rIns="0" bIns="0" wrap="none" anchor="ctr">
                <a:normAutofit/>
              </a:bodyPr>
              <a:lstStyle/>
              <a:p>
                <a:pPr algn="ctr"/>
                <a14:m>
                  <m:oMathPara xmlns:a="http://schemas.openxmlformats.org/drawingml/2006/main"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a:rPr lang="zh-CN" sz="15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R</m:t>
                          </m:r>
                        </m:e>
                        <m:sub>
                          <m:r>
                            <a:rPr lang="zh-CN" sz="15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n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 m:val="on"/>
                          <m:ctrlPr>
                            <a:rPr lang="zh-CN" sz="15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a:rPr lang="zh-CN" sz="15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a:rPr lang="zh-CN" sz="158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r>
                        <a:rPr lang="zh-CN" sz="158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f</m:t>
                      </m:r>
                      <m:d>
                        <m:dPr>
                          <m:begChr m:val="("/>
                          <m:sepChr m:val=""/>
                          <m:endChr m:val=")"/>
                          <m:grow m:val="on"/>
                          <m:ctrlPr>
                            <a:rPr lang="zh-CN" sz="15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a:rPr lang="zh-CN" sz="15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a:rPr lang="zh-CN" sz="158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−</m:t>
                      </m:r>
                      <m:sSub>
                        <m:e>
                          <m:r>
                            <a:rPr lang="zh-CN" sz="15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L</m:t>
                          </m:r>
                        </m:e>
                        <m:sub>
                          <m:r>
                            <a:rPr lang="zh-CN" sz="15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n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 m:val="on"/>
                          <m:ctrlPr>
                            <a:rPr lang="zh-CN" sz="15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a:rPr lang="zh-CN" sz="15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a:rPr lang="zh-CN" sz="158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f>
                        <m:fPr>
                          <m:type m:val="bar"/>
                          <m:ctrlPr>
                            <a:rPr lang="zh-CN" sz="15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Pr>
                        <m:num>
                          <m:sSup>
                            <m:e>
                              <m:r>
                                <a:rPr lang="zh-CN" sz="15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f</m:t>
                              </m:r>
                            </m:e>
                            <m:sup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 m:val="on"/>
                                  <m:ctrlPr>
                                    <a:rPr lang="zh-CN" sz="158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dPr>
                                <m:e>
                                  <m:r>
                                    <a:rPr lang="zh-CN" sz="158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n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zh-CN" sz="158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+</m:t>
                                  </m:r>
                                  <m:r>
                                    <a:rPr lang="zh-CN" sz="158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1</m:t>
                                  </m:r>
                                </m:e>
                              </m:d>
                            </m:sup>
                          </m:sSup>
                          <m:d>
                            <m:dPr>
                              <m:begChr m:val="("/>
                              <m:sepChr m:val=""/>
                              <m:endChr m:val=")"/>
                              <m:grow m:val="on"/>
                              <m:ctrlPr>
                                <a:rPr lang="zh-CN" sz="15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r>
                                <a:rPr lang="zh-CN" sz="15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ξ</m:t>
                              </m:r>
                            </m:e>
                          </m:d>
                        </m:num>
                        <m:den>
                          <m:d>
                            <m:dPr>
                              <m:begChr m:val="("/>
                              <m:sepChr m:val=""/>
                              <m:endChr m:val=")"/>
                              <m:grow m:val="on"/>
                              <m:ctrlPr>
                                <a:rPr lang="zh-CN" sz="15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r>
                                <a:rPr lang="zh-CN" sz="15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n</m:t>
                              </m:r>
                              <m:r>
                                <m:rPr>
                                  <m:sty m:val="p"/>
                                </m:rPr>
                                <a:rPr lang="zh-CN" sz="15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+</m:t>
                              </m:r>
                              <m:r>
                                <a:rPr lang="zh-CN" sz="15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1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a:rPr lang="zh-CN" sz="15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!</m:t>
                          </m:r>
                        </m:den>
                      </m:f>
                      <m:r>
                        <a:rPr lang="zh-CN" sz="158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 xml:space="preserve"> </m:t>
                      </m:r>
                      <m:sSub>
                        <m:e>
                          <m:r>
                            <a:rPr lang="zh-CN" sz="15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ω</m:t>
                          </m:r>
                        </m:e>
                        <m:sub>
                          <m:r>
                            <a:rPr lang="zh-CN" sz="15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n</m:t>
                          </m:r>
                          <m:r>
                            <m:rPr>
                              <m:sty m:val="p"/>
                            </m:rPr>
                            <a:rPr lang="zh-CN" sz="15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+</m:t>
                          </m:r>
                          <m:r>
                            <a:rPr lang="zh-CN" sz="15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 m:val="on"/>
                          <m:ctrlPr>
                            <a:rPr lang="zh-CN" sz="15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a:rPr lang="zh-CN" sz="15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x</m:t>
                          </m:r>
                        </m:e>
                      </m:d>
                    </m:oMath>
                  </m:oMathPara>
                </a14:m>
              </a:p>
            </p:txBody>
          </p:sp>
        </mc:Choice>
      </mc:AlternateContent>
      <p:grpSp>
        <p:nvGrpSpPr>
          <p:cNvPr id="45" name="c2-callout-6"/>
          <p:cNvGrpSpPr/>
          <p:nvPr/>
        </p:nvGrpSpPr>
        <p:grpSpPr>
          <a:xfrm>
            <a:off x="6248400" y="4586288"/>
            <a:ext cx="5410200" cy="729615"/>
            <a:chOff x="6248400" y="4586288"/>
            <a:chExt cx="5410200" cy="729615"/>
          </a:xfrm>
        </p:grpSpPr>
        <p:sp>
          <p:nvSpPr>
            <p:cNvPr id="39" name="Rectangle 39"/>
            <p:cNvSpPr/>
            <p:nvPr/>
          </p:nvSpPr>
          <p:spPr>
            <a:xfrm>
              <a:off x="6248400" y="4586288"/>
              <a:ext cx="5410200" cy="729615"/>
            </a:xfrm>
            <a:prstGeom prst="roundRect">
              <a:avLst>
                <a:gd name="adj" fmla="val 15666"/>
              </a:avLst>
            </a:prstGeom>
            <a:solidFill>
              <a:srgbClr val="FDEEE7"/>
            </a:solidFill>
            <a:ln>
              <a:noFill/>
            </a:ln>
          </p:spPr>
        </p:sp>
        <p:grpSp>
          <p:nvGrpSpPr>
            <p:cNvPr id="43" name="Group 43"/>
            <p:cNvGrpSpPr/>
            <p:nvPr/>
          </p:nvGrpSpPr>
          <p:grpSpPr>
            <a:xfrm>
              <a:off x="6453188" y="4851083"/>
              <a:ext cx="200026" cy="200025"/>
              <a:chOff x="6453188" y="4851083"/>
              <a:chExt cx="200026" cy="200025"/>
            </a:xfrm>
          </p:grpSpPr>
          <p:sp>
            <p:nvSpPr>
              <p:cNvPr id="40" name="Freeform 40"/>
              <p:cNvSpPr/>
              <p:nvPr/>
            </p:nvSpPr>
            <p:spPr>
              <a:xfrm>
                <a:off x="6453188" y="4851083"/>
                <a:ext cx="200026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00013">
                    <a:moveTo>
                      <a:pt x="0" y="100013"/>
                    </a:moveTo>
                    <a:lnTo>
                      <a:pt x="11113" y="100013"/>
                    </a:lnTo>
                    <a:moveTo>
                      <a:pt x="100013" y="0"/>
                    </a:moveTo>
                    <a:lnTo>
                      <a:pt x="100013" y="11113"/>
                    </a:lnTo>
                    <a:moveTo>
                      <a:pt x="188913" y="100013"/>
                    </a:moveTo>
                    <a:lnTo>
                      <a:pt x="200026" y="100013"/>
                    </a:lnTo>
                    <a:moveTo>
                      <a:pt x="28893" y="28893"/>
                    </a:moveTo>
                    <a:lnTo>
                      <a:pt x="36671" y="36671"/>
                    </a:lnTo>
                    <a:moveTo>
                      <a:pt x="171133" y="28893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41" name="Freeform 41"/>
              <p:cNvSpPr/>
              <p:nvPr/>
            </p:nvSpPr>
            <p:spPr>
              <a:xfrm>
                <a:off x="6492926" y="4895533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3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3" y="15304"/>
                      <a:pt x="112986" y="37992"/>
                    </a:cubicBezTo>
                    <a:cubicBezTo>
                      <a:pt x="120548" y="60681"/>
                      <a:pt x="112745" y="85663"/>
                      <a:pt x="93612" y="100013"/>
                    </a:cubicBezTo>
                    <a:cubicBezTo>
                      <a:pt x="84812" y="108723"/>
                      <a:pt x="80686" y="121103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3"/>
                      <a:pt x="35736" y="108723"/>
                      <a:pt x="26937" y="100013"/>
                    </a:cubicBez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42" name="Freeform 42"/>
              <p:cNvSpPr/>
              <p:nvPr/>
            </p:nvSpPr>
            <p:spPr>
              <a:xfrm>
                <a:off x="6527642" y="5006658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</p:grpSp>
        <p:sp>
          <p:nvSpPr>
            <p:cNvPr id="44" name="TextBox 44"/>
            <p:cNvSpPr txBox="1"/>
            <p:nvPr/>
          </p:nvSpPr>
          <p:spPr>
            <a:xfrm>
              <a:off x="6755892" y="4732020"/>
              <a:ext cx="4445698" cy="51263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58"/>
                </a:lnSpc>
              </a:pPr>
              <a:r>
                <a:rPr lang="zh-CN" sz="135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构造辅助函数、数零点、用 Rolle 定理，这一套做法还会用</a:t>
              </a:r>
              <a:br/>
              <a:r>
                <a:rPr lang="zh-CN" sz="135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来证明 Hermite 插值余项（习题 2）。</a:t>
              </a:r>
            </a:p>
          </p:txBody>
        </p:sp>
      </p:grpSp>
      <p:grpSp>
        <p:nvGrpSpPr>
          <p:cNvPr id="48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46" name="TextBox 46"/>
            <p:cNvSpPr txBox="1"/>
            <p:nvPr/>
          </p:nvSpPr>
          <p:spPr>
            <a:xfrm>
              <a:off x="528447" y="6581299"/>
              <a:ext cx="225267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计算方法 · 第5章 函数插值与曲线拟合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11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6672686" cy="909257"/>
            <a:chOff x="520446" y="342900"/>
            <a:chExt cx="6672686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272665" cy="266700"/>
            </a:xfrm>
            <a:prstGeom prst="roundRect">
              <a:avLst>
                <a:gd name="adj" fmla="val 50000"/>
              </a:avLst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01058" y="407194"/>
              <a:ext cx="213734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第5章 函数插值 · 拉格朗日插值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6672686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线性插值（n = 1）：过两点作直线代替曲线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E7D4F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c1-text-1"/>
          <p:cNvGrpSpPr/>
          <p:nvPr/>
        </p:nvGrpSpPr>
        <p:grpSpPr>
          <a:xfrm>
            <a:off x="525780" y="1548765"/>
            <a:ext cx="4930140" cy="588645"/>
            <a:chOff x="525780" y="1548765"/>
            <a:chExt cx="4930140" cy="588645"/>
          </a:xfrm>
        </p:grpSpPr>
        <p:sp>
          <p:nvSpPr>
            <p:cNvPr id="7" name="TextBox 7"/>
            <p:cNvSpPr txBox="1"/>
            <p:nvPr/>
          </p:nvSpPr>
          <p:spPr>
            <a:xfrm>
              <a:off x="525780" y="1548765"/>
              <a:ext cx="4930140" cy="58864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325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已知 (x₀, y₀)、(x₁, y₁)，求次数不超过 1 的 L₁(x)，使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L₁(xᵢ) = yᵢ（i = 0, 1）。</a:t>
              </a:r>
            </a:p>
          </p:txBody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formula51"/>
              <p:cNvSpPr txBox="1">
                <a:spLocks noGrp="1"/>
              </p:cNvSpPr>
              <p:nvPr/>
            </p:nvSpPr>
            <p:spPr>
              <a:xfrm>
                <a:off x="533400" y="2268855"/>
                <a:ext cx="5410200" cy="54006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lIns="0" tIns="0" rIns="0" bIns="0" wrap="none" anchor="ctr">
                <a:normAutofit/>
              </a:bodyPr>
              <a:lstStyle/>
              <a:p>
                <a:pPr algn="ctr"/>
                <a14:m>
                  <m:oMathPara xmlns:a="http://schemas.openxmlformats.org/drawingml/2006/main"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 m:val="on"/>
                        </m:rPr>
                        <a:rPr lang="zh-CN" sz="158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点斜式：</m:t>
                      </m:r>
                      <m:r>
                        <a:rPr lang="zh-CN" sz="158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 xml:space="preserve"> </m:t>
                      </m:r>
                      <m:sSub>
                        <m:e>
                          <m:r>
                            <a:rPr lang="zh-CN" sz="15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L</m:t>
                          </m:r>
                        </m:e>
                        <m:sub>
                          <m:r>
                            <a:rPr lang="zh-CN" sz="15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 m:val="on"/>
                          <m:ctrlPr>
                            <a:rPr lang="zh-CN" sz="15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a:rPr lang="zh-CN" sz="15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a:rPr lang="zh-CN" sz="158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sSub>
                        <m:e>
                          <m:r>
                            <a:rPr lang="zh-CN" sz="15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y</m:t>
                          </m:r>
                        </m:e>
                        <m:sub>
                          <m:r>
                            <a:rPr lang="zh-CN" sz="15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zh-CN" sz="158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+</m:t>
                      </m:r>
                      <m:f>
                        <m:fPr>
                          <m:type m:val="bar"/>
                          <m:ctrlPr>
                            <a:rPr lang="zh-CN" sz="15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Pr>
                        <m:num>
                          <m:sSub>
                            <m:e>
                              <m:r>
                                <a:rPr lang="zh-CN" sz="15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y</m:t>
                              </m:r>
                            </m:e>
                            <m:sub>
                              <m:r>
                                <a:rPr lang="zh-CN" sz="15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1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a:rPr lang="zh-CN" sz="15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−</m:t>
                          </m:r>
                          <m:sSub>
                            <m:e>
                              <m:r>
                                <a:rPr lang="zh-CN" sz="15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y</m:t>
                              </m:r>
                            </m:e>
                            <m:sub>
                              <m:r>
                                <a:rPr lang="zh-CN" sz="15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0</m:t>
                              </m:r>
                            </m:sub>
                          </m:sSub>
                        </m:num>
                        <m:den>
                          <m:sSub>
                            <m:e>
                              <m:r>
                                <a:rPr lang="zh-CN" sz="15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x</m:t>
                              </m:r>
                            </m:e>
                            <m:sub>
                              <m:r>
                                <a:rPr lang="zh-CN" sz="15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1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a:rPr lang="zh-CN" sz="15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−</m:t>
                          </m:r>
                          <m:sSub>
                            <m:e>
                              <m:r>
                                <a:rPr lang="zh-CN" sz="15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x</m:t>
                              </m:r>
                            </m:e>
                            <m:sub>
                              <m:r>
                                <a:rPr lang="zh-CN" sz="15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0</m:t>
                              </m:r>
                            </m:sub>
                          </m:sSub>
                        </m:den>
                      </m:f>
                      <m:d>
                        <m:dPr>
                          <m:begChr m:val="("/>
                          <m:sepChr m:val=""/>
                          <m:endChr m:val=")"/>
                          <m:grow m:val="on"/>
                          <m:ctrlPr>
                            <a:rPr lang="zh-CN" sz="15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a:rPr lang="zh-CN" sz="15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x</m:t>
                          </m:r>
                          <m:r>
                            <m:rPr>
                              <m:sty m:val="p"/>
                            </m:rPr>
                            <a:rPr lang="zh-CN" sz="15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−</m:t>
                          </m:r>
                          <m:sSub>
                            <m:e>
                              <m:r>
                                <a:rPr lang="zh-CN" sz="15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x</m:t>
                              </m:r>
                            </m:e>
                            <m:sub>
                              <m:r>
                                <a:rPr lang="zh-CN" sz="15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0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0" name="formula52"/>
              <p:cNvSpPr txBox="1">
                <a:spLocks noGrp="1"/>
              </p:cNvSpPr>
              <p:nvPr/>
            </p:nvSpPr>
            <p:spPr>
              <a:xfrm>
                <a:off x="533400" y="2999422"/>
                <a:ext cx="5410200" cy="38576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lIns="0" tIns="0" rIns="0" bIns="0" wrap="none" anchor="ctr">
                <a:normAutofit/>
              </a:bodyPr>
              <a:lstStyle/>
              <a:p>
                <a:pPr algn="ctr"/>
                <a14:m>
                  <m:oMathPara xmlns:a="http://schemas.openxmlformats.org/drawingml/2006/main"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 m:val="on"/>
                        </m:rPr>
                        <a:rPr lang="zh-CN" sz="112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对称式：</m:t>
                      </m:r>
                      <m:r>
                        <a:rPr lang="zh-CN" sz="112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 xml:space="preserve"> </m:t>
                      </m:r>
                      <m:sSub>
                        <m:e>
                          <m:r>
                            <a:rPr lang="zh-CN" sz="11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L</m:t>
                          </m:r>
                        </m:e>
                        <m:sub>
                          <m:r>
                            <a:rPr lang="zh-CN" sz="11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 m:val="on"/>
                          <m:ctrlPr>
                            <a:rPr lang="zh-CN" sz="11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a:rPr lang="zh-CN" sz="11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a:rPr lang="zh-CN" sz="112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f>
                        <m:fPr>
                          <m:type m:val="bar"/>
                          <m:ctrlPr>
                            <a:rPr lang="zh-CN" sz="11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Pr>
                        <m:num>
                          <m:r>
                            <a:rPr lang="zh-CN" sz="11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x</m:t>
                          </m:r>
                          <m:r>
                            <m:rPr>
                              <m:sty m:val="p"/>
                            </m:rPr>
                            <a:rPr lang="zh-CN" sz="11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−</m:t>
                          </m:r>
                          <m:sSub>
                            <m:e>
                              <m:r>
                                <a:rPr lang="zh-CN" sz="11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x</m:t>
                              </m:r>
                            </m:e>
                            <m:sub>
                              <m:r>
                                <a:rPr lang="zh-CN" sz="11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1</m:t>
                              </m:r>
                            </m:sub>
                          </m:sSub>
                        </m:num>
                        <m:den>
                          <m:sSub>
                            <m:e>
                              <m:r>
                                <a:rPr lang="zh-CN" sz="11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x</m:t>
                              </m:r>
                            </m:e>
                            <m:sub>
                              <m:r>
                                <a:rPr lang="zh-CN" sz="11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0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a:rPr lang="zh-CN" sz="11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−</m:t>
                          </m:r>
                          <m:sSub>
                            <m:e>
                              <m:r>
                                <a:rPr lang="zh-CN" sz="11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x</m:t>
                              </m:r>
                            </m:e>
                            <m:sub>
                              <m:r>
                                <a:rPr lang="zh-CN" sz="11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1</m:t>
                              </m:r>
                            </m:sub>
                          </m:sSub>
                        </m:den>
                      </m:f>
                      <m:r>
                        <a:rPr lang="zh-CN" sz="112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 xml:space="preserve"> </m:t>
                      </m:r>
                      <m:sSub>
                        <m:e>
                          <m:r>
                            <a:rPr lang="zh-CN" sz="11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y</m:t>
                          </m:r>
                        </m:e>
                        <m:sub>
                          <m:r>
                            <a:rPr lang="zh-CN" sz="11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zh-CN" sz="112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+</m:t>
                      </m:r>
                      <m:f>
                        <m:fPr>
                          <m:type m:val="bar"/>
                          <m:ctrlPr>
                            <a:rPr lang="zh-CN" sz="11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Pr>
                        <m:num>
                          <m:r>
                            <a:rPr lang="zh-CN" sz="11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x</m:t>
                          </m:r>
                          <m:r>
                            <m:rPr>
                              <m:sty m:val="p"/>
                            </m:rPr>
                            <a:rPr lang="zh-CN" sz="11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−</m:t>
                          </m:r>
                          <m:sSub>
                            <m:e>
                              <m:r>
                                <a:rPr lang="zh-CN" sz="11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x</m:t>
                              </m:r>
                            </m:e>
                            <m:sub>
                              <m:r>
                                <a:rPr lang="zh-CN" sz="11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0</m:t>
                              </m:r>
                            </m:sub>
                          </m:sSub>
                        </m:num>
                        <m:den>
                          <m:sSub>
                            <m:e>
                              <m:r>
                                <a:rPr lang="zh-CN" sz="11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x</m:t>
                              </m:r>
                            </m:e>
                            <m:sub>
                              <m:r>
                                <a:rPr lang="zh-CN" sz="11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1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a:rPr lang="zh-CN" sz="11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−</m:t>
                          </m:r>
                          <m:sSub>
                            <m:e>
                              <m:r>
                                <a:rPr lang="zh-CN" sz="11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x</m:t>
                              </m:r>
                            </m:e>
                            <m:sub>
                              <m:r>
                                <a:rPr lang="zh-CN" sz="11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0</m:t>
                              </m:r>
                            </m:sub>
                          </m:sSub>
                        </m:den>
                      </m:f>
                      <m:r>
                        <a:rPr lang="zh-CN" sz="112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 xml:space="preserve"> </m:t>
                      </m:r>
                      <m:sSub>
                        <m:e>
                          <m:r>
                            <a:rPr lang="zh-CN" sz="11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y</m:t>
                          </m:r>
                        </m:e>
                        <m:sub>
                          <m:r>
                            <a:rPr lang="zh-CN" sz="11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zh-CN" sz="112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sSub>
                        <m:e>
                          <m:r>
                            <a:rPr lang="zh-CN" sz="11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l</m:t>
                          </m:r>
                        </m:e>
                        <m:sub>
                          <m:r>
                            <a:rPr lang="zh-CN" sz="11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0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 m:val="on"/>
                          <m:ctrlPr>
                            <a:rPr lang="zh-CN" sz="11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a:rPr lang="zh-CN" sz="11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x</m:t>
                          </m:r>
                        </m:e>
                      </m:d>
                      <m:sSub>
                        <m:e>
                          <m:r>
                            <a:rPr lang="zh-CN" sz="11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y</m:t>
                          </m:r>
                        </m:e>
                        <m:sub>
                          <m:r>
                            <a:rPr lang="zh-CN" sz="11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zh-CN" sz="112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+</m:t>
                      </m:r>
                      <m:sSub>
                        <m:e>
                          <m:r>
                            <a:rPr lang="zh-CN" sz="11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l</m:t>
                          </m:r>
                        </m:e>
                        <m:sub>
                          <m:r>
                            <a:rPr lang="zh-CN" sz="11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 m:val="on"/>
                          <m:ctrlPr>
                            <a:rPr lang="zh-CN" sz="11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a:rPr lang="zh-CN" sz="11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x</m:t>
                          </m:r>
                        </m:e>
                      </m:d>
                      <m:sSub>
                        <m:e>
                          <m:r>
                            <a:rPr lang="zh-CN" sz="11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y</m:t>
                          </m:r>
                        </m:e>
                        <m:sub>
                          <m:r>
                            <a:rPr lang="zh-CN" sz="11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</m:t>
                          </m:r>
                        </m:sub>
                      </m:sSub>
                      <m:r>
                        <a:rPr lang="zh-CN" sz="112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 xml:space="preserve"> </m:t>
                      </m:r>
                      <m:d>
                        <m:dPr>
                          <m:begChr m:val="("/>
                          <m:sepChr m:val=""/>
                          <m:endChr m:val=")"/>
                          <m:grow m:val="on"/>
                          <m:ctrlPr>
                            <a:rPr lang="zh-CN" sz="11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a:rPr lang="zh-CN" sz="11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5.2.11</m:t>
                          </m:r>
                        </m:e>
                      </m:d>
                    </m:oMath>
                  </m:oMathPara>
                </a14:m>
              </a:p>
            </p:txBody>
          </p:sp>
        </mc:Choice>
      </mc:AlternateContent>
      <p:grpSp>
        <p:nvGrpSpPr>
          <p:cNvPr id="16" name="c1-kv-4"/>
          <p:cNvGrpSpPr/>
          <p:nvPr/>
        </p:nvGrpSpPr>
        <p:grpSpPr>
          <a:xfrm>
            <a:off x="525780" y="3600450"/>
            <a:ext cx="5417820" cy="733425"/>
            <a:chOff x="525780" y="3600450"/>
            <a:chExt cx="5417820" cy="733425"/>
          </a:xfrm>
        </p:grpSpPr>
        <p:sp>
          <p:nvSpPr>
            <p:cNvPr id="11" name="TextBox 11"/>
            <p:cNvSpPr txBox="1"/>
            <p:nvPr/>
          </p:nvSpPr>
          <p:spPr>
            <a:xfrm>
              <a:off x="525780" y="3600450"/>
              <a:ext cx="545306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0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l₀(x)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1294447" y="3600450"/>
              <a:ext cx="2458593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在 x₀ 处为 1，在 x₁ 处为 0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533400" y="3920490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525780" y="4040505"/>
              <a:ext cx="545306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0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l₁(x)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1294447" y="4040505"/>
              <a:ext cx="2458593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在 x₀ 处为 0，在 x₁ 处为 1</a:t>
              </a:r>
            </a:p>
          </p:txBody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17" name="formula53"/>
              <p:cNvSpPr txBox="1">
                <a:spLocks noGrp="1"/>
              </p:cNvSpPr>
              <p:nvPr/>
            </p:nvSpPr>
            <p:spPr>
              <a:xfrm>
                <a:off x="533400" y="4465320"/>
                <a:ext cx="5410200" cy="56578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lIns="0" tIns="0" rIns="0" bIns="0" wrap="none" anchor="ctr">
                <a:normAutofit/>
              </a:bodyPr>
              <a:lstStyle/>
              <a:p>
                <a:pPr algn="ctr"/>
                <a14:m>
                  <m:oMathPara xmlns:a="http://schemas.openxmlformats.org/drawingml/2006/main"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 m:val="on"/>
                        </m:rPr>
                        <a:rPr lang="zh-CN" sz="165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余项：</m:t>
                      </m:r>
                      <m:r>
                        <a:rPr lang="zh-CN" sz="165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 xml:space="preserve"> </m:t>
                      </m:r>
                      <m:sSub>
                        <m:e>
                          <m:r>
                            <a:rPr lang="zh-CN" sz="16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R</m:t>
                          </m:r>
                        </m:e>
                        <m:sub>
                          <m:r>
                            <a:rPr lang="zh-CN" sz="16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 m:val="on"/>
                          <m:ctrlPr>
                            <a:rPr lang="zh-CN" sz="16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a:rPr lang="zh-CN" sz="16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a:rPr lang="zh-CN" sz="165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f>
                        <m:fPr>
                          <m:type m:val="bar"/>
                          <m:ctrlPr>
                            <a:rPr lang="zh-CN" sz="16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Pr>
                        <m:num>
                          <m:sSup>
                            <m:e>
                              <m:r>
                                <a:rPr lang="zh-CN" sz="165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f</m:t>
                              </m:r>
                            </m:e>
                            <m:sup>
                              <m:r>
                                <m:rPr>
                                  <m:sty m:val="p"/>
                                </m:rPr>
                                <a:rPr lang="zh-CN" sz="165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′′</m:t>
                              </m:r>
                            </m:sup>
                          </m:sSup>
                          <m:d>
                            <m:dPr>
                              <m:begChr m:val="("/>
                              <m:sepChr m:val=""/>
                              <m:endChr m:val=")"/>
                              <m:grow m:val="on"/>
                              <m:ctrlPr>
                                <a:rPr lang="zh-CN" sz="165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r>
                                <a:rPr lang="zh-CN" sz="165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ξ</m:t>
                              </m:r>
                            </m:e>
                          </m:d>
                        </m:num>
                        <m:den>
                          <m:r>
                            <a:rPr lang="zh-CN" sz="16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</m:t>
                          </m:r>
                        </m:den>
                      </m:f>
                      <m:r>
                        <a:rPr lang="zh-CN" sz="165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 xml:space="preserve"> </m:t>
                      </m:r>
                      <m:d>
                        <m:dPr>
                          <m:begChr m:val="("/>
                          <m:sepChr m:val=""/>
                          <m:endChr m:val=")"/>
                          <m:grow m:val="on"/>
                          <m:ctrlPr>
                            <a:rPr lang="zh-CN" sz="16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a:rPr lang="zh-CN" sz="16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x</m:t>
                          </m:r>
                          <m:r>
                            <m:rPr>
                              <m:sty m:val="p"/>
                            </m:rPr>
                            <a:rPr lang="zh-CN" sz="16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−</m:t>
                          </m:r>
                          <m:sSub>
                            <m:e>
                              <m:r>
                                <a:rPr lang="zh-CN" sz="165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x</m:t>
                              </m:r>
                            </m:e>
                            <m:sub>
                              <m:r>
                                <a:rPr lang="zh-CN" sz="165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0</m:t>
                              </m:r>
                            </m:sub>
                          </m:sSub>
                        </m:e>
                      </m:d>
                      <m:d>
                        <m:dPr>
                          <m:begChr m:val="("/>
                          <m:sepChr m:val=""/>
                          <m:endChr m:val=")"/>
                          <m:grow m:val="on"/>
                          <m:ctrlPr>
                            <a:rPr lang="zh-CN" sz="16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a:rPr lang="zh-CN" sz="16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x</m:t>
                          </m:r>
                          <m:r>
                            <m:rPr>
                              <m:sty m:val="p"/>
                            </m:rPr>
                            <a:rPr lang="zh-CN" sz="16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−</m:t>
                          </m:r>
                          <m:sSub>
                            <m:e>
                              <m:r>
                                <a:rPr lang="zh-CN" sz="165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x</m:t>
                              </m:r>
                            </m:e>
                            <m:sub>
                              <m:r>
                                <a:rPr lang="zh-CN" sz="165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</a:p>
            </p:txBody>
          </p:sp>
        </mc:Choice>
      </mc:AlternateContent>
      <p:grpSp>
        <p:nvGrpSpPr>
          <p:cNvPr id="24" name="c1-callout-6"/>
          <p:cNvGrpSpPr/>
          <p:nvPr/>
        </p:nvGrpSpPr>
        <p:grpSpPr>
          <a:xfrm>
            <a:off x="533400" y="5221605"/>
            <a:ext cx="5410200" cy="1059180"/>
            <a:chOff x="533400" y="5221605"/>
            <a:chExt cx="5410200" cy="1059180"/>
          </a:xfrm>
        </p:grpSpPr>
        <p:sp>
          <p:nvSpPr>
            <p:cNvPr id="18" name="Rectangle 18"/>
            <p:cNvSpPr/>
            <p:nvPr/>
          </p:nvSpPr>
          <p:spPr>
            <a:xfrm>
              <a:off x="533400" y="5221605"/>
              <a:ext cx="5410200" cy="1059180"/>
            </a:xfrm>
            <a:prstGeom prst="roundRect">
              <a:avLst>
                <a:gd name="adj" fmla="val 10791"/>
              </a:avLst>
            </a:prstGeom>
            <a:solidFill>
              <a:srgbClr val="FDEEE7"/>
            </a:solidFill>
            <a:ln>
              <a:noFill/>
            </a:ln>
          </p:spPr>
        </p:sp>
        <p:grpSp>
          <p:nvGrpSpPr>
            <p:cNvPr id="22" name="Group 22"/>
            <p:cNvGrpSpPr/>
            <p:nvPr/>
          </p:nvGrpSpPr>
          <p:grpSpPr>
            <a:xfrm>
              <a:off x="738188" y="5651183"/>
              <a:ext cx="200026" cy="200025"/>
              <a:chOff x="738188" y="5651183"/>
              <a:chExt cx="200026" cy="200025"/>
            </a:xfrm>
          </p:grpSpPr>
          <p:sp>
            <p:nvSpPr>
              <p:cNvPr id="19" name="Freeform 19"/>
              <p:cNvSpPr/>
              <p:nvPr/>
            </p:nvSpPr>
            <p:spPr>
              <a:xfrm>
                <a:off x="738188" y="5651183"/>
                <a:ext cx="200026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00013">
                    <a:moveTo>
                      <a:pt x="0" y="100013"/>
                    </a:moveTo>
                    <a:lnTo>
                      <a:pt x="11113" y="100013"/>
                    </a:lnTo>
                    <a:moveTo>
                      <a:pt x="100013" y="0"/>
                    </a:moveTo>
                    <a:lnTo>
                      <a:pt x="100013" y="11113"/>
                    </a:lnTo>
                    <a:moveTo>
                      <a:pt x="188913" y="100013"/>
                    </a:moveTo>
                    <a:lnTo>
                      <a:pt x="200026" y="100013"/>
                    </a:lnTo>
                    <a:moveTo>
                      <a:pt x="28893" y="28893"/>
                    </a:moveTo>
                    <a:lnTo>
                      <a:pt x="36671" y="36671"/>
                    </a:lnTo>
                    <a:moveTo>
                      <a:pt x="171133" y="28893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20" name="Freeform 20"/>
              <p:cNvSpPr/>
              <p:nvPr/>
            </p:nvSpPr>
            <p:spPr>
              <a:xfrm>
                <a:off x="777926" y="5695633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3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3" y="15304"/>
                      <a:pt x="112986" y="37992"/>
                    </a:cubicBezTo>
                    <a:cubicBezTo>
                      <a:pt x="120548" y="60681"/>
                      <a:pt x="112745" y="85663"/>
                      <a:pt x="93612" y="100013"/>
                    </a:cubicBezTo>
                    <a:cubicBezTo>
                      <a:pt x="84812" y="108723"/>
                      <a:pt x="80686" y="121103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3"/>
                      <a:pt x="35736" y="108723"/>
                      <a:pt x="26937" y="100013"/>
                    </a:cubicBez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21" name="Freeform 21"/>
              <p:cNvSpPr/>
              <p:nvPr/>
            </p:nvSpPr>
            <p:spPr>
              <a:xfrm>
                <a:off x="812642" y="5806758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</p:grpSp>
        <p:sp>
          <p:nvSpPr>
            <p:cNvPr id="23" name="TextBox 23"/>
            <p:cNvSpPr txBox="1"/>
            <p:nvPr/>
          </p:nvSpPr>
          <p:spPr>
            <a:xfrm>
              <a:off x="1040130" y="5370195"/>
              <a:ext cx="4511040" cy="8458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l₀、l₁ 相当于权重：x 在 [x₀, x₁] 内（内插）时两者</a:t>
              </a:r>
              <a:br/>
              <a:r>
                <a:rPr lang="zh-CN" sz="15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都在 0 与 1 之间，x 越靠近 x₀，y₀ 的权重越大；x</a:t>
              </a:r>
              <a:br/>
              <a:r>
                <a:rPr lang="zh-CN" sz="15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在区间外（外推）时出现负权重，误差通常更大。</a:t>
              </a:r>
            </a:p>
          </p:txBody>
        </p:sp>
      </p:grpSp>
      <p:grpSp>
        <p:nvGrpSpPr>
          <p:cNvPr id="63" name="c2-graph-1"/>
          <p:cNvGrpSpPr/>
          <p:nvPr/>
        </p:nvGrpSpPr>
        <p:grpSpPr>
          <a:xfrm>
            <a:off x="6362700" y="1619726"/>
            <a:ext cx="5127813" cy="3653791"/>
            <a:chOff x="6362700" y="1619726"/>
            <a:chExt cx="5127813" cy="3653791"/>
          </a:xfrm>
        </p:grpSpPr>
        <p:sp>
          <p:nvSpPr>
            <p:cNvPr id="25" name="Freeform 25"/>
            <p:cNvSpPr/>
            <p:nvPr/>
          </p:nvSpPr>
          <p:spPr>
            <a:xfrm>
              <a:off x="6420802" y="4925378"/>
              <a:ext cx="4916805" cy="9525"/>
            </a:xfrm>
            <a:custGeom>
              <a:avLst/>
              <a:gdLst/>
              <a:ahLst/>
              <a:cxnLst/>
              <a:rect l="l" t="t" r="r" b="b"/>
              <a:pathLst>
                <a:path w="4916805" h="9525">
                  <a:moveTo>
                    <a:pt x="0" y="0"/>
                  </a:moveTo>
                  <a:lnTo>
                    <a:pt x="4916805" y="0"/>
                  </a:lnTo>
                </a:path>
              </a:pathLst>
            </a:custGeom>
            <a:noFill/>
            <a:ln w="13335">
              <a:solidFill>
                <a:srgbClr val="5B6475"/>
              </a:solidFill>
            </a:ln>
          </p:spPr>
        </p:sp>
        <p:sp>
          <p:nvSpPr>
            <p:cNvPr id="26" name="Freeform 26"/>
            <p:cNvSpPr/>
            <p:nvPr/>
          </p:nvSpPr>
          <p:spPr>
            <a:xfrm>
              <a:off x="11337608" y="4877752"/>
              <a:ext cx="95250" cy="95250"/>
            </a:xfrm>
            <a:custGeom>
              <a:avLst/>
              <a:gdLst/>
              <a:ahLst/>
              <a:cxnLst/>
              <a:rect l="l" t="t" r="r" b="b"/>
              <a:pathLst>
                <a:path w="95250" h="95250">
                  <a:moveTo>
                    <a:pt x="95250" y="47625"/>
                  </a:moveTo>
                  <a:lnTo>
                    <a:pt x="0" y="952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27" name="Freeform 27"/>
            <p:cNvSpPr/>
            <p:nvPr/>
          </p:nvSpPr>
          <p:spPr>
            <a:xfrm>
              <a:off x="6410325" y="1846898"/>
              <a:ext cx="9525" cy="3068002"/>
            </a:xfrm>
            <a:custGeom>
              <a:avLst/>
              <a:gdLst/>
              <a:ahLst/>
              <a:cxnLst/>
              <a:rect l="l" t="t" r="r" b="b"/>
              <a:pathLst>
                <a:path w="9525" h="3068002">
                  <a:moveTo>
                    <a:pt x="0" y="3068002"/>
                  </a:moveTo>
                  <a:lnTo>
                    <a:pt x="0" y="0"/>
                  </a:lnTo>
                </a:path>
              </a:pathLst>
            </a:custGeom>
            <a:noFill/>
            <a:ln w="13335">
              <a:solidFill>
                <a:srgbClr val="5B6475"/>
              </a:solidFill>
            </a:ln>
          </p:spPr>
        </p:sp>
        <p:sp>
          <p:nvSpPr>
            <p:cNvPr id="28" name="Freeform 28"/>
            <p:cNvSpPr/>
            <p:nvPr/>
          </p:nvSpPr>
          <p:spPr>
            <a:xfrm>
              <a:off x="6362700" y="1751648"/>
              <a:ext cx="95250" cy="95250"/>
            </a:xfrm>
            <a:custGeom>
              <a:avLst/>
              <a:gdLst/>
              <a:ahLst/>
              <a:cxnLst/>
              <a:rect l="l" t="t" r="r" b="b"/>
              <a:pathLst>
                <a:path w="95250" h="95250">
                  <a:moveTo>
                    <a:pt x="47625" y="0"/>
                  </a:moveTo>
                  <a:lnTo>
                    <a:pt x="95250" y="95250"/>
                  </a:lnTo>
                  <a:lnTo>
                    <a:pt x="0" y="9525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29" name="Freeform 29"/>
            <p:cNvSpPr/>
            <p:nvPr/>
          </p:nvSpPr>
          <p:spPr>
            <a:xfrm>
              <a:off x="6738938" y="2204085"/>
              <a:ext cx="4372927" cy="1704975"/>
            </a:xfrm>
            <a:custGeom>
              <a:avLst/>
              <a:gdLst/>
              <a:ahLst/>
              <a:cxnLst/>
              <a:rect l="l" t="t" r="r" b="b"/>
              <a:pathLst>
                <a:path w="4372927" h="1704975">
                  <a:moveTo>
                    <a:pt x="0" y="902018"/>
                  </a:moveTo>
                  <a:lnTo>
                    <a:pt x="41910" y="857250"/>
                  </a:lnTo>
                  <a:lnTo>
                    <a:pt x="91440" y="805815"/>
                  </a:lnTo>
                  <a:lnTo>
                    <a:pt x="140970" y="754380"/>
                  </a:lnTo>
                  <a:lnTo>
                    <a:pt x="190500" y="704850"/>
                  </a:lnTo>
                  <a:lnTo>
                    <a:pt x="240030" y="655320"/>
                  </a:lnTo>
                  <a:lnTo>
                    <a:pt x="288607" y="606743"/>
                  </a:lnTo>
                  <a:lnTo>
                    <a:pt x="338138" y="559118"/>
                  </a:lnTo>
                  <a:lnTo>
                    <a:pt x="387668" y="513398"/>
                  </a:lnTo>
                  <a:lnTo>
                    <a:pt x="437197" y="468630"/>
                  </a:lnTo>
                  <a:lnTo>
                    <a:pt x="486728" y="424815"/>
                  </a:lnTo>
                  <a:lnTo>
                    <a:pt x="535305" y="382905"/>
                  </a:lnTo>
                  <a:lnTo>
                    <a:pt x="584835" y="343852"/>
                  </a:lnTo>
                  <a:lnTo>
                    <a:pt x="634365" y="304800"/>
                  </a:lnTo>
                  <a:lnTo>
                    <a:pt x="683895" y="268605"/>
                  </a:lnTo>
                  <a:lnTo>
                    <a:pt x="732472" y="234315"/>
                  </a:lnTo>
                  <a:lnTo>
                    <a:pt x="782955" y="201930"/>
                  </a:lnTo>
                  <a:lnTo>
                    <a:pt x="831532" y="171450"/>
                  </a:lnTo>
                  <a:lnTo>
                    <a:pt x="881062" y="143827"/>
                  </a:lnTo>
                  <a:lnTo>
                    <a:pt x="930593" y="118110"/>
                  </a:lnTo>
                  <a:lnTo>
                    <a:pt x="979170" y="95250"/>
                  </a:lnTo>
                  <a:lnTo>
                    <a:pt x="1028700" y="74295"/>
                  </a:lnTo>
                  <a:lnTo>
                    <a:pt x="1078230" y="56198"/>
                  </a:lnTo>
                  <a:lnTo>
                    <a:pt x="1127760" y="40005"/>
                  </a:lnTo>
                  <a:lnTo>
                    <a:pt x="1177290" y="26670"/>
                  </a:lnTo>
                  <a:lnTo>
                    <a:pt x="1225868" y="16192"/>
                  </a:lnTo>
                  <a:lnTo>
                    <a:pt x="1275397" y="8573"/>
                  </a:lnTo>
                  <a:lnTo>
                    <a:pt x="1324928" y="2857"/>
                  </a:lnTo>
                  <a:lnTo>
                    <a:pt x="1374457" y="0"/>
                  </a:lnTo>
                  <a:lnTo>
                    <a:pt x="1423988" y="0"/>
                  </a:lnTo>
                  <a:lnTo>
                    <a:pt x="1472565" y="1905"/>
                  </a:lnTo>
                  <a:lnTo>
                    <a:pt x="1522095" y="7620"/>
                  </a:lnTo>
                  <a:lnTo>
                    <a:pt x="1571625" y="15240"/>
                  </a:lnTo>
                  <a:lnTo>
                    <a:pt x="1621155" y="24765"/>
                  </a:lnTo>
                  <a:lnTo>
                    <a:pt x="1670685" y="38100"/>
                  </a:lnTo>
                  <a:lnTo>
                    <a:pt x="1719262" y="52388"/>
                  </a:lnTo>
                  <a:lnTo>
                    <a:pt x="1768793" y="70485"/>
                  </a:lnTo>
                  <a:lnTo>
                    <a:pt x="1818322" y="90488"/>
                  </a:lnTo>
                  <a:lnTo>
                    <a:pt x="1866900" y="112395"/>
                  </a:lnTo>
                  <a:lnTo>
                    <a:pt x="1917382" y="137160"/>
                  </a:lnTo>
                  <a:lnTo>
                    <a:pt x="1965960" y="163830"/>
                  </a:lnTo>
                  <a:lnTo>
                    <a:pt x="2015490" y="192405"/>
                  </a:lnTo>
                  <a:lnTo>
                    <a:pt x="2065020" y="222885"/>
                  </a:lnTo>
                  <a:lnTo>
                    <a:pt x="2113598" y="255270"/>
                  </a:lnTo>
                  <a:lnTo>
                    <a:pt x="2163128" y="290512"/>
                  </a:lnTo>
                  <a:lnTo>
                    <a:pt x="2212657" y="325755"/>
                  </a:lnTo>
                  <a:lnTo>
                    <a:pt x="2262188" y="363855"/>
                  </a:lnTo>
                  <a:lnTo>
                    <a:pt x="2311718" y="402907"/>
                  </a:lnTo>
                  <a:lnTo>
                    <a:pt x="2360295" y="442912"/>
                  </a:lnTo>
                  <a:lnTo>
                    <a:pt x="2409825" y="484823"/>
                  </a:lnTo>
                  <a:lnTo>
                    <a:pt x="2459355" y="527685"/>
                  </a:lnTo>
                  <a:lnTo>
                    <a:pt x="2508885" y="571500"/>
                  </a:lnTo>
                  <a:lnTo>
                    <a:pt x="2558415" y="616268"/>
                  </a:lnTo>
                  <a:lnTo>
                    <a:pt x="2606993" y="661035"/>
                  </a:lnTo>
                  <a:lnTo>
                    <a:pt x="2656522" y="706755"/>
                  </a:lnTo>
                  <a:lnTo>
                    <a:pt x="2706052" y="753428"/>
                  </a:lnTo>
                  <a:lnTo>
                    <a:pt x="2755582" y="799148"/>
                  </a:lnTo>
                  <a:lnTo>
                    <a:pt x="2805112" y="846772"/>
                  </a:lnTo>
                  <a:lnTo>
                    <a:pt x="2853690" y="893445"/>
                  </a:lnTo>
                  <a:lnTo>
                    <a:pt x="2903220" y="940118"/>
                  </a:lnTo>
                  <a:lnTo>
                    <a:pt x="2952750" y="985837"/>
                  </a:lnTo>
                  <a:lnTo>
                    <a:pt x="3001328" y="1031557"/>
                  </a:lnTo>
                  <a:lnTo>
                    <a:pt x="3051810" y="1077278"/>
                  </a:lnTo>
                  <a:lnTo>
                    <a:pt x="3100388" y="1122045"/>
                  </a:lnTo>
                  <a:lnTo>
                    <a:pt x="3149918" y="1165860"/>
                  </a:lnTo>
                  <a:lnTo>
                    <a:pt x="3199448" y="1209675"/>
                  </a:lnTo>
                  <a:lnTo>
                    <a:pt x="3248025" y="1250632"/>
                  </a:lnTo>
                  <a:lnTo>
                    <a:pt x="3297555" y="1291590"/>
                  </a:lnTo>
                  <a:lnTo>
                    <a:pt x="3347085" y="1331595"/>
                  </a:lnTo>
                  <a:lnTo>
                    <a:pt x="3396615" y="1369695"/>
                  </a:lnTo>
                  <a:lnTo>
                    <a:pt x="3446145" y="1405890"/>
                  </a:lnTo>
                  <a:lnTo>
                    <a:pt x="3494723" y="1440180"/>
                  </a:lnTo>
                  <a:lnTo>
                    <a:pt x="3544252" y="1473518"/>
                  </a:lnTo>
                  <a:lnTo>
                    <a:pt x="3593782" y="1504950"/>
                  </a:lnTo>
                  <a:lnTo>
                    <a:pt x="3643312" y="1533525"/>
                  </a:lnTo>
                  <a:lnTo>
                    <a:pt x="3692843" y="1561148"/>
                  </a:lnTo>
                  <a:lnTo>
                    <a:pt x="3741420" y="1585912"/>
                  </a:lnTo>
                  <a:lnTo>
                    <a:pt x="3790950" y="1608772"/>
                  </a:lnTo>
                  <a:lnTo>
                    <a:pt x="3840480" y="1629728"/>
                  </a:lnTo>
                  <a:lnTo>
                    <a:pt x="3890010" y="1647825"/>
                  </a:lnTo>
                  <a:lnTo>
                    <a:pt x="3939540" y="1663065"/>
                  </a:lnTo>
                  <a:lnTo>
                    <a:pt x="3988118" y="1677352"/>
                  </a:lnTo>
                  <a:lnTo>
                    <a:pt x="4037648" y="1687830"/>
                  </a:lnTo>
                  <a:lnTo>
                    <a:pt x="4087177" y="1695450"/>
                  </a:lnTo>
                  <a:lnTo>
                    <a:pt x="4136707" y="1702118"/>
                  </a:lnTo>
                  <a:lnTo>
                    <a:pt x="4186238" y="1704975"/>
                  </a:lnTo>
                  <a:lnTo>
                    <a:pt x="4234815" y="1704975"/>
                  </a:lnTo>
                  <a:lnTo>
                    <a:pt x="4284345" y="1703070"/>
                  </a:lnTo>
                  <a:lnTo>
                    <a:pt x="4333875" y="1698307"/>
                  </a:lnTo>
                  <a:lnTo>
                    <a:pt x="4372927" y="1692593"/>
                  </a:lnTo>
                </a:path>
              </a:pathLst>
            </a:custGeom>
            <a:noFill/>
            <a:ln w="24765">
              <a:solidFill>
                <a:srgbClr val="1F2937"/>
              </a:solidFill>
            </a:ln>
          </p:spPr>
        </p:sp>
        <p:sp>
          <p:nvSpPr>
            <p:cNvPr id="30" name="Freeform 30"/>
            <p:cNvSpPr/>
            <p:nvPr/>
          </p:nvSpPr>
          <p:spPr>
            <a:xfrm>
              <a:off x="6795135" y="2316480"/>
              <a:ext cx="4210050" cy="1394460"/>
            </a:xfrm>
            <a:custGeom>
              <a:avLst/>
              <a:gdLst/>
              <a:ahLst/>
              <a:cxnLst/>
              <a:rect l="l" t="t" r="r" b="b"/>
              <a:pathLst>
                <a:path w="4210050" h="1394460">
                  <a:moveTo>
                    <a:pt x="0" y="0"/>
                  </a:moveTo>
                  <a:lnTo>
                    <a:pt x="38100" y="12383"/>
                  </a:lnTo>
                  <a:lnTo>
                    <a:pt x="84772" y="28575"/>
                  </a:lnTo>
                  <a:lnTo>
                    <a:pt x="132397" y="43815"/>
                  </a:lnTo>
                  <a:lnTo>
                    <a:pt x="180022" y="60008"/>
                  </a:lnTo>
                  <a:lnTo>
                    <a:pt x="227647" y="75248"/>
                  </a:lnTo>
                  <a:lnTo>
                    <a:pt x="275272" y="91440"/>
                  </a:lnTo>
                  <a:lnTo>
                    <a:pt x="322897" y="106680"/>
                  </a:lnTo>
                  <a:lnTo>
                    <a:pt x="370522" y="122873"/>
                  </a:lnTo>
                  <a:lnTo>
                    <a:pt x="418147" y="138112"/>
                  </a:lnTo>
                  <a:lnTo>
                    <a:pt x="465772" y="154305"/>
                  </a:lnTo>
                  <a:lnTo>
                    <a:pt x="513397" y="169545"/>
                  </a:lnTo>
                  <a:lnTo>
                    <a:pt x="561022" y="185738"/>
                  </a:lnTo>
                  <a:lnTo>
                    <a:pt x="608647" y="200978"/>
                  </a:lnTo>
                  <a:lnTo>
                    <a:pt x="655320" y="217170"/>
                  </a:lnTo>
                  <a:lnTo>
                    <a:pt x="702945" y="233362"/>
                  </a:lnTo>
                  <a:lnTo>
                    <a:pt x="750570" y="248603"/>
                  </a:lnTo>
                  <a:lnTo>
                    <a:pt x="798195" y="263842"/>
                  </a:lnTo>
                  <a:lnTo>
                    <a:pt x="845820" y="280035"/>
                  </a:lnTo>
                  <a:lnTo>
                    <a:pt x="893445" y="296228"/>
                  </a:lnTo>
                  <a:lnTo>
                    <a:pt x="940118" y="311467"/>
                  </a:lnTo>
                  <a:lnTo>
                    <a:pt x="987743" y="327660"/>
                  </a:lnTo>
                  <a:lnTo>
                    <a:pt x="1035368" y="342900"/>
                  </a:lnTo>
                  <a:lnTo>
                    <a:pt x="1082993" y="358140"/>
                  </a:lnTo>
                  <a:lnTo>
                    <a:pt x="1130618" y="374333"/>
                  </a:lnTo>
                  <a:lnTo>
                    <a:pt x="1178243" y="390525"/>
                  </a:lnTo>
                  <a:lnTo>
                    <a:pt x="1225868" y="405765"/>
                  </a:lnTo>
                  <a:lnTo>
                    <a:pt x="1273493" y="421958"/>
                  </a:lnTo>
                  <a:lnTo>
                    <a:pt x="1321118" y="437198"/>
                  </a:lnTo>
                  <a:lnTo>
                    <a:pt x="1368743" y="453390"/>
                  </a:lnTo>
                  <a:lnTo>
                    <a:pt x="1416368" y="469583"/>
                  </a:lnTo>
                  <a:lnTo>
                    <a:pt x="1463993" y="484823"/>
                  </a:lnTo>
                  <a:lnTo>
                    <a:pt x="1511618" y="500062"/>
                  </a:lnTo>
                  <a:lnTo>
                    <a:pt x="1558290" y="516255"/>
                  </a:lnTo>
                  <a:lnTo>
                    <a:pt x="1605915" y="531495"/>
                  </a:lnTo>
                  <a:lnTo>
                    <a:pt x="1653540" y="547688"/>
                  </a:lnTo>
                  <a:lnTo>
                    <a:pt x="1701165" y="563880"/>
                  </a:lnTo>
                  <a:lnTo>
                    <a:pt x="1748790" y="579120"/>
                  </a:lnTo>
                  <a:lnTo>
                    <a:pt x="1796415" y="594360"/>
                  </a:lnTo>
                  <a:lnTo>
                    <a:pt x="1843088" y="610553"/>
                  </a:lnTo>
                  <a:lnTo>
                    <a:pt x="1890712" y="626745"/>
                  </a:lnTo>
                  <a:lnTo>
                    <a:pt x="1938338" y="641985"/>
                  </a:lnTo>
                  <a:lnTo>
                    <a:pt x="1985962" y="658178"/>
                  </a:lnTo>
                  <a:lnTo>
                    <a:pt x="2033588" y="673417"/>
                  </a:lnTo>
                  <a:lnTo>
                    <a:pt x="2081212" y="689610"/>
                  </a:lnTo>
                  <a:lnTo>
                    <a:pt x="2128838" y="704850"/>
                  </a:lnTo>
                  <a:lnTo>
                    <a:pt x="2176462" y="721042"/>
                  </a:lnTo>
                  <a:lnTo>
                    <a:pt x="2224088" y="736283"/>
                  </a:lnTo>
                  <a:lnTo>
                    <a:pt x="2271712" y="752475"/>
                  </a:lnTo>
                  <a:lnTo>
                    <a:pt x="2319338" y="767715"/>
                  </a:lnTo>
                  <a:lnTo>
                    <a:pt x="2366962" y="783908"/>
                  </a:lnTo>
                  <a:lnTo>
                    <a:pt x="2414588" y="799148"/>
                  </a:lnTo>
                  <a:lnTo>
                    <a:pt x="2461260" y="815340"/>
                  </a:lnTo>
                  <a:lnTo>
                    <a:pt x="2508885" y="830580"/>
                  </a:lnTo>
                  <a:lnTo>
                    <a:pt x="2556510" y="846773"/>
                  </a:lnTo>
                  <a:lnTo>
                    <a:pt x="2604135" y="862965"/>
                  </a:lnTo>
                  <a:lnTo>
                    <a:pt x="2651760" y="878205"/>
                  </a:lnTo>
                  <a:lnTo>
                    <a:pt x="2699385" y="894398"/>
                  </a:lnTo>
                  <a:lnTo>
                    <a:pt x="2746058" y="909638"/>
                  </a:lnTo>
                  <a:lnTo>
                    <a:pt x="2793683" y="925830"/>
                  </a:lnTo>
                  <a:lnTo>
                    <a:pt x="2841308" y="941070"/>
                  </a:lnTo>
                  <a:lnTo>
                    <a:pt x="2888933" y="957262"/>
                  </a:lnTo>
                  <a:lnTo>
                    <a:pt x="2936558" y="972503"/>
                  </a:lnTo>
                  <a:lnTo>
                    <a:pt x="2984183" y="988695"/>
                  </a:lnTo>
                  <a:lnTo>
                    <a:pt x="3031808" y="1003935"/>
                  </a:lnTo>
                  <a:lnTo>
                    <a:pt x="3079433" y="1020128"/>
                  </a:lnTo>
                  <a:lnTo>
                    <a:pt x="3127058" y="1035367"/>
                  </a:lnTo>
                  <a:lnTo>
                    <a:pt x="3174683" y="1051560"/>
                  </a:lnTo>
                  <a:lnTo>
                    <a:pt x="3222308" y="1066800"/>
                  </a:lnTo>
                  <a:lnTo>
                    <a:pt x="3269933" y="1082992"/>
                  </a:lnTo>
                  <a:lnTo>
                    <a:pt x="3316605" y="1099185"/>
                  </a:lnTo>
                  <a:lnTo>
                    <a:pt x="3364230" y="1114425"/>
                  </a:lnTo>
                  <a:lnTo>
                    <a:pt x="3411855" y="1129665"/>
                  </a:lnTo>
                  <a:lnTo>
                    <a:pt x="3459480" y="1145858"/>
                  </a:lnTo>
                  <a:lnTo>
                    <a:pt x="3507105" y="1162050"/>
                  </a:lnTo>
                  <a:lnTo>
                    <a:pt x="3554730" y="1177290"/>
                  </a:lnTo>
                  <a:lnTo>
                    <a:pt x="3602355" y="1193482"/>
                  </a:lnTo>
                  <a:lnTo>
                    <a:pt x="3649028" y="1208723"/>
                  </a:lnTo>
                  <a:lnTo>
                    <a:pt x="3696652" y="1223962"/>
                  </a:lnTo>
                  <a:lnTo>
                    <a:pt x="3744278" y="1240155"/>
                  </a:lnTo>
                  <a:lnTo>
                    <a:pt x="3791902" y="1256348"/>
                  </a:lnTo>
                  <a:lnTo>
                    <a:pt x="3839528" y="1271588"/>
                  </a:lnTo>
                  <a:lnTo>
                    <a:pt x="3887152" y="1287780"/>
                  </a:lnTo>
                  <a:lnTo>
                    <a:pt x="3934778" y="1303020"/>
                  </a:lnTo>
                  <a:lnTo>
                    <a:pt x="3982402" y="1319212"/>
                  </a:lnTo>
                  <a:lnTo>
                    <a:pt x="4030028" y="1335405"/>
                  </a:lnTo>
                  <a:lnTo>
                    <a:pt x="4077652" y="1350645"/>
                  </a:lnTo>
                  <a:lnTo>
                    <a:pt x="4125278" y="1365885"/>
                  </a:lnTo>
                  <a:lnTo>
                    <a:pt x="4172902" y="1382078"/>
                  </a:lnTo>
                  <a:lnTo>
                    <a:pt x="4210050" y="1394460"/>
                  </a:lnTo>
                </a:path>
              </a:pathLst>
            </a:custGeom>
            <a:noFill/>
            <a:ln w="24765">
              <a:solidFill>
                <a:srgbClr val="F26B3A"/>
              </a:solidFill>
            </a:ln>
          </p:spPr>
        </p:sp>
        <p:sp>
          <p:nvSpPr>
            <p:cNvPr id="31" name="Freeform 31"/>
            <p:cNvSpPr/>
            <p:nvPr/>
          </p:nvSpPr>
          <p:spPr>
            <a:xfrm>
              <a:off x="7374255" y="2518410"/>
              <a:ext cx="9525" cy="2396490"/>
            </a:xfrm>
            <a:custGeom>
              <a:avLst/>
              <a:gdLst/>
              <a:ahLst/>
              <a:cxnLst/>
              <a:rect l="l" t="t" r="r" b="b"/>
              <a:pathLst>
                <a:path w="9525" h="2396490">
                  <a:moveTo>
                    <a:pt x="0" y="2396490"/>
                  </a:moveTo>
                  <a:lnTo>
                    <a:pt x="0" y="0"/>
                  </a:lnTo>
                </a:path>
              </a:pathLst>
            </a:custGeom>
            <a:noFill/>
            <a:ln w="11430">
              <a:solidFill>
                <a:srgbClr val="5B6475"/>
              </a:solidFill>
              <a:custDash>
                <a:ds d="500000" sp="333333"/>
              </a:custDash>
            </a:ln>
          </p:spPr>
        </p:sp>
        <p:sp>
          <p:nvSpPr>
            <p:cNvPr id="32" name="Freeform 32"/>
            <p:cNvSpPr/>
            <p:nvPr/>
          </p:nvSpPr>
          <p:spPr>
            <a:xfrm>
              <a:off x="9837420" y="3334702"/>
              <a:ext cx="9525" cy="1580197"/>
            </a:xfrm>
            <a:custGeom>
              <a:avLst/>
              <a:gdLst/>
              <a:ahLst/>
              <a:cxnLst/>
              <a:rect l="l" t="t" r="r" b="b"/>
              <a:pathLst>
                <a:path w="9525" h="1580197">
                  <a:moveTo>
                    <a:pt x="0" y="1580197"/>
                  </a:moveTo>
                  <a:lnTo>
                    <a:pt x="0" y="0"/>
                  </a:lnTo>
                </a:path>
              </a:pathLst>
            </a:custGeom>
            <a:noFill/>
            <a:ln w="11430">
              <a:solidFill>
                <a:srgbClr val="5B6475"/>
              </a:solidFill>
              <a:custDash>
                <a:ds d="500000" sp="333333"/>
              </a:custDash>
            </a:ln>
          </p:spPr>
        </p:sp>
        <p:sp>
          <p:nvSpPr>
            <p:cNvPr id="33" name="Freeform 33"/>
            <p:cNvSpPr/>
            <p:nvPr/>
          </p:nvSpPr>
          <p:spPr>
            <a:xfrm>
              <a:off x="8444865" y="2263140"/>
              <a:ext cx="9525" cy="2651760"/>
            </a:xfrm>
            <a:custGeom>
              <a:avLst/>
              <a:gdLst/>
              <a:ahLst/>
              <a:cxnLst/>
              <a:rect l="l" t="t" r="r" b="b"/>
              <a:pathLst>
                <a:path w="9525" h="2651760">
                  <a:moveTo>
                    <a:pt x="0" y="2651760"/>
                  </a:moveTo>
                  <a:lnTo>
                    <a:pt x="0" y="0"/>
                  </a:lnTo>
                </a:path>
              </a:pathLst>
            </a:custGeom>
            <a:noFill/>
            <a:ln w="13335">
              <a:solidFill>
                <a:srgbClr val="B42318"/>
              </a:solidFill>
              <a:custDash>
                <a:ds d="428571" sp="285714"/>
              </a:custDash>
            </a:ln>
          </p:spPr>
        </p:sp>
        <p:sp>
          <p:nvSpPr>
            <p:cNvPr id="34" name="Ellipse 34"/>
            <p:cNvSpPr/>
            <p:nvPr/>
          </p:nvSpPr>
          <p:spPr>
            <a:xfrm>
              <a:off x="6409372" y="4924425"/>
              <a:ext cx="1905" cy="1905"/>
            </a:xfrm>
            <a:prstGeom prst="ellipse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5" name="Ellipse 35"/>
            <p:cNvSpPr/>
            <p:nvPr/>
          </p:nvSpPr>
          <p:spPr>
            <a:xfrm>
              <a:off x="11442383" y="4924425"/>
              <a:ext cx="1905" cy="1905"/>
            </a:xfrm>
            <a:prstGeom prst="ellipse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6" name="Ellipse 36"/>
            <p:cNvSpPr/>
            <p:nvPr/>
          </p:nvSpPr>
          <p:spPr>
            <a:xfrm>
              <a:off x="6409372" y="4924425"/>
              <a:ext cx="1905" cy="1905"/>
            </a:xfrm>
            <a:prstGeom prst="ellipse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7" name="Ellipse 37"/>
            <p:cNvSpPr/>
            <p:nvPr/>
          </p:nvSpPr>
          <p:spPr>
            <a:xfrm>
              <a:off x="6409372" y="1740218"/>
              <a:ext cx="1905" cy="1905"/>
            </a:xfrm>
            <a:prstGeom prst="ellipse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8" name="Ellipse 38"/>
            <p:cNvSpPr/>
            <p:nvPr/>
          </p:nvSpPr>
          <p:spPr>
            <a:xfrm>
              <a:off x="6731317" y="3112770"/>
              <a:ext cx="1905" cy="1905"/>
            </a:xfrm>
            <a:prstGeom prst="ellipse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9" name="Ellipse 39"/>
            <p:cNvSpPr/>
            <p:nvPr/>
          </p:nvSpPr>
          <p:spPr>
            <a:xfrm>
              <a:off x="11121390" y="3893820"/>
              <a:ext cx="1905" cy="1905"/>
            </a:xfrm>
            <a:prstGeom prst="ellipse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0" name="Ellipse 40"/>
            <p:cNvSpPr/>
            <p:nvPr/>
          </p:nvSpPr>
          <p:spPr>
            <a:xfrm>
              <a:off x="6784658" y="2312670"/>
              <a:ext cx="1905" cy="1905"/>
            </a:xfrm>
            <a:prstGeom prst="ellipse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1" name="Ellipse 41"/>
            <p:cNvSpPr/>
            <p:nvPr/>
          </p:nvSpPr>
          <p:spPr>
            <a:xfrm>
              <a:off x="11013758" y="3712845"/>
              <a:ext cx="1905" cy="1905"/>
            </a:xfrm>
            <a:prstGeom prst="ellipse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2" name="Ellipse 42"/>
            <p:cNvSpPr/>
            <p:nvPr/>
          </p:nvSpPr>
          <p:spPr>
            <a:xfrm>
              <a:off x="7373302" y="4924425"/>
              <a:ext cx="1905" cy="1905"/>
            </a:xfrm>
            <a:prstGeom prst="ellipse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3" name="Ellipse 43"/>
            <p:cNvSpPr/>
            <p:nvPr/>
          </p:nvSpPr>
          <p:spPr>
            <a:xfrm>
              <a:off x="7373302" y="2506980"/>
              <a:ext cx="1905" cy="1905"/>
            </a:xfrm>
            <a:prstGeom prst="ellipse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4" name="Ellipse 44"/>
            <p:cNvSpPr/>
            <p:nvPr/>
          </p:nvSpPr>
          <p:spPr>
            <a:xfrm>
              <a:off x="7326630" y="2460308"/>
              <a:ext cx="95250" cy="9525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45" name="Ellipse 45"/>
            <p:cNvSpPr/>
            <p:nvPr/>
          </p:nvSpPr>
          <p:spPr>
            <a:xfrm>
              <a:off x="9836468" y="4924425"/>
              <a:ext cx="1905" cy="1905"/>
            </a:xfrm>
            <a:prstGeom prst="ellipse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6" name="Ellipse 46"/>
            <p:cNvSpPr/>
            <p:nvPr/>
          </p:nvSpPr>
          <p:spPr>
            <a:xfrm>
              <a:off x="9836468" y="3323272"/>
              <a:ext cx="1905" cy="1905"/>
            </a:xfrm>
            <a:prstGeom prst="ellipse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7" name="Ellipse 47"/>
            <p:cNvSpPr/>
            <p:nvPr/>
          </p:nvSpPr>
          <p:spPr>
            <a:xfrm>
              <a:off x="9789795" y="3276600"/>
              <a:ext cx="95250" cy="9525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48" name="Ellipse 48"/>
            <p:cNvSpPr/>
            <p:nvPr/>
          </p:nvSpPr>
          <p:spPr>
            <a:xfrm>
              <a:off x="8443912" y="4924425"/>
              <a:ext cx="1905" cy="1905"/>
            </a:xfrm>
            <a:prstGeom prst="ellipse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9" name="Ellipse 49"/>
            <p:cNvSpPr/>
            <p:nvPr/>
          </p:nvSpPr>
          <p:spPr>
            <a:xfrm>
              <a:off x="8443912" y="2251710"/>
              <a:ext cx="1905" cy="1905"/>
            </a:xfrm>
            <a:prstGeom prst="ellipse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0" name="Ellipse 50"/>
            <p:cNvSpPr/>
            <p:nvPr/>
          </p:nvSpPr>
          <p:spPr>
            <a:xfrm>
              <a:off x="8406765" y="2214562"/>
              <a:ext cx="76200" cy="76200"/>
            </a:xfrm>
            <a:prstGeom prst="ellipse">
              <a:avLst/>
            </a:prstGeom>
            <a:solidFill>
              <a:srgbClr val="1F2937"/>
            </a:solidFill>
            <a:ln>
              <a:noFill/>
            </a:ln>
          </p:spPr>
        </p:sp>
        <p:sp>
          <p:nvSpPr>
            <p:cNvPr id="51" name="Ellipse 51"/>
            <p:cNvSpPr/>
            <p:nvPr/>
          </p:nvSpPr>
          <p:spPr>
            <a:xfrm>
              <a:off x="8406765" y="2825115"/>
              <a:ext cx="76200" cy="76200"/>
            </a:xfrm>
            <a:prstGeom prst="ellipse">
              <a:avLst/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52" name="TextBox 52"/>
            <p:cNvSpPr txBox="1"/>
            <p:nvPr/>
          </p:nvSpPr>
          <p:spPr>
            <a:xfrm>
              <a:off x="11396157" y="4999196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x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6534150" y="1619726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y</a:t>
              </a:r>
            </a:p>
          </p:txBody>
        </p:sp>
        <p:sp>
          <p:nvSpPr>
            <p:cNvPr id="54" name="TextBox 54"/>
            <p:cNvSpPr txBox="1"/>
            <p:nvPr/>
          </p:nvSpPr>
          <p:spPr>
            <a:xfrm>
              <a:off x="7285614" y="5053489"/>
              <a:ext cx="17728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x₀</a:t>
              </a:r>
            </a:p>
          </p:txBody>
        </p:sp>
        <p:sp>
          <p:nvSpPr>
            <p:cNvPr id="55" name="TextBox 55"/>
            <p:cNvSpPr txBox="1"/>
            <p:nvPr/>
          </p:nvSpPr>
          <p:spPr>
            <a:xfrm>
              <a:off x="7074101" y="2187416"/>
              <a:ext cx="17728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y₀</a:t>
              </a:r>
            </a:p>
          </p:txBody>
        </p:sp>
        <p:sp>
          <p:nvSpPr>
            <p:cNvPr id="56" name="TextBox 56"/>
            <p:cNvSpPr txBox="1"/>
            <p:nvPr/>
          </p:nvSpPr>
          <p:spPr>
            <a:xfrm>
              <a:off x="9748779" y="5053489"/>
              <a:ext cx="17728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x₁</a:t>
              </a:r>
            </a:p>
          </p:txBody>
        </p:sp>
        <p:sp>
          <p:nvSpPr>
            <p:cNvPr id="57" name="TextBox 57"/>
            <p:cNvSpPr txBox="1"/>
            <p:nvPr/>
          </p:nvSpPr>
          <p:spPr>
            <a:xfrm>
              <a:off x="9537266" y="3002756"/>
              <a:ext cx="17728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y₁</a:t>
              </a:r>
            </a:p>
          </p:txBody>
        </p:sp>
        <p:sp>
          <p:nvSpPr>
            <p:cNvPr id="58" name="TextBox 58"/>
            <p:cNvSpPr txBox="1"/>
            <p:nvPr/>
          </p:nvSpPr>
          <p:spPr>
            <a:xfrm>
              <a:off x="8352078" y="5053489"/>
              <a:ext cx="1855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x′</a:t>
              </a:r>
            </a:p>
          </p:txBody>
        </p:sp>
        <p:sp>
          <p:nvSpPr>
            <p:cNvPr id="59" name="TextBox 59"/>
            <p:cNvSpPr txBox="1"/>
            <p:nvPr/>
          </p:nvSpPr>
          <p:spPr>
            <a:xfrm>
              <a:off x="8547164" y="1965007"/>
              <a:ext cx="39938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f(x′)</a:t>
              </a:r>
            </a:p>
          </p:txBody>
        </p:sp>
        <p:sp>
          <p:nvSpPr>
            <p:cNvPr id="60" name="TextBox 60"/>
            <p:cNvSpPr txBox="1"/>
            <p:nvPr/>
          </p:nvSpPr>
          <p:spPr>
            <a:xfrm>
              <a:off x="8547164" y="2899410"/>
              <a:ext cx="4903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L₁(x′)</a:t>
              </a:r>
            </a:p>
          </p:txBody>
        </p:sp>
        <p:sp>
          <p:nvSpPr>
            <p:cNvPr id="61" name="TextBox 61"/>
            <p:cNvSpPr txBox="1"/>
            <p:nvPr/>
          </p:nvSpPr>
          <p:spPr>
            <a:xfrm>
              <a:off x="10552546" y="4022884"/>
              <a:ext cx="6288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y = f(x)</a:t>
              </a:r>
            </a:p>
          </p:txBody>
        </p:sp>
        <p:sp>
          <p:nvSpPr>
            <p:cNvPr id="62" name="TextBox 62"/>
            <p:cNvSpPr txBox="1"/>
            <p:nvPr/>
          </p:nvSpPr>
          <p:spPr>
            <a:xfrm>
              <a:off x="10344549" y="3342799"/>
              <a:ext cx="72921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112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y = L₁(x)</a:t>
              </a:r>
            </a:p>
          </p:txBody>
        </p:sp>
      </p:grpSp>
      <p:grpSp>
        <p:nvGrpSpPr>
          <p:cNvPr id="70" name="c2-callout-2"/>
          <p:cNvGrpSpPr/>
          <p:nvPr/>
        </p:nvGrpSpPr>
        <p:grpSpPr>
          <a:xfrm>
            <a:off x="6248400" y="5579745"/>
            <a:ext cx="5410200" cy="782955"/>
            <a:chOff x="6248400" y="5579745"/>
            <a:chExt cx="5410200" cy="782955"/>
          </a:xfrm>
        </p:grpSpPr>
        <p:sp>
          <p:nvSpPr>
            <p:cNvPr id="64" name="Rectangle 64"/>
            <p:cNvSpPr/>
            <p:nvPr/>
          </p:nvSpPr>
          <p:spPr>
            <a:xfrm>
              <a:off x="6248400" y="5579745"/>
              <a:ext cx="5410200" cy="782955"/>
            </a:xfrm>
            <a:prstGeom prst="roundRect">
              <a:avLst>
                <a:gd name="adj" fmla="val 14599"/>
              </a:avLst>
            </a:prstGeom>
            <a:solidFill>
              <a:srgbClr val="F4F6FB"/>
            </a:solidFill>
            <a:ln>
              <a:noFill/>
            </a:ln>
          </p:spPr>
        </p:sp>
        <p:grpSp>
          <p:nvGrpSpPr>
            <p:cNvPr id="68" name="Group 68"/>
            <p:cNvGrpSpPr/>
            <p:nvPr/>
          </p:nvGrpSpPr>
          <p:grpSpPr>
            <a:xfrm>
              <a:off x="6453188" y="5871210"/>
              <a:ext cx="200026" cy="200026"/>
              <a:chOff x="6453188" y="5871210"/>
              <a:chExt cx="200026" cy="200026"/>
            </a:xfrm>
          </p:grpSpPr>
          <p:sp>
            <p:nvSpPr>
              <p:cNvPr id="65" name="Freeform 65"/>
              <p:cNvSpPr/>
              <p:nvPr/>
            </p:nvSpPr>
            <p:spPr>
              <a:xfrm>
                <a:off x="6453188" y="5871210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66" name="Freeform 66"/>
              <p:cNvSpPr/>
              <p:nvPr/>
            </p:nvSpPr>
            <p:spPr>
              <a:xfrm>
                <a:off x="6553200" y="5937885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67" name="Freeform 67"/>
              <p:cNvSpPr/>
              <p:nvPr/>
            </p:nvSpPr>
            <p:spPr>
              <a:xfrm>
                <a:off x="6542088" y="5971223"/>
                <a:ext cx="222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22225" h="44450">
                    <a:moveTo>
                      <a:pt x="0" y="0"/>
                    </a:moveTo>
                    <a:lnTo>
                      <a:pt x="11113" y="0"/>
                    </a:lnTo>
                    <a:lnTo>
                      <a:pt x="11113" y="44450"/>
                    </a:lnTo>
                    <a:lnTo>
                      <a:pt x="22225" y="4445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</p:grpSp>
        <p:sp>
          <p:nvSpPr>
            <p:cNvPr id="69" name="TextBox 69"/>
            <p:cNvSpPr txBox="1"/>
            <p:nvPr/>
          </p:nvSpPr>
          <p:spPr>
            <a:xfrm>
              <a:off x="6755130" y="5728335"/>
              <a:ext cx="4463415" cy="5695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用 L₁(x′) 近似 f(x′)，x′ 处直线与曲线之间的竖直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距离就是误差 R₁(x′)。</a:t>
              </a:r>
            </a:p>
          </p:txBody>
        </p:sp>
      </p:grpSp>
      <p:grpSp>
        <p:nvGrpSpPr>
          <p:cNvPr id="73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71" name="TextBox 71"/>
            <p:cNvSpPr txBox="1"/>
            <p:nvPr/>
          </p:nvSpPr>
          <p:spPr>
            <a:xfrm>
              <a:off x="528447" y="6581299"/>
              <a:ext cx="225267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计算方法 · 第5章 函数插值与曲线拟合</a:t>
              </a:r>
            </a:p>
          </p:txBody>
        </p:sp>
        <p:sp>
          <p:nvSpPr>
            <p:cNvPr id="72" name="TextBox 72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12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6329405" cy="909257"/>
            <a:chOff x="520446" y="342900"/>
            <a:chExt cx="6329405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272665" cy="266700"/>
            </a:xfrm>
            <a:prstGeom prst="roundRect">
              <a:avLst>
                <a:gd name="adj" fmla="val 50000"/>
              </a:avLst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01058" y="407194"/>
              <a:ext cx="213734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第5章 函数插值 · 拉格朗日插值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6329405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抛物线插值（n = 2）：过三点作二次曲线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E7D4F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c1-text-1"/>
          <p:cNvGrpSpPr/>
          <p:nvPr/>
        </p:nvGrpSpPr>
        <p:grpSpPr>
          <a:xfrm>
            <a:off x="525780" y="1548765"/>
            <a:ext cx="4853940" cy="588645"/>
            <a:chOff x="525780" y="1548765"/>
            <a:chExt cx="4853940" cy="588645"/>
          </a:xfrm>
        </p:grpSpPr>
        <p:sp>
          <p:nvSpPr>
            <p:cNvPr id="7" name="TextBox 7"/>
            <p:cNvSpPr txBox="1"/>
            <p:nvPr/>
          </p:nvSpPr>
          <p:spPr>
            <a:xfrm>
              <a:off x="525780" y="1548765"/>
              <a:ext cx="4853940" cy="58864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325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已知三个点 (xᵢ, yᵢ)（i = 0, 1, 2），求次数不超过 2 的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L₂(x)，使 L₂(xᵢ) = yᵢ：</a:t>
              </a:r>
            </a:p>
          </p:txBody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formula58"/>
              <p:cNvSpPr txBox="1">
                <a:spLocks noGrp="1"/>
              </p:cNvSpPr>
              <p:nvPr/>
            </p:nvSpPr>
            <p:spPr>
              <a:xfrm>
                <a:off x="533400" y="2268855"/>
                <a:ext cx="5735002" cy="419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lIns="0" tIns="0" rIns="0" bIns="0" wrap="none" anchor="ctr">
                <a:normAutofit/>
              </a:bodyPr>
              <a:lstStyle/>
              <a:p>
                <a:pPr algn="ctr"/>
                <a14:m>
                  <m:oMathPara xmlns:a="http://schemas.openxmlformats.org/drawingml/2006/main"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a:rPr lang="zh-CN" sz="16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L</m:t>
                          </m:r>
                        </m:e>
                        <m:sub>
                          <m:r>
                            <a:rPr lang="zh-CN" sz="16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 m:val="on"/>
                          <m:ctrlPr>
                            <a:rPr lang="zh-CN" sz="16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a:rPr lang="zh-CN" sz="16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a:rPr lang="zh-CN" sz="165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sSub>
                        <m:e>
                          <m:r>
                            <a:rPr lang="zh-CN" sz="16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l</m:t>
                          </m:r>
                        </m:e>
                        <m:sub>
                          <m:r>
                            <a:rPr lang="zh-CN" sz="16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0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 m:val="on"/>
                          <m:ctrlPr>
                            <a:rPr lang="zh-CN" sz="16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a:rPr lang="zh-CN" sz="16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x</m:t>
                          </m:r>
                        </m:e>
                      </m:d>
                      <m:r>
                        <a:rPr lang="zh-CN" sz="165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 xml:space="preserve"> </m:t>
                      </m:r>
                      <m:sSub>
                        <m:e>
                          <m:r>
                            <a:rPr lang="zh-CN" sz="16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y</m:t>
                          </m:r>
                        </m:e>
                        <m:sub>
                          <m:r>
                            <a:rPr lang="zh-CN" sz="16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zh-CN" sz="165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+</m:t>
                      </m:r>
                      <m:sSub>
                        <m:e>
                          <m:r>
                            <a:rPr lang="zh-CN" sz="16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l</m:t>
                          </m:r>
                        </m:e>
                        <m:sub>
                          <m:r>
                            <a:rPr lang="zh-CN" sz="16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 m:val="on"/>
                          <m:ctrlPr>
                            <a:rPr lang="zh-CN" sz="16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a:rPr lang="zh-CN" sz="16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x</m:t>
                          </m:r>
                        </m:e>
                      </m:d>
                      <m:r>
                        <a:rPr lang="zh-CN" sz="165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 xml:space="preserve"> </m:t>
                      </m:r>
                      <m:sSub>
                        <m:e>
                          <m:r>
                            <a:rPr lang="zh-CN" sz="16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y</m:t>
                          </m:r>
                        </m:e>
                        <m:sub>
                          <m:r>
                            <a:rPr lang="zh-CN" sz="16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zh-CN" sz="165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+</m:t>
                      </m:r>
                      <m:sSub>
                        <m:e>
                          <m:r>
                            <a:rPr lang="zh-CN" sz="16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l</m:t>
                          </m:r>
                        </m:e>
                        <m:sub>
                          <m:r>
                            <a:rPr lang="zh-CN" sz="16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 m:val="on"/>
                          <m:ctrlPr>
                            <a:rPr lang="zh-CN" sz="16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a:rPr lang="zh-CN" sz="16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x</m:t>
                          </m:r>
                        </m:e>
                      </m:d>
                      <m:r>
                        <a:rPr lang="zh-CN" sz="165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 xml:space="preserve"> </m:t>
                      </m:r>
                      <m:sSub>
                        <m:e>
                          <m:r>
                            <a:rPr lang="zh-CN" sz="16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y</m:t>
                          </m:r>
                        </m:e>
                        <m:sub>
                          <m:r>
                            <a:rPr lang="zh-CN" sz="16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</m:t>
                          </m:r>
                        </m:sub>
                      </m:sSub>
                      <m:r>
                        <a:rPr lang="zh-CN" sz="165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 xml:space="preserve">  </m:t>
                      </m:r>
                      <m:d>
                        <m:dPr>
                          <m:begChr m:val="("/>
                          <m:sepChr m:val=""/>
                          <m:endChr m:val=")"/>
                          <m:grow m:val="on"/>
                          <m:ctrlPr>
                            <a:rPr lang="zh-CN" sz="16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a:rPr lang="zh-CN" sz="16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5.2.12</m:t>
                          </m:r>
                        </m:e>
                      </m:d>
                    </m:oMath>
                  </m:oMathPara>
                </a14:m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0" name="formula59"/>
              <p:cNvSpPr txBox="1">
                <a:spLocks noGrp="1"/>
              </p:cNvSpPr>
              <p:nvPr/>
            </p:nvSpPr>
            <p:spPr>
              <a:xfrm>
                <a:off x="533400" y="2878455"/>
                <a:ext cx="5735002" cy="5143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lIns="0" tIns="0" rIns="0" bIns="0" wrap="none" anchor="ctr">
                <a:normAutofit/>
              </a:bodyPr>
              <a:lstStyle/>
              <a:p>
                <a:pPr algn="ctr"/>
                <a14:m>
                  <m:oMathPara xmlns:a="http://schemas.openxmlformats.org/drawingml/2006/main"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a:rPr lang="zh-CN" sz="15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l</m:t>
                          </m:r>
                        </m:e>
                        <m:sub>
                          <m:r>
                            <a:rPr lang="zh-CN" sz="15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0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 m:val="on"/>
                          <m:ctrlPr>
                            <a:rPr lang="zh-CN" sz="15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a:rPr lang="zh-CN" sz="15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a:rPr lang="zh-CN" sz="150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f>
                        <m:fPr>
                          <m:type m:val="bar"/>
                          <m:ctrlPr>
                            <a:rPr lang="zh-CN" sz="15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Pr>
                        <m:num>
                          <m:d>
                            <m:dPr>
                              <m:begChr m:val="("/>
                              <m:sepChr m:val=""/>
                              <m:endChr m:val=")"/>
                              <m:grow m:val="on"/>
                              <m:ctrlPr>
                                <a:rPr lang="zh-CN" sz="15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r>
                                <a:rPr lang="zh-CN" sz="15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a:rPr lang="zh-CN" sz="15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−</m:t>
                              </m:r>
                              <m:sSub>
                                <m:e>
                                  <m:r>
                                    <a:rPr lang="zh-CN" sz="150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x</m:t>
                                  </m:r>
                                </m:e>
                                <m:sub>
                                  <m:r>
                                    <a:rPr lang="zh-CN" sz="150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d>
                          <m:d>
                            <m:dPr>
                              <m:begChr m:val="("/>
                              <m:sepChr m:val=""/>
                              <m:endChr m:val=")"/>
                              <m:grow m:val="on"/>
                              <m:ctrlPr>
                                <a:rPr lang="zh-CN" sz="15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r>
                                <a:rPr lang="zh-CN" sz="15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a:rPr lang="zh-CN" sz="15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−</m:t>
                              </m:r>
                              <m:sSub>
                                <m:e>
                                  <m:r>
                                    <a:rPr lang="zh-CN" sz="150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x</m:t>
                                  </m:r>
                                </m:e>
                                <m:sub>
                                  <m:r>
                                    <a:rPr lang="zh-CN" sz="150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d>
                        </m:num>
                        <m:den>
                          <m:d>
                            <m:dPr>
                              <m:begChr m:val="("/>
                              <m:sepChr m:val=""/>
                              <m:endChr m:val=")"/>
                              <m:grow m:val="on"/>
                              <m:ctrlPr>
                                <a:rPr lang="zh-CN" sz="15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sSub>
                                <m:e>
                                  <m:r>
                                    <a:rPr lang="zh-CN" sz="150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x</m:t>
                                  </m:r>
                                </m:e>
                                <m:sub>
                                  <m:r>
                                    <a:rPr lang="zh-CN" sz="150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0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a:rPr lang="zh-CN" sz="15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−</m:t>
                              </m:r>
                              <m:sSub>
                                <m:e>
                                  <m:r>
                                    <a:rPr lang="zh-CN" sz="150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x</m:t>
                                  </m:r>
                                </m:e>
                                <m:sub>
                                  <m:r>
                                    <a:rPr lang="zh-CN" sz="150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d>
                          <m:d>
                            <m:dPr>
                              <m:begChr m:val="("/>
                              <m:sepChr m:val=""/>
                              <m:endChr m:val=")"/>
                              <m:grow m:val="on"/>
                              <m:ctrlPr>
                                <a:rPr lang="zh-CN" sz="15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sSub>
                                <m:e>
                                  <m:r>
                                    <a:rPr lang="zh-CN" sz="150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x</m:t>
                                  </m:r>
                                </m:e>
                                <m:sub>
                                  <m:r>
                                    <a:rPr lang="zh-CN" sz="150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0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a:rPr lang="zh-CN" sz="15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−</m:t>
                              </m:r>
                              <m:sSub>
                                <m:e>
                                  <m:r>
                                    <a:rPr lang="zh-CN" sz="150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x</m:t>
                                  </m:r>
                                </m:e>
                                <m:sub>
                                  <m:r>
                                    <a:rPr lang="zh-CN" sz="150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d>
                        </m:den>
                      </m:f>
                      <m:r>
                        <m:rPr>
                          <m:sty m:val="p"/>
                        </m:rPr>
                        <a:rPr lang="zh-CN" sz="150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,</m:t>
                      </m:r>
                      <m:r>
                        <a:rPr lang="zh-CN" sz="150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 xml:space="preserve">  </m:t>
                      </m:r>
                      <m:sSub>
                        <m:e>
                          <m:r>
                            <a:rPr lang="zh-CN" sz="15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l</m:t>
                          </m:r>
                        </m:e>
                        <m:sub>
                          <m:r>
                            <a:rPr lang="zh-CN" sz="15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 m:val="on"/>
                          <m:ctrlPr>
                            <a:rPr lang="zh-CN" sz="15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a:rPr lang="zh-CN" sz="15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a:rPr lang="zh-CN" sz="150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f>
                        <m:fPr>
                          <m:type m:val="bar"/>
                          <m:ctrlPr>
                            <a:rPr lang="zh-CN" sz="15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Pr>
                        <m:num>
                          <m:d>
                            <m:dPr>
                              <m:begChr m:val="("/>
                              <m:sepChr m:val=""/>
                              <m:endChr m:val=")"/>
                              <m:grow m:val="on"/>
                              <m:ctrlPr>
                                <a:rPr lang="zh-CN" sz="15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r>
                                <a:rPr lang="zh-CN" sz="15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a:rPr lang="zh-CN" sz="15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−</m:t>
                              </m:r>
                              <m:sSub>
                                <m:e>
                                  <m:r>
                                    <a:rPr lang="zh-CN" sz="150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x</m:t>
                                  </m:r>
                                </m:e>
                                <m:sub>
                                  <m:r>
                                    <a:rPr lang="zh-CN" sz="150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0</m:t>
                                  </m:r>
                                </m:sub>
                              </m:sSub>
                            </m:e>
                          </m:d>
                          <m:d>
                            <m:dPr>
                              <m:begChr m:val="("/>
                              <m:sepChr m:val=""/>
                              <m:endChr m:val=")"/>
                              <m:grow m:val="on"/>
                              <m:ctrlPr>
                                <a:rPr lang="zh-CN" sz="15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r>
                                <a:rPr lang="zh-CN" sz="15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a:rPr lang="zh-CN" sz="15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−</m:t>
                              </m:r>
                              <m:sSub>
                                <m:e>
                                  <m:r>
                                    <a:rPr lang="zh-CN" sz="150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x</m:t>
                                  </m:r>
                                </m:e>
                                <m:sub>
                                  <m:r>
                                    <a:rPr lang="zh-CN" sz="150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d>
                        </m:num>
                        <m:den>
                          <m:d>
                            <m:dPr>
                              <m:begChr m:val="("/>
                              <m:sepChr m:val=""/>
                              <m:endChr m:val=")"/>
                              <m:grow m:val="on"/>
                              <m:ctrlPr>
                                <a:rPr lang="zh-CN" sz="15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sSub>
                                <m:e>
                                  <m:r>
                                    <a:rPr lang="zh-CN" sz="150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x</m:t>
                                  </m:r>
                                </m:e>
                                <m:sub>
                                  <m:r>
                                    <a:rPr lang="zh-CN" sz="150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a:rPr lang="zh-CN" sz="15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−</m:t>
                              </m:r>
                              <m:sSub>
                                <m:e>
                                  <m:r>
                                    <a:rPr lang="zh-CN" sz="150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x</m:t>
                                  </m:r>
                                </m:e>
                                <m:sub>
                                  <m:r>
                                    <a:rPr lang="zh-CN" sz="150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0</m:t>
                                  </m:r>
                                </m:sub>
                              </m:sSub>
                            </m:e>
                          </m:d>
                          <m:d>
                            <m:dPr>
                              <m:begChr m:val="("/>
                              <m:sepChr m:val=""/>
                              <m:endChr m:val=")"/>
                              <m:grow m:val="on"/>
                              <m:ctrlPr>
                                <a:rPr lang="zh-CN" sz="15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sSub>
                                <m:e>
                                  <m:r>
                                    <a:rPr lang="zh-CN" sz="150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x</m:t>
                                  </m:r>
                                </m:e>
                                <m:sub>
                                  <m:r>
                                    <a:rPr lang="zh-CN" sz="150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a:rPr lang="zh-CN" sz="15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−</m:t>
                              </m:r>
                              <m:sSub>
                                <m:e>
                                  <m:r>
                                    <a:rPr lang="zh-CN" sz="150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x</m:t>
                                  </m:r>
                                </m:e>
                                <m:sub>
                                  <m:r>
                                    <a:rPr lang="zh-CN" sz="150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d>
                        </m:den>
                      </m:f>
                    </m:oMath>
                  </m:oMathPara>
                </a14:m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1" name="formula60"/>
              <p:cNvSpPr txBox="1">
                <a:spLocks noGrp="1"/>
              </p:cNvSpPr>
              <p:nvPr/>
            </p:nvSpPr>
            <p:spPr>
              <a:xfrm>
                <a:off x="533400" y="3583305"/>
                <a:ext cx="5735002" cy="54006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lIns="0" tIns="0" rIns="0" bIns="0" wrap="none" anchor="ctr">
                <a:normAutofit/>
              </a:bodyPr>
              <a:lstStyle/>
              <a:p>
                <a:pPr algn="ctr"/>
                <a14:m>
                  <m:oMathPara xmlns:a="http://schemas.openxmlformats.org/drawingml/2006/main"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a:rPr lang="zh-CN" sz="15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l</m:t>
                          </m:r>
                        </m:e>
                        <m:sub>
                          <m:r>
                            <a:rPr lang="zh-CN" sz="15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 m:val="on"/>
                          <m:ctrlPr>
                            <a:rPr lang="zh-CN" sz="15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a:rPr lang="zh-CN" sz="15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a:rPr lang="zh-CN" sz="158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f>
                        <m:fPr>
                          <m:type m:val="bar"/>
                          <m:ctrlPr>
                            <a:rPr lang="zh-CN" sz="15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Pr>
                        <m:num>
                          <m:d>
                            <m:dPr>
                              <m:begChr m:val="("/>
                              <m:sepChr m:val=""/>
                              <m:endChr m:val=")"/>
                              <m:grow m:val="on"/>
                              <m:ctrlPr>
                                <a:rPr lang="zh-CN" sz="15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r>
                                <a:rPr lang="zh-CN" sz="15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a:rPr lang="zh-CN" sz="15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−</m:t>
                              </m:r>
                              <m:sSub>
                                <m:e>
                                  <m:r>
                                    <a:rPr lang="zh-CN" sz="158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x</m:t>
                                  </m:r>
                                </m:e>
                                <m:sub>
                                  <m:r>
                                    <a:rPr lang="zh-CN" sz="158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0</m:t>
                                  </m:r>
                                </m:sub>
                              </m:sSub>
                            </m:e>
                          </m:d>
                          <m:d>
                            <m:dPr>
                              <m:begChr m:val="("/>
                              <m:sepChr m:val=""/>
                              <m:endChr m:val=")"/>
                              <m:grow m:val="on"/>
                              <m:ctrlPr>
                                <a:rPr lang="zh-CN" sz="15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r>
                                <a:rPr lang="zh-CN" sz="15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a:rPr lang="zh-CN" sz="15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−</m:t>
                              </m:r>
                              <m:sSub>
                                <m:e>
                                  <m:r>
                                    <a:rPr lang="zh-CN" sz="158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x</m:t>
                                  </m:r>
                                </m:e>
                                <m:sub>
                                  <m:r>
                                    <a:rPr lang="zh-CN" sz="158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d>
                        </m:num>
                        <m:den>
                          <m:d>
                            <m:dPr>
                              <m:begChr m:val="("/>
                              <m:sepChr m:val=""/>
                              <m:endChr m:val=")"/>
                              <m:grow m:val="on"/>
                              <m:ctrlPr>
                                <a:rPr lang="zh-CN" sz="15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sSub>
                                <m:e>
                                  <m:r>
                                    <a:rPr lang="zh-CN" sz="158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x</m:t>
                                  </m:r>
                                </m:e>
                                <m:sub>
                                  <m:r>
                                    <a:rPr lang="zh-CN" sz="158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a:rPr lang="zh-CN" sz="15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−</m:t>
                              </m:r>
                              <m:sSub>
                                <m:e>
                                  <m:r>
                                    <a:rPr lang="zh-CN" sz="158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x</m:t>
                                  </m:r>
                                </m:e>
                                <m:sub>
                                  <m:r>
                                    <a:rPr lang="zh-CN" sz="158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0</m:t>
                                  </m:r>
                                </m:sub>
                              </m:sSub>
                            </m:e>
                          </m:d>
                          <m:d>
                            <m:dPr>
                              <m:begChr m:val="("/>
                              <m:sepChr m:val=""/>
                              <m:endChr m:val=")"/>
                              <m:grow m:val="on"/>
                              <m:ctrlPr>
                                <a:rPr lang="zh-CN" sz="15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sSub>
                                <m:e>
                                  <m:r>
                                    <a:rPr lang="zh-CN" sz="158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x</m:t>
                                  </m:r>
                                </m:e>
                                <m:sub>
                                  <m:r>
                                    <a:rPr lang="zh-CN" sz="158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a:rPr lang="zh-CN" sz="15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−</m:t>
                              </m:r>
                              <m:sSub>
                                <m:e>
                                  <m:r>
                                    <a:rPr lang="zh-CN" sz="158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x</m:t>
                                  </m:r>
                                </m:e>
                                <m:sub>
                                  <m:r>
                                    <a:rPr lang="zh-CN" sz="158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d>
                        </m:den>
                      </m:f>
                    </m:oMath>
                  </m:oMathPara>
                </a14:m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2" name="formula61"/>
              <p:cNvSpPr txBox="1">
                <a:spLocks noGrp="1"/>
              </p:cNvSpPr>
              <p:nvPr/>
            </p:nvSpPr>
            <p:spPr>
              <a:xfrm>
                <a:off x="533400" y="4313872"/>
                <a:ext cx="5735002" cy="56578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lIns="0" tIns="0" rIns="0" bIns="0" wrap="none" anchor="ctr">
                <a:normAutofit/>
              </a:bodyPr>
              <a:lstStyle/>
              <a:p>
                <a:pPr algn="ctr"/>
                <a14:m>
                  <m:oMathPara xmlns:a="http://schemas.openxmlformats.org/drawingml/2006/main"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 m:val="on"/>
                        </m:rPr>
                        <a:rPr lang="zh-CN" sz="165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余项：</m:t>
                      </m:r>
                      <m:r>
                        <a:rPr lang="zh-CN" sz="165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 xml:space="preserve"> </m:t>
                      </m:r>
                      <m:sSub>
                        <m:e>
                          <m:r>
                            <a:rPr lang="zh-CN" sz="16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R</m:t>
                          </m:r>
                        </m:e>
                        <m:sub>
                          <m:r>
                            <a:rPr lang="zh-CN" sz="16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 m:val="on"/>
                          <m:ctrlPr>
                            <a:rPr lang="zh-CN" sz="16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a:rPr lang="zh-CN" sz="16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a:rPr lang="zh-CN" sz="165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f>
                        <m:fPr>
                          <m:type m:val="bar"/>
                          <m:ctrlPr>
                            <a:rPr lang="zh-CN" sz="16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Pr>
                        <m:num>
                          <m:sSup>
                            <m:e>
                              <m:r>
                                <a:rPr lang="zh-CN" sz="165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f</m:t>
                              </m:r>
                            </m:e>
                            <m:sup>
                              <m:r>
                                <m:rPr>
                                  <m:sty m:val="p"/>
                                </m:rPr>
                                <a:rPr lang="zh-CN" sz="165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′′′</m:t>
                              </m:r>
                            </m:sup>
                          </m:sSup>
                          <m:d>
                            <m:dPr>
                              <m:begChr m:val="("/>
                              <m:sepChr m:val=""/>
                              <m:endChr m:val=")"/>
                              <m:grow m:val="on"/>
                              <m:ctrlPr>
                                <a:rPr lang="zh-CN" sz="165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r>
                                <a:rPr lang="zh-CN" sz="165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ξ</m:t>
                              </m:r>
                            </m:e>
                          </m:d>
                        </m:num>
                        <m:den>
                          <m:r>
                            <a:rPr lang="zh-CN" sz="16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3</m:t>
                          </m:r>
                          <m:r>
                            <m:rPr>
                              <m:sty m:val="p"/>
                            </m:rPr>
                            <a:rPr lang="zh-CN" sz="16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!</m:t>
                          </m:r>
                        </m:den>
                      </m:f>
                      <m:r>
                        <a:rPr lang="zh-CN" sz="165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 xml:space="preserve"> </m:t>
                      </m:r>
                      <m:d>
                        <m:dPr>
                          <m:begChr m:val="("/>
                          <m:sepChr m:val=""/>
                          <m:endChr m:val=")"/>
                          <m:grow m:val="on"/>
                          <m:ctrlPr>
                            <a:rPr lang="zh-CN" sz="16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a:rPr lang="zh-CN" sz="16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x</m:t>
                          </m:r>
                          <m:r>
                            <m:rPr>
                              <m:sty m:val="p"/>
                            </m:rPr>
                            <a:rPr lang="zh-CN" sz="16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−</m:t>
                          </m:r>
                          <m:sSub>
                            <m:e>
                              <m:r>
                                <a:rPr lang="zh-CN" sz="165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x</m:t>
                              </m:r>
                            </m:e>
                            <m:sub>
                              <m:r>
                                <a:rPr lang="zh-CN" sz="165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0</m:t>
                              </m:r>
                            </m:sub>
                          </m:sSub>
                        </m:e>
                      </m:d>
                      <m:d>
                        <m:dPr>
                          <m:begChr m:val="("/>
                          <m:sepChr m:val=""/>
                          <m:endChr m:val=")"/>
                          <m:grow m:val="on"/>
                          <m:ctrlPr>
                            <a:rPr lang="zh-CN" sz="16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a:rPr lang="zh-CN" sz="16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x</m:t>
                          </m:r>
                          <m:r>
                            <m:rPr>
                              <m:sty m:val="p"/>
                            </m:rPr>
                            <a:rPr lang="zh-CN" sz="16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−</m:t>
                          </m:r>
                          <m:sSub>
                            <m:e>
                              <m:r>
                                <a:rPr lang="zh-CN" sz="165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x</m:t>
                              </m:r>
                            </m:e>
                            <m:sub>
                              <m:r>
                                <a:rPr lang="zh-CN" sz="165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  <m:d>
                        <m:dPr>
                          <m:begChr m:val="("/>
                          <m:sepChr m:val=""/>
                          <m:endChr m:val=")"/>
                          <m:grow m:val="on"/>
                          <m:ctrlPr>
                            <a:rPr lang="zh-CN" sz="16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a:rPr lang="zh-CN" sz="16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x</m:t>
                          </m:r>
                          <m:r>
                            <m:rPr>
                              <m:sty m:val="p"/>
                            </m:rPr>
                            <a:rPr lang="zh-CN" sz="16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−</m:t>
                          </m:r>
                          <m:sSub>
                            <m:e>
                              <m:r>
                                <a:rPr lang="zh-CN" sz="165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x</m:t>
                              </m:r>
                            </m:e>
                            <m:sub>
                              <m:r>
                                <a:rPr lang="zh-CN" sz="165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</a:p>
            </p:txBody>
          </p:sp>
        </mc:Choice>
      </mc:AlternateContent>
      <p:grpSp>
        <p:nvGrpSpPr>
          <p:cNvPr id="19" name="c1-callout-6"/>
          <p:cNvGrpSpPr/>
          <p:nvPr/>
        </p:nvGrpSpPr>
        <p:grpSpPr>
          <a:xfrm>
            <a:off x="533400" y="5070158"/>
            <a:ext cx="5735002" cy="1059180"/>
            <a:chOff x="533400" y="5070158"/>
            <a:chExt cx="5735002" cy="1059180"/>
          </a:xfrm>
        </p:grpSpPr>
        <p:sp>
          <p:nvSpPr>
            <p:cNvPr id="13" name="Rectangle 13"/>
            <p:cNvSpPr/>
            <p:nvPr/>
          </p:nvSpPr>
          <p:spPr>
            <a:xfrm>
              <a:off x="533400" y="5070158"/>
              <a:ext cx="5735002" cy="1059180"/>
            </a:xfrm>
            <a:prstGeom prst="roundRect">
              <a:avLst>
                <a:gd name="adj" fmla="val 10791"/>
              </a:avLst>
            </a:prstGeom>
            <a:solidFill>
              <a:srgbClr val="FDEEE7"/>
            </a:solidFill>
            <a:ln>
              <a:noFill/>
            </a:ln>
          </p:spPr>
        </p:sp>
        <p:grpSp>
          <p:nvGrpSpPr>
            <p:cNvPr id="17" name="Group 17"/>
            <p:cNvGrpSpPr/>
            <p:nvPr/>
          </p:nvGrpSpPr>
          <p:grpSpPr>
            <a:xfrm>
              <a:off x="738188" y="5499735"/>
              <a:ext cx="200026" cy="200025"/>
              <a:chOff x="738188" y="5499735"/>
              <a:chExt cx="200026" cy="200025"/>
            </a:xfrm>
          </p:grpSpPr>
          <p:sp>
            <p:nvSpPr>
              <p:cNvPr id="14" name="Freeform 14"/>
              <p:cNvSpPr/>
              <p:nvPr/>
            </p:nvSpPr>
            <p:spPr>
              <a:xfrm>
                <a:off x="738188" y="5499735"/>
                <a:ext cx="200026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00013">
                    <a:moveTo>
                      <a:pt x="0" y="100013"/>
                    </a:moveTo>
                    <a:lnTo>
                      <a:pt x="11113" y="100013"/>
                    </a:lnTo>
                    <a:moveTo>
                      <a:pt x="100013" y="0"/>
                    </a:moveTo>
                    <a:lnTo>
                      <a:pt x="100013" y="11113"/>
                    </a:lnTo>
                    <a:moveTo>
                      <a:pt x="188913" y="100013"/>
                    </a:moveTo>
                    <a:lnTo>
                      <a:pt x="200026" y="100013"/>
                    </a:lnTo>
                    <a:moveTo>
                      <a:pt x="28893" y="28893"/>
                    </a:moveTo>
                    <a:lnTo>
                      <a:pt x="36671" y="36671"/>
                    </a:lnTo>
                    <a:moveTo>
                      <a:pt x="171133" y="28893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15" name="Freeform 15"/>
              <p:cNvSpPr/>
              <p:nvPr/>
            </p:nvSpPr>
            <p:spPr>
              <a:xfrm>
                <a:off x="777926" y="5544185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3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3" y="15304"/>
                      <a:pt x="112986" y="37992"/>
                    </a:cubicBezTo>
                    <a:cubicBezTo>
                      <a:pt x="120548" y="60681"/>
                      <a:pt x="112745" y="85663"/>
                      <a:pt x="93612" y="100013"/>
                    </a:cubicBezTo>
                    <a:cubicBezTo>
                      <a:pt x="84812" y="108723"/>
                      <a:pt x="80686" y="121103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3"/>
                      <a:pt x="35736" y="108723"/>
                      <a:pt x="26937" y="100013"/>
                    </a:cubicBez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16" name="Freeform 16"/>
              <p:cNvSpPr/>
              <p:nvPr/>
            </p:nvSpPr>
            <p:spPr>
              <a:xfrm>
                <a:off x="812642" y="5655311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</p:grpSp>
        <p:sp>
          <p:nvSpPr>
            <p:cNvPr id="18" name="TextBox 18"/>
            <p:cNvSpPr txBox="1"/>
            <p:nvPr/>
          </p:nvSpPr>
          <p:spPr>
            <a:xfrm>
              <a:off x="1040130" y="5218748"/>
              <a:ext cx="4758690" cy="8458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例：节点 0, 1, 2 上函数值为 1, 3, 7，l₀ = (x − 1)(x −</a:t>
              </a:r>
              <a:br/>
              <a:r>
                <a:rPr lang="zh-CN" sz="15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2)/2，l₁ = −x(x − 2)，l₂ = x(x − 1)/2，合并得 L₂(x)</a:t>
              </a:r>
              <a:br/>
              <a:r>
                <a:rPr lang="zh-CN" sz="15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= x² + x + 1，代回三个节点检验都成立。</a:t>
              </a:r>
            </a:p>
          </p:txBody>
        </p:sp>
      </p:grpSp>
      <p:grpSp>
        <p:nvGrpSpPr>
          <p:cNvPr id="59" name="c2-graph-1"/>
          <p:cNvGrpSpPr/>
          <p:nvPr/>
        </p:nvGrpSpPr>
        <p:grpSpPr>
          <a:xfrm>
            <a:off x="6677978" y="1609249"/>
            <a:ext cx="4833937" cy="3624263"/>
            <a:chOff x="6677978" y="1609249"/>
            <a:chExt cx="4833937" cy="3624263"/>
          </a:xfrm>
        </p:grpSpPr>
        <p:sp>
          <p:nvSpPr>
            <p:cNvPr id="20" name="Freeform 20"/>
            <p:cNvSpPr/>
            <p:nvPr/>
          </p:nvSpPr>
          <p:spPr>
            <a:xfrm>
              <a:off x="6736080" y="4925378"/>
              <a:ext cx="4613910" cy="9525"/>
            </a:xfrm>
            <a:custGeom>
              <a:avLst/>
              <a:gdLst/>
              <a:ahLst/>
              <a:cxnLst/>
              <a:rect l="l" t="t" r="r" b="b"/>
              <a:pathLst>
                <a:path w="4613910" h="9525">
                  <a:moveTo>
                    <a:pt x="0" y="0"/>
                  </a:moveTo>
                  <a:lnTo>
                    <a:pt x="4613910" y="0"/>
                  </a:lnTo>
                </a:path>
              </a:pathLst>
            </a:custGeom>
            <a:noFill/>
            <a:ln w="13335">
              <a:solidFill>
                <a:srgbClr val="5B6475"/>
              </a:solidFill>
            </a:ln>
          </p:spPr>
        </p:sp>
        <p:sp>
          <p:nvSpPr>
            <p:cNvPr id="21" name="Freeform 21"/>
            <p:cNvSpPr/>
            <p:nvPr/>
          </p:nvSpPr>
          <p:spPr>
            <a:xfrm>
              <a:off x="11349990" y="4877752"/>
              <a:ext cx="95250" cy="95250"/>
            </a:xfrm>
            <a:custGeom>
              <a:avLst/>
              <a:gdLst/>
              <a:ahLst/>
              <a:cxnLst/>
              <a:rect l="l" t="t" r="r" b="b"/>
              <a:pathLst>
                <a:path w="95250" h="95250">
                  <a:moveTo>
                    <a:pt x="95250" y="47625"/>
                  </a:moveTo>
                  <a:lnTo>
                    <a:pt x="0" y="952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22" name="Freeform 22"/>
            <p:cNvSpPr/>
            <p:nvPr/>
          </p:nvSpPr>
          <p:spPr>
            <a:xfrm>
              <a:off x="6725602" y="1836420"/>
              <a:ext cx="9525" cy="3078480"/>
            </a:xfrm>
            <a:custGeom>
              <a:avLst/>
              <a:gdLst/>
              <a:ahLst/>
              <a:cxnLst/>
              <a:rect l="l" t="t" r="r" b="b"/>
              <a:pathLst>
                <a:path w="9525" h="3078480">
                  <a:moveTo>
                    <a:pt x="0" y="3078480"/>
                  </a:moveTo>
                  <a:lnTo>
                    <a:pt x="0" y="0"/>
                  </a:lnTo>
                </a:path>
              </a:pathLst>
            </a:custGeom>
            <a:noFill/>
            <a:ln w="13335">
              <a:solidFill>
                <a:srgbClr val="5B6475"/>
              </a:solidFill>
            </a:ln>
          </p:spPr>
        </p:sp>
        <p:sp>
          <p:nvSpPr>
            <p:cNvPr id="23" name="Freeform 23"/>
            <p:cNvSpPr/>
            <p:nvPr/>
          </p:nvSpPr>
          <p:spPr>
            <a:xfrm>
              <a:off x="6677978" y="1741170"/>
              <a:ext cx="95250" cy="95250"/>
            </a:xfrm>
            <a:custGeom>
              <a:avLst/>
              <a:gdLst/>
              <a:ahLst/>
              <a:cxnLst/>
              <a:rect l="l" t="t" r="r" b="b"/>
              <a:pathLst>
                <a:path w="95250" h="95250">
                  <a:moveTo>
                    <a:pt x="47625" y="0"/>
                  </a:moveTo>
                  <a:lnTo>
                    <a:pt x="95250" y="95250"/>
                  </a:lnTo>
                  <a:lnTo>
                    <a:pt x="0" y="9525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24" name="Freeform 24"/>
            <p:cNvSpPr/>
            <p:nvPr/>
          </p:nvSpPr>
          <p:spPr>
            <a:xfrm>
              <a:off x="7034212" y="2325052"/>
              <a:ext cx="4009073" cy="1241107"/>
            </a:xfrm>
            <a:custGeom>
              <a:avLst/>
              <a:gdLst/>
              <a:ahLst/>
              <a:cxnLst/>
              <a:rect l="l" t="t" r="r" b="b"/>
              <a:pathLst>
                <a:path w="4009073" h="1241107">
                  <a:moveTo>
                    <a:pt x="0" y="1160145"/>
                  </a:moveTo>
                  <a:lnTo>
                    <a:pt x="39053" y="1115378"/>
                  </a:lnTo>
                  <a:lnTo>
                    <a:pt x="83820" y="1062990"/>
                  </a:lnTo>
                  <a:lnTo>
                    <a:pt x="129540" y="1011555"/>
                  </a:lnTo>
                  <a:lnTo>
                    <a:pt x="174307" y="961072"/>
                  </a:lnTo>
                  <a:lnTo>
                    <a:pt x="220028" y="913448"/>
                  </a:lnTo>
                  <a:lnTo>
                    <a:pt x="264795" y="866775"/>
                  </a:lnTo>
                  <a:lnTo>
                    <a:pt x="309562" y="822960"/>
                  </a:lnTo>
                  <a:lnTo>
                    <a:pt x="355282" y="781050"/>
                  </a:lnTo>
                  <a:lnTo>
                    <a:pt x="400050" y="742950"/>
                  </a:lnTo>
                  <a:lnTo>
                    <a:pt x="445770" y="707707"/>
                  </a:lnTo>
                  <a:lnTo>
                    <a:pt x="490538" y="676275"/>
                  </a:lnTo>
                  <a:lnTo>
                    <a:pt x="536257" y="647700"/>
                  </a:lnTo>
                  <a:lnTo>
                    <a:pt x="581025" y="623888"/>
                  </a:lnTo>
                  <a:lnTo>
                    <a:pt x="626745" y="603885"/>
                  </a:lnTo>
                  <a:lnTo>
                    <a:pt x="671512" y="587693"/>
                  </a:lnTo>
                  <a:lnTo>
                    <a:pt x="717232" y="575310"/>
                  </a:lnTo>
                  <a:lnTo>
                    <a:pt x="762000" y="567690"/>
                  </a:lnTo>
                  <a:lnTo>
                    <a:pt x="807720" y="563880"/>
                  </a:lnTo>
                  <a:lnTo>
                    <a:pt x="852488" y="564832"/>
                  </a:lnTo>
                  <a:lnTo>
                    <a:pt x="898207" y="569595"/>
                  </a:lnTo>
                  <a:lnTo>
                    <a:pt x="942975" y="578168"/>
                  </a:lnTo>
                  <a:lnTo>
                    <a:pt x="988695" y="590550"/>
                  </a:lnTo>
                  <a:lnTo>
                    <a:pt x="1034415" y="606743"/>
                  </a:lnTo>
                  <a:lnTo>
                    <a:pt x="1079182" y="625793"/>
                  </a:lnTo>
                  <a:lnTo>
                    <a:pt x="1124903" y="648652"/>
                  </a:lnTo>
                  <a:lnTo>
                    <a:pt x="1169670" y="674370"/>
                  </a:lnTo>
                  <a:lnTo>
                    <a:pt x="1214438" y="701993"/>
                  </a:lnTo>
                  <a:lnTo>
                    <a:pt x="1260157" y="731520"/>
                  </a:lnTo>
                  <a:lnTo>
                    <a:pt x="1304925" y="763905"/>
                  </a:lnTo>
                  <a:lnTo>
                    <a:pt x="1350645" y="797243"/>
                  </a:lnTo>
                  <a:lnTo>
                    <a:pt x="1395412" y="832485"/>
                  </a:lnTo>
                  <a:lnTo>
                    <a:pt x="1441132" y="867728"/>
                  </a:lnTo>
                  <a:lnTo>
                    <a:pt x="1485900" y="903922"/>
                  </a:lnTo>
                  <a:lnTo>
                    <a:pt x="1531620" y="940118"/>
                  </a:lnTo>
                  <a:lnTo>
                    <a:pt x="1576388" y="975360"/>
                  </a:lnTo>
                  <a:lnTo>
                    <a:pt x="1622107" y="1010602"/>
                  </a:lnTo>
                  <a:lnTo>
                    <a:pt x="1666875" y="1043940"/>
                  </a:lnTo>
                  <a:lnTo>
                    <a:pt x="1712595" y="1076325"/>
                  </a:lnTo>
                  <a:lnTo>
                    <a:pt x="1757362" y="1105852"/>
                  </a:lnTo>
                  <a:lnTo>
                    <a:pt x="1803082" y="1133475"/>
                  </a:lnTo>
                  <a:lnTo>
                    <a:pt x="1847850" y="1159193"/>
                  </a:lnTo>
                  <a:lnTo>
                    <a:pt x="1893570" y="1181100"/>
                  </a:lnTo>
                  <a:lnTo>
                    <a:pt x="1938338" y="1200150"/>
                  </a:lnTo>
                  <a:lnTo>
                    <a:pt x="1984057" y="1216343"/>
                  </a:lnTo>
                  <a:lnTo>
                    <a:pt x="2028825" y="1227772"/>
                  </a:lnTo>
                  <a:lnTo>
                    <a:pt x="2074545" y="1236345"/>
                  </a:lnTo>
                  <a:lnTo>
                    <a:pt x="2119312" y="1241107"/>
                  </a:lnTo>
                  <a:lnTo>
                    <a:pt x="2164080" y="1241107"/>
                  </a:lnTo>
                  <a:lnTo>
                    <a:pt x="2209800" y="1237298"/>
                  </a:lnTo>
                  <a:lnTo>
                    <a:pt x="2254568" y="1229678"/>
                  </a:lnTo>
                  <a:lnTo>
                    <a:pt x="2300288" y="1217295"/>
                  </a:lnTo>
                  <a:lnTo>
                    <a:pt x="2346007" y="1201102"/>
                  </a:lnTo>
                  <a:lnTo>
                    <a:pt x="2390775" y="1181100"/>
                  </a:lnTo>
                  <a:lnTo>
                    <a:pt x="2436495" y="1156335"/>
                  </a:lnTo>
                  <a:lnTo>
                    <a:pt x="2481262" y="1127760"/>
                  </a:lnTo>
                  <a:lnTo>
                    <a:pt x="2526982" y="1096328"/>
                  </a:lnTo>
                  <a:lnTo>
                    <a:pt x="2571750" y="1060132"/>
                  </a:lnTo>
                  <a:lnTo>
                    <a:pt x="2617470" y="1022032"/>
                  </a:lnTo>
                  <a:lnTo>
                    <a:pt x="2662238" y="980122"/>
                  </a:lnTo>
                  <a:lnTo>
                    <a:pt x="2707957" y="936307"/>
                  </a:lnTo>
                  <a:lnTo>
                    <a:pt x="2752725" y="889635"/>
                  </a:lnTo>
                  <a:lnTo>
                    <a:pt x="2798445" y="841057"/>
                  </a:lnTo>
                  <a:lnTo>
                    <a:pt x="2843212" y="790575"/>
                  </a:lnTo>
                  <a:lnTo>
                    <a:pt x="2888932" y="740093"/>
                  </a:lnTo>
                  <a:lnTo>
                    <a:pt x="2933700" y="686752"/>
                  </a:lnTo>
                  <a:lnTo>
                    <a:pt x="2979420" y="634365"/>
                  </a:lnTo>
                  <a:lnTo>
                    <a:pt x="3024188" y="581978"/>
                  </a:lnTo>
                  <a:lnTo>
                    <a:pt x="3068955" y="528638"/>
                  </a:lnTo>
                  <a:lnTo>
                    <a:pt x="3114675" y="477202"/>
                  </a:lnTo>
                  <a:lnTo>
                    <a:pt x="3159443" y="425768"/>
                  </a:lnTo>
                  <a:lnTo>
                    <a:pt x="3205162" y="376238"/>
                  </a:lnTo>
                  <a:lnTo>
                    <a:pt x="3249930" y="328613"/>
                  </a:lnTo>
                  <a:lnTo>
                    <a:pt x="3295650" y="283845"/>
                  </a:lnTo>
                  <a:lnTo>
                    <a:pt x="3340418" y="240982"/>
                  </a:lnTo>
                  <a:lnTo>
                    <a:pt x="3386138" y="200025"/>
                  </a:lnTo>
                  <a:lnTo>
                    <a:pt x="3430905" y="162877"/>
                  </a:lnTo>
                  <a:lnTo>
                    <a:pt x="3476625" y="129540"/>
                  </a:lnTo>
                  <a:lnTo>
                    <a:pt x="3521393" y="100012"/>
                  </a:lnTo>
                  <a:lnTo>
                    <a:pt x="3567112" y="73343"/>
                  </a:lnTo>
                  <a:lnTo>
                    <a:pt x="3611880" y="50483"/>
                  </a:lnTo>
                  <a:lnTo>
                    <a:pt x="3657600" y="32385"/>
                  </a:lnTo>
                  <a:lnTo>
                    <a:pt x="3703320" y="18098"/>
                  </a:lnTo>
                  <a:lnTo>
                    <a:pt x="3748088" y="7620"/>
                  </a:lnTo>
                  <a:lnTo>
                    <a:pt x="3793807" y="1905"/>
                  </a:lnTo>
                  <a:lnTo>
                    <a:pt x="3838575" y="0"/>
                  </a:lnTo>
                  <a:lnTo>
                    <a:pt x="3884295" y="1905"/>
                  </a:lnTo>
                  <a:lnTo>
                    <a:pt x="3929062" y="8573"/>
                  </a:lnTo>
                  <a:lnTo>
                    <a:pt x="3973830" y="19050"/>
                  </a:lnTo>
                  <a:lnTo>
                    <a:pt x="4009073" y="29527"/>
                  </a:lnTo>
                </a:path>
              </a:pathLst>
            </a:custGeom>
            <a:noFill/>
            <a:ln w="24765">
              <a:solidFill>
                <a:srgbClr val="1F2937"/>
              </a:solidFill>
            </a:ln>
          </p:spPr>
        </p:sp>
        <p:sp>
          <p:nvSpPr>
            <p:cNvPr id="25" name="Freeform 25"/>
            <p:cNvSpPr/>
            <p:nvPr/>
          </p:nvSpPr>
          <p:spPr>
            <a:xfrm>
              <a:off x="7037070" y="1985962"/>
              <a:ext cx="4009073" cy="1353503"/>
            </a:xfrm>
            <a:custGeom>
              <a:avLst/>
              <a:gdLst/>
              <a:ahLst/>
              <a:cxnLst/>
              <a:rect l="l" t="t" r="r" b="b"/>
              <a:pathLst>
                <a:path w="4009073" h="1353503">
                  <a:moveTo>
                    <a:pt x="0" y="1055370"/>
                  </a:moveTo>
                  <a:lnTo>
                    <a:pt x="36195" y="1071562"/>
                  </a:lnTo>
                  <a:lnTo>
                    <a:pt x="80962" y="1091565"/>
                  </a:lnTo>
                  <a:lnTo>
                    <a:pt x="126683" y="1110615"/>
                  </a:lnTo>
                  <a:lnTo>
                    <a:pt x="171450" y="1129665"/>
                  </a:lnTo>
                  <a:lnTo>
                    <a:pt x="217170" y="1147762"/>
                  </a:lnTo>
                  <a:lnTo>
                    <a:pt x="261938" y="1164908"/>
                  </a:lnTo>
                  <a:lnTo>
                    <a:pt x="306705" y="1181100"/>
                  </a:lnTo>
                  <a:lnTo>
                    <a:pt x="352425" y="1196340"/>
                  </a:lnTo>
                  <a:lnTo>
                    <a:pt x="397193" y="1211580"/>
                  </a:lnTo>
                  <a:lnTo>
                    <a:pt x="442912" y="1225868"/>
                  </a:lnTo>
                  <a:lnTo>
                    <a:pt x="487680" y="1239203"/>
                  </a:lnTo>
                  <a:lnTo>
                    <a:pt x="533400" y="1251585"/>
                  </a:lnTo>
                  <a:lnTo>
                    <a:pt x="578168" y="1263968"/>
                  </a:lnTo>
                  <a:lnTo>
                    <a:pt x="623888" y="1275397"/>
                  </a:lnTo>
                  <a:lnTo>
                    <a:pt x="668655" y="1285875"/>
                  </a:lnTo>
                  <a:lnTo>
                    <a:pt x="714375" y="1295400"/>
                  </a:lnTo>
                  <a:lnTo>
                    <a:pt x="759143" y="1304925"/>
                  </a:lnTo>
                  <a:lnTo>
                    <a:pt x="804862" y="1312545"/>
                  </a:lnTo>
                  <a:lnTo>
                    <a:pt x="849630" y="1320165"/>
                  </a:lnTo>
                  <a:lnTo>
                    <a:pt x="895350" y="1326832"/>
                  </a:lnTo>
                  <a:lnTo>
                    <a:pt x="940118" y="1332547"/>
                  </a:lnTo>
                  <a:lnTo>
                    <a:pt x="985838" y="1338262"/>
                  </a:lnTo>
                  <a:lnTo>
                    <a:pt x="1031558" y="1343025"/>
                  </a:lnTo>
                  <a:lnTo>
                    <a:pt x="1076325" y="1345882"/>
                  </a:lnTo>
                  <a:lnTo>
                    <a:pt x="1122045" y="1349692"/>
                  </a:lnTo>
                  <a:lnTo>
                    <a:pt x="1166812" y="1351597"/>
                  </a:lnTo>
                  <a:lnTo>
                    <a:pt x="1211580" y="1353503"/>
                  </a:lnTo>
                  <a:lnTo>
                    <a:pt x="1257300" y="1353503"/>
                  </a:lnTo>
                  <a:lnTo>
                    <a:pt x="1302068" y="1353503"/>
                  </a:lnTo>
                  <a:lnTo>
                    <a:pt x="1347788" y="1353503"/>
                  </a:lnTo>
                  <a:lnTo>
                    <a:pt x="1392555" y="1351597"/>
                  </a:lnTo>
                  <a:lnTo>
                    <a:pt x="1438275" y="1349692"/>
                  </a:lnTo>
                  <a:lnTo>
                    <a:pt x="1483043" y="1346835"/>
                  </a:lnTo>
                  <a:lnTo>
                    <a:pt x="1528762" y="1343025"/>
                  </a:lnTo>
                  <a:lnTo>
                    <a:pt x="1573530" y="1338262"/>
                  </a:lnTo>
                  <a:lnTo>
                    <a:pt x="1619250" y="1333500"/>
                  </a:lnTo>
                  <a:lnTo>
                    <a:pt x="1664018" y="1327785"/>
                  </a:lnTo>
                  <a:lnTo>
                    <a:pt x="1709738" y="1321118"/>
                  </a:lnTo>
                  <a:lnTo>
                    <a:pt x="1754505" y="1313497"/>
                  </a:lnTo>
                  <a:lnTo>
                    <a:pt x="1800225" y="1304925"/>
                  </a:lnTo>
                  <a:lnTo>
                    <a:pt x="1844993" y="1296353"/>
                  </a:lnTo>
                  <a:lnTo>
                    <a:pt x="1890712" y="1286828"/>
                  </a:lnTo>
                  <a:lnTo>
                    <a:pt x="1935480" y="1276350"/>
                  </a:lnTo>
                  <a:lnTo>
                    <a:pt x="1981200" y="1264920"/>
                  </a:lnTo>
                  <a:lnTo>
                    <a:pt x="2025968" y="1253490"/>
                  </a:lnTo>
                  <a:lnTo>
                    <a:pt x="2071688" y="1241108"/>
                  </a:lnTo>
                  <a:lnTo>
                    <a:pt x="2116455" y="1226820"/>
                  </a:lnTo>
                  <a:lnTo>
                    <a:pt x="2161223" y="1213485"/>
                  </a:lnTo>
                  <a:lnTo>
                    <a:pt x="2206943" y="1198245"/>
                  </a:lnTo>
                  <a:lnTo>
                    <a:pt x="2251710" y="1183005"/>
                  </a:lnTo>
                  <a:lnTo>
                    <a:pt x="2297430" y="1166812"/>
                  </a:lnTo>
                  <a:lnTo>
                    <a:pt x="2343150" y="1149668"/>
                  </a:lnTo>
                  <a:lnTo>
                    <a:pt x="2387918" y="1131570"/>
                  </a:lnTo>
                  <a:lnTo>
                    <a:pt x="2433638" y="1112520"/>
                  </a:lnTo>
                  <a:lnTo>
                    <a:pt x="2478405" y="1093470"/>
                  </a:lnTo>
                  <a:lnTo>
                    <a:pt x="2524125" y="1073468"/>
                  </a:lnTo>
                  <a:lnTo>
                    <a:pt x="2568893" y="1052512"/>
                  </a:lnTo>
                  <a:lnTo>
                    <a:pt x="2614612" y="1031558"/>
                  </a:lnTo>
                  <a:lnTo>
                    <a:pt x="2659380" y="1008697"/>
                  </a:lnTo>
                  <a:lnTo>
                    <a:pt x="2705100" y="985838"/>
                  </a:lnTo>
                  <a:lnTo>
                    <a:pt x="2749868" y="962025"/>
                  </a:lnTo>
                  <a:lnTo>
                    <a:pt x="2795588" y="937260"/>
                  </a:lnTo>
                  <a:lnTo>
                    <a:pt x="2840355" y="912495"/>
                  </a:lnTo>
                  <a:lnTo>
                    <a:pt x="2886075" y="885825"/>
                  </a:lnTo>
                  <a:lnTo>
                    <a:pt x="2930843" y="859155"/>
                  </a:lnTo>
                  <a:lnTo>
                    <a:pt x="2976562" y="831533"/>
                  </a:lnTo>
                  <a:lnTo>
                    <a:pt x="3021330" y="803910"/>
                  </a:lnTo>
                  <a:lnTo>
                    <a:pt x="3066098" y="774383"/>
                  </a:lnTo>
                  <a:lnTo>
                    <a:pt x="3111818" y="744855"/>
                  </a:lnTo>
                  <a:lnTo>
                    <a:pt x="3156585" y="714375"/>
                  </a:lnTo>
                  <a:lnTo>
                    <a:pt x="3202305" y="682942"/>
                  </a:lnTo>
                  <a:lnTo>
                    <a:pt x="3247073" y="650558"/>
                  </a:lnTo>
                  <a:lnTo>
                    <a:pt x="3292793" y="618172"/>
                  </a:lnTo>
                  <a:lnTo>
                    <a:pt x="3337560" y="584835"/>
                  </a:lnTo>
                  <a:lnTo>
                    <a:pt x="3383280" y="550545"/>
                  </a:lnTo>
                  <a:lnTo>
                    <a:pt x="3428048" y="515303"/>
                  </a:lnTo>
                  <a:lnTo>
                    <a:pt x="3473768" y="480060"/>
                  </a:lnTo>
                  <a:lnTo>
                    <a:pt x="3518535" y="442912"/>
                  </a:lnTo>
                  <a:lnTo>
                    <a:pt x="3564255" y="405765"/>
                  </a:lnTo>
                  <a:lnTo>
                    <a:pt x="3609023" y="368617"/>
                  </a:lnTo>
                  <a:lnTo>
                    <a:pt x="3654743" y="329565"/>
                  </a:lnTo>
                  <a:lnTo>
                    <a:pt x="3700462" y="289560"/>
                  </a:lnTo>
                  <a:lnTo>
                    <a:pt x="3745230" y="249555"/>
                  </a:lnTo>
                  <a:lnTo>
                    <a:pt x="3790950" y="208598"/>
                  </a:lnTo>
                  <a:lnTo>
                    <a:pt x="3835718" y="167640"/>
                  </a:lnTo>
                  <a:lnTo>
                    <a:pt x="3881438" y="124777"/>
                  </a:lnTo>
                  <a:lnTo>
                    <a:pt x="3926205" y="81915"/>
                  </a:lnTo>
                  <a:lnTo>
                    <a:pt x="3970973" y="38100"/>
                  </a:lnTo>
                  <a:lnTo>
                    <a:pt x="4009073" y="0"/>
                  </a:lnTo>
                </a:path>
              </a:pathLst>
            </a:custGeom>
            <a:noFill/>
            <a:ln w="24765">
              <a:solidFill>
                <a:srgbClr val="F26B3A"/>
              </a:solidFill>
            </a:ln>
          </p:spPr>
        </p:sp>
        <p:sp>
          <p:nvSpPr>
            <p:cNvPr id="26" name="Freeform 26"/>
            <p:cNvSpPr/>
            <p:nvPr/>
          </p:nvSpPr>
          <p:spPr>
            <a:xfrm>
              <a:off x="7329488" y="3171825"/>
              <a:ext cx="9525" cy="1743075"/>
            </a:xfrm>
            <a:custGeom>
              <a:avLst/>
              <a:gdLst/>
              <a:ahLst/>
              <a:cxnLst/>
              <a:rect l="l" t="t" r="r" b="b"/>
              <a:pathLst>
                <a:path w="9525" h="1743075">
                  <a:moveTo>
                    <a:pt x="0" y="1743075"/>
                  </a:moveTo>
                  <a:lnTo>
                    <a:pt x="0" y="0"/>
                  </a:lnTo>
                </a:path>
              </a:pathLst>
            </a:custGeom>
            <a:noFill/>
            <a:ln w="11430">
              <a:solidFill>
                <a:srgbClr val="5B6475"/>
              </a:solidFill>
              <a:custDash>
                <a:ds d="500000" sp="333333"/>
              </a:custDash>
            </a:ln>
          </p:spPr>
        </p:sp>
        <p:sp>
          <p:nvSpPr>
            <p:cNvPr id="27" name="Freeform 27"/>
            <p:cNvSpPr/>
            <p:nvPr/>
          </p:nvSpPr>
          <p:spPr>
            <a:xfrm>
              <a:off x="8638222" y="3331845"/>
              <a:ext cx="9525" cy="1583055"/>
            </a:xfrm>
            <a:custGeom>
              <a:avLst/>
              <a:gdLst/>
              <a:ahLst/>
              <a:cxnLst/>
              <a:rect l="l" t="t" r="r" b="b"/>
              <a:pathLst>
                <a:path w="9525" h="1583055">
                  <a:moveTo>
                    <a:pt x="0" y="1583055"/>
                  </a:moveTo>
                  <a:lnTo>
                    <a:pt x="0" y="0"/>
                  </a:lnTo>
                </a:path>
              </a:pathLst>
            </a:custGeom>
            <a:noFill/>
            <a:ln w="11430">
              <a:solidFill>
                <a:srgbClr val="5B6475"/>
              </a:solidFill>
              <a:custDash>
                <a:ds d="500000" sp="333333"/>
              </a:custDash>
            </a:ln>
          </p:spPr>
        </p:sp>
        <p:sp>
          <p:nvSpPr>
            <p:cNvPr id="28" name="Freeform 28"/>
            <p:cNvSpPr/>
            <p:nvPr/>
          </p:nvSpPr>
          <p:spPr>
            <a:xfrm>
              <a:off x="10348912" y="2600325"/>
              <a:ext cx="9525" cy="2314575"/>
            </a:xfrm>
            <a:custGeom>
              <a:avLst/>
              <a:gdLst/>
              <a:ahLst/>
              <a:cxnLst/>
              <a:rect l="l" t="t" r="r" b="b"/>
              <a:pathLst>
                <a:path w="9525" h="2314575">
                  <a:moveTo>
                    <a:pt x="0" y="2314575"/>
                  </a:moveTo>
                  <a:lnTo>
                    <a:pt x="0" y="0"/>
                  </a:lnTo>
                </a:path>
              </a:pathLst>
            </a:custGeom>
            <a:noFill/>
            <a:ln w="11430">
              <a:solidFill>
                <a:srgbClr val="5B6475"/>
              </a:solidFill>
              <a:custDash>
                <a:ds d="500000" sp="333333"/>
              </a:custDash>
            </a:ln>
          </p:spPr>
        </p:sp>
        <p:sp>
          <p:nvSpPr>
            <p:cNvPr id="29" name="Freeform 29"/>
            <p:cNvSpPr/>
            <p:nvPr/>
          </p:nvSpPr>
          <p:spPr>
            <a:xfrm>
              <a:off x="9544050" y="3077528"/>
              <a:ext cx="9525" cy="1837372"/>
            </a:xfrm>
            <a:custGeom>
              <a:avLst/>
              <a:gdLst/>
              <a:ahLst/>
              <a:cxnLst/>
              <a:rect l="l" t="t" r="r" b="b"/>
              <a:pathLst>
                <a:path w="9525" h="1837372">
                  <a:moveTo>
                    <a:pt x="0" y="1837372"/>
                  </a:moveTo>
                  <a:lnTo>
                    <a:pt x="0" y="0"/>
                  </a:lnTo>
                </a:path>
              </a:pathLst>
            </a:custGeom>
            <a:noFill/>
            <a:ln w="13335">
              <a:solidFill>
                <a:srgbClr val="B42318"/>
              </a:solidFill>
              <a:custDash>
                <a:ds d="428571" sp="285714"/>
              </a:custDash>
            </a:ln>
          </p:spPr>
        </p:sp>
        <p:sp>
          <p:nvSpPr>
            <p:cNvPr id="30" name="Ellipse 30"/>
            <p:cNvSpPr/>
            <p:nvPr/>
          </p:nvSpPr>
          <p:spPr>
            <a:xfrm>
              <a:off x="6724650" y="4924425"/>
              <a:ext cx="1905" cy="1905"/>
            </a:xfrm>
            <a:prstGeom prst="ellipse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1" name="Ellipse 31"/>
            <p:cNvSpPr/>
            <p:nvPr/>
          </p:nvSpPr>
          <p:spPr>
            <a:xfrm>
              <a:off x="11454765" y="4924425"/>
              <a:ext cx="1905" cy="1905"/>
            </a:xfrm>
            <a:prstGeom prst="ellipse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2" name="Ellipse 32"/>
            <p:cNvSpPr/>
            <p:nvPr/>
          </p:nvSpPr>
          <p:spPr>
            <a:xfrm>
              <a:off x="6724650" y="4924425"/>
              <a:ext cx="1905" cy="1905"/>
            </a:xfrm>
            <a:prstGeom prst="ellipse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3" name="Ellipse 33"/>
            <p:cNvSpPr/>
            <p:nvPr/>
          </p:nvSpPr>
          <p:spPr>
            <a:xfrm>
              <a:off x="6724650" y="1729740"/>
              <a:ext cx="1905" cy="1905"/>
            </a:xfrm>
            <a:prstGeom prst="ellipse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4" name="Ellipse 34"/>
            <p:cNvSpPr/>
            <p:nvPr/>
          </p:nvSpPr>
          <p:spPr>
            <a:xfrm>
              <a:off x="7026592" y="3492818"/>
              <a:ext cx="1905" cy="1905"/>
            </a:xfrm>
            <a:prstGeom prst="ellipse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5" name="Ellipse 35"/>
            <p:cNvSpPr/>
            <p:nvPr/>
          </p:nvSpPr>
          <p:spPr>
            <a:xfrm>
              <a:off x="11052810" y="2357438"/>
              <a:ext cx="1905" cy="1905"/>
            </a:xfrm>
            <a:prstGeom prst="ellipse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6" name="Ellipse 36"/>
            <p:cNvSpPr/>
            <p:nvPr/>
          </p:nvSpPr>
          <p:spPr>
            <a:xfrm>
              <a:off x="7026592" y="3035618"/>
              <a:ext cx="1905" cy="1905"/>
            </a:xfrm>
            <a:prstGeom prst="ellipse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7" name="Ellipse 37"/>
            <p:cNvSpPr/>
            <p:nvPr/>
          </p:nvSpPr>
          <p:spPr>
            <a:xfrm>
              <a:off x="11052810" y="1978343"/>
              <a:ext cx="1905" cy="1905"/>
            </a:xfrm>
            <a:prstGeom prst="ellipse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8" name="Ellipse 38"/>
            <p:cNvSpPr/>
            <p:nvPr/>
          </p:nvSpPr>
          <p:spPr>
            <a:xfrm>
              <a:off x="7328535" y="4924425"/>
              <a:ext cx="1905" cy="1905"/>
            </a:xfrm>
            <a:prstGeom prst="ellipse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9" name="Ellipse 39"/>
            <p:cNvSpPr/>
            <p:nvPr/>
          </p:nvSpPr>
          <p:spPr>
            <a:xfrm>
              <a:off x="7328535" y="3160395"/>
              <a:ext cx="1905" cy="1905"/>
            </a:xfrm>
            <a:prstGeom prst="ellipse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0" name="Ellipse 40"/>
            <p:cNvSpPr/>
            <p:nvPr/>
          </p:nvSpPr>
          <p:spPr>
            <a:xfrm>
              <a:off x="7281862" y="3113722"/>
              <a:ext cx="95250" cy="9525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41" name="Ellipse 41"/>
            <p:cNvSpPr/>
            <p:nvPr/>
          </p:nvSpPr>
          <p:spPr>
            <a:xfrm>
              <a:off x="8637270" y="4924425"/>
              <a:ext cx="1905" cy="1905"/>
            </a:xfrm>
            <a:prstGeom prst="ellipse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2" name="Ellipse 42"/>
            <p:cNvSpPr/>
            <p:nvPr/>
          </p:nvSpPr>
          <p:spPr>
            <a:xfrm>
              <a:off x="8637270" y="3320415"/>
              <a:ext cx="1905" cy="1905"/>
            </a:xfrm>
            <a:prstGeom prst="ellipse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3" name="Ellipse 43"/>
            <p:cNvSpPr/>
            <p:nvPr/>
          </p:nvSpPr>
          <p:spPr>
            <a:xfrm>
              <a:off x="8590598" y="3273742"/>
              <a:ext cx="95250" cy="9525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44" name="Ellipse 44"/>
            <p:cNvSpPr/>
            <p:nvPr/>
          </p:nvSpPr>
          <p:spPr>
            <a:xfrm>
              <a:off x="10347960" y="4924425"/>
              <a:ext cx="1905" cy="1905"/>
            </a:xfrm>
            <a:prstGeom prst="ellipse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5" name="Ellipse 45"/>
            <p:cNvSpPr/>
            <p:nvPr/>
          </p:nvSpPr>
          <p:spPr>
            <a:xfrm>
              <a:off x="10347960" y="2588895"/>
              <a:ext cx="1905" cy="1905"/>
            </a:xfrm>
            <a:prstGeom prst="ellipse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6" name="Ellipse 46"/>
            <p:cNvSpPr/>
            <p:nvPr/>
          </p:nvSpPr>
          <p:spPr>
            <a:xfrm>
              <a:off x="10301288" y="2542222"/>
              <a:ext cx="95250" cy="9525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47" name="Ellipse 47"/>
            <p:cNvSpPr/>
            <p:nvPr/>
          </p:nvSpPr>
          <p:spPr>
            <a:xfrm>
              <a:off x="9543098" y="4924425"/>
              <a:ext cx="1905" cy="1905"/>
            </a:xfrm>
            <a:prstGeom prst="ellipse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8" name="Ellipse 48"/>
            <p:cNvSpPr/>
            <p:nvPr/>
          </p:nvSpPr>
          <p:spPr>
            <a:xfrm>
              <a:off x="9543098" y="3066098"/>
              <a:ext cx="1905" cy="1905"/>
            </a:xfrm>
            <a:prstGeom prst="ellipse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9" name="Ellipse 49"/>
            <p:cNvSpPr/>
            <p:nvPr/>
          </p:nvSpPr>
          <p:spPr>
            <a:xfrm>
              <a:off x="9505950" y="3395662"/>
              <a:ext cx="76200" cy="76200"/>
            </a:xfrm>
            <a:prstGeom prst="ellipse">
              <a:avLst/>
            </a:prstGeom>
            <a:solidFill>
              <a:srgbClr val="1F2937"/>
            </a:solidFill>
            <a:ln>
              <a:noFill/>
            </a:ln>
          </p:spPr>
        </p:sp>
        <p:sp>
          <p:nvSpPr>
            <p:cNvPr id="50" name="Ellipse 50"/>
            <p:cNvSpPr/>
            <p:nvPr/>
          </p:nvSpPr>
          <p:spPr>
            <a:xfrm>
              <a:off x="9505950" y="3028950"/>
              <a:ext cx="76200" cy="76200"/>
            </a:xfrm>
            <a:prstGeom prst="ellipse">
              <a:avLst/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51" name="TextBox 51"/>
            <p:cNvSpPr txBox="1"/>
            <p:nvPr/>
          </p:nvSpPr>
          <p:spPr>
            <a:xfrm>
              <a:off x="11408540" y="4999196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x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6840855" y="1609249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y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7240847" y="5013484"/>
              <a:ext cx="17728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x₀</a:t>
              </a:r>
            </a:p>
          </p:txBody>
        </p:sp>
        <p:sp>
          <p:nvSpPr>
            <p:cNvPr id="54" name="TextBox 54"/>
            <p:cNvSpPr txBox="1"/>
            <p:nvPr/>
          </p:nvSpPr>
          <p:spPr>
            <a:xfrm>
              <a:off x="8549582" y="5013484"/>
              <a:ext cx="17728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x₁</a:t>
              </a:r>
            </a:p>
          </p:txBody>
        </p:sp>
        <p:sp>
          <p:nvSpPr>
            <p:cNvPr id="55" name="TextBox 55"/>
            <p:cNvSpPr txBox="1"/>
            <p:nvPr/>
          </p:nvSpPr>
          <p:spPr>
            <a:xfrm>
              <a:off x="10260272" y="5013484"/>
              <a:ext cx="17728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x₂</a:t>
              </a:r>
            </a:p>
          </p:txBody>
        </p:sp>
        <p:sp>
          <p:nvSpPr>
            <p:cNvPr id="56" name="TextBox 56"/>
            <p:cNvSpPr txBox="1"/>
            <p:nvPr/>
          </p:nvSpPr>
          <p:spPr>
            <a:xfrm>
              <a:off x="9451263" y="5013484"/>
              <a:ext cx="1855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x′</a:t>
              </a:r>
            </a:p>
          </p:txBody>
        </p:sp>
        <p:sp>
          <p:nvSpPr>
            <p:cNvPr id="57" name="TextBox 57"/>
            <p:cNvSpPr txBox="1"/>
            <p:nvPr/>
          </p:nvSpPr>
          <p:spPr>
            <a:xfrm>
              <a:off x="10883064" y="2288381"/>
              <a:ext cx="6288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y = f(x)</a:t>
              </a:r>
            </a:p>
          </p:txBody>
        </p:sp>
        <p:sp>
          <p:nvSpPr>
            <p:cNvPr id="58" name="TextBox 58"/>
            <p:cNvSpPr txBox="1"/>
            <p:nvPr/>
          </p:nvSpPr>
          <p:spPr>
            <a:xfrm>
              <a:off x="10129284" y="1627346"/>
              <a:ext cx="72921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112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y = L₂(x)</a:t>
              </a:r>
            </a:p>
          </p:txBody>
        </p:sp>
      </p:grpSp>
      <p:grpSp>
        <p:nvGrpSpPr>
          <p:cNvPr id="65" name="c2-callout-2"/>
          <p:cNvGrpSpPr/>
          <p:nvPr/>
        </p:nvGrpSpPr>
        <p:grpSpPr>
          <a:xfrm>
            <a:off x="6573202" y="5579745"/>
            <a:ext cx="5085398" cy="782955"/>
            <a:chOff x="6573202" y="5579745"/>
            <a:chExt cx="5085398" cy="782955"/>
          </a:xfrm>
        </p:grpSpPr>
        <p:sp>
          <p:nvSpPr>
            <p:cNvPr id="60" name="Rectangle 60"/>
            <p:cNvSpPr/>
            <p:nvPr/>
          </p:nvSpPr>
          <p:spPr>
            <a:xfrm>
              <a:off x="6573202" y="5579745"/>
              <a:ext cx="5085398" cy="782955"/>
            </a:xfrm>
            <a:prstGeom prst="roundRect">
              <a:avLst>
                <a:gd name="adj" fmla="val 14599"/>
              </a:avLst>
            </a:prstGeom>
            <a:solidFill>
              <a:srgbClr val="2E7D4F"/>
            </a:solidFill>
            <a:ln>
              <a:noFill/>
            </a:ln>
          </p:spPr>
        </p:sp>
        <p:grpSp>
          <p:nvGrpSpPr>
            <p:cNvPr id="63" name="Group 63"/>
            <p:cNvGrpSpPr/>
            <p:nvPr/>
          </p:nvGrpSpPr>
          <p:grpSpPr>
            <a:xfrm>
              <a:off x="6777990" y="5871212"/>
              <a:ext cx="200023" cy="200023"/>
              <a:chOff x="6777990" y="5871212"/>
              <a:chExt cx="200023" cy="200023"/>
            </a:xfrm>
          </p:grpSpPr>
          <p:sp>
            <p:nvSpPr>
              <p:cNvPr id="61" name="Freeform 61"/>
              <p:cNvSpPr/>
              <p:nvPr/>
            </p:nvSpPr>
            <p:spPr>
              <a:xfrm>
                <a:off x="6777990" y="5871212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62" name="Freeform 62"/>
              <p:cNvSpPr/>
              <p:nvPr/>
            </p:nvSpPr>
            <p:spPr>
              <a:xfrm>
                <a:off x="6911340" y="5937885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64" name="TextBox 64"/>
            <p:cNvSpPr txBox="1"/>
            <p:nvPr/>
          </p:nvSpPr>
          <p:spPr>
            <a:xfrm>
              <a:off x="7079933" y="5728335"/>
              <a:ext cx="4177665" cy="5695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每个基函数在自己的节点上取 1，在另外两个节点</a:t>
              </a:r>
              <a:br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上取 0，所以 L₂(xₖ) = yₖ 自动成立。</a:t>
              </a:r>
            </a:p>
          </p:txBody>
        </p:sp>
      </p:grpSp>
      <p:grpSp>
        <p:nvGrpSpPr>
          <p:cNvPr id="68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66" name="TextBox 66"/>
            <p:cNvSpPr txBox="1"/>
            <p:nvPr/>
          </p:nvSpPr>
          <p:spPr>
            <a:xfrm>
              <a:off x="528447" y="6581299"/>
              <a:ext cx="225267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计算方法 · 第5章 函数插值与曲线拟合</a:t>
              </a:r>
            </a:p>
          </p:txBody>
        </p:sp>
        <p:sp>
          <p:nvSpPr>
            <p:cNvPr id="67" name="TextBox 67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13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10708691" cy="909257"/>
            <a:chOff x="520446" y="342900"/>
            <a:chExt cx="10708691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272665" cy="266700"/>
            </a:xfrm>
            <a:prstGeom prst="roundRect">
              <a:avLst>
                <a:gd name="adj" fmla="val 50000"/>
              </a:avLst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01058" y="407194"/>
              <a:ext cx="213734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第5章 函数插值 · 拉格朗日插值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10708691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n 次 Lagrange 插值：先构造在节点上“一个取 1、其余取 0”的基函数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E7D4F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20" name="c1-steps-1"/>
          <p:cNvGrpSpPr/>
          <p:nvPr/>
        </p:nvGrpSpPr>
        <p:grpSpPr>
          <a:xfrm>
            <a:off x="533400" y="1533525"/>
            <a:ext cx="5082921" cy="2582514"/>
            <a:chOff x="533400" y="1533525"/>
            <a:chExt cx="5082921" cy="2582514"/>
          </a:xfrm>
        </p:grpSpPr>
        <p:sp>
          <p:nvSpPr>
            <p:cNvPr id="7" name="Rectangle 7"/>
            <p:cNvSpPr/>
            <p:nvPr/>
          </p:nvSpPr>
          <p:spPr>
            <a:xfrm>
              <a:off x="666750" y="1676400"/>
              <a:ext cx="19050" cy="1770698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8" name="Ellipse 8"/>
            <p:cNvSpPr/>
            <p:nvPr/>
          </p:nvSpPr>
          <p:spPr>
            <a:xfrm>
              <a:off x="533400" y="1533525"/>
              <a:ext cx="285750" cy="28575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627024" y="160734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10" name="Ellipse 10"/>
            <p:cNvSpPr/>
            <p:nvPr/>
          </p:nvSpPr>
          <p:spPr>
            <a:xfrm>
              <a:off x="533400" y="2419350"/>
              <a:ext cx="285750" cy="28575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627024" y="2493169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533400" y="3304222"/>
              <a:ext cx="285750" cy="28575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627024" y="3378041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944880" y="1567815"/>
              <a:ext cx="8229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提出要求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946023" y="1861661"/>
              <a:ext cx="4377690" cy="483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4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lᵢ(x) 是 n 次多项式，lᵢ(xₖ) = 1（k = i），lᵢ(xₖ) = 0（k ≠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i），i, k = 0, 1, …, n（5.2.8）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944880" y="2453640"/>
              <a:ext cx="122682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由零点写形式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946023" y="2746534"/>
              <a:ext cx="4670298" cy="483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4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lᵢ(x) 有 n 个根 x₀, …, xᵢ₋₁, xᵢ₊₁, …, xₙ，故设 lᵢ(x) = A(x −</a:t>
              </a:r>
              <a:br/>
              <a:r>
                <a:rPr lang="en-US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x₀)⋯(x − xᵢ₋₁)(x − xᵢ₊₁)⋯(x − xₙ)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944880" y="3338512"/>
              <a:ext cx="811454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定常数 A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946023" y="3632359"/>
              <a:ext cx="4605274" cy="483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4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由 lᵢ(xᵢ) = 1 得 A = 1 / [(xᵢ − x₀)⋯(xᵢ − xᵢ₋₁)(xᵢ − xᵢ₊₁)⋯</a:t>
              </a:r>
              <a:br/>
              <a:r>
                <a:rPr lang="en-US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(xᵢ − xₙ)]</a:t>
              </a:r>
            </a:p>
          </p:txBody>
        </p:sp>
      </p:grpSp>
      <p:grpSp>
        <p:nvGrpSpPr>
          <p:cNvPr id="48" name="c1-table-2"/>
          <p:cNvGrpSpPr/>
          <p:nvPr/>
        </p:nvGrpSpPr>
        <p:grpSpPr>
          <a:xfrm>
            <a:off x="533400" y="4294822"/>
            <a:ext cx="5410200" cy="1795462"/>
            <a:chOff x="533400" y="4294822"/>
            <a:chExt cx="5410200" cy="1795462"/>
          </a:xfrm>
        </p:grpSpPr>
        <p:sp>
          <p:nvSpPr>
            <p:cNvPr id="21" name="Rectangle 21"/>
            <p:cNvSpPr/>
            <p:nvPr/>
          </p:nvSpPr>
          <p:spPr>
            <a:xfrm>
              <a:off x="533400" y="4294822"/>
              <a:ext cx="5410200" cy="448628"/>
            </a:xfrm>
            <a:prstGeom prst="rect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959699" y="4430554"/>
              <a:ext cx="646637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n = 2 时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2465813" y="4430554"/>
              <a:ext cx="43856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在 x₀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3768833" y="4430554"/>
              <a:ext cx="43856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在 x₁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5072806" y="4430554"/>
              <a:ext cx="43856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在 x₂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641223" y="4879181"/>
              <a:ext cx="465277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l₀(x)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2043112" y="4752975"/>
              <a:ext cx="1283970" cy="429578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2631234" y="4879181"/>
              <a:ext cx="10772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3934254" y="4879181"/>
              <a:ext cx="10772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5238227" y="4879181"/>
              <a:ext cx="10772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533400" y="5187315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533400" y="5192078"/>
              <a:ext cx="5410200" cy="448628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641223" y="5327809"/>
              <a:ext cx="465277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l₁(x)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2631234" y="5327809"/>
              <a:ext cx="10772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3346132" y="5201602"/>
              <a:ext cx="1283970" cy="429578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3934254" y="5327809"/>
              <a:ext cx="10772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5238227" y="5327809"/>
              <a:ext cx="10772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38" name="Rectangle 38"/>
            <p:cNvSpPr/>
            <p:nvPr/>
          </p:nvSpPr>
          <p:spPr>
            <a:xfrm>
              <a:off x="533400" y="5636895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641223" y="5776436"/>
              <a:ext cx="465277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l₂(x)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2631234" y="5776436"/>
              <a:ext cx="10772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3934254" y="5776436"/>
              <a:ext cx="10772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42" name="Rectangle 42"/>
            <p:cNvSpPr/>
            <p:nvPr/>
          </p:nvSpPr>
          <p:spPr>
            <a:xfrm>
              <a:off x="4650105" y="5651182"/>
              <a:ext cx="1283970" cy="429578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5238227" y="5776436"/>
              <a:ext cx="10772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44" name="Rectangle 44"/>
            <p:cNvSpPr/>
            <p:nvPr/>
          </p:nvSpPr>
          <p:spPr>
            <a:xfrm>
              <a:off x="533400" y="4294822"/>
              <a:ext cx="5410200" cy="1795462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45" name="Rectangle 45"/>
            <p:cNvSpPr/>
            <p:nvPr/>
          </p:nvSpPr>
          <p:spPr>
            <a:xfrm>
              <a:off x="2028825" y="4294822"/>
              <a:ext cx="9525" cy="1795462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6" name="Rectangle 46"/>
            <p:cNvSpPr/>
            <p:nvPr/>
          </p:nvSpPr>
          <p:spPr>
            <a:xfrm>
              <a:off x="3331845" y="4294822"/>
              <a:ext cx="9525" cy="1795462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7" name="Rectangle 47"/>
            <p:cNvSpPr/>
            <p:nvPr/>
          </p:nvSpPr>
          <p:spPr>
            <a:xfrm>
              <a:off x="4635818" y="4294822"/>
              <a:ext cx="9525" cy="1795462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49" name="formula65"/>
              <p:cNvSpPr txBox="1">
                <a:spLocks noGrp="1"/>
              </p:cNvSpPr>
              <p:nvPr/>
            </p:nvSpPr>
            <p:spPr>
              <a:xfrm>
                <a:off x="6248400" y="1524000"/>
                <a:ext cx="5410200" cy="7086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lIns="0" tIns="0" rIns="0" bIns="0" wrap="none" anchor="ctr">
                <a:normAutofit/>
              </a:bodyPr>
              <a:lstStyle/>
              <a:p>
                <a:pPr algn="ctr"/>
                <a14:m>
                  <m:oMathPara xmlns:a="http://schemas.openxmlformats.org/drawingml/2006/main"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a:rPr lang="zh-CN" sz="18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l</m:t>
                          </m:r>
                        </m:e>
                        <m:sub>
                          <m:r>
                            <a:rPr lang="zh-CN" sz="18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i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 m:val="on"/>
                          <m:ctrlPr>
                            <a:rPr lang="zh-CN" sz="18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a:rPr lang="zh-CN" sz="18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a:rPr lang="zh-CN" sz="180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nary>
                        <m:naryPr>
                          <m:chr m:val="∏"/>
                          <m:limLoc m:val="undOvr"/>
                          <m:grow m:val="off"/>
                          <m:subHide m:val="off"/>
                          <m:supHide m:val="off"/>
                          <m:ctrlPr>
                            <a:rPr lang="zh-CN" sz="18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naryPr>
                        <m:sub>
                          <m:r>
                            <a:rPr lang="zh-CN" sz="18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j</m:t>
                          </m:r>
                          <m:r>
                            <m:rPr>
                              <m:sty m:val="p"/>
                            </m:rPr>
                            <a:rPr lang="zh-CN" sz="18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=</m:t>
                          </m:r>
                          <m:r>
                            <a:rPr lang="zh-CN" sz="18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0</m:t>
                          </m:r>
                          <m:r>
                            <m:rPr>
                              <m:sty m:val="p"/>
                            </m:rPr>
                            <a:rPr lang="zh-CN" sz="18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,</m:t>
                          </m:r>
                          <m:r>
                            <a:rPr lang="zh-CN" sz="18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 xml:space="preserve"> </m:t>
                          </m:r>
                          <m:r>
                            <a:rPr lang="zh-CN" sz="18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j</m:t>
                          </m:r>
                          <m:r>
                            <m:rPr>
                              <m:sty m:val="p"/>
                            </m:rPr>
                            <a:rPr lang="zh-CN" sz="18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≠</m:t>
                          </m:r>
                          <m:r>
                            <a:rPr lang="zh-CN" sz="18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i</m:t>
                          </m:r>
                        </m:sub>
                        <m:sup>
                          <m:r>
                            <a:rPr lang="zh-CN" sz="18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n</m:t>
                          </m:r>
                        </m:sup>
                        <m:e>
                          <m:f>
                            <m:fPr>
                              <m:type m:val="bar"/>
                              <m:ctrlPr>
                                <a:rPr lang="zh-CN" sz="18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fPr>
                            <m:num>
                              <m:r>
                                <a:rPr lang="zh-CN" sz="18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a:rPr lang="zh-CN" sz="18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−</m:t>
                              </m:r>
                              <m:sSub>
                                <m:e>
                                  <m:r>
                                    <a:rPr lang="zh-CN" sz="180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x</m:t>
                                  </m:r>
                                </m:e>
                                <m:sub>
                                  <m:r>
                                    <a:rPr lang="zh-CN" sz="180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j</m:t>
                                  </m:r>
                                </m:sub>
                              </m:sSub>
                            </m:num>
                            <m:den>
                              <m:sSub>
                                <m:e>
                                  <m:r>
                                    <a:rPr lang="zh-CN" sz="180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x</m:t>
                                  </m:r>
                                </m:e>
                                <m:sub>
                                  <m:r>
                                    <a:rPr lang="zh-CN" sz="180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i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a:rPr lang="zh-CN" sz="18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−</m:t>
                              </m:r>
                              <m:sSub>
                                <m:e>
                                  <m:r>
                                    <a:rPr lang="zh-CN" sz="180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x</m:t>
                                  </m:r>
                                </m:e>
                                <m:sub>
                                  <m:r>
                                    <a:rPr lang="zh-CN" sz="180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j</m:t>
                                  </m:r>
                                </m:sub>
                              </m:sSub>
                            </m:den>
                          </m:f>
                          <m:r>
                            <a:rPr lang="zh-CN" sz="18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 xml:space="preserve">  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 m:val="on"/>
                              <m:ctrlPr>
                                <a:rPr lang="zh-CN" sz="18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r>
                                <a:rPr lang="zh-CN" sz="18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5.2.9</m:t>
                              </m:r>
                            </m:e>
                          </m:d>
                        </m:e>
                      </m:nary>
                    </m:oMath>
                  </m:oMathPara>
                </a14:m>
              </a:p>
            </p:txBody>
          </p:sp>
        </mc:Choice>
      </mc:AlternateContent>
      <p:grpSp>
        <p:nvGrpSpPr>
          <p:cNvPr id="51" name="c2-text-2"/>
          <p:cNvGrpSpPr/>
          <p:nvPr/>
        </p:nvGrpSpPr>
        <p:grpSpPr>
          <a:xfrm>
            <a:off x="6240780" y="2447925"/>
            <a:ext cx="4711065" cy="588645"/>
            <a:chOff x="6240780" y="2447925"/>
            <a:chExt cx="4711065" cy="588645"/>
          </a:xfrm>
        </p:grpSpPr>
        <p:sp>
          <p:nvSpPr>
            <p:cNvPr id="50" name="TextBox 50"/>
            <p:cNvSpPr txBox="1"/>
            <p:nvPr/>
          </p:nvSpPr>
          <p:spPr>
            <a:xfrm>
              <a:off x="6240780" y="2447925"/>
              <a:ext cx="4711065" cy="58864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325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lᵢ(x) 称为以 x₀, x₁, …, xₙ 为节点的</a:t>
              </a:r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插值基函数</a:t>
              </a: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。n 次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Lagrange 插值多项式为</a:t>
              </a:r>
            </a:p>
          </p:txBody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52" name="formula66"/>
              <p:cNvSpPr txBox="1">
                <a:spLocks noGrp="1"/>
              </p:cNvSpPr>
              <p:nvPr/>
            </p:nvSpPr>
            <p:spPr>
              <a:xfrm>
                <a:off x="6248400" y="3168015"/>
                <a:ext cx="5410200" cy="56102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lIns="0" tIns="0" rIns="0" bIns="0" wrap="none" anchor="ctr">
                <a:normAutofit/>
              </a:bodyPr>
              <a:lstStyle/>
              <a:p>
                <a:pPr algn="ctr"/>
                <a14:m>
                  <m:oMathPara xmlns:a="http://schemas.openxmlformats.org/drawingml/2006/main"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a:rPr lang="zh-CN" sz="14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L</m:t>
                          </m:r>
                        </m:e>
                        <m:sub>
                          <m:r>
                            <a:rPr lang="zh-CN" sz="14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n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 m:val="on"/>
                          <m:ctrlPr>
                            <a:rPr lang="zh-CN" sz="14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a:rPr lang="zh-CN" sz="14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a:rPr lang="zh-CN" sz="142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nary>
                        <m:naryPr>
                          <m:chr m:val="∑"/>
                          <m:limLoc m:val="undOvr"/>
                          <m:grow m:val="off"/>
                          <m:subHide m:val="off"/>
                          <m:supHide m:val="off"/>
                          <m:ctrlPr>
                            <a:rPr lang="zh-CN" sz="14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naryPr>
                        <m:sub>
                          <m:r>
                            <a:rPr lang="zh-CN" sz="14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i</m:t>
                          </m:r>
                          <m:r>
                            <m:rPr>
                              <m:sty m:val="p"/>
                            </m:rPr>
                            <a:rPr lang="zh-CN" sz="14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=</m:t>
                          </m:r>
                          <m:r>
                            <a:rPr lang="zh-CN" sz="14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0</m:t>
                          </m:r>
                        </m:sub>
                        <m:sup>
                          <m:r>
                            <a:rPr lang="zh-CN" sz="14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n</m:t>
                          </m:r>
                        </m:sup>
                        <m:e>
                          <m:sSub>
                            <m:e>
                              <m:r>
                                <a:rPr lang="zh-CN" sz="14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l</m:t>
                              </m:r>
                            </m:e>
                            <m:sub>
                              <m:r>
                                <a:rPr lang="zh-CN" sz="14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i</m:t>
                              </m:r>
                            </m:sub>
                          </m:sSub>
                          <m:d>
                            <m:dPr>
                              <m:begChr m:val="("/>
                              <m:sepChr m:val=""/>
                              <m:endChr m:val=")"/>
                              <m:grow m:val="on"/>
                              <m:ctrlPr>
                                <a:rPr lang="zh-CN" sz="14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r>
                                <a:rPr lang="zh-CN" sz="14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x</m:t>
                              </m:r>
                            </m:e>
                          </m:d>
                          <m:r>
                            <a:rPr lang="zh-CN" sz="14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 xml:space="preserve"> </m:t>
                          </m:r>
                          <m:sSub>
                            <m:e>
                              <m:r>
                                <a:rPr lang="zh-CN" sz="14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y</m:t>
                              </m:r>
                            </m:e>
                            <m:sub>
                              <m:r>
                                <a:rPr lang="zh-CN" sz="14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i</m:t>
                              </m:r>
                            </m:sub>
                          </m:sSub>
                        </m:e>
                      </m:nary>
                      <m:r>
                        <m:rPr>
                          <m:sty m:val="p"/>
                        </m:rPr>
                        <a:rPr lang="zh-CN" sz="142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nary>
                        <m:naryPr>
                          <m:chr m:val="∑"/>
                          <m:limLoc m:val="undOvr"/>
                          <m:grow m:val="off"/>
                          <m:subHide m:val="off"/>
                          <m:supHide m:val="off"/>
                          <m:ctrlPr>
                            <a:rPr lang="zh-CN" sz="14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naryPr>
                        <m:sub>
                          <m:r>
                            <a:rPr lang="zh-CN" sz="14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i</m:t>
                          </m:r>
                          <m:r>
                            <m:rPr>
                              <m:sty m:val="p"/>
                            </m:rPr>
                            <a:rPr lang="zh-CN" sz="14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=</m:t>
                          </m:r>
                          <m:r>
                            <a:rPr lang="zh-CN" sz="14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0</m:t>
                          </m:r>
                        </m:sub>
                        <m:sup>
                          <m:r>
                            <a:rPr lang="zh-CN" sz="14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n</m:t>
                          </m:r>
                        </m: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 m:val="on"/>
                              <m:ctrlPr>
                                <a:rPr lang="zh-CN" sz="14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nary>
                                <m:naryPr>
                                  <m:chr m:val="∏"/>
                                  <m:limLoc m:val="undOvr"/>
                                  <m:grow m:val="off"/>
                                  <m:subHide m:val="off"/>
                                  <m:supHide m:val="on"/>
                                  <m:ctrlPr>
                                    <a:rPr lang="zh-CN" sz="142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naryPr>
                                <m:sub>
                                  <m:r>
                                    <a:rPr lang="zh-CN" sz="142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j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zh-CN" sz="142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≠</m:t>
                                  </m:r>
                                  <m:r>
                                    <a:rPr lang="zh-CN" sz="142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i</m:t>
                                  </m:r>
                                </m:sub>
                                <m:sup/>
                                <m:e>
                                  <m:f>
                                    <m:fPr>
                                      <m:type m:val="bar"/>
                                      <m:ctrlPr>
                                        <a:rPr lang="zh-CN" sz="1420" dirty="0">
                                          <a:solidFill>
                                            <a:srgbClr val="1F2937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zh-CN" sz="1420" dirty="0">
                                          <a:solidFill>
                                            <a:srgbClr val="1F2937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x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a:rPr lang="zh-CN" sz="1420" dirty="0">
                                          <a:solidFill>
                                            <a:srgbClr val="1F2937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−</m:t>
                                      </m:r>
                                      <m:sSub>
                                        <m:e>
                                          <m:r>
                                            <a:rPr lang="zh-CN" sz="1420" dirty="0">
                                              <a:solidFill>
                                                <a:srgbClr val="1F2937"/>
                                              </a:solidFill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x</m:t>
                                          </m:r>
                                        </m:e>
                                        <m:sub>
                                          <m:r>
                                            <a:rPr lang="zh-CN" sz="1420" dirty="0">
                                              <a:solidFill>
                                                <a:srgbClr val="1F2937"/>
                                              </a:solidFill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j</m:t>
                                          </m:r>
                                        </m:sub>
                                      </m:sSub>
                                    </m:num>
                                    <m:den>
                                      <m:sSub>
                                        <m:e>
                                          <m:r>
                                            <a:rPr lang="zh-CN" sz="1420" dirty="0">
                                              <a:solidFill>
                                                <a:srgbClr val="1F2937"/>
                                              </a:solidFill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x</m:t>
                                          </m:r>
                                        </m:e>
                                        <m:sub>
                                          <m:r>
                                            <a:rPr lang="zh-CN" sz="1420" dirty="0">
                                              <a:solidFill>
                                                <a:srgbClr val="1F2937"/>
                                              </a:solidFill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i</m:t>
                                          </m:r>
                                        </m:sub>
                                      </m:sSub>
                                      <m:r>
                                        <m:rPr>
                                          <m:sty m:val="p"/>
                                        </m:rPr>
                                        <a:rPr lang="zh-CN" sz="1420" dirty="0">
                                          <a:solidFill>
                                            <a:srgbClr val="1F2937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−</m:t>
                                      </m:r>
                                      <m:sSub>
                                        <m:e>
                                          <m:r>
                                            <a:rPr lang="zh-CN" sz="1420" dirty="0">
                                              <a:solidFill>
                                                <a:srgbClr val="1F2937"/>
                                              </a:solidFill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x</m:t>
                                          </m:r>
                                        </m:e>
                                        <m:sub>
                                          <m:r>
                                            <a:rPr lang="zh-CN" sz="1420" dirty="0">
                                              <a:solidFill>
                                                <a:srgbClr val="1F2937"/>
                                              </a:solidFill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j</m:t>
                                          </m:r>
                                        </m:sub>
                                      </m:sSub>
                                    </m:den>
                                  </m:f>
                                </m:e>
                              </m:nary>
                            </m:e>
                          </m:d>
                          <m:sSub>
                            <m:e>
                              <m:r>
                                <a:rPr lang="zh-CN" sz="14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y</m:t>
                              </m:r>
                            </m:e>
                            <m:sub>
                              <m:r>
                                <a:rPr lang="zh-CN" sz="14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i</m:t>
                              </m:r>
                            </m:sub>
                          </m:sSub>
                          <m:r>
                            <a:rPr lang="zh-CN" sz="14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 xml:space="preserve">  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 m:val="on"/>
                              <m:ctrlPr>
                                <a:rPr lang="zh-CN" sz="14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r>
                                <a:rPr lang="zh-CN" sz="14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5.2.10</m:t>
                              </m:r>
                            </m:e>
                          </m:d>
                        </m:e>
                      </m:nary>
                    </m:oMath>
                  </m:oMathPara>
                </a14:m>
              </a:p>
            </p:txBody>
          </p:sp>
        </mc:Choice>
      </mc:AlternateContent>
      <p:grpSp>
        <p:nvGrpSpPr>
          <p:cNvPr id="58" name="c2-card-4"/>
          <p:cNvGrpSpPr/>
          <p:nvPr/>
        </p:nvGrpSpPr>
        <p:grpSpPr>
          <a:xfrm>
            <a:off x="6248400" y="3919538"/>
            <a:ext cx="5410200" cy="2170748"/>
            <a:chOff x="6248400" y="3919538"/>
            <a:chExt cx="5410200" cy="2170748"/>
          </a:xfrm>
        </p:grpSpPr>
        <p:sp>
          <p:nvSpPr>
            <p:cNvPr id="53" name="Rectangle 53"/>
            <p:cNvSpPr/>
            <p:nvPr/>
          </p:nvSpPr>
          <p:spPr>
            <a:xfrm>
              <a:off x="6248400" y="3919538"/>
              <a:ext cx="5410200" cy="2170748"/>
            </a:xfrm>
            <a:prstGeom prst="roundRect">
              <a:avLst>
                <a:gd name="adj" fmla="val 6143"/>
              </a:avLst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54" name="Rectangle 54"/>
            <p:cNvSpPr/>
            <p:nvPr/>
          </p:nvSpPr>
          <p:spPr>
            <a:xfrm>
              <a:off x="6457950" y="4129088"/>
              <a:ext cx="2094548" cy="257175"/>
            </a:xfrm>
            <a:prstGeom prst="roundRect">
              <a:avLst>
                <a:gd name="adj" fmla="val 50000"/>
              </a:avLst>
            </a:prstGeom>
            <a:solidFill>
              <a:srgbClr val="23613D"/>
            </a:solidFill>
            <a:ln>
              <a:noFill/>
            </a:ln>
          </p:spPr>
        </p:sp>
        <p:sp>
          <p:nvSpPr>
            <p:cNvPr id="55" name="TextBox 55"/>
            <p:cNvSpPr txBox="1"/>
            <p:nvPr/>
          </p:nvSpPr>
          <p:spPr>
            <a:xfrm>
              <a:off x="6497352" y="4164806"/>
              <a:ext cx="201479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带余项的 Lagrange 插值公式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6" name="formula67"/>
                <p:cNvSpPr txBox="1">
                  <a:spLocks noGrp="1"/>
                </p:cNvSpPr>
                <p:nvPr/>
              </p:nvSpPr>
              <p:spPr>
                <a:xfrm>
                  <a:off x="6457950" y="4481512"/>
                  <a:ext cx="4991100" cy="649605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lIns="0" tIns="0" rIns="0" bIns="0" wrap="none" anchor="ctr">
                  <a:normAutofit/>
                </a:bodyPr>
                <a:lstStyle/>
                <a:p>
                  <a:pPr algn="ctr"/>
                  <a14:m>
                    <m:oMathPara xmlns:a="http://schemas.openxmlformats.org/drawingml/2006/main" xmlns:m="http://schemas.openxmlformats.org/officeDocument/2006/math">
                      <m:oMathParaPr>
                        <m:jc m:val="center"/>
                      </m:oMathParaPr>
                      <m:oMath>
                        <m:r>
                          <a:rPr lang="zh-CN" sz="1650" dirty="0">
                            <a:solidFill>
                              <a:srgbClr val="FFFFFF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f</m:t>
                        </m:r>
                        <m:d>
                          <m:dPr>
                            <m:begChr m:val="("/>
                            <m:sepChr m:val=""/>
                            <m:endChr m:val=")"/>
                            <m:grow m:val="on"/>
                            <m:ctrlPr>
                              <a:rPr lang="zh-CN" sz="165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r>
                              <a:rPr lang="zh-CN" sz="165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x</m:t>
                            </m:r>
                          </m:e>
                        </m:d>
                        <m:r>
                          <m:rPr>
                            <m:sty m:val="p"/>
                          </m:rPr>
                          <a:rPr lang="zh-CN" sz="1650" dirty="0">
                            <a:solidFill>
                              <a:srgbClr val="FFFFFF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=</m:t>
                        </m:r>
                        <m:nary>
                          <m:naryPr>
                            <m:chr m:val="∑"/>
                            <m:limLoc m:val="undOvr"/>
                            <m:grow m:val="off"/>
                            <m:subHide m:val="off"/>
                            <m:supHide m:val="off"/>
                            <m:ctrlPr>
                              <a:rPr lang="zh-CN" sz="165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naryPr>
                          <m:sub>
                            <m:r>
                              <a:rPr lang="zh-CN" sz="165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i</m:t>
                            </m:r>
                            <m:r>
                              <m:rPr>
                                <m:sty m:val="p"/>
                              </m:rPr>
                              <a:rPr lang="zh-CN" sz="165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=</m:t>
                            </m:r>
                            <m:r>
                              <a:rPr lang="zh-CN" sz="165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0</m:t>
                            </m:r>
                          </m:sub>
                          <m:sup>
                            <m:r>
                              <a:rPr lang="zh-CN" sz="165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n</m:t>
                            </m:r>
                          </m:sup>
                          <m:e>
                            <m:sSub>
                              <m:e>
                                <m:r>
                                  <a:rPr lang="zh-CN" sz="1650" dirty="0">
                                    <a:solidFill>
                                      <a:srgbClr val="FFFF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l</m:t>
                                </m:r>
                              </m:e>
                              <m:sub>
                                <m:r>
                                  <a:rPr lang="zh-CN" sz="1650" dirty="0">
                                    <a:solidFill>
                                      <a:srgbClr val="FFFF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i</m:t>
                                </m:r>
                              </m:sub>
                            </m:sSub>
                            <m:d>
                              <m:dPr>
                                <m:begChr m:val="("/>
                                <m:sepChr m:val=""/>
                                <m:endChr m:val=")"/>
                                <m:grow m:val="on"/>
                                <m:ctrlPr>
                                  <a:rPr lang="zh-CN" sz="1650" dirty="0">
                                    <a:solidFill>
                                      <a:srgbClr val="FFFF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</m:ctrlPr>
                              </m:dPr>
                              <m:e>
                                <m:r>
                                  <a:rPr lang="zh-CN" sz="1650" dirty="0">
                                    <a:solidFill>
                                      <a:srgbClr val="FFFF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x</m:t>
                                </m:r>
                              </m:e>
                            </m:d>
                            <m:r>
                              <a:rPr lang="zh-CN" sz="165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 xml:space="preserve"> </m:t>
                            </m:r>
                            <m:sSub>
                              <m:e>
                                <m:r>
                                  <a:rPr lang="zh-CN" sz="1650" dirty="0">
                                    <a:solidFill>
                                      <a:srgbClr val="FFFF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y</m:t>
                                </m:r>
                              </m:e>
                              <m:sub>
                                <m:r>
                                  <a:rPr lang="zh-CN" sz="1650" dirty="0">
                                    <a:solidFill>
                                      <a:srgbClr val="FFFF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i</m:t>
                                </m:r>
                              </m:sub>
                            </m:sSub>
                          </m:e>
                        </m:nary>
                        <m:r>
                          <m:rPr>
                            <m:sty m:val="p"/>
                          </m:rPr>
                          <a:rPr lang="zh-CN" sz="1650" dirty="0">
                            <a:solidFill>
                              <a:srgbClr val="FFFFFF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+</m:t>
                        </m:r>
                        <m:f>
                          <m:fPr>
                            <m:type m:val="bar"/>
                            <m:ctrlPr>
                              <a:rPr lang="zh-CN" sz="165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fPr>
                          <m:num>
                            <m:sSup>
                              <m:e>
                                <m:r>
                                  <a:rPr lang="zh-CN" sz="1650" dirty="0">
                                    <a:solidFill>
                                      <a:srgbClr val="FFFF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f</m:t>
                                </m:r>
                              </m:e>
                              <m:sup>
                                <m:d>
                                  <m:dPr>
                                    <m:begChr m:val="("/>
                                    <m:sepChr m:val=""/>
                                    <m:endChr m:val=")"/>
                                    <m:grow m:val="on"/>
                                    <m:ctrlPr>
                                      <a:rPr lang="zh-CN" sz="1650" dirty="0">
                                        <a:solidFill>
                                          <a:srgbClr val="FFFFFF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dPr>
                                  <m:e>
                                    <m:r>
                                      <a:rPr lang="zh-CN" sz="1650" dirty="0">
                                        <a:solidFill>
                                          <a:srgbClr val="FFFFFF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n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zh-CN" sz="1650" dirty="0">
                                        <a:solidFill>
                                          <a:srgbClr val="FFFFFF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+</m:t>
                                    </m:r>
                                    <m:r>
                                      <a:rPr lang="zh-CN" sz="1650" dirty="0">
                                        <a:solidFill>
                                          <a:srgbClr val="FFFFFF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1</m:t>
                                    </m:r>
                                  </m:e>
                                </m:d>
                              </m:sup>
                            </m:sSup>
                            <m:d>
                              <m:dPr>
                                <m:begChr m:val="("/>
                                <m:sepChr m:val=""/>
                                <m:endChr m:val=")"/>
                                <m:grow m:val="on"/>
                                <m:ctrlPr>
                                  <a:rPr lang="zh-CN" sz="1650" dirty="0">
                                    <a:solidFill>
                                      <a:srgbClr val="FFFF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</m:ctrlPr>
                              </m:dPr>
                              <m:e>
                                <m:r>
                                  <a:rPr lang="zh-CN" sz="1650" dirty="0">
                                    <a:solidFill>
                                      <a:srgbClr val="FFFF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ξ</m:t>
                                </m:r>
                              </m:e>
                            </m:d>
                          </m:num>
                          <m:den>
                            <m:d>
                              <m:dPr>
                                <m:begChr m:val="("/>
                                <m:sepChr m:val=""/>
                                <m:endChr m:val=")"/>
                                <m:grow m:val="on"/>
                                <m:ctrlPr>
                                  <a:rPr lang="zh-CN" sz="1650" dirty="0">
                                    <a:solidFill>
                                      <a:srgbClr val="FFFF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</m:ctrlPr>
                              </m:dPr>
                              <m:e>
                                <m:r>
                                  <a:rPr lang="zh-CN" sz="1650" dirty="0">
                                    <a:solidFill>
                                      <a:srgbClr val="FFFF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n</m:t>
                                </m:r>
                                <m:r>
                                  <m:rPr>
                                    <m:sty m:val="p"/>
                                  </m:rPr>
                                  <a:rPr lang="zh-CN" sz="1650" dirty="0">
                                    <a:solidFill>
                                      <a:srgbClr val="FFFF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+</m:t>
                                </m:r>
                                <m:r>
                                  <a:rPr lang="zh-CN" sz="1650" dirty="0">
                                    <a:solidFill>
                                      <a:srgbClr val="FFFF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1</m:t>
                                </m:r>
                              </m:e>
                            </m:d>
                            <m:r>
                              <m:rPr>
                                <m:sty m:val="p"/>
                              </m:rPr>
                              <a:rPr lang="zh-CN" sz="165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!</m:t>
                            </m:r>
                          </m:den>
                        </m:f>
                        <m:r>
                          <a:rPr lang="zh-CN" sz="1650" dirty="0">
                            <a:solidFill>
                              <a:srgbClr val="FFFFFF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 xml:space="preserve"> </m:t>
                        </m:r>
                        <m:sSub>
                          <m:e>
                            <m:r>
                              <a:rPr lang="zh-CN" sz="165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ω</m:t>
                            </m:r>
                          </m:e>
                          <m:sub>
                            <m:r>
                              <a:rPr lang="zh-CN" sz="165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n</m:t>
                            </m:r>
                            <m:r>
                              <m:rPr>
                                <m:sty m:val="p"/>
                              </m:rPr>
                              <a:rPr lang="zh-CN" sz="165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+</m:t>
                            </m:r>
                            <m:r>
                              <a:rPr lang="zh-CN" sz="165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1</m:t>
                            </m:r>
                          </m:sub>
                        </m:sSub>
                        <m:d>
                          <m:dPr>
                            <m:begChr m:val="("/>
                            <m:sepChr m:val=""/>
                            <m:endChr m:val=")"/>
                            <m:grow m:val="on"/>
                            <m:ctrlPr>
                              <a:rPr lang="zh-CN" sz="165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r>
                              <a:rPr lang="zh-CN" sz="165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x</m:t>
                            </m:r>
                          </m:e>
                        </m:d>
                      </m:oMath>
                    </m:oMathPara>
                  </a14:m>
                </a:p>
              </p:txBody>
            </p:sp>
          </mc:Choice>
        </mc:AlternateContent>
        <p:sp>
          <p:nvSpPr>
            <p:cNvPr id="57" name="TextBox 57"/>
            <p:cNvSpPr txBox="1"/>
            <p:nvPr/>
          </p:nvSpPr>
          <p:spPr>
            <a:xfrm>
              <a:off x="6451473" y="5247799"/>
              <a:ext cx="3476457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n = 1 就是线性插值，n = 2 就是抛物线插值。</a:t>
              </a:r>
            </a:p>
          </p:txBody>
        </p:sp>
      </p:grpSp>
      <p:grpSp>
        <p:nvGrpSpPr>
          <p:cNvPr id="61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59" name="TextBox 59"/>
            <p:cNvSpPr txBox="1"/>
            <p:nvPr/>
          </p:nvSpPr>
          <p:spPr>
            <a:xfrm>
              <a:off x="528447" y="6581299"/>
              <a:ext cx="225267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计算方法 · 第5章 函数插值与曲线拟合</a:t>
              </a:r>
            </a:p>
          </p:txBody>
        </p:sp>
        <p:sp>
          <p:nvSpPr>
            <p:cNvPr id="60" name="TextBox 60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14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8491217" cy="909257"/>
            <a:chOff x="520446" y="342900"/>
            <a:chExt cx="8491217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272665" cy="266700"/>
            </a:xfrm>
            <a:prstGeom prst="roundRect">
              <a:avLst>
                <a:gd name="adj" fmla="val 50000"/>
              </a:avLst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01058" y="407194"/>
              <a:ext cx="213734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第5章 函数插值 · 拉格朗日插值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8491217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例 5.1（解 1）：取 121、144 两点，线性插值求 √125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E7D4F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5399" y="1550194"/>
            <a:ext cx="9576849" cy="308039"/>
            <a:chOff x="525399" y="1550194"/>
            <a:chExt cx="9576849" cy="308039"/>
          </a:xfrm>
        </p:grpSpPr>
        <p:sp>
          <p:nvSpPr>
            <p:cNvPr id="7" name="TextBox 7"/>
            <p:cNvSpPr txBox="1"/>
            <p:nvPr/>
          </p:nvSpPr>
          <p:spPr>
            <a:xfrm>
              <a:off x="525399" y="1550194"/>
              <a:ext cx="9576849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已知 √100 = 10，√121 = 11，√144 = 12，√169 = 13，求 √125 的近似值。准确值 √125 = 11.18034。</a:t>
              </a:r>
            </a:p>
          </p:txBody>
        </p:sp>
      </p:grpSp>
      <p:grpSp>
        <p:nvGrpSpPr>
          <p:cNvPr id="26" name="c1-steps-1"/>
          <p:cNvGrpSpPr/>
          <p:nvPr/>
        </p:nvGrpSpPr>
        <p:grpSpPr>
          <a:xfrm>
            <a:off x="533400" y="1977390"/>
            <a:ext cx="5491597" cy="2998755"/>
            <a:chOff x="533400" y="1977390"/>
            <a:chExt cx="5491597" cy="2998755"/>
          </a:xfrm>
        </p:grpSpPr>
        <p:sp>
          <p:nvSpPr>
            <p:cNvPr id="9" name="Rectangle 9"/>
            <p:cNvSpPr/>
            <p:nvPr/>
          </p:nvSpPr>
          <p:spPr>
            <a:xfrm>
              <a:off x="666750" y="2120265"/>
              <a:ext cx="19050" cy="2422208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0" name="Ellipse 10"/>
            <p:cNvSpPr/>
            <p:nvPr/>
          </p:nvSpPr>
          <p:spPr>
            <a:xfrm>
              <a:off x="533400" y="1977390"/>
              <a:ext cx="285750" cy="28575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627024" y="2051209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533400" y="2862262"/>
              <a:ext cx="285750" cy="28575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627024" y="2936081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533400" y="3512820"/>
              <a:ext cx="285750" cy="28575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627024" y="3586639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6" name="Ellipse 16"/>
            <p:cNvSpPr/>
            <p:nvPr/>
          </p:nvSpPr>
          <p:spPr>
            <a:xfrm>
              <a:off x="533400" y="4398645"/>
              <a:ext cx="285750" cy="28575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627024" y="447246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944880" y="2011680"/>
              <a:ext cx="62103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选节点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946023" y="2304574"/>
              <a:ext cx="4727194" cy="483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4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125 落在 121 与 144 之间，取 x₀ = 121，x₁ = 144，y₀ = 11，y₁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= 12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944880" y="2896552"/>
              <a:ext cx="8229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写基函数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946023" y="3190399"/>
              <a:ext cx="507897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l₀(x) = (x − 144)/(121 − 144)，l₁(x) = (x − 121)/(144 − 121)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944880" y="3547110"/>
              <a:ext cx="1192997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代入 x = 125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946023" y="3840956"/>
              <a:ext cx="4101338" cy="483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4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l₀(125) = (−19)/(−23) = 0.826087，l₁(125) = 4/23 =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0.173913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944880" y="4432935"/>
              <a:ext cx="4191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求值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946023" y="4726781"/>
              <a:ext cx="4559627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L₁(125) = 11 × 0.826087 + 12 × 0.173913 = </a:t>
              </a:r>
              <a:r>
                <a:rPr lang="zh-CN" sz="128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11.17391</a:t>
              </a:r>
            </a:p>
          </p:txBody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27" name="formula72"/>
              <p:cNvSpPr txBox="1">
                <a:spLocks noGrp="1"/>
              </p:cNvSpPr>
              <p:nvPr/>
            </p:nvSpPr>
            <p:spPr>
              <a:xfrm>
                <a:off x="533400" y="5153978"/>
                <a:ext cx="5410200" cy="43719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lIns="0" tIns="0" rIns="0" bIns="0" wrap="none" anchor="ctr">
                <a:normAutofit/>
              </a:bodyPr>
              <a:lstStyle/>
              <a:p>
                <a:pPr algn="ctr"/>
                <a14:m>
                  <m:oMathPara xmlns:a="http://schemas.openxmlformats.org/drawingml/2006/main"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a:rPr lang="zh-CN" sz="12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L</m:t>
                          </m:r>
                        </m:e>
                        <m:sub>
                          <m:r>
                            <a:rPr lang="zh-CN" sz="12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 m:val="on"/>
                          <m:ctrlPr>
                            <a:rPr lang="zh-CN" sz="12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a:rPr lang="zh-CN" sz="12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a:rPr lang="zh-CN" sz="128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r>
                        <a:rPr lang="zh-CN" sz="128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11</m:t>
                      </m:r>
                      <m:r>
                        <m:rPr>
                          <m:sty m:val="p"/>
                        </m:rPr>
                        <a:rPr lang="zh-CN" sz="128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×</m:t>
                      </m:r>
                      <m:f>
                        <m:fPr>
                          <m:type m:val="bar"/>
                          <m:ctrlPr>
                            <a:rPr lang="zh-CN" sz="12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Pr>
                        <m:num>
                          <m:r>
                            <a:rPr lang="zh-CN" sz="12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x</m:t>
                          </m:r>
                          <m:r>
                            <m:rPr>
                              <m:sty m:val="p"/>
                            </m:rPr>
                            <a:rPr lang="zh-CN" sz="12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−</m:t>
                          </m:r>
                          <m:r>
                            <a:rPr lang="zh-CN" sz="12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144</m:t>
                          </m:r>
                        </m:num>
                        <m:den>
                          <m:r>
                            <a:rPr lang="zh-CN" sz="12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121</m:t>
                          </m:r>
                          <m:r>
                            <m:rPr>
                              <m:sty m:val="p"/>
                            </m:rPr>
                            <a:rPr lang="zh-CN" sz="12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−</m:t>
                          </m:r>
                          <m:r>
                            <a:rPr lang="zh-CN" sz="12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144</m:t>
                          </m:r>
                        </m:den>
                      </m:f>
                      <m:r>
                        <m:rPr>
                          <m:sty m:val="p"/>
                        </m:rPr>
                        <a:rPr lang="zh-CN" sz="128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+</m:t>
                      </m:r>
                      <m:r>
                        <a:rPr lang="zh-CN" sz="128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12</m:t>
                      </m:r>
                      <m:r>
                        <m:rPr>
                          <m:sty m:val="p"/>
                        </m:rPr>
                        <a:rPr lang="zh-CN" sz="128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×</m:t>
                      </m:r>
                      <m:f>
                        <m:fPr>
                          <m:type m:val="bar"/>
                          <m:ctrlPr>
                            <a:rPr lang="zh-CN" sz="12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Pr>
                        <m:num>
                          <m:r>
                            <a:rPr lang="zh-CN" sz="12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x</m:t>
                          </m:r>
                          <m:r>
                            <m:rPr>
                              <m:sty m:val="p"/>
                            </m:rPr>
                            <a:rPr lang="zh-CN" sz="12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−</m:t>
                          </m:r>
                          <m:r>
                            <a:rPr lang="zh-CN" sz="12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121</m:t>
                          </m:r>
                        </m:num>
                        <m:den>
                          <m:r>
                            <a:rPr lang="zh-CN" sz="12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144</m:t>
                          </m:r>
                          <m:r>
                            <m:rPr>
                              <m:sty m:val="p"/>
                            </m:rPr>
                            <a:rPr lang="zh-CN" sz="12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−</m:t>
                          </m:r>
                          <m:r>
                            <a:rPr lang="zh-CN" sz="12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121</m:t>
                          </m:r>
                        </m:den>
                      </m:f>
                    </m:oMath>
                  </m:oMathPara>
                </a14:m>
              </a:p>
            </p:txBody>
          </p:sp>
        </mc:Choice>
      </mc:AlternateContent>
      <p:grpSp>
        <p:nvGrpSpPr>
          <p:cNvPr id="37" name="c2-card-1"/>
          <p:cNvGrpSpPr/>
          <p:nvPr/>
        </p:nvGrpSpPr>
        <p:grpSpPr>
          <a:xfrm>
            <a:off x="6248400" y="1967865"/>
            <a:ext cx="5410200" cy="3624262"/>
            <a:chOff x="6248400" y="1967865"/>
            <a:chExt cx="5410200" cy="3624262"/>
          </a:xfrm>
        </p:grpSpPr>
        <p:sp>
          <p:nvSpPr>
            <p:cNvPr id="28" name="Rectangle 28"/>
            <p:cNvSpPr/>
            <p:nvPr/>
          </p:nvSpPr>
          <p:spPr>
            <a:xfrm>
              <a:off x="6248400" y="1967865"/>
              <a:ext cx="5410200" cy="3624262"/>
            </a:xfrm>
            <a:prstGeom prst="roundRect">
              <a:avLst>
                <a:gd name="adj" fmla="val 3679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29" name="Rectangle 29"/>
            <p:cNvSpPr/>
            <p:nvPr/>
          </p:nvSpPr>
          <p:spPr>
            <a:xfrm>
              <a:off x="6257925" y="2101215"/>
              <a:ext cx="47625" cy="3357562"/>
            </a:xfrm>
            <a:prstGeom prst="roundRect">
              <a:avLst>
                <a:gd name="adj" fmla="val 50000"/>
              </a:avLst>
            </a:prstGeom>
            <a:solidFill>
              <a:srgbClr val="14A38B"/>
            </a:solidFill>
            <a:ln>
              <a:noFill/>
            </a:ln>
          </p:spPr>
        </p:sp>
        <p:sp>
          <p:nvSpPr>
            <p:cNvPr id="30" name="Rectangle 30"/>
            <p:cNvSpPr/>
            <p:nvPr/>
          </p:nvSpPr>
          <p:spPr>
            <a:xfrm>
              <a:off x="6496050" y="2177415"/>
              <a:ext cx="1631632" cy="257175"/>
            </a:xfrm>
            <a:prstGeom prst="roundRect">
              <a:avLst>
                <a:gd name="adj" fmla="val 50000"/>
              </a:avLst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6552756" y="2213134"/>
              <a:ext cx="15191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补充：用余项估计误差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6488430" y="2554605"/>
              <a:ext cx="4425315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f(x) = √x，f″(x) = −1/(4x√x)，在 [121, 144] 上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|f″(x)| 在 x = 121 处最大：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3" name="formula73"/>
                <p:cNvSpPr txBox="1">
                  <a:spLocks noGrp="1"/>
                </p:cNvSpPr>
                <p:nvPr/>
              </p:nvSpPr>
              <p:spPr>
                <a:xfrm>
                  <a:off x="6496050" y="3150870"/>
                  <a:ext cx="4953000" cy="565785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lIns="0" tIns="0" rIns="0" bIns="0" wrap="none" anchor="ctr">
                  <a:normAutofit/>
                </a:bodyPr>
                <a:lstStyle/>
                <a:p>
                  <a:pPr algn="ctr"/>
                  <a14:m>
                    <m:oMathPara xmlns:a="http://schemas.openxmlformats.org/drawingml/2006/main" xmlns:m="http://schemas.openxmlformats.org/officeDocument/2006/math">
                      <m:oMathParaPr>
                        <m:jc m:val="center"/>
                      </m:oMathParaPr>
                      <m:oMath>
                        <m:sSub>
                          <m:e>
                            <m:r>
                              <a:rPr lang="zh-CN" sz="16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M</m:t>
                            </m:r>
                          </m:e>
                          <m:sub>
                            <m:r>
                              <a:rPr lang="zh-CN" sz="16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2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a:rPr lang="zh-CN" sz="16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=</m:t>
                        </m:r>
                        <m:f>
                          <m:fPr>
                            <m:type m:val="bar"/>
                            <m:ctrlPr>
                              <a:rPr lang="zh-CN" sz="16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fPr>
                          <m:num>
                            <m:r>
                              <a:rPr lang="zh-CN" sz="16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1</m:t>
                            </m:r>
                          </m:num>
                          <m:den>
                            <m:r>
                              <a:rPr lang="zh-CN" sz="16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4</m:t>
                            </m:r>
                          </m:den>
                        </m:f>
                        <m:r>
                          <m:rPr>
                            <m:sty m:val="p"/>
                          </m:rPr>
                          <a:rPr lang="zh-CN" sz="16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×</m:t>
                        </m:r>
                        <m:r>
                          <a:rPr lang="zh-CN" sz="16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12</m:t>
                        </m:r>
                        <m:sSup>
                          <m:e>
                            <m:r>
                              <a:rPr lang="zh-CN" sz="16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1</m:t>
                            </m:r>
                          </m:e>
                          <m:sup>
                            <m:r>
                              <m:rPr>
                                <m:sty m:val="p"/>
                              </m:rPr>
                              <a:rPr lang="zh-CN" sz="16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−</m:t>
                            </m:r>
                            <m:r>
                              <a:rPr lang="zh-CN" sz="16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3</m:t>
                            </m:r>
                            <m:r>
                              <m:rPr>
                                <m:sty m:val="p"/>
                              </m:rPr>
                              <a:rPr lang="zh-CN" sz="16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/</m:t>
                            </m:r>
                            <m:r>
                              <a:rPr lang="zh-CN" sz="16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2</m:t>
                            </m:r>
                          </m:sup>
                        </m:sSup>
                        <m:r>
                          <m:rPr>
                            <m:sty m:val="p"/>
                          </m:rPr>
                          <a:rPr lang="zh-CN" sz="16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≈</m:t>
                        </m:r>
                        <m:r>
                          <a:rPr lang="zh-CN" sz="16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1.878</m:t>
                        </m:r>
                        <m:r>
                          <m:rPr>
                            <m:sty m:val="p"/>
                          </m:rPr>
                          <a:rPr lang="zh-CN" sz="16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×</m:t>
                        </m:r>
                        <m:r>
                          <a:rPr lang="zh-CN" sz="16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1</m:t>
                        </m:r>
                        <m:sSup>
                          <m:e>
                            <m:r>
                              <a:rPr lang="zh-CN" sz="16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0</m:t>
                            </m:r>
                          </m:e>
                          <m:sup>
                            <m:r>
                              <m:rPr>
                                <m:sty m:val="p"/>
                              </m:rPr>
                              <a:rPr lang="zh-CN" sz="16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−</m:t>
                            </m:r>
                            <m:r>
                              <a:rPr lang="zh-CN" sz="16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4</m:t>
                            </m:r>
                          </m:sup>
                        </m:sSup>
                      </m:oMath>
                    </m:oMathPara>
                  </a14:m>
                </a:p>
              </p:txBody>
            </p:sp>
          </mc:Choice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4" name="formula74"/>
                <p:cNvSpPr txBox="1">
                  <a:spLocks noGrp="1"/>
                </p:cNvSpPr>
                <p:nvPr/>
              </p:nvSpPr>
              <p:spPr>
                <a:xfrm>
                  <a:off x="6496050" y="3811905"/>
                  <a:ext cx="4953000" cy="565785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lIns="0" tIns="0" rIns="0" bIns="0" wrap="none" anchor="ctr">
                  <a:normAutofit/>
                </a:bodyPr>
                <a:lstStyle/>
                <a:p>
                  <a:pPr algn="ctr"/>
                  <a14:m>
                    <m:oMathPara xmlns:a="http://schemas.openxmlformats.org/drawingml/2006/main" xmlns:m="http://schemas.openxmlformats.org/officeDocument/2006/math">
                      <m:oMathParaPr>
                        <m:jc m:val="center"/>
                      </m:oMathParaPr>
                      <m:oMath>
                        <m:d>
                          <m:dPr>
                            <m:begChr m:val="|"/>
                            <m:sepChr m:val=""/>
                            <m:endChr m:val="|"/>
                            <m:grow m:val="on"/>
                            <m:ctrlPr>
                              <a:rPr lang="zh-CN" sz="16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sSub>
                              <m:e>
                                <m:r>
                                  <a:rPr lang="zh-CN" sz="16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R</m:t>
                                </m:r>
                              </m:e>
                              <m:sub>
                                <m:r>
                                  <a:rPr lang="zh-CN" sz="16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1</m:t>
                                </m:r>
                              </m:sub>
                            </m:sSub>
                            <m:d>
                              <m:dPr>
                                <m:begChr m:val="("/>
                                <m:sepChr m:val=""/>
                                <m:endChr m:val=")"/>
                                <m:grow m:val="on"/>
                                <m:ctrlPr>
                                  <a:rPr lang="zh-CN" sz="16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</m:ctrlPr>
                              </m:dPr>
                              <m:e>
                                <m:r>
                                  <a:rPr lang="zh-CN" sz="16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125</m:t>
                                </m:r>
                              </m:e>
                            </m:d>
                          </m:e>
                        </m:d>
                        <m:r>
                          <m:rPr>
                            <m:sty m:val="p"/>
                          </m:rPr>
                          <a:rPr lang="zh-CN" sz="16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≤</m:t>
                        </m:r>
                        <m:f>
                          <m:fPr>
                            <m:type m:val="bar"/>
                            <m:ctrlPr>
                              <a:rPr lang="zh-CN" sz="16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fPr>
                          <m:num>
                            <m:sSub>
                              <m:e>
                                <m:r>
                                  <a:rPr lang="zh-CN" sz="16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M</m:t>
                                </m:r>
                              </m:e>
                              <m:sub>
                                <m:r>
                                  <a:rPr lang="zh-CN" sz="16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2</m:t>
                                </m:r>
                              </m:sub>
                            </m:sSub>
                          </m:num>
                          <m:den>
                            <m:r>
                              <a:rPr lang="zh-CN" sz="16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2</m:t>
                            </m:r>
                          </m:den>
                        </m:f>
                        <m:r>
                          <a:rPr lang="zh-CN" sz="16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 xml:space="preserve"> </m:t>
                        </m:r>
                        <m:d>
                          <m:dPr>
                            <m:begChr m:val="|"/>
                            <m:sepChr m:val=""/>
                            <m:endChr m:val="|"/>
                            <m:grow m:val="on"/>
                            <m:ctrlPr>
                              <a:rPr lang="zh-CN" sz="16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d>
                              <m:dPr>
                                <m:begChr m:val="("/>
                                <m:sepChr m:val=""/>
                                <m:endChr m:val=")"/>
                                <m:grow m:val="on"/>
                                <m:ctrlPr>
                                  <a:rPr lang="zh-CN" sz="16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</m:ctrlPr>
                              </m:dPr>
                              <m:e>
                                <m:r>
                                  <a:rPr lang="zh-CN" sz="16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125</m:t>
                                </m:r>
                                <m:r>
                                  <m:rPr>
                                    <m:sty m:val="p"/>
                                  </m:rPr>
                                  <a:rPr lang="zh-CN" sz="16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−</m:t>
                                </m:r>
                                <m:r>
                                  <a:rPr lang="zh-CN" sz="16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121</m:t>
                                </m:r>
                              </m:e>
                            </m:d>
                            <m:d>
                              <m:dPr>
                                <m:begChr m:val="("/>
                                <m:sepChr m:val=""/>
                                <m:endChr m:val=")"/>
                                <m:grow m:val="on"/>
                                <m:ctrlPr>
                                  <a:rPr lang="zh-CN" sz="16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</m:ctrlPr>
                              </m:dPr>
                              <m:e>
                                <m:r>
                                  <a:rPr lang="zh-CN" sz="16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125</m:t>
                                </m:r>
                                <m:r>
                                  <m:rPr>
                                    <m:sty m:val="p"/>
                                  </m:rPr>
                                  <a:rPr lang="zh-CN" sz="16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−</m:t>
                                </m:r>
                                <m:r>
                                  <a:rPr lang="zh-CN" sz="16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144</m:t>
                                </m:r>
                              </m:e>
                            </m:d>
                          </m:e>
                        </m:d>
                      </m:oMath>
                    </m:oMathPara>
                  </a14:m>
                </a:p>
              </p:txBody>
            </p:sp>
          </mc:Choice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5" name="formula75"/>
                <p:cNvSpPr txBox="1">
                  <a:spLocks noGrp="1"/>
                </p:cNvSpPr>
                <p:nvPr/>
              </p:nvSpPr>
              <p:spPr>
                <a:xfrm>
                  <a:off x="6496050" y="4472940"/>
                  <a:ext cx="4953000" cy="565785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lIns="0" tIns="0" rIns="0" bIns="0" wrap="none" anchor="ctr">
                  <a:normAutofit/>
                </a:bodyPr>
                <a:lstStyle/>
                <a:p>
                  <a:pPr algn="ctr"/>
                  <a14:m>
                    <m:oMathPara xmlns:a="http://schemas.openxmlformats.org/drawingml/2006/main" xmlns:m="http://schemas.openxmlformats.org/officeDocument/2006/math">
                      <m:oMathParaPr>
                        <m:jc m:val="center"/>
                      </m:oMathParaPr>
                      <m:oMath>
                        <m:r>
                          <m:rPr>
                            <m:sty m:val="p"/>
                          </m:rPr>
                          <a:rPr lang="zh-CN" sz="16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=</m:t>
                        </m:r>
                        <m:f>
                          <m:fPr>
                            <m:type m:val="bar"/>
                            <m:ctrlPr>
                              <a:rPr lang="zh-CN" sz="16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fPr>
                          <m:num>
                            <m:r>
                              <a:rPr lang="zh-CN" sz="16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1.878</m:t>
                            </m:r>
                            <m:r>
                              <m:rPr>
                                <m:sty m:val="p"/>
                              </m:rPr>
                              <a:rPr lang="zh-CN" sz="16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×</m:t>
                            </m:r>
                            <m:r>
                              <a:rPr lang="zh-CN" sz="16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1</m:t>
                            </m:r>
                            <m:sSup>
                              <m:e>
                                <m:r>
                                  <a:rPr lang="zh-CN" sz="16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0</m:t>
                                </m:r>
                              </m:e>
                              <m:sup>
                                <m:r>
                                  <m:rPr>
                                    <m:sty m:val="p"/>
                                  </m:rPr>
                                  <a:rPr lang="zh-CN" sz="16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−</m:t>
                                </m:r>
                                <m:r>
                                  <a:rPr lang="zh-CN" sz="16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4</m:t>
                                </m:r>
                              </m:sup>
                            </m:sSup>
                          </m:num>
                          <m:den>
                            <m:r>
                              <a:rPr lang="zh-CN" sz="16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2</m:t>
                            </m:r>
                          </m:den>
                        </m:f>
                        <m:r>
                          <m:rPr>
                            <m:sty m:val="p"/>
                          </m:rPr>
                          <a:rPr lang="zh-CN" sz="16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×</m:t>
                        </m:r>
                        <m:r>
                          <a:rPr lang="zh-CN" sz="16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76</m:t>
                        </m:r>
                        <m:r>
                          <m:rPr>
                            <m:sty m:val="p"/>
                          </m:rPr>
                          <a:rPr lang="zh-CN" sz="16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≈</m:t>
                        </m:r>
                        <m:r>
                          <a:rPr lang="zh-CN" sz="16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7.14</m:t>
                        </m:r>
                        <m:r>
                          <m:rPr>
                            <m:sty m:val="p"/>
                          </m:rPr>
                          <a:rPr lang="zh-CN" sz="16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×</m:t>
                        </m:r>
                        <m:r>
                          <a:rPr lang="zh-CN" sz="16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1</m:t>
                        </m:r>
                        <m:sSup>
                          <m:e>
                            <m:r>
                              <a:rPr lang="zh-CN" sz="16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0</m:t>
                            </m:r>
                          </m:e>
                          <m:sup>
                            <m:r>
                              <m:rPr>
                                <m:sty m:val="p"/>
                              </m:rPr>
                              <a:rPr lang="zh-CN" sz="16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−</m:t>
                            </m:r>
                            <m:r>
                              <a:rPr lang="zh-CN" sz="16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3</m:t>
                            </m:r>
                          </m:sup>
                        </m:sSup>
                      </m:oMath>
                    </m:oMathPara>
                  </a14:m>
                </a:p>
              </p:txBody>
            </p:sp>
          </mc:Choice>
        </mc:AlternateContent>
        <p:sp>
          <p:nvSpPr>
            <p:cNvPr id="36" name="TextBox 36"/>
            <p:cNvSpPr txBox="1"/>
            <p:nvPr/>
          </p:nvSpPr>
          <p:spPr>
            <a:xfrm>
              <a:off x="6489573" y="5154454"/>
              <a:ext cx="4356557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实际误差 √125 − L₁(125) = 0.00643，没有超过上界。</a:t>
              </a:r>
            </a:p>
          </p:txBody>
        </p:sp>
      </p:grpSp>
      <p:grpSp>
        <p:nvGrpSpPr>
          <p:cNvPr id="40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38" name="TextBox 38"/>
            <p:cNvSpPr txBox="1"/>
            <p:nvPr/>
          </p:nvSpPr>
          <p:spPr>
            <a:xfrm>
              <a:off x="528447" y="6581299"/>
              <a:ext cx="225267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计算方法 · 第5章 函数插值与曲线拟合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15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8528120" cy="909257"/>
            <a:chOff x="520446" y="342900"/>
            <a:chExt cx="8528120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272665" cy="266700"/>
            </a:xfrm>
            <a:prstGeom prst="roundRect">
              <a:avLst>
                <a:gd name="adj" fmla="val 50000"/>
              </a:avLst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01058" y="407194"/>
              <a:ext cx="213734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第5章 函数插值 · 拉格朗日插值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8528120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例 5.1（解 2）：取 100、121、144 三点，抛物线插值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E7D4F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c1-text-1"/>
          <p:cNvGrpSpPr/>
          <p:nvPr/>
        </p:nvGrpSpPr>
        <p:grpSpPr>
          <a:xfrm>
            <a:off x="526542" y="1545907"/>
            <a:ext cx="5354384" cy="529780"/>
            <a:chOff x="526542" y="1545907"/>
            <a:chExt cx="5354384" cy="529780"/>
          </a:xfrm>
        </p:grpSpPr>
        <p:sp>
          <p:nvSpPr>
            <p:cNvPr id="7" name="TextBox 7"/>
            <p:cNvSpPr txBox="1"/>
            <p:nvPr/>
          </p:nvSpPr>
          <p:spPr>
            <a:xfrm>
              <a:off x="526542" y="1545907"/>
              <a:ext cx="5354384" cy="5297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92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节点 x₀ = 100，x₁ = 121，x₂ = 144，y 依次为 10、11、12。代入 x =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125 求三个基函数值：</a:t>
              </a:r>
            </a:p>
          </p:txBody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formula94"/>
              <p:cNvSpPr txBox="1">
                <a:spLocks noGrp="1"/>
              </p:cNvSpPr>
              <p:nvPr/>
            </p:nvSpPr>
            <p:spPr>
              <a:xfrm>
                <a:off x="533400" y="2192655"/>
                <a:ext cx="5842635" cy="48863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lIns="0" tIns="0" rIns="0" bIns="0" wrap="none" anchor="ctr">
                <a:normAutofit/>
              </a:bodyPr>
              <a:lstStyle/>
              <a:p>
                <a:pPr algn="ctr"/>
                <a14:m>
                  <m:oMathPara xmlns:a="http://schemas.openxmlformats.org/drawingml/2006/main"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a:rPr lang="zh-CN" sz="14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l</m:t>
                          </m:r>
                        </m:e>
                        <m:sub>
                          <m:r>
                            <a:rPr lang="zh-CN" sz="14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0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 m:val="on"/>
                          <m:ctrlPr>
                            <a:rPr lang="zh-CN" sz="14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a:rPr lang="zh-CN" sz="14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125</m:t>
                          </m:r>
                        </m:e>
                      </m:d>
                      <m:r>
                        <m:rPr>
                          <m:sty m:val="p"/>
                        </m:rPr>
                        <a:rPr lang="zh-CN" sz="142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f>
                        <m:fPr>
                          <m:type m:val="bar"/>
                          <m:ctrlPr>
                            <a:rPr lang="zh-CN" sz="14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Pr>
                        <m:num>
                          <m:d>
                            <m:dPr>
                              <m:begChr m:val="("/>
                              <m:sepChr m:val=""/>
                              <m:endChr m:val=")"/>
                              <m:grow m:val="on"/>
                              <m:ctrlPr>
                                <a:rPr lang="zh-CN" sz="14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r>
                                <a:rPr lang="zh-CN" sz="14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125</m:t>
                              </m:r>
                              <m:r>
                                <m:rPr>
                                  <m:sty m:val="p"/>
                                </m:rPr>
                                <a:rPr lang="zh-CN" sz="14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−</m:t>
                              </m:r>
                              <m:r>
                                <a:rPr lang="zh-CN" sz="14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121</m:t>
                              </m:r>
                            </m:e>
                          </m:d>
                          <m:d>
                            <m:dPr>
                              <m:begChr m:val="("/>
                              <m:sepChr m:val=""/>
                              <m:endChr m:val=")"/>
                              <m:grow m:val="on"/>
                              <m:ctrlPr>
                                <a:rPr lang="zh-CN" sz="14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r>
                                <a:rPr lang="zh-CN" sz="14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125</m:t>
                              </m:r>
                              <m:r>
                                <m:rPr>
                                  <m:sty m:val="p"/>
                                </m:rPr>
                                <a:rPr lang="zh-CN" sz="14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−</m:t>
                              </m:r>
                              <m:r>
                                <a:rPr lang="zh-CN" sz="14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144</m:t>
                              </m:r>
                            </m:e>
                          </m:d>
                        </m:num>
                        <m:den>
                          <m:d>
                            <m:dPr>
                              <m:begChr m:val="("/>
                              <m:sepChr m:val=""/>
                              <m:endChr m:val=")"/>
                              <m:grow m:val="on"/>
                              <m:ctrlPr>
                                <a:rPr lang="zh-CN" sz="14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r>
                                <a:rPr lang="zh-CN" sz="14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100</m:t>
                              </m:r>
                              <m:r>
                                <m:rPr>
                                  <m:sty m:val="p"/>
                                </m:rPr>
                                <a:rPr lang="zh-CN" sz="14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−</m:t>
                              </m:r>
                              <m:r>
                                <a:rPr lang="zh-CN" sz="14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121</m:t>
                              </m:r>
                            </m:e>
                          </m:d>
                          <m:d>
                            <m:dPr>
                              <m:begChr m:val="("/>
                              <m:sepChr m:val=""/>
                              <m:endChr m:val=")"/>
                              <m:grow m:val="on"/>
                              <m:ctrlPr>
                                <a:rPr lang="zh-CN" sz="14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r>
                                <a:rPr lang="zh-CN" sz="14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100</m:t>
                              </m:r>
                              <m:r>
                                <m:rPr>
                                  <m:sty m:val="p"/>
                                </m:rPr>
                                <a:rPr lang="zh-CN" sz="14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−</m:t>
                              </m:r>
                              <m:r>
                                <a:rPr lang="zh-CN" sz="14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144</m:t>
                              </m:r>
                            </m:e>
                          </m:d>
                        </m:den>
                      </m:f>
                      <m:r>
                        <m:rPr>
                          <m:sty m:val="p"/>
                        </m:rPr>
                        <a:rPr lang="zh-CN" sz="142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f>
                        <m:fPr>
                          <m:type m:val="bar"/>
                          <m:ctrlPr>
                            <a:rPr lang="zh-CN" sz="14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zh-CN" sz="14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−</m:t>
                          </m:r>
                          <m:r>
                            <a:rPr lang="zh-CN" sz="14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76</m:t>
                          </m:r>
                        </m:num>
                        <m:den>
                          <m:r>
                            <a:rPr lang="zh-CN" sz="14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924</m:t>
                          </m:r>
                        </m:den>
                      </m:f>
                      <m:r>
                        <m:rPr>
                          <m:sty m:val="p"/>
                        </m:rPr>
                        <a:rPr lang="zh-CN" sz="142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=−</m:t>
                      </m:r>
                      <m:r>
                        <a:rPr lang="zh-CN" sz="142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0.082251</m:t>
                      </m:r>
                    </m:oMath>
                  </m:oMathPara>
                </a14:m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0" name="formula95"/>
              <p:cNvSpPr txBox="1">
                <a:spLocks noGrp="1"/>
              </p:cNvSpPr>
              <p:nvPr/>
            </p:nvSpPr>
            <p:spPr>
              <a:xfrm>
                <a:off x="533400" y="2851785"/>
                <a:ext cx="5842635" cy="48863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lIns="0" tIns="0" rIns="0" bIns="0" wrap="none" anchor="ctr">
                <a:normAutofit/>
              </a:bodyPr>
              <a:lstStyle/>
              <a:p>
                <a:pPr algn="ctr"/>
                <a14:m>
                  <m:oMathPara xmlns:a="http://schemas.openxmlformats.org/drawingml/2006/main"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a:rPr lang="zh-CN" sz="14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l</m:t>
                          </m:r>
                        </m:e>
                        <m:sub>
                          <m:r>
                            <a:rPr lang="zh-CN" sz="14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 m:val="on"/>
                          <m:ctrlPr>
                            <a:rPr lang="zh-CN" sz="14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a:rPr lang="zh-CN" sz="14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125</m:t>
                          </m:r>
                        </m:e>
                      </m:d>
                      <m:r>
                        <m:rPr>
                          <m:sty m:val="p"/>
                        </m:rPr>
                        <a:rPr lang="zh-CN" sz="142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f>
                        <m:fPr>
                          <m:type m:val="bar"/>
                          <m:ctrlPr>
                            <a:rPr lang="zh-CN" sz="14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Pr>
                        <m:num>
                          <m:d>
                            <m:dPr>
                              <m:begChr m:val="("/>
                              <m:sepChr m:val=""/>
                              <m:endChr m:val=")"/>
                              <m:grow m:val="on"/>
                              <m:ctrlPr>
                                <a:rPr lang="zh-CN" sz="14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r>
                                <a:rPr lang="zh-CN" sz="14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125</m:t>
                              </m:r>
                              <m:r>
                                <m:rPr>
                                  <m:sty m:val="p"/>
                                </m:rPr>
                                <a:rPr lang="zh-CN" sz="14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−</m:t>
                              </m:r>
                              <m:r>
                                <a:rPr lang="zh-CN" sz="14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100</m:t>
                              </m:r>
                            </m:e>
                          </m:d>
                          <m:d>
                            <m:dPr>
                              <m:begChr m:val="("/>
                              <m:sepChr m:val=""/>
                              <m:endChr m:val=")"/>
                              <m:grow m:val="on"/>
                              <m:ctrlPr>
                                <a:rPr lang="zh-CN" sz="14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r>
                                <a:rPr lang="zh-CN" sz="14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125</m:t>
                              </m:r>
                              <m:r>
                                <m:rPr>
                                  <m:sty m:val="p"/>
                                </m:rPr>
                                <a:rPr lang="zh-CN" sz="14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−</m:t>
                              </m:r>
                              <m:r>
                                <a:rPr lang="zh-CN" sz="14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144</m:t>
                              </m:r>
                            </m:e>
                          </m:d>
                        </m:num>
                        <m:den>
                          <m:d>
                            <m:dPr>
                              <m:begChr m:val="("/>
                              <m:sepChr m:val=""/>
                              <m:endChr m:val=")"/>
                              <m:grow m:val="on"/>
                              <m:ctrlPr>
                                <a:rPr lang="zh-CN" sz="14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r>
                                <a:rPr lang="zh-CN" sz="14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121</m:t>
                              </m:r>
                              <m:r>
                                <m:rPr>
                                  <m:sty m:val="p"/>
                                </m:rPr>
                                <a:rPr lang="zh-CN" sz="14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−</m:t>
                              </m:r>
                              <m:r>
                                <a:rPr lang="zh-CN" sz="14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100</m:t>
                              </m:r>
                            </m:e>
                          </m:d>
                          <m:d>
                            <m:dPr>
                              <m:begChr m:val="("/>
                              <m:sepChr m:val=""/>
                              <m:endChr m:val=")"/>
                              <m:grow m:val="on"/>
                              <m:ctrlPr>
                                <a:rPr lang="zh-CN" sz="14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r>
                                <a:rPr lang="zh-CN" sz="14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121</m:t>
                              </m:r>
                              <m:r>
                                <m:rPr>
                                  <m:sty m:val="p"/>
                                </m:rPr>
                                <a:rPr lang="zh-CN" sz="14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−</m:t>
                              </m:r>
                              <m:r>
                                <a:rPr lang="zh-CN" sz="14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144</m:t>
                              </m:r>
                            </m:e>
                          </m:d>
                        </m:den>
                      </m:f>
                      <m:r>
                        <m:rPr>
                          <m:sty m:val="p"/>
                        </m:rPr>
                        <a:rPr lang="zh-CN" sz="142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f>
                        <m:fPr>
                          <m:type m:val="bar"/>
                          <m:ctrlPr>
                            <a:rPr lang="zh-CN" sz="14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zh-CN" sz="14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−</m:t>
                          </m:r>
                          <m:r>
                            <a:rPr lang="zh-CN" sz="14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475</m:t>
                          </m:r>
                        </m:num>
                        <m:den>
                          <m:r>
                            <m:rPr>
                              <m:sty m:val="p"/>
                            </m:rPr>
                            <a:rPr lang="zh-CN" sz="14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−</m:t>
                          </m:r>
                          <m:r>
                            <a:rPr lang="zh-CN" sz="14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483</m:t>
                          </m:r>
                        </m:den>
                      </m:f>
                      <m:r>
                        <m:rPr>
                          <m:sty m:val="p"/>
                        </m:rPr>
                        <a:rPr lang="zh-CN" sz="142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r>
                        <a:rPr lang="zh-CN" sz="142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0.983437</m:t>
                      </m:r>
                    </m:oMath>
                  </m:oMathPara>
                </a14:m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1" name="formula96"/>
              <p:cNvSpPr txBox="1">
                <a:spLocks noGrp="1"/>
              </p:cNvSpPr>
              <p:nvPr/>
            </p:nvSpPr>
            <p:spPr>
              <a:xfrm>
                <a:off x="533400" y="3509962"/>
                <a:ext cx="5842635" cy="48863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lIns="0" tIns="0" rIns="0" bIns="0" wrap="none" anchor="ctr">
                <a:normAutofit/>
              </a:bodyPr>
              <a:lstStyle/>
              <a:p>
                <a:pPr algn="ctr"/>
                <a14:m>
                  <m:oMathPara xmlns:a="http://schemas.openxmlformats.org/drawingml/2006/main"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a:rPr lang="zh-CN" sz="14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l</m:t>
                          </m:r>
                        </m:e>
                        <m:sub>
                          <m:r>
                            <a:rPr lang="zh-CN" sz="14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 m:val="on"/>
                          <m:ctrlPr>
                            <a:rPr lang="zh-CN" sz="14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a:rPr lang="zh-CN" sz="14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125</m:t>
                          </m:r>
                        </m:e>
                      </m:d>
                      <m:r>
                        <m:rPr>
                          <m:sty m:val="p"/>
                        </m:rPr>
                        <a:rPr lang="zh-CN" sz="142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f>
                        <m:fPr>
                          <m:type m:val="bar"/>
                          <m:ctrlPr>
                            <a:rPr lang="zh-CN" sz="14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Pr>
                        <m:num>
                          <m:d>
                            <m:dPr>
                              <m:begChr m:val="("/>
                              <m:sepChr m:val=""/>
                              <m:endChr m:val=")"/>
                              <m:grow m:val="on"/>
                              <m:ctrlPr>
                                <a:rPr lang="zh-CN" sz="14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r>
                                <a:rPr lang="zh-CN" sz="14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125</m:t>
                              </m:r>
                              <m:r>
                                <m:rPr>
                                  <m:sty m:val="p"/>
                                </m:rPr>
                                <a:rPr lang="zh-CN" sz="14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−</m:t>
                              </m:r>
                              <m:r>
                                <a:rPr lang="zh-CN" sz="14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100</m:t>
                              </m:r>
                            </m:e>
                          </m:d>
                          <m:d>
                            <m:dPr>
                              <m:begChr m:val="("/>
                              <m:sepChr m:val=""/>
                              <m:endChr m:val=")"/>
                              <m:grow m:val="on"/>
                              <m:ctrlPr>
                                <a:rPr lang="zh-CN" sz="14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r>
                                <a:rPr lang="zh-CN" sz="14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125</m:t>
                              </m:r>
                              <m:r>
                                <m:rPr>
                                  <m:sty m:val="p"/>
                                </m:rPr>
                                <a:rPr lang="zh-CN" sz="14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−</m:t>
                              </m:r>
                              <m:r>
                                <a:rPr lang="zh-CN" sz="14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121</m:t>
                              </m:r>
                            </m:e>
                          </m:d>
                        </m:num>
                        <m:den>
                          <m:d>
                            <m:dPr>
                              <m:begChr m:val="("/>
                              <m:sepChr m:val=""/>
                              <m:endChr m:val=")"/>
                              <m:grow m:val="on"/>
                              <m:ctrlPr>
                                <a:rPr lang="zh-CN" sz="14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r>
                                <a:rPr lang="zh-CN" sz="14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144</m:t>
                              </m:r>
                              <m:r>
                                <m:rPr>
                                  <m:sty m:val="p"/>
                                </m:rPr>
                                <a:rPr lang="zh-CN" sz="14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−</m:t>
                              </m:r>
                              <m:r>
                                <a:rPr lang="zh-CN" sz="14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100</m:t>
                              </m:r>
                            </m:e>
                          </m:d>
                          <m:d>
                            <m:dPr>
                              <m:begChr m:val="("/>
                              <m:sepChr m:val=""/>
                              <m:endChr m:val=")"/>
                              <m:grow m:val="on"/>
                              <m:ctrlPr>
                                <a:rPr lang="zh-CN" sz="14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r>
                                <a:rPr lang="zh-CN" sz="14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144</m:t>
                              </m:r>
                              <m:r>
                                <m:rPr>
                                  <m:sty m:val="p"/>
                                </m:rPr>
                                <a:rPr lang="zh-CN" sz="14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−</m:t>
                              </m:r>
                              <m:r>
                                <a:rPr lang="zh-CN" sz="14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121</m:t>
                              </m:r>
                            </m:e>
                          </m:d>
                        </m:den>
                      </m:f>
                      <m:r>
                        <m:rPr>
                          <m:sty m:val="p"/>
                        </m:rPr>
                        <a:rPr lang="zh-CN" sz="142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f>
                        <m:fPr>
                          <m:type m:val="bar"/>
                          <m:ctrlPr>
                            <a:rPr lang="zh-CN" sz="14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Pr>
                        <m:num>
                          <m:r>
                            <a:rPr lang="zh-CN" sz="14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100</m:t>
                          </m:r>
                        </m:num>
                        <m:den>
                          <m:r>
                            <a:rPr lang="zh-CN" sz="14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1012</m:t>
                          </m:r>
                        </m:den>
                      </m:f>
                      <m:r>
                        <m:rPr>
                          <m:sty m:val="p"/>
                        </m:rPr>
                        <a:rPr lang="zh-CN" sz="142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r>
                        <a:rPr lang="zh-CN" sz="142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0.098814</m:t>
                      </m:r>
                    </m:oMath>
                  </m:oMathPara>
                </a14:m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2" name="formula97"/>
              <p:cNvSpPr txBox="1">
                <a:spLocks noGrp="1"/>
              </p:cNvSpPr>
              <p:nvPr/>
            </p:nvSpPr>
            <p:spPr>
              <a:xfrm>
                <a:off x="533400" y="4168140"/>
                <a:ext cx="5842635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lIns="0" tIns="0" rIns="0" bIns="0" wrap="none" anchor="ctr">
                <a:normAutofit/>
              </a:bodyPr>
              <a:lstStyle/>
              <a:p>
                <a:pPr algn="ctr"/>
                <a14:m>
                  <m:oMathPara xmlns:a="http://schemas.openxmlformats.org/drawingml/2006/main" xmlns:m="http://schemas.openxmlformats.org/officeDocument/2006/math">
                    <m:oMathParaPr>
                      <m:jc m:val="center"/>
                    </m:oMathParaPr>
                    <m:oMath>
                      <m:rad>
                        <m:radPr>
                          <m:degHide m:val="on"/>
                          <m:ctrlPr>
                            <a:rPr lang="zh-CN" sz="14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radPr>
                        <m:deg/>
                        <m:e>
                          <m:r>
                            <a:rPr lang="zh-CN" sz="14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125</m:t>
                          </m:r>
                        </m:e>
                      </m:rad>
                      <m:r>
                        <m:rPr>
                          <m:sty m:val="p"/>
                        </m:rPr>
                        <a:rPr lang="zh-CN" sz="142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≈</m:t>
                      </m:r>
                      <m:sSub>
                        <m:e>
                          <m:r>
                            <a:rPr lang="zh-CN" sz="14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L</m:t>
                          </m:r>
                        </m:e>
                        <m:sub>
                          <m:r>
                            <a:rPr lang="zh-CN" sz="14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 m:val="on"/>
                          <m:ctrlPr>
                            <a:rPr lang="zh-CN" sz="14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a:rPr lang="zh-CN" sz="14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125</m:t>
                          </m:r>
                        </m:e>
                      </m:d>
                      <m:r>
                        <m:rPr>
                          <m:sty m:val="p"/>
                        </m:rPr>
                        <a:rPr lang="zh-CN" sz="142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r>
                        <a:rPr lang="zh-CN" sz="142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10</m:t>
                      </m:r>
                      <m:r>
                        <a:rPr lang="zh-CN" sz="142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 xml:space="preserve"> </m:t>
                      </m:r>
                      <m:sSub>
                        <m:e>
                          <m:r>
                            <a:rPr lang="zh-CN" sz="14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l</m:t>
                          </m:r>
                        </m:e>
                        <m:sub>
                          <m:r>
                            <a:rPr lang="zh-CN" sz="14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zh-CN" sz="142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+</m:t>
                      </m:r>
                      <m:r>
                        <a:rPr lang="zh-CN" sz="142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11</m:t>
                      </m:r>
                      <m:r>
                        <a:rPr lang="zh-CN" sz="142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 xml:space="preserve"> </m:t>
                      </m:r>
                      <m:sSub>
                        <m:e>
                          <m:r>
                            <a:rPr lang="zh-CN" sz="14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l</m:t>
                          </m:r>
                        </m:e>
                        <m:sub>
                          <m:r>
                            <a:rPr lang="zh-CN" sz="14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zh-CN" sz="142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+</m:t>
                      </m:r>
                      <m:r>
                        <a:rPr lang="zh-CN" sz="142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12</m:t>
                      </m:r>
                      <m:r>
                        <a:rPr lang="zh-CN" sz="142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 xml:space="preserve"> </m:t>
                      </m:r>
                      <m:sSub>
                        <m:e>
                          <m:r>
                            <a:rPr lang="zh-CN" sz="14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l</m:t>
                          </m:r>
                        </m:e>
                        <m:sub>
                          <m:r>
                            <a:rPr lang="zh-CN" sz="14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zh-CN" sz="142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r>
                        <a:rPr lang="zh-CN" sz="142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11.18107</m:t>
                      </m:r>
                    </m:oMath>
                  </m:oMathPara>
                </a14:m>
              </a:p>
            </p:txBody>
          </p:sp>
        </mc:Choice>
      </mc:AlternateContent>
      <p:grpSp>
        <p:nvGrpSpPr>
          <p:cNvPr id="19" name="c1-callout-6"/>
          <p:cNvGrpSpPr/>
          <p:nvPr/>
        </p:nvGrpSpPr>
        <p:grpSpPr>
          <a:xfrm>
            <a:off x="533400" y="4700588"/>
            <a:ext cx="5842635" cy="978218"/>
            <a:chOff x="533400" y="4700588"/>
            <a:chExt cx="5842635" cy="978218"/>
          </a:xfrm>
        </p:grpSpPr>
        <p:sp>
          <p:nvSpPr>
            <p:cNvPr id="13" name="Rectangle 13"/>
            <p:cNvSpPr/>
            <p:nvPr/>
          </p:nvSpPr>
          <p:spPr>
            <a:xfrm>
              <a:off x="533400" y="4700588"/>
              <a:ext cx="5842635" cy="978218"/>
            </a:xfrm>
            <a:prstGeom prst="roundRect">
              <a:avLst>
                <a:gd name="adj" fmla="val 11685"/>
              </a:avLst>
            </a:prstGeom>
            <a:solidFill>
              <a:srgbClr val="FDEEE7"/>
            </a:solidFill>
            <a:ln>
              <a:noFill/>
            </a:ln>
          </p:spPr>
        </p:sp>
        <p:grpSp>
          <p:nvGrpSpPr>
            <p:cNvPr id="17" name="Group 17"/>
            <p:cNvGrpSpPr/>
            <p:nvPr/>
          </p:nvGrpSpPr>
          <p:grpSpPr>
            <a:xfrm>
              <a:off x="738188" y="5089208"/>
              <a:ext cx="200026" cy="200025"/>
              <a:chOff x="738188" y="5089208"/>
              <a:chExt cx="200026" cy="200025"/>
            </a:xfrm>
          </p:grpSpPr>
          <p:sp>
            <p:nvSpPr>
              <p:cNvPr id="14" name="Freeform 14"/>
              <p:cNvSpPr/>
              <p:nvPr/>
            </p:nvSpPr>
            <p:spPr>
              <a:xfrm>
                <a:off x="738188" y="5089208"/>
                <a:ext cx="200026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00013">
                    <a:moveTo>
                      <a:pt x="0" y="100013"/>
                    </a:moveTo>
                    <a:lnTo>
                      <a:pt x="11113" y="100013"/>
                    </a:lnTo>
                    <a:moveTo>
                      <a:pt x="100013" y="0"/>
                    </a:moveTo>
                    <a:lnTo>
                      <a:pt x="100013" y="11113"/>
                    </a:lnTo>
                    <a:moveTo>
                      <a:pt x="188913" y="100013"/>
                    </a:moveTo>
                    <a:lnTo>
                      <a:pt x="200026" y="100013"/>
                    </a:lnTo>
                    <a:moveTo>
                      <a:pt x="28893" y="28893"/>
                    </a:moveTo>
                    <a:lnTo>
                      <a:pt x="36671" y="36671"/>
                    </a:lnTo>
                    <a:moveTo>
                      <a:pt x="171133" y="28893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15" name="Freeform 15"/>
              <p:cNvSpPr/>
              <p:nvPr/>
            </p:nvSpPr>
            <p:spPr>
              <a:xfrm>
                <a:off x="777926" y="5133658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3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3" y="15304"/>
                      <a:pt x="112986" y="37992"/>
                    </a:cubicBezTo>
                    <a:cubicBezTo>
                      <a:pt x="120548" y="60681"/>
                      <a:pt x="112745" y="85663"/>
                      <a:pt x="93612" y="100013"/>
                    </a:cubicBezTo>
                    <a:cubicBezTo>
                      <a:pt x="84812" y="108723"/>
                      <a:pt x="80686" y="121103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3"/>
                      <a:pt x="35736" y="108723"/>
                      <a:pt x="26937" y="100013"/>
                    </a:cubicBez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16" name="Freeform 16"/>
              <p:cNvSpPr/>
              <p:nvPr/>
            </p:nvSpPr>
            <p:spPr>
              <a:xfrm>
                <a:off x="812642" y="5244783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</p:grpSp>
        <p:sp>
          <p:nvSpPr>
            <p:cNvPr id="18" name="TextBox 18"/>
            <p:cNvSpPr txBox="1"/>
            <p:nvPr/>
          </p:nvSpPr>
          <p:spPr>
            <a:xfrm>
              <a:off x="1040892" y="4846320"/>
              <a:ext cx="4822888" cy="76123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58"/>
                </a:lnSpc>
              </a:pPr>
              <a:r>
                <a:rPr lang="zh-CN" sz="135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三个基函数值之和 −0.082251 + 0.983437 + 0.098814 = 1。这</a:t>
              </a:r>
              <a:br/>
              <a:r>
                <a:rPr lang="zh-CN" sz="135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是普遍性质 Σ lᵢ(x) ≡ 1（对 f(x) ≡ 1 插值没有误差），可用来</a:t>
              </a:r>
              <a:br/>
              <a:r>
                <a:rPr lang="zh-CN" sz="135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检查计算。</a:t>
              </a:r>
            </a:p>
          </p:txBody>
        </p:sp>
      </p:grpSp>
      <p:grpSp>
        <p:nvGrpSpPr>
          <p:cNvPr id="28" name="c2-card-1"/>
          <p:cNvGrpSpPr/>
          <p:nvPr/>
        </p:nvGrpSpPr>
        <p:grpSpPr>
          <a:xfrm>
            <a:off x="6680835" y="1524000"/>
            <a:ext cx="4977765" cy="2799398"/>
            <a:chOff x="6680835" y="1524000"/>
            <a:chExt cx="4977765" cy="2799398"/>
          </a:xfrm>
        </p:grpSpPr>
        <p:sp>
          <p:nvSpPr>
            <p:cNvPr id="20" name="Rectangle 20"/>
            <p:cNvSpPr/>
            <p:nvPr/>
          </p:nvSpPr>
          <p:spPr>
            <a:xfrm>
              <a:off x="6680835" y="1524000"/>
              <a:ext cx="4977765" cy="2799398"/>
            </a:xfrm>
            <a:prstGeom prst="roundRect">
              <a:avLst>
                <a:gd name="adj" fmla="val 4764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21" name="Rectangle 21"/>
            <p:cNvSpPr/>
            <p:nvPr/>
          </p:nvSpPr>
          <p:spPr>
            <a:xfrm>
              <a:off x="6690360" y="1657350"/>
              <a:ext cx="47625" cy="2532698"/>
            </a:xfrm>
            <a:prstGeom prst="roundRect">
              <a:avLst>
                <a:gd name="adj" fmla="val 50000"/>
              </a:avLst>
            </a:prstGeom>
            <a:solidFill>
              <a:srgbClr val="14A38B"/>
            </a:solidFill>
            <a:ln>
              <a:noFill/>
            </a:ln>
          </p:spPr>
        </p:sp>
        <p:sp>
          <p:nvSpPr>
            <p:cNvPr id="22" name="Rectangle 22"/>
            <p:cNvSpPr/>
            <p:nvPr/>
          </p:nvSpPr>
          <p:spPr>
            <a:xfrm>
              <a:off x="6905625" y="1710690"/>
              <a:ext cx="1081088" cy="238125"/>
            </a:xfrm>
            <a:prstGeom prst="roundRect">
              <a:avLst>
                <a:gd name="adj" fmla="val 50000"/>
              </a:avLst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6979945" y="1743551"/>
              <a:ext cx="933399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补充：误差估计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6898767" y="2054542"/>
              <a:ext cx="4068508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f‴(x) = 3/(8x²√x)，在 [100, 144] 上 x = 100 处最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大：M₃ = 3.75×10⁻⁶。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5" name="formula98"/>
                <p:cNvSpPr txBox="1">
                  <a:spLocks noGrp="1"/>
                </p:cNvSpPr>
                <p:nvPr/>
              </p:nvSpPr>
              <p:spPr>
                <a:xfrm>
                  <a:off x="6905625" y="2589848"/>
                  <a:ext cx="4566285" cy="488632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lIns="0" tIns="0" rIns="0" bIns="0" wrap="none" anchor="ctr">
                  <a:normAutofit/>
                </a:bodyPr>
                <a:lstStyle/>
                <a:p>
                  <a:pPr algn="ctr"/>
                  <a14:m>
                    <m:oMathPara xmlns:a="http://schemas.openxmlformats.org/drawingml/2006/main" xmlns:m="http://schemas.openxmlformats.org/officeDocument/2006/math">
                      <m:oMathParaPr>
                        <m:jc m:val="center"/>
                      </m:oMathParaPr>
                      <m:oMath>
                        <m:d>
                          <m:dPr>
                            <m:begChr m:val="|"/>
                            <m:sepChr m:val=""/>
                            <m:endChr m:val="|"/>
                            <m:grow m:val="on"/>
                            <m:ctrlPr>
                              <a:rPr lang="zh-CN" sz="14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sSub>
                              <m:e>
                                <m:r>
                                  <a:rPr lang="zh-CN" sz="14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R</m:t>
                                </m:r>
                              </m:e>
                              <m:sub>
                                <m:r>
                                  <a:rPr lang="zh-CN" sz="14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2</m:t>
                                </m:r>
                              </m:sub>
                            </m:sSub>
                            <m:d>
                              <m:dPr>
                                <m:begChr m:val="("/>
                                <m:sepChr m:val=""/>
                                <m:endChr m:val=")"/>
                                <m:grow m:val="on"/>
                                <m:ctrlPr>
                                  <a:rPr lang="zh-CN" sz="14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</m:ctrlPr>
                              </m:dPr>
                              <m:e>
                                <m:r>
                                  <a:rPr lang="zh-CN" sz="14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125</m:t>
                                </m:r>
                              </m:e>
                            </m:d>
                          </m:e>
                        </m:d>
                        <m:r>
                          <m:rPr>
                            <m:sty m:val="p"/>
                          </m:rPr>
                          <a:rPr lang="zh-CN" sz="142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≤</m:t>
                        </m:r>
                        <m:f>
                          <m:fPr>
                            <m:type m:val="bar"/>
                            <m:ctrlPr>
                              <a:rPr lang="zh-CN" sz="14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fPr>
                          <m:num>
                            <m:sSub>
                              <m:e>
                                <m:r>
                                  <a:rPr lang="zh-CN" sz="14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M</m:t>
                                </m:r>
                              </m:e>
                              <m:sub>
                                <m:r>
                                  <a:rPr lang="zh-CN" sz="14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3</m:t>
                                </m:r>
                              </m:sub>
                            </m:sSub>
                          </m:num>
                          <m:den>
                            <m:r>
                              <a:rPr lang="zh-CN" sz="14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3</m:t>
                            </m:r>
                            <m:r>
                              <m:rPr>
                                <m:sty m:val="p"/>
                              </m:rPr>
                              <a:rPr lang="zh-CN" sz="14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!</m:t>
                            </m:r>
                          </m:den>
                        </m:f>
                        <m:r>
                          <a:rPr lang="zh-CN" sz="142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 xml:space="preserve"> </m:t>
                        </m:r>
                        <m:d>
                          <m:dPr>
                            <m:begChr m:val="|"/>
                            <m:sepChr m:val=""/>
                            <m:endChr m:val="|"/>
                            <m:grow m:val="on"/>
                            <m:ctrlPr>
                              <a:rPr lang="zh-CN" sz="14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r>
                              <a:rPr lang="zh-CN" sz="14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25</m:t>
                            </m:r>
                            <m:r>
                              <m:rPr>
                                <m:sty m:val="p"/>
                              </m:rPr>
                              <a:rPr lang="zh-CN" sz="14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×</m:t>
                            </m:r>
                            <m:r>
                              <a:rPr lang="zh-CN" sz="14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4</m:t>
                            </m:r>
                            <m:r>
                              <m:rPr>
                                <m:sty m:val="p"/>
                              </m:rPr>
                              <a:rPr lang="zh-CN" sz="14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×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 m:val="on"/>
                                <m:ctrlPr>
                                  <a:rPr lang="zh-CN" sz="14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</m:ctrlPr>
                              </m:dPr>
                              <m:e>
                                <m:r>
                                  <m:rPr>
                                    <m:sty m:val="p"/>
                                  </m:rPr>
                                  <a:rPr lang="zh-CN" sz="14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−</m:t>
                                </m:r>
                                <m:r>
                                  <a:rPr lang="zh-CN" sz="14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19</m:t>
                                </m:r>
                              </m:e>
                            </m:d>
                          </m:e>
                        </m:d>
                      </m:oMath>
                    </m:oMathPara>
                  </a14:m>
                </a:p>
              </p:txBody>
            </p:sp>
          </mc:Choice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6" name="formula99"/>
                <p:cNvSpPr txBox="1">
                  <a:spLocks noGrp="1"/>
                </p:cNvSpPr>
                <p:nvPr/>
              </p:nvSpPr>
              <p:spPr>
                <a:xfrm>
                  <a:off x="6905625" y="3162300"/>
                  <a:ext cx="4566285" cy="488632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lIns="0" tIns="0" rIns="0" bIns="0" wrap="none" anchor="ctr">
                  <a:normAutofit/>
                </a:bodyPr>
                <a:lstStyle/>
                <a:p>
                  <a:pPr algn="ctr"/>
                  <a14:m>
                    <m:oMathPara xmlns:a="http://schemas.openxmlformats.org/drawingml/2006/main" xmlns:m="http://schemas.openxmlformats.org/officeDocument/2006/math">
                      <m:oMathParaPr>
                        <m:jc m:val="center"/>
                      </m:oMathParaPr>
                      <m:oMath>
                        <m:r>
                          <m:rPr>
                            <m:sty m:val="p"/>
                          </m:rPr>
                          <a:rPr lang="zh-CN" sz="142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=</m:t>
                        </m:r>
                        <m:f>
                          <m:fPr>
                            <m:type m:val="bar"/>
                            <m:ctrlPr>
                              <a:rPr lang="zh-CN" sz="14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fPr>
                          <m:num>
                            <m:r>
                              <a:rPr lang="zh-CN" sz="14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3.75</m:t>
                            </m:r>
                            <m:r>
                              <m:rPr>
                                <m:sty m:val="p"/>
                              </m:rPr>
                              <a:rPr lang="zh-CN" sz="14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×</m:t>
                            </m:r>
                            <m:r>
                              <a:rPr lang="zh-CN" sz="14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1</m:t>
                            </m:r>
                            <m:sSup>
                              <m:e>
                                <m:r>
                                  <a:rPr lang="zh-CN" sz="14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0</m:t>
                                </m:r>
                              </m:e>
                              <m:sup>
                                <m:r>
                                  <m:rPr>
                                    <m:sty m:val="p"/>
                                  </m:rPr>
                                  <a:rPr lang="zh-CN" sz="14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−</m:t>
                                </m:r>
                                <m:r>
                                  <a:rPr lang="zh-CN" sz="14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6</m:t>
                                </m:r>
                              </m:sup>
                            </m:sSup>
                          </m:num>
                          <m:den>
                            <m:r>
                              <a:rPr lang="zh-CN" sz="14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6</m:t>
                            </m:r>
                          </m:den>
                        </m:f>
                        <m:r>
                          <m:rPr>
                            <m:sty m:val="p"/>
                          </m:rPr>
                          <a:rPr lang="zh-CN" sz="142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×</m:t>
                        </m:r>
                        <m:r>
                          <a:rPr lang="zh-CN" sz="142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1900</m:t>
                        </m:r>
                        <m:r>
                          <m:rPr>
                            <m:sty m:val="p"/>
                          </m:rPr>
                          <a:rPr lang="zh-CN" sz="142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≈</m:t>
                        </m:r>
                        <m:r>
                          <a:rPr lang="zh-CN" sz="142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1.19</m:t>
                        </m:r>
                        <m:r>
                          <m:rPr>
                            <m:sty m:val="p"/>
                          </m:rPr>
                          <a:rPr lang="zh-CN" sz="142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×</m:t>
                        </m:r>
                        <m:r>
                          <a:rPr lang="zh-CN" sz="142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1</m:t>
                        </m:r>
                        <m:sSup>
                          <m:e>
                            <m:r>
                              <a:rPr lang="zh-CN" sz="14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0</m:t>
                            </m:r>
                          </m:e>
                          <m:sup>
                            <m:r>
                              <m:rPr>
                                <m:sty m:val="p"/>
                              </m:rPr>
                              <a:rPr lang="zh-CN" sz="14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−</m:t>
                            </m:r>
                            <m:r>
                              <a:rPr lang="zh-CN" sz="14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3</m:t>
                            </m:r>
                          </m:sup>
                        </m:sSup>
                      </m:oMath>
                    </m:oMathPara>
                  </a14:m>
                </a:p>
              </p:txBody>
            </p:sp>
          </mc:Choice>
        </mc:AlternateContent>
        <p:sp>
          <p:nvSpPr>
            <p:cNvPr id="27" name="TextBox 27"/>
            <p:cNvSpPr txBox="1"/>
            <p:nvPr/>
          </p:nvSpPr>
          <p:spPr>
            <a:xfrm>
              <a:off x="6899910" y="3753326"/>
              <a:ext cx="4328414" cy="42767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635"/>
                </a:lnSpc>
              </a:pPr>
              <a:r>
                <a:rPr lang="zh-CN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实际误差 11.18034 − 11.18107 = −7.3×10⁻⁴，绝对值比线性插值小</a:t>
              </a:r>
              <a:br/>
              <a:r>
                <a:rPr lang="zh-CN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了一个数量级。</a:t>
              </a:r>
            </a:p>
          </p:txBody>
        </p:sp>
      </p:grpSp>
      <p:grpSp>
        <p:nvGrpSpPr>
          <p:cNvPr id="37" name="c2-card-2"/>
          <p:cNvGrpSpPr/>
          <p:nvPr/>
        </p:nvGrpSpPr>
        <p:grpSpPr>
          <a:xfrm>
            <a:off x="6680835" y="4492942"/>
            <a:ext cx="4977765" cy="1743075"/>
            <a:chOff x="6680835" y="4492942"/>
            <a:chExt cx="4977765" cy="1743075"/>
          </a:xfrm>
        </p:grpSpPr>
        <p:sp>
          <p:nvSpPr>
            <p:cNvPr id="29" name="Rectangle 29"/>
            <p:cNvSpPr/>
            <p:nvPr/>
          </p:nvSpPr>
          <p:spPr>
            <a:xfrm>
              <a:off x="6680835" y="4492942"/>
              <a:ext cx="4977765" cy="1743075"/>
            </a:xfrm>
            <a:prstGeom prst="roundRect">
              <a:avLst>
                <a:gd name="adj" fmla="val 7650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6690360" y="4626292"/>
              <a:ext cx="47625" cy="1476375"/>
            </a:xfrm>
            <a:prstGeom prst="roundRect">
              <a:avLst>
                <a:gd name="adj" fmla="val 50000"/>
              </a:avLst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31" name="Rectangle 31"/>
            <p:cNvSpPr/>
            <p:nvPr/>
          </p:nvSpPr>
          <p:spPr>
            <a:xfrm>
              <a:off x="6905625" y="4679632"/>
              <a:ext cx="1204912" cy="238125"/>
            </a:xfrm>
            <a:prstGeom prst="roundRect">
              <a:avLst>
                <a:gd name="adj" fmla="val 5000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6975894" y="4712494"/>
              <a:ext cx="1065327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为什么选这三个点</a:t>
              </a:r>
            </a:p>
          </p:txBody>
        </p:sp>
        <p:sp>
          <p:nvSpPr>
            <p:cNvPr id="33" name="Ellipse 33"/>
            <p:cNvSpPr/>
            <p:nvPr/>
          </p:nvSpPr>
          <p:spPr>
            <a:xfrm>
              <a:off x="6914198" y="5080635"/>
              <a:ext cx="59055" cy="59055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7070217" y="5024438"/>
              <a:ext cx="3828478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余项含 |ω₃(125)| = |(125 − x₀)(125 − x₁)(125 −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x₂)|，节点离 125 越近越小</a:t>
              </a:r>
            </a:p>
          </p:txBody>
        </p:sp>
        <p:sp>
          <p:nvSpPr>
            <p:cNvPr id="35" name="Ellipse 35"/>
            <p:cNvSpPr/>
            <p:nvPr/>
          </p:nvSpPr>
          <p:spPr>
            <a:xfrm>
              <a:off x="6914198" y="5637848"/>
              <a:ext cx="59055" cy="59055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7070217" y="5581650"/>
              <a:ext cx="4179951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取 100、121、144 时为 1900；若取 121、144、169，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则为 4×19×44 = 3344</a:t>
              </a:r>
            </a:p>
          </p:txBody>
        </p:sp>
      </p:grpSp>
      <p:grpSp>
        <p:nvGrpSpPr>
          <p:cNvPr id="40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38" name="TextBox 38"/>
            <p:cNvSpPr txBox="1"/>
            <p:nvPr/>
          </p:nvSpPr>
          <p:spPr>
            <a:xfrm>
              <a:off x="528447" y="6581299"/>
              <a:ext cx="225267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计算方法 · 第5章 函数插值与曲线拟合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16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8732372" cy="909257"/>
            <a:chOff x="520446" y="342900"/>
            <a:chExt cx="8732372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272665" cy="266700"/>
            </a:xfrm>
            <a:prstGeom prst="roundRect">
              <a:avLst>
                <a:gd name="adj" fmla="val 50000"/>
              </a:avLst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01058" y="407194"/>
              <a:ext cx="213734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第5章 函数插值 · 拉格朗日插值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8732372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例 5.1 结果比较：本例中节点每多一个，误差都明显变小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E7D4F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c1-text-1"/>
          <p:cNvGrpSpPr/>
          <p:nvPr/>
        </p:nvGrpSpPr>
        <p:grpSpPr>
          <a:xfrm>
            <a:off x="526161" y="1547336"/>
            <a:ext cx="10284841" cy="558736"/>
            <a:chOff x="526161" y="1547336"/>
            <a:chExt cx="10284841" cy="558736"/>
          </a:xfrm>
        </p:grpSpPr>
        <p:sp>
          <p:nvSpPr>
            <p:cNvPr id="7" name="TextBox 7"/>
            <p:cNvSpPr txBox="1"/>
            <p:nvPr/>
          </p:nvSpPr>
          <p:spPr>
            <a:xfrm>
              <a:off x="526161" y="1547336"/>
              <a:ext cx="10284841" cy="55873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05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解 3（原课件只给出结果，这里补全）：取 100、121、144、169 四点作三次插值，x = 125 处四个基函数值依次为 −0.052450、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0.901484、0.173913、−0.022947，</a:t>
              </a:r>
            </a:p>
          </p:txBody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formula102"/>
              <p:cNvSpPr txBox="1">
                <a:spLocks noGrp="1"/>
              </p:cNvSpPr>
              <p:nvPr/>
            </p:nvSpPr>
            <p:spPr>
              <a:xfrm>
                <a:off x="533400" y="2230755"/>
                <a:ext cx="11125200" cy="4000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lIns="0" tIns="0" rIns="0" bIns="0" wrap="none" anchor="ctr">
                <a:normAutofit/>
              </a:bodyPr>
              <a:lstStyle/>
              <a:p>
                <a:pPr algn="ctr"/>
                <a14:m>
                  <m:oMathPara xmlns:a="http://schemas.openxmlformats.org/drawingml/2006/main"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a:rPr lang="zh-CN" sz="15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L</m:t>
                          </m:r>
                        </m:e>
                        <m:sub>
                          <m:r>
                            <a:rPr lang="zh-CN" sz="15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3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 m:val="on"/>
                          <m:ctrlPr>
                            <a:rPr lang="zh-CN" sz="15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a:rPr lang="zh-CN" sz="15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125</m:t>
                          </m:r>
                        </m:e>
                      </m:d>
                      <m:r>
                        <m:rPr>
                          <m:sty m:val="p"/>
                        </m:rPr>
                        <a:rPr lang="zh-CN" sz="158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r>
                        <a:rPr lang="zh-CN" sz="158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10</m:t>
                      </m:r>
                      <m:r>
                        <m:rPr>
                          <m:sty m:val="p"/>
                        </m:rPr>
                        <a:rPr lang="zh-CN" sz="158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×</m:t>
                      </m:r>
                      <m:d>
                        <m:dPr>
                          <m:begChr m:val="("/>
                          <m:sepChr m:val=""/>
                          <m:endChr m:val=")"/>
                          <m:grow m:val="on"/>
                          <m:ctrlPr>
                            <a:rPr lang="zh-CN" sz="15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zh-CN" sz="15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−</m:t>
                          </m:r>
                          <m:r>
                            <a:rPr lang="zh-CN" sz="15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0.052450</m:t>
                          </m:r>
                        </m:e>
                      </m:d>
                      <m:r>
                        <m:rPr>
                          <m:sty m:val="p"/>
                        </m:rPr>
                        <a:rPr lang="zh-CN" sz="158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+</m:t>
                      </m:r>
                      <m:r>
                        <a:rPr lang="zh-CN" sz="158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11</m:t>
                      </m:r>
                      <m:r>
                        <m:rPr>
                          <m:sty m:val="p"/>
                        </m:rPr>
                        <a:rPr lang="zh-CN" sz="158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×</m:t>
                      </m:r>
                      <m:r>
                        <a:rPr lang="zh-CN" sz="158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0.901484</m:t>
                      </m:r>
                      <m:r>
                        <m:rPr>
                          <m:sty m:val="p"/>
                        </m:rPr>
                        <a:rPr lang="zh-CN" sz="158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+</m:t>
                      </m:r>
                      <m:r>
                        <a:rPr lang="zh-CN" sz="158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12</m:t>
                      </m:r>
                      <m:r>
                        <m:rPr>
                          <m:sty m:val="p"/>
                        </m:rPr>
                        <a:rPr lang="zh-CN" sz="158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×</m:t>
                      </m:r>
                      <m:r>
                        <a:rPr lang="zh-CN" sz="158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0.173913</m:t>
                      </m:r>
                      <m:r>
                        <m:rPr>
                          <m:sty m:val="p"/>
                        </m:rPr>
                        <a:rPr lang="zh-CN" sz="158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+</m:t>
                      </m:r>
                      <m:r>
                        <a:rPr lang="zh-CN" sz="158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13</m:t>
                      </m:r>
                      <m:r>
                        <m:rPr>
                          <m:sty m:val="p"/>
                        </m:rPr>
                        <a:rPr lang="zh-CN" sz="158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×</m:t>
                      </m:r>
                      <m:d>
                        <m:dPr>
                          <m:begChr m:val="("/>
                          <m:sepChr m:val=""/>
                          <m:endChr m:val=")"/>
                          <m:grow m:val="on"/>
                          <m:ctrlPr>
                            <a:rPr lang="zh-CN" sz="15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zh-CN" sz="15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−</m:t>
                          </m:r>
                          <m:r>
                            <a:rPr lang="zh-CN" sz="15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0.022947</m:t>
                          </m:r>
                        </m:e>
                      </m:d>
                      <m:r>
                        <m:rPr>
                          <m:sty m:val="p"/>
                        </m:rPr>
                        <a:rPr lang="zh-CN" sz="158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r>
                        <a:rPr lang="zh-CN" sz="158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11.18047</m:t>
                      </m:r>
                    </m:oMath>
                  </m:oMathPara>
                </a14:m>
              </a:p>
            </p:txBody>
          </p:sp>
        </mc:Choice>
      </mc:AlternateContent>
      <p:grpSp>
        <p:nvGrpSpPr>
          <p:cNvPr id="45" name="c1-table-3"/>
          <p:cNvGrpSpPr/>
          <p:nvPr/>
        </p:nvGrpSpPr>
        <p:grpSpPr>
          <a:xfrm>
            <a:off x="528066" y="2810828"/>
            <a:ext cx="11130534" cy="2596133"/>
            <a:chOff x="528066" y="2810828"/>
            <a:chExt cx="11130534" cy="2596133"/>
          </a:xfrm>
        </p:grpSpPr>
        <p:sp>
          <p:nvSpPr>
            <p:cNvPr id="10" name="Rectangle 10"/>
            <p:cNvSpPr/>
            <p:nvPr/>
          </p:nvSpPr>
          <p:spPr>
            <a:xfrm>
              <a:off x="533400" y="2810828"/>
              <a:ext cx="11125200" cy="462915"/>
            </a:xfrm>
            <a:prstGeom prst="rect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1587538" y="2942749"/>
              <a:ext cx="396799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方法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4113568" y="2942749"/>
              <a:ext cx="396799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节点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5982275" y="2942749"/>
              <a:ext cx="1280916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√125 的近似值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8230565" y="2942749"/>
              <a:ext cx="77912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实际误差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9943122" y="2942749"/>
              <a:ext cx="1352601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余项给出的上界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634746" y="3406616"/>
              <a:ext cx="1613057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线性插值（n = 1）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3138868" y="3406616"/>
              <a:ext cx="807794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121, 144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6194941" y="3406616"/>
              <a:ext cx="855584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11.17391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8139764" y="3406616"/>
              <a:ext cx="960722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6.43×10⁻³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10139062" y="3406616"/>
              <a:ext cx="960722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7.14×10⁻³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533400" y="3732848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2" name="Rectangle 22"/>
            <p:cNvSpPr/>
            <p:nvPr/>
          </p:nvSpPr>
          <p:spPr>
            <a:xfrm>
              <a:off x="533400" y="3737610"/>
              <a:ext cx="11125200" cy="462915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634746" y="3869531"/>
              <a:ext cx="1804217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抛物线插值（n = 2）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3138868" y="3869531"/>
              <a:ext cx="1285695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100, 121, 144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6194941" y="3869531"/>
              <a:ext cx="855584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11.18107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8087195" y="3869531"/>
              <a:ext cx="106586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−7.25×10⁻⁴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10139062" y="3869531"/>
              <a:ext cx="960722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1.19×10⁻³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533400" y="4195762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634746" y="4333399"/>
              <a:ext cx="1613057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三次插值（n = 3）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3138868" y="4333399"/>
              <a:ext cx="1763596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100, 121, 144, 169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6194941" y="4333399"/>
              <a:ext cx="855584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11.18047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8087195" y="4333399"/>
              <a:ext cx="106586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−1.29×10⁻⁴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10139062" y="4333399"/>
              <a:ext cx="960722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3.27×10⁻⁴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533400" y="4659630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5" name="Rectangle 35"/>
            <p:cNvSpPr/>
            <p:nvPr/>
          </p:nvSpPr>
          <p:spPr>
            <a:xfrm>
              <a:off x="533400" y="4664392"/>
              <a:ext cx="11125200" cy="462915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634746" y="4796314"/>
              <a:ext cx="587959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准确值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5595938" y="4673918"/>
              <a:ext cx="2054542" cy="443865"/>
            </a:xfrm>
            <a:prstGeom prst="rect">
              <a:avLst/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6194941" y="4796314"/>
              <a:ext cx="855584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11.18034</a:t>
              </a:r>
            </a:p>
          </p:txBody>
        </p:sp>
        <p:sp>
          <p:nvSpPr>
            <p:cNvPr id="39" name="Rectangle 39"/>
            <p:cNvSpPr/>
            <p:nvPr/>
          </p:nvSpPr>
          <p:spPr>
            <a:xfrm>
              <a:off x="533400" y="2810828"/>
              <a:ext cx="11125200" cy="2316480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40" name="Rectangle 40"/>
            <p:cNvSpPr/>
            <p:nvPr/>
          </p:nvSpPr>
          <p:spPr>
            <a:xfrm>
              <a:off x="3032760" y="2810828"/>
              <a:ext cx="9525" cy="231648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1" name="Rectangle 41"/>
            <p:cNvSpPr/>
            <p:nvPr/>
          </p:nvSpPr>
          <p:spPr>
            <a:xfrm>
              <a:off x="5581650" y="2810828"/>
              <a:ext cx="9525" cy="231648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2" name="Rectangle 42"/>
            <p:cNvSpPr/>
            <p:nvPr/>
          </p:nvSpPr>
          <p:spPr>
            <a:xfrm>
              <a:off x="7655242" y="2810828"/>
              <a:ext cx="9525" cy="231648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3" name="Rectangle 43"/>
            <p:cNvSpPr/>
            <p:nvPr/>
          </p:nvSpPr>
          <p:spPr>
            <a:xfrm>
              <a:off x="9575482" y="2810828"/>
              <a:ext cx="9525" cy="231648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4" name="TextBox 44"/>
            <p:cNvSpPr txBox="1"/>
            <p:nvPr/>
          </p:nvSpPr>
          <p:spPr>
            <a:xfrm>
              <a:off x="528066" y="5201602"/>
              <a:ext cx="5876735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实际误差 = 准确值 − 近似值；三次插值的上界用 |f⁽⁴⁾(x)| = 15/(16x³√x) 在 x = 100 处的值</a:t>
              </a:r>
            </a:p>
          </p:txBody>
        </p:sp>
      </p:grpSp>
      <p:grpSp>
        <p:nvGrpSpPr>
          <p:cNvPr id="52" name="takeaway"/>
          <p:cNvGrpSpPr/>
          <p:nvPr/>
        </p:nvGrpSpPr>
        <p:grpSpPr>
          <a:xfrm>
            <a:off x="533400" y="5858828"/>
            <a:ext cx="11125200" cy="503872"/>
            <a:chOff x="533400" y="5858828"/>
            <a:chExt cx="11125200" cy="503872"/>
          </a:xfrm>
        </p:grpSpPr>
        <p:sp>
          <p:nvSpPr>
            <p:cNvPr id="46" name="Rectangle 46"/>
            <p:cNvSpPr/>
            <p:nvPr/>
          </p:nvSpPr>
          <p:spPr>
            <a:xfrm>
              <a:off x="533400" y="5858828"/>
              <a:ext cx="11125200" cy="503872"/>
            </a:xfrm>
            <a:prstGeom prst="roundRect">
              <a:avLst>
                <a:gd name="adj" fmla="val 22684"/>
              </a:avLst>
            </a:prstGeom>
            <a:solidFill>
              <a:srgbClr val="FDECEA"/>
            </a:solidFill>
            <a:ln>
              <a:noFill/>
            </a:ln>
          </p:spPr>
        </p:sp>
        <p:grpSp>
          <p:nvGrpSpPr>
            <p:cNvPr id="50" name="Group 50"/>
            <p:cNvGrpSpPr/>
            <p:nvPr/>
          </p:nvGrpSpPr>
          <p:grpSpPr>
            <a:xfrm>
              <a:off x="726129" y="6007536"/>
              <a:ext cx="224134" cy="192560"/>
              <a:chOff x="726129" y="6007536"/>
              <a:chExt cx="224134" cy="192560"/>
            </a:xfrm>
          </p:grpSpPr>
          <p:sp>
            <p:nvSpPr>
              <p:cNvPr id="47" name="Freeform 47"/>
              <p:cNvSpPr/>
              <p:nvPr/>
            </p:nvSpPr>
            <p:spPr>
              <a:xfrm>
                <a:off x="838200" y="6077903"/>
                <a:ext cx="95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44450">
                    <a:moveTo>
                      <a:pt x="0" y="0"/>
                    </a:moveTo>
                    <a:lnTo>
                      <a:pt x="0" y="4445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48" name="Freeform 48"/>
              <p:cNvSpPr/>
              <p:nvPr/>
            </p:nvSpPr>
            <p:spPr>
              <a:xfrm>
                <a:off x="726129" y="6007536"/>
                <a:ext cx="224134" cy="192560"/>
              </a:xfrm>
              <a:custGeom>
                <a:avLst/>
                <a:gdLst/>
                <a:ahLst/>
                <a:cxnLst/>
                <a:rect l="l" t="t" r="r" b="b"/>
                <a:pathLst>
                  <a:path w="224134" h="192560">
                    <a:moveTo>
                      <a:pt x="93880" y="10259"/>
                    </a:moveTo>
                    <a:lnTo>
                      <a:pt x="3802" y="160656"/>
                    </a:lnTo>
                    <a:cubicBezTo>
                      <a:pt x="23" y="167200"/>
                      <a:pt x="0" y="175257"/>
                      <a:pt x="3741" y="181823"/>
                    </a:cubicBezTo>
                    <a:cubicBezTo>
                      <a:pt x="7482" y="188388"/>
                      <a:pt x="14426" y="192476"/>
                      <a:pt x="21982" y="192560"/>
                    </a:cubicBezTo>
                    <a:lnTo>
                      <a:pt x="202160" y="192560"/>
                    </a:lnTo>
                    <a:cubicBezTo>
                      <a:pt x="209713" y="192473"/>
                      <a:pt x="216653" y="188387"/>
                      <a:pt x="220393" y="181826"/>
                    </a:cubicBezTo>
                    <a:cubicBezTo>
                      <a:pt x="224134" y="175264"/>
                      <a:pt x="224114" y="167211"/>
                      <a:pt x="220341" y="160667"/>
                    </a:cubicBezTo>
                    <a:lnTo>
                      <a:pt x="130262" y="10248"/>
                    </a:lnTo>
                    <a:cubicBezTo>
                      <a:pt x="126408" y="3886"/>
                      <a:pt x="119510" y="0"/>
                      <a:pt x="112071" y="0"/>
                    </a:cubicBezTo>
                    <a:cubicBezTo>
                      <a:pt x="104633" y="0"/>
                      <a:pt x="97734" y="3886"/>
                      <a:pt x="93880" y="10248"/>
                    </a:cubicBez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49" name="Freeform 49"/>
              <p:cNvSpPr/>
              <p:nvPr/>
            </p:nvSpPr>
            <p:spPr>
              <a:xfrm>
                <a:off x="838200" y="6155691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</p:grpSp>
        <p:sp>
          <p:nvSpPr>
            <p:cNvPr id="51" name="TextBox 51"/>
            <p:cNvSpPr txBox="1"/>
            <p:nvPr/>
          </p:nvSpPr>
          <p:spPr>
            <a:xfrm>
              <a:off x="1040511" y="6011704"/>
              <a:ext cx="10411295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这里次数升高误差在变小，但这不是普遍规律。插值多项式的次数越高，结果不一定越准，下一页的 Runge 现象就是反例。</a:t>
              </a:r>
            </a:p>
          </p:txBody>
        </p:sp>
      </p:grpSp>
      <p:grpSp>
        <p:nvGrpSpPr>
          <p:cNvPr id="55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53" name="TextBox 53"/>
            <p:cNvSpPr txBox="1"/>
            <p:nvPr/>
          </p:nvSpPr>
          <p:spPr>
            <a:xfrm>
              <a:off x="528447" y="6581299"/>
              <a:ext cx="225267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计算方法 · 第5章 函数插值与曲线拟合</a:t>
              </a:r>
            </a:p>
          </p:txBody>
        </p:sp>
        <p:sp>
          <p:nvSpPr>
            <p:cNvPr id="54" name="TextBox 54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17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9376455" cy="909257"/>
            <a:chOff x="520446" y="342900"/>
            <a:chExt cx="9376455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272665" cy="266700"/>
            </a:xfrm>
            <a:prstGeom prst="roundRect">
              <a:avLst>
                <a:gd name="adj" fmla="val 50000"/>
              </a:avLst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01058" y="407194"/>
              <a:ext cx="213734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第5章 函数插值 · 拉格朗日插值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9376455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Runge 现象：等距节点上插值次数越高，区间两端振荡越厉害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E7D4F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73" name="c1-graph-1"/>
          <p:cNvGrpSpPr/>
          <p:nvPr/>
        </p:nvGrpSpPr>
        <p:grpSpPr>
          <a:xfrm>
            <a:off x="705803" y="1638300"/>
            <a:ext cx="5758252" cy="4255770"/>
            <a:chOff x="705803" y="1638300"/>
            <a:chExt cx="5758252" cy="4255770"/>
          </a:xfrm>
        </p:grpSpPr>
        <p:sp>
          <p:nvSpPr>
            <p:cNvPr id="7" name="Freeform 7"/>
            <p:cNvSpPr/>
            <p:nvPr/>
          </p:nvSpPr>
          <p:spPr>
            <a:xfrm>
              <a:off x="717232" y="5064442"/>
              <a:ext cx="5596890" cy="9525"/>
            </a:xfrm>
            <a:custGeom>
              <a:avLst/>
              <a:gdLst/>
              <a:ahLst/>
              <a:cxnLst/>
              <a:rect l="l" t="t" r="r" b="b"/>
              <a:pathLst>
                <a:path w="5596890" h="9525">
                  <a:moveTo>
                    <a:pt x="0" y="0"/>
                  </a:moveTo>
                  <a:lnTo>
                    <a:pt x="5596890" y="0"/>
                  </a:lnTo>
                </a:path>
              </a:pathLst>
            </a:custGeom>
            <a:noFill/>
            <a:ln w="13335">
              <a:solidFill>
                <a:srgbClr val="5B6475"/>
              </a:solidFill>
            </a:ln>
          </p:spPr>
        </p:sp>
        <p:sp>
          <p:nvSpPr>
            <p:cNvPr id="8" name="Freeform 8"/>
            <p:cNvSpPr/>
            <p:nvPr/>
          </p:nvSpPr>
          <p:spPr>
            <a:xfrm>
              <a:off x="6314122" y="5016818"/>
              <a:ext cx="95250" cy="95250"/>
            </a:xfrm>
            <a:custGeom>
              <a:avLst/>
              <a:gdLst/>
              <a:ahLst/>
              <a:cxnLst/>
              <a:rect l="l" t="t" r="r" b="b"/>
              <a:pathLst>
                <a:path w="95250" h="95250">
                  <a:moveTo>
                    <a:pt x="95250" y="47625"/>
                  </a:moveTo>
                  <a:lnTo>
                    <a:pt x="0" y="952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9" name="Freeform 9"/>
            <p:cNvSpPr/>
            <p:nvPr/>
          </p:nvSpPr>
          <p:spPr>
            <a:xfrm>
              <a:off x="3563302" y="1857375"/>
              <a:ext cx="9525" cy="4025265"/>
            </a:xfrm>
            <a:custGeom>
              <a:avLst/>
              <a:gdLst/>
              <a:ahLst/>
              <a:cxnLst/>
              <a:rect l="l" t="t" r="r" b="b"/>
              <a:pathLst>
                <a:path w="9525" h="4025265">
                  <a:moveTo>
                    <a:pt x="0" y="4025265"/>
                  </a:moveTo>
                  <a:lnTo>
                    <a:pt x="0" y="0"/>
                  </a:lnTo>
                </a:path>
              </a:pathLst>
            </a:custGeom>
            <a:noFill/>
            <a:ln w="13335">
              <a:solidFill>
                <a:srgbClr val="5B6475"/>
              </a:solidFill>
            </a:ln>
          </p:spPr>
        </p:sp>
        <p:sp>
          <p:nvSpPr>
            <p:cNvPr id="10" name="Freeform 10"/>
            <p:cNvSpPr/>
            <p:nvPr/>
          </p:nvSpPr>
          <p:spPr>
            <a:xfrm>
              <a:off x="3515678" y="1762125"/>
              <a:ext cx="95250" cy="95250"/>
            </a:xfrm>
            <a:custGeom>
              <a:avLst/>
              <a:gdLst/>
              <a:ahLst/>
              <a:cxnLst/>
              <a:rect l="l" t="t" r="r" b="b"/>
              <a:pathLst>
                <a:path w="95250" h="95250">
                  <a:moveTo>
                    <a:pt x="47625" y="0"/>
                  </a:moveTo>
                  <a:lnTo>
                    <a:pt x="95250" y="95250"/>
                  </a:lnTo>
                  <a:lnTo>
                    <a:pt x="0" y="9525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11" name="Freeform 11"/>
            <p:cNvSpPr/>
            <p:nvPr/>
          </p:nvSpPr>
          <p:spPr>
            <a:xfrm>
              <a:off x="965835" y="5074920"/>
              <a:ext cx="9525" cy="45720"/>
            </a:xfrm>
            <a:custGeom>
              <a:avLst/>
              <a:gdLst/>
              <a:ahLst/>
              <a:cxnLst/>
              <a:rect l="l" t="t" r="r" b="b"/>
              <a:pathLst>
                <a:path w="9525" h="45720">
                  <a:moveTo>
                    <a:pt x="0" y="0"/>
                  </a:moveTo>
                  <a:lnTo>
                    <a:pt x="0" y="45720"/>
                  </a:lnTo>
                </a:path>
              </a:pathLst>
            </a:custGeom>
            <a:noFill/>
            <a:ln w="11430">
              <a:solidFill>
                <a:srgbClr val="5B6475"/>
              </a:solidFill>
            </a:ln>
          </p:spPr>
        </p:sp>
        <p:sp>
          <p:nvSpPr>
            <p:cNvPr id="12" name="Freeform 12"/>
            <p:cNvSpPr/>
            <p:nvPr/>
          </p:nvSpPr>
          <p:spPr>
            <a:xfrm>
              <a:off x="2265045" y="5074920"/>
              <a:ext cx="9525" cy="45720"/>
            </a:xfrm>
            <a:custGeom>
              <a:avLst/>
              <a:gdLst/>
              <a:ahLst/>
              <a:cxnLst/>
              <a:rect l="l" t="t" r="r" b="b"/>
              <a:pathLst>
                <a:path w="9525" h="45720">
                  <a:moveTo>
                    <a:pt x="0" y="0"/>
                  </a:moveTo>
                  <a:lnTo>
                    <a:pt x="0" y="45720"/>
                  </a:lnTo>
                </a:path>
              </a:pathLst>
            </a:custGeom>
            <a:noFill/>
            <a:ln w="11430">
              <a:solidFill>
                <a:srgbClr val="5B6475"/>
              </a:solidFill>
            </a:ln>
          </p:spPr>
        </p:sp>
        <p:sp>
          <p:nvSpPr>
            <p:cNvPr id="13" name="Freeform 13"/>
            <p:cNvSpPr/>
            <p:nvPr/>
          </p:nvSpPr>
          <p:spPr>
            <a:xfrm>
              <a:off x="4861560" y="5074920"/>
              <a:ext cx="9525" cy="45720"/>
            </a:xfrm>
            <a:custGeom>
              <a:avLst/>
              <a:gdLst/>
              <a:ahLst/>
              <a:cxnLst/>
              <a:rect l="l" t="t" r="r" b="b"/>
              <a:pathLst>
                <a:path w="9525" h="45720">
                  <a:moveTo>
                    <a:pt x="0" y="0"/>
                  </a:moveTo>
                  <a:lnTo>
                    <a:pt x="0" y="45720"/>
                  </a:lnTo>
                </a:path>
              </a:pathLst>
            </a:custGeom>
            <a:noFill/>
            <a:ln w="11430">
              <a:solidFill>
                <a:srgbClr val="5B6475"/>
              </a:solidFill>
            </a:ln>
          </p:spPr>
        </p:sp>
        <p:sp>
          <p:nvSpPr>
            <p:cNvPr id="14" name="Freeform 14"/>
            <p:cNvSpPr/>
            <p:nvPr/>
          </p:nvSpPr>
          <p:spPr>
            <a:xfrm>
              <a:off x="6159818" y="5074920"/>
              <a:ext cx="9525" cy="45720"/>
            </a:xfrm>
            <a:custGeom>
              <a:avLst/>
              <a:gdLst/>
              <a:ahLst/>
              <a:cxnLst/>
              <a:rect l="l" t="t" r="r" b="b"/>
              <a:pathLst>
                <a:path w="9525" h="45720">
                  <a:moveTo>
                    <a:pt x="0" y="0"/>
                  </a:moveTo>
                  <a:lnTo>
                    <a:pt x="0" y="45720"/>
                  </a:lnTo>
                </a:path>
              </a:pathLst>
            </a:custGeom>
            <a:noFill/>
            <a:ln w="11430">
              <a:solidFill>
                <a:srgbClr val="5B6475"/>
              </a:solidFill>
            </a:ln>
          </p:spPr>
        </p:sp>
        <p:sp>
          <p:nvSpPr>
            <p:cNvPr id="15" name="Freeform 15"/>
            <p:cNvSpPr/>
            <p:nvPr/>
          </p:nvSpPr>
          <p:spPr>
            <a:xfrm>
              <a:off x="3509010" y="3408045"/>
              <a:ext cx="43815" cy="9525"/>
            </a:xfrm>
            <a:custGeom>
              <a:avLst/>
              <a:gdLst/>
              <a:ahLst/>
              <a:cxnLst/>
              <a:rect l="l" t="t" r="r" b="b"/>
              <a:pathLst>
                <a:path w="43815" h="9525">
                  <a:moveTo>
                    <a:pt x="43815" y="0"/>
                  </a:moveTo>
                  <a:lnTo>
                    <a:pt x="0" y="0"/>
                  </a:lnTo>
                </a:path>
              </a:pathLst>
            </a:custGeom>
            <a:noFill/>
            <a:ln w="11430">
              <a:solidFill>
                <a:srgbClr val="5B6475"/>
              </a:solidFill>
            </a:ln>
          </p:spPr>
        </p:sp>
        <p:sp>
          <p:nvSpPr>
            <p:cNvPr id="16" name="Freeform 16"/>
            <p:cNvSpPr/>
            <p:nvPr/>
          </p:nvSpPr>
          <p:spPr>
            <a:xfrm>
              <a:off x="3509010" y="1751648"/>
              <a:ext cx="43815" cy="9525"/>
            </a:xfrm>
            <a:custGeom>
              <a:avLst/>
              <a:gdLst/>
              <a:ahLst/>
              <a:cxnLst/>
              <a:rect l="l" t="t" r="r" b="b"/>
              <a:pathLst>
                <a:path w="43815" h="9525">
                  <a:moveTo>
                    <a:pt x="43815" y="0"/>
                  </a:moveTo>
                  <a:lnTo>
                    <a:pt x="0" y="0"/>
                  </a:lnTo>
                </a:path>
              </a:pathLst>
            </a:custGeom>
            <a:noFill/>
            <a:ln w="11430">
              <a:solidFill>
                <a:srgbClr val="5B6475"/>
              </a:solidFill>
            </a:ln>
          </p:spPr>
        </p:sp>
        <p:sp>
          <p:nvSpPr>
            <p:cNvPr id="17" name="Freeform 17"/>
            <p:cNvSpPr/>
            <p:nvPr/>
          </p:nvSpPr>
          <p:spPr>
            <a:xfrm>
              <a:off x="974408" y="4125278"/>
              <a:ext cx="5177790" cy="1031557"/>
            </a:xfrm>
            <a:custGeom>
              <a:avLst/>
              <a:gdLst/>
              <a:ahLst/>
              <a:cxnLst/>
              <a:rect l="l" t="t" r="r" b="b"/>
              <a:pathLst>
                <a:path w="5177790" h="1031557">
                  <a:moveTo>
                    <a:pt x="0" y="882015"/>
                  </a:moveTo>
                  <a:lnTo>
                    <a:pt x="35243" y="910590"/>
                  </a:lnTo>
                  <a:lnTo>
                    <a:pt x="79057" y="941070"/>
                  </a:lnTo>
                  <a:lnTo>
                    <a:pt x="122873" y="965835"/>
                  </a:lnTo>
                  <a:lnTo>
                    <a:pt x="165735" y="986790"/>
                  </a:lnTo>
                  <a:lnTo>
                    <a:pt x="209550" y="1003935"/>
                  </a:lnTo>
                  <a:lnTo>
                    <a:pt x="253365" y="1016317"/>
                  </a:lnTo>
                  <a:lnTo>
                    <a:pt x="297180" y="1024890"/>
                  </a:lnTo>
                  <a:lnTo>
                    <a:pt x="340995" y="1030605"/>
                  </a:lnTo>
                  <a:lnTo>
                    <a:pt x="384810" y="1031557"/>
                  </a:lnTo>
                  <a:lnTo>
                    <a:pt x="428625" y="1030605"/>
                  </a:lnTo>
                  <a:lnTo>
                    <a:pt x="472440" y="1025842"/>
                  </a:lnTo>
                  <a:lnTo>
                    <a:pt x="515303" y="1018222"/>
                  </a:lnTo>
                  <a:lnTo>
                    <a:pt x="559118" y="1007745"/>
                  </a:lnTo>
                  <a:lnTo>
                    <a:pt x="602932" y="995362"/>
                  </a:lnTo>
                  <a:lnTo>
                    <a:pt x="646747" y="980122"/>
                  </a:lnTo>
                  <a:lnTo>
                    <a:pt x="690563" y="962978"/>
                  </a:lnTo>
                  <a:lnTo>
                    <a:pt x="734378" y="943928"/>
                  </a:lnTo>
                  <a:lnTo>
                    <a:pt x="777240" y="922972"/>
                  </a:lnTo>
                  <a:lnTo>
                    <a:pt x="821055" y="900112"/>
                  </a:lnTo>
                  <a:lnTo>
                    <a:pt x="864870" y="876300"/>
                  </a:lnTo>
                  <a:lnTo>
                    <a:pt x="908685" y="851535"/>
                  </a:lnTo>
                  <a:lnTo>
                    <a:pt x="952500" y="824865"/>
                  </a:lnTo>
                  <a:lnTo>
                    <a:pt x="995363" y="796290"/>
                  </a:lnTo>
                  <a:lnTo>
                    <a:pt x="1039178" y="767715"/>
                  </a:lnTo>
                  <a:lnTo>
                    <a:pt x="1082992" y="738188"/>
                  </a:lnTo>
                  <a:lnTo>
                    <a:pt x="1126808" y="708660"/>
                  </a:lnTo>
                  <a:lnTo>
                    <a:pt x="1170622" y="678180"/>
                  </a:lnTo>
                  <a:lnTo>
                    <a:pt x="1213485" y="646747"/>
                  </a:lnTo>
                  <a:lnTo>
                    <a:pt x="1257300" y="615315"/>
                  </a:lnTo>
                  <a:lnTo>
                    <a:pt x="1301115" y="583882"/>
                  </a:lnTo>
                  <a:lnTo>
                    <a:pt x="1344930" y="552450"/>
                  </a:lnTo>
                  <a:lnTo>
                    <a:pt x="1388745" y="521017"/>
                  </a:lnTo>
                  <a:lnTo>
                    <a:pt x="1431608" y="490538"/>
                  </a:lnTo>
                  <a:lnTo>
                    <a:pt x="1475422" y="459105"/>
                  </a:lnTo>
                  <a:lnTo>
                    <a:pt x="1519238" y="428625"/>
                  </a:lnTo>
                  <a:lnTo>
                    <a:pt x="1563052" y="398145"/>
                  </a:lnTo>
                  <a:lnTo>
                    <a:pt x="1606868" y="368617"/>
                  </a:lnTo>
                  <a:lnTo>
                    <a:pt x="1649730" y="340042"/>
                  </a:lnTo>
                  <a:lnTo>
                    <a:pt x="1693545" y="312420"/>
                  </a:lnTo>
                  <a:lnTo>
                    <a:pt x="1737360" y="284797"/>
                  </a:lnTo>
                  <a:lnTo>
                    <a:pt x="1781175" y="258127"/>
                  </a:lnTo>
                  <a:lnTo>
                    <a:pt x="1824990" y="232410"/>
                  </a:lnTo>
                  <a:lnTo>
                    <a:pt x="1868805" y="208597"/>
                  </a:lnTo>
                  <a:lnTo>
                    <a:pt x="1912620" y="184785"/>
                  </a:lnTo>
                  <a:lnTo>
                    <a:pt x="1956435" y="162877"/>
                  </a:lnTo>
                  <a:lnTo>
                    <a:pt x="1999297" y="141922"/>
                  </a:lnTo>
                  <a:lnTo>
                    <a:pt x="2043112" y="122872"/>
                  </a:lnTo>
                  <a:lnTo>
                    <a:pt x="2086927" y="103822"/>
                  </a:lnTo>
                  <a:lnTo>
                    <a:pt x="2130742" y="86677"/>
                  </a:lnTo>
                  <a:lnTo>
                    <a:pt x="2174558" y="71438"/>
                  </a:lnTo>
                  <a:lnTo>
                    <a:pt x="2217420" y="57150"/>
                  </a:lnTo>
                  <a:lnTo>
                    <a:pt x="2261235" y="44767"/>
                  </a:lnTo>
                  <a:lnTo>
                    <a:pt x="2305050" y="33338"/>
                  </a:lnTo>
                  <a:lnTo>
                    <a:pt x="2348865" y="23812"/>
                  </a:lnTo>
                  <a:lnTo>
                    <a:pt x="2392680" y="16192"/>
                  </a:lnTo>
                  <a:lnTo>
                    <a:pt x="2435542" y="9525"/>
                  </a:lnTo>
                  <a:lnTo>
                    <a:pt x="2479358" y="4762"/>
                  </a:lnTo>
                  <a:lnTo>
                    <a:pt x="2523172" y="1905"/>
                  </a:lnTo>
                  <a:lnTo>
                    <a:pt x="2566988" y="0"/>
                  </a:lnTo>
                  <a:lnTo>
                    <a:pt x="2610802" y="0"/>
                  </a:lnTo>
                  <a:lnTo>
                    <a:pt x="2654618" y="1905"/>
                  </a:lnTo>
                  <a:lnTo>
                    <a:pt x="2697480" y="4762"/>
                  </a:lnTo>
                  <a:lnTo>
                    <a:pt x="2741295" y="9525"/>
                  </a:lnTo>
                  <a:lnTo>
                    <a:pt x="2785110" y="16192"/>
                  </a:lnTo>
                  <a:lnTo>
                    <a:pt x="2828925" y="23812"/>
                  </a:lnTo>
                  <a:lnTo>
                    <a:pt x="2872740" y="33338"/>
                  </a:lnTo>
                  <a:lnTo>
                    <a:pt x="2915602" y="44767"/>
                  </a:lnTo>
                  <a:lnTo>
                    <a:pt x="2959418" y="57150"/>
                  </a:lnTo>
                  <a:lnTo>
                    <a:pt x="3003232" y="71438"/>
                  </a:lnTo>
                  <a:lnTo>
                    <a:pt x="3047048" y="86677"/>
                  </a:lnTo>
                  <a:lnTo>
                    <a:pt x="3090862" y="103822"/>
                  </a:lnTo>
                  <a:lnTo>
                    <a:pt x="3133725" y="122872"/>
                  </a:lnTo>
                  <a:lnTo>
                    <a:pt x="3177540" y="141922"/>
                  </a:lnTo>
                  <a:lnTo>
                    <a:pt x="3221355" y="162877"/>
                  </a:lnTo>
                  <a:lnTo>
                    <a:pt x="3265170" y="184785"/>
                  </a:lnTo>
                  <a:lnTo>
                    <a:pt x="3308985" y="208597"/>
                  </a:lnTo>
                  <a:lnTo>
                    <a:pt x="3352800" y="232410"/>
                  </a:lnTo>
                  <a:lnTo>
                    <a:pt x="3396615" y="258127"/>
                  </a:lnTo>
                  <a:lnTo>
                    <a:pt x="3440430" y="284797"/>
                  </a:lnTo>
                  <a:lnTo>
                    <a:pt x="3483292" y="312420"/>
                  </a:lnTo>
                  <a:lnTo>
                    <a:pt x="3527108" y="340042"/>
                  </a:lnTo>
                  <a:lnTo>
                    <a:pt x="3570922" y="368617"/>
                  </a:lnTo>
                  <a:lnTo>
                    <a:pt x="3614738" y="398145"/>
                  </a:lnTo>
                  <a:lnTo>
                    <a:pt x="3658552" y="428625"/>
                  </a:lnTo>
                  <a:lnTo>
                    <a:pt x="3701415" y="459105"/>
                  </a:lnTo>
                  <a:lnTo>
                    <a:pt x="3745230" y="490538"/>
                  </a:lnTo>
                  <a:lnTo>
                    <a:pt x="3789045" y="521017"/>
                  </a:lnTo>
                  <a:lnTo>
                    <a:pt x="3832860" y="552450"/>
                  </a:lnTo>
                  <a:lnTo>
                    <a:pt x="3876675" y="583882"/>
                  </a:lnTo>
                  <a:lnTo>
                    <a:pt x="3919537" y="615315"/>
                  </a:lnTo>
                  <a:lnTo>
                    <a:pt x="3963352" y="646747"/>
                  </a:lnTo>
                  <a:lnTo>
                    <a:pt x="4007168" y="678180"/>
                  </a:lnTo>
                  <a:lnTo>
                    <a:pt x="4050982" y="708660"/>
                  </a:lnTo>
                  <a:lnTo>
                    <a:pt x="4094798" y="738188"/>
                  </a:lnTo>
                  <a:lnTo>
                    <a:pt x="4137660" y="767715"/>
                  </a:lnTo>
                  <a:lnTo>
                    <a:pt x="4181475" y="796290"/>
                  </a:lnTo>
                  <a:lnTo>
                    <a:pt x="4225290" y="824865"/>
                  </a:lnTo>
                  <a:lnTo>
                    <a:pt x="4269105" y="851535"/>
                  </a:lnTo>
                  <a:lnTo>
                    <a:pt x="4312920" y="876300"/>
                  </a:lnTo>
                  <a:lnTo>
                    <a:pt x="4355782" y="900112"/>
                  </a:lnTo>
                  <a:lnTo>
                    <a:pt x="4399598" y="922972"/>
                  </a:lnTo>
                  <a:lnTo>
                    <a:pt x="4443412" y="943928"/>
                  </a:lnTo>
                  <a:lnTo>
                    <a:pt x="4487228" y="962978"/>
                  </a:lnTo>
                  <a:lnTo>
                    <a:pt x="4531042" y="980122"/>
                  </a:lnTo>
                  <a:lnTo>
                    <a:pt x="4573905" y="995362"/>
                  </a:lnTo>
                  <a:lnTo>
                    <a:pt x="4617720" y="1007745"/>
                  </a:lnTo>
                  <a:lnTo>
                    <a:pt x="4661535" y="1018222"/>
                  </a:lnTo>
                  <a:lnTo>
                    <a:pt x="4705350" y="1025842"/>
                  </a:lnTo>
                  <a:lnTo>
                    <a:pt x="4749165" y="1030605"/>
                  </a:lnTo>
                  <a:lnTo>
                    <a:pt x="4792980" y="1031557"/>
                  </a:lnTo>
                  <a:lnTo>
                    <a:pt x="4835842" y="1030605"/>
                  </a:lnTo>
                  <a:lnTo>
                    <a:pt x="4880610" y="1024890"/>
                  </a:lnTo>
                  <a:lnTo>
                    <a:pt x="4924425" y="1016317"/>
                  </a:lnTo>
                  <a:lnTo>
                    <a:pt x="4967288" y="1003935"/>
                  </a:lnTo>
                  <a:lnTo>
                    <a:pt x="5011102" y="986790"/>
                  </a:lnTo>
                  <a:lnTo>
                    <a:pt x="5054918" y="965835"/>
                  </a:lnTo>
                  <a:lnTo>
                    <a:pt x="5098733" y="941070"/>
                  </a:lnTo>
                  <a:lnTo>
                    <a:pt x="5142548" y="910590"/>
                  </a:lnTo>
                  <a:lnTo>
                    <a:pt x="5177790" y="882015"/>
                  </a:lnTo>
                </a:path>
              </a:pathLst>
            </a:custGeom>
            <a:noFill/>
            <a:ln w="20955">
              <a:solidFill>
                <a:srgbClr val="1F5FA8"/>
              </a:solidFill>
            </a:ln>
          </p:spPr>
        </p:sp>
        <p:sp>
          <p:nvSpPr>
            <p:cNvPr id="18" name="Freeform 18"/>
            <p:cNvSpPr/>
            <p:nvPr/>
          </p:nvSpPr>
          <p:spPr>
            <a:xfrm>
              <a:off x="965835" y="1820228"/>
              <a:ext cx="5193983" cy="3669982"/>
            </a:xfrm>
            <a:custGeom>
              <a:avLst/>
              <a:gdLst/>
              <a:ahLst/>
              <a:cxnLst/>
              <a:rect l="l" t="t" r="r" b="b"/>
              <a:pathLst>
                <a:path w="5193983" h="3669982">
                  <a:moveTo>
                    <a:pt x="0" y="3169920"/>
                  </a:moveTo>
                  <a:lnTo>
                    <a:pt x="26670" y="2037398"/>
                  </a:lnTo>
                  <a:lnTo>
                    <a:pt x="52388" y="1199198"/>
                  </a:lnTo>
                  <a:lnTo>
                    <a:pt x="79057" y="619125"/>
                  </a:lnTo>
                  <a:lnTo>
                    <a:pt x="104775" y="250508"/>
                  </a:lnTo>
                  <a:lnTo>
                    <a:pt x="131445" y="55245"/>
                  </a:lnTo>
                  <a:lnTo>
                    <a:pt x="157162" y="0"/>
                  </a:lnTo>
                  <a:lnTo>
                    <a:pt x="182880" y="54293"/>
                  </a:lnTo>
                  <a:lnTo>
                    <a:pt x="209550" y="194310"/>
                  </a:lnTo>
                  <a:lnTo>
                    <a:pt x="235267" y="396240"/>
                  </a:lnTo>
                  <a:lnTo>
                    <a:pt x="260985" y="642938"/>
                  </a:lnTo>
                  <a:lnTo>
                    <a:pt x="287655" y="917257"/>
                  </a:lnTo>
                  <a:lnTo>
                    <a:pt x="313373" y="1207770"/>
                  </a:lnTo>
                  <a:lnTo>
                    <a:pt x="339090" y="1503045"/>
                  </a:lnTo>
                  <a:lnTo>
                    <a:pt x="365760" y="1793557"/>
                  </a:lnTo>
                  <a:lnTo>
                    <a:pt x="391477" y="2073593"/>
                  </a:lnTo>
                  <a:lnTo>
                    <a:pt x="418148" y="2336482"/>
                  </a:lnTo>
                  <a:lnTo>
                    <a:pt x="444817" y="2579370"/>
                  </a:lnTo>
                  <a:lnTo>
                    <a:pt x="470535" y="2799398"/>
                  </a:lnTo>
                  <a:lnTo>
                    <a:pt x="496252" y="2993707"/>
                  </a:lnTo>
                  <a:lnTo>
                    <a:pt x="522923" y="3162300"/>
                  </a:lnTo>
                  <a:lnTo>
                    <a:pt x="548640" y="3306128"/>
                  </a:lnTo>
                  <a:lnTo>
                    <a:pt x="574357" y="3422332"/>
                  </a:lnTo>
                  <a:lnTo>
                    <a:pt x="601028" y="3515678"/>
                  </a:lnTo>
                  <a:lnTo>
                    <a:pt x="626745" y="3585210"/>
                  </a:lnTo>
                  <a:lnTo>
                    <a:pt x="652462" y="3632835"/>
                  </a:lnTo>
                  <a:lnTo>
                    <a:pt x="679132" y="3660457"/>
                  </a:lnTo>
                  <a:lnTo>
                    <a:pt x="704850" y="3669982"/>
                  </a:lnTo>
                  <a:lnTo>
                    <a:pt x="730567" y="3664267"/>
                  </a:lnTo>
                  <a:lnTo>
                    <a:pt x="757238" y="3645217"/>
                  </a:lnTo>
                  <a:lnTo>
                    <a:pt x="782955" y="3613785"/>
                  </a:lnTo>
                  <a:lnTo>
                    <a:pt x="809625" y="3572828"/>
                  </a:lnTo>
                  <a:lnTo>
                    <a:pt x="835342" y="3525202"/>
                  </a:lnTo>
                  <a:lnTo>
                    <a:pt x="862012" y="3470910"/>
                  </a:lnTo>
                  <a:lnTo>
                    <a:pt x="887730" y="3413760"/>
                  </a:lnTo>
                  <a:lnTo>
                    <a:pt x="914400" y="3353752"/>
                  </a:lnTo>
                  <a:lnTo>
                    <a:pt x="940117" y="3293745"/>
                  </a:lnTo>
                  <a:lnTo>
                    <a:pt x="965835" y="3233738"/>
                  </a:lnTo>
                  <a:lnTo>
                    <a:pt x="992505" y="3175635"/>
                  </a:lnTo>
                  <a:lnTo>
                    <a:pt x="1018222" y="3120390"/>
                  </a:lnTo>
                  <a:lnTo>
                    <a:pt x="1043940" y="3068955"/>
                  </a:lnTo>
                  <a:lnTo>
                    <a:pt x="1070610" y="3021330"/>
                  </a:lnTo>
                  <a:lnTo>
                    <a:pt x="1096328" y="2978468"/>
                  </a:lnTo>
                  <a:lnTo>
                    <a:pt x="1122045" y="2941320"/>
                  </a:lnTo>
                  <a:lnTo>
                    <a:pt x="1148715" y="2907982"/>
                  </a:lnTo>
                  <a:lnTo>
                    <a:pt x="1175385" y="2882265"/>
                  </a:lnTo>
                  <a:lnTo>
                    <a:pt x="1201102" y="2860357"/>
                  </a:lnTo>
                  <a:lnTo>
                    <a:pt x="1226820" y="2844165"/>
                  </a:lnTo>
                  <a:lnTo>
                    <a:pt x="1253490" y="2832735"/>
                  </a:lnTo>
                  <a:lnTo>
                    <a:pt x="1279207" y="2826068"/>
                  </a:lnTo>
                  <a:lnTo>
                    <a:pt x="1305878" y="2824162"/>
                  </a:lnTo>
                  <a:lnTo>
                    <a:pt x="1331595" y="2825115"/>
                  </a:lnTo>
                  <a:lnTo>
                    <a:pt x="1357312" y="2829878"/>
                  </a:lnTo>
                  <a:lnTo>
                    <a:pt x="1383982" y="2837498"/>
                  </a:lnTo>
                  <a:lnTo>
                    <a:pt x="1409700" y="2847022"/>
                  </a:lnTo>
                  <a:lnTo>
                    <a:pt x="1435418" y="2858452"/>
                  </a:lnTo>
                  <a:lnTo>
                    <a:pt x="1462088" y="2869882"/>
                  </a:lnTo>
                  <a:lnTo>
                    <a:pt x="1487805" y="2883218"/>
                  </a:lnTo>
                  <a:lnTo>
                    <a:pt x="1513522" y="2894648"/>
                  </a:lnTo>
                  <a:lnTo>
                    <a:pt x="1540193" y="2906078"/>
                  </a:lnTo>
                  <a:lnTo>
                    <a:pt x="1566862" y="2915602"/>
                  </a:lnTo>
                  <a:lnTo>
                    <a:pt x="1592580" y="2924175"/>
                  </a:lnTo>
                  <a:lnTo>
                    <a:pt x="1618298" y="2928938"/>
                  </a:lnTo>
                  <a:lnTo>
                    <a:pt x="1644968" y="2931795"/>
                  </a:lnTo>
                  <a:lnTo>
                    <a:pt x="1670685" y="2930843"/>
                  </a:lnTo>
                  <a:lnTo>
                    <a:pt x="1696402" y="2927032"/>
                  </a:lnTo>
                  <a:lnTo>
                    <a:pt x="1723072" y="2919412"/>
                  </a:lnTo>
                  <a:lnTo>
                    <a:pt x="1748790" y="2907030"/>
                  </a:lnTo>
                  <a:lnTo>
                    <a:pt x="1775460" y="2890838"/>
                  </a:lnTo>
                  <a:lnTo>
                    <a:pt x="1801178" y="2869882"/>
                  </a:lnTo>
                  <a:lnTo>
                    <a:pt x="1826895" y="2845118"/>
                  </a:lnTo>
                  <a:lnTo>
                    <a:pt x="1853565" y="2816543"/>
                  </a:lnTo>
                  <a:lnTo>
                    <a:pt x="1880235" y="2783205"/>
                  </a:lnTo>
                  <a:lnTo>
                    <a:pt x="1905952" y="2746057"/>
                  </a:lnTo>
                  <a:lnTo>
                    <a:pt x="1931670" y="2704148"/>
                  </a:lnTo>
                  <a:lnTo>
                    <a:pt x="1958340" y="2659380"/>
                  </a:lnTo>
                  <a:lnTo>
                    <a:pt x="1984057" y="2611755"/>
                  </a:lnTo>
                  <a:lnTo>
                    <a:pt x="2009775" y="2560320"/>
                  </a:lnTo>
                  <a:lnTo>
                    <a:pt x="2036445" y="2506980"/>
                  </a:lnTo>
                  <a:lnTo>
                    <a:pt x="2062162" y="2450782"/>
                  </a:lnTo>
                  <a:lnTo>
                    <a:pt x="2087880" y="2392680"/>
                  </a:lnTo>
                  <a:lnTo>
                    <a:pt x="2114550" y="2333625"/>
                  </a:lnTo>
                  <a:lnTo>
                    <a:pt x="2140268" y="2273618"/>
                  </a:lnTo>
                  <a:lnTo>
                    <a:pt x="2165985" y="2214563"/>
                  </a:lnTo>
                  <a:lnTo>
                    <a:pt x="2192655" y="2154555"/>
                  </a:lnTo>
                  <a:lnTo>
                    <a:pt x="2218372" y="2094548"/>
                  </a:lnTo>
                  <a:lnTo>
                    <a:pt x="2245042" y="2036445"/>
                  </a:lnTo>
                  <a:lnTo>
                    <a:pt x="2271712" y="1980248"/>
                  </a:lnTo>
                  <a:lnTo>
                    <a:pt x="2297430" y="1925955"/>
                  </a:lnTo>
                  <a:lnTo>
                    <a:pt x="2323148" y="1874520"/>
                  </a:lnTo>
                  <a:lnTo>
                    <a:pt x="2349818" y="1825943"/>
                  </a:lnTo>
                  <a:lnTo>
                    <a:pt x="2375535" y="1781175"/>
                  </a:lnTo>
                  <a:lnTo>
                    <a:pt x="2401252" y="1740218"/>
                  </a:lnTo>
                  <a:lnTo>
                    <a:pt x="2427922" y="1704022"/>
                  </a:lnTo>
                  <a:lnTo>
                    <a:pt x="2453640" y="1671638"/>
                  </a:lnTo>
                  <a:lnTo>
                    <a:pt x="2479357" y="1644015"/>
                  </a:lnTo>
                  <a:lnTo>
                    <a:pt x="2506028" y="1622107"/>
                  </a:lnTo>
                  <a:lnTo>
                    <a:pt x="2531745" y="1604963"/>
                  </a:lnTo>
                  <a:lnTo>
                    <a:pt x="2557462" y="1594485"/>
                  </a:lnTo>
                  <a:lnTo>
                    <a:pt x="2584132" y="1588770"/>
                  </a:lnTo>
                  <a:lnTo>
                    <a:pt x="2610802" y="1588770"/>
                  </a:lnTo>
                  <a:lnTo>
                    <a:pt x="2636520" y="1594485"/>
                  </a:lnTo>
                  <a:lnTo>
                    <a:pt x="2663190" y="1604963"/>
                  </a:lnTo>
                  <a:lnTo>
                    <a:pt x="2688907" y="1622107"/>
                  </a:lnTo>
                  <a:lnTo>
                    <a:pt x="2714625" y="1644015"/>
                  </a:lnTo>
                  <a:lnTo>
                    <a:pt x="2741295" y="1671638"/>
                  </a:lnTo>
                  <a:lnTo>
                    <a:pt x="2767012" y="1704022"/>
                  </a:lnTo>
                  <a:lnTo>
                    <a:pt x="2792730" y="1740218"/>
                  </a:lnTo>
                  <a:lnTo>
                    <a:pt x="2819400" y="1781175"/>
                  </a:lnTo>
                  <a:lnTo>
                    <a:pt x="2845118" y="1825943"/>
                  </a:lnTo>
                  <a:lnTo>
                    <a:pt x="2870835" y="1874520"/>
                  </a:lnTo>
                  <a:lnTo>
                    <a:pt x="2897505" y="1925955"/>
                  </a:lnTo>
                  <a:lnTo>
                    <a:pt x="2923222" y="1980248"/>
                  </a:lnTo>
                  <a:lnTo>
                    <a:pt x="2948940" y="2036445"/>
                  </a:lnTo>
                  <a:lnTo>
                    <a:pt x="2975610" y="2094548"/>
                  </a:lnTo>
                  <a:lnTo>
                    <a:pt x="3002280" y="2154555"/>
                  </a:lnTo>
                  <a:lnTo>
                    <a:pt x="3027998" y="2214563"/>
                  </a:lnTo>
                  <a:lnTo>
                    <a:pt x="3053715" y="2273618"/>
                  </a:lnTo>
                  <a:lnTo>
                    <a:pt x="3080385" y="2333625"/>
                  </a:lnTo>
                  <a:lnTo>
                    <a:pt x="3106102" y="2392680"/>
                  </a:lnTo>
                  <a:lnTo>
                    <a:pt x="3132772" y="2450782"/>
                  </a:lnTo>
                  <a:lnTo>
                    <a:pt x="3158490" y="2506980"/>
                  </a:lnTo>
                  <a:lnTo>
                    <a:pt x="3184207" y="2560320"/>
                  </a:lnTo>
                  <a:lnTo>
                    <a:pt x="3210878" y="2611755"/>
                  </a:lnTo>
                  <a:lnTo>
                    <a:pt x="3236595" y="2659380"/>
                  </a:lnTo>
                  <a:lnTo>
                    <a:pt x="3262312" y="2704148"/>
                  </a:lnTo>
                  <a:lnTo>
                    <a:pt x="3288982" y="2746057"/>
                  </a:lnTo>
                  <a:lnTo>
                    <a:pt x="3314700" y="2783205"/>
                  </a:lnTo>
                  <a:lnTo>
                    <a:pt x="3341370" y="2816543"/>
                  </a:lnTo>
                  <a:lnTo>
                    <a:pt x="3367088" y="2845118"/>
                  </a:lnTo>
                  <a:lnTo>
                    <a:pt x="3393757" y="2869882"/>
                  </a:lnTo>
                  <a:lnTo>
                    <a:pt x="3419475" y="2890838"/>
                  </a:lnTo>
                  <a:lnTo>
                    <a:pt x="3445193" y="2907030"/>
                  </a:lnTo>
                  <a:lnTo>
                    <a:pt x="3471862" y="2919412"/>
                  </a:lnTo>
                  <a:lnTo>
                    <a:pt x="3497580" y="2927032"/>
                  </a:lnTo>
                  <a:lnTo>
                    <a:pt x="3523298" y="2930843"/>
                  </a:lnTo>
                  <a:lnTo>
                    <a:pt x="3549968" y="2931795"/>
                  </a:lnTo>
                  <a:lnTo>
                    <a:pt x="3575685" y="2928938"/>
                  </a:lnTo>
                  <a:lnTo>
                    <a:pt x="3602355" y="2924175"/>
                  </a:lnTo>
                  <a:lnTo>
                    <a:pt x="3628072" y="2915602"/>
                  </a:lnTo>
                  <a:lnTo>
                    <a:pt x="3653790" y="2906078"/>
                  </a:lnTo>
                  <a:lnTo>
                    <a:pt x="3680460" y="2894648"/>
                  </a:lnTo>
                  <a:lnTo>
                    <a:pt x="3707130" y="2883218"/>
                  </a:lnTo>
                  <a:lnTo>
                    <a:pt x="3732848" y="2869882"/>
                  </a:lnTo>
                  <a:lnTo>
                    <a:pt x="3758565" y="2858452"/>
                  </a:lnTo>
                  <a:lnTo>
                    <a:pt x="3785235" y="2847022"/>
                  </a:lnTo>
                  <a:lnTo>
                    <a:pt x="3810952" y="2837498"/>
                  </a:lnTo>
                  <a:lnTo>
                    <a:pt x="3836670" y="2829878"/>
                  </a:lnTo>
                  <a:lnTo>
                    <a:pt x="3863340" y="2825115"/>
                  </a:lnTo>
                  <a:lnTo>
                    <a:pt x="3889057" y="2824162"/>
                  </a:lnTo>
                  <a:lnTo>
                    <a:pt x="3914775" y="2826068"/>
                  </a:lnTo>
                  <a:lnTo>
                    <a:pt x="3941445" y="2832735"/>
                  </a:lnTo>
                  <a:lnTo>
                    <a:pt x="3967162" y="2844165"/>
                  </a:lnTo>
                  <a:lnTo>
                    <a:pt x="3993833" y="2860357"/>
                  </a:lnTo>
                  <a:lnTo>
                    <a:pt x="4019550" y="2882265"/>
                  </a:lnTo>
                  <a:lnTo>
                    <a:pt x="4046220" y="2907982"/>
                  </a:lnTo>
                  <a:lnTo>
                    <a:pt x="4071938" y="2941320"/>
                  </a:lnTo>
                  <a:lnTo>
                    <a:pt x="4098608" y="2978468"/>
                  </a:lnTo>
                  <a:lnTo>
                    <a:pt x="4124325" y="3021330"/>
                  </a:lnTo>
                  <a:lnTo>
                    <a:pt x="4150043" y="3068955"/>
                  </a:lnTo>
                  <a:lnTo>
                    <a:pt x="4176712" y="3120390"/>
                  </a:lnTo>
                  <a:lnTo>
                    <a:pt x="4202430" y="3175635"/>
                  </a:lnTo>
                  <a:lnTo>
                    <a:pt x="4228148" y="3233738"/>
                  </a:lnTo>
                  <a:lnTo>
                    <a:pt x="4254818" y="3293745"/>
                  </a:lnTo>
                  <a:lnTo>
                    <a:pt x="4280535" y="3353752"/>
                  </a:lnTo>
                  <a:lnTo>
                    <a:pt x="4306252" y="3413760"/>
                  </a:lnTo>
                  <a:lnTo>
                    <a:pt x="4332922" y="3470910"/>
                  </a:lnTo>
                  <a:lnTo>
                    <a:pt x="4358640" y="3525202"/>
                  </a:lnTo>
                  <a:lnTo>
                    <a:pt x="4384358" y="3572828"/>
                  </a:lnTo>
                  <a:lnTo>
                    <a:pt x="4411028" y="3613785"/>
                  </a:lnTo>
                  <a:lnTo>
                    <a:pt x="4437698" y="3645217"/>
                  </a:lnTo>
                  <a:lnTo>
                    <a:pt x="4463415" y="3664267"/>
                  </a:lnTo>
                  <a:lnTo>
                    <a:pt x="4490085" y="3669982"/>
                  </a:lnTo>
                  <a:lnTo>
                    <a:pt x="4515802" y="3660457"/>
                  </a:lnTo>
                  <a:lnTo>
                    <a:pt x="4541520" y="3632835"/>
                  </a:lnTo>
                  <a:lnTo>
                    <a:pt x="4568190" y="3585210"/>
                  </a:lnTo>
                  <a:lnTo>
                    <a:pt x="4593908" y="3515678"/>
                  </a:lnTo>
                  <a:lnTo>
                    <a:pt x="4619625" y="3422332"/>
                  </a:lnTo>
                  <a:lnTo>
                    <a:pt x="4646295" y="3306128"/>
                  </a:lnTo>
                  <a:lnTo>
                    <a:pt x="4672012" y="3162300"/>
                  </a:lnTo>
                  <a:lnTo>
                    <a:pt x="4697730" y="2993707"/>
                  </a:lnTo>
                  <a:lnTo>
                    <a:pt x="4724400" y="2799398"/>
                  </a:lnTo>
                  <a:lnTo>
                    <a:pt x="4750118" y="2579370"/>
                  </a:lnTo>
                  <a:lnTo>
                    <a:pt x="4776788" y="2336482"/>
                  </a:lnTo>
                  <a:lnTo>
                    <a:pt x="4802505" y="2073593"/>
                  </a:lnTo>
                  <a:lnTo>
                    <a:pt x="4829175" y="1793557"/>
                  </a:lnTo>
                  <a:lnTo>
                    <a:pt x="4854892" y="1503045"/>
                  </a:lnTo>
                  <a:lnTo>
                    <a:pt x="4880610" y="1207770"/>
                  </a:lnTo>
                  <a:lnTo>
                    <a:pt x="4907280" y="917257"/>
                  </a:lnTo>
                  <a:lnTo>
                    <a:pt x="4932998" y="642938"/>
                  </a:lnTo>
                  <a:lnTo>
                    <a:pt x="4959668" y="396240"/>
                  </a:lnTo>
                  <a:lnTo>
                    <a:pt x="4985385" y="194310"/>
                  </a:lnTo>
                  <a:lnTo>
                    <a:pt x="5011102" y="54293"/>
                  </a:lnTo>
                  <a:lnTo>
                    <a:pt x="5037772" y="0"/>
                  </a:lnTo>
                  <a:lnTo>
                    <a:pt x="5063490" y="55245"/>
                  </a:lnTo>
                  <a:lnTo>
                    <a:pt x="5089208" y="250508"/>
                  </a:lnTo>
                  <a:lnTo>
                    <a:pt x="5115878" y="619125"/>
                  </a:lnTo>
                  <a:lnTo>
                    <a:pt x="5142548" y="1199198"/>
                  </a:lnTo>
                  <a:lnTo>
                    <a:pt x="5168265" y="2037398"/>
                  </a:lnTo>
                  <a:lnTo>
                    <a:pt x="5193983" y="3169920"/>
                  </a:lnTo>
                </a:path>
              </a:pathLst>
            </a:custGeom>
            <a:noFill/>
            <a:ln w="20955">
              <a:solidFill>
                <a:srgbClr val="F26B3A"/>
              </a:solidFill>
            </a:ln>
          </p:spPr>
        </p:sp>
        <p:sp>
          <p:nvSpPr>
            <p:cNvPr id="19" name="Freeform 19"/>
            <p:cNvSpPr/>
            <p:nvPr/>
          </p:nvSpPr>
          <p:spPr>
            <a:xfrm>
              <a:off x="976312" y="3410902"/>
              <a:ext cx="5173028" cy="1589722"/>
            </a:xfrm>
            <a:custGeom>
              <a:avLst/>
              <a:gdLst/>
              <a:ahLst/>
              <a:cxnLst/>
              <a:rect l="l" t="t" r="r" b="b"/>
              <a:pathLst>
                <a:path w="5173028" h="1589722">
                  <a:moveTo>
                    <a:pt x="0" y="1589722"/>
                  </a:moveTo>
                  <a:lnTo>
                    <a:pt x="33338" y="1587817"/>
                  </a:lnTo>
                  <a:lnTo>
                    <a:pt x="77152" y="1585912"/>
                  </a:lnTo>
                  <a:lnTo>
                    <a:pt x="120968" y="1583055"/>
                  </a:lnTo>
                  <a:lnTo>
                    <a:pt x="163830" y="1581150"/>
                  </a:lnTo>
                  <a:lnTo>
                    <a:pt x="207645" y="1578292"/>
                  </a:lnTo>
                  <a:lnTo>
                    <a:pt x="251460" y="1575435"/>
                  </a:lnTo>
                  <a:lnTo>
                    <a:pt x="295275" y="1572578"/>
                  </a:lnTo>
                  <a:lnTo>
                    <a:pt x="339090" y="1569720"/>
                  </a:lnTo>
                  <a:lnTo>
                    <a:pt x="382905" y="1566862"/>
                  </a:lnTo>
                  <a:lnTo>
                    <a:pt x="426720" y="1563053"/>
                  </a:lnTo>
                  <a:lnTo>
                    <a:pt x="470535" y="1559242"/>
                  </a:lnTo>
                  <a:lnTo>
                    <a:pt x="513398" y="1555432"/>
                  </a:lnTo>
                  <a:lnTo>
                    <a:pt x="557212" y="1551622"/>
                  </a:lnTo>
                  <a:lnTo>
                    <a:pt x="601028" y="1547812"/>
                  </a:lnTo>
                  <a:lnTo>
                    <a:pt x="644842" y="1543050"/>
                  </a:lnTo>
                  <a:lnTo>
                    <a:pt x="688658" y="1538288"/>
                  </a:lnTo>
                  <a:lnTo>
                    <a:pt x="732472" y="1533525"/>
                  </a:lnTo>
                  <a:lnTo>
                    <a:pt x="775335" y="1527810"/>
                  </a:lnTo>
                  <a:lnTo>
                    <a:pt x="819150" y="1522095"/>
                  </a:lnTo>
                  <a:lnTo>
                    <a:pt x="862965" y="1515428"/>
                  </a:lnTo>
                  <a:lnTo>
                    <a:pt x="906780" y="1509712"/>
                  </a:lnTo>
                  <a:lnTo>
                    <a:pt x="950595" y="1502092"/>
                  </a:lnTo>
                  <a:lnTo>
                    <a:pt x="993458" y="1494472"/>
                  </a:lnTo>
                  <a:lnTo>
                    <a:pt x="1037272" y="1486853"/>
                  </a:lnTo>
                  <a:lnTo>
                    <a:pt x="1081088" y="1477328"/>
                  </a:lnTo>
                  <a:lnTo>
                    <a:pt x="1124902" y="1467803"/>
                  </a:lnTo>
                  <a:lnTo>
                    <a:pt x="1168718" y="1458277"/>
                  </a:lnTo>
                  <a:lnTo>
                    <a:pt x="1211580" y="1446847"/>
                  </a:lnTo>
                  <a:lnTo>
                    <a:pt x="1255395" y="1434465"/>
                  </a:lnTo>
                  <a:lnTo>
                    <a:pt x="1299210" y="1422082"/>
                  </a:lnTo>
                  <a:lnTo>
                    <a:pt x="1343025" y="1407795"/>
                  </a:lnTo>
                  <a:lnTo>
                    <a:pt x="1386840" y="1392555"/>
                  </a:lnTo>
                  <a:lnTo>
                    <a:pt x="1429702" y="1375410"/>
                  </a:lnTo>
                  <a:lnTo>
                    <a:pt x="1473518" y="1357312"/>
                  </a:lnTo>
                  <a:lnTo>
                    <a:pt x="1517332" y="1337310"/>
                  </a:lnTo>
                  <a:lnTo>
                    <a:pt x="1561147" y="1315402"/>
                  </a:lnTo>
                  <a:lnTo>
                    <a:pt x="1604962" y="1291590"/>
                  </a:lnTo>
                  <a:lnTo>
                    <a:pt x="1647825" y="1265872"/>
                  </a:lnTo>
                  <a:lnTo>
                    <a:pt x="1691640" y="1236345"/>
                  </a:lnTo>
                  <a:lnTo>
                    <a:pt x="1735455" y="1203960"/>
                  </a:lnTo>
                  <a:lnTo>
                    <a:pt x="1779270" y="1168718"/>
                  </a:lnTo>
                  <a:lnTo>
                    <a:pt x="1823085" y="1129665"/>
                  </a:lnTo>
                  <a:lnTo>
                    <a:pt x="1866900" y="1086802"/>
                  </a:lnTo>
                  <a:lnTo>
                    <a:pt x="1910715" y="1039177"/>
                  </a:lnTo>
                  <a:lnTo>
                    <a:pt x="1954530" y="987742"/>
                  </a:lnTo>
                  <a:lnTo>
                    <a:pt x="1997392" y="929640"/>
                  </a:lnTo>
                  <a:lnTo>
                    <a:pt x="2041208" y="866775"/>
                  </a:lnTo>
                  <a:lnTo>
                    <a:pt x="2085022" y="797242"/>
                  </a:lnTo>
                  <a:lnTo>
                    <a:pt x="2128838" y="722947"/>
                  </a:lnTo>
                  <a:lnTo>
                    <a:pt x="2172652" y="641985"/>
                  </a:lnTo>
                  <a:lnTo>
                    <a:pt x="2215515" y="557212"/>
                  </a:lnTo>
                  <a:lnTo>
                    <a:pt x="2259330" y="467677"/>
                  </a:lnTo>
                  <a:lnTo>
                    <a:pt x="2303145" y="378142"/>
                  </a:lnTo>
                  <a:lnTo>
                    <a:pt x="2346960" y="288607"/>
                  </a:lnTo>
                  <a:lnTo>
                    <a:pt x="2390775" y="204788"/>
                  </a:lnTo>
                  <a:lnTo>
                    <a:pt x="2433638" y="129540"/>
                  </a:lnTo>
                  <a:lnTo>
                    <a:pt x="2477452" y="67627"/>
                  </a:lnTo>
                  <a:lnTo>
                    <a:pt x="2521268" y="23812"/>
                  </a:lnTo>
                  <a:lnTo>
                    <a:pt x="2565082" y="0"/>
                  </a:lnTo>
                  <a:lnTo>
                    <a:pt x="2608898" y="0"/>
                  </a:lnTo>
                  <a:lnTo>
                    <a:pt x="2652712" y="23812"/>
                  </a:lnTo>
                  <a:lnTo>
                    <a:pt x="2695575" y="67627"/>
                  </a:lnTo>
                  <a:lnTo>
                    <a:pt x="2739390" y="129540"/>
                  </a:lnTo>
                  <a:lnTo>
                    <a:pt x="2783205" y="204788"/>
                  </a:lnTo>
                  <a:lnTo>
                    <a:pt x="2827020" y="288607"/>
                  </a:lnTo>
                  <a:lnTo>
                    <a:pt x="2870835" y="378142"/>
                  </a:lnTo>
                  <a:lnTo>
                    <a:pt x="2913698" y="467677"/>
                  </a:lnTo>
                  <a:lnTo>
                    <a:pt x="2957512" y="557212"/>
                  </a:lnTo>
                  <a:lnTo>
                    <a:pt x="3001328" y="641985"/>
                  </a:lnTo>
                  <a:lnTo>
                    <a:pt x="3045142" y="722947"/>
                  </a:lnTo>
                  <a:lnTo>
                    <a:pt x="3088958" y="797242"/>
                  </a:lnTo>
                  <a:lnTo>
                    <a:pt x="3131820" y="866775"/>
                  </a:lnTo>
                  <a:lnTo>
                    <a:pt x="3175635" y="929640"/>
                  </a:lnTo>
                  <a:lnTo>
                    <a:pt x="3219450" y="987742"/>
                  </a:lnTo>
                  <a:lnTo>
                    <a:pt x="3263265" y="1039177"/>
                  </a:lnTo>
                  <a:lnTo>
                    <a:pt x="3307080" y="1086802"/>
                  </a:lnTo>
                  <a:lnTo>
                    <a:pt x="3350895" y="1129665"/>
                  </a:lnTo>
                  <a:lnTo>
                    <a:pt x="3394710" y="1168718"/>
                  </a:lnTo>
                  <a:lnTo>
                    <a:pt x="3438525" y="1203960"/>
                  </a:lnTo>
                  <a:lnTo>
                    <a:pt x="3481388" y="1236345"/>
                  </a:lnTo>
                  <a:lnTo>
                    <a:pt x="3525202" y="1265872"/>
                  </a:lnTo>
                  <a:lnTo>
                    <a:pt x="3569018" y="1291590"/>
                  </a:lnTo>
                  <a:lnTo>
                    <a:pt x="3612832" y="1315402"/>
                  </a:lnTo>
                  <a:lnTo>
                    <a:pt x="3656648" y="1337310"/>
                  </a:lnTo>
                  <a:lnTo>
                    <a:pt x="3699510" y="1357312"/>
                  </a:lnTo>
                  <a:lnTo>
                    <a:pt x="3743325" y="1375410"/>
                  </a:lnTo>
                  <a:lnTo>
                    <a:pt x="3787140" y="1392555"/>
                  </a:lnTo>
                  <a:lnTo>
                    <a:pt x="3830955" y="1407795"/>
                  </a:lnTo>
                  <a:lnTo>
                    <a:pt x="3874770" y="1422082"/>
                  </a:lnTo>
                  <a:lnTo>
                    <a:pt x="3917632" y="1434465"/>
                  </a:lnTo>
                  <a:lnTo>
                    <a:pt x="3961448" y="1446847"/>
                  </a:lnTo>
                  <a:lnTo>
                    <a:pt x="4005262" y="1458277"/>
                  </a:lnTo>
                  <a:lnTo>
                    <a:pt x="4049078" y="1467803"/>
                  </a:lnTo>
                  <a:lnTo>
                    <a:pt x="4092893" y="1477328"/>
                  </a:lnTo>
                  <a:lnTo>
                    <a:pt x="4135755" y="1486853"/>
                  </a:lnTo>
                  <a:lnTo>
                    <a:pt x="4179570" y="1494472"/>
                  </a:lnTo>
                  <a:lnTo>
                    <a:pt x="4223385" y="1502092"/>
                  </a:lnTo>
                  <a:lnTo>
                    <a:pt x="4267200" y="1509712"/>
                  </a:lnTo>
                  <a:lnTo>
                    <a:pt x="4311015" y="1515428"/>
                  </a:lnTo>
                  <a:lnTo>
                    <a:pt x="4353878" y="1522095"/>
                  </a:lnTo>
                  <a:lnTo>
                    <a:pt x="4397692" y="1527810"/>
                  </a:lnTo>
                  <a:lnTo>
                    <a:pt x="4441508" y="1533525"/>
                  </a:lnTo>
                  <a:lnTo>
                    <a:pt x="4485322" y="1538288"/>
                  </a:lnTo>
                  <a:lnTo>
                    <a:pt x="4529138" y="1543050"/>
                  </a:lnTo>
                  <a:lnTo>
                    <a:pt x="4572000" y="1547812"/>
                  </a:lnTo>
                  <a:lnTo>
                    <a:pt x="4615815" y="1551622"/>
                  </a:lnTo>
                  <a:lnTo>
                    <a:pt x="4659630" y="1555432"/>
                  </a:lnTo>
                  <a:lnTo>
                    <a:pt x="4703445" y="1559242"/>
                  </a:lnTo>
                  <a:lnTo>
                    <a:pt x="4747260" y="1563053"/>
                  </a:lnTo>
                  <a:lnTo>
                    <a:pt x="4791075" y="1566862"/>
                  </a:lnTo>
                  <a:lnTo>
                    <a:pt x="4833938" y="1569720"/>
                  </a:lnTo>
                  <a:lnTo>
                    <a:pt x="4878705" y="1572578"/>
                  </a:lnTo>
                  <a:lnTo>
                    <a:pt x="4922520" y="1575435"/>
                  </a:lnTo>
                  <a:lnTo>
                    <a:pt x="4965382" y="1578292"/>
                  </a:lnTo>
                  <a:lnTo>
                    <a:pt x="5009198" y="1581150"/>
                  </a:lnTo>
                  <a:lnTo>
                    <a:pt x="5053012" y="1583055"/>
                  </a:lnTo>
                  <a:lnTo>
                    <a:pt x="5096828" y="1585912"/>
                  </a:lnTo>
                  <a:lnTo>
                    <a:pt x="5140642" y="1587817"/>
                  </a:lnTo>
                  <a:lnTo>
                    <a:pt x="5173028" y="1589722"/>
                  </a:lnTo>
                </a:path>
              </a:pathLst>
            </a:custGeom>
            <a:noFill/>
            <a:ln w="26670">
              <a:solidFill>
                <a:srgbClr val="1F2937"/>
              </a:solidFill>
            </a:ln>
          </p:spPr>
        </p:sp>
        <p:sp>
          <p:nvSpPr>
            <p:cNvPr id="20" name="Freeform 20"/>
            <p:cNvSpPr/>
            <p:nvPr/>
          </p:nvSpPr>
          <p:spPr>
            <a:xfrm>
              <a:off x="1547812" y="1950720"/>
              <a:ext cx="239077" cy="9525"/>
            </a:xfrm>
            <a:custGeom>
              <a:avLst/>
              <a:gdLst/>
              <a:ahLst/>
              <a:cxnLst/>
              <a:rect l="l" t="t" r="r" b="b"/>
              <a:pathLst>
                <a:path w="239077" h="9525">
                  <a:moveTo>
                    <a:pt x="0" y="0"/>
                  </a:moveTo>
                  <a:lnTo>
                    <a:pt x="239077" y="0"/>
                  </a:lnTo>
                </a:path>
              </a:pathLst>
            </a:custGeom>
            <a:noFill/>
            <a:ln w="26670">
              <a:solidFill>
                <a:srgbClr val="1F2937"/>
              </a:solidFill>
            </a:ln>
          </p:spPr>
        </p:sp>
        <p:sp>
          <p:nvSpPr>
            <p:cNvPr id="21" name="Freeform 21"/>
            <p:cNvSpPr/>
            <p:nvPr/>
          </p:nvSpPr>
          <p:spPr>
            <a:xfrm>
              <a:off x="1547812" y="2282190"/>
              <a:ext cx="239077" cy="9525"/>
            </a:xfrm>
            <a:custGeom>
              <a:avLst/>
              <a:gdLst/>
              <a:ahLst/>
              <a:cxnLst/>
              <a:rect l="l" t="t" r="r" b="b"/>
              <a:pathLst>
                <a:path w="239077" h="9525">
                  <a:moveTo>
                    <a:pt x="0" y="0"/>
                  </a:moveTo>
                  <a:lnTo>
                    <a:pt x="239077" y="0"/>
                  </a:lnTo>
                </a:path>
              </a:pathLst>
            </a:custGeom>
            <a:noFill/>
            <a:ln w="20955">
              <a:solidFill>
                <a:srgbClr val="1F5FA8"/>
              </a:solidFill>
            </a:ln>
          </p:spPr>
        </p:sp>
        <p:sp>
          <p:nvSpPr>
            <p:cNvPr id="22" name="Freeform 22"/>
            <p:cNvSpPr/>
            <p:nvPr/>
          </p:nvSpPr>
          <p:spPr>
            <a:xfrm>
              <a:off x="1547812" y="2613660"/>
              <a:ext cx="239077" cy="9525"/>
            </a:xfrm>
            <a:custGeom>
              <a:avLst/>
              <a:gdLst/>
              <a:ahLst/>
              <a:cxnLst/>
              <a:rect l="l" t="t" r="r" b="b"/>
              <a:pathLst>
                <a:path w="239077" h="9525">
                  <a:moveTo>
                    <a:pt x="0" y="0"/>
                  </a:moveTo>
                  <a:lnTo>
                    <a:pt x="239077" y="0"/>
                  </a:lnTo>
                </a:path>
              </a:pathLst>
            </a:custGeom>
            <a:noFill/>
            <a:ln w="20955">
              <a:solidFill>
                <a:srgbClr val="F26B3A"/>
              </a:solidFill>
            </a:ln>
          </p:spPr>
        </p:sp>
        <p:sp>
          <p:nvSpPr>
            <p:cNvPr id="23" name="Ellipse 23"/>
            <p:cNvSpPr/>
            <p:nvPr/>
          </p:nvSpPr>
          <p:spPr>
            <a:xfrm>
              <a:off x="705803" y="5063490"/>
              <a:ext cx="1905" cy="1905"/>
            </a:xfrm>
            <a:prstGeom prst="ellipse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4" name="Ellipse 24"/>
            <p:cNvSpPr/>
            <p:nvPr/>
          </p:nvSpPr>
          <p:spPr>
            <a:xfrm>
              <a:off x="6418898" y="5063490"/>
              <a:ext cx="1905" cy="1905"/>
            </a:xfrm>
            <a:prstGeom prst="ellipse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5" name="Ellipse 25"/>
            <p:cNvSpPr/>
            <p:nvPr/>
          </p:nvSpPr>
          <p:spPr>
            <a:xfrm>
              <a:off x="3562350" y="5892165"/>
              <a:ext cx="1905" cy="1905"/>
            </a:xfrm>
            <a:prstGeom prst="ellipse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6" name="Ellipse 26"/>
            <p:cNvSpPr/>
            <p:nvPr/>
          </p:nvSpPr>
          <p:spPr>
            <a:xfrm>
              <a:off x="3562350" y="1750695"/>
              <a:ext cx="1905" cy="1905"/>
            </a:xfrm>
            <a:prstGeom prst="ellipse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7" name="Ellipse 27"/>
            <p:cNvSpPr/>
            <p:nvPr/>
          </p:nvSpPr>
          <p:spPr>
            <a:xfrm>
              <a:off x="964883" y="5063490"/>
              <a:ext cx="1905" cy="1905"/>
            </a:xfrm>
            <a:prstGeom prst="ellipse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8" name="Ellipse 28"/>
            <p:cNvSpPr/>
            <p:nvPr/>
          </p:nvSpPr>
          <p:spPr>
            <a:xfrm>
              <a:off x="964883" y="5130165"/>
              <a:ext cx="1905" cy="1905"/>
            </a:xfrm>
            <a:prstGeom prst="ellipse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9" name="Ellipse 29"/>
            <p:cNvSpPr/>
            <p:nvPr/>
          </p:nvSpPr>
          <p:spPr>
            <a:xfrm>
              <a:off x="2264092" y="5063490"/>
              <a:ext cx="1905" cy="1905"/>
            </a:xfrm>
            <a:prstGeom prst="ellipse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0" name="Ellipse 30"/>
            <p:cNvSpPr/>
            <p:nvPr/>
          </p:nvSpPr>
          <p:spPr>
            <a:xfrm>
              <a:off x="2264092" y="5130165"/>
              <a:ext cx="1905" cy="1905"/>
            </a:xfrm>
            <a:prstGeom prst="ellipse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1" name="Ellipse 31"/>
            <p:cNvSpPr/>
            <p:nvPr/>
          </p:nvSpPr>
          <p:spPr>
            <a:xfrm>
              <a:off x="4860608" y="5063490"/>
              <a:ext cx="1905" cy="1905"/>
            </a:xfrm>
            <a:prstGeom prst="ellipse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2" name="Ellipse 32"/>
            <p:cNvSpPr/>
            <p:nvPr/>
          </p:nvSpPr>
          <p:spPr>
            <a:xfrm>
              <a:off x="4860608" y="5130165"/>
              <a:ext cx="1905" cy="1905"/>
            </a:xfrm>
            <a:prstGeom prst="ellipse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3" name="Ellipse 33"/>
            <p:cNvSpPr/>
            <p:nvPr/>
          </p:nvSpPr>
          <p:spPr>
            <a:xfrm>
              <a:off x="6158865" y="5063490"/>
              <a:ext cx="1905" cy="1905"/>
            </a:xfrm>
            <a:prstGeom prst="ellipse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4" name="Ellipse 34"/>
            <p:cNvSpPr/>
            <p:nvPr/>
          </p:nvSpPr>
          <p:spPr>
            <a:xfrm>
              <a:off x="6158865" y="5130165"/>
              <a:ext cx="1905" cy="1905"/>
            </a:xfrm>
            <a:prstGeom prst="ellipse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5" name="Ellipse 35"/>
            <p:cNvSpPr/>
            <p:nvPr/>
          </p:nvSpPr>
          <p:spPr>
            <a:xfrm>
              <a:off x="3562350" y="3407092"/>
              <a:ext cx="1905" cy="1905"/>
            </a:xfrm>
            <a:prstGeom prst="ellipse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6" name="Ellipse 36"/>
            <p:cNvSpPr/>
            <p:nvPr/>
          </p:nvSpPr>
          <p:spPr>
            <a:xfrm>
              <a:off x="3497580" y="3407092"/>
              <a:ext cx="1905" cy="1905"/>
            </a:xfrm>
            <a:prstGeom prst="ellipse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7" name="Ellipse 37"/>
            <p:cNvSpPr/>
            <p:nvPr/>
          </p:nvSpPr>
          <p:spPr>
            <a:xfrm>
              <a:off x="3562350" y="1750695"/>
              <a:ext cx="1905" cy="1905"/>
            </a:xfrm>
            <a:prstGeom prst="ellipse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8" name="Ellipse 38"/>
            <p:cNvSpPr/>
            <p:nvPr/>
          </p:nvSpPr>
          <p:spPr>
            <a:xfrm>
              <a:off x="3497580" y="1750695"/>
              <a:ext cx="1905" cy="1905"/>
            </a:xfrm>
            <a:prstGeom prst="ellipse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9" name="Ellipse 39"/>
            <p:cNvSpPr/>
            <p:nvPr/>
          </p:nvSpPr>
          <p:spPr>
            <a:xfrm>
              <a:off x="964883" y="4999672"/>
              <a:ext cx="1905" cy="1905"/>
            </a:xfrm>
            <a:prstGeom prst="ellipse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0" name="Ellipse 40"/>
            <p:cNvSpPr/>
            <p:nvPr/>
          </p:nvSpPr>
          <p:spPr>
            <a:xfrm>
              <a:off x="6158865" y="4999672"/>
              <a:ext cx="1905" cy="1905"/>
            </a:xfrm>
            <a:prstGeom prst="ellipse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1" name="Ellipse 41"/>
            <p:cNvSpPr/>
            <p:nvPr/>
          </p:nvSpPr>
          <p:spPr>
            <a:xfrm>
              <a:off x="964883" y="4999672"/>
              <a:ext cx="1905" cy="1905"/>
            </a:xfrm>
            <a:prstGeom prst="ellipse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2" name="Ellipse 42"/>
            <p:cNvSpPr/>
            <p:nvPr/>
          </p:nvSpPr>
          <p:spPr>
            <a:xfrm>
              <a:off x="6158865" y="4999672"/>
              <a:ext cx="1905" cy="1905"/>
            </a:xfrm>
            <a:prstGeom prst="ellipse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3" name="Ellipse 43"/>
            <p:cNvSpPr/>
            <p:nvPr/>
          </p:nvSpPr>
          <p:spPr>
            <a:xfrm>
              <a:off x="964883" y="4999672"/>
              <a:ext cx="1905" cy="1905"/>
            </a:xfrm>
            <a:prstGeom prst="ellipse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4" name="Ellipse 44"/>
            <p:cNvSpPr/>
            <p:nvPr/>
          </p:nvSpPr>
          <p:spPr>
            <a:xfrm>
              <a:off x="6158865" y="4999672"/>
              <a:ext cx="1905" cy="1905"/>
            </a:xfrm>
            <a:prstGeom prst="ellipse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5" name="Ellipse 45"/>
            <p:cNvSpPr/>
            <p:nvPr/>
          </p:nvSpPr>
          <p:spPr>
            <a:xfrm>
              <a:off x="927735" y="4962525"/>
              <a:ext cx="76200" cy="76200"/>
            </a:xfrm>
            <a:prstGeom prst="ellipse">
              <a:avLst/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46" name="Ellipse 46"/>
            <p:cNvSpPr/>
            <p:nvPr/>
          </p:nvSpPr>
          <p:spPr>
            <a:xfrm>
              <a:off x="1446848" y="4929188"/>
              <a:ext cx="76200" cy="76200"/>
            </a:xfrm>
            <a:prstGeom prst="ellipse">
              <a:avLst/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47" name="Ellipse 47"/>
            <p:cNvSpPr/>
            <p:nvPr/>
          </p:nvSpPr>
          <p:spPr>
            <a:xfrm>
              <a:off x="1966912" y="4860608"/>
              <a:ext cx="76200" cy="76200"/>
            </a:xfrm>
            <a:prstGeom prst="ellipse">
              <a:avLst/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48" name="Ellipse 48"/>
            <p:cNvSpPr/>
            <p:nvPr/>
          </p:nvSpPr>
          <p:spPr>
            <a:xfrm>
              <a:off x="2486025" y="4695825"/>
              <a:ext cx="76200" cy="76200"/>
            </a:xfrm>
            <a:prstGeom prst="ellipse">
              <a:avLst/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49" name="Ellipse 49"/>
            <p:cNvSpPr/>
            <p:nvPr/>
          </p:nvSpPr>
          <p:spPr>
            <a:xfrm>
              <a:off x="3006090" y="4198620"/>
              <a:ext cx="76200" cy="76200"/>
            </a:xfrm>
            <a:prstGeom prst="ellipse">
              <a:avLst/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50" name="Ellipse 50"/>
            <p:cNvSpPr/>
            <p:nvPr/>
          </p:nvSpPr>
          <p:spPr>
            <a:xfrm>
              <a:off x="3525202" y="3369945"/>
              <a:ext cx="76200" cy="76200"/>
            </a:xfrm>
            <a:prstGeom prst="ellipse">
              <a:avLst/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51" name="Ellipse 51"/>
            <p:cNvSpPr/>
            <p:nvPr/>
          </p:nvSpPr>
          <p:spPr>
            <a:xfrm>
              <a:off x="4044315" y="4198620"/>
              <a:ext cx="76200" cy="76200"/>
            </a:xfrm>
            <a:prstGeom prst="ellipse">
              <a:avLst/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52" name="Ellipse 52"/>
            <p:cNvSpPr/>
            <p:nvPr/>
          </p:nvSpPr>
          <p:spPr>
            <a:xfrm>
              <a:off x="4563428" y="4695825"/>
              <a:ext cx="76200" cy="76200"/>
            </a:xfrm>
            <a:prstGeom prst="ellipse">
              <a:avLst/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53" name="Ellipse 53"/>
            <p:cNvSpPr/>
            <p:nvPr/>
          </p:nvSpPr>
          <p:spPr>
            <a:xfrm>
              <a:off x="5082540" y="4860608"/>
              <a:ext cx="76200" cy="76200"/>
            </a:xfrm>
            <a:prstGeom prst="ellipse">
              <a:avLst/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54" name="Ellipse 54"/>
            <p:cNvSpPr/>
            <p:nvPr/>
          </p:nvSpPr>
          <p:spPr>
            <a:xfrm>
              <a:off x="5602605" y="4929188"/>
              <a:ext cx="76200" cy="76200"/>
            </a:xfrm>
            <a:prstGeom prst="ellipse">
              <a:avLst/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55" name="Ellipse 55"/>
            <p:cNvSpPr/>
            <p:nvPr/>
          </p:nvSpPr>
          <p:spPr>
            <a:xfrm>
              <a:off x="6121718" y="4962525"/>
              <a:ext cx="76200" cy="76200"/>
            </a:xfrm>
            <a:prstGeom prst="ellipse">
              <a:avLst/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56" name="Ellipse 56"/>
            <p:cNvSpPr/>
            <p:nvPr/>
          </p:nvSpPr>
          <p:spPr>
            <a:xfrm>
              <a:off x="1536382" y="1949768"/>
              <a:ext cx="1905" cy="1905"/>
            </a:xfrm>
            <a:prstGeom prst="ellipse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7" name="Ellipse 57"/>
            <p:cNvSpPr/>
            <p:nvPr/>
          </p:nvSpPr>
          <p:spPr>
            <a:xfrm>
              <a:off x="1796415" y="1949768"/>
              <a:ext cx="1905" cy="1905"/>
            </a:xfrm>
            <a:prstGeom prst="ellipse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8" name="Ellipse 58"/>
            <p:cNvSpPr/>
            <p:nvPr/>
          </p:nvSpPr>
          <p:spPr>
            <a:xfrm>
              <a:off x="1536382" y="2281238"/>
              <a:ext cx="1905" cy="1905"/>
            </a:xfrm>
            <a:prstGeom prst="ellipse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9" name="Ellipse 59"/>
            <p:cNvSpPr/>
            <p:nvPr/>
          </p:nvSpPr>
          <p:spPr>
            <a:xfrm>
              <a:off x="1796415" y="2281238"/>
              <a:ext cx="1905" cy="1905"/>
            </a:xfrm>
            <a:prstGeom prst="ellipse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60" name="Ellipse 60"/>
            <p:cNvSpPr/>
            <p:nvPr/>
          </p:nvSpPr>
          <p:spPr>
            <a:xfrm>
              <a:off x="1536382" y="2612707"/>
              <a:ext cx="1905" cy="1905"/>
            </a:xfrm>
            <a:prstGeom prst="ellipse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61" name="Ellipse 61"/>
            <p:cNvSpPr/>
            <p:nvPr/>
          </p:nvSpPr>
          <p:spPr>
            <a:xfrm>
              <a:off x="1796415" y="2612707"/>
              <a:ext cx="1905" cy="1905"/>
            </a:xfrm>
            <a:prstGeom prst="ellipse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62" name="TextBox 62"/>
            <p:cNvSpPr txBox="1"/>
            <p:nvPr/>
          </p:nvSpPr>
          <p:spPr>
            <a:xfrm>
              <a:off x="6375644" y="5209222"/>
              <a:ext cx="8841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x</a:t>
              </a:r>
            </a:p>
          </p:txBody>
        </p:sp>
        <p:sp>
          <p:nvSpPr>
            <p:cNvPr id="63" name="TextBox 63"/>
            <p:cNvSpPr txBox="1"/>
            <p:nvPr/>
          </p:nvSpPr>
          <p:spPr>
            <a:xfrm>
              <a:off x="3702748" y="1638300"/>
              <a:ext cx="8841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y</a:t>
              </a:r>
            </a:p>
          </p:txBody>
        </p:sp>
        <p:sp>
          <p:nvSpPr>
            <p:cNvPr id="64" name="TextBox 64"/>
            <p:cNvSpPr txBox="1"/>
            <p:nvPr/>
          </p:nvSpPr>
          <p:spPr>
            <a:xfrm>
              <a:off x="894436" y="5199698"/>
              <a:ext cx="142799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−1</a:t>
              </a:r>
            </a:p>
          </p:txBody>
        </p:sp>
        <p:sp>
          <p:nvSpPr>
            <p:cNvPr id="65" name="TextBox 65"/>
            <p:cNvSpPr txBox="1"/>
            <p:nvPr/>
          </p:nvSpPr>
          <p:spPr>
            <a:xfrm>
              <a:off x="2127009" y="5199698"/>
              <a:ext cx="276073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−0.5</a:t>
              </a:r>
            </a:p>
          </p:txBody>
        </p:sp>
        <p:sp>
          <p:nvSpPr>
            <p:cNvPr id="66" name="TextBox 66"/>
            <p:cNvSpPr txBox="1"/>
            <p:nvPr/>
          </p:nvSpPr>
          <p:spPr>
            <a:xfrm>
              <a:off x="4756842" y="5199698"/>
              <a:ext cx="209436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0.5</a:t>
              </a:r>
            </a:p>
          </p:txBody>
        </p:sp>
        <p:sp>
          <p:nvSpPr>
            <p:cNvPr id="67" name="TextBox 67"/>
            <p:cNvSpPr txBox="1"/>
            <p:nvPr/>
          </p:nvSpPr>
          <p:spPr>
            <a:xfrm>
              <a:off x="6121737" y="5199698"/>
              <a:ext cx="76162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68" name="TextBox 68"/>
            <p:cNvSpPr txBox="1"/>
            <p:nvPr/>
          </p:nvSpPr>
          <p:spPr>
            <a:xfrm>
              <a:off x="3388081" y="3377565"/>
              <a:ext cx="76162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69" name="TextBox 69"/>
            <p:cNvSpPr txBox="1"/>
            <p:nvPr/>
          </p:nvSpPr>
          <p:spPr>
            <a:xfrm>
              <a:off x="3388081" y="1721168"/>
              <a:ext cx="76162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70" name="TextBox 70"/>
            <p:cNvSpPr txBox="1"/>
            <p:nvPr/>
          </p:nvSpPr>
          <p:spPr>
            <a:xfrm>
              <a:off x="1896237" y="1912144"/>
              <a:ext cx="314659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f(x)</a:t>
              </a:r>
            </a:p>
          </p:txBody>
        </p:sp>
        <p:sp>
          <p:nvSpPr>
            <p:cNvPr id="71" name="TextBox 71"/>
            <p:cNvSpPr txBox="1"/>
            <p:nvPr/>
          </p:nvSpPr>
          <p:spPr>
            <a:xfrm>
              <a:off x="1896237" y="2242661"/>
              <a:ext cx="104708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L₅(x)，6 个节点</a:t>
              </a:r>
            </a:p>
          </p:txBody>
        </p:sp>
        <p:sp>
          <p:nvSpPr>
            <p:cNvPr id="72" name="TextBox 72"/>
            <p:cNvSpPr txBox="1"/>
            <p:nvPr/>
          </p:nvSpPr>
          <p:spPr>
            <a:xfrm>
              <a:off x="1896237" y="2574131"/>
              <a:ext cx="1201617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L₁₀(x)，11 个节点</a:t>
              </a:r>
            </a:p>
          </p:txBody>
        </p:sp>
      </p:grpSp>
      <p:grpSp>
        <p:nvGrpSpPr>
          <p:cNvPr id="95" name="c2-table-1"/>
          <p:cNvGrpSpPr/>
          <p:nvPr/>
        </p:nvGrpSpPr>
        <p:grpSpPr>
          <a:xfrm>
            <a:off x="6892671" y="1524000"/>
            <a:ext cx="4765929" cy="2401824"/>
            <a:chOff x="6892671" y="1524000"/>
            <a:chExt cx="4765929" cy="2401824"/>
          </a:xfrm>
        </p:grpSpPr>
        <p:sp>
          <p:nvSpPr>
            <p:cNvPr id="74" name="Rectangle 74"/>
            <p:cNvSpPr/>
            <p:nvPr/>
          </p:nvSpPr>
          <p:spPr>
            <a:xfrm>
              <a:off x="6898005" y="1524000"/>
              <a:ext cx="4760595" cy="424815"/>
            </a:xfrm>
            <a:prstGeom prst="rect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75" name="TextBox 75"/>
            <p:cNvSpPr txBox="1"/>
            <p:nvPr/>
          </p:nvSpPr>
          <p:spPr>
            <a:xfrm>
              <a:off x="7654100" y="1652588"/>
              <a:ext cx="98145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等距节点插值</a:t>
              </a:r>
            </a:p>
          </p:txBody>
        </p:sp>
        <p:sp>
          <p:nvSpPr>
            <p:cNvPr id="76" name="TextBox 76"/>
            <p:cNvSpPr txBox="1"/>
            <p:nvPr/>
          </p:nvSpPr>
          <p:spPr>
            <a:xfrm>
              <a:off x="9788035" y="1652588"/>
              <a:ext cx="147418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max|f(x) − Lₙ(x)|</a:t>
              </a:r>
            </a:p>
          </p:txBody>
        </p:sp>
        <p:sp>
          <p:nvSpPr>
            <p:cNvPr id="77" name="TextBox 77"/>
            <p:cNvSpPr txBox="1"/>
            <p:nvPr/>
          </p:nvSpPr>
          <p:spPr>
            <a:xfrm>
              <a:off x="7000494" y="2076450"/>
              <a:ext cx="1161235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L₅（6 个节点）</a:t>
              </a:r>
            </a:p>
          </p:txBody>
        </p:sp>
        <p:sp>
          <p:nvSpPr>
            <p:cNvPr id="78" name="TextBox 78"/>
            <p:cNvSpPr txBox="1"/>
            <p:nvPr/>
          </p:nvSpPr>
          <p:spPr>
            <a:xfrm>
              <a:off x="10296906" y="2076450"/>
              <a:ext cx="45643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0.433</a:t>
              </a:r>
            </a:p>
          </p:txBody>
        </p:sp>
        <p:sp>
          <p:nvSpPr>
            <p:cNvPr id="79" name="Rectangle 79"/>
            <p:cNvSpPr/>
            <p:nvPr/>
          </p:nvSpPr>
          <p:spPr>
            <a:xfrm>
              <a:off x="6898005" y="2367915"/>
              <a:ext cx="476059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80" name="Rectangle 80"/>
            <p:cNvSpPr/>
            <p:nvPr/>
          </p:nvSpPr>
          <p:spPr>
            <a:xfrm>
              <a:off x="6898005" y="2372678"/>
              <a:ext cx="4760595" cy="424815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81" name="TextBox 81"/>
            <p:cNvSpPr txBox="1"/>
            <p:nvPr/>
          </p:nvSpPr>
          <p:spPr>
            <a:xfrm>
              <a:off x="7000494" y="2501265"/>
              <a:ext cx="1353099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L₁₀（11 个节点）</a:t>
              </a:r>
            </a:p>
          </p:txBody>
        </p:sp>
        <p:sp>
          <p:nvSpPr>
            <p:cNvPr id="82" name="TextBox 82"/>
            <p:cNvSpPr txBox="1"/>
            <p:nvPr/>
          </p:nvSpPr>
          <p:spPr>
            <a:xfrm>
              <a:off x="10296906" y="2501265"/>
              <a:ext cx="45643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1.916</a:t>
              </a:r>
            </a:p>
          </p:txBody>
        </p:sp>
        <p:sp>
          <p:nvSpPr>
            <p:cNvPr id="83" name="Rectangle 83"/>
            <p:cNvSpPr/>
            <p:nvPr/>
          </p:nvSpPr>
          <p:spPr>
            <a:xfrm>
              <a:off x="6898005" y="2792730"/>
              <a:ext cx="476059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84" name="TextBox 84"/>
            <p:cNvSpPr txBox="1"/>
            <p:nvPr/>
          </p:nvSpPr>
          <p:spPr>
            <a:xfrm>
              <a:off x="7000494" y="2926080"/>
              <a:ext cx="1353099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L₂₀（21 个节点）</a:t>
              </a:r>
            </a:p>
          </p:txBody>
        </p:sp>
        <p:sp>
          <p:nvSpPr>
            <p:cNvPr id="85" name="Rectangle 85"/>
            <p:cNvSpPr/>
            <p:nvPr/>
          </p:nvSpPr>
          <p:spPr>
            <a:xfrm>
              <a:off x="9401175" y="2807018"/>
              <a:ext cx="2247900" cy="405765"/>
            </a:xfrm>
            <a:prstGeom prst="rect">
              <a:avLst/>
            </a:prstGeom>
            <a:solidFill>
              <a:srgbClr val="FDECEA"/>
            </a:solidFill>
            <a:ln>
              <a:noFill/>
            </a:ln>
          </p:spPr>
        </p:sp>
        <p:sp>
          <p:nvSpPr>
            <p:cNvPr id="86" name="TextBox 86"/>
            <p:cNvSpPr txBox="1"/>
            <p:nvPr/>
          </p:nvSpPr>
          <p:spPr>
            <a:xfrm>
              <a:off x="10341331" y="2926080"/>
              <a:ext cx="367589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59.8</a:t>
              </a:r>
            </a:p>
          </p:txBody>
        </p:sp>
        <p:sp>
          <p:nvSpPr>
            <p:cNvPr id="87" name="Rectangle 87"/>
            <p:cNvSpPr/>
            <p:nvPr/>
          </p:nvSpPr>
          <p:spPr>
            <a:xfrm>
              <a:off x="6898005" y="3216592"/>
              <a:ext cx="476059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88" name="Rectangle 88"/>
            <p:cNvSpPr/>
            <p:nvPr/>
          </p:nvSpPr>
          <p:spPr>
            <a:xfrm>
              <a:off x="6898005" y="3221355"/>
              <a:ext cx="4760595" cy="424815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89" name="TextBox 89"/>
            <p:cNvSpPr txBox="1"/>
            <p:nvPr/>
          </p:nvSpPr>
          <p:spPr>
            <a:xfrm>
              <a:off x="7000494" y="3349942"/>
              <a:ext cx="170355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分段线性（11 个节点）</a:t>
              </a:r>
            </a:p>
          </p:txBody>
        </p:sp>
        <p:sp>
          <p:nvSpPr>
            <p:cNvPr id="90" name="Rectangle 90"/>
            <p:cNvSpPr/>
            <p:nvPr/>
          </p:nvSpPr>
          <p:spPr>
            <a:xfrm>
              <a:off x="9401175" y="3230880"/>
              <a:ext cx="2247900" cy="405765"/>
            </a:xfrm>
            <a:prstGeom prst="rect">
              <a:avLst/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91" name="TextBox 91"/>
            <p:cNvSpPr txBox="1"/>
            <p:nvPr/>
          </p:nvSpPr>
          <p:spPr>
            <a:xfrm>
              <a:off x="10296906" y="3349942"/>
              <a:ext cx="45643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0.067</a:t>
              </a:r>
            </a:p>
          </p:txBody>
        </p:sp>
        <p:sp>
          <p:nvSpPr>
            <p:cNvPr id="92" name="Rectangle 92"/>
            <p:cNvSpPr/>
            <p:nvPr/>
          </p:nvSpPr>
          <p:spPr>
            <a:xfrm>
              <a:off x="6898005" y="1524000"/>
              <a:ext cx="4760595" cy="2122170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93" name="Rectangle 93"/>
            <p:cNvSpPr/>
            <p:nvPr/>
          </p:nvSpPr>
          <p:spPr>
            <a:xfrm>
              <a:off x="9386888" y="1524000"/>
              <a:ext cx="9525" cy="212217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94" name="TextBox 94"/>
            <p:cNvSpPr txBox="1"/>
            <p:nvPr/>
          </p:nvSpPr>
          <p:spPr>
            <a:xfrm>
              <a:off x="6892671" y="3720465"/>
              <a:ext cx="2731675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在 [−1, 1] 上对 f(x) = 1/(1 + 25x²) 插值</a:t>
              </a:r>
            </a:p>
          </p:txBody>
        </p:sp>
      </p:grpSp>
      <p:grpSp>
        <p:nvGrpSpPr>
          <p:cNvPr id="104" name="c2-card-2"/>
          <p:cNvGrpSpPr/>
          <p:nvPr/>
        </p:nvGrpSpPr>
        <p:grpSpPr>
          <a:xfrm>
            <a:off x="6898005" y="4065270"/>
            <a:ext cx="4760595" cy="2111692"/>
            <a:chOff x="6898005" y="4065270"/>
            <a:chExt cx="4760595" cy="2111692"/>
          </a:xfrm>
        </p:grpSpPr>
        <p:sp>
          <p:nvSpPr>
            <p:cNvPr id="96" name="Rectangle 96"/>
            <p:cNvSpPr/>
            <p:nvPr/>
          </p:nvSpPr>
          <p:spPr>
            <a:xfrm>
              <a:off x="6898005" y="4065270"/>
              <a:ext cx="4760595" cy="2111692"/>
            </a:xfrm>
            <a:prstGeom prst="roundRect">
              <a:avLst>
                <a:gd name="adj" fmla="val 6315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97" name="Rectangle 97"/>
            <p:cNvSpPr/>
            <p:nvPr/>
          </p:nvSpPr>
          <p:spPr>
            <a:xfrm>
              <a:off x="6907530" y="4198620"/>
              <a:ext cx="47625" cy="1844992"/>
            </a:xfrm>
            <a:prstGeom prst="roundRect">
              <a:avLst>
                <a:gd name="adj" fmla="val 50000"/>
              </a:avLst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98" name="Rectangle 98"/>
            <p:cNvSpPr/>
            <p:nvPr/>
          </p:nvSpPr>
          <p:spPr>
            <a:xfrm>
              <a:off x="7134225" y="4263390"/>
              <a:ext cx="876300" cy="247650"/>
            </a:xfrm>
            <a:prstGeom prst="roundRect">
              <a:avLst>
                <a:gd name="adj" fmla="val 5000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99" name="TextBox 99"/>
            <p:cNvSpPr txBox="1"/>
            <p:nvPr/>
          </p:nvSpPr>
          <p:spPr>
            <a:xfrm>
              <a:off x="7213664" y="4297680"/>
              <a:ext cx="71742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原因与对策</a:t>
              </a:r>
            </a:p>
          </p:txBody>
        </p:sp>
        <p:sp>
          <p:nvSpPr>
            <p:cNvPr id="100" name="Ellipse 100"/>
            <p:cNvSpPr/>
            <p:nvPr/>
          </p:nvSpPr>
          <p:spPr>
            <a:xfrm>
              <a:off x="7141845" y="4683442"/>
              <a:ext cx="60960" cy="6096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01" name="TextBox 101"/>
            <p:cNvSpPr txBox="1"/>
            <p:nvPr/>
          </p:nvSpPr>
          <p:spPr>
            <a:xfrm>
              <a:off x="7298436" y="4623911"/>
              <a:ext cx="3990975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等距节点时 |ωₙ₊₁(x)| 在两端远大于中间，而这个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f 的高阶导数随阶数增长极快</a:t>
              </a:r>
            </a:p>
          </p:txBody>
        </p:sp>
        <p:sp>
          <p:nvSpPr>
            <p:cNvPr id="102" name="Ellipse 102"/>
            <p:cNvSpPr/>
            <p:nvPr/>
          </p:nvSpPr>
          <p:spPr>
            <a:xfrm>
              <a:off x="7141845" y="5273040"/>
              <a:ext cx="60960" cy="6096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03" name="TextBox 103"/>
            <p:cNvSpPr txBox="1"/>
            <p:nvPr/>
          </p:nvSpPr>
          <p:spPr>
            <a:xfrm>
              <a:off x="7298436" y="5212556"/>
              <a:ext cx="3981958" cy="82162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节点多时改用分段低次插值（分段线性、三次样条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等），或让节点在两端加密（11 个 Chebyshev 节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点的最大误差约 0.109）</a:t>
              </a:r>
            </a:p>
          </p:txBody>
        </p:sp>
      </p:grpSp>
      <p:grpSp>
        <p:nvGrpSpPr>
          <p:cNvPr id="107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105" name="TextBox 105"/>
            <p:cNvSpPr txBox="1"/>
            <p:nvPr/>
          </p:nvSpPr>
          <p:spPr>
            <a:xfrm>
              <a:off x="528447" y="6581299"/>
              <a:ext cx="225267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计算方法 · 第5章 函数插值与曲线拟合</a:t>
              </a:r>
            </a:p>
          </p:txBody>
        </p:sp>
        <p:sp>
          <p:nvSpPr>
            <p:cNvPr id="106" name="TextBox 106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18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827" y="342900"/>
            <a:ext cx="10921423" cy="902684"/>
            <a:chOff x="520827" y="342900"/>
            <a:chExt cx="10921423" cy="902684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272665" cy="266700"/>
            </a:xfrm>
            <a:prstGeom prst="roundRect">
              <a:avLst>
                <a:gd name="adj" fmla="val 50000"/>
              </a:avLst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01058" y="407194"/>
              <a:ext cx="213734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第5章 函数插值 · 拉格朗日插值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827" y="761524"/>
              <a:ext cx="10921423" cy="4840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4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例 5.2（线性插值）：sin 0.3367 ≈ 0.330365，误差不超过 0.92×10⁻⁵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E7D4F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6542" y="1545907"/>
            <a:ext cx="10000164" cy="264033"/>
            <a:chOff x="526542" y="1545907"/>
            <a:chExt cx="10000164" cy="264033"/>
          </a:xfrm>
        </p:grpSpPr>
        <p:sp>
          <p:nvSpPr>
            <p:cNvPr id="7" name="TextBox 7"/>
            <p:cNvSpPr txBox="1"/>
            <p:nvPr/>
          </p:nvSpPr>
          <p:spPr>
            <a:xfrm>
              <a:off x="526542" y="1545907"/>
              <a:ext cx="100001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已知 sin 0.32 = 0.314567，sin 0.34 = 0.333487，sin 0.36 = 0.352274，分别用线性插值和抛物线插值计算 sin 0.3367。</a:t>
              </a:r>
            </a:p>
          </p:txBody>
        </p:sp>
      </p:grpSp>
      <p:grpSp>
        <p:nvGrpSpPr>
          <p:cNvPr id="22" name="c1-steps-1"/>
          <p:cNvGrpSpPr/>
          <p:nvPr/>
        </p:nvGrpSpPr>
        <p:grpSpPr>
          <a:xfrm>
            <a:off x="533400" y="1938338"/>
            <a:ext cx="5191733" cy="2099786"/>
            <a:chOff x="533400" y="1938338"/>
            <a:chExt cx="5191733" cy="2099786"/>
          </a:xfrm>
        </p:grpSpPr>
        <p:sp>
          <p:nvSpPr>
            <p:cNvPr id="9" name="Rectangle 9"/>
            <p:cNvSpPr/>
            <p:nvPr/>
          </p:nvSpPr>
          <p:spPr>
            <a:xfrm>
              <a:off x="666750" y="2081212"/>
              <a:ext cx="19050" cy="1580198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0" name="Ellipse 10"/>
            <p:cNvSpPr/>
            <p:nvPr/>
          </p:nvSpPr>
          <p:spPr>
            <a:xfrm>
              <a:off x="533400" y="1938338"/>
              <a:ext cx="285750" cy="28575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627024" y="2012156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533400" y="2727960"/>
              <a:ext cx="285750" cy="28575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627024" y="2801779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533400" y="3518535"/>
              <a:ext cx="285750" cy="28575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627024" y="359235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945642" y="1969770"/>
              <a:ext cx="55892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选节点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946785" y="2237899"/>
              <a:ext cx="4605782" cy="42767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635"/>
                </a:lnSpc>
              </a:pPr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由余项公式，节点应尽量靠近 x。0.3367 在 0.32 与 0.34 之间，取 x₀ =</a:t>
              </a:r>
              <a:br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0.32，x₁ = 0.34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945642" y="2760345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基函数值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946785" y="3027521"/>
              <a:ext cx="4612894" cy="42767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635"/>
                </a:lnSpc>
              </a:pPr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l₀(0.3367) = (0.3367 − 0.34)/(0.32 − 0.34) = 0.165，l₁(0.3367) =</a:t>
              </a:r>
              <a:br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(0.3367 − 0.32)/(0.34 − 0.32) = 0.835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945642" y="3549968"/>
              <a:ext cx="37719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求值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946785" y="3818096"/>
              <a:ext cx="477834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L₁(0.3367) = 0.314567 × 0.165 + 0.333487 × 0.835 = </a:t>
              </a:r>
              <a:r>
                <a:rPr lang="zh-CN" sz="112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0.330365</a:t>
              </a:r>
            </a:p>
          </p:txBody>
        </p:sp>
      </p:grpSp>
      <p:grpSp>
        <p:nvGrpSpPr>
          <p:cNvPr id="44" name="c1-table-2"/>
          <p:cNvGrpSpPr/>
          <p:nvPr/>
        </p:nvGrpSpPr>
        <p:grpSpPr>
          <a:xfrm>
            <a:off x="528447" y="4201478"/>
            <a:ext cx="5415153" cy="1863756"/>
            <a:chOff x="528447" y="4201478"/>
            <a:chExt cx="5415153" cy="1863756"/>
          </a:xfrm>
        </p:grpSpPr>
        <p:sp>
          <p:nvSpPr>
            <p:cNvPr id="23" name="Rectangle 23"/>
            <p:cNvSpPr/>
            <p:nvPr/>
          </p:nvSpPr>
          <p:spPr>
            <a:xfrm>
              <a:off x="533400" y="4201478"/>
              <a:ext cx="5410200" cy="400050"/>
            </a:xfrm>
            <a:prstGeom prst="rect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1047191" y="4322921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两个节点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2268785" y="4322921"/>
              <a:ext cx="134126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|(x − x₀)(x − x₁)|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3785288" y="4322921"/>
              <a:ext cx="93143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L₁(0.3367)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5063884" y="4322921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实际误差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630555" y="4722971"/>
              <a:ext cx="1095299" cy="4200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575"/>
                </a:lnSpc>
              </a:pPr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0.32、0.34（内</a:t>
              </a:r>
              <a:br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插）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2560533" y="4822984"/>
              <a:ext cx="75776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5.51×10⁻⁵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3913589" y="4822984"/>
              <a:ext cx="67483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0.330365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4808220" y="4611052"/>
              <a:ext cx="1125855" cy="581025"/>
            </a:xfrm>
            <a:prstGeom prst="rect">
              <a:avLst/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5033729" y="4822984"/>
              <a:ext cx="67483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9.0×10⁻⁶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533400" y="5196840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4" name="Rectangle 34"/>
            <p:cNvSpPr/>
            <p:nvPr/>
          </p:nvSpPr>
          <p:spPr>
            <a:xfrm>
              <a:off x="533400" y="5201602"/>
              <a:ext cx="5410200" cy="600075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630555" y="5323046"/>
              <a:ext cx="1095299" cy="4200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575"/>
                </a:lnSpc>
              </a:pPr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0.34、0.36（外</a:t>
              </a:r>
              <a:br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推）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2560533" y="5423059"/>
              <a:ext cx="75776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7.69×10⁻⁵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3913589" y="5423059"/>
              <a:ext cx="67483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0.330387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4950803" y="5423059"/>
              <a:ext cx="84068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−1.29×10⁻⁵</a:t>
              </a:r>
            </a:p>
          </p:txBody>
        </p:sp>
        <p:sp>
          <p:nvSpPr>
            <p:cNvPr id="39" name="Rectangle 39"/>
            <p:cNvSpPr/>
            <p:nvPr/>
          </p:nvSpPr>
          <p:spPr>
            <a:xfrm>
              <a:off x="533400" y="4201478"/>
              <a:ext cx="5410200" cy="1600200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40" name="Rectangle 40"/>
            <p:cNvSpPr/>
            <p:nvPr/>
          </p:nvSpPr>
          <p:spPr>
            <a:xfrm>
              <a:off x="2170748" y="4201478"/>
              <a:ext cx="9525" cy="160020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1" name="Rectangle 41"/>
            <p:cNvSpPr/>
            <p:nvPr/>
          </p:nvSpPr>
          <p:spPr>
            <a:xfrm>
              <a:off x="3698558" y="4201478"/>
              <a:ext cx="9525" cy="160020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2" name="Rectangle 42"/>
            <p:cNvSpPr/>
            <p:nvPr/>
          </p:nvSpPr>
          <p:spPr>
            <a:xfrm>
              <a:off x="4793932" y="4201478"/>
              <a:ext cx="9525" cy="160020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528447" y="5874544"/>
              <a:ext cx="479228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对比：x = 0.3367 不在 [0.34, 0.36] 内，改用这两点是外推，|ω₂| 和误差都更大</a:t>
              </a:r>
            </a:p>
          </p:txBody>
        </p:sp>
      </p:grpSp>
      <p:grpSp>
        <p:nvGrpSpPr>
          <p:cNvPr id="52" name="c2-card-1"/>
          <p:cNvGrpSpPr/>
          <p:nvPr/>
        </p:nvGrpSpPr>
        <p:grpSpPr>
          <a:xfrm>
            <a:off x="6248400" y="1928812"/>
            <a:ext cx="5410200" cy="2019300"/>
            <a:chOff x="6248400" y="1928812"/>
            <a:chExt cx="5410200" cy="2019300"/>
          </a:xfrm>
        </p:grpSpPr>
        <p:sp>
          <p:nvSpPr>
            <p:cNvPr id="45" name="Rectangle 45"/>
            <p:cNvSpPr/>
            <p:nvPr/>
          </p:nvSpPr>
          <p:spPr>
            <a:xfrm>
              <a:off x="6248400" y="1928812"/>
              <a:ext cx="5410200" cy="2019300"/>
            </a:xfrm>
            <a:prstGeom prst="roundRect">
              <a:avLst>
                <a:gd name="adj" fmla="val 6604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46" name="Rectangle 46"/>
            <p:cNvSpPr/>
            <p:nvPr/>
          </p:nvSpPr>
          <p:spPr>
            <a:xfrm>
              <a:off x="6257925" y="2062162"/>
              <a:ext cx="47625" cy="1752600"/>
            </a:xfrm>
            <a:prstGeom prst="roundRect">
              <a:avLst>
                <a:gd name="adj" fmla="val 50000"/>
              </a:avLst>
            </a:prstGeom>
            <a:solidFill>
              <a:srgbClr val="14A38B"/>
            </a:solidFill>
            <a:ln>
              <a:noFill/>
            </a:ln>
          </p:spPr>
        </p:sp>
        <p:sp>
          <p:nvSpPr>
            <p:cNvPr id="47" name="Rectangle 47"/>
            <p:cNvSpPr/>
            <p:nvPr/>
          </p:nvSpPr>
          <p:spPr>
            <a:xfrm>
              <a:off x="6473190" y="2115502"/>
              <a:ext cx="1374458" cy="238125"/>
            </a:xfrm>
            <a:prstGeom prst="roundRect">
              <a:avLst>
                <a:gd name="adj" fmla="val 50000"/>
              </a:avLst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48" name="TextBox 48"/>
            <p:cNvSpPr txBox="1"/>
            <p:nvPr/>
          </p:nvSpPr>
          <p:spPr>
            <a:xfrm>
              <a:off x="6538356" y="2148364"/>
              <a:ext cx="1245078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由定理 5.1 估计误差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6466332" y="2459355"/>
              <a:ext cx="4660011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在 [0.32, 0.34] 上 |f″(x)| = |sin x| ≤ sin 0.34 = 0.3335，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于是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0" name="formula106"/>
                <p:cNvSpPr txBox="1">
                  <a:spLocks noGrp="1"/>
                </p:cNvSpPr>
                <p:nvPr/>
              </p:nvSpPr>
              <p:spPr>
                <a:xfrm>
                  <a:off x="6473190" y="2994660"/>
                  <a:ext cx="4998720" cy="488632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lIns="0" tIns="0" rIns="0" bIns="0" wrap="none" anchor="ctr">
                  <a:normAutofit/>
                </a:bodyPr>
                <a:lstStyle/>
                <a:p>
                  <a:pPr algn="ctr"/>
                  <a14:m>
                    <m:oMathPara xmlns:a="http://schemas.openxmlformats.org/drawingml/2006/main" xmlns:m="http://schemas.openxmlformats.org/officeDocument/2006/math">
                      <m:oMathParaPr>
                        <m:jc m:val="center"/>
                      </m:oMathParaPr>
                      <m:oMath>
                        <m:d>
                          <m:dPr>
                            <m:begChr m:val="|"/>
                            <m:sepChr m:val=""/>
                            <m:endChr m:val="|"/>
                            <m:grow m:val="on"/>
                            <m:ctrlPr>
                              <a:rPr lang="zh-CN" sz="14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sSub>
                              <m:e>
                                <m:r>
                                  <a:rPr lang="zh-CN" sz="14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R</m:t>
                                </m:r>
                              </m:e>
                              <m:sub>
                                <m:r>
                                  <a:rPr lang="zh-CN" sz="14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1</m:t>
                                </m:r>
                              </m:sub>
                            </m:sSub>
                            <m:d>
                              <m:dPr>
                                <m:begChr m:val="("/>
                                <m:sepChr m:val=""/>
                                <m:endChr m:val=")"/>
                                <m:grow m:val="on"/>
                                <m:ctrlPr>
                                  <a:rPr lang="zh-CN" sz="14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</m:ctrlPr>
                              </m:dPr>
                              <m:e>
                                <m:r>
                                  <a:rPr lang="zh-CN" sz="14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0.3367</m:t>
                                </m:r>
                              </m:e>
                            </m:d>
                          </m:e>
                        </m:d>
                        <m:r>
                          <m:rPr>
                            <m:sty m:val="p"/>
                          </m:rPr>
                          <a:rPr lang="zh-CN" sz="142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≤</m:t>
                        </m:r>
                        <m:f>
                          <m:fPr>
                            <m:type m:val="bar"/>
                            <m:ctrlPr>
                              <a:rPr lang="zh-CN" sz="14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fPr>
                          <m:num>
                            <m:r>
                              <a:rPr lang="zh-CN" sz="14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0.3335</m:t>
                            </m:r>
                          </m:num>
                          <m:den>
                            <m:r>
                              <a:rPr lang="zh-CN" sz="14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2</m:t>
                            </m:r>
                          </m:den>
                        </m:f>
                        <m:r>
                          <m:rPr>
                            <m:sty m:val="p"/>
                          </m:rPr>
                          <a:rPr lang="zh-CN" sz="142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×</m:t>
                        </m:r>
                        <m:r>
                          <a:rPr lang="zh-CN" sz="142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0.0167</m:t>
                        </m:r>
                        <m:r>
                          <m:rPr>
                            <m:sty m:val="p"/>
                          </m:rPr>
                          <a:rPr lang="zh-CN" sz="142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×</m:t>
                        </m:r>
                        <m:r>
                          <a:rPr lang="zh-CN" sz="142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0.0033</m:t>
                        </m:r>
                        <m:r>
                          <m:rPr>
                            <m:sty m:val="p"/>
                          </m:rPr>
                          <a:rPr lang="zh-CN" sz="142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≈</m:t>
                        </m:r>
                        <m:r>
                          <a:rPr lang="zh-CN" sz="142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0.92</m:t>
                        </m:r>
                        <m:r>
                          <m:rPr>
                            <m:sty m:val="p"/>
                          </m:rPr>
                          <a:rPr lang="zh-CN" sz="142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×</m:t>
                        </m:r>
                        <m:r>
                          <a:rPr lang="zh-CN" sz="142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1</m:t>
                        </m:r>
                        <m:sSup>
                          <m:e>
                            <m:r>
                              <a:rPr lang="zh-CN" sz="14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0</m:t>
                            </m:r>
                          </m:e>
                          <m:sup>
                            <m:r>
                              <m:rPr>
                                <m:sty m:val="p"/>
                              </m:rPr>
                              <a:rPr lang="zh-CN" sz="14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−</m:t>
                            </m:r>
                            <m:r>
                              <a:rPr lang="zh-CN" sz="14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5</m:t>
                            </m:r>
                          </m:sup>
                        </m:sSup>
                      </m:oMath>
                    </m:oMathPara>
                  </a14:m>
                </a:p>
              </p:txBody>
            </p:sp>
          </mc:Choice>
        </mc:AlternateContent>
        <p:sp>
          <p:nvSpPr>
            <p:cNvPr id="51" name="TextBox 51"/>
            <p:cNvSpPr txBox="1"/>
            <p:nvPr/>
          </p:nvSpPr>
          <p:spPr>
            <a:xfrm>
              <a:off x="6467475" y="3585686"/>
              <a:ext cx="454973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真值 sin 0.3367 = 0.330374，实际误差 0.90×10⁻⁵，与估计相符。</a:t>
              </a:r>
            </a:p>
          </p:txBody>
        </p:sp>
      </p:grpSp>
      <p:grpSp>
        <p:nvGrpSpPr>
          <p:cNvPr id="58" name="c2-card-2"/>
          <p:cNvGrpSpPr/>
          <p:nvPr/>
        </p:nvGrpSpPr>
        <p:grpSpPr>
          <a:xfrm>
            <a:off x="6248400" y="4117658"/>
            <a:ext cx="5410200" cy="1908810"/>
            <a:chOff x="6248400" y="4117658"/>
            <a:chExt cx="5410200" cy="1908810"/>
          </a:xfrm>
        </p:grpSpPr>
        <p:sp>
          <p:nvSpPr>
            <p:cNvPr id="53" name="Rectangle 53"/>
            <p:cNvSpPr/>
            <p:nvPr/>
          </p:nvSpPr>
          <p:spPr>
            <a:xfrm>
              <a:off x="6248400" y="4117658"/>
              <a:ext cx="5410200" cy="1908810"/>
            </a:xfrm>
            <a:prstGeom prst="roundRect">
              <a:avLst>
                <a:gd name="adj" fmla="val 6986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54" name="Rectangle 54"/>
            <p:cNvSpPr/>
            <p:nvPr/>
          </p:nvSpPr>
          <p:spPr>
            <a:xfrm>
              <a:off x="6257925" y="4251008"/>
              <a:ext cx="47625" cy="1642110"/>
            </a:xfrm>
            <a:prstGeom prst="roundRect">
              <a:avLst>
                <a:gd name="adj" fmla="val 50000"/>
              </a:avLst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55" name="Rectangle 55"/>
            <p:cNvSpPr/>
            <p:nvPr/>
          </p:nvSpPr>
          <p:spPr>
            <a:xfrm>
              <a:off x="6473190" y="4304348"/>
              <a:ext cx="458152" cy="238125"/>
            </a:xfrm>
            <a:prstGeom prst="roundRect">
              <a:avLst>
                <a:gd name="adj" fmla="val 5000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56" name="TextBox 56"/>
            <p:cNvSpPr txBox="1"/>
            <p:nvPr/>
          </p:nvSpPr>
          <p:spPr>
            <a:xfrm>
              <a:off x="6565862" y="4337209"/>
              <a:ext cx="27376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更正</a:t>
              </a:r>
            </a:p>
          </p:txBody>
        </p:sp>
        <p:sp>
          <p:nvSpPr>
            <p:cNvPr id="57" name="TextBox 57"/>
            <p:cNvSpPr txBox="1"/>
            <p:nvPr/>
          </p:nvSpPr>
          <p:spPr>
            <a:xfrm>
              <a:off x="6466332" y="4649152"/>
              <a:ext cx="4668584" cy="77838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原课件误差式的第二个因子写作 0.033。x − x₁ = 0.3367 −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0.34 = −0.0033，绝对值应为 0.0033；按 0.033 计算会得到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0.92×10⁻⁴，与课件自己给出的 0.92×10⁻⁵ 也对不上。</a:t>
              </a:r>
            </a:p>
          </p:txBody>
        </p:sp>
      </p:grpSp>
      <p:grpSp>
        <p:nvGrpSpPr>
          <p:cNvPr id="61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59" name="TextBox 59"/>
            <p:cNvSpPr txBox="1"/>
            <p:nvPr/>
          </p:nvSpPr>
          <p:spPr>
            <a:xfrm>
              <a:off x="528447" y="6581299"/>
              <a:ext cx="225267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计算方法 · 第5章 函数插值与曲线拟合</a:t>
              </a:r>
            </a:p>
          </p:txBody>
        </p:sp>
        <p:sp>
          <p:nvSpPr>
            <p:cNvPr id="60" name="TextBox 60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19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8603642" cy="909257"/>
            <a:chOff x="520446" y="342900"/>
            <a:chExt cx="8603642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272665" cy="266700"/>
            </a:xfrm>
            <a:prstGeom prst="roundRect">
              <a:avLst>
                <a:gd name="adj" fmla="val 50000"/>
              </a:avLst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01058" y="407194"/>
              <a:ext cx="213734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第5章 函数插值 · 拉格朗日插值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8603642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例 5.2（抛物线插值）：三个节点把误差降到 10⁻⁷ 量级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E7D4F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c1-text-1"/>
          <p:cNvGrpSpPr/>
          <p:nvPr/>
        </p:nvGrpSpPr>
        <p:grpSpPr>
          <a:xfrm>
            <a:off x="525780" y="1548765"/>
            <a:ext cx="5315902" cy="293370"/>
            <a:chOff x="525780" y="1548765"/>
            <a:chExt cx="5315902" cy="293370"/>
          </a:xfrm>
        </p:grpSpPr>
        <p:sp>
          <p:nvSpPr>
            <p:cNvPr id="7" name="TextBox 7"/>
            <p:cNvSpPr txBox="1"/>
            <p:nvPr/>
          </p:nvSpPr>
          <p:spPr>
            <a:xfrm>
              <a:off x="525780" y="1548765"/>
              <a:ext cx="531590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取 x₀ = 0.32，x₁ = 0.34，x₂ = 0.36，在 x = 0.3367 处：</a:t>
              </a:r>
            </a:p>
          </p:txBody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formula112"/>
              <p:cNvSpPr txBox="1">
                <a:spLocks noGrp="1"/>
              </p:cNvSpPr>
              <p:nvPr/>
            </p:nvSpPr>
            <p:spPr>
              <a:xfrm>
                <a:off x="533400" y="1973580"/>
                <a:ext cx="5842635" cy="54006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lIns="0" tIns="0" rIns="0" bIns="0" wrap="none" anchor="ctr">
                <a:normAutofit/>
              </a:bodyPr>
              <a:lstStyle/>
              <a:p>
                <a:pPr algn="ctr"/>
                <a14:m>
                  <m:oMathPara xmlns:a="http://schemas.openxmlformats.org/drawingml/2006/main"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a:rPr lang="zh-CN" sz="15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l</m:t>
                          </m:r>
                        </m:e>
                        <m:sub>
                          <m:r>
                            <a:rPr lang="zh-CN" sz="15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zh-CN" sz="158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f>
                        <m:fPr>
                          <m:type m:val="bar"/>
                          <m:ctrlPr>
                            <a:rPr lang="zh-CN" sz="15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Pr>
                        <m:num>
                          <m:d>
                            <m:dPr>
                              <m:begChr m:val="("/>
                              <m:sepChr m:val=""/>
                              <m:endChr m:val=")"/>
                              <m:grow m:val="on"/>
                              <m:ctrlPr>
                                <a:rPr lang="zh-CN" sz="15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r>
                                <a:rPr lang="zh-CN" sz="15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0.3367</m:t>
                              </m:r>
                              <m:r>
                                <m:rPr>
                                  <m:sty m:val="p"/>
                                </m:rPr>
                                <a:rPr lang="zh-CN" sz="15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−</m:t>
                              </m:r>
                              <m:r>
                                <a:rPr lang="zh-CN" sz="15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0.34</m:t>
                              </m:r>
                            </m:e>
                          </m:d>
                          <m:d>
                            <m:dPr>
                              <m:begChr m:val="("/>
                              <m:sepChr m:val=""/>
                              <m:endChr m:val=")"/>
                              <m:grow m:val="on"/>
                              <m:ctrlPr>
                                <a:rPr lang="zh-CN" sz="15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r>
                                <a:rPr lang="zh-CN" sz="15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0.3367</m:t>
                              </m:r>
                              <m:r>
                                <m:rPr>
                                  <m:sty m:val="p"/>
                                </m:rPr>
                                <a:rPr lang="zh-CN" sz="15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−</m:t>
                              </m:r>
                              <m:r>
                                <a:rPr lang="zh-CN" sz="15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0.36</m:t>
                              </m:r>
                            </m:e>
                          </m:d>
                        </m:num>
                        <m:den>
                          <m:d>
                            <m:dPr>
                              <m:begChr m:val="("/>
                              <m:sepChr m:val=""/>
                              <m:endChr m:val=")"/>
                              <m:grow m:val="on"/>
                              <m:ctrlPr>
                                <a:rPr lang="zh-CN" sz="15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r>
                                <a:rPr lang="zh-CN" sz="15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0.32</m:t>
                              </m:r>
                              <m:r>
                                <m:rPr>
                                  <m:sty m:val="p"/>
                                </m:rPr>
                                <a:rPr lang="zh-CN" sz="15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−</m:t>
                              </m:r>
                              <m:r>
                                <a:rPr lang="zh-CN" sz="15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0.34</m:t>
                              </m:r>
                            </m:e>
                          </m:d>
                          <m:d>
                            <m:dPr>
                              <m:begChr m:val="("/>
                              <m:sepChr m:val=""/>
                              <m:endChr m:val=")"/>
                              <m:grow m:val="on"/>
                              <m:ctrlPr>
                                <a:rPr lang="zh-CN" sz="15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r>
                                <a:rPr lang="zh-CN" sz="15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0.32</m:t>
                              </m:r>
                              <m:r>
                                <m:rPr>
                                  <m:sty m:val="p"/>
                                </m:rPr>
                                <a:rPr lang="zh-CN" sz="15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−</m:t>
                              </m:r>
                              <m:r>
                                <a:rPr lang="zh-CN" sz="15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0.36</m:t>
                              </m:r>
                            </m:e>
                          </m:d>
                        </m:den>
                      </m:f>
                      <m:r>
                        <m:rPr>
                          <m:sty m:val="p"/>
                        </m:rPr>
                        <a:rPr lang="zh-CN" sz="158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r>
                        <a:rPr lang="zh-CN" sz="158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0.0961125</m:t>
                      </m:r>
                    </m:oMath>
                  </m:oMathPara>
                </a14:m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0" name="formula113"/>
              <p:cNvSpPr txBox="1">
                <a:spLocks noGrp="1"/>
              </p:cNvSpPr>
              <p:nvPr/>
            </p:nvSpPr>
            <p:spPr>
              <a:xfrm>
                <a:off x="533400" y="2704148"/>
                <a:ext cx="5842635" cy="54006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lIns="0" tIns="0" rIns="0" bIns="0" wrap="none" anchor="ctr">
                <a:normAutofit/>
              </a:bodyPr>
              <a:lstStyle/>
              <a:p>
                <a:pPr algn="ctr"/>
                <a14:m>
                  <m:oMathPara xmlns:a="http://schemas.openxmlformats.org/drawingml/2006/main"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a:rPr lang="zh-CN" sz="15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l</m:t>
                          </m:r>
                        </m:e>
                        <m:sub>
                          <m:r>
                            <a:rPr lang="zh-CN" sz="15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zh-CN" sz="158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f>
                        <m:fPr>
                          <m:type m:val="bar"/>
                          <m:ctrlPr>
                            <a:rPr lang="zh-CN" sz="15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Pr>
                        <m:num>
                          <m:d>
                            <m:dPr>
                              <m:begChr m:val="("/>
                              <m:sepChr m:val=""/>
                              <m:endChr m:val=")"/>
                              <m:grow m:val="on"/>
                              <m:ctrlPr>
                                <a:rPr lang="zh-CN" sz="15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r>
                                <a:rPr lang="zh-CN" sz="15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0.3367</m:t>
                              </m:r>
                              <m:r>
                                <m:rPr>
                                  <m:sty m:val="p"/>
                                </m:rPr>
                                <a:rPr lang="zh-CN" sz="15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−</m:t>
                              </m:r>
                              <m:r>
                                <a:rPr lang="zh-CN" sz="15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0.32</m:t>
                              </m:r>
                            </m:e>
                          </m:d>
                          <m:d>
                            <m:dPr>
                              <m:begChr m:val="("/>
                              <m:sepChr m:val=""/>
                              <m:endChr m:val=")"/>
                              <m:grow m:val="on"/>
                              <m:ctrlPr>
                                <a:rPr lang="zh-CN" sz="15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r>
                                <a:rPr lang="zh-CN" sz="15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0.3367</m:t>
                              </m:r>
                              <m:r>
                                <m:rPr>
                                  <m:sty m:val="p"/>
                                </m:rPr>
                                <a:rPr lang="zh-CN" sz="15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−</m:t>
                              </m:r>
                              <m:r>
                                <a:rPr lang="zh-CN" sz="15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0.36</m:t>
                              </m:r>
                            </m:e>
                          </m:d>
                        </m:num>
                        <m:den>
                          <m:d>
                            <m:dPr>
                              <m:begChr m:val="("/>
                              <m:sepChr m:val=""/>
                              <m:endChr m:val=")"/>
                              <m:grow m:val="on"/>
                              <m:ctrlPr>
                                <a:rPr lang="zh-CN" sz="15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r>
                                <a:rPr lang="zh-CN" sz="15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0.34</m:t>
                              </m:r>
                              <m:r>
                                <m:rPr>
                                  <m:sty m:val="p"/>
                                </m:rPr>
                                <a:rPr lang="zh-CN" sz="15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−</m:t>
                              </m:r>
                              <m:r>
                                <a:rPr lang="zh-CN" sz="15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0.32</m:t>
                              </m:r>
                            </m:e>
                          </m:d>
                          <m:d>
                            <m:dPr>
                              <m:begChr m:val="("/>
                              <m:sepChr m:val=""/>
                              <m:endChr m:val=")"/>
                              <m:grow m:val="on"/>
                              <m:ctrlPr>
                                <a:rPr lang="zh-CN" sz="15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r>
                                <a:rPr lang="zh-CN" sz="15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0.34</m:t>
                              </m:r>
                              <m:r>
                                <m:rPr>
                                  <m:sty m:val="p"/>
                                </m:rPr>
                                <a:rPr lang="zh-CN" sz="15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−</m:t>
                              </m:r>
                              <m:r>
                                <a:rPr lang="zh-CN" sz="15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0.36</m:t>
                              </m:r>
                            </m:e>
                          </m:d>
                        </m:den>
                      </m:f>
                      <m:r>
                        <m:rPr>
                          <m:sty m:val="p"/>
                        </m:rPr>
                        <a:rPr lang="zh-CN" sz="158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r>
                        <a:rPr lang="zh-CN" sz="158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0.972775</m:t>
                      </m:r>
                    </m:oMath>
                  </m:oMathPara>
                </a14:m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1" name="formula114"/>
              <p:cNvSpPr txBox="1">
                <a:spLocks noGrp="1"/>
              </p:cNvSpPr>
              <p:nvPr/>
            </p:nvSpPr>
            <p:spPr>
              <a:xfrm>
                <a:off x="533400" y="3434715"/>
                <a:ext cx="5842635" cy="54006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lIns="0" tIns="0" rIns="0" bIns="0" wrap="none" anchor="ctr">
                <a:normAutofit/>
              </a:bodyPr>
              <a:lstStyle/>
              <a:p>
                <a:pPr algn="ctr"/>
                <a14:m>
                  <m:oMathPara xmlns:a="http://schemas.openxmlformats.org/drawingml/2006/main"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a:rPr lang="zh-CN" sz="15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l</m:t>
                          </m:r>
                        </m:e>
                        <m:sub>
                          <m:r>
                            <a:rPr lang="zh-CN" sz="15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zh-CN" sz="158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f>
                        <m:fPr>
                          <m:type m:val="bar"/>
                          <m:ctrlPr>
                            <a:rPr lang="zh-CN" sz="15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Pr>
                        <m:num>
                          <m:d>
                            <m:dPr>
                              <m:begChr m:val="("/>
                              <m:sepChr m:val=""/>
                              <m:endChr m:val=")"/>
                              <m:grow m:val="on"/>
                              <m:ctrlPr>
                                <a:rPr lang="zh-CN" sz="15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r>
                                <a:rPr lang="zh-CN" sz="15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0.3367</m:t>
                              </m:r>
                              <m:r>
                                <m:rPr>
                                  <m:sty m:val="p"/>
                                </m:rPr>
                                <a:rPr lang="zh-CN" sz="15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−</m:t>
                              </m:r>
                              <m:r>
                                <a:rPr lang="zh-CN" sz="15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0.32</m:t>
                              </m:r>
                            </m:e>
                          </m:d>
                          <m:d>
                            <m:dPr>
                              <m:begChr m:val="("/>
                              <m:sepChr m:val=""/>
                              <m:endChr m:val=")"/>
                              <m:grow m:val="on"/>
                              <m:ctrlPr>
                                <a:rPr lang="zh-CN" sz="15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r>
                                <a:rPr lang="zh-CN" sz="15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0.3367</m:t>
                              </m:r>
                              <m:r>
                                <m:rPr>
                                  <m:sty m:val="p"/>
                                </m:rPr>
                                <a:rPr lang="zh-CN" sz="15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−</m:t>
                              </m:r>
                              <m:r>
                                <a:rPr lang="zh-CN" sz="15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0.34</m:t>
                              </m:r>
                            </m:e>
                          </m:d>
                        </m:num>
                        <m:den>
                          <m:d>
                            <m:dPr>
                              <m:begChr m:val="("/>
                              <m:sepChr m:val=""/>
                              <m:endChr m:val=")"/>
                              <m:grow m:val="on"/>
                              <m:ctrlPr>
                                <a:rPr lang="zh-CN" sz="15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r>
                                <a:rPr lang="zh-CN" sz="15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0.36</m:t>
                              </m:r>
                              <m:r>
                                <m:rPr>
                                  <m:sty m:val="p"/>
                                </m:rPr>
                                <a:rPr lang="zh-CN" sz="15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−</m:t>
                              </m:r>
                              <m:r>
                                <a:rPr lang="zh-CN" sz="15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0.32</m:t>
                              </m:r>
                            </m:e>
                          </m:d>
                          <m:d>
                            <m:dPr>
                              <m:begChr m:val="("/>
                              <m:sepChr m:val=""/>
                              <m:endChr m:val=")"/>
                              <m:grow m:val="on"/>
                              <m:ctrlPr>
                                <a:rPr lang="zh-CN" sz="15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r>
                                <a:rPr lang="zh-CN" sz="15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0.36</m:t>
                              </m:r>
                              <m:r>
                                <m:rPr>
                                  <m:sty m:val="p"/>
                                </m:rPr>
                                <a:rPr lang="zh-CN" sz="15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−</m:t>
                              </m:r>
                              <m:r>
                                <a:rPr lang="zh-CN" sz="15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0.34</m:t>
                              </m:r>
                            </m:e>
                          </m:d>
                        </m:den>
                      </m:f>
                      <m:r>
                        <m:rPr>
                          <m:sty m:val="p"/>
                        </m:rPr>
                        <a:rPr lang="zh-CN" sz="158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=−</m:t>
                      </m:r>
                      <m:r>
                        <a:rPr lang="zh-CN" sz="158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0.0688875</m:t>
                      </m:r>
                    </m:oMath>
                  </m:oMathPara>
                </a14:m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2" name="formula115"/>
              <p:cNvSpPr txBox="1">
                <a:spLocks noGrp="1"/>
              </p:cNvSpPr>
              <p:nvPr/>
            </p:nvSpPr>
            <p:spPr>
              <a:xfrm>
                <a:off x="533400" y="4165282"/>
                <a:ext cx="5842635" cy="342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lIns="0" tIns="0" rIns="0" bIns="0" wrap="none" anchor="ctr">
                <a:normAutofit/>
              </a:bodyPr>
              <a:lstStyle/>
              <a:p>
                <a:pPr algn="ctr"/>
                <a14:m>
                  <m:oMathPara xmlns:a="http://schemas.openxmlformats.org/drawingml/2006/main"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a:rPr lang="zh-CN" sz="13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L</m:t>
                          </m:r>
                        </m:e>
                        <m:sub>
                          <m:r>
                            <a:rPr lang="zh-CN" sz="13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 m:val="on"/>
                          <m:ctrlPr>
                            <a:rPr lang="zh-CN" sz="13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a:rPr lang="zh-CN" sz="13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0.3367</m:t>
                          </m:r>
                        </m:e>
                      </m:d>
                      <m:r>
                        <m:rPr>
                          <m:sty m:val="p"/>
                        </m:rPr>
                        <a:rPr lang="zh-CN" sz="135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r>
                        <a:rPr lang="zh-CN" sz="135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0.314567</m:t>
                      </m:r>
                      <m:r>
                        <a:rPr lang="zh-CN" sz="135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 xml:space="preserve"> </m:t>
                      </m:r>
                      <m:sSub>
                        <m:e>
                          <m:r>
                            <a:rPr lang="zh-CN" sz="13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l</m:t>
                          </m:r>
                        </m:e>
                        <m:sub>
                          <m:r>
                            <a:rPr lang="zh-CN" sz="13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zh-CN" sz="135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+</m:t>
                      </m:r>
                      <m:r>
                        <a:rPr lang="zh-CN" sz="135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0.333487</m:t>
                      </m:r>
                      <m:r>
                        <a:rPr lang="zh-CN" sz="135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 xml:space="preserve"> </m:t>
                      </m:r>
                      <m:sSub>
                        <m:e>
                          <m:r>
                            <a:rPr lang="zh-CN" sz="13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l</m:t>
                          </m:r>
                        </m:e>
                        <m:sub>
                          <m:r>
                            <a:rPr lang="zh-CN" sz="13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zh-CN" sz="135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+</m:t>
                      </m:r>
                      <m:r>
                        <a:rPr lang="zh-CN" sz="135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0.352274</m:t>
                      </m:r>
                      <m:r>
                        <a:rPr lang="zh-CN" sz="135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 xml:space="preserve"> </m:t>
                      </m:r>
                      <m:sSub>
                        <m:e>
                          <m:r>
                            <a:rPr lang="zh-CN" sz="13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l</m:t>
                          </m:r>
                        </m:e>
                        <m:sub>
                          <m:r>
                            <a:rPr lang="zh-CN" sz="13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zh-CN" sz="135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r>
                        <a:rPr lang="zh-CN" sz="135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0.330374</m:t>
                      </m:r>
                    </m:oMath>
                  </m:oMathPara>
                </a14:m>
              </a:p>
            </p:txBody>
          </p:sp>
        </mc:Choice>
      </mc:AlternateContent>
      <p:grpSp>
        <p:nvGrpSpPr>
          <p:cNvPr id="34" name="c1-table-6"/>
          <p:cNvGrpSpPr/>
          <p:nvPr/>
        </p:nvGrpSpPr>
        <p:grpSpPr>
          <a:xfrm>
            <a:off x="527685" y="4698682"/>
            <a:ext cx="5848350" cy="1642587"/>
            <a:chOff x="527685" y="4698682"/>
            <a:chExt cx="5848350" cy="1642587"/>
          </a:xfrm>
        </p:grpSpPr>
        <p:sp>
          <p:nvSpPr>
            <p:cNvPr id="13" name="Rectangle 13"/>
            <p:cNvSpPr/>
            <p:nvPr/>
          </p:nvSpPr>
          <p:spPr>
            <a:xfrm>
              <a:off x="533400" y="4698682"/>
              <a:ext cx="5842635" cy="448628"/>
            </a:xfrm>
            <a:prstGeom prst="rect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1082319" y="4834414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方法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2420150" y="4834414"/>
              <a:ext cx="52989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近似值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3802748" y="4834414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实际误差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5300078" y="4834414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余项上界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641223" y="5283041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线性插值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2299531" y="5283041"/>
              <a:ext cx="77113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0.330365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3768286" y="5283041"/>
              <a:ext cx="77113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9.0×10⁻⁶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5265616" y="5283041"/>
              <a:ext cx="77113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9.2×10⁻⁶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533400" y="5591175"/>
              <a:ext cx="584263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3" name="Rectangle 23"/>
            <p:cNvSpPr/>
            <p:nvPr/>
          </p:nvSpPr>
          <p:spPr>
            <a:xfrm>
              <a:off x="533400" y="5595938"/>
              <a:ext cx="5842635" cy="448628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641223" y="5731669"/>
              <a:ext cx="87452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抛物线插值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2299531" y="5731669"/>
              <a:ext cx="77113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0.330374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3391852" y="5605462"/>
              <a:ext cx="1524952" cy="429578"/>
            </a:xfrm>
            <a:prstGeom prst="rect">
              <a:avLst/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3720899" y="5731669"/>
              <a:ext cx="86590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−1.7×10⁻⁷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5265616" y="5731669"/>
              <a:ext cx="77113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2.0×10⁻⁷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533400" y="4698682"/>
              <a:ext cx="5842635" cy="1346835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1984058" y="4698682"/>
              <a:ext cx="9525" cy="134683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1" name="Rectangle 31"/>
            <p:cNvSpPr/>
            <p:nvPr/>
          </p:nvSpPr>
          <p:spPr>
            <a:xfrm>
              <a:off x="3377565" y="4698682"/>
              <a:ext cx="9525" cy="134683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4921568" y="4698682"/>
              <a:ext cx="9525" cy="134683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527685" y="6121241"/>
              <a:ext cx="203180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真值 sin 0.3367 = 0.3303742</a:t>
              </a:r>
            </a:p>
          </p:txBody>
        </p:sp>
      </p:grpSp>
      <p:grpSp>
        <p:nvGrpSpPr>
          <p:cNvPr id="42" name="c2-card-1"/>
          <p:cNvGrpSpPr/>
          <p:nvPr/>
        </p:nvGrpSpPr>
        <p:grpSpPr>
          <a:xfrm>
            <a:off x="6680835" y="1524000"/>
            <a:ext cx="4977765" cy="2093595"/>
            <a:chOff x="6680835" y="1524000"/>
            <a:chExt cx="4977765" cy="2093595"/>
          </a:xfrm>
        </p:grpSpPr>
        <p:sp>
          <p:nvSpPr>
            <p:cNvPr id="35" name="Rectangle 35"/>
            <p:cNvSpPr/>
            <p:nvPr/>
          </p:nvSpPr>
          <p:spPr>
            <a:xfrm>
              <a:off x="6680835" y="1524000"/>
              <a:ext cx="4977765" cy="2093595"/>
            </a:xfrm>
            <a:prstGeom prst="roundRect">
              <a:avLst>
                <a:gd name="adj" fmla="val 6369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6690360" y="1657350"/>
              <a:ext cx="47625" cy="1826895"/>
            </a:xfrm>
            <a:prstGeom prst="roundRect">
              <a:avLst>
                <a:gd name="adj" fmla="val 50000"/>
              </a:avLst>
            </a:prstGeom>
            <a:solidFill>
              <a:srgbClr val="14A38B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6928485" y="1733550"/>
              <a:ext cx="778192" cy="257175"/>
            </a:xfrm>
            <a:prstGeom prst="roundRect">
              <a:avLst>
                <a:gd name="adj" fmla="val 50000"/>
              </a:avLst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7010794" y="1769269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误差估计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6920865" y="2110740"/>
              <a:ext cx="3758565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在 [0.32, 0.36] 上 |f‴(x)| = |cos x| ≤ cos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0.32 = 0.9493，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40" name="formula116"/>
                <p:cNvSpPr txBox="1">
                  <a:spLocks noGrp="1"/>
                </p:cNvSpPr>
                <p:nvPr/>
              </p:nvSpPr>
              <p:spPr>
                <a:xfrm>
                  <a:off x="6928485" y="2707005"/>
                  <a:ext cx="4520565" cy="385762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lIns="0" tIns="0" rIns="0" bIns="0" wrap="none" anchor="ctr">
                  <a:normAutofit/>
                </a:bodyPr>
                <a:lstStyle/>
                <a:p>
                  <a:pPr algn="ctr"/>
                  <a14:m>
                    <m:oMathPara xmlns:a="http://schemas.openxmlformats.org/drawingml/2006/main" xmlns:m="http://schemas.openxmlformats.org/officeDocument/2006/math">
                      <m:oMathParaPr>
                        <m:jc m:val="center"/>
                      </m:oMathParaPr>
                      <m:oMath>
                        <m:d>
                          <m:dPr>
                            <m:begChr m:val="|"/>
                            <m:sepChr m:val=""/>
                            <m:endChr m:val="|"/>
                            <m:grow m:val="on"/>
                            <m:ctrlPr>
                              <a:rPr lang="zh-CN" sz="11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sSub>
                              <m:e>
                                <m:r>
                                  <a:rPr lang="zh-CN" sz="11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R</m:t>
                                </m:r>
                              </m:e>
                              <m:sub>
                                <m:r>
                                  <a:rPr lang="zh-CN" sz="11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2</m:t>
                                </m:r>
                              </m:sub>
                            </m:sSub>
                          </m:e>
                        </m:d>
                        <m:r>
                          <m:rPr>
                            <m:sty m:val="p"/>
                          </m:rPr>
                          <a:rPr lang="zh-CN" sz="112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≤</m:t>
                        </m:r>
                        <m:f>
                          <m:fPr>
                            <m:type m:val="bar"/>
                            <m:ctrlPr>
                              <a:rPr lang="zh-CN" sz="11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fPr>
                          <m:num>
                            <m:r>
                              <a:rPr lang="zh-CN" sz="11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0.9493</m:t>
                            </m:r>
                          </m:num>
                          <m:den>
                            <m:r>
                              <a:rPr lang="zh-CN" sz="11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6</m:t>
                            </m:r>
                          </m:den>
                        </m:f>
                        <m:r>
                          <m:rPr>
                            <m:sty m:val="p"/>
                          </m:rPr>
                          <a:rPr lang="zh-CN" sz="112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×</m:t>
                        </m:r>
                        <m:r>
                          <a:rPr lang="zh-CN" sz="112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0.0167</m:t>
                        </m:r>
                        <m:r>
                          <m:rPr>
                            <m:sty m:val="p"/>
                          </m:rPr>
                          <a:rPr lang="zh-CN" sz="112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×</m:t>
                        </m:r>
                        <m:r>
                          <a:rPr lang="zh-CN" sz="112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0.0033</m:t>
                        </m:r>
                        <m:r>
                          <m:rPr>
                            <m:sty m:val="p"/>
                          </m:rPr>
                          <a:rPr lang="zh-CN" sz="112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×</m:t>
                        </m:r>
                        <m:r>
                          <a:rPr lang="zh-CN" sz="112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0.0233</m:t>
                        </m:r>
                        <m:r>
                          <m:rPr>
                            <m:sty m:val="p"/>
                          </m:rPr>
                          <a:rPr lang="zh-CN" sz="112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≈</m:t>
                        </m:r>
                        <m:r>
                          <a:rPr lang="zh-CN" sz="112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2.03</m:t>
                        </m:r>
                        <m:r>
                          <m:rPr>
                            <m:sty m:val="p"/>
                          </m:rPr>
                          <a:rPr lang="zh-CN" sz="112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×</m:t>
                        </m:r>
                        <m:r>
                          <a:rPr lang="zh-CN" sz="112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1</m:t>
                        </m:r>
                        <m:sSup>
                          <m:e>
                            <m:r>
                              <a:rPr lang="zh-CN" sz="11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0</m:t>
                            </m:r>
                          </m:e>
                          <m:sup>
                            <m:r>
                              <m:rPr>
                                <m:sty m:val="p"/>
                              </m:rPr>
                              <a:rPr lang="zh-CN" sz="11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−</m:t>
                            </m:r>
                            <m:r>
                              <a:rPr lang="zh-CN" sz="11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7</m:t>
                            </m:r>
                          </m:sup>
                        </m:sSup>
                      </m:oMath>
                    </m:oMathPara>
                  </a14:m>
                </a:p>
              </p:txBody>
            </p:sp>
          </mc:Choice>
        </mc:AlternateContent>
        <p:sp>
          <p:nvSpPr>
            <p:cNvPr id="41" name="TextBox 41"/>
            <p:cNvSpPr txBox="1"/>
            <p:nvPr/>
          </p:nvSpPr>
          <p:spPr>
            <a:xfrm>
              <a:off x="6922008" y="3209449"/>
              <a:ext cx="388139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实际误差 0.3303742 − 0.3303744 = −1.7×10⁻⁷。</a:t>
              </a:r>
            </a:p>
          </p:txBody>
        </p:sp>
      </p:grpSp>
      <p:grpSp>
        <p:nvGrpSpPr>
          <p:cNvPr id="48" name="c2-card-2"/>
          <p:cNvGrpSpPr/>
          <p:nvPr/>
        </p:nvGrpSpPr>
        <p:grpSpPr>
          <a:xfrm>
            <a:off x="6680835" y="3808095"/>
            <a:ext cx="4977765" cy="2487930"/>
            <a:chOff x="6680835" y="3808095"/>
            <a:chExt cx="4977765" cy="2487930"/>
          </a:xfrm>
        </p:grpSpPr>
        <p:sp>
          <p:nvSpPr>
            <p:cNvPr id="43" name="Rectangle 43"/>
            <p:cNvSpPr/>
            <p:nvPr/>
          </p:nvSpPr>
          <p:spPr>
            <a:xfrm>
              <a:off x="6680835" y="3808095"/>
              <a:ext cx="4977765" cy="2487930"/>
            </a:xfrm>
            <a:prstGeom prst="roundRect">
              <a:avLst>
                <a:gd name="adj" fmla="val 5360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44" name="Rectangle 44"/>
            <p:cNvSpPr/>
            <p:nvPr/>
          </p:nvSpPr>
          <p:spPr>
            <a:xfrm>
              <a:off x="6690360" y="3941445"/>
              <a:ext cx="47625" cy="2221230"/>
            </a:xfrm>
            <a:prstGeom prst="roundRect">
              <a:avLst>
                <a:gd name="adj" fmla="val 50000"/>
              </a:avLst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45" name="Rectangle 45"/>
            <p:cNvSpPr/>
            <p:nvPr/>
          </p:nvSpPr>
          <p:spPr>
            <a:xfrm>
              <a:off x="6928485" y="4017645"/>
              <a:ext cx="494348" cy="257175"/>
            </a:xfrm>
            <a:prstGeom prst="roundRect">
              <a:avLst>
                <a:gd name="adj" fmla="val 5000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46" name="TextBox 46"/>
            <p:cNvSpPr txBox="1"/>
            <p:nvPr/>
          </p:nvSpPr>
          <p:spPr>
            <a:xfrm>
              <a:off x="7019646" y="4053364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更正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6920865" y="4394835"/>
              <a:ext cx="4272915" cy="11506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原课件结果写作 L₂(0.3367) = 0.330387。按上面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三个基函数值核算应为 0.330374，它与真值只差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1.7×10⁻⁷；0.330387 的误差（1.3×10⁻⁵）反而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比线性插值的 9.0×10⁻⁶ 还大。</a:t>
              </a:r>
            </a:p>
          </p:txBody>
        </p:sp>
      </p:grpSp>
      <p:grpSp>
        <p:nvGrpSpPr>
          <p:cNvPr id="51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49" name="TextBox 49"/>
            <p:cNvSpPr txBox="1"/>
            <p:nvPr/>
          </p:nvSpPr>
          <p:spPr>
            <a:xfrm>
              <a:off x="528447" y="6581299"/>
              <a:ext cx="225267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计算方法 · 第5章 函数插值与曲线拟合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20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-disc"/>
          <p:cNvSpPr/>
          <p:nvPr/>
        </p:nvSpPr>
        <p:spPr>
          <a:xfrm>
            <a:off x="7715250" y="571500"/>
            <a:ext cx="5715000" cy="5715000"/>
          </a:xfrm>
          <a:prstGeom prst="ellipse">
            <a:avLst/>
          </a:prstGeom>
          <a:solidFill>
            <a:srgbClr val="2E7D4F"/>
          </a:solidFill>
          <a:ln>
            <a:noFill/>
          </a:ln>
        </p:spPr>
      </p:sp>
      <p:sp>
        <p:nvSpPr>
          <p:cNvPr id="3" name="section-ring"/>
          <p:cNvSpPr/>
          <p:nvPr/>
        </p:nvSpPr>
        <p:spPr>
          <a:xfrm>
            <a:off x="7334250" y="190500"/>
            <a:ext cx="6477000" cy="6477000"/>
          </a:xfrm>
          <a:prstGeom prst="ellipse">
            <a:avLst/>
          </a:prstGeom>
          <a:noFill/>
          <a:ln w="133350">
            <a:solidFill>
              <a:srgbClr val="E5F2EA"/>
            </a:solidFill>
          </a:ln>
        </p:spPr>
      </p:sp>
      <p:grpSp>
        <p:nvGrpSpPr>
          <p:cNvPr id="5" name="section-num"/>
          <p:cNvGrpSpPr/>
          <p:nvPr/>
        </p:nvGrpSpPr>
        <p:grpSpPr>
          <a:xfrm>
            <a:off x="8954033" y="2705100"/>
            <a:ext cx="1903933" cy="2305050"/>
            <a:chOff x="8954033" y="2705100"/>
            <a:chExt cx="1903933" cy="2305050"/>
          </a:xfrm>
        </p:grpSpPr>
        <p:sp>
          <p:nvSpPr>
            <p:cNvPr id="4" name="TextBox 4"/>
            <p:cNvSpPr txBox="1"/>
            <p:nvPr/>
          </p:nvSpPr>
          <p:spPr>
            <a:xfrm>
              <a:off x="8954033" y="2705100"/>
              <a:ext cx="1903933" cy="2305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03</a:t>
              </a:r>
            </a:p>
          </p:txBody>
        </p:sp>
      </p:grpSp>
      <p:grpSp>
        <p:nvGrpSpPr>
          <p:cNvPr id="16" name="section-title"/>
          <p:cNvGrpSpPr/>
          <p:nvPr/>
        </p:nvGrpSpPr>
        <p:grpSpPr>
          <a:xfrm>
            <a:off x="667512" y="1835468"/>
            <a:ext cx="5357622" cy="2997517"/>
            <a:chOff x="667512" y="1835468"/>
            <a:chExt cx="5357622" cy="2997517"/>
          </a:xfrm>
        </p:grpSpPr>
        <p:sp>
          <p:nvSpPr>
            <p:cNvPr id="6" name="TextBox 6"/>
            <p:cNvSpPr txBox="1"/>
            <p:nvPr/>
          </p:nvSpPr>
          <p:spPr>
            <a:xfrm>
              <a:off x="678942" y="1835468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第三部分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667512" y="2240280"/>
              <a:ext cx="1975104" cy="704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6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牛顿插值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685800" y="3041332"/>
              <a:ext cx="762000" cy="47625"/>
            </a:xfrm>
            <a:prstGeom prst="roundRect">
              <a:avLst>
                <a:gd name="adj" fmla="val 50000"/>
              </a:avLst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677418" y="3377565"/>
              <a:ext cx="534771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用差商逐项搭出插值多项式，每加一个节点只需补一项</a:t>
              </a:r>
            </a:p>
          </p:txBody>
        </p:sp>
        <p:sp>
          <p:nvSpPr>
            <p:cNvPr id="10" name="Ellipse 10"/>
            <p:cNvSpPr/>
            <p:nvPr/>
          </p:nvSpPr>
          <p:spPr>
            <a:xfrm>
              <a:off x="723900" y="3888105"/>
              <a:ext cx="76200" cy="7620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906780" y="3830955"/>
              <a:ext cx="2024444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5.3 差商的定义与性质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723900" y="4242435"/>
              <a:ext cx="76200" cy="7620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906780" y="4185285"/>
              <a:ext cx="2466404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差商表与 Newton 插值公式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723900" y="4596765"/>
              <a:ext cx="76200" cy="7620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906780" y="4539615"/>
              <a:ext cx="2226374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余项、节点选择与例 5.3</a:t>
              </a:r>
            </a:p>
          </p:txBody>
        </p:sp>
      </p:grpSp>
      <p:grpSp>
        <p:nvGrpSpPr>
          <p:cNvPr id="19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17" name="TextBox 17"/>
            <p:cNvSpPr txBox="1"/>
            <p:nvPr/>
          </p:nvSpPr>
          <p:spPr>
            <a:xfrm>
              <a:off x="528447" y="6581299"/>
              <a:ext cx="225267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计算方法 · 第5章 函数插值与曲线拟合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21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8597606" cy="909257"/>
            <a:chOff x="520446" y="342900"/>
            <a:chExt cx="8597606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1987868" cy="266700"/>
            </a:xfrm>
            <a:prstGeom prst="roundRect">
              <a:avLst>
                <a:gd name="adj" fmla="val 50000"/>
              </a:avLst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08957" y="407194"/>
              <a:ext cx="183580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第5章 函数插值 · 牛顿插值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8597606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Lagrange 公式的不便：每加一个节点，基函数都要重算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E7D4F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6" name="c1-card-1"/>
          <p:cNvGrpSpPr/>
          <p:nvPr/>
        </p:nvGrpSpPr>
        <p:grpSpPr>
          <a:xfrm>
            <a:off x="533400" y="1524000"/>
            <a:ext cx="5193982" cy="2272665"/>
            <a:chOff x="533400" y="1524000"/>
            <a:chExt cx="5193982" cy="2272665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193982" cy="2272665"/>
            </a:xfrm>
            <a:prstGeom prst="roundRect">
              <a:avLst>
                <a:gd name="adj" fmla="val 5868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542925" y="1657350"/>
              <a:ext cx="47625" cy="2005965"/>
            </a:xfrm>
            <a:prstGeom prst="roundRect">
              <a:avLst>
                <a:gd name="adj" fmla="val 50000"/>
              </a:avLst>
            </a:prstGeom>
            <a:solidFill>
              <a:srgbClr val="B42318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81050" y="1733550"/>
              <a:ext cx="494348" cy="257175"/>
            </a:xfrm>
            <a:prstGeom prst="roundRect">
              <a:avLst>
                <a:gd name="adj" fmla="val 50000"/>
              </a:avLst>
            </a:prstGeom>
            <a:solidFill>
              <a:srgbClr val="FDECEA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871258" y="1769269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问题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773430" y="2110740"/>
              <a:ext cx="4444365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例 5.1 从两点改用三点时，l₀、l₁ 的表达式全变了，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前面算过的数用不上。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786765" y="2794635"/>
              <a:ext cx="64770" cy="6477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944880" y="2731770"/>
              <a:ext cx="4605766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Lagrange 形式便于理论分析，不便于逐步增加节点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786765" y="3129915"/>
              <a:ext cx="64770" cy="6477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944880" y="3067050"/>
              <a:ext cx="43967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希望有一种写法：加一个节点，只在原多项式后面补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一项</a:t>
              </a:r>
            </a:p>
          </p:txBody>
        </p:sp>
      </p:grpSp>
      <p:grpSp>
        <p:nvGrpSpPr>
          <p:cNvPr id="18" name="c1-text-2"/>
          <p:cNvGrpSpPr/>
          <p:nvPr/>
        </p:nvGrpSpPr>
        <p:grpSpPr>
          <a:xfrm>
            <a:off x="525780" y="4011930"/>
            <a:ext cx="2034540" cy="293370"/>
            <a:chOff x="525780" y="4011930"/>
            <a:chExt cx="2034540" cy="293370"/>
          </a:xfrm>
        </p:grpSpPr>
        <p:sp>
          <p:nvSpPr>
            <p:cNvPr id="17" name="TextBox 17"/>
            <p:cNvSpPr txBox="1"/>
            <p:nvPr/>
          </p:nvSpPr>
          <p:spPr>
            <a:xfrm>
              <a:off x="525780" y="4011930"/>
              <a:ext cx="203454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为此把插值多项式写成</a:t>
              </a:r>
            </a:p>
          </p:txBody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19" name="formula120"/>
              <p:cNvSpPr txBox="1">
                <a:spLocks noGrp="1"/>
              </p:cNvSpPr>
              <p:nvPr/>
            </p:nvSpPr>
            <p:spPr>
              <a:xfrm>
                <a:off x="533400" y="4436745"/>
                <a:ext cx="5193982" cy="58293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lIns="0" tIns="0" rIns="0" bIns="0" wrap="none" anchor="ctr">
                <a:normAutofit/>
              </a:bodyPr>
              <a:lstStyle/>
              <a:p>
                <a:pPr algn="ctr"/>
                <a14:m>
                  <m:oMathPara xmlns:a="http://schemas.openxmlformats.org/drawingml/2006/main" xmlns:m="http://schemas.openxmlformats.org/officeDocument/2006/math">
                    <m:oMathParaPr>
                      <m:jc m:val="center"/>
                    </m:oMathParaPr>
                    <m:oMath>
                      <m:eqArr>
                        <m:eqArrPr>
                          <m:baseJc m:val="center"/>
                        </m:eqArrPr>
                        <m:e>
                          <m:sSub>
                            <m:e>
                              <m:r>
                                <a:rPr lang="zh-CN" sz="12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N</m:t>
                              </m:r>
                            </m:e>
                            <m:sub>
                              <m:r>
                                <a:rPr lang="zh-CN" sz="12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n</m:t>
                              </m:r>
                            </m:sub>
                          </m:sSub>
                          <m:d>
                            <m:dPr>
                              <m:begChr m:val="("/>
                              <m:sepChr m:val=""/>
                              <m:endChr m:val=")"/>
                              <m:grow m:val="on"/>
                              <m:ctrlPr>
                                <a:rPr lang="zh-CN" sz="12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r>
                                <a:rPr lang="zh-CN" sz="12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x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a:rPr lang="zh-CN" sz="12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=</m:t>
                          </m:r>
                          <m:r>
                            <a:rPr lang="zh-CN" sz="12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 xml:space="preserve"> </m:t>
                          </m:r>
                          <m:r>
                            <a:rPr lang="zh-CN" sz="12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&amp;</m:t>
                          </m:r>
                          <m:sSub>
                            <m:e>
                              <m:r>
                                <a:rPr lang="zh-CN" sz="12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c</m:t>
                              </m:r>
                            </m:e>
                            <m:sub>
                              <m:r>
                                <a:rPr lang="zh-CN" sz="12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0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a:rPr lang="zh-CN" sz="12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+</m:t>
                          </m:r>
                          <m:sSub>
                            <m:e>
                              <m:r>
                                <a:rPr lang="zh-CN" sz="12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c</m:t>
                              </m:r>
                            </m:e>
                            <m:sub>
                              <m:r>
                                <a:rPr lang="zh-CN" sz="12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1</m:t>
                              </m:r>
                            </m:sub>
                          </m:sSub>
                          <m:d>
                            <m:dPr>
                              <m:begChr m:val="("/>
                              <m:sepChr m:val=""/>
                              <m:endChr m:val=")"/>
                              <m:grow m:val="on"/>
                              <m:ctrlPr>
                                <a:rPr lang="zh-CN" sz="12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r>
                                <a:rPr lang="zh-CN" sz="12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a:rPr lang="zh-CN" sz="12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−</m:t>
                              </m:r>
                              <m:sSub>
                                <m:e>
                                  <m:r>
                                    <a:rPr lang="zh-CN" sz="128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x</m:t>
                                  </m:r>
                                </m:e>
                                <m:sub>
                                  <m:r>
                                    <a:rPr lang="zh-CN" sz="128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0</m:t>
                                  </m:r>
                                </m:sub>
                              </m:sSub>
                            </m:e>
                          </m:d>
                          <m:r>
                            <m:rPr>
                              <m:sty m:val="p"/>
                            </m:rPr>
                            <a:rPr lang="zh-CN" sz="12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+</m:t>
                          </m:r>
                          <m:sSub>
                            <m:e>
                              <m:r>
                                <a:rPr lang="zh-CN" sz="12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c</m:t>
                              </m:r>
                            </m:e>
                            <m:sub>
                              <m:r>
                                <a:rPr lang="zh-CN" sz="12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2</m:t>
                              </m:r>
                            </m:sub>
                          </m:sSub>
                          <m:d>
                            <m:dPr>
                              <m:begChr m:val="("/>
                              <m:sepChr m:val=""/>
                              <m:endChr m:val=")"/>
                              <m:grow m:val="on"/>
                              <m:ctrlPr>
                                <a:rPr lang="zh-CN" sz="12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r>
                                <a:rPr lang="zh-CN" sz="12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a:rPr lang="zh-CN" sz="12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−</m:t>
                              </m:r>
                              <m:sSub>
                                <m:e>
                                  <m:r>
                                    <a:rPr lang="zh-CN" sz="128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x</m:t>
                                  </m:r>
                                </m:e>
                                <m:sub>
                                  <m:r>
                                    <a:rPr lang="zh-CN" sz="128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0</m:t>
                                  </m:r>
                                </m:sub>
                              </m:sSub>
                            </m:e>
                          </m:d>
                          <m:d>
                            <m:dPr>
                              <m:begChr m:val="("/>
                              <m:sepChr m:val=""/>
                              <m:endChr m:val=")"/>
                              <m:grow m:val="on"/>
                              <m:ctrlPr>
                                <a:rPr lang="zh-CN" sz="12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r>
                                <a:rPr lang="zh-CN" sz="12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a:rPr lang="zh-CN" sz="12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−</m:t>
                              </m:r>
                              <m:sSub>
                                <m:e>
                                  <m:r>
                                    <a:rPr lang="zh-CN" sz="128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x</m:t>
                                  </m:r>
                                </m:e>
                                <m:sub>
                                  <m:r>
                                    <a:rPr lang="zh-CN" sz="128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d>
                        </m:e>
                        <m:e>
                          <m:r>
                            <a:rPr lang="zh-CN" sz="12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&amp;</m:t>
                          </m:r>
                          <m:r>
                            <m:rPr>
                              <m:sty m:val="p"/>
                            </m:rPr>
                            <a:rPr lang="zh-CN" sz="12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+⋯+</m:t>
                          </m:r>
                          <m:sSub>
                            <m:e>
                              <m:r>
                                <a:rPr lang="zh-CN" sz="12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c</m:t>
                              </m:r>
                            </m:e>
                            <m:sub>
                              <m:r>
                                <a:rPr lang="zh-CN" sz="12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n</m:t>
                              </m:r>
                            </m:sub>
                          </m:sSub>
                          <m:d>
                            <m:dPr>
                              <m:begChr m:val="("/>
                              <m:sepChr m:val=""/>
                              <m:endChr m:val=")"/>
                              <m:grow m:val="on"/>
                              <m:ctrlPr>
                                <a:rPr lang="zh-CN" sz="12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r>
                                <a:rPr lang="zh-CN" sz="12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a:rPr lang="zh-CN" sz="12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−</m:t>
                              </m:r>
                              <m:sSub>
                                <m:e>
                                  <m:r>
                                    <a:rPr lang="zh-CN" sz="128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x</m:t>
                                  </m:r>
                                </m:e>
                                <m:sub>
                                  <m:r>
                                    <a:rPr lang="zh-CN" sz="128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0</m:t>
                                  </m:r>
                                </m:sub>
                              </m:sSub>
                            </m:e>
                          </m:d>
                          <m:d>
                            <m:dPr>
                              <m:begChr m:val="("/>
                              <m:sepChr m:val=""/>
                              <m:endChr m:val=")"/>
                              <m:grow m:val="on"/>
                              <m:ctrlPr>
                                <a:rPr lang="zh-CN" sz="12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r>
                                <a:rPr lang="zh-CN" sz="12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a:rPr lang="zh-CN" sz="12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−</m:t>
                              </m:r>
                              <m:sSub>
                                <m:e>
                                  <m:r>
                                    <a:rPr lang="zh-CN" sz="128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x</m:t>
                                  </m:r>
                                </m:e>
                                <m:sub>
                                  <m:r>
                                    <a:rPr lang="zh-CN" sz="128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d>
                          <m:r>
                            <m:rPr>
                              <m:sty m:val="p"/>
                            </m:rPr>
                            <a:rPr lang="zh-CN" sz="12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⋯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 m:val="on"/>
                              <m:ctrlPr>
                                <a:rPr lang="zh-CN" sz="12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r>
                                <a:rPr lang="zh-CN" sz="12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a:rPr lang="zh-CN" sz="12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−</m:t>
                              </m:r>
                              <m:sSub>
                                <m:e>
                                  <m:r>
                                    <a:rPr lang="zh-CN" sz="128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x</m:t>
                                  </m:r>
                                </m:e>
                                <m:sub>
                                  <m:r>
                                    <a:rPr lang="zh-CN" sz="128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n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zh-CN" sz="128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−</m:t>
                                  </m:r>
                                  <m:r>
                                    <a:rPr lang="zh-CN" sz="128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d>
                        </m:e>
                      </m:eqArr>
                    </m:oMath>
                  </m:oMathPara>
                </a14:m>
              </a:p>
            </p:txBody>
          </p:sp>
        </mc:Choice>
      </mc:AlternateContent>
      <p:grpSp>
        <p:nvGrpSpPr>
          <p:cNvPr id="21" name="c1-text-4"/>
          <p:cNvGrpSpPr/>
          <p:nvPr/>
        </p:nvGrpSpPr>
        <p:grpSpPr>
          <a:xfrm>
            <a:off x="525780" y="5234940"/>
            <a:ext cx="4958715" cy="588645"/>
            <a:chOff x="525780" y="5234940"/>
            <a:chExt cx="4958715" cy="588645"/>
          </a:xfrm>
        </p:grpSpPr>
        <p:sp>
          <p:nvSpPr>
            <p:cNvPr id="20" name="TextBox 20"/>
            <p:cNvSpPr txBox="1"/>
            <p:nvPr/>
          </p:nvSpPr>
          <p:spPr>
            <a:xfrm>
              <a:off x="525780" y="5234940"/>
              <a:ext cx="4958715" cy="58864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325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系数 cₖ 只依赖前 k+1 个节点，加节点时前面的系数不变。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后面会看到，cₖ 正是 k 阶差商 f[x₀, …, xₖ]。</a:t>
              </a:r>
            </a:p>
          </p:txBody>
        </p:sp>
      </p:grpSp>
      <p:grpSp>
        <p:nvGrpSpPr>
          <p:cNvPr id="32" name="c2-card-1"/>
          <p:cNvGrpSpPr/>
          <p:nvPr/>
        </p:nvGrpSpPr>
        <p:grpSpPr>
          <a:xfrm>
            <a:off x="6032182" y="1524000"/>
            <a:ext cx="5626418" cy="4240530"/>
            <a:chOff x="6032182" y="1524000"/>
            <a:chExt cx="5626418" cy="4240530"/>
          </a:xfrm>
        </p:grpSpPr>
        <p:sp>
          <p:nvSpPr>
            <p:cNvPr id="22" name="Rectangle 22"/>
            <p:cNvSpPr/>
            <p:nvPr/>
          </p:nvSpPr>
          <p:spPr>
            <a:xfrm>
              <a:off x="6032182" y="1524000"/>
              <a:ext cx="5626418" cy="4240530"/>
            </a:xfrm>
            <a:prstGeom prst="roundRect">
              <a:avLst>
                <a:gd name="adj" fmla="val 3145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6041708" y="1657350"/>
              <a:ext cx="47625" cy="3973830"/>
            </a:xfrm>
            <a:prstGeom prst="roundRect">
              <a:avLst>
                <a:gd name="adj" fmla="val 50000"/>
              </a:avLst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24" name="Rectangle 24"/>
            <p:cNvSpPr/>
            <p:nvPr/>
          </p:nvSpPr>
          <p:spPr>
            <a:xfrm>
              <a:off x="6279832" y="1733550"/>
              <a:ext cx="784860" cy="257175"/>
            </a:xfrm>
            <a:prstGeom prst="roundRect">
              <a:avLst>
                <a:gd name="adj" fmla="val 50000"/>
              </a:avLst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6361418" y="1769269"/>
              <a:ext cx="62168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定义 5.1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7171373" y="1768792"/>
              <a:ext cx="183261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一阶差商与二阶差商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6272212" y="2129790"/>
              <a:ext cx="4806315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f(x) 在 xᵢ、xⱼ（xᵢ ≠ xⱼ）上的平均变化率称为 f(x) 在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这两点的</a:t>
              </a:r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一阶差商</a:t>
              </a: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：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8" name="formula121"/>
                <p:cNvSpPr txBox="1">
                  <a:spLocks noGrp="1"/>
                </p:cNvSpPr>
                <p:nvPr/>
              </p:nvSpPr>
              <p:spPr>
                <a:xfrm>
                  <a:off x="6279832" y="2726055"/>
                  <a:ext cx="5169218" cy="565785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lIns="0" tIns="0" rIns="0" bIns="0" wrap="none" anchor="ctr">
                  <a:normAutofit/>
                </a:bodyPr>
                <a:lstStyle/>
                <a:p>
                  <a:pPr algn="ctr"/>
                  <a14:m>
                    <m:oMathPara xmlns:a="http://schemas.openxmlformats.org/drawingml/2006/main" xmlns:m="http://schemas.openxmlformats.org/officeDocument/2006/math">
                      <m:oMathParaPr>
                        <m:jc m:val="center"/>
                      </m:oMathParaPr>
                      <m:oMath>
                        <m:r>
                          <a:rPr lang="zh-CN" sz="16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f</m:t>
                        </m:r>
                        <m:d>
                          <m:dPr>
                            <m:begChr m:val="["/>
                            <m:sepChr m:val=""/>
                            <m:endChr m:val="]"/>
                            <m:grow m:val="on"/>
                            <m:ctrlPr>
                              <a:rPr lang="zh-CN" sz="16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sSub>
                              <m:e>
                                <m:r>
                                  <a:rPr lang="zh-CN" sz="16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x</m:t>
                                </m:r>
                              </m:e>
                              <m:sub>
                                <m:r>
                                  <a:rPr lang="zh-CN" sz="16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i</m:t>
                                </m:r>
                              </m:sub>
                            </m:sSub>
                            <m:r>
                              <m:rPr>
                                <m:sty m:val="p"/>
                              </m:rPr>
                              <a:rPr lang="zh-CN" sz="16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,</m:t>
                            </m:r>
                            <m:sSub>
                              <m:e>
                                <m:r>
                                  <a:rPr lang="zh-CN" sz="16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x</m:t>
                                </m:r>
                              </m:e>
                              <m:sub>
                                <m:r>
                                  <a:rPr lang="zh-CN" sz="16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j</m:t>
                                </m:r>
                              </m:sub>
                            </m:sSub>
                          </m:e>
                        </m:d>
                        <m:r>
                          <m:rPr>
                            <m:sty m:val="p"/>
                          </m:rPr>
                          <a:rPr lang="zh-CN" sz="16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=</m:t>
                        </m:r>
                        <m:f>
                          <m:fPr>
                            <m:type m:val="bar"/>
                            <m:ctrlPr>
                              <a:rPr lang="zh-CN" sz="16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fPr>
                          <m:num>
                            <m:r>
                              <a:rPr lang="zh-CN" sz="16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f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 m:val="on"/>
                                <m:ctrlPr>
                                  <a:rPr lang="zh-CN" sz="16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</m:ctrlPr>
                              </m:dPr>
                              <m:e>
                                <m:sSub>
                                  <m:e>
                                    <m:r>
                                      <a:rPr lang="zh-CN" sz="165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x</m:t>
                                    </m:r>
                                  </m:e>
                                  <m:sub>
                                    <m:r>
                                      <a:rPr lang="zh-CN" sz="165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j</m:t>
                                    </m:r>
                                  </m:sub>
                                </m:sSub>
                              </m:e>
                            </m:d>
                            <m:r>
                              <m:rPr>
                                <m:sty m:val="p"/>
                              </m:rPr>
                              <a:rPr lang="zh-CN" sz="16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−</m:t>
                            </m:r>
                            <m:r>
                              <a:rPr lang="zh-CN" sz="16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f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 m:val="on"/>
                                <m:ctrlPr>
                                  <a:rPr lang="zh-CN" sz="16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</m:ctrlPr>
                              </m:dPr>
                              <m:e>
                                <m:sSub>
                                  <m:e>
                                    <m:r>
                                      <a:rPr lang="zh-CN" sz="165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x</m:t>
                                    </m:r>
                                  </m:e>
                                  <m:sub>
                                    <m:r>
                                      <a:rPr lang="zh-CN" sz="165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i</m:t>
                                    </m:r>
                                  </m:sub>
                                </m:sSub>
                              </m:e>
                            </m:d>
                          </m:num>
                          <m:den>
                            <m:sSub>
                              <m:e>
                                <m:r>
                                  <a:rPr lang="zh-CN" sz="16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x</m:t>
                                </m:r>
                              </m:e>
                              <m:sub>
                                <m:r>
                                  <a:rPr lang="zh-CN" sz="16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j</m:t>
                                </m:r>
                              </m:sub>
                            </m:sSub>
                            <m:r>
                              <m:rPr>
                                <m:sty m:val="p"/>
                              </m:rPr>
                              <a:rPr lang="zh-CN" sz="16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−</m:t>
                            </m:r>
                            <m:sSub>
                              <m:e>
                                <m:r>
                                  <a:rPr lang="zh-CN" sz="16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x</m:t>
                                </m:r>
                              </m:e>
                              <m:sub>
                                <m:r>
                                  <a:rPr lang="zh-CN" sz="16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i</m:t>
                                </m:r>
                              </m:sub>
                            </m:sSub>
                          </m:den>
                        </m:f>
                        <m:r>
                          <a:rPr lang="zh-CN" sz="16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 xml:space="preserve">  </m:t>
                        </m:r>
                        <m:d>
                          <m:dPr>
                            <m:begChr m:val="("/>
                            <m:sepChr m:val=""/>
                            <m:endChr m:val=")"/>
                            <m:grow m:val="on"/>
                            <m:ctrlPr>
                              <a:rPr lang="zh-CN" sz="16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r>
                              <a:rPr lang="zh-CN" sz="16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5.3.1</m:t>
                            </m:r>
                          </m:e>
                        </m:d>
                      </m:oMath>
                    </m:oMathPara>
                  </a14:m>
                </a:p>
              </p:txBody>
            </p:sp>
          </mc:Choice>
        </mc:AlternateContent>
        <p:sp>
          <p:nvSpPr>
            <p:cNvPr id="29" name="TextBox 29"/>
            <p:cNvSpPr txBox="1"/>
            <p:nvPr/>
          </p:nvSpPr>
          <p:spPr>
            <a:xfrm>
              <a:off x="6272212" y="3411855"/>
              <a:ext cx="5204841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一阶差商的差商称为 f(x) 在 xᵢ、xⱼ、xₖ 处的</a:t>
              </a:r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二阶差商</a:t>
              </a: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：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0" name="formula122"/>
                <p:cNvSpPr txBox="1">
                  <a:spLocks noGrp="1"/>
                </p:cNvSpPr>
                <p:nvPr/>
              </p:nvSpPr>
              <p:spPr>
                <a:xfrm>
                  <a:off x="6279832" y="3722370"/>
                  <a:ext cx="5169218" cy="437198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lIns="0" tIns="0" rIns="0" bIns="0" wrap="none" anchor="ctr">
                  <a:normAutofit/>
                </a:bodyPr>
                <a:lstStyle/>
                <a:p>
                  <a:pPr algn="ctr"/>
                  <a14:m>
                    <m:oMathPara xmlns:a="http://schemas.openxmlformats.org/drawingml/2006/main" xmlns:m="http://schemas.openxmlformats.org/officeDocument/2006/math">
                      <m:oMathParaPr>
                        <m:jc m:val="center"/>
                      </m:oMathParaPr>
                      <m:oMath>
                        <m:r>
                          <a:rPr lang="zh-CN" sz="128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f</m:t>
                        </m:r>
                        <m:d>
                          <m:dPr>
                            <m:begChr m:val="["/>
                            <m:sepChr m:val=""/>
                            <m:endChr m:val="]"/>
                            <m:grow m:val="on"/>
                            <m:ctrlPr>
                              <a:rPr lang="zh-CN" sz="12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sSub>
                              <m:e>
                                <m:r>
                                  <a:rPr lang="zh-CN" sz="12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x</m:t>
                                </m:r>
                              </m:e>
                              <m:sub>
                                <m:r>
                                  <a:rPr lang="zh-CN" sz="12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i</m:t>
                                </m:r>
                              </m:sub>
                            </m:sSub>
                            <m:r>
                              <m:rPr>
                                <m:sty m:val="p"/>
                              </m:rPr>
                              <a:rPr lang="zh-CN" sz="12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,</m:t>
                            </m:r>
                            <m:sSub>
                              <m:e>
                                <m:r>
                                  <a:rPr lang="zh-CN" sz="12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x</m:t>
                                </m:r>
                              </m:e>
                              <m:sub>
                                <m:r>
                                  <a:rPr lang="zh-CN" sz="12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j</m:t>
                                </m:r>
                              </m:sub>
                            </m:sSub>
                            <m:r>
                              <m:rPr>
                                <m:sty m:val="p"/>
                              </m:rPr>
                              <a:rPr lang="zh-CN" sz="12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,</m:t>
                            </m:r>
                            <m:sSub>
                              <m:e>
                                <m:r>
                                  <a:rPr lang="zh-CN" sz="12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x</m:t>
                                </m:r>
                              </m:e>
                              <m:sub>
                                <m:r>
                                  <a:rPr lang="zh-CN" sz="12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k</m:t>
                                </m:r>
                              </m:sub>
                            </m:sSub>
                          </m:e>
                        </m:d>
                        <m:r>
                          <m:rPr>
                            <m:sty m:val="p"/>
                          </m:rPr>
                          <a:rPr lang="zh-CN" sz="128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=</m:t>
                        </m:r>
                        <m:f>
                          <m:fPr>
                            <m:type m:val="bar"/>
                            <m:ctrlPr>
                              <a:rPr lang="zh-CN" sz="12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fPr>
                          <m:num>
                            <m:r>
                              <a:rPr lang="zh-CN" sz="12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f</m:t>
                            </m:r>
                            <m:d>
                              <m:dPr>
                                <m:begChr m:val="["/>
                                <m:sepChr m:val=""/>
                                <m:endChr m:val="]"/>
                                <m:grow m:val="on"/>
                                <m:ctrlPr>
                                  <a:rPr lang="zh-CN" sz="12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</m:ctrlPr>
                              </m:dPr>
                              <m:e>
                                <m:sSub>
                                  <m:e>
                                    <m:r>
                                      <a:rPr lang="zh-CN" sz="128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x</m:t>
                                    </m:r>
                                  </m:e>
                                  <m:sub>
                                    <m:r>
                                      <a:rPr lang="zh-CN" sz="128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j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a:rPr lang="zh-CN" sz="12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,</m:t>
                                </m:r>
                                <m:sSub>
                                  <m:e>
                                    <m:r>
                                      <a:rPr lang="zh-CN" sz="128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x</m:t>
                                    </m:r>
                                  </m:e>
                                  <m:sub>
                                    <m:r>
                                      <a:rPr lang="zh-CN" sz="128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k</m:t>
                                    </m:r>
                                  </m:sub>
                                </m:sSub>
                              </m:e>
                            </m:d>
                            <m:r>
                              <m:rPr>
                                <m:sty m:val="p"/>
                              </m:rPr>
                              <a:rPr lang="zh-CN" sz="12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−</m:t>
                            </m:r>
                            <m:r>
                              <a:rPr lang="zh-CN" sz="12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f</m:t>
                            </m:r>
                            <m:d>
                              <m:dPr>
                                <m:begChr m:val="["/>
                                <m:sepChr m:val=""/>
                                <m:endChr m:val="]"/>
                                <m:grow m:val="on"/>
                                <m:ctrlPr>
                                  <a:rPr lang="zh-CN" sz="12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</m:ctrlPr>
                              </m:dPr>
                              <m:e>
                                <m:sSub>
                                  <m:e>
                                    <m:r>
                                      <a:rPr lang="zh-CN" sz="128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x</m:t>
                                    </m:r>
                                  </m:e>
                                  <m:sub>
                                    <m:r>
                                      <a:rPr lang="zh-CN" sz="128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i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a:rPr lang="zh-CN" sz="12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,</m:t>
                                </m:r>
                                <m:sSub>
                                  <m:e>
                                    <m:r>
                                      <a:rPr lang="zh-CN" sz="128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x</m:t>
                                    </m:r>
                                  </m:e>
                                  <m:sub>
                                    <m:r>
                                      <a:rPr lang="zh-CN" sz="128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j</m:t>
                                    </m:r>
                                  </m:sub>
                                </m:sSub>
                              </m:e>
                            </m:d>
                          </m:num>
                          <m:den>
                            <m:sSub>
                              <m:e>
                                <m:r>
                                  <a:rPr lang="zh-CN" sz="12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x</m:t>
                                </m:r>
                              </m:e>
                              <m:sub>
                                <m:r>
                                  <a:rPr lang="zh-CN" sz="12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k</m:t>
                                </m:r>
                              </m:sub>
                            </m:sSub>
                            <m:r>
                              <m:rPr>
                                <m:sty m:val="p"/>
                              </m:rPr>
                              <a:rPr lang="zh-CN" sz="12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−</m:t>
                            </m:r>
                            <m:sSub>
                              <m:e>
                                <m:r>
                                  <a:rPr lang="zh-CN" sz="12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x</m:t>
                                </m:r>
                              </m:e>
                              <m:sub>
                                <m:r>
                                  <a:rPr lang="zh-CN" sz="12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i</m:t>
                                </m:r>
                              </m:sub>
                            </m:sSub>
                          </m:den>
                        </m:f>
                        <m:r>
                          <a:rPr lang="zh-CN" sz="128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 xml:space="preserve">  </m:t>
                        </m:r>
                        <m:d>
                          <m:dPr>
                            <m:begChr m:val="("/>
                            <m:sepChr m:val=""/>
                            <m:endChr m:val=")"/>
                            <m:grow m:val="on"/>
                            <m:ctrlPr>
                              <a:rPr lang="zh-CN" sz="12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r>
                              <a:rPr lang="zh-CN" sz="12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5.3.2</m:t>
                            </m:r>
                          </m:e>
                        </m:d>
                      </m:oMath>
                    </m:oMathPara>
                  </a14:m>
                </a:p>
              </p:txBody>
            </p:sp>
          </mc:Choice>
        </mc:AlternateContent>
        <p:sp>
          <p:nvSpPr>
            <p:cNvPr id="31" name="TextBox 31"/>
            <p:cNvSpPr txBox="1"/>
            <p:nvPr/>
          </p:nvSpPr>
          <p:spPr>
            <a:xfrm>
              <a:off x="6273356" y="4276249"/>
              <a:ext cx="3976167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一阶差商就是割线斜率，二阶差商描述斜率的变化。</a:t>
              </a:r>
            </a:p>
          </p:txBody>
        </p:sp>
      </p:grpSp>
      <p:grpSp>
        <p:nvGrpSpPr>
          <p:cNvPr id="35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33" name="TextBox 33"/>
            <p:cNvSpPr txBox="1"/>
            <p:nvPr/>
          </p:nvSpPr>
          <p:spPr>
            <a:xfrm>
              <a:off x="528447" y="6581299"/>
              <a:ext cx="225267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计算方法 · 第5章 函数插值与曲线拟合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22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8496367" cy="909257"/>
            <a:chOff x="520446" y="342900"/>
            <a:chExt cx="8496367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1987868" cy="266700"/>
            </a:xfrm>
            <a:prstGeom prst="roundRect">
              <a:avLst>
                <a:gd name="adj" fmla="val 50000"/>
              </a:avLst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08957" y="407194"/>
              <a:ext cx="183580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第5章 函数插值 · 牛顿插值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8496367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m 阶差商：两个 m−1 阶差商相减，再除以两端节点之差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E7D4F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c1-text-1"/>
          <p:cNvGrpSpPr/>
          <p:nvPr/>
        </p:nvGrpSpPr>
        <p:grpSpPr>
          <a:xfrm>
            <a:off x="525780" y="1548765"/>
            <a:ext cx="5480209" cy="588645"/>
            <a:chOff x="525780" y="1548765"/>
            <a:chExt cx="5480209" cy="588645"/>
          </a:xfrm>
        </p:grpSpPr>
        <p:sp>
          <p:nvSpPr>
            <p:cNvPr id="7" name="TextBox 7"/>
            <p:cNvSpPr txBox="1"/>
            <p:nvPr/>
          </p:nvSpPr>
          <p:spPr>
            <a:xfrm>
              <a:off x="525780" y="1548765"/>
              <a:ext cx="5480209" cy="58864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325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求出 m−1 阶差商后，f(x) 在互异节点 xᵢ₀, xᵢ₁, …, xᵢₘ 处的 </a:t>
              </a:r>
              <a:r>
                <a:rPr lang="en-US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m</a:t>
              </a:r>
              <a:br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阶差商</a:t>
              </a: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定义为</a:t>
              </a:r>
            </a:p>
          </p:txBody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formula125"/>
              <p:cNvSpPr txBox="1">
                <a:spLocks noGrp="1"/>
              </p:cNvSpPr>
              <p:nvPr/>
            </p:nvSpPr>
            <p:spPr>
              <a:xfrm>
                <a:off x="533400" y="2268855"/>
                <a:ext cx="5842635" cy="5143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lIns="0" tIns="0" rIns="0" bIns="0" wrap="none" anchor="ctr">
                <a:normAutofit/>
              </a:bodyPr>
              <a:lstStyle/>
              <a:p>
                <a:pPr algn="ctr"/>
                <a14:m>
                  <m:oMathPara xmlns:a="http://schemas.openxmlformats.org/drawingml/2006/main" xmlns:m="http://schemas.openxmlformats.org/officeDocument/2006/math">
                    <m:oMathParaPr>
                      <m:jc m:val="center"/>
                    </m:oMathParaPr>
                    <m:oMath>
                      <m:r>
                        <a:rPr lang="zh-CN" sz="150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f</m:t>
                      </m:r>
                      <m:d>
                        <m:dPr>
                          <m:begChr m:val="["/>
                          <m:sepChr m:val=""/>
                          <m:endChr m:val="]"/>
                          <m:grow m:val="on"/>
                          <m:ctrlPr>
                            <a:rPr lang="zh-CN" sz="15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sSub>
                            <m:e>
                              <m:r>
                                <a:rPr lang="zh-CN" sz="15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x</m:t>
                              </m:r>
                            </m:e>
                            <m:sub>
                              <m:sSub>
                                <m:e>
                                  <m:r>
                                    <a:rPr lang="zh-CN" sz="150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i</m:t>
                                  </m:r>
                                </m:e>
                                <m:sub>
                                  <m:r>
                                    <a:rPr lang="zh-CN" sz="150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0</m:t>
                                  </m:r>
                                </m:sub>
                              </m:sSub>
                            </m:sub>
                          </m:sSub>
                          <m:r>
                            <m:rPr>
                              <m:sty m:val="p"/>
                            </m:rPr>
                            <a:rPr lang="zh-CN" sz="15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,</m:t>
                          </m:r>
                          <m:sSub>
                            <m:e>
                              <m:r>
                                <a:rPr lang="zh-CN" sz="15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x</m:t>
                              </m:r>
                            </m:e>
                            <m:sub>
                              <m:sSub>
                                <m:e>
                                  <m:r>
                                    <a:rPr lang="zh-CN" sz="150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i</m:t>
                                  </m:r>
                                </m:e>
                                <m:sub>
                                  <m:r>
                                    <a:rPr lang="zh-CN" sz="150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1</m:t>
                                  </m:r>
                                </m:sub>
                              </m:sSub>
                            </m:sub>
                          </m:sSub>
                          <m:r>
                            <m:rPr>
                              <m:sty m:val="p"/>
                            </m:rPr>
                            <a:rPr lang="zh-CN" sz="15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,…,</m:t>
                          </m:r>
                          <m:sSub>
                            <m:e>
                              <m:r>
                                <a:rPr lang="zh-CN" sz="15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x</m:t>
                              </m:r>
                            </m:e>
                            <m:sub>
                              <m:sSub>
                                <m:e>
                                  <m:r>
                                    <a:rPr lang="zh-CN" sz="150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i</m:t>
                                  </m:r>
                                </m:e>
                                <m:sub>
                                  <m:r>
                                    <a:rPr lang="zh-CN" sz="150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m</m:t>
                                  </m:r>
                                </m:sub>
                              </m:sSub>
                            </m:sub>
                          </m:sSub>
                        </m:e>
                      </m:d>
                      <m:r>
                        <m:rPr>
                          <m:sty m:val="p"/>
                        </m:rPr>
                        <a:rPr lang="zh-CN" sz="150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f>
                        <m:fPr>
                          <m:type m:val="bar"/>
                          <m:ctrlPr>
                            <a:rPr lang="zh-CN" sz="15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Pr>
                        <m:num>
                          <m:r>
                            <a:rPr lang="zh-CN" sz="15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f</m:t>
                          </m:r>
                          <m:d>
                            <m:dPr>
                              <m:begChr m:val="["/>
                              <m:sepChr m:val=""/>
                              <m:endChr m:val="]"/>
                              <m:grow m:val="on"/>
                              <m:ctrlPr>
                                <a:rPr lang="zh-CN" sz="15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sSub>
                                <m:e>
                                  <m:r>
                                    <a:rPr lang="zh-CN" sz="150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x</m:t>
                                  </m:r>
                                </m:e>
                                <m:sub>
                                  <m:sSub>
                                    <m:e>
                                      <m:r>
                                        <a:rPr lang="zh-CN" sz="1500" dirty="0">
                                          <a:solidFill>
                                            <a:srgbClr val="1F2937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i</m:t>
                                      </m:r>
                                    </m:e>
                                    <m:sub>
                                      <m:r>
                                        <a:rPr lang="zh-CN" sz="1500" dirty="0">
                                          <a:solidFill>
                                            <a:srgbClr val="1F2937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1</m:t>
                                      </m:r>
                                    </m:sub>
                                  </m:sSub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a:rPr lang="zh-CN" sz="15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,…,</m:t>
                              </m:r>
                              <m:sSub>
                                <m:e>
                                  <m:r>
                                    <a:rPr lang="zh-CN" sz="150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x</m:t>
                                  </m:r>
                                </m:e>
                                <m:sub>
                                  <m:sSub>
                                    <m:e>
                                      <m:r>
                                        <a:rPr lang="zh-CN" sz="1500" dirty="0">
                                          <a:solidFill>
                                            <a:srgbClr val="1F2937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i</m:t>
                                      </m:r>
                                    </m:e>
                                    <m:sub>
                                      <m:r>
                                        <a:rPr lang="zh-CN" sz="1500" dirty="0">
                                          <a:solidFill>
                                            <a:srgbClr val="1F2937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m</m:t>
                                      </m:r>
                                    </m:sub>
                                  </m:sSub>
                                </m:sub>
                              </m:sSub>
                            </m:e>
                          </m:d>
                          <m:r>
                            <m:rPr>
                              <m:sty m:val="p"/>
                            </m:rPr>
                            <a:rPr lang="zh-CN" sz="15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−</m:t>
                          </m:r>
                          <m:r>
                            <a:rPr lang="zh-CN" sz="15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f</m:t>
                          </m:r>
                          <m:d>
                            <m:dPr>
                              <m:begChr m:val="["/>
                              <m:sepChr m:val=""/>
                              <m:endChr m:val="]"/>
                              <m:grow m:val="on"/>
                              <m:ctrlPr>
                                <a:rPr lang="zh-CN" sz="15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sSub>
                                <m:e>
                                  <m:r>
                                    <a:rPr lang="zh-CN" sz="150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x</m:t>
                                  </m:r>
                                </m:e>
                                <m:sub>
                                  <m:sSub>
                                    <m:e>
                                      <m:r>
                                        <a:rPr lang="zh-CN" sz="1500" dirty="0">
                                          <a:solidFill>
                                            <a:srgbClr val="1F2937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i</m:t>
                                      </m:r>
                                    </m:e>
                                    <m:sub>
                                      <m:r>
                                        <a:rPr lang="zh-CN" sz="1500" dirty="0">
                                          <a:solidFill>
                                            <a:srgbClr val="1F2937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0</m:t>
                                      </m:r>
                                    </m:sub>
                                  </m:sSub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a:rPr lang="zh-CN" sz="15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,…,</m:t>
                              </m:r>
                              <m:sSub>
                                <m:e>
                                  <m:r>
                                    <a:rPr lang="zh-CN" sz="150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x</m:t>
                                  </m:r>
                                </m:e>
                                <m:sub>
                                  <m:sSub>
                                    <m:e>
                                      <m:r>
                                        <a:rPr lang="zh-CN" sz="1500" dirty="0">
                                          <a:solidFill>
                                            <a:srgbClr val="1F2937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i</m:t>
                                      </m:r>
                                    </m:e>
                                    <m:sub>
                                      <m:r>
                                        <a:rPr lang="zh-CN" sz="1500" dirty="0">
                                          <a:solidFill>
                                            <a:srgbClr val="1F2937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m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a:rPr lang="zh-CN" sz="1500" dirty="0">
                                          <a:solidFill>
                                            <a:srgbClr val="1F2937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−</m:t>
                                      </m:r>
                                      <m:r>
                                        <a:rPr lang="zh-CN" sz="1500" dirty="0">
                                          <a:solidFill>
                                            <a:srgbClr val="1F2937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1</m:t>
                                      </m:r>
                                    </m:sub>
                                  </m:sSub>
                                </m:sub>
                              </m:sSub>
                            </m:e>
                          </m:d>
                        </m:num>
                        <m:den>
                          <m:sSub>
                            <m:e>
                              <m:r>
                                <a:rPr lang="zh-CN" sz="15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x</m:t>
                              </m:r>
                            </m:e>
                            <m:sub>
                              <m:sSub>
                                <m:e>
                                  <m:r>
                                    <a:rPr lang="zh-CN" sz="150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i</m:t>
                                  </m:r>
                                </m:e>
                                <m:sub>
                                  <m:r>
                                    <a:rPr lang="zh-CN" sz="150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m</m:t>
                                  </m:r>
                                </m:sub>
                              </m:sSub>
                            </m:sub>
                          </m:sSub>
                          <m:r>
                            <m:rPr>
                              <m:sty m:val="p"/>
                            </m:rPr>
                            <a:rPr lang="zh-CN" sz="15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−</m:t>
                          </m:r>
                          <m:sSub>
                            <m:e>
                              <m:r>
                                <a:rPr lang="zh-CN" sz="15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x</m:t>
                              </m:r>
                            </m:e>
                            <m:sub>
                              <m:sSub>
                                <m:e>
                                  <m:r>
                                    <a:rPr lang="zh-CN" sz="150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i</m:t>
                                  </m:r>
                                </m:e>
                                <m:sub>
                                  <m:r>
                                    <a:rPr lang="zh-CN" sz="150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0</m:t>
                                  </m:r>
                                </m:sub>
                              </m:sSub>
                            </m:sub>
                          </m:sSub>
                        </m:den>
                      </m:f>
                      <m:r>
                        <a:rPr lang="zh-CN" sz="150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 xml:space="preserve"> </m:t>
                      </m:r>
                      <m:d>
                        <m:dPr>
                          <m:begChr m:val="("/>
                          <m:sepChr m:val=""/>
                          <m:endChr m:val=")"/>
                          <m:grow m:val="on"/>
                          <m:ctrlPr>
                            <a:rPr lang="zh-CN" sz="15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a:rPr lang="zh-CN" sz="15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5.3.3</m:t>
                          </m:r>
                        </m:e>
                      </m:d>
                    </m:oMath>
                  </m:oMathPara>
                </a14:m>
              </a:p>
            </p:txBody>
          </p:sp>
        </mc:Choice>
      </mc:AlternateContent>
      <p:grpSp>
        <p:nvGrpSpPr>
          <p:cNvPr id="21" name="c1-kv-3"/>
          <p:cNvGrpSpPr/>
          <p:nvPr/>
        </p:nvGrpSpPr>
        <p:grpSpPr>
          <a:xfrm>
            <a:off x="525780" y="2998470"/>
            <a:ext cx="5850255" cy="1613535"/>
            <a:chOff x="525780" y="2998470"/>
            <a:chExt cx="5850255" cy="1613535"/>
          </a:xfrm>
        </p:grpSpPr>
        <p:sp>
          <p:nvSpPr>
            <p:cNvPr id="10" name="TextBox 10"/>
            <p:cNvSpPr txBox="1"/>
            <p:nvPr/>
          </p:nvSpPr>
          <p:spPr>
            <a:xfrm>
              <a:off x="525780" y="2998470"/>
              <a:ext cx="62103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被减数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566862" y="2998470"/>
              <a:ext cx="2933129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去掉第一个节点后的 m−1 阶差商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533400" y="3318510"/>
              <a:ext cx="584263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525780" y="3438525"/>
              <a:ext cx="4191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减数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566862" y="3438525"/>
              <a:ext cx="3135059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去掉最后一个节点后的 m−1 阶差商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533400" y="3758565"/>
              <a:ext cx="584263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525780" y="3878580"/>
              <a:ext cx="4191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分母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566862" y="3878580"/>
              <a:ext cx="24384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最后一个节点减第一个节点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533400" y="4198620"/>
              <a:ext cx="584263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525780" y="4318635"/>
              <a:ext cx="8229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零阶差商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1566862" y="4318635"/>
              <a:ext cx="1822514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规定 f[xᵢ] = f(xᵢ)</a:t>
              </a:r>
            </a:p>
          </p:txBody>
        </p:sp>
      </p:grpSp>
      <p:grpSp>
        <p:nvGrpSpPr>
          <p:cNvPr id="23" name="c1-text-4"/>
          <p:cNvGrpSpPr/>
          <p:nvPr/>
        </p:nvGrpSpPr>
        <p:grpSpPr>
          <a:xfrm>
            <a:off x="525780" y="4768215"/>
            <a:ext cx="3023997" cy="293370"/>
            <a:chOff x="525780" y="4768215"/>
            <a:chExt cx="3023997" cy="293370"/>
          </a:xfrm>
        </p:grpSpPr>
        <p:sp>
          <p:nvSpPr>
            <p:cNvPr id="22" name="TextBox 22"/>
            <p:cNvSpPr txBox="1"/>
            <p:nvPr/>
          </p:nvSpPr>
          <p:spPr>
            <a:xfrm>
              <a:off x="525780" y="4768215"/>
              <a:ext cx="3023997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节点取 x₀, …, xₖ 时，k 阶差商为</a:t>
              </a:r>
            </a:p>
          </p:txBody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24" name="formula126"/>
              <p:cNvSpPr txBox="1">
                <a:spLocks noGrp="1"/>
              </p:cNvSpPr>
              <p:nvPr/>
            </p:nvSpPr>
            <p:spPr>
              <a:xfrm>
                <a:off x="533400" y="5193030"/>
                <a:ext cx="5842635" cy="5143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lIns="0" tIns="0" rIns="0" bIns="0" wrap="none" anchor="ctr">
                <a:normAutofit/>
              </a:bodyPr>
              <a:lstStyle/>
              <a:p>
                <a:pPr algn="ctr"/>
                <a14:m>
                  <m:oMathPara xmlns:a="http://schemas.openxmlformats.org/drawingml/2006/main" xmlns:m="http://schemas.openxmlformats.org/officeDocument/2006/math">
                    <m:oMathParaPr>
                      <m:jc m:val="center"/>
                    </m:oMathParaPr>
                    <m:oMath>
                      <m:r>
                        <a:rPr lang="zh-CN" sz="150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f</m:t>
                      </m:r>
                      <m:d>
                        <m:dPr>
                          <m:begChr m:val="["/>
                          <m:sepChr m:val=""/>
                          <m:endChr m:val="]"/>
                          <m:grow m:val="on"/>
                          <m:ctrlPr>
                            <a:rPr lang="zh-CN" sz="15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sSub>
                            <m:e>
                              <m:r>
                                <a:rPr lang="zh-CN" sz="15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x</m:t>
                              </m:r>
                            </m:e>
                            <m:sub>
                              <m:r>
                                <a:rPr lang="zh-CN" sz="15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0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a:rPr lang="zh-CN" sz="15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,…,</m:t>
                          </m:r>
                          <m:sSub>
                            <m:e>
                              <m:r>
                                <a:rPr lang="zh-CN" sz="15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x</m:t>
                              </m:r>
                            </m:e>
                            <m:sub>
                              <m:r>
                                <a:rPr lang="zh-CN" sz="15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k</m:t>
                              </m:r>
                            </m:sub>
                          </m:sSub>
                        </m:e>
                      </m:d>
                      <m:r>
                        <m:rPr>
                          <m:sty m:val="p"/>
                        </m:rPr>
                        <a:rPr lang="zh-CN" sz="150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f>
                        <m:fPr>
                          <m:type m:val="bar"/>
                          <m:ctrlPr>
                            <a:rPr lang="zh-CN" sz="15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Pr>
                        <m:num>
                          <m:r>
                            <a:rPr lang="zh-CN" sz="15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f</m:t>
                          </m:r>
                          <m:d>
                            <m:dPr>
                              <m:begChr m:val="["/>
                              <m:sepChr m:val=""/>
                              <m:endChr m:val="]"/>
                              <m:grow m:val="on"/>
                              <m:ctrlPr>
                                <a:rPr lang="zh-CN" sz="15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sSub>
                                <m:e>
                                  <m:r>
                                    <a:rPr lang="zh-CN" sz="150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x</m:t>
                                  </m:r>
                                </m:e>
                                <m:sub>
                                  <m:r>
                                    <a:rPr lang="zh-CN" sz="150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a:rPr lang="zh-CN" sz="15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,…,</m:t>
                              </m:r>
                              <m:sSub>
                                <m:e>
                                  <m:r>
                                    <a:rPr lang="zh-CN" sz="150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x</m:t>
                                  </m:r>
                                </m:e>
                                <m:sub>
                                  <m:r>
                                    <a:rPr lang="zh-CN" sz="150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k</m:t>
                                  </m:r>
                                </m:sub>
                              </m:sSub>
                            </m:e>
                          </m:d>
                          <m:r>
                            <m:rPr>
                              <m:sty m:val="p"/>
                            </m:rPr>
                            <a:rPr lang="zh-CN" sz="15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−</m:t>
                          </m:r>
                          <m:r>
                            <a:rPr lang="zh-CN" sz="15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f</m:t>
                          </m:r>
                          <m:d>
                            <m:dPr>
                              <m:begChr m:val="["/>
                              <m:sepChr m:val=""/>
                              <m:endChr m:val="]"/>
                              <m:grow m:val="on"/>
                              <m:ctrlPr>
                                <a:rPr lang="zh-CN" sz="15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sSub>
                                <m:e>
                                  <m:r>
                                    <a:rPr lang="zh-CN" sz="150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x</m:t>
                                  </m:r>
                                </m:e>
                                <m:sub>
                                  <m:r>
                                    <a:rPr lang="zh-CN" sz="150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0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a:rPr lang="zh-CN" sz="15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,…,</m:t>
                              </m:r>
                              <m:sSub>
                                <m:e>
                                  <m:r>
                                    <a:rPr lang="zh-CN" sz="150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x</m:t>
                                  </m:r>
                                </m:e>
                                <m:sub>
                                  <m:r>
                                    <a:rPr lang="zh-CN" sz="150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k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zh-CN" sz="150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−</m:t>
                                  </m:r>
                                  <m:r>
                                    <a:rPr lang="zh-CN" sz="150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d>
                        </m:num>
                        <m:den>
                          <m:sSub>
                            <m:e>
                              <m:r>
                                <a:rPr lang="zh-CN" sz="15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x</m:t>
                              </m:r>
                            </m:e>
                            <m:sub>
                              <m:r>
                                <a:rPr lang="zh-CN" sz="15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k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a:rPr lang="zh-CN" sz="15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−</m:t>
                          </m:r>
                          <m:sSub>
                            <m:e>
                              <m:r>
                                <a:rPr lang="zh-CN" sz="15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x</m:t>
                              </m:r>
                            </m:e>
                            <m:sub>
                              <m:r>
                                <a:rPr lang="zh-CN" sz="15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0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</p:txBody>
          </p:sp>
        </mc:Choice>
      </mc:AlternateContent>
      <p:grpSp>
        <p:nvGrpSpPr>
          <p:cNvPr id="39" name="c2-card-1"/>
          <p:cNvGrpSpPr/>
          <p:nvPr/>
        </p:nvGrpSpPr>
        <p:grpSpPr>
          <a:xfrm>
            <a:off x="6680835" y="1524000"/>
            <a:ext cx="4977765" cy="2872740"/>
            <a:chOff x="6680835" y="1524000"/>
            <a:chExt cx="4977765" cy="2872740"/>
          </a:xfrm>
        </p:grpSpPr>
        <p:sp>
          <p:nvSpPr>
            <p:cNvPr id="25" name="Rectangle 25"/>
            <p:cNvSpPr/>
            <p:nvPr/>
          </p:nvSpPr>
          <p:spPr>
            <a:xfrm>
              <a:off x="6680835" y="1524000"/>
              <a:ext cx="4977765" cy="2872740"/>
            </a:xfrm>
            <a:prstGeom prst="roundRect">
              <a:avLst>
                <a:gd name="adj" fmla="val 4642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26" name="Rectangle 26"/>
            <p:cNvSpPr/>
            <p:nvPr/>
          </p:nvSpPr>
          <p:spPr>
            <a:xfrm>
              <a:off x="6690360" y="1657350"/>
              <a:ext cx="47625" cy="2606040"/>
            </a:xfrm>
            <a:prstGeom prst="roundRect">
              <a:avLst>
                <a:gd name="adj" fmla="val 50000"/>
              </a:avLst>
            </a:prstGeom>
            <a:solidFill>
              <a:srgbClr val="14A38B"/>
            </a:solidFill>
            <a:ln>
              <a:noFill/>
            </a:ln>
          </p:spPr>
        </p:sp>
        <p:sp>
          <p:nvSpPr>
            <p:cNvPr id="27" name="Rectangle 27"/>
            <p:cNvSpPr/>
            <p:nvPr/>
          </p:nvSpPr>
          <p:spPr>
            <a:xfrm>
              <a:off x="6928485" y="1733550"/>
              <a:ext cx="636270" cy="257175"/>
            </a:xfrm>
            <a:prstGeom prst="roundRect">
              <a:avLst>
                <a:gd name="adj" fmla="val 50000"/>
              </a:avLst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7014743" y="1769269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小例子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7671435" y="1768792"/>
              <a:ext cx="263528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f(x) = x³，节点 0, 1, 2, 3</a:t>
              </a:r>
            </a:p>
          </p:txBody>
        </p:sp>
        <p:sp>
          <p:nvSpPr>
            <p:cNvPr id="30" name="Ellipse 30"/>
            <p:cNvSpPr/>
            <p:nvPr/>
          </p:nvSpPr>
          <p:spPr>
            <a:xfrm>
              <a:off x="6934200" y="2192655"/>
              <a:ext cx="64770" cy="6477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092315" y="2129790"/>
              <a:ext cx="203454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零阶：f = 0, 1, 8, 27</a:t>
              </a:r>
            </a:p>
          </p:txBody>
        </p:sp>
        <p:sp>
          <p:nvSpPr>
            <p:cNvPr id="32" name="Ellipse 32"/>
            <p:cNvSpPr/>
            <p:nvPr/>
          </p:nvSpPr>
          <p:spPr>
            <a:xfrm>
              <a:off x="6934200" y="2527935"/>
              <a:ext cx="64770" cy="6477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092315" y="2465070"/>
              <a:ext cx="416490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一阶：f[0,1] = 1，f[1,2] = 7，f[2,3] = 19</a:t>
              </a:r>
            </a:p>
          </p:txBody>
        </p:sp>
        <p:sp>
          <p:nvSpPr>
            <p:cNvPr id="34" name="Ellipse 34"/>
            <p:cNvSpPr/>
            <p:nvPr/>
          </p:nvSpPr>
          <p:spPr>
            <a:xfrm>
              <a:off x="6934200" y="2863215"/>
              <a:ext cx="64770" cy="6477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7092315" y="2800350"/>
              <a:ext cx="353949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二阶：f[0,1,2] = (7 − 1)/(2 − 0) = 3，</a:t>
              </a:r>
              <a:br/>
              <a:r>
                <a:rPr lang="en-US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f[1,2,3] = (19 − 7)/(3 − 1) = 6</a:t>
              </a:r>
            </a:p>
          </p:txBody>
        </p:sp>
        <p:sp>
          <p:nvSpPr>
            <p:cNvPr id="36" name="Ellipse 36"/>
            <p:cNvSpPr/>
            <p:nvPr/>
          </p:nvSpPr>
          <p:spPr>
            <a:xfrm>
              <a:off x="6934200" y="3484245"/>
              <a:ext cx="64770" cy="6477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7092315" y="3421380"/>
              <a:ext cx="3771138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三阶：f[0,1,2,3] = (6 − 3)/(3 − 0) = 1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6922008" y="3753326"/>
              <a:ext cx="3938778" cy="483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45"/>
                </a:lnSpc>
              </a:pPr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三阶差商 1 恰好是 x³ 的首项系数，也等于 f‴(ξ)/3! =</a:t>
              </a:r>
              <a:br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6/6。</a:t>
              </a:r>
            </a:p>
          </p:txBody>
        </p:sp>
      </p:grpSp>
      <p:grpSp>
        <p:nvGrpSpPr>
          <p:cNvPr id="46" name="c2-callout-2"/>
          <p:cNvGrpSpPr/>
          <p:nvPr/>
        </p:nvGrpSpPr>
        <p:grpSpPr>
          <a:xfrm>
            <a:off x="6680835" y="4587240"/>
            <a:ext cx="4977765" cy="782955"/>
            <a:chOff x="6680835" y="4587240"/>
            <a:chExt cx="4977765" cy="782955"/>
          </a:xfrm>
        </p:grpSpPr>
        <p:sp>
          <p:nvSpPr>
            <p:cNvPr id="40" name="Rectangle 40"/>
            <p:cNvSpPr/>
            <p:nvPr/>
          </p:nvSpPr>
          <p:spPr>
            <a:xfrm>
              <a:off x="6680835" y="4587240"/>
              <a:ext cx="4977765" cy="782955"/>
            </a:xfrm>
            <a:prstGeom prst="roundRect">
              <a:avLst>
                <a:gd name="adj" fmla="val 14599"/>
              </a:avLst>
            </a:prstGeom>
            <a:solidFill>
              <a:srgbClr val="FDECEA"/>
            </a:solidFill>
            <a:ln>
              <a:noFill/>
            </a:ln>
          </p:spPr>
        </p:sp>
        <p:grpSp>
          <p:nvGrpSpPr>
            <p:cNvPr id="44" name="Group 44"/>
            <p:cNvGrpSpPr/>
            <p:nvPr/>
          </p:nvGrpSpPr>
          <p:grpSpPr>
            <a:xfrm>
              <a:off x="6873564" y="4875013"/>
              <a:ext cx="224134" cy="192560"/>
              <a:chOff x="6873564" y="4875013"/>
              <a:chExt cx="224134" cy="192560"/>
            </a:xfrm>
          </p:grpSpPr>
          <p:sp>
            <p:nvSpPr>
              <p:cNvPr id="41" name="Freeform 41"/>
              <p:cNvSpPr/>
              <p:nvPr/>
            </p:nvSpPr>
            <p:spPr>
              <a:xfrm>
                <a:off x="6985635" y="4945380"/>
                <a:ext cx="95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44450">
                    <a:moveTo>
                      <a:pt x="0" y="0"/>
                    </a:moveTo>
                    <a:lnTo>
                      <a:pt x="0" y="4445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42" name="Freeform 42"/>
              <p:cNvSpPr/>
              <p:nvPr/>
            </p:nvSpPr>
            <p:spPr>
              <a:xfrm>
                <a:off x="6873564" y="4875013"/>
                <a:ext cx="224134" cy="192560"/>
              </a:xfrm>
              <a:custGeom>
                <a:avLst/>
                <a:gdLst/>
                <a:ahLst/>
                <a:cxnLst/>
                <a:rect l="l" t="t" r="r" b="b"/>
                <a:pathLst>
                  <a:path w="224134" h="192560">
                    <a:moveTo>
                      <a:pt x="93880" y="10259"/>
                    </a:moveTo>
                    <a:lnTo>
                      <a:pt x="3802" y="160656"/>
                    </a:lnTo>
                    <a:cubicBezTo>
                      <a:pt x="23" y="167200"/>
                      <a:pt x="0" y="175257"/>
                      <a:pt x="3741" y="181823"/>
                    </a:cubicBezTo>
                    <a:cubicBezTo>
                      <a:pt x="7482" y="188388"/>
                      <a:pt x="14426" y="192476"/>
                      <a:pt x="21982" y="192560"/>
                    </a:cubicBezTo>
                    <a:lnTo>
                      <a:pt x="202160" y="192560"/>
                    </a:lnTo>
                    <a:cubicBezTo>
                      <a:pt x="209713" y="192473"/>
                      <a:pt x="216653" y="188387"/>
                      <a:pt x="220393" y="181826"/>
                    </a:cubicBezTo>
                    <a:cubicBezTo>
                      <a:pt x="224134" y="175264"/>
                      <a:pt x="224114" y="167211"/>
                      <a:pt x="220341" y="160667"/>
                    </a:cubicBezTo>
                    <a:lnTo>
                      <a:pt x="130262" y="10248"/>
                    </a:lnTo>
                    <a:cubicBezTo>
                      <a:pt x="126408" y="3886"/>
                      <a:pt x="119510" y="0"/>
                      <a:pt x="112071" y="0"/>
                    </a:cubicBezTo>
                    <a:cubicBezTo>
                      <a:pt x="104633" y="0"/>
                      <a:pt x="97734" y="3886"/>
                      <a:pt x="93880" y="10248"/>
                    </a:cubicBez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43" name="Freeform 43"/>
              <p:cNvSpPr/>
              <p:nvPr/>
            </p:nvSpPr>
            <p:spPr>
              <a:xfrm>
                <a:off x="6985635" y="5023168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</p:grpSp>
        <p:sp>
          <p:nvSpPr>
            <p:cNvPr id="45" name="TextBox 45"/>
            <p:cNvSpPr txBox="1"/>
            <p:nvPr/>
          </p:nvSpPr>
          <p:spPr>
            <a:xfrm>
              <a:off x="7187565" y="4735830"/>
              <a:ext cx="4015740" cy="5695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易错：分母是两端节点之差。算 f[1,2,3] 时除</a:t>
              </a:r>
              <a:br/>
              <a:r>
                <a:rPr lang="zh-CN" sz="150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以 3 − 1 = 2，不是相邻节点之差 1。</a:t>
              </a:r>
            </a:p>
          </p:txBody>
        </p:sp>
      </p:grpSp>
      <p:grpSp>
        <p:nvGrpSpPr>
          <p:cNvPr id="49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47" name="TextBox 47"/>
            <p:cNvSpPr txBox="1"/>
            <p:nvPr/>
          </p:nvSpPr>
          <p:spPr>
            <a:xfrm>
              <a:off x="528447" y="6581299"/>
              <a:ext cx="225267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计算方法 · 第5章 函数插值与曲线拟合</a:t>
              </a: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23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7921371" cy="909257"/>
            <a:chOff x="520446" y="342900"/>
            <a:chExt cx="7921371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1987868" cy="266700"/>
            </a:xfrm>
            <a:prstGeom prst="roundRect">
              <a:avLst>
                <a:gd name="adj" fmla="val 50000"/>
              </a:avLst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08957" y="407194"/>
              <a:ext cx="183580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第5章 函数插值 · 牛顿插值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7921371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差商的三条性质：线性组合、对称性、与导数的关系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E7D4F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4" name="c1-card-1"/>
          <p:cNvGrpSpPr/>
          <p:nvPr/>
        </p:nvGrpSpPr>
        <p:grpSpPr>
          <a:xfrm>
            <a:off x="533400" y="1524000"/>
            <a:ext cx="5842635" cy="1403985"/>
            <a:chOff x="533400" y="1524000"/>
            <a:chExt cx="5842635" cy="1403985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842635" cy="1403985"/>
            </a:xfrm>
            <a:prstGeom prst="roundRect">
              <a:avLst>
                <a:gd name="adj" fmla="val 9498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542925" y="1657350"/>
              <a:ext cx="47625" cy="1137285"/>
            </a:xfrm>
            <a:prstGeom prst="roundRect">
              <a:avLst>
                <a:gd name="adj" fmla="val 50000"/>
              </a:avLst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58190" y="1710690"/>
              <a:ext cx="569595" cy="238125"/>
            </a:xfrm>
            <a:prstGeom prst="roundRect">
              <a:avLst>
                <a:gd name="adj" fmla="val 50000"/>
              </a:avLst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847234" y="1743551"/>
              <a:ext cx="391507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性质 1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435227" y="1745932"/>
              <a:ext cx="395013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k 阶差商是函数值 f(x₀), …, f(xₖ) 的线性组合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2" name="formula136"/>
                <p:cNvSpPr txBox="1">
                  <a:spLocks noGrp="1"/>
                </p:cNvSpPr>
                <p:nvPr/>
              </p:nvSpPr>
              <p:spPr>
                <a:xfrm>
                  <a:off x="758190" y="2049780"/>
                  <a:ext cx="5431155" cy="413385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lIns="0" tIns="0" rIns="0" bIns="0" wrap="none" anchor="ctr">
                  <a:normAutofit/>
                </a:bodyPr>
                <a:lstStyle/>
                <a:p>
                  <a:pPr algn="ctr"/>
                  <a14:m>
                    <m:oMathPara xmlns:a="http://schemas.openxmlformats.org/drawingml/2006/main" xmlns:m="http://schemas.openxmlformats.org/officeDocument/2006/math">
                      <m:oMathParaPr>
                        <m:jc m:val="center"/>
                      </m:oMathParaPr>
                      <m:oMath>
                        <m:r>
                          <a:rPr lang="zh-CN" sz="10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f</m:t>
                        </m:r>
                        <m:d>
                          <m:dPr>
                            <m:begChr m:val="["/>
                            <m:sepChr m:val=""/>
                            <m:endChr m:val="]"/>
                            <m:grow m:val="on"/>
                            <m:ctrlPr>
                              <a:rPr lang="zh-CN" sz="10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sSub>
                              <m:e>
                                <m:r>
                                  <a:rPr lang="zh-CN" sz="10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x</m:t>
                                </m:r>
                              </m:e>
                              <m:sub>
                                <m:r>
                                  <a:rPr lang="zh-CN" sz="10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0</m:t>
                                </m:r>
                              </m:sub>
                            </m:sSub>
                            <m:r>
                              <m:rPr>
                                <m:sty m:val="p"/>
                              </m:rPr>
                              <a:rPr lang="zh-CN" sz="10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,…,</m:t>
                            </m:r>
                            <m:sSub>
                              <m:e>
                                <m:r>
                                  <a:rPr lang="zh-CN" sz="10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x</m:t>
                                </m:r>
                              </m:e>
                              <m:sub>
                                <m:r>
                                  <a:rPr lang="zh-CN" sz="10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k</m:t>
                                </m:r>
                              </m:sub>
                            </m:sSub>
                          </m:e>
                        </m:d>
                        <m:r>
                          <m:rPr>
                            <m:sty m:val="p"/>
                          </m:rPr>
                          <a:rPr lang="zh-CN" sz="10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=</m:t>
                        </m:r>
                        <m:nary>
                          <m:naryPr>
                            <m:chr m:val="∑"/>
                            <m:limLoc m:val="undOvr"/>
                            <m:grow m:val="off"/>
                            <m:subHide m:val="off"/>
                            <m:supHide m:val="off"/>
                            <m:ctrlPr>
                              <a:rPr lang="zh-CN" sz="10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naryPr>
                          <m:sub>
                            <m:r>
                              <a:rPr lang="zh-CN" sz="10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j</m:t>
                            </m:r>
                            <m:r>
                              <m:rPr>
                                <m:sty m:val="p"/>
                              </m:rPr>
                              <a:rPr lang="zh-CN" sz="10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=</m:t>
                            </m:r>
                            <m:r>
                              <a:rPr lang="zh-CN" sz="10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0</m:t>
                            </m:r>
                          </m:sub>
                          <m:sup>
                            <m:r>
                              <a:rPr lang="zh-CN" sz="10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k</m:t>
                            </m:r>
                          </m:sup>
                          <m:e>
                            <m:f>
                              <m:fPr>
                                <m:type m:val="bar"/>
                                <m:ctrlPr>
                                  <a:rPr lang="zh-CN" sz="10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</m:ctrlPr>
                              </m:fPr>
                              <m:num>
                                <m:r>
                                  <a:rPr lang="zh-CN" sz="10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f</m:t>
                                </m:r>
                                <m:d>
                                  <m:dPr>
                                    <m:begChr m:val="("/>
                                    <m:sepChr m:val=""/>
                                    <m:endChr m:val=")"/>
                                    <m:grow m:val="on"/>
                                    <m:ctrlPr>
                                      <a:rPr lang="zh-CN" sz="105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dPr>
                                  <m:e>
                                    <m:sSub>
                                      <m:e>
                                        <m:r>
                                          <a:rPr lang="zh-CN" sz="1050" dirty="0">
                                            <a:solidFill>
                                              <a:srgbClr val="1F2937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  <m:t>x</m:t>
                                        </m:r>
                                      </m:e>
                                      <m:sub>
                                        <m:r>
                                          <a:rPr lang="zh-CN" sz="1050" dirty="0">
                                            <a:solidFill>
                                              <a:srgbClr val="1F2937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  <m:t>j</m:t>
                                        </m:r>
                                      </m:sub>
                                    </m:sSub>
                                  </m:e>
                                </m:d>
                              </m:num>
                              <m:den>
                                <m:d>
                                  <m:dPr>
                                    <m:begChr m:val="("/>
                                    <m:sepChr m:val=""/>
                                    <m:endChr m:val=")"/>
                                    <m:grow m:val="on"/>
                                    <m:ctrlPr>
                                      <a:rPr lang="zh-CN" sz="105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dPr>
                                  <m:e>
                                    <m:sSub>
                                      <m:e>
                                        <m:r>
                                          <a:rPr lang="zh-CN" sz="1050" dirty="0">
                                            <a:solidFill>
                                              <a:srgbClr val="1F2937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  <m:t>x</m:t>
                                        </m:r>
                                      </m:e>
                                      <m:sub>
                                        <m:r>
                                          <a:rPr lang="zh-CN" sz="1050" dirty="0">
                                            <a:solidFill>
                                              <a:srgbClr val="1F2937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  <m:t>j</m:t>
                                        </m:r>
                                      </m:sub>
                                    </m:sSub>
                                    <m:r>
                                      <m:rPr>
                                        <m:sty m:val="p"/>
                                      </m:rPr>
                                      <a:rPr lang="zh-CN" sz="105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−</m:t>
                                    </m:r>
                                    <m:sSub>
                                      <m:e>
                                        <m:r>
                                          <a:rPr lang="zh-CN" sz="1050" dirty="0">
                                            <a:solidFill>
                                              <a:srgbClr val="1F2937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  <m:t>x</m:t>
                                        </m:r>
                                      </m:e>
                                      <m:sub>
                                        <m:r>
                                          <a:rPr lang="zh-CN" sz="1050" dirty="0">
                                            <a:solidFill>
                                              <a:srgbClr val="1F2937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  <m:t>0</m:t>
                                        </m:r>
                                      </m:sub>
                                    </m:sSub>
                                  </m:e>
                                </m:d>
                                <m:r>
                                  <m:rPr>
                                    <m:sty m:val="p"/>
                                  </m:rPr>
                                  <a:rPr lang="zh-CN" sz="10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⋯</m:t>
                                </m:r>
                                <m:d>
                                  <m:dPr>
                                    <m:begChr m:val="("/>
                                    <m:sepChr m:val=""/>
                                    <m:endChr m:val=")"/>
                                    <m:grow m:val="on"/>
                                    <m:ctrlPr>
                                      <a:rPr lang="zh-CN" sz="105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dPr>
                                  <m:e>
                                    <m:sSub>
                                      <m:e>
                                        <m:r>
                                          <a:rPr lang="zh-CN" sz="1050" dirty="0">
                                            <a:solidFill>
                                              <a:srgbClr val="1F2937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  <m:t>x</m:t>
                                        </m:r>
                                      </m:e>
                                      <m:sub>
                                        <m:r>
                                          <a:rPr lang="zh-CN" sz="1050" dirty="0">
                                            <a:solidFill>
                                              <a:srgbClr val="1F2937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  <m:t>j</m:t>
                                        </m:r>
                                      </m:sub>
                                    </m:sSub>
                                    <m:r>
                                      <m:rPr>
                                        <m:sty m:val="p"/>
                                      </m:rPr>
                                      <a:rPr lang="zh-CN" sz="105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−</m:t>
                                    </m:r>
                                    <m:sSub>
                                      <m:e>
                                        <m:r>
                                          <a:rPr lang="zh-CN" sz="1050" dirty="0">
                                            <a:solidFill>
                                              <a:srgbClr val="1F2937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  <m:t>x</m:t>
                                        </m:r>
                                      </m:e>
                                      <m:sub>
                                        <m:r>
                                          <a:rPr lang="zh-CN" sz="1050" dirty="0">
                                            <a:solidFill>
                                              <a:srgbClr val="1F2937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  <m:t>j</m:t>
                                        </m:r>
                                        <m:r>
                                          <m:rPr>
                                            <m:sty m:val="p"/>
                                          </m:rPr>
                                          <a:rPr lang="zh-CN" sz="1050" dirty="0">
                                            <a:solidFill>
                                              <a:srgbClr val="1F2937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  <m:t>−</m:t>
                                        </m:r>
                                        <m:r>
                                          <a:rPr lang="zh-CN" sz="1050" dirty="0">
                                            <a:solidFill>
                                              <a:srgbClr val="1F2937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</m:e>
                                </m:d>
                                <m:d>
                                  <m:dPr>
                                    <m:begChr m:val="("/>
                                    <m:sepChr m:val=""/>
                                    <m:endChr m:val=")"/>
                                    <m:grow m:val="on"/>
                                    <m:ctrlPr>
                                      <a:rPr lang="zh-CN" sz="105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dPr>
                                  <m:e>
                                    <m:sSub>
                                      <m:e>
                                        <m:r>
                                          <a:rPr lang="zh-CN" sz="1050" dirty="0">
                                            <a:solidFill>
                                              <a:srgbClr val="1F2937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  <m:t>x</m:t>
                                        </m:r>
                                      </m:e>
                                      <m:sub>
                                        <m:r>
                                          <a:rPr lang="zh-CN" sz="1050" dirty="0">
                                            <a:solidFill>
                                              <a:srgbClr val="1F2937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  <m:t>j</m:t>
                                        </m:r>
                                      </m:sub>
                                    </m:sSub>
                                    <m:r>
                                      <m:rPr>
                                        <m:sty m:val="p"/>
                                      </m:rPr>
                                      <a:rPr lang="zh-CN" sz="105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−</m:t>
                                    </m:r>
                                    <m:sSub>
                                      <m:e>
                                        <m:r>
                                          <a:rPr lang="zh-CN" sz="1050" dirty="0">
                                            <a:solidFill>
                                              <a:srgbClr val="1F2937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  <m:t>x</m:t>
                                        </m:r>
                                      </m:e>
                                      <m:sub>
                                        <m:r>
                                          <a:rPr lang="zh-CN" sz="1050" dirty="0">
                                            <a:solidFill>
                                              <a:srgbClr val="1F2937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  <m:t>j</m:t>
                                        </m:r>
                                        <m:r>
                                          <m:rPr>
                                            <m:sty m:val="p"/>
                                          </m:rPr>
                                          <a:rPr lang="zh-CN" sz="1050" dirty="0">
                                            <a:solidFill>
                                              <a:srgbClr val="1F2937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  <m:t>+</m:t>
                                        </m:r>
                                        <m:r>
                                          <a:rPr lang="zh-CN" sz="1050" dirty="0">
                                            <a:solidFill>
                                              <a:srgbClr val="1F2937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</m:e>
                                </m:d>
                                <m:r>
                                  <m:rPr>
                                    <m:sty m:val="p"/>
                                  </m:rPr>
                                  <a:rPr lang="zh-CN" sz="10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⋯</m:t>
                                </m:r>
                                <m:d>
                                  <m:dPr>
                                    <m:begChr m:val="("/>
                                    <m:sepChr m:val=""/>
                                    <m:endChr m:val=")"/>
                                    <m:grow m:val="on"/>
                                    <m:ctrlPr>
                                      <a:rPr lang="zh-CN" sz="105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dPr>
                                  <m:e>
                                    <m:sSub>
                                      <m:e>
                                        <m:r>
                                          <a:rPr lang="zh-CN" sz="1050" dirty="0">
                                            <a:solidFill>
                                              <a:srgbClr val="1F2937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  <m:t>x</m:t>
                                        </m:r>
                                      </m:e>
                                      <m:sub>
                                        <m:r>
                                          <a:rPr lang="zh-CN" sz="1050" dirty="0">
                                            <a:solidFill>
                                              <a:srgbClr val="1F2937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  <m:t>j</m:t>
                                        </m:r>
                                      </m:sub>
                                    </m:sSub>
                                    <m:r>
                                      <m:rPr>
                                        <m:sty m:val="p"/>
                                      </m:rPr>
                                      <a:rPr lang="zh-CN" sz="105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−</m:t>
                                    </m:r>
                                    <m:sSub>
                                      <m:e>
                                        <m:r>
                                          <a:rPr lang="zh-CN" sz="1050" dirty="0">
                                            <a:solidFill>
                                              <a:srgbClr val="1F2937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  <m:t>x</m:t>
                                        </m:r>
                                      </m:e>
                                      <m:sub>
                                        <m:r>
                                          <a:rPr lang="zh-CN" sz="1050" dirty="0">
                                            <a:solidFill>
                                              <a:srgbClr val="1F2937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  <m:t>k</m:t>
                                        </m:r>
                                      </m:sub>
                                    </m:sSub>
                                  </m:e>
                                </m:d>
                              </m:den>
                            </m:f>
                            <m:r>
                              <a:rPr lang="zh-CN" sz="10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 xml:space="preserve"> 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 m:val="on"/>
                                <m:ctrlPr>
                                  <a:rPr lang="zh-CN" sz="10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</m:ctrlPr>
                              </m:dPr>
                              <m:e>
                                <m:r>
                                  <a:rPr lang="zh-CN" sz="10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5.3.4</m:t>
                                </m:r>
                              </m:e>
                            </m:d>
                          </m:e>
                        </m:nary>
                      </m:oMath>
                    </m:oMathPara>
                  </a14:m>
                </a:p>
              </p:txBody>
            </p:sp>
          </mc:Choice>
        </mc:AlternateContent>
        <p:sp>
          <p:nvSpPr>
            <p:cNvPr id="13" name="TextBox 13"/>
            <p:cNvSpPr txBox="1"/>
            <p:nvPr/>
          </p:nvSpPr>
          <p:spPr>
            <a:xfrm>
              <a:off x="752475" y="2565559"/>
              <a:ext cx="385617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例：f[x₀, x₁] = f(x₀)/(x₀ − x₁) + f(x₁)/(x₁ − x₀)。</a:t>
              </a:r>
            </a:p>
          </p:txBody>
        </p:sp>
      </p:grpSp>
      <p:grpSp>
        <p:nvGrpSpPr>
          <p:cNvPr id="22" name="c1-card-2"/>
          <p:cNvGrpSpPr/>
          <p:nvPr/>
        </p:nvGrpSpPr>
        <p:grpSpPr>
          <a:xfrm>
            <a:off x="533400" y="3097530"/>
            <a:ext cx="5842635" cy="3023235"/>
            <a:chOff x="533400" y="3097530"/>
            <a:chExt cx="5842635" cy="3023235"/>
          </a:xfrm>
        </p:grpSpPr>
        <p:sp>
          <p:nvSpPr>
            <p:cNvPr id="15" name="Rectangle 15"/>
            <p:cNvSpPr/>
            <p:nvPr/>
          </p:nvSpPr>
          <p:spPr>
            <a:xfrm>
              <a:off x="533400" y="3097530"/>
              <a:ext cx="5842635" cy="3023235"/>
            </a:xfrm>
            <a:prstGeom prst="roundRect">
              <a:avLst>
                <a:gd name="adj" fmla="val 4411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542925" y="3230880"/>
              <a:ext cx="47625" cy="2756535"/>
            </a:xfrm>
            <a:prstGeom prst="roundRect">
              <a:avLst>
                <a:gd name="adj" fmla="val 50000"/>
              </a:avLst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58190" y="3284220"/>
              <a:ext cx="569595" cy="238125"/>
            </a:xfrm>
            <a:prstGeom prst="roundRect">
              <a:avLst>
                <a:gd name="adj" fmla="val 50000"/>
              </a:avLst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47234" y="3317081"/>
              <a:ext cx="391507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性质 2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1435227" y="3319462"/>
              <a:ext cx="346671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对称性：任意交换节点的次序，差商值不变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0" name="formula137"/>
                <p:cNvSpPr txBox="1">
                  <a:spLocks noGrp="1"/>
                </p:cNvSpPr>
                <p:nvPr/>
              </p:nvSpPr>
              <p:spPr>
                <a:xfrm>
                  <a:off x="758190" y="3623310"/>
                  <a:ext cx="5431155" cy="3048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lIns="0" tIns="0" rIns="0" bIns="0" wrap="none" anchor="ctr">
                  <a:normAutofit/>
                </a:bodyPr>
                <a:lstStyle/>
                <a:p>
                  <a:pPr algn="ctr"/>
                  <a14:m>
                    <m:oMathPara xmlns:a="http://schemas.openxmlformats.org/drawingml/2006/main" xmlns:m="http://schemas.openxmlformats.org/officeDocument/2006/math">
                      <m:oMathParaPr>
                        <m:jc m:val="center"/>
                      </m:oMathParaPr>
                      <m:oMath>
                        <m:r>
                          <a:rPr lang="zh-CN" sz="120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f</m:t>
                        </m:r>
                        <m:d>
                          <m:dPr>
                            <m:begChr m:val="["/>
                            <m:sepChr m:val=""/>
                            <m:endChr m:val="]"/>
                            <m:grow m:val="on"/>
                            <m:ctrlPr>
                              <a:rPr lang="zh-CN" sz="12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sSub>
                              <m:e>
                                <m:r>
                                  <a:rPr lang="zh-CN" sz="12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x</m:t>
                                </m:r>
                              </m:e>
                              <m:sub>
                                <m:r>
                                  <a:rPr lang="zh-CN" sz="12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0</m:t>
                                </m:r>
                              </m:sub>
                            </m:sSub>
                            <m:r>
                              <m:rPr>
                                <m:sty m:val="p"/>
                              </m:rPr>
                              <a:rPr lang="zh-CN" sz="12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,</m:t>
                            </m:r>
                            <m:sSub>
                              <m:e>
                                <m:r>
                                  <a:rPr lang="zh-CN" sz="12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x</m:t>
                                </m:r>
                              </m:e>
                              <m:sub>
                                <m:r>
                                  <a:rPr lang="zh-CN" sz="12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1</m:t>
                                </m:r>
                              </m:sub>
                            </m:sSub>
                            <m:r>
                              <m:rPr>
                                <m:sty m:val="p"/>
                              </m:rPr>
                              <a:rPr lang="zh-CN" sz="12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,…,</m:t>
                            </m:r>
                            <m:sSub>
                              <m:e>
                                <m:r>
                                  <a:rPr lang="zh-CN" sz="12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x</m:t>
                                </m:r>
                              </m:e>
                              <m:sub>
                                <m:r>
                                  <a:rPr lang="zh-CN" sz="12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k</m:t>
                                </m:r>
                              </m:sub>
                            </m:sSub>
                          </m:e>
                        </m:d>
                        <m:r>
                          <m:rPr>
                            <m:sty m:val="p"/>
                          </m:rPr>
                          <a:rPr lang="zh-CN" sz="120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=</m:t>
                        </m:r>
                        <m:r>
                          <a:rPr lang="zh-CN" sz="120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f</m:t>
                        </m:r>
                        <m:d>
                          <m:dPr>
                            <m:begChr m:val="["/>
                            <m:sepChr m:val=""/>
                            <m:endChr m:val="]"/>
                            <m:grow m:val="on"/>
                            <m:ctrlPr>
                              <a:rPr lang="zh-CN" sz="12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sSub>
                              <m:e>
                                <m:r>
                                  <a:rPr lang="zh-CN" sz="12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x</m:t>
                                </m:r>
                              </m:e>
                              <m:sub>
                                <m:r>
                                  <a:rPr lang="zh-CN" sz="12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1</m:t>
                                </m:r>
                              </m:sub>
                            </m:sSub>
                            <m:r>
                              <m:rPr>
                                <m:sty m:val="p"/>
                              </m:rPr>
                              <a:rPr lang="zh-CN" sz="12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,</m:t>
                            </m:r>
                            <m:sSub>
                              <m:e>
                                <m:r>
                                  <a:rPr lang="zh-CN" sz="12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x</m:t>
                                </m:r>
                              </m:e>
                              <m:sub>
                                <m:r>
                                  <a:rPr lang="zh-CN" sz="12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0</m:t>
                                </m:r>
                              </m:sub>
                            </m:sSub>
                            <m:r>
                              <m:rPr>
                                <m:sty m:val="p"/>
                              </m:rPr>
                              <a:rPr lang="zh-CN" sz="12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,</m:t>
                            </m:r>
                            <m:sSub>
                              <m:e>
                                <m:r>
                                  <a:rPr lang="zh-CN" sz="12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x</m:t>
                                </m:r>
                              </m:e>
                              <m:sub>
                                <m:r>
                                  <a:rPr lang="zh-CN" sz="12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2</m:t>
                                </m:r>
                              </m:sub>
                            </m:sSub>
                            <m:r>
                              <m:rPr>
                                <m:sty m:val="p"/>
                              </m:rPr>
                              <a:rPr lang="zh-CN" sz="12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,…,</m:t>
                            </m:r>
                            <m:sSub>
                              <m:e>
                                <m:r>
                                  <a:rPr lang="zh-CN" sz="12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x</m:t>
                                </m:r>
                              </m:e>
                              <m:sub>
                                <m:r>
                                  <a:rPr lang="zh-CN" sz="12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k</m:t>
                                </m:r>
                              </m:sub>
                            </m:sSub>
                          </m:e>
                        </m:d>
                        <m:r>
                          <m:rPr>
                            <m:sty m:val="p"/>
                          </m:rPr>
                          <a:rPr lang="zh-CN" sz="120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=</m:t>
                        </m:r>
                        <m:r>
                          <a:rPr lang="zh-CN" sz="120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f</m:t>
                        </m:r>
                        <m:d>
                          <m:dPr>
                            <m:begChr m:val="["/>
                            <m:sepChr m:val=""/>
                            <m:endChr m:val="]"/>
                            <m:grow m:val="on"/>
                            <m:ctrlPr>
                              <a:rPr lang="zh-CN" sz="12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sSub>
                              <m:e>
                                <m:r>
                                  <a:rPr lang="zh-CN" sz="12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x</m:t>
                                </m:r>
                              </m:e>
                              <m:sub>
                                <m:r>
                                  <a:rPr lang="zh-CN" sz="12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1</m:t>
                                </m:r>
                              </m:sub>
                            </m:sSub>
                            <m:r>
                              <m:rPr>
                                <m:sty m:val="p"/>
                              </m:rPr>
                              <a:rPr lang="zh-CN" sz="12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,</m:t>
                            </m:r>
                            <m:sSub>
                              <m:e>
                                <m:r>
                                  <a:rPr lang="zh-CN" sz="12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x</m:t>
                                </m:r>
                              </m:e>
                              <m:sub>
                                <m:r>
                                  <a:rPr lang="zh-CN" sz="12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2</m:t>
                                </m:r>
                              </m:sub>
                            </m:sSub>
                            <m:r>
                              <m:rPr>
                                <m:sty m:val="p"/>
                              </m:rPr>
                              <a:rPr lang="zh-CN" sz="12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,…,</m:t>
                            </m:r>
                            <m:sSub>
                              <m:e>
                                <m:r>
                                  <a:rPr lang="zh-CN" sz="12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x</m:t>
                                </m:r>
                              </m:e>
                              <m:sub>
                                <m:r>
                                  <a:rPr lang="zh-CN" sz="12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k</m:t>
                                </m:r>
                              </m:sub>
                            </m:sSub>
                            <m:r>
                              <m:rPr>
                                <m:sty m:val="p"/>
                              </m:rPr>
                              <a:rPr lang="zh-CN" sz="12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,</m:t>
                            </m:r>
                            <m:sSub>
                              <m:e>
                                <m:r>
                                  <a:rPr lang="zh-CN" sz="12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x</m:t>
                                </m:r>
                              </m:e>
                              <m:sub>
                                <m:r>
                                  <a:rPr lang="zh-CN" sz="12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0</m:t>
                                </m:r>
                              </m:sub>
                            </m:sSub>
                          </m:e>
                        </m:d>
                        <m:r>
                          <a:rPr lang="zh-CN" sz="120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 xml:space="preserve"> </m:t>
                        </m:r>
                        <m:d>
                          <m:dPr>
                            <m:begChr m:val="("/>
                            <m:sepChr m:val=""/>
                            <m:endChr m:val=")"/>
                            <m:grow m:val="on"/>
                            <m:ctrlPr>
                              <a:rPr lang="zh-CN" sz="12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r>
                              <a:rPr lang="zh-CN" sz="12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5.3.5</m:t>
                            </m:r>
                          </m:e>
                        </m:d>
                      </m:oMath>
                    </m:oMathPara>
                  </a14:m>
                </a:p>
              </p:txBody>
            </p:sp>
          </mc:Choice>
        </mc:AlternateContent>
        <p:sp>
          <p:nvSpPr>
            <p:cNvPr id="21" name="TextBox 21"/>
            <p:cNvSpPr txBox="1"/>
            <p:nvPr/>
          </p:nvSpPr>
          <p:spPr>
            <a:xfrm>
              <a:off x="752475" y="4030504"/>
              <a:ext cx="335108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由性质 1 直接可得：交换节点只改变求和的顺序。</a:t>
              </a:r>
            </a:p>
          </p:txBody>
        </p:sp>
      </p:grpSp>
      <p:grpSp>
        <p:nvGrpSpPr>
          <p:cNvPr id="36" name="c2-card-1"/>
          <p:cNvGrpSpPr/>
          <p:nvPr/>
        </p:nvGrpSpPr>
        <p:grpSpPr>
          <a:xfrm>
            <a:off x="6680835" y="1524000"/>
            <a:ext cx="4977765" cy="3241358"/>
            <a:chOff x="6680835" y="1524000"/>
            <a:chExt cx="4977765" cy="3241358"/>
          </a:xfrm>
        </p:grpSpPr>
        <p:sp>
          <p:nvSpPr>
            <p:cNvPr id="23" name="Rectangle 23"/>
            <p:cNvSpPr/>
            <p:nvPr/>
          </p:nvSpPr>
          <p:spPr>
            <a:xfrm>
              <a:off x="6680835" y="1524000"/>
              <a:ext cx="4977765" cy="3241358"/>
            </a:xfrm>
            <a:prstGeom prst="roundRect">
              <a:avLst>
                <a:gd name="adj" fmla="val 4114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6690360" y="1657350"/>
              <a:ext cx="47625" cy="2974658"/>
            </a:xfrm>
            <a:prstGeom prst="roundRect">
              <a:avLst>
                <a:gd name="adj" fmla="val 50000"/>
              </a:avLst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6905625" y="1710690"/>
              <a:ext cx="569595" cy="238125"/>
            </a:xfrm>
            <a:prstGeom prst="roundRect">
              <a:avLst>
                <a:gd name="adj" fmla="val 50000"/>
              </a:avLst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994669" y="1743551"/>
              <a:ext cx="391507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性质 3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7582662" y="1745932"/>
              <a:ext cx="146761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差商与导数的关系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8" name="formula138"/>
                <p:cNvSpPr txBox="1">
                  <a:spLocks noGrp="1"/>
                </p:cNvSpPr>
                <p:nvPr/>
              </p:nvSpPr>
              <p:spPr>
                <a:xfrm>
                  <a:off x="6905625" y="2049780"/>
                  <a:ext cx="4566285" cy="540068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lIns="0" tIns="0" rIns="0" bIns="0" wrap="none" anchor="ctr">
                  <a:normAutofit/>
                </a:bodyPr>
                <a:lstStyle/>
                <a:p>
                  <a:pPr algn="ctr"/>
                  <a14:m>
                    <m:oMathPara xmlns:a="http://schemas.openxmlformats.org/drawingml/2006/main" xmlns:m="http://schemas.openxmlformats.org/officeDocument/2006/math">
                      <m:oMathParaPr>
                        <m:jc m:val="center"/>
                      </m:oMathParaPr>
                      <m:oMath>
                        <m:r>
                          <a:rPr lang="zh-CN" sz="158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f</m:t>
                        </m:r>
                        <m:d>
                          <m:dPr>
                            <m:begChr m:val="["/>
                            <m:sepChr m:val=""/>
                            <m:endChr m:val="]"/>
                            <m:grow m:val="on"/>
                            <m:ctrlPr>
                              <a:rPr lang="zh-CN" sz="15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sSub>
                              <m:e>
                                <m:r>
                                  <a:rPr lang="zh-CN" sz="15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x</m:t>
                                </m:r>
                              </m:e>
                              <m:sub>
                                <m:r>
                                  <a:rPr lang="zh-CN" sz="15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0</m:t>
                                </m:r>
                              </m:sub>
                            </m:sSub>
                            <m:r>
                              <m:rPr>
                                <m:sty m:val="p"/>
                              </m:rPr>
                              <a:rPr lang="zh-CN" sz="15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,</m:t>
                            </m:r>
                            <m:sSub>
                              <m:e>
                                <m:r>
                                  <a:rPr lang="zh-CN" sz="15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x</m:t>
                                </m:r>
                              </m:e>
                              <m:sub>
                                <m:r>
                                  <a:rPr lang="zh-CN" sz="15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1</m:t>
                                </m:r>
                              </m:sub>
                            </m:sSub>
                            <m:r>
                              <m:rPr>
                                <m:sty m:val="p"/>
                              </m:rPr>
                              <a:rPr lang="zh-CN" sz="15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,…,</m:t>
                            </m:r>
                            <m:sSub>
                              <m:e>
                                <m:r>
                                  <a:rPr lang="zh-CN" sz="15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x</m:t>
                                </m:r>
                              </m:e>
                              <m:sub>
                                <m:r>
                                  <a:rPr lang="zh-CN" sz="15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n</m:t>
                                </m:r>
                              </m:sub>
                            </m:sSub>
                          </m:e>
                        </m:d>
                        <m:r>
                          <m:rPr>
                            <m:sty m:val="p"/>
                          </m:rPr>
                          <a:rPr lang="zh-CN" sz="158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=</m:t>
                        </m:r>
                        <m:f>
                          <m:fPr>
                            <m:type m:val="bar"/>
                            <m:ctrlPr>
                              <a:rPr lang="zh-CN" sz="15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fPr>
                          <m:num>
                            <m:sSup>
                              <m:e>
                                <m:r>
                                  <a:rPr lang="zh-CN" sz="15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f</m:t>
                                </m:r>
                              </m:e>
                              <m:sup>
                                <m:d>
                                  <m:dPr>
                                    <m:begChr m:val="("/>
                                    <m:sepChr m:val=""/>
                                    <m:endChr m:val=")"/>
                                    <m:grow m:val="on"/>
                                    <m:ctrlPr>
                                      <a:rPr lang="zh-CN" sz="158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dPr>
                                  <m:e>
                                    <m:r>
                                      <a:rPr lang="zh-CN" sz="158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n</m:t>
                                    </m:r>
                                  </m:e>
                                </m:d>
                              </m:sup>
                            </m:sSup>
                            <m:d>
                              <m:dPr>
                                <m:begChr m:val="("/>
                                <m:sepChr m:val=""/>
                                <m:endChr m:val=")"/>
                                <m:grow m:val="on"/>
                                <m:ctrlPr>
                                  <a:rPr lang="zh-CN" sz="15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</m:ctrlPr>
                              </m:dPr>
                              <m:e>
                                <m:r>
                                  <a:rPr lang="zh-CN" sz="15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ξ</m:t>
                                </m:r>
                              </m:e>
                            </m:d>
                          </m:num>
                          <m:den>
                            <m:r>
                              <a:rPr lang="zh-CN" sz="15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n</m:t>
                            </m:r>
                            <m:r>
                              <m:rPr>
                                <m:sty m:val="p"/>
                              </m:rPr>
                              <a:rPr lang="zh-CN" sz="15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!</m:t>
                            </m:r>
                          </m:den>
                        </m:f>
                        <m:r>
                          <a:rPr lang="zh-CN" sz="158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 xml:space="preserve">  </m:t>
                        </m:r>
                        <m:d>
                          <m:dPr>
                            <m:begChr m:val="("/>
                            <m:sepChr m:val=""/>
                            <m:endChr m:val=")"/>
                            <m:grow m:val="on"/>
                            <m:ctrlPr>
                              <a:rPr lang="zh-CN" sz="15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r>
                              <a:rPr lang="zh-CN" sz="15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5.3.6</m:t>
                            </m:r>
                          </m:e>
                        </m:d>
                      </m:oMath>
                    </m:oMathPara>
                  </a14:m>
                </a:p>
              </p:txBody>
            </p:sp>
          </mc:Choice>
        </mc:AlternateContent>
        <p:sp>
          <p:nvSpPr>
            <p:cNvPr id="29" name="TextBox 29"/>
            <p:cNvSpPr txBox="1"/>
            <p:nvPr/>
          </p:nvSpPr>
          <p:spPr>
            <a:xfrm>
              <a:off x="6898767" y="2695575"/>
              <a:ext cx="4248531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ξ 介于 x₀, …, xₙ 的最小值与最大值之间（要求 f⁽ⁿ⁾ 存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在）。</a:t>
              </a:r>
            </a:p>
          </p:txBody>
        </p:sp>
        <p:sp>
          <p:nvSpPr>
            <p:cNvPr id="30" name="Ellipse 30"/>
            <p:cNvSpPr/>
            <p:nvPr/>
          </p:nvSpPr>
          <p:spPr>
            <a:xfrm>
              <a:off x="6914198" y="3308985"/>
              <a:ext cx="59055" cy="59055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070217" y="3252788"/>
              <a:ext cx="4102798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f 是 n 次多项式时，n 阶差商等于首项系数，更高阶差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商为 0</a:t>
              </a:r>
            </a:p>
          </p:txBody>
        </p:sp>
        <p:sp>
          <p:nvSpPr>
            <p:cNvPr id="32" name="Ellipse 32"/>
            <p:cNvSpPr/>
            <p:nvPr/>
          </p:nvSpPr>
          <p:spPr>
            <a:xfrm>
              <a:off x="6914198" y="3866198"/>
              <a:ext cx="59055" cy="59055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070217" y="3810000"/>
              <a:ext cx="4154234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f 是 n 次多项式时，一阶差商 f[x₀, x] 是 x 的 n−1 次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多项式</a:t>
              </a:r>
            </a:p>
          </p:txBody>
        </p:sp>
        <p:sp>
          <p:nvSpPr>
            <p:cNvPr id="34" name="Ellipse 34"/>
            <p:cNvSpPr/>
            <p:nvPr/>
          </p:nvSpPr>
          <p:spPr>
            <a:xfrm>
              <a:off x="6914198" y="4424362"/>
              <a:ext cx="59055" cy="59055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7070217" y="4368165"/>
              <a:ext cx="255803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各阶差商可以按差商表逐列计算</a:t>
              </a:r>
            </a:p>
          </p:txBody>
        </p:sp>
      </p:grpSp>
      <p:grpSp>
        <p:nvGrpSpPr>
          <p:cNvPr id="42" name="c2-card-2"/>
          <p:cNvGrpSpPr/>
          <p:nvPr/>
        </p:nvGrpSpPr>
        <p:grpSpPr>
          <a:xfrm>
            <a:off x="6680835" y="4934902"/>
            <a:ext cx="4977765" cy="1185862"/>
            <a:chOff x="6680835" y="4934902"/>
            <a:chExt cx="4977765" cy="1185862"/>
          </a:xfrm>
        </p:grpSpPr>
        <p:sp>
          <p:nvSpPr>
            <p:cNvPr id="37" name="Rectangle 37"/>
            <p:cNvSpPr/>
            <p:nvPr/>
          </p:nvSpPr>
          <p:spPr>
            <a:xfrm>
              <a:off x="6680835" y="4934902"/>
              <a:ext cx="4977765" cy="1185862"/>
            </a:xfrm>
            <a:prstGeom prst="roundRect">
              <a:avLst>
                <a:gd name="adj" fmla="val 11245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38" name="Rectangle 38"/>
            <p:cNvSpPr/>
            <p:nvPr/>
          </p:nvSpPr>
          <p:spPr>
            <a:xfrm>
              <a:off x="6690360" y="5068252"/>
              <a:ext cx="47625" cy="919162"/>
            </a:xfrm>
            <a:prstGeom prst="roundRect">
              <a:avLst>
                <a:gd name="adj" fmla="val 50000"/>
              </a:avLst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39" name="Rectangle 39"/>
            <p:cNvSpPr/>
            <p:nvPr/>
          </p:nvSpPr>
          <p:spPr>
            <a:xfrm>
              <a:off x="6905625" y="5121592"/>
              <a:ext cx="458152" cy="238125"/>
            </a:xfrm>
            <a:prstGeom prst="roundRect">
              <a:avLst>
                <a:gd name="adj" fmla="val 5000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40" name="TextBox 40"/>
            <p:cNvSpPr txBox="1"/>
            <p:nvPr/>
          </p:nvSpPr>
          <p:spPr>
            <a:xfrm>
              <a:off x="6998297" y="5154454"/>
              <a:ext cx="27376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更正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6898767" y="5466398"/>
              <a:ext cx="4257104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原课件 (5.3.4) 分母的最后一个因子写作 (xⱼ − xₙ)。k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阶差商只涉及 x₀, …, xₖ，应为 (xⱼ − xₖ)。</a:t>
              </a:r>
            </a:p>
          </p:txBody>
        </p:sp>
      </p:grpSp>
      <p:grpSp>
        <p:nvGrpSpPr>
          <p:cNvPr id="45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43" name="TextBox 43"/>
            <p:cNvSpPr txBox="1"/>
            <p:nvPr/>
          </p:nvSpPr>
          <p:spPr>
            <a:xfrm>
              <a:off x="528447" y="6581299"/>
              <a:ext cx="225267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计算方法 · 第5章 函数插值与曲线拟合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24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9756418" cy="909257"/>
            <a:chOff x="520446" y="342900"/>
            <a:chExt cx="9756418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1987868" cy="266700"/>
            </a:xfrm>
            <a:prstGeom prst="roundRect">
              <a:avLst>
                <a:gd name="adj" fmla="val 50000"/>
              </a:avLst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08957" y="407194"/>
              <a:ext cx="183580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第5章 函数插值 · 牛顿插值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9756418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差商表：按列逐阶计算，对角线上的值就是 Newton 公式的系数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E7D4F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52" name="c1-table-1"/>
          <p:cNvGrpSpPr/>
          <p:nvPr/>
        </p:nvGrpSpPr>
        <p:grpSpPr>
          <a:xfrm>
            <a:off x="527685" y="1524000"/>
            <a:ext cx="6497955" cy="2988469"/>
            <a:chOff x="527685" y="1524000"/>
            <a:chExt cx="6497955" cy="2988469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6492240" cy="448628"/>
            </a:xfrm>
            <a:prstGeom prst="rect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687032" y="1659731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节点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423314" y="1659731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零阶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2200643" y="1659731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一阶差商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3432226" y="1659731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二阶差商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4757153" y="1659731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三阶差商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6035408" y="1659731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四阶差商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759834" y="2108359"/>
              <a:ext cx="21197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x₀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1207770" y="1982152"/>
              <a:ext cx="789622" cy="429578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1358697" y="2108359"/>
              <a:ext cx="48681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f(x₀)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533400" y="2416492"/>
              <a:ext cx="649224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8" name="Rectangle 18"/>
            <p:cNvSpPr/>
            <p:nvPr/>
          </p:nvSpPr>
          <p:spPr>
            <a:xfrm>
              <a:off x="533400" y="2421255"/>
              <a:ext cx="6492240" cy="448628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759834" y="2556986"/>
              <a:ext cx="21197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x₁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1358697" y="2556986"/>
              <a:ext cx="48681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f(x₁)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2016442" y="2430780"/>
              <a:ext cx="1071562" cy="429578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2166181" y="2556986"/>
              <a:ext cx="77113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f[x₀,x₁]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533400" y="2866072"/>
              <a:ext cx="649224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59834" y="3005614"/>
              <a:ext cx="21197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x₂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358697" y="3005614"/>
              <a:ext cx="48681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f(x₂)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2166181" y="3005614"/>
              <a:ext cx="77113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f[x₁,x₂]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3107055" y="2880360"/>
              <a:ext cx="1352550" cy="429578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3255604" y="3005614"/>
              <a:ext cx="105545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f[x₀,x₁,x₂]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533400" y="3314700"/>
              <a:ext cx="649224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0" name="Rectangle 30"/>
            <p:cNvSpPr/>
            <p:nvPr/>
          </p:nvSpPr>
          <p:spPr>
            <a:xfrm>
              <a:off x="533400" y="3319462"/>
              <a:ext cx="6492240" cy="448628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59834" y="3454241"/>
              <a:ext cx="21197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x₃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358697" y="3454241"/>
              <a:ext cx="48681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f(x₃)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2166181" y="3454241"/>
              <a:ext cx="77113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f[x₂,x₃]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3255604" y="3454241"/>
              <a:ext cx="105545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f[x₁,x₂,x₃]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4478655" y="3328988"/>
              <a:ext cx="1259205" cy="429578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4627918" y="3454241"/>
              <a:ext cx="96067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f[x₀,…,x₃]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533400" y="3763328"/>
              <a:ext cx="649224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759834" y="3903821"/>
              <a:ext cx="21197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x₄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1358697" y="3903821"/>
              <a:ext cx="48681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f(x₄)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2166181" y="3903821"/>
              <a:ext cx="77113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f[x₃,x₄]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3255604" y="3903821"/>
              <a:ext cx="105545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f[x₂,x₃,x₄]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4627918" y="3903821"/>
              <a:ext cx="96067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f[x₁,…,x₄]</a:t>
              </a:r>
            </a:p>
          </p:txBody>
        </p:sp>
        <p:sp>
          <p:nvSpPr>
            <p:cNvPr id="43" name="Rectangle 43"/>
            <p:cNvSpPr/>
            <p:nvPr/>
          </p:nvSpPr>
          <p:spPr>
            <a:xfrm>
              <a:off x="5756910" y="3777615"/>
              <a:ext cx="1259205" cy="429578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44" name="TextBox 44"/>
            <p:cNvSpPr txBox="1"/>
            <p:nvPr/>
          </p:nvSpPr>
          <p:spPr>
            <a:xfrm>
              <a:off x="5906173" y="3903821"/>
              <a:ext cx="96067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f[x₀,…,x₄]</a:t>
              </a:r>
            </a:p>
          </p:txBody>
        </p:sp>
        <p:sp>
          <p:nvSpPr>
            <p:cNvPr id="45" name="Rectangle 45"/>
            <p:cNvSpPr/>
            <p:nvPr/>
          </p:nvSpPr>
          <p:spPr>
            <a:xfrm>
              <a:off x="533400" y="1524000"/>
              <a:ext cx="6492240" cy="2692718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46" name="Rectangle 46"/>
            <p:cNvSpPr/>
            <p:nvPr/>
          </p:nvSpPr>
          <p:spPr>
            <a:xfrm>
              <a:off x="1193482" y="1524000"/>
              <a:ext cx="9525" cy="2692718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7" name="Rectangle 47"/>
            <p:cNvSpPr/>
            <p:nvPr/>
          </p:nvSpPr>
          <p:spPr>
            <a:xfrm>
              <a:off x="2002155" y="1524000"/>
              <a:ext cx="9525" cy="2692718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8" name="Rectangle 48"/>
            <p:cNvSpPr/>
            <p:nvPr/>
          </p:nvSpPr>
          <p:spPr>
            <a:xfrm>
              <a:off x="3092768" y="1524000"/>
              <a:ext cx="9525" cy="2692718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9" name="Rectangle 49"/>
            <p:cNvSpPr/>
            <p:nvPr/>
          </p:nvSpPr>
          <p:spPr>
            <a:xfrm>
              <a:off x="4464368" y="1524000"/>
              <a:ext cx="9525" cy="2692718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0" name="Rectangle 50"/>
            <p:cNvSpPr/>
            <p:nvPr/>
          </p:nvSpPr>
          <p:spPr>
            <a:xfrm>
              <a:off x="5742622" y="1524000"/>
              <a:ext cx="9525" cy="2692718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1" name="TextBox 51"/>
            <p:cNvSpPr txBox="1"/>
            <p:nvPr/>
          </p:nvSpPr>
          <p:spPr>
            <a:xfrm>
              <a:off x="527685" y="4292441"/>
              <a:ext cx="485712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按给定顺序 x₀, x₁, …, xₙ 计算；橙色对角线是 Newton 公式用到的差商</a:t>
              </a:r>
            </a:p>
          </p:txBody>
        </p:sp>
      </p:grpSp>
      <p:grpSp>
        <p:nvGrpSpPr>
          <p:cNvPr id="58" name="c1-card-2"/>
          <p:cNvGrpSpPr/>
          <p:nvPr/>
        </p:nvGrpSpPr>
        <p:grpSpPr>
          <a:xfrm>
            <a:off x="533400" y="4658678"/>
            <a:ext cx="6492240" cy="1316355"/>
            <a:chOff x="533400" y="4658678"/>
            <a:chExt cx="6492240" cy="1316355"/>
          </a:xfrm>
        </p:grpSpPr>
        <p:sp>
          <p:nvSpPr>
            <p:cNvPr id="53" name="Rectangle 53"/>
            <p:cNvSpPr/>
            <p:nvPr/>
          </p:nvSpPr>
          <p:spPr>
            <a:xfrm>
              <a:off x="533400" y="4658678"/>
              <a:ext cx="6492240" cy="1316355"/>
            </a:xfrm>
            <a:prstGeom prst="roundRect">
              <a:avLst>
                <a:gd name="adj" fmla="val 10130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54" name="Rectangle 54"/>
            <p:cNvSpPr/>
            <p:nvPr/>
          </p:nvSpPr>
          <p:spPr>
            <a:xfrm>
              <a:off x="542925" y="4792028"/>
              <a:ext cx="47625" cy="1049655"/>
            </a:xfrm>
            <a:prstGeom prst="roundRect">
              <a:avLst>
                <a:gd name="adj" fmla="val 50000"/>
              </a:avLst>
            </a:prstGeom>
            <a:solidFill>
              <a:srgbClr val="14A38B"/>
            </a:solidFill>
            <a:ln>
              <a:noFill/>
            </a:ln>
          </p:spPr>
        </p:sp>
        <p:sp>
          <p:nvSpPr>
            <p:cNvPr id="55" name="Rectangle 55"/>
            <p:cNvSpPr/>
            <p:nvPr/>
          </p:nvSpPr>
          <p:spPr>
            <a:xfrm>
              <a:off x="781050" y="4868228"/>
              <a:ext cx="1204912" cy="257175"/>
            </a:xfrm>
            <a:prstGeom prst="roundRect">
              <a:avLst>
                <a:gd name="adj" fmla="val 50000"/>
              </a:avLst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56" name="TextBox 56"/>
            <p:cNvSpPr txBox="1"/>
            <p:nvPr/>
          </p:nvSpPr>
          <p:spPr>
            <a:xfrm>
              <a:off x="850557" y="4903946"/>
              <a:ext cx="10668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对照前页小例子</a:t>
              </a:r>
            </a:p>
          </p:txBody>
        </p:sp>
        <p:sp>
          <p:nvSpPr>
            <p:cNvPr id="57" name="TextBox 57"/>
            <p:cNvSpPr txBox="1"/>
            <p:nvPr/>
          </p:nvSpPr>
          <p:spPr>
            <a:xfrm>
              <a:off x="773430" y="5245418"/>
              <a:ext cx="563499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f(x) = x³ 在 0, 1, 2, 3 上：对角线为 0、1、3、1，所以 N₃(x) =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 + 1·x + 3·x(x − 1) + 1·x(x − 1)(x − 2)，展开正是 x³。</a:t>
              </a:r>
            </a:p>
          </p:txBody>
        </p:sp>
      </p:grpSp>
      <p:grpSp>
        <p:nvGrpSpPr>
          <p:cNvPr id="72" name="c2-steps-1"/>
          <p:cNvGrpSpPr/>
          <p:nvPr/>
        </p:nvGrpSpPr>
        <p:grpSpPr>
          <a:xfrm>
            <a:off x="7330440" y="1533525"/>
            <a:ext cx="4140073" cy="2347246"/>
            <a:chOff x="7330440" y="1533525"/>
            <a:chExt cx="4140073" cy="2347246"/>
          </a:xfrm>
        </p:grpSpPr>
        <p:sp>
          <p:nvSpPr>
            <p:cNvPr id="59" name="Rectangle 59"/>
            <p:cNvSpPr/>
            <p:nvPr/>
          </p:nvSpPr>
          <p:spPr>
            <a:xfrm>
              <a:off x="7463790" y="1676400"/>
              <a:ext cx="19050" cy="1536382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60" name="Ellipse 60"/>
            <p:cNvSpPr/>
            <p:nvPr/>
          </p:nvSpPr>
          <p:spPr>
            <a:xfrm>
              <a:off x="7330440" y="1533525"/>
              <a:ext cx="285750" cy="28575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61" name="TextBox 61"/>
            <p:cNvSpPr txBox="1"/>
            <p:nvPr/>
          </p:nvSpPr>
          <p:spPr>
            <a:xfrm>
              <a:off x="7424064" y="160734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62" name="Ellipse 62"/>
            <p:cNvSpPr/>
            <p:nvPr/>
          </p:nvSpPr>
          <p:spPr>
            <a:xfrm>
              <a:off x="7330440" y="2184082"/>
              <a:ext cx="285750" cy="28575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63" name="TextBox 63"/>
            <p:cNvSpPr txBox="1"/>
            <p:nvPr/>
          </p:nvSpPr>
          <p:spPr>
            <a:xfrm>
              <a:off x="7424064" y="2257901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64" name="Ellipse 64"/>
            <p:cNvSpPr/>
            <p:nvPr/>
          </p:nvSpPr>
          <p:spPr>
            <a:xfrm>
              <a:off x="7330440" y="3069908"/>
              <a:ext cx="285750" cy="28575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65" name="TextBox 65"/>
            <p:cNvSpPr txBox="1"/>
            <p:nvPr/>
          </p:nvSpPr>
          <p:spPr>
            <a:xfrm>
              <a:off x="7424064" y="3143726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66" name="TextBox 66"/>
            <p:cNvSpPr txBox="1"/>
            <p:nvPr/>
          </p:nvSpPr>
          <p:spPr>
            <a:xfrm>
              <a:off x="7741920" y="1567815"/>
              <a:ext cx="62103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前两列</a:t>
              </a:r>
            </a:p>
          </p:txBody>
        </p:sp>
        <p:sp>
          <p:nvSpPr>
            <p:cNvPr id="67" name="TextBox 67"/>
            <p:cNvSpPr txBox="1"/>
            <p:nvPr/>
          </p:nvSpPr>
          <p:spPr>
            <a:xfrm>
              <a:off x="7743063" y="1861661"/>
              <a:ext cx="3510920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第 1 列写节点，第 2 列写函数值（零阶差商）</a:t>
              </a:r>
            </a:p>
          </p:txBody>
        </p:sp>
        <p:sp>
          <p:nvSpPr>
            <p:cNvPr id="68" name="TextBox 68"/>
            <p:cNvSpPr txBox="1"/>
            <p:nvPr/>
          </p:nvSpPr>
          <p:spPr>
            <a:xfrm>
              <a:off x="7741920" y="2218372"/>
              <a:ext cx="8229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逐列向右</a:t>
              </a:r>
            </a:p>
          </p:txBody>
        </p:sp>
        <p:sp>
          <p:nvSpPr>
            <p:cNvPr id="69" name="TextBox 69"/>
            <p:cNvSpPr txBox="1"/>
            <p:nvPr/>
          </p:nvSpPr>
          <p:spPr>
            <a:xfrm>
              <a:off x="7743063" y="2512219"/>
              <a:ext cx="3727450" cy="483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4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k 阶列第 i 行 = (同行左边的 k−1 阶差商 − 上一行左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边的 k−1 阶差商) / (xᵢ − xᵢ₋ₖ)</a:t>
              </a:r>
            </a:p>
          </p:txBody>
        </p:sp>
        <p:sp>
          <p:nvSpPr>
            <p:cNvPr id="70" name="TextBox 70"/>
            <p:cNvSpPr txBox="1"/>
            <p:nvPr/>
          </p:nvSpPr>
          <p:spPr>
            <a:xfrm>
              <a:off x="7741920" y="3104198"/>
              <a:ext cx="8229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读对角线</a:t>
              </a:r>
            </a:p>
          </p:txBody>
        </p:sp>
        <p:sp>
          <p:nvSpPr>
            <p:cNvPr id="71" name="TextBox 71"/>
            <p:cNvSpPr txBox="1"/>
            <p:nvPr/>
          </p:nvSpPr>
          <p:spPr>
            <a:xfrm>
              <a:off x="7743063" y="3397091"/>
              <a:ext cx="3199130" cy="483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4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f(x₀), f[x₀,x₁], f[x₀,x₁,x₂], … 依次是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Newton 公式的 c₀, c₁, c₂, …</a:t>
              </a:r>
            </a:p>
          </p:txBody>
        </p:sp>
      </p:grpSp>
      <p:grpSp>
        <p:nvGrpSpPr>
          <p:cNvPr id="79" name="c2-callout-2"/>
          <p:cNvGrpSpPr/>
          <p:nvPr/>
        </p:nvGrpSpPr>
        <p:grpSpPr>
          <a:xfrm>
            <a:off x="7330440" y="4060508"/>
            <a:ext cx="4328160" cy="782955"/>
            <a:chOff x="7330440" y="4060508"/>
            <a:chExt cx="4328160" cy="782955"/>
          </a:xfrm>
        </p:grpSpPr>
        <p:sp>
          <p:nvSpPr>
            <p:cNvPr id="73" name="Rectangle 73"/>
            <p:cNvSpPr/>
            <p:nvPr/>
          </p:nvSpPr>
          <p:spPr>
            <a:xfrm>
              <a:off x="7330440" y="4060508"/>
              <a:ext cx="4328160" cy="782955"/>
            </a:xfrm>
            <a:prstGeom prst="roundRect">
              <a:avLst>
                <a:gd name="adj" fmla="val 14599"/>
              </a:avLst>
            </a:prstGeom>
            <a:solidFill>
              <a:srgbClr val="FDEEE7"/>
            </a:solidFill>
            <a:ln>
              <a:noFill/>
            </a:ln>
          </p:spPr>
        </p:sp>
        <p:grpSp>
          <p:nvGrpSpPr>
            <p:cNvPr id="77" name="Group 77"/>
            <p:cNvGrpSpPr/>
            <p:nvPr/>
          </p:nvGrpSpPr>
          <p:grpSpPr>
            <a:xfrm>
              <a:off x="7535228" y="4351973"/>
              <a:ext cx="200026" cy="200025"/>
              <a:chOff x="7535228" y="4351973"/>
              <a:chExt cx="200026" cy="200025"/>
            </a:xfrm>
          </p:grpSpPr>
          <p:sp>
            <p:nvSpPr>
              <p:cNvPr id="74" name="Freeform 74"/>
              <p:cNvSpPr/>
              <p:nvPr/>
            </p:nvSpPr>
            <p:spPr>
              <a:xfrm>
                <a:off x="7535228" y="4351973"/>
                <a:ext cx="200026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00013">
                    <a:moveTo>
                      <a:pt x="0" y="100013"/>
                    </a:moveTo>
                    <a:lnTo>
                      <a:pt x="11113" y="100013"/>
                    </a:lnTo>
                    <a:moveTo>
                      <a:pt x="100013" y="0"/>
                    </a:moveTo>
                    <a:lnTo>
                      <a:pt x="100013" y="11113"/>
                    </a:lnTo>
                    <a:moveTo>
                      <a:pt x="188913" y="100013"/>
                    </a:moveTo>
                    <a:lnTo>
                      <a:pt x="200026" y="100013"/>
                    </a:lnTo>
                    <a:moveTo>
                      <a:pt x="28893" y="28893"/>
                    </a:moveTo>
                    <a:lnTo>
                      <a:pt x="36671" y="36671"/>
                    </a:lnTo>
                    <a:moveTo>
                      <a:pt x="171133" y="28893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75" name="Freeform 75"/>
              <p:cNvSpPr/>
              <p:nvPr/>
            </p:nvSpPr>
            <p:spPr>
              <a:xfrm>
                <a:off x="7574966" y="4396423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3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3" y="15304"/>
                      <a:pt x="112986" y="37992"/>
                    </a:cubicBezTo>
                    <a:cubicBezTo>
                      <a:pt x="120548" y="60681"/>
                      <a:pt x="112745" y="85663"/>
                      <a:pt x="93612" y="100013"/>
                    </a:cubicBezTo>
                    <a:cubicBezTo>
                      <a:pt x="84812" y="108723"/>
                      <a:pt x="80686" y="121103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3"/>
                      <a:pt x="35736" y="108723"/>
                      <a:pt x="26937" y="100013"/>
                    </a:cubicBez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76" name="Freeform 76"/>
              <p:cNvSpPr/>
              <p:nvPr/>
            </p:nvSpPr>
            <p:spPr>
              <a:xfrm>
                <a:off x="7609682" y="4507548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</p:grpSp>
        <p:sp>
          <p:nvSpPr>
            <p:cNvPr id="78" name="TextBox 78"/>
            <p:cNvSpPr txBox="1"/>
            <p:nvPr/>
          </p:nvSpPr>
          <p:spPr>
            <a:xfrm>
              <a:off x="7837170" y="4209098"/>
              <a:ext cx="3387090" cy="5695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增加节点 x₅ 时，只需在表的下方再算一</a:t>
              </a:r>
              <a:br/>
              <a:r>
                <a:rPr lang="zh-CN" sz="15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行，已有的数据全部保留。</a:t>
              </a:r>
            </a:p>
          </p:txBody>
        </p:sp>
      </p:grpSp>
      <p:grpSp>
        <p:nvGrpSpPr>
          <p:cNvPr id="82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80" name="TextBox 80"/>
            <p:cNvSpPr txBox="1"/>
            <p:nvPr/>
          </p:nvSpPr>
          <p:spPr>
            <a:xfrm>
              <a:off x="528447" y="6581299"/>
              <a:ext cx="225267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计算方法 · 第5章 函数插值与曲线拟合</a:t>
              </a:r>
            </a:p>
          </p:txBody>
        </p:sp>
        <p:sp>
          <p:nvSpPr>
            <p:cNvPr id="81" name="TextBox 81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25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7767963" cy="909257"/>
            <a:chOff x="520446" y="342900"/>
            <a:chExt cx="7767963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1987868" cy="266700"/>
            </a:xfrm>
            <a:prstGeom prst="roundRect">
              <a:avLst>
                <a:gd name="adj" fmla="val 50000"/>
              </a:avLst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08957" y="407194"/>
              <a:ext cx="183580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第5章 函数插值 · 牛顿插值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7767963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推导 Newton 公式：把 x 当作节点，逐层展开差商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E7D4F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c1-text-1"/>
          <p:cNvGrpSpPr/>
          <p:nvPr/>
        </p:nvGrpSpPr>
        <p:grpSpPr>
          <a:xfrm>
            <a:off x="525780" y="1548765"/>
            <a:ext cx="4834890" cy="588645"/>
            <a:chOff x="525780" y="1548765"/>
            <a:chExt cx="4834890" cy="588645"/>
          </a:xfrm>
        </p:grpSpPr>
        <p:sp>
          <p:nvSpPr>
            <p:cNvPr id="7" name="TextBox 7"/>
            <p:cNvSpPr txBox="1"/>
            <p:nvPr/>
          </p:nvSpPr>
          <p:spPr>
            <a:xfrm>
              <a:off x="525780" y="1548765"/>
              <a:ext cx="4834890" cy="58864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325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由差商定义移项。例如 f[x, x₀] = (f(x) − f(x₀))/(x −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x₀) 移项得第一式：</a:t>
              </a:r>
            </a:p>
          </p:txBody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formula143"/>
              <p:cNvSpPr txBox="1">
                <a:spLocks noGrp="1"/>
              </p:cNvSpPr>
              <p:nvPr/>
            </p:nvSpPr>
            <p:spPr>
              <a:xfrm>
                <a:off x="533400" y="2268855"/>
                <a:ext cx="5410200" cy="419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lIns="0" tIns="0" rIns="0" bIns="0" wrap="none" anchor="ctr">
                <a:normAutofit/>
              </a:bodyPr>
              <a:lstStyle/>
              <a:p>
                <a:pPr algn="ctr"/>
                <a14:m>
                  <m:oMathPara xmlns:a="http://schemas.openxmlformats.org/drawingml/2006/main" xmlns:m="http://schemas.openxmlformats.org/officeDocument/2006/math">
                    <m:oMathParaPr>
                      <m:jc m:val="center"/>
                    </m:oMathParaPr>
                    <m:oMath>
                      <m:r>
                        <a:rPr lang="zh-CN" sz="165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f</m:t>
                      </m:r>
                      <m:d>
                        <m:dPr>
                          <m:begChr m:val="("/>
                          <m:sepChr m:val=""/>
                          <m:endChr m:val=")"/>
                          <m:grow m:val="on"/>
                          <m:ctrlPr>
                            <a:rPr lang="zh-CN" sz="16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a:rPr lang="zh-CN" sz="16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a:rPr lang="zh-CN" sz="165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r>
                        <a:rPr lang="zh-CN" sz="165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f</m:t>
                      </m:r>
                      <m:d>
                        <m:dPr>
                          <m:begChr m:val="("/>
                          <m:sepChr m:val=""/>
                          <m:endChr m:val=")"/>
                          <m:grow m:val="on"/>
                          <m:ctrlPr>
                            <a:rPr lang="zh-CN" sz="16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sSub>
                            <m:e>
                              <m:r>
                                <a:rPr lang="zh-CN" sz="165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x</m:t>
                              </m:r>
                            </m:e>
                            <m:sub>
                              <m:r>
                                <a:rPr lang="zh-CN" sz="165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0</m:t>
                              </m:r>
                            </m:sub>
                          </m:sSub>
                        </m:e>
                      </m:d>
                      <m:r>
                        <m:rPr>
                          <m:sty m:val="p"/>
                        </m:rPr>
                        <a:rPr lang="zh-CN" sz="165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+</m:t>
                      </m:r>
                      <m:d>
                        <m:dPr>
                          <m:begChr m:val="("/>
                          <m:sepChr m:val=""/>
                          <m:endChr m:val=")"/>
                          <m:grow m:val="on"/>
                          <m:ctrlPr>
                            <a:rPr lang="zh-CN" sz="16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a:rPr lang="zh-CN" sz="16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x</m:t>
                          </m:r>
                          <m:r>
                            <m:rPr>
                              <m:sty m:val="p"/>
                            </m:rPr>
                            <a:rPr lang="zh-CN" sz="16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−</m:t>
                          </m:r>
                          <m:sSub>
                            <m:e>
                              <m:r>
                                <a:rPr lang="zh-CN" sz="165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x</m:t>
                              </m:r>
                            </m:e>
                            <m:sub>
                              <m:r>
                                <a:rPr lang="zh-CN" sz="165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0</m:t>
                              </m:r>
                            </m:sub>
                          </m:sSub>
                        </m:e>
                      </m:d>
                      <m:r>
                        <a:rPr lang="zh-CN" sz="165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 xml:space="preserve"> </m:t>
                      </m:r>
                      <m:r>
                        <a:rPr lang="zh-CN" sz="165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f</m:t>
                      </m:r>
                      <m:d>
                        <m:dPr>
                          <m:begChr m:val="["/>
                          <m:sepChr m:val=""/>
                          <m:endChr m:val="]"/>
                          <m:grow m:val="on"/>
                          <m:ctrlPr>
                            <a:rPr lang="zh-CN" sz="16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a:rPr lang="zh-CN" sz="16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x</m:t>
                          </m:r>
                          <m:r>
                            <m:rPr>
                              <m:sty m:val="p"/>
                            </m:rPr>
                            <a:rPr lang="zh-CN" sz="16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,</m:t>
                          </m:r>
                          <m:sSub>
                            <m:e>
                              <m:r>
                                <a:rPr lang="zh-CN" sz="165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x</m:t>
                              </m:r>
                            </m:e>
                            <m:sub>
                              <m:r>
                                <a:rPr lang="zh-CN" sz="165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0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0" name="formula144"/>
              <p:cNvSpPr txBox="1">
                <a:spLocks noGrp="1"/>
              </p:cNvSpPr>
              <p:nvPr/>
            </p:nvSpPr>
            <p:spPr>
              <a:xfrm>
                <a:off x="533400" y="2878455"/>
                <a:ext cx="5410200" cy="419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lIns="0" tIns="0" rIns="0" bIns="0" wrap="none" anchor="ctr">
                <a:normAutofit/>
              </a:bodyPr>
              <a:lstStyle/>
              <a:p>
                <a:pPr algn="ctr"/>
                <a14:m>
                  <m:oMathPara xmlns:a="http://schemas.openxmlformats.org/drawingml/2006/main" xmlns:m="http://schemas.openxmlformats.org/officeDocument/2006/math">
                    <m:oMathParaPr>
                      <m:jc m:val="center"/>
                    </m:oMathParaPr>
                    <m:oMath>
                      <m:r>
                        <a:rPr lang="zh-CN" sz="165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f</m:t>
                      </m:r>
                      <m:d>
                        <m:dPr>
                          <m:begChr m:val="["/>
                          <m:sepChr m:val=""/>
                          <m:endChr m:val="]"/>
                          <m:grow m:val="on"/>
                          <m:ctrlPr>
                            <a:rPr lang="zh-CN" sz="16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a:rPr lang="zh-CN" sz="16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x</m:t>
                          </m:r>
                          <m:r>
                            <m:rPr>
                              <m:sty m:val="p"/>
                            </m:rPr>
                            <a:rPr lang="zh-CN" sz="16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,</m:t>
                          </m:r>
                          <m:sSub>
                            <m:e>
                              <m:r>
                                <a:rPr lang="zh-CN" sz="165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x</m:t>
                              </m:r>
                            </m:e>
                            <m:sub>
                              <m:r>
                                <a:rPr lang="zh-CN" sz="165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0</m:t>
                              </m:r>
                            </m:sub>
                          </m:sSub>
                        </m:e>
                      </m:d>
                      <m:r>
                        <m:rPr>
                          <m:sty m:val="p"/>
                        </m:rPr>
                        <a:rPr lang="zh-CN" sz="165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r>
                        <a:rPr lang="zh-CN" sz="165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f</m:t>
                      </m:r>
                      <m:d>
                        <m:dPr>
                          <m:begChr m:val="["/>
                          <m:sepChr m:val=""/>
                          <m:endChr m:val="]"/>
                          <m:grow m:val="on"/>
                          <m:ctrlPr>
                            <a:rPr lang="zh-CN" sz="16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sSub>
                            <m:e>
                              <m:r>
                                <a:rPr lang="zh-CN" sz="165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x</m:t>
                              </m:r>
                            </m:e>
                            <m:sub>
                              <m:r>
                                <a:rPr lang="zh-CN" sz="165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0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a:rPr lang="zh-CN" sz="16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,</m:t>
                          </m:r>
                          <m:sSub>
                            <m:e>
                              <m:r>
                                <a:rPr lang="zh-CN" sz="165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x</m:t>
                              </m:r>
                            </m:e>
                            <m:sub>
                              <m:r>
                                <a:rPr lang="zh-CN" sz="165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  <m:r>
                        <m:rPr>
                          <m:sty m:val="p"/>
                        </m:rPr>
                        <a:rPr lang="zh-CN" sz="165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+</m:t>
                      </m:r>
                      <m:d>
                        <m:dPr>
                          <m:begChr m:val="("/>
                          <m:sepChr m:val=""/>
                          <m:endChr m:val=")"/>
                          <m:grow m:val="on"/>
                          <m:ctrlPr>
                            <a:rPr lang="zh-CN" sz="16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a:rPr lang="zh-CN" sz="16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x</m:t>
                          </m:r>
                          <m:r>
                            <m:rPr>
                              <m:sty m:val="p"/>
                            </m:rPr>
                            <a:rPr lang="zh-CN" sz="16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−</m:t>
                          </m:r>
                          <m:sSub>
                            <m:e>
                              <m:r>
                                <a:rPr lang="zh-CN" sz="165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x</m:t>
                              </m:r>
                            </m:e>
                            <m:sub>
                              <m:r>
                                <a:rPr lang="zh-CN" sz="165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  <m:r>
                        <a:rPr lang="zh-CN" sz="165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 xml:space="preserve"> </m:t>
                      </m:r>
                      <m:r>
                        <a:rPr lang="zh-CN" sz="165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f</m:t>
                      </m:r>
                      <m:d>
                        <m:dPr>
                          <m:begChr m:val="["/>
                          <m:sepChr m:val=""/>
                          <m:endChr m:val="]"/>
                          <m:grow m:val="on"/>
                          <m:ctrlPr>
                            <a:rPr lang="zh-CN" sz="16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a:rPr lang="zh-CN" sz="16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x</m:t>
                          </m:r>
                          <m:r>
                            <m:rPr>
                              <m:sty m:val="p"/>
                            </m:rPr>
                            <a:rPr lang="zh-CN" sz="16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,</m:t>
                          </m:r>
                          <m:sSub>
                            <m:e>
                              <m:r>
                                <a:rPr lang="zh-CN" sz="165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x</m:t>
                              </m:r>
                            </m:e>
                            <m:sub>
                              <m:r>
                                <a:rPr lang="zh-CN" sz="165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0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a:rPr lang="zh-CN" sz="16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,</m:t>
                          </m:r>
                          <m:sSub>
                            <m:e>
                              <m:r>
                                <a:rPr lang="zh-CN" sz="165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x</m:t>
                              </m:r>
                            </m:e>
                            <m:sub>
                              <m:r>
                                <a:rPr lang="zh-CN" sz="165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</a:p>
            </p:txBody>
          </p:sp>
        </mc:Choice>
      </mc:AlternateContent>
      <p:grpSp>
        <p:nvGrpSpPr>
          <p:cNvPr id="12" name="c1-text-4"/>
          <p:cNvGrpSpPr/>
          <p:nvPr/>
        </p:nvGrpSpPr>
        <p:grpSpPr>
          <a:xfrm>
            <a:off x="3119818" y="3512820"/>
            <a:ext cx="237363" cy="293370"/>
            <a:chOff x="3119818" y="3512820"/>
            <a:chExt cx="237363" cy="293370"/>
          </a:xfrm>
        </p:grpSpPr>
        <p:sp>
          <p:nvSpPr>
            <p:cNvPr id="11" name="TextBox 11"/>
            <p:cNvSpPr txBox="1"/>
            <p:nvPr/>
          </p:nvSpPr>
          <p:spPr>
            <a:xfrm>
              <a:off x="3119818" y="3512820"/>
              <a:ext cx="237363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⋯⋯</a:t>
              </a:r>
            </a:p>
          </p:txBody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13" name="formula145"/>
              <p:cNvSpPr txBox="1">
                <a:spLocks noGrp="1"/>
              </p:cNvSpPr>
              <p:nvPr/>
            </p:nvSpPr>
            <p:spPr>
              <a:xfrm>
                <a:off x="533400" y="3937635"/>
                <a:ext cx="54102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lIns="0" tIns="0" rIns="0" bIns="0" wrap="none" anchor="ctr">
                <a:normAutofit/>
              </a:bodyPr>
              <a:lstStyle/>
              <a:p>
                <a:pPr algn="ctr"/>
                <a14:m>
                  <m:oMathPara xmlns:a="http://schemas.openxmlformats.org/drawingml/2006/main" xmlns:m="http://schemas.openxmlformats.org/officeDocument/2006/math">
                    <m:oMathParaPr>
                      <m:jc m:val="center"/>
                    </m:oMathParaPr>
                    <m:oMath>
                      <m:r>
                        <a:rPr lang="zh-CN" sz="142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f</m:t>
                      </m:r>
                      <m:d>
                        <m:dPr>
                          <m:begChr m:val="["/>
                          <m:sepChr m:val=""/>
                          <m:endChr m:val="]"/>
                          <m:grow m:val="on"/>
                          <m:ctrlPr>
                            <a:rPr lang="zh-CN" sz="14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a:rPr lang="zh-CN" sz="14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x</m:t>
                          </m:r>
                          <m:r>
                            <m:rPr>
                              <m:sty m:val="p"/>
                            </m:rPr>
                            <a:rPr lang="zh-CN" sz="14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,</m:t>
                          </m:r>
                          <m:sSub>
                            <m:e>
                              <m:r>
                                <a:rPr lang="zh-CN" sz="14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x</m:t>
                              </m:r>
                            </m:e>
                            <m:sub>
                              <m:r>
                                <a:rPr lang="zh-CN" sz="14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0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a:rPr lang="zh-CN" sz="14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,…,</m:t>
                          </m:r>
                          <m:sSub>
                            <m:e>
                              <m:r>
                                <a:rPr lang="zh-CN" sz="14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x</m:t>
                              </m:r>
                            </m:e>
                            <m:sub>
                              <m:r>
                                <a:rPr lang="zh-CN" sz="14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n</m:t>
                              </m:r>
                              <m:r>
                                <m:rPr>
                                  <m:sty m:val="p"/>
                                </m:rPr>
                                <a:rPr lang="zh-CN" sz="14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−</m:t>
                              </m:r>
                              <m:r>
                                <a:rPr lang="zh-CN" sz="14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  <m:r>
                        <m:rPr>
                          <m:sty m:val="p"/>
                        </m:rPr>
                        <a:rPr lang="zh-CN" sz="142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r>
                        <a:rPr lang="zh-CN" sz="142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f</m:t>
                      </m:r>
                      <m:d>
                        <m:dPr>
                          <m:begChr m:val="["/>
                          <m:sepChr m:val=""/>
                          <m:endChr m:val="]"/>
                          <m:grow m:val="on"/>
                          <m:ctrlPr>
                            <a:rPr lang="zh-CN" sz="14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sSub>
                            <m:e>
                              <m:r>
                                <a:rPr lang="zh-CN" sz="14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x</m:t>
                              </m:r>
                            </m:e>
                            <m:sub>
                              <m:r>
                                <a:rPr lang="zh-CN" sz="14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0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a:rPr lang="zh-CN" sz="14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,…,</m:t>
                          </m:r>
                          <m:sSub>
                            <m:e>
                              <m:r>
                                <a:rPr lang="zh-CN" sz="14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x</m:t>
                              </m:r>
                            </m:e>
                            <m:sub>
                              <m:r>
                                <a:rPr lang="zh-CN" sz="14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n</m:t>
                              </m:r>
                            </m:sub>
                          </m:sSub>
                        </m:e>
                      </m:d>
                      <m:r>
                        <m:rPr>
                          <m:sty m:val="p"/>
                        </m:rPr>
                        <a:rPr lang="zh-CN" sz="142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+</m:t>
                      </m:r>
                      <m:d>
                        <m:dPr>
                          <m:begChr m:val="("/>
                          <m:sepChr m:val=""/>
                          <m:endChr m:val=")"/>
                          <m:grow m:val="on"/>
                          <m:ctrlPr>
                            <a:rPr lang="zh-CN" sz="14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a:rPr lang="zh-CN" sz="14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x</m:t>
                          </m:r>
                          <m:r>
                            <m:rPr>
                              <m:sty m:val="p"/>
                            </m:rPr>
                            <a:rPr lang="zh-CN" sz="14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−</m:t>
                          </m:r>
                          <m:sSub>
                            <m:e>
                              <m:r>
                                <a:rPr lang="zh-CN" sz="14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x</m:t>
                              </m:r>
                            </m:e>
                            <m:sub>
                              <m:r>
                                <a:rPr lang="zh-CN" sz="14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n</m:t>
                              </m:r>
                            </m:sub>
                          </m:sSub>
                        </m:e>
                      </m:d>
                      <m:r>
                        <a:rPr lang="zh-CN" sz="142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 xml:space="preserve"> </m:t>
                      </m:r>
                      <m:r>
                        <a:rPr lang="zh-CN" sz="142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f</m:t>
                      </m:r>
                      <m:d>
                        <m:dPr>
                          <m:begChr m:val="["/>
                          <m:sepChr m:val=""/>
                          <m:endChr m:val="]"/>
                          <m:grow m:val="on"/>
                          <m:ctrlPr>
                            <a:rPr lang="zh-CN" sz="14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a:rPr lang="zh-CN" sz="14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x</m:t>
                          </m:r>
                          <m:r>
                            <m:rPr>
                              <m:sty m:val="p"/>
                            </m:rPr>
                            <a:rPr lang="zh-CN" sz="14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,</m:t>
                          </m:r>
                          <m:sSub>
                            <m:e>
                              <m:r>
                                <a:rPr lang="zh-CN" sz="14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x</m:t>
                              </m:r>
                            </m:e>
                            <m:sub>
                              <m:r>
                                <a:rPr lang="zh-CN" sz="14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0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a:rPr lang="zh-CN" sz="14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,…,</m:t>
                          </m:r>
                          <m:sSub>
                            <m:e>
                              <m:r>
                                <a:rPr lang="zh-CN" sz="14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x</m:t>
                              </m:r>
                            </m:e>
                            <m:sub>
                              <m:r>
                                <a:rPr lang="zh-CN" sz="14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n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</a:p>
            </p:txBody>
          </p:sp>
        </mc:Choice>
      </mc:AlternateContent>
      <p:grpSp>
        <p:nvGrpSpPr>
          <p:cNvPr id="20" name="c1-callout-6"/>
          <p:cNvGrpSpPr/>
          <p:nvPr/>
        </p:nvGrpSpPr>
        <p:grpSpPr>
          <a:xfrm>
            <a:off x="533400" y="4490085"/>
            <a:ext cx="5410200" cy="1059180"/>
            <a:chOff x="533400" y="4490085"/>
            <a:chExt cx="5410200" cy="1059180"/>
          </a:xfrm>
        </p:grpSpPr>
        <p:sp>
          <p:nvSpPr>
            <p:cNvPr id="14" name="Rectangle 14"/>
            <p:cNvSpPr/>
            <p:nvPr/>
          </p:nvSpPr>
          <p:spPr>
            <a:xfrm>
              <a:off x="533400" y="4490085"/>
              <a:ext cx="5410200" cy="1059180"/>
            </a:xfrm>
            <a:prstGeom prst="roundRect">
              <a:avLst>
                <a:gd name="adj" fmla="val 10791"/>
              </a:avLst>
            </a:prstGeom>
            <a:solidFill>
              <a:srgbClr val="FDEEE7"/>
            </a:solidFill>
            <a:ln>
              <a:noFill/>
            </a:ln>
          </p:spPr>
        </p:sp>
        <p:grpSp>
          <p:nvGrpSpPr>
            <p:cNvPr id="18" name="Group 18"/>
            <p:cNvGrpSpPr/>
            <p:nvPr/>
          </p:nvGrpSpPr>
          <p:grpSpPr>
            <a:xfrm>
              <a:off x="738188" y="4919663"/>
              <a:ext cx="200026" cy="200025"/>
              <a:chOff x="738188" y="4919663"/>
              <a:chExt cx="200026" cy="200025"/>
            </a:xfrm>
          </p:grpSpPr>
          <p:sp>
            <p:nvSpPr>
              <p:cNvPr id="15" name="Freeform 15"/>
              <p:cNvSpPr/>
              <p:nvPr/>
            </p:nvSpPr>
            <p:spPr>
              <a:xfrm>
                <a:off x="738188" y="4919663"/>
                <a:ext cx="200026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00013">
                    <a:moveTo>
                      <a:pt x="0" y="100013"/>
                    </a:moveTo>
                    <a:lnTo>
                      <a:pt x="11113" y="100013"/>
                    </a:lnTo>
                    <a:moveTo>
                      <a:pt x="100013" y="0"/>
                    </a:moveTo>
                    <a:lnTo>
                      <a:pt x="100013" y="11113"/>
                    </a:lnTo>
                    <a:moveTo>
                      <a:pt x="188913" y="100013"/>
                    </a:moveTo>
                    <a:lnTo>
                      <a:pt x="200026" y="100013"/>
                    </a:lnTo>
                    <a:moveTo>
                      <a:pt x="28893" y="28893"/>
                    </a:moveTo>
                    <a:lnTo>
                      <a:pt x="36671" y="36671"/>
                    </a:lnTo>
                    <a:moveTo>
                      <a:pt x="171133" y="28893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16" name="Freeform 16"/>
              <p:cNvSpPr/>
              <p:nvPr/>
            </p:nvSpPr>
            <p:spPr>
              <a:xfrm>
                <a:off x="777926" y="4964113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3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3" y="15304"/>
                      <a:pt x="112986" y="37992"/>
                    </a:cubicBezTo>
                    <a:cubicBezTo>
                      <a:pt x="120548" y="60681"/>
                      <a:pt x="112745" y="85663"/>
                      <a:pt x="93612" y="100013"/>
                    </a:cubicBezTo>
                    <a:cubicBezTo>
                      <a:pt x="84812" y="108723"/>
                      <a:pt x="80686" y="121103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3"/>
                      <a:pt x="35736" y="108723"/>
                      <a:pt x="26937" y="100013"/>
                    </a:cubicBez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17" name="Freeform 17"/>
              <p:cNvSpPr/>
              <p:nvPr/>
            </p:nvSpPr>
            <p:spPr>
              <a:xfrm>
                <a:off x="812642" y="5075238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</p:grpSp>
        <p:sp>
          <p:nvSpPr>
            <p:cNvPr id="19" name="TextBox 19"/>
            <p:cNvSpPr txBox="1"/>
            <p:nvPr/>
          </p:nvSpPr>
          <p:spPr>
            <a:xfrm>
              <a:off x="1040130" y="4638675"/>
              <a:ext cx="4415790" cy="8458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验证：f(x) = x³，节点 0, 1, 2。N₂(x) = x + 3x(x</a:t>
              </a:r>
              <a:br/>
              <a:r>
                <a:rPr lang="zh-CN" sz="15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− 1)，余项 f[x, 0, 1, 2]·x(x − 1)(x − 2) = x(x −</a:t>
              </a:r>
              <a:br/>
              <a:r>
                <a:rPr lang="zh-CN" sz="15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1)(x − 2)（三阶差商恒为 1），相加正是 x³。</a:t>
              </a:r>
            </a:p>
          </p:txBody>
        </p:sp>
      </p:grpSp>
      <p:grpSp>
        <p:nvGrpSpPr>
          <p:cNvPr id="22" name="c2-text-1"/>
          <p:cNvGrpSpPr/>
          <p:nvPr/>
        </p:nvGrpSpPr>
        <p:grpSpPr>
          <a:xfrm>
            <a:off x="6240780" y="1548765"/>
            <a:ext cx="5158740" cy="588645"/>
            <a:chOff x="6240780" y="1548765"/>
            <a:chExt cx="5158740" cy="588645"/>
          </a:xfrm>
        </p:grpSpPr>
        <p:sp>
          <p:nvSpPr>
            <p:cNvPr id="21" name="TextBox 21"/>
            <p:cNvSpPr txBox="1"/>
            <p:nvPr/>
          </p:nvSpPr>
          <p:spPr>
            <a:xfrm>
              <a:off x="6240780" y="1548765"/>
              <a:ext cx="5158740" cy="58864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325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每一式最后的差商正好是下一式的左边，把后一式依次代入前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一式，得到</a:t>
              </a:r>
            </a:p>
          </p:txBody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23" name="formula146"/>
              <p:cNvSpPr txBox="1">
                <a:spLocks noGrp="1"/>
              </p:cNvSpPr>
              <p:nvPr/>
            </p:nvSpPr>
            <p:spPr>
              <a:xfrm>
                <a:off x="6248400" y="2268855"/>
                <a:ext cx="5410200" cy="84867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lIns="0" tIns="0" rIns="0" bIns="0" wrap="none" anchor="ctr">
                <a:normAutofit/>
              </a:bodyPr>
              <a:lstStyle/>
              <a:p>
                <a:pPr algn="ctr"/>
                <a14:m>
                  <m:oMathPara xmlns:a="http://schemas.openxmlformats.org/drawingml/2006/main" xmlns:m="http://schemas.openxmlformats.org/officeDocument/2006/math">
                    <m:oMathParaPr>
                      <m:jc m:val="center"/>
                    </m:oMathParaPr>
                    <m:oMath>
                      <m:eqArr>
                        <m:eqArrPr>
                          <m:baseJc m:val="center"/>
                        </m:eqArrPr>
                        <m:e>
                          <m:r>
                            <a:rPr lang="zh-CN" sz="13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f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 m:val="on"/>
                              <m:ctrlPr>
                                <a:rPr lang="zh-CN" sz="135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r>
                                <a:rPr lang="zh-CN" sz="135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x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a:rPr lang="zh-CN" sz="13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=</m:t>
                          </m:r>
                          <m:r>
                            <a:rPr lang="zh-CN" sz="13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 xml:space="preserve"> </m:t>
                          </m:r>
                          <m:r>
                            <a:rPr lang="zh-CN" sz="13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&amp;</m:t>
                          </m:r>
                          <m:r>
                            <a:rPr lang="zh-CN" sz="13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f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 m:val="on"/>
                              <m:ctrlPr>
                                <a:rPr lang="zh-CN" sz="135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sSub>
                                <m:e>
                                  <m:r>
                                    <a:rPr lang="zh-CN" sz="135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x</m:t>
                                  </m:r>
                                </m:e>
                                <m:sub>
                                  <m:r>
                                    <a:rPr lang="zh-CN" sz="135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0</m:t>
                                  </m:r>
                                </m:sub>
                              </m:sSub>
                            </m:e>
                          </m:d>
                          <m:r>
                            <m:rPr>
                              <m:sty m:val="p"/>
                            </m:rPr>
                            <a:rPr lang="zh-CN" sz="13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+</m:t>
                          </m:r>
                          <m:r>
                            <a:rPr lang="zh-CN" sz="13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f</m:t>
                          </m:r>
                          <m:d>
                            <m:dPr>
                              <m:begChr m:val="["/>
                              <m:sepChr m:val=""/>
                              <m:endChr m:val="]"/>
                              <m:grow m:val="on"/>
                              <m:ctrlPr>
                                <a:rPr lang="zh-CN" sz="135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sSub>
                                <m:e>
                                  <m:r>
                                    <a:rPr lang="zh-CN" sz="135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x</m:t>
                                  </m:r>
                                </m:e>
                                <m:sub>
                                  <m:r>
                                    <a:rPr lang="zh-CN" sz="135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0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a:rPr lang="zh-CN" sz="135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,</m:t>
                              </m:r>
                              <m:sSub>
                                <m:e>
                                  <m:r>
                                    <a:rPr lang="zh-CN" sz="135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x</m:t>
                                  </m:r>
                                </m:e>
                                <m:sub>
                                  <m:r>
                                    <a:rPr lang="zh-CN" sz="135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d>
                          <m:d>
                            <m:dPr>
                              <m:begChr m:val="("/>
                              <m:sepChr m:val=""/>
                              <m:endChr m:val=")"/>
                              <m:grow m:val="on"/>
                              <m:ctrlPr>
                                <a:rPr lang="zh-CN" sz="135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r>
                                <a:rPr lang="zh-CN" sz="135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a:rPr lang="zh-CN" sz="135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−</m:t>
                              </m:r>
                              <m:sSub>
                                <m:e>
                                  <m:r>
                                    <a:rPr lang="zh-CN" sz="135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x</m:t>
                                  </m:r>
                                </m:e>
                                <m:sub>
                                  <m:r>
                                    <a:rPr lang="zh-CN" sz="135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0</m:t>
                                  </m:r>
                                </m:sub>
                              </m:sSub>
                            </m:e>
                          </m:d>
                          <m:r>
                            <m:rPr>
                              <m:sty m:val="p"/>
                            </m:rPr>
                            <a:rPr lang="zh-CN" sz="13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+</m:t>
                          </m:r>
                          <m:r>
                            <a:rPr lang="zh-CN" sz="13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f</m:t>
                          </m:r>
                          <m:d>
                            <m:dPr>
                              <m:begChr m:val="["/>
                              <m:sepChr m:val=""/>
                              <m:endChr m:val="]"/>
                              <m:grow m:val="on"/>
                              <m:ctrlPr>
                                <a:rPr lang="zh-CN" sz="135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sSub>
                                <m:e>
                                  <m:r>
                                    <a:rPr lang="zh-CN" sz="135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x</m:t>
                                  </m:r>
                                </m:e>
                                <m:sub>
                                  <m:r>
                                    <a:rPr lang="zh-CN" sz="135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0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a:rPr lang="zh-CN" sz="135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,</m:t>
                              </m:r>
                              <m:sSub>
                                <m:e>
                                  <m:r>
                                    <a:rPr lang="zh-CN" sz="135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x</m:t>
                                  </m:r>
                                </m:e>
                                <m:sub>
                                  <m:r>
                                    <a:rPr lang="zh-CN" sz="135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a:rPr lang="zh-CN" sz="135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,</m:t>
                              </m:r>
                              <m:sSub>
                                <m:e>
                                  <m:r>
                                    <a:rPr lang="zh-CN" sz="135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x</m:t>
                                  </m:r>
                                </m:e>
                                <m:sub>
                                  <m:r>
                                    <a:rPr lang="zh-CN" sz="135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d>
                          <m:d>
                            <m:dPr>
                              <m:begChr m:val="("/>
                              <m:sepChr m:val=""/>
                              <m:endChr m:val=")"/>
                              <m:grow m:val="on"/>
                              <m:ctrlPr>
                                <a:rPr lang="zh-CN" sz="135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r>
                                <a:rPr lang="zh-CN" sz="135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a:rPr lang="zh-CN" sz="135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−</m:t>
                              </m:r>
                              <m:sSub>
                                <m:e>
                                  <m:r>
                                    <a:rPr lang="zh-CN" sz="135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x</m:t>
                                  </m:r>
                                </m:e>
                                <m:sub>
                                  <m:r>
                                    <a:rPr lang="zh-CN" sz="135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0</m:t>
                                  </m:r>
                                </m:sub>
                              </m:sSub>
                            </m:e>
                          </m:d>
                          <m:d>
                            <m:dPr>
                              <m:begChr m:val="("/>
                              <m:sepChr m:val=""/>
                              <m:endChr m:val=")"/>
                              <m:grow m:val="on"/>
                              <m:ctrlPr>
                                <a:rPr lang="zh-CN" sz="135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r>
                                <a:rPr lang="zh-CN" sz="135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a:rPr lang="zh-CN" sz="135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−</m:t>
                              </m:r>
                              <m:sSub>
                                <m:e>
                                  <m:r>
                                    <a:rPr lang="zh-CN" sz="135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x</m:t>
                                  </m:r>
                                </m:e>
                                <m:sub>
                                  <m:r>
                                    <a:rPr lang="zh-CN" sz="135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d>
                        </m:e>
                        <m:e>
                          <m:r>
                            <a:rPr lang="zh-CN" sz="13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&amp;</m:t>
                          </m:r>
                          <m:r>
                            <m:rPr>
                              <m:sty m:val="p"/>
                            </m:rPr>
                            <a:rPr lang="zh-CN" sz="13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+⋯+</m:t>
                          </m:r>
                          <m:r>
                            <a:rPr lang="zh-CN" sz="13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f</m:t>
                          </m:r>
                          <m:d>
                            <m:dPr>
                              <m:begChr m:val="["/>
                              <m:sepChr m:val=""/>
                              <m:endChr m:val="]"/>
                              <m:grow m:val="on"/>
                              <m:ctrlPr>
                                <a:rPr lang="zh-CN" sz="135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sSub>
                                <m:e>
                                  <m:r>
                                    <a:rPr lang="zh-CN" sz="135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x</m:t>
                                  </m:r>
                                </m:e>
                                <m:sub>
                                  <m:r>
                                    <a:rPr lang="zh-CN" sz="135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0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a:rPr lang="zh-CN" sz="135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,…,</m:t>
                              </m:r>
                              <m:sSub>
                                <m:e>
                                  <m:r>
                                    <a:rPr lang="zh-CN" sz="135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x</m:t>
                                  </m:r>
                                </m:e>
                                <m:sub>
                                  <m:r>
                                    <a:rPr lang="zh-CN" sz="135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n</m:t>
                                  </m:r>
                                </m:sub>
                              </m:sSub>
                            </m:e>
                          </m:d>
                          <m:d>
                            <m:dPr>
                              <m:begChr m:val="("/>
                              <m:sepChr m:val=""/>
                              <m:endChr m:val=")"/>
                              <m:grow m:val="on"/>
                              <m:ctrlPr>
                                <a:rPr lang="zh-CN" sz="135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r>
                                <a:rPr lang="zh-CN" sz="135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a:rPr lang="zh-CN" sz="135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−</m:t>
                              </m:r>
                              <m:sSub>
                                <m:e>
                                  <m:r>
                                    <a:rPr lang="zh-CN" sz="135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x</m:t>
                                  </m:r>
                                </m:e>
                                <m:sub>
                                  <m:r>
                                    <a:rPr lang="zh-CN" sz="135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0</m:t>
                                  </m:r>
                                </m:sub>
                              </m:sSub>
                            </m:e>
                          </m:d>
                          <m:r>
                            <m:rPr>
                              <m:sty m:val="p"/>
                            </m:rPr>
                            <a:rPr lang="zh-CN" sz="13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⋯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 m:val="on"/>
                              <m:ctrlPr>
                                <a:rPr lang="zh-CN" sz="135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r>
                                <a:rPr lang="zh-CN" sz="135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a:rPr lang="zh-CN" sz="135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−</m:t>
                              </m:r>
                              <m:sSub>
                                <m:e>
                                  <m:r>
                                    <a:rPr lang="zh-CN" sz="135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x</m:t>
                                  </m:r>
                                </m:e>
                                <m:sub>
                                  <m:r>
                                    <a:rPr lang="zh-CN" sz="135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n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zh-CN" sz="135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−</m:t>
                                  </m:r>
                                  <m:r>
                                    <a:rPr lang="zh-CN" sz="135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d>
                        </m:e>
                        <m:e>
                          <m:r>
                            <a:rPr lang="zh-CN" sz="13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&amp;</m:t>
                          </m:r>
                          <m:r>
                            <m:rPr>
                              <m:sty m:val="p"/>
                            </m:rPr>
                            <a:rPr lang="zh-CN" sz="13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+</m:t>
                          </m:r>
                          <m:r>
                            <a:rPr lang="zh-CN" sz="13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f</m:t>
                          </m:r>
                          <m:d>
                            <m:dPr>
                              <m:begChr m:val="["/>
                              <m:sepChr m:val=""/>
                              <m:endChr m:val="]"/>
                              <m:grow m:val="on"/>
                              <m:ctrlPr>
                                <a:rPr lang="zh-CN" sz="135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r>
                                <a:rPr lang="zh-CN" sz="135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a:rPr lang="zh-CN" sz="135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,</m:t>
                              </m:r>
                              <m:sSub>
                                <m:e>
                                  <m:r>
                                    <a:rPr lang="zh-CN" sz="135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x</m:t>
                                  </m:r>
                                </m:e>
                                <m:sub>
                                  <m:r>
                                    <a:rPr lang="zh-CN" sz="135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0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a:rPr lang="zh-CN" sz="135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,…,</m:t>
                              </m:r>
                              <m:sSub>
                                <m:e>
                                  <m:r>
                                    <a:rPr lang="zh-CN" sz="135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x</m:t>
                                  </m:r>
                                </m:e>
                                <m:sub>
                                  <m:r>
                                    <a:rPr lang="zh-CN" sz="135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n</m:t>
                                  </m:r>
                                </m:sub>
                              </m:sSub>
                            </m:e>
                          </m:d>
                          <m:r>
                            <a:rPr lang="zh-CN" sz="13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 xml:space="preserve"> </m:t>
                          </m:r>
                          <m:sSub>
                            <m:e>
                              <m:r>
                                <a:rPr lang="zh-CN" sz="135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ω</m:t>
                              </m:r>
                            </m:e>
                            <m:sub>
                              <m:r>
                                <a:rPr lang="zh-CN" sz="135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n</m:t>
                              </m:r>
                              <m:r>
                                <m:rPr>
                                  <m:sty m:val="p"/>
                                </m:rPr>
                                <a:rPr lang="zh-CN" sz="135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+</m:t>
                              </m:r>
                              <m:r>
                                <a:rPr lang="zh-CN" sz="135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1</m:t>
                              </m:r>
                            </m:sub>
                          </m:sSub>
                          <m:d>
                            <m:dPr>
                              <m:begChr m:val="("/>
                              <m:sepChr m:val=""/>
                              <m:endChr m:val=")"/>
                              <m:grow m:val="on"/>
                              <m:ctrlPr>
                                <a:rPr lang="zh-CN" sz="135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r>
                                <a:rPr lang="zh-CN" sz="135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x</m:t>
                              </m:r>
                            </m:e>
                          </m:d>
                        </m:e>
                      </m:eqArr>
                    </m:oMath>
                  </m:oMathPara>
                </a14:m>
              </a:p>
            </p:txBody>
          </p:sp>
        </mc:Choice>
      </mc:AlternateContent>
      <p:grpSp>
        <p:nvGrpSpPr>
          <p:cNvPr id="28" name="c2-card-3"/>
          <p:cNvGrpSpPr/>
          <p:nvPr/>
        </p:nvGrpSpPr>
        <p:grpSpPr>
          <a:xfrm>
            <a:off x="6248400" y="3308032"/>
            <a:ext cx="5410200" cy="2241232"/>
            <a:chOff x="6248400" y="3308032"/>
            <a:chExt cx="5410200" cy="2241232"/>
          </a:xfrm>
        </p:grpSpPr>
        <p:sp>
          <p:nvSpPr>
            <p:cNvPr id="24" name="Rectangle 24"/>
            <p:cNvSpPr/>
            <p:nvPr/>
          </p:nvSpPr>
          <p:spPr>
            <a:xfrm>
              <a:off x="6248400" y="3308032"/>
              <a:ext cx="5410200" cy="2241232"/>
            </a:xfrm>
            <a:prstGeom prst="roundRect">
              <a:avLst>
                <a:gd name="adj" fmla="val 5950"/>
              </a:avLst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6457950" y="3517582"/>
              <a:ext cx="494348" cy="257175"/>
            </a:xfrm>
            <a:prstGeom prst="roundRect">
              <a:avLst>
                <a:gd name="adj" fmla="val 50000"/>
              </a:avLst>
            </a:prstGeom>
            <a:solidFill>
              <a:srgbClr val="23613D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548158" y="3553301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结论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6450330" y="3894772"/>
              <a:ext cx="469011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 xml:space="preserve">f(x) = Nₙ(x) + Rₙ(x)：前 n+1 项是 </a:t>
              </a:r>
              <a:r>
                <a:rPr lang="zh-CN" sz="15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Newton 插值多项</a:t>
              </a:r>
              <a:br/>
              <a:r>
                <a:rPr lang="zh-CN" sz="15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式</a:t>
              </a:r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 xml:space="preserve"> Nₙ(x)，最后一项是余项 Rₙ(x)。</a:t>
              </a:r>
            </a:p>
          </p:txBody>
        </p:sp>
      </p:grpSp>
      <p:grpSp>
        <p:nvGrpSpPr>
          <p:cNvPr id="31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29" name="TextBox 29"/>
            <p:cNvSpPr txBox="1"/>
            <p:nvPr/>
          </p:nvSpPr>
          <p:spPr>
            <a:xfrm>
              <a:off x="528447" y="6581299"/>
              <a:ext cx="225267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计算方法 · 第5章 函数插值与曲线拟合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26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9402556" cy="909257"/>
            <a:chOff x="520446" y="342900"/>
            <a:chExt cx="9402556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1987868" cy="266700"/>
            </a:xfrm>
            <a:prstGeom prst="roundRect">
              <a:avLst>
                <a:gd name="adj" fmla="val 50000"/>
              </a:avLst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08957" y="407194"/>
              <a:ext cx="183580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第5章 函数插值 · 牛顿插值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9402556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Newton 插值公式：系数取差商，余项与 Lagrange 公式相同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E7D4F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1" name="c1-card-1"/>
          <p:cNvGrpSpPr/>
          <p:nvPr/>
        </p:nvGrpSpPr>
        <p:grpSpPr>
          <a:xfrm>
            <a:off x="533400" y="1524000"/>
            <a:ext cx="6059805" cy="1270635"/>
            <a:chOff x="533400" y="1524000"/>
            <a:chExt cx="6059805" cy="1270635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6059805" cy="1270635"/>
            </a:xfrm>
            <a:prstGeom prst="roundRect">
              <a:avLst>
                <a:gd name="adj" fmla="val 10495"/>
              </a:avLst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8" name="Rectangle 8"/>
            <p:cNvSpPr/>
            <p:nvPr/>
          </p:nvSpPr>
          <p:spPr>
            <a:xfrm>
              <a:off x="742950" y="1733550"/>
              <a:ext cx="1802130" cy="257175"/>
            </a:xfrm>
            <a:prstGeom prst="roundRect">
              <a:avLst>
                <a:gd name="adj" fmla="val 50000"/>
              </a:avLst>
            </a:prstGeom>
            <a:solidFill>
              <a:srgbClr val="23613D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791090" y="1769269"/>
              <a:ext cx="170585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n 次 Newton 插值多项式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0" name="formula150"/>
                <p:cNvSpPr txBox="1">
                  <a:spLocks noGrp="1"/>
                </p:cNvSpPr>
                <p:nvPr/>
              </p:nvSpPr>
              <p:spPr>
                <a:xfrm>
                  <a:off x="742950" y="2085975"/>
                  <a:ext cx="5640705" cy="48006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lIns="0" tIns="0" rIns="0" bIns="0" wrap="none" anchor="ctr">
                  <a:normAutofit/>
                </a:bodyPr>
                <a:lstStyle/>
                <a:p>
                  <a:pPr algn="ctr"/>
                  <a14:m>
                    <m:oMathPara xmlns:a="http://schemas.openxmlformats.org/drawingml/2006/main" xmlns:m="http://schemas.openxmlformats.org/officeDocument/2006/math">
                      <m:oMathParaPr>
                        <m:jc m:val="center"/>
                      </m:oMathParaPr>
                      <m:oMath>
                        <m:eqArr>
                          <m:eqArrPr>
                            <m:baseJc m:val="center"/>
                          </m:eqArrPr>
                          <m:e>
                            <m:sSub>
                              <m:e>
                                <m:r>
                                  <a:rPr lang="zh-CN" sz="1050" dirty="0">
                                    <a:solidFill>
                                      <a:srgbClr val="FFFF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N</m:t>
                                </m:r>
                              </m:e>
                              <m:sub>
                                <m:r>
                                  <a:rPr lang="zh-CN" sz="1050" dirty="0">
                                    <a:solidFill>
                                      <a:srgbClr val="FFFF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n</m:t>
                                </m:r>
                              </m:sub>
                            </m:sSub>
                            <m:d>
                              <m:dPr>
                                <m:begChr m:val="("/>
                                <m:sepChr m:val=""/>
                                <m:endChr m:val=")"/>
                                <m:grow m:val="on"/>
                                <m:ctrlPr>
                                  <a:rPr lang="zh-CN" sz="1050" dirty="0">
                                    <a:solidFill>
                                      <a:srgbClr val="FFFF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</m:ctrlPr>
                              </m:dPr>
                              <m:e>
                                <m:r>
                                  <a:rPr lang="zh-CN" sz="1050" dirty="0">
                                    <a:solidFill>
                                      <a:srgbClr val="FFFF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x</m:t>
                                </m:r>
                              </m:e>
                            </m:d>
                            <m:r>
                              <m:rPr>
                                <m:sty m:val="p"/>
                              </m:rPr>
                              <a:rPr lang="zh-CN" sz="105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=</m:t>
                            </m:r>
                            <m:r>
                              <a:rPr lang="zh-CN" sz="105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 xml:space="preserve"> </m:t>
                            </m:r>
                            <m:r>
                              <a:rPr lang="zh-CN" sz="105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&amp;</m:t>
                            </m:r>
                            <m:r>
                              <a:rPr lang="zh-CN" sz="105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f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 m:val="on"/>
                                <m:ctrlPr>
                                  <a:rPr lang="zh-CN" sz="1050" dirty="0">
                                    <a:solidFill>
                                      <a:srgbClr val="FFFF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</m:ctrlPr>
                              </m:dPr>
                              <m:e>
                                <m:sSub>
                                  <m:e>
                                    <m:r>
                                      <a:rPr lang="zh-CN" sz="1050" dirty="0">
                                        <a:solidFill>
                                          <a:srgbClr val="FFFFFF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x</m:t>
                                    </m:r>
                                  </m:e>
                                  <m:sub>
                                    <m:r>
                                      <a:rPr lang="zh-CN" sz="1050" dirty="0">
                                        <a:solidFill>
                                          <a:srgbClr val="FFFFFF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0</m:t>
                                    </m:r>
                                  </m:sub>
                                </m:sSub>
                              </m:e>
                            </m:d>
                            <m:r>
                              <m:rPr>
                                <m:sty m:val="p"/>
                              </m:rPr>
                              <a:rPr lang="zh-CN" sz="105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+</m:t>
                            </m:r>
                            <m:r>
                              <a:rPr lang="zh-CN" sz="105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f</m:t>
                            </m:r>
                            <m:d>
                              <m:dPr>
                                <m:begChr m:val="["/>
                                <m:sepChr m:val=""/>
                                <m:endChr m:val="]"/>
                                <m:grow m:val="on"/>
                                <m:ctrlPr>
                                  <a:rPr lang="zh-CN" sz="1050" dirty="0">
                                    <a:solidFill>
                                      <a:srgbClr val="FFFF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</m:ctrlPr>
                              </m:dPr>
                              <m:e>
                                <m:sSub>
                                  <m:e>
                                    <m:r>
                                      <a:rPr lang="zh-CN" sz="1050" dirty="0">
                                        <a:solidFill>
                                          <a:srgbClr val="FFFFFF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x</m:t>
                                    </m:r>
                                  </m:e>
                                  <m:sub>
                                    <m:r>
                                      <a:rPr lang="zh-CN" sz="1050" dirty="0">
                                        <a:solidFill>
                                          <a:srgbClr val="FFFFFF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0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a:rPr lang="zh-CN" sz="1050" dirty="0">
                                    <a:solidFill>
                                      <a:srgbClr val="FFFF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,</m:t>
                                </m:r>
                                <m:sSub>
                                  <m:e>
                                    <m:r>
                                      <a:rPr lang="zh-CN" sz="1050" dirty="0">
                                        <a:solidFill>
                                          <a:srgbClr val="FFFFFF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x</m:t>
                                    </m:r>
                                  </m:e>
                                  <m:sub>
                                    <m:r>
                                      <a:rPr lang="zh-CN" sz="1050" dirty="0">
                                        <a:solidFill>
                                          <a:srgbClr val="FFFFFF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</m:d>
                            <m:d>
                              <m:dPr>
                                <m:begChr m:val="("/>
                                <m:sepChr m:val=""/>
                                <m:endChr m:val=")"/>
                                <m:grow m:val="on"/>
                                <m:ctrlPr>
                                  <a:rPr lang="zh-CN" sz="1050" dirty="0">
                                    <a:solidFill>
                                      <a:srgbClr val="FFFF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</m:ctrlPr>
                              </m:dPr>
                              <m:e>
                                <m:r>
                                  <a:rPr lang="zh-CN" sz="1050" dirty="0">
                                    <a:solidFill>
                                      <a:srgbClr val="FFFF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x</m:t>
                                </m:r>
                                <m:r>
                                  <m:rPr>
                                    <m:sty m:val="p"/>
                                  </m:rPr>
                                  <a:rPr lang="zh-CN" sz="1050" dirty="0">
                                    <a:solidFill>
                                      <a:srgbClr val="FFFF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−</m:t>
                                </m:r>
                                <m:sSub>
                                  <m:e>
                                    <m:r>
                                      <a:rPr lang="zh-CN" sz="1050" dirty="0">
                                        <a:solidFill>
                                          <a:srgbClr val="FFFFFF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x</m:t>
                                    </m:r>
                                  </m:e>
                                  <m:sub>
                                    <m:r>
                                      <a:rPr lang="zh-CN" sz="1050" dirty="0">
                                        <a:solidFill>
                                          <a:srgbClr val="FFFFFF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0</m:t>
                                    </m:r>
                                  </m:sub>
                                </m:sSub>
                              </m:e>
                            </m:d>
                            <m:r>
                              <m:rPr>
                                <m:sty m:val="p"/>
                              </m:rPr>
                              <a:rPr lang="zh-CN" sz="105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+</m:t>
                            </m:r>
                            <m:r>
                              <a:rPr lang="zh-CN" sz="105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f</m:t>
                            </m:r>
                            <m:d>
                              <m:dPr>
                                <m:begChr m:val="["/>
                                <m:sepChr m:val=""/>
                                <m:endChr m:val="]"/>
                                <m:grow m:val="on"/>
                                <m:ctrlPr>
                                  <a:rPr lang="zh-CN" sz="1050" dirty="0">
                                    <a:solidFill>
                                      <a:srgbClr val="FFFF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</m:ctrlPr>
                              </m:dPr>
                              <m:e>
                                <m:sSub>
                                  <m:e>
                                    <m:r>
                                      <a:rPr lang="zh-CN" sz="1050" dirty="0">
                                        <a:solidFill>
                                          <a:srgbClr val="FFFFFF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x</m:t>
                                    </m:r>
                                  </m:e>
                                  <m:sub>
                                    <m:r>
                                      <a:rPr lang="zh-CN" sz="1050" dirty="0">
                                        <a:solidFill>
                                          <a:srgbClr val="FFFFFF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0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a:rPr lang="zh-CN" sz="1050" dirty="0">
                                    <a:solidFill>
                                      <a:srgbClr val="FFFF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,</m:t>
                                </m:r>
                                <m:sSub>
                                  <m:e>
                                    <m:r>
                                      <a:rPr lang="zh-CN" sz="1050" dirty="0">
                                        <a:solidFill>
                                          <a:srgbClr val="FFFFFF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x</m:t>
                                    </m:r>
                                  </m:e>
                                  <m:sub>
                                    <m:r>
                                      <a:rPr lang="zh-CN" sz="1050" dirty="0">
                                        <a:solidFill>
                                          <a:srgbClr val="FFFFFF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1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a:rPr lang="zh-CN" sz="1050" dirty="0">
                                    <a:solidFill>
                                      <a:srgbClr val="FFFF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,</m:t>
                                </m:r>
                                <m:sSub>
                                  <m:e>
                                    <m:r>
                                      <a:rPr lang="zh-CN" sz="1050" dirty="0">
                                        <a:solidFill>
                                          <a:srgbClr val="FFFFFF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x</m:t>
                                    </m:r>
                                  </m:e>
                                  <m:sub>
                                    <m:r>
                                      <a:rPr lang="zh-CN" sz="1050" dirty="0">
                                        <a:solidFill>
                                          <a:srgbClr val="FFFFFF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2</m:t>
                                    </m:r>
                                  </m:sub>
                                </m:sSub>
                              </m:e>
                            </m:d>
                            <m:d>
                              <m:dPr>
                                <m:begChr m:val="("/>
                                <m:sepChr m:val=""/>
                                <m:endChr m:val=")"/>
                                <m:grow m:val="on"/>
                                <m:ctrlPr>
                                  <a:rPr lang="zh-CN" sz="1050" dirty="0">
                                    <a:solidFill>
                                      <a:srgbClr val="FFFF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</m:ctrlPr>
                              </m:dPr>
                              <m:e>
                                <m:r>
                                  <a:rPr lang="zh-CN" sz="1050" dirty="0">
                                    <a:solidFill>
                                      <a:srgbClr val="FFFF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x</m:t>
                                </m:r>
                                <m:r>
                                  <m:rPr>
                                    <m:sty m:val="p"/>
                                  </m:rPr>
                                  <a:rPr lang="zh-CN" sz="1050" dirty="0">
                                    <a:solidFill>
                                      <a:srgbClr val="FFFF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−</m:t>
                                </m:r>
                                <m:sSub>
                                  <m:e>
                                    <m:r>
                                      <a:rPr lang="zh-CN" sz="1050" dirty="0">
                                        <a:solidFill>
                                          <a:srgbClr val="FFFFFF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x</m:t>
                                    </m:r>
                                  </m:e>
                                  <m:sub>
                                    <m:r>
                                      <a:rPr lang="zh-CN" sz="1050" dirty="0">
                                        <a:solidFill>
                                          <a:srgbClr val="FFFFFF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0</m:t>
                                    </m:r>
                                  </m:sub>
                                </m:sSub>
                              </m:e>
                            </m:d>
                            <m:d>
                              <m:dPr>
                                <m:begChr m:val="("/>
                                <m:sepChr m:val=""/>
                                <m:endChr m:val=")"/>
                                <m:grow m:val="on"/>
                                <m:ctrlPr>
                                  <a:rPr lang="zh-CN" sz="1050" dirty="0">
                                    <a:solidFill>
                                      <a:srgbClr val="FFFF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</m:ctrlPr>
                              </m:dPr>
                              <m:e>
                                <m:r>
                                  <a:rPr lang="zh-CN" sz="1050" dirty="0">
                                    <a:solidFill>
                                      <a:srgbClr val="FFFF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x</m:t>
                                </m:r>
                                <m:r>
                                  <m:rPr>
                                    <m:sty m:val="p"/>
                                  </m:rPr>
                                  <a:rPr lang="zh-CN" sz="1050" dirty="0">
                                    <a:solidFill>
                                      <a:srgbClr val="FFFF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−</m:t>
                                </m:r>
                                <m:sSub>
                                  <m:e>
                                    <m:r>
                                      <a:rPr lang="zh-CN" sz="1050" dirty="0">
                                        <a:solidFill>
                                          <a:srgbClr val="FFFFFF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x</m:t>
                                    </m:r>
                                  </m:e>
                                  <m:sub>
                                    <m:r>
                                      <a:rPr lang="zh-CN" sz="1050" dirty="0">
                                        <a:solidFill>
                                          <a:srgbClr val="FFFFFF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</m:d>
                          </m:e>
                          <m:e>
                            <m:r>
                              <a:rPr lang="zh-CN" sz="105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&amp;</m:t>
                            </m:r>
                            <m:r>
                              <m:rPr>
                                <m:sty m:val="p"/>
                              </m:rPr>
                              <a:rPr lang="zh-CN" sz="105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+⋯+</m:t>
                            </m:r>
                            <m:r>
                              <a:rPr lang="zh-CN" sz="105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f</m:t>
                            </m:r>
                            <m:d>
                              <m:dPr>
                                <m:begChr m:val="["/>
                                <m:sepChr m:val=""/>
                                <m:endChr m:val="]"/>
                                <m:grow m:val="on"/>
                                <m:ctrlPr>
                                  <a:rPr lang="zh-CN" sz="1050" dirty="0">
                                    <a:solidFill>
                                      <a:srgbClr val="FFFF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</m:ctrlPr>
                              </m:dPr>
                              <m:e>
                                <m:sSub>
                                  <m:e>
                                    <m:r>
                                      <a:rPr lang="zh-CN" sz="1050" dirty="0">
                                        <a:solidFill>
                                          <a:srgbClr val="FFFFFF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x</m:t>
                                    </m:r>
                                  </m:e>
                                  <m:sub>
                                    <m:r>
                                      <a:rPr lang="zh-CN" sz="1050" dirty="0">
                                        <a:solidFill>
                                          <a:srgbClr val="FFFFFF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0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a:rPr lang="zh-CN" sz="1050" dirty="0">
                                    <a:solidFill>
                                      <a:srgbClr val="FFFF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,</m:t>
                                </m:r>
                                <m:sSub>
                                  <m:e>
                                    <m:r>
                                      <a:rPr lang="zh-CN" sz="1050" dirty="0">
                                        <a:solidFill>
                                          <a:srgbClr val="FFFFFF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x</m:t>
                                    </m:r>
                                  </m:e>
                                  <m:sub>
                                    <m:r>
                                      <a:rPr lang="zh-CN" sz="1050" dirty="0">
                                        <a:solidFill>
                                          <a:srgbClr val="FFFFFF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1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a:rPr lang="zh-CN" sz="1050" dirty="0">
                                    <a:solidFill>
                                      <a:srgbClr val="FFFF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,…,</m:t>
                                </m:r>
                                <m:sSub>
                                  <m:e>
                                    <m:r>
                                      <a:rPr lang="zh-CN" sz="1050" dirty="0">
                                        <a:solidFill>
                                          <a:srgbClr val="FFFFFF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x</m:t>
                                    </m:r>
                                  </m:e>
                                  <m:sub>
                                    <m:r>
                                      <a:rPr lang="zh-CN" sz="1050" dirty="0">
                                        <a:solidFill>
                                          <a:srgbClr val="FFFFFF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n</m:t>
                                    </m:r>
                                  </m:sub>
                                </m:sSub>
                              </m:e>
                            </m:d>
                            <m:d>
                              <m:dPr>
                                <m:begChr m:val="("/>
                                <m:sepChr m:val=""/>
                                <m:endChr m:val=")"/>
                                <m:grow m:val="on"/>
                                <m:ctrlPr>
                                  <a:rPr lang="zh-CN" sz="1050" dirty="0">
                                    <a:solidFill>
                                      <a:srgbClr val="FFFF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</m:ctrlPr>
                              </m:dPr>
                              <m:e>
                                <m:r>
                                  <a:rPr lang="zh-CN" sz="1050" dirty="0">
                                    <a:solidFill>
                                      <a:srgbClr val="FFFF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x</m:t>
                                </m:r>
                                <m:r>
                                  <m:rPr>
                                    <m:sty m:val="p"/>
                                  </m:rPr>
                                  <a:rPr lang="zh-CN" sz="1050" dirty="0">
                                    <a:solidFill>
                                      <a:srgbClr val="FFFF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−</m:t>
                                </m:r>
                                <m:sSub>
                                  <m:e>
                                    <m:r>
                                      <a:rPr lang="zh-CN" sz="1050" dirty="0">
                                        <a:solidFill>
                                          <a:srgbClr val="FFFFFF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x</m:t>
                                    </m:r>
                                  </m:e>
                                  <m:sub>
                                    <m:r>
                                      <a:rPr lang="zh-CN" sz="1050" dirty="0">
                                        <a:solidFill>
                                          <a:srgbClr val="FFFFFF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0</m:t>
                                    </m:r>
                                  </m:sub>
                                </m:sSub>
                              </m:e>
                            </m:d>
                            <m:d>
                              <m:dPr>
                                <m:begChr m:val="("/>
                                <m:sepChr m:val=""/>
                                <m:endChr m:val=")"/>
                                <m:grow m:val="on"/>
                                <m:ctrlPr>
                                  <a:rPr lang="zh-CN" sz="1050" dirty="0">
                                    <a:solidFill>
                                      <a:srgbClr val="FFFF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</m:ctrlPr>
                              </m:dPr>
                              <m:e>
                                <m:r>
                                  <a:rPr lang="zh-CN" sz="1050" dirty="0">
                                    <a:solidFill>
                                      <a:srgbClr val="FFFF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x</m:t>
                                </m:r>
                                <m:r>
                                  <m:rPr>
                                    <m:sty m:val="p"/>
                                  </m:rPr>
                                  <a:rPr lang="zh-CN" sz="1050" dirty="0">
                                    <a:solidFill>
                                      <a:srgbClr val="FFFF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−</m:t>
                                </m:r>
                                <m:sSub>
                                  <m:e>
                                    <m:r>
                                      <a:rPr lang="zh-CN" sz="1050" dirty="0">
                                        <a:solidFill>
                                          <a:srgbClr val="FFFFFF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x</m:t>
                                    </m:r>
                                  </m:e>
                                  <m:sub>
                                    <m:r>
                                      <a:rPr lang="zh-CN" sz="1050" dirty="0">
                                        <a:solidFill>
                                          <a:srgbClr val="FFFFFF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</m:d>
                            <m:r>
                              <m:rPr>
                                <m:sty m:val="p"/>
                              </m:rPr>
                              <a:rPr lang="zh-CN" sz="105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⋯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 m:val="on"/>
                                <m:ctrlPr>
                                  <a:rPr lang="zh-CN" sz="1050" dirty="0">
                                    <a:solidFill>
                                      <a:srgbClr val="FFFF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</m:ctrlPr>
                              </m:dPr>
                              <m:e>
                                <m:r>
                                  <a:rPr lang="zh-CN" sz="1050" dirty="0">
                                    <a:solidFill>
                                      <a:srgbClr val="FFFF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x</m:t>
                                </m:r>
                                <m:r>
                                  <m:rPr>
                                    <m:sty m:val="p"/>
                                  </m:rPr>
                                  <a:rPr lang="zh-CN" sz="1050" dirty="0">
                                    <a:solidFill>
                                      <a:srgbClr val="FFFF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−</m:t>
                                </m:r>
                                <m:sSub>
                                  <m:e>
                                    <m:r>
                                      <a:rPr lang="zh-CN" sz="1050" dirty="0">
                                        <a:solidFill>
                                          <a:srgbClr val="FFFFFF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x</m:t>
                                    </m:r>
                                  </m:e>
                                  <m:sub>
                                    <m:r>
                                      <a:rPr lang="zh-CN" sz="1050" dirty="0">
                                        <a:solidFill>
                                          <a:srgbClr val="FFFFFF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n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zh-CN" sz="1050" dirty="0">
                                        <a:solidFill>
                                          <a:srgbClr val="FFFFFF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−</m:t>
                                    </m:r>
                                    <m:r>
                                      <a:rPr lang="zh-CN" sz="1050" dirty="0">
                                        <a:solidFill>
                                          <a:srgbClr val="FFFFFF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</m:d>
                          </m:e>
                        </m:eqArr>
                        <m:r>
                          <a:rPr lang="zh-CN" sz="1050" dirty="0">
                            <a:solidFill>
                              <a:srgbClr val="FFFFFF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 xml:space="preserve"> </m:t>
                        </m:r>
                        <m:d>
                          <m:dPr>
                            <m:begChr m:val="("/>
                            <m:sepChr m:val=""/>
                            <m:endChr m:val=")"/>
                            <m:grow m:val="on"/>
                            <m:ctrlPr>
                              <a:rPr lang="zh-CN" sz="105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r>
                              <a:rPr lang="zh-CN" sz="105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5.3.8</m:t>
                            </m:r>
                          </m:e>
                        </m:d>
                      </m:oMath>
                    </m:oMathPara>
                  </a14:m>
                </a:p>
              </p:txBody>
            </p:sp>
          </mc:Choice>
        </mc:AlternateContent>
      </p:grpSp>
      <p:grpSp>
        <p:nvGrpSpPr>
          <p:cNvPr id="13" name="c1-text-2"/>
          <p:cNvGrpSpPr/>
          <p:nvPr/>
        </p:nvGrpSpPr>
        <p:grpSpPr>
          <a:xfrm>
            <a:off x="525780" y="3009900"/>
            <a:ext cx="5749290" cy="588645"/>
            <a:chOff x="525780" y="3009900"/>
            <a:chExt cx="5749290" cy="588645"/>
          </a:xfrm>
        </p:grpSpPr>
        <p:sp>
          <p:nvSpPr>
            <p:cNvPr id="12" name="TextBox 12"/>
            <p:cNvSpPr txBox="1"/>
            <p:nvPr/>
          </p:nvSpPr>
          <p:spPr>
            <a:xfrm>
              <a:off x="525780" y="3009900"/>
              <a:ext cx="5749290" cy="58864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325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满足同样插值条件的 n 次多项式唯一，所以 Nₙ(x) ≡ Lₙ(x)，余项也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相同：</a:t>
              </a:r>
            </a:p>
          </p:txBody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14" name="formula151"/>
              <p:cNvSpPr txBox="1">
                <a:spLocks noGrp="1"/>
              </p:cNvSpPr>
              <p:nvPr/>
            </p:nvSpPr>
            <p:spPr>
              <a:xfrm>
                <a:off x="533400" y="3729990"/>
                <a:ext cx="6059805" cy="43719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lIns="0" tIns="0" rIns="0" bIns="0" wrap="none" anchor="ctr">
                <a:normAutofit/>
              </a:bodyPr>
              <a:lstStyle/>
              <a:p>
                <a:pPr algn="ctr"/>
                <a14:m>
                  <m:oMathPara xmlns:a="http://schemas.openxmlformats.org/drawingml/2006/main"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a:rPr lang="zh-CN" sz="12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R</m:t>
                          </m:r>
                        </m:e>
                        <m:sub>
                          <m:r>
                            <a:rPr lang="zh-CN" sz="12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n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 m:val="on"/>
                          <m:ctrlPr>
                            <a:rPr lang="zh-CN" sz="12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a:rPr lang="zh-CN" sz="12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a:rPr lang="zh-CN" sz="128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r>
                        <a:rPr lang="zh-CN" sz="128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f</m:t>
                      </m:r>
                      <m:d>
                        <m:dPr>
                          <m:begChr m:val="("/>
                          <m:sepChr m:val=""/>
                          <m:endChr m:val=")"/>
                          <m:grow m:val="on"/>
                          <m:ctrlPr>
                            <a:rPr lang="zh-CN" sz="12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a:rPr lang="zh-CN" sz="12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a:rPr lang="zh-CN" sz="128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−</m:t>
                      </m:r>
                      <m:sSub>
                        <m:e>
                          <m:r>
                            <a:rPr lang="zh-CN" sz="12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N</m:t>
                          </m:r>
                        </m:e>
                        <m:sub>
                          <m:r>
                            <a:rPr lang="zh-CN" sz="12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n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 m:val="on"/>
                          <m:ctrlPr>
                            <a:rPr lang="zh-CN" sz="12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a:rPr lang="zh-CN" sz="12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a:rPr lang="zh-CN" sz="128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f>
                        <m:fPr>
                          <m:type m:val="bar"/>
                          <m:ctrlPr>
                            <a:rPr lang="zh-CN" sz="12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Pr>
                        <m:num>
                          <m:sSup>
                            <m:e>
                              <m:r>
                                <a:rPr lang="zh-CN" sz="12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f</m:t>
                              </m:r>
                            </m:e>
                            <m:sup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 m:val="on"/>
                                  <m:ctrlPr>
                                    <a:rPr lang="zh-CN" sz="128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dPr>
                                <m:e>
                                  <m:r>
                                    <a:rPr lang="zh-CN" sz="128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n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zh-CN" sz="128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+</m:t>
                                  </m:r>
                                  <m:r>
                                    <a:rPr lang="zh-CN" sz="128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1</m:t>
                                  </m:r>
                                </m:e>
                              </m:d>
                            </m:sup>
                          </m:sSup>
                          <m:d>
                            <m:dPr>
                              <m:begChr m:val="("/>
                              <m:sepChr m:val=""/>
                              <m:endChr m:val=")"/>
                              <m:grow m:val="on"/>
                              <m:ctrlPr>
                                <a:rPr lang="zh-CN" sz="12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r>
                                <a:rPr lang="zh-CN" sz="12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ξ</m:t>
                              </m:r>
                            </m:e>
                          </m:d>
                        </m:num>
                        <m:den>
                          <m:d>
                            <m:dPr>
                              <m:begChr m:val="("/>
                              <m:sepChr m:val=""/>
                              <m:endChr m:val=")"/>
                              <m:grow m:val="on"/>
                              <m:ctrlPr>
                                <a:rPr lang="zh-CN" sz="12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r>
                                <a:rPr lang="zh-CN" sz="12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n</m:t>
                              </m:r>
                              <m:r>
                                <m:rPr>
                                  <m:sty m:val="p"/>
                                </m:rPr>
                                <a:rPr lang="zh-CN" sz="12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+</m:t>
                              </m:r>
                              <m:r>
                                <a:rPr lang="zh-CN" sz="12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1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a:rPr lang="zh-CN" sz="12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!</m:t>
                          </m:r>
                        </m:den>
                      </m:f>
                      <m:r>
                        <a:rPr lang="zh-CN" sz="128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 xml:space="preserve"> </m:t>
                      </m:r>
                      <m:sSub>
                        <m:e>
                          <m:r>
                            <a:rPr lang="zh-CN" sz="12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ω</m:t>
                          </m:r>
                        </m:e>
                        <m:sub>
                          <m:r>
                            <a:rPr lang="zh-CN" sz="12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n</m:t>
                          </m:r>
                          <m:r>
                            <m:rPr>
                              <m:sty m:val="p"/>
                            </m:rPr>
                            <a:rPr lang="zh-CN" sz="12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+</m:t>
                          </m:r>
                          <m:r>
                            <a:rPr lang="zh-CN" sz="12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 m:val="on"/>
                          <m:ctrlPr>
                            <a:rPr lang="zh-CN" sz="12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a:rPr lang="zh-CN" sz="12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a:rPr lang="zh-CN" sz="128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r>
                        <a:rPr lang="zh-CN" sz="128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f</m:t>
                      </m:r>
                      <m:d>
                        <m:dPr>
                          <m:begChr m:val="["/>
                          <m:sepChr m:val=""/>
                          <m:endChr m:val="]"/>
                          <m:grow m:val="on"/>
                          <m:ctrlPr>
                            <a:rPr lang="zh-CN" sz="12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sSub>
                            <m:e>
                              <m:r>
                                <a:rPr lang="zh-CN" sz="12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x</m:t>
                              </m:r>
                            </m:e>
                            <m:sub>
                              <m:r>
                                <a:rPr lang="zh-CN" sz="12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0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a:rPr lang="zh-CN" sz="12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,…,</m:t>
                          </m:r>
                          <m:sSub>
                            <m:e>
                              <m:r>
                                <a:rPr lang="zh-CN" sz="12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x</m:t>
                              </m:r>
                            </m:e>
                            <m:sub>
                              <m:r>
                                <a:rPr lang="zh-CN" sz="12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n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a:rPr lang="zh-CN" sz="12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,</m:t>
                          </m:r>
                          <m:r>
                            <a:rPr lang="zh-CN" sz="12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x</m:t>
                          </m:r>
                        </m:e>
                      </m:d>
                      <m:r>
                        <a:rPr lang="zh-CN" sz="128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 xml:space="preserve"> </m:t>
                      </m:r>
                      <m:sSub>
                        <m:e>
                          <m:r>
                            <a:rPr lang="zh-CN" sz="12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ω</m:t>
                          </m:r>
                        </m:e>
                        <m:sub>
                          <m:r>
                            <a:rPr lang="zh-CN" sz="12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n</m:t>
                          </m:r>
                          <m:r>
                            <m:rPr>
                              <m:sty m:val="p"/>
                            </m:rPr>
                            <a:rPr lang="zh-CN" sz="12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+</m:t>
                          </m:r>
                          <m:r>
                            <a:rPr lang="zh-CN" sz="12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 m:val="on"/>
                          <m:ctrlPr>
                            <a:rPr lang="zh-CN" sz="12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a:rPr lang="zh-CN" sz="12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x</m:t>
                          </m:r>
                        </m:e>
                      </m:d>
                      <m:r>
                        <a:rPr lang="zh-CN" sz="128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 xml:space="preserve"> </m:t>
                      </m:r>
                      <m:d>
                        <m:dPr>
                          <m:begChr m:val="("/>
                          <m:sepChr m:val=""/>
                          <m:endChr m:val=")"/>
                          <m:grow m:val="on"/>
                          <m:ctrlPr>
                            <a:rPr lang="zh-CN" sz="12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a:rPr lang="zh-CN" sz="12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5.3.10</m:t>
                          </m:r>
                        </m:e>
                      </m:d>
                    </m:oMath>
                  </m:oMathPara>
                </a14:m>
              </a:p>
            </p:txBody>
          </p:sp>
        </mc:Choice>
      </mc:AlternateContent>
      <p:grpSp>
        <p:nvGrpSpPr>
          <p:cNvPr id="16" name="c1-text-4"/>
          <p:cNvGrpSpPr/>
          <p:nvPr/>
        </p:nvGrpSpPr>
        <p:grpSpPr>
          <a:xfrm>
            <a:off x="526923" y="4379119"/>
            <a:ext cx="5401818" cy="752284"/>
            <a:chOff x="526923" y="4379119"/>
            <a:chExt cx="5401818" cy="752284"/>
          </a:xfrm>
        </p:grpSpPr>
        <p:sp>
          <p:nvSpPr>
            <p:cNvPr id="15" name="TextBox 15"/>
            <p:cNvSpPr txBox="1"/>
            <p:nvPr/>
          </p:nvSpPr>
          <p:spPr>
            <a:xfrm>
              <a:off x="526923" y="4379119"/>
              <a:ext cx="5401818" cy="75228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80"/>
                </a:lnSpc>
              </a:pPr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ξ 介于 x, x₀, …, xₙ 之间。f 的高阶导数复杂或表达式未知时用差商形式；</a:t>
              </a:r>
              <a:br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f[x₀, …, xₙ, x] 本身要用到 f(x)，实际计算中常用多一个节点的差商</a:t>
              </a:r>
              <a:br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f[x₀, …, xₙ₊₁] 近似代替。</a:t>
              </a:r>
            </a:p>
          </p:txBody>
        </p:sp>
      </p:grpSp>
      <p:grpSp>
        <p:nvGrpSpPr>
          <p:cNvPr id="23" name="c1-callout-5"/>
          <p:cNvGrpSpPr/>
          <p:nvPr/>
        </p:nvGrpSpPr>
        <p:grpSpPr>
          <a:xfrm>
            <a:off x="533400" y="5270182"/>
            <a:ext cx="6059805" cy="1059180"/>
            <a:chOff x="533400" y="5270182"/>
            <a:chExt cx="6059805" cy="1059180"/>
          </a:xfrm>
        </p:grpSpPr>
        <p:sp>
          <p:nvSpPr>
            <p:cNvPr id="17" name="Rectangle 17"/>
            <p:cNvSpPr/>
            <p:nvPr/>
          </p:nvSpPr>
          <p:spPr>
            <a:xfrm>
              <a:off x="533400" y="5270182"/>
              <a:ext cx="6059805" cy="1059180"/>
            </a:xfrm>
            <a:prstGeom prst="roundRect">
              <a:avLst>
                <a:gd name="adj" fmla="val 10791"/>
              </a:avLst>
            </a:prstGeom>
            <a:solidFill>
              <a:srgbClr val="FDEEE7"/>
            </a:solidFill>
            <a:ln>
              <a:noFill/>
            </a:ln>
          </p:spPr>
        </p:sp>
        <p:grpSp>
          <p:nvGrpSpPr>
            <p:cNvPr id="21" name="Group 21"/>
            <p:cNvGrpSpPr/>
            <p:nvPr/>
          </p:nvGrpSpPr>
          <p:grpSpPr>
            <a:xfrm>
              <a:off x="738188" y="5699760"/>
              <a:ext cx="200026" cy="200025"/>
              <a:chOff x="738188" y="5699760"/>
              <a:chExt cx="200026" cy="200025"/>
            </a:xfrm>
          </p:grpSpPr>
          <p:sp>
            <p:nvSpPr>
              <p:cNvPr id="18" name="Freeform 18"/>
              <p:cNvSpPr/>
              <p:nvPr/>
            </p:nvSpPr>
            <p:spPr>
              <a:xfrm>
                <a:off x="738188" y="5699760"/>
                <a:ext cx="200026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00013">
                    <a:moveTo>
                      <a:pt x="0" y="100013"/>
                    </a:moveTo>
                    <a:lnTo>
                      <a:pt x="11113" y="100013"/>
                    </a:lnTo>
                    <a:moveTo>
                      <a:pt x="100013" y="0"/>
                    </a:moveTo>
                    <a:lnTo>
                      <a:pt x="100013" y="11113"/>
                    </a:lnTo>
                    <a:moveTo>
                      <a:pt x="188913" y="100013"/>
                    </a:moveTo>
                    <a:lnTo>
                      <a:pt x="200026" y="100013"/>
                    </a:lnTo>
                    <a:moveTo>
                      <a:pt x="28893" y="28893"/>
                    </a:moveTo>
                    <a:lnTo>
                      <a:pt x="36671" y="36671"/>
                    </a:lnTo>
                    <a:moveTo>
                      <a:pt x="171133" y="28893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19" name="Freeform 19"/>
              <p:cNvSpPr/>
              <p:nvPr/>
            </p:nvSpPr>
            <p:spPr>
              <a:xfrm>
                <a:off x="777926" y="5744210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3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3" y="15304"/>
                      <a:pt x="112986" y="37992"/>
                    </a:cubicBezTo>
                    <a:cubicBezTo>
                      <a:pt x="120548" y="60681"/>
                      <a:pt x="112745" y="85663"/>
                      <a:pt x="93612" y="100013"/>
                    </a:cubicBezTo>
                    <a:cubicBezTo>
                      <a:pt x="84812" y="108723"/>
                      <a:pt x="80686" y="121103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3"/>
                      <a:pt x="35736" y="108723"/>
                      <a:pt x="26937" y="100013"/>
                    </a:cubicBez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20" name="Freeform 20"/>
              <p:cNvSpPr/>
              <p:nvPr/>
            </p:nvSpPr>
            <p:spPr>
              <a:xfrm>
                <a:off x="812642" y="5855336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</p:grpSp>
        <p:sp>
          <p:nvSpPr>
            <p:cNvPr id="22" name="TextBox 22"/>
            <p:cNvSpPr txBox="1"/>
            <p:nvPr/>
          </p:nvSpPr>
          <p:spPr>
            <a:xfrm>
              <a:off x="1040130" y="5418772"/>
              <a:ext cx="4939665" cy="8458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由此得到事后估计：Rₙ(x) ≈ f[x₀, …, xₙ₊₁]ωₙ₊₁(x) =</a:t>
              </a:r>
              <a:br/>
              <a:r>
                <a:rPr lang="zh-CN" sz="15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Nₙ₊₁(x) − Nₙ(x)，即相邻两次 Newton 结果之差可以粗估</a:t>
              </a:r>
              <a:br/>
              <a:r>
                <a:rPr lang="zh-CN" sz="15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Nₙ(x) 的误差。</a:t>
              </a:r>
            </a:p>
          </p:txBody>
        </p:sp>
      </p:grpSp>
      <p:grpSp>
        <p:nvGrpSpPr>
          <p:cNvPr id="38" name="c2-card-1"/>
          <p:cNvGrpSpPr/>
          <p:nvPr/>
        </p:nvGrpSpPr>
        <p:grpSpPr>
          <a:xfrm>
            <a:off x="6898005" y="1524000"/>
            <a:ext cx="4760595" cy="2406015"/>
            <a:chOff x="6898005" y="1524000"/>
            <a:chExt cx="4760595" cy="2406015"/>
          </a:xfrm>
        </p:grpSpPr>
        <p:sp>
          <p:nvSpPr>
            <p:cNvPr id="24" name="Rectangle 24"/>
            <p:cNvSpPr/>
            <p:nvPr/>
          </p:nvSpPr>
          <p:spPr>
            <a:xfrm>
              <a:off x="6898005" y="1524000"/>
              <a:ext cx="4760595" cy="2406015"/>
            </a:xfrm>
            <a:prstGeom prst="roundRect">
              <a:avLst>
                <a:gd name="adj" fmla="val 5542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25" name="Rectangle 25"/>
            <p:cNvSpPr/>
            <p:nvPr/>
          </p:nvSpPr>
          <p:spPr>
            <a:xfrm>
              <a:off x="6907530" y="1657350"/>
              <a:ext cx="47625" cy="2139315"/>
            </a:xfrm>
            <a:prstGeom prst="roundRect">
              <a:avLst>
                <a:gd name="adj" fmla="val 50000"/>
              </a:avLst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26" name="Rectangle 26"/>
            <p:cNvSpPr/>
            <p:nvPr/>
          </p:nvSpPr>
          <p:spPr>
            <a:xfrm>
              <a:off x="7145655" y="1733550"/>
              <a:ext cx="1630680" cy="257175"/>
            </a:xfrm>
            <a:prstGeom prst="roundRect">
              <a:avLst>
                <a:gd name="adj" fmla="val 50000"/>
              </a:avLst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7199324" y="1769269"/>
              <a:ext cx="152334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Newton 插值法的特点</a:t>
              </a:r>
            </a:p>
          </p:txBody>
        </p:sp>
        <p:sp>
          <p:nvSpPr>
            <p:cNvPr id="28" name="Ellipse 28"/>
            <p:cNvSpPr/>
            <p:nvPr/>
          </p:nvSpPr>
          <p:spPr>
            <a:xfrm>
              <a:off x="7145655" y="2097405"/>
              <a:ext cx="213360" cy="21336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7207504" y="2139696"/>
              <a:ext cx="89661" cy="1994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7446645" y="2110740"/>
              <a:ext cx="38252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各阶差商由差商表给出，公式用的是表中对角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线上的差商</a:t>
              </a:r>
            </a:p>
          </p:txBody>
        </p:sp>
        <p:sp>
          <p:nvSpPr>
            <p:cNvPr id="31" name="Ellipse 31"/>
            <p:cNvSpPr/>
            <p:nvPr/>
          </p:nvSpPr>
          <p:spPr>
            <a:xfrm>
              <a:off x="7145655" y="2718435"/>
              <a:ext cx="213360" cy="21336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7207504" y="2760726"/>
              <a:ext cx="89661" cy="1994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7446645" y="2731770"/>
              <a:ext cx="28422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每增加一个节点只需增加一项：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4" name="formula152"/>
                <p:cNvSpPr txBox="1">
                  <a:spLocks noGrp="1"/>
                </p:cNvSpPr>
                <p:nvPr/>
              </p:nvSpPr>
              <p:spPr>
                <a:xfrm>
                  <a:off x="7145655" y="3042285"/>
                  <a:ext cx="4303395" cy="32385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lIns="0" tIns="0" rIns="0" bIns="0" wrap="none" anchor="ctr">
                  <a:normAutofit/>
                </a:bodyPr>
                <a:lstStyle/>
                <a:p>
                  <a:pPr algn="ctr"/>
                  <a14:m>
                    <m:oMathPara xmlns:a="http://schemas.openxmlformats.org/drawingml/2006/main" xmlns:m="http://schemas.openxmlformats.org/officeDocument/2006/math">
                      <m:oMathParaPr>
                        <m:jc m:val="center"/>
                      </m:oMathParaPr>
                      <m:oMath>
                        <m:sSub>
                          <m:e>
                            <m:r>
                              <a:rPr lang="zh-CN" sz="12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N</m:t>
                            </m:r>
                          </m:e>
                          <m:sub>
                            <m:r>
                              <a:rPr lang="zh-CN" sz="12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n</m:t>
                            </m:r>
                            <m:r>
                              <m:rPr>
                                <m:sty m:val="p"/>
                              </m:rPr>
                              <a:rPr lang="zh-CN" sz="12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+</m:t>
                            </m:r>
                            <m:r>
                              <a:rPr lang="zh-CN" sz="12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1</m:t>
                            </m:r>
                          </m:sub>
                        </m:sSub>
                        <m:d>
                          <m:dPr>
                            <m:begChr m:val="("/>
                            <m:sepChr m:val=""/>
                            <m:endChr m:val=")"/>
                            <m:grow m:val="on"/>
                            <m:ctrlPr>
                              <a:rPr lang="zh-CN" sz="12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r>
                              <a:rPr lang="zh-CN" sz="12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x</m:t>
                            </m:r>
                          </m:e>
                        </m:d>
                        <m:r>
                          <m:rPr>
                            <m:sty m:val="p"/>
                          </m:rPr>
                          <a:rPr lang="zh-CN" sz="128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=</m:t>
                        </m:r>
                        <m:sSub>
                          <m:e>
                            <m:r>
                              <a:rPr lang="zh-CN" sz="12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N</m:t>
                            </m:r>
                          </m:e>
                          <m:sub>
                            <m:r>
                              <a:rPr lang="zh-CN" sz="12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n</m:t>
                            </m:r>
                          </m:sub>
                        </m:sSub>
                        <m:d>
                          <m:dPr>
                            <m:begChr m:val="("/>
                            <m:sepChr m:val=""/>
                            <m:endChr m:val=")"/>
                            <m:grow m:val="on"/>
                            <m:ctrlPr>
                              <a:rPr lang="zh-CN" sz="12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r>
                              <a:rPr lang="zh-CN" sz="12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x</m:t>
                            </m:r>
                          </m:e>
                        </m:d>
                        <m:r>
                          <m:rPr>
                            <m:sty m:val="p"/>
                          </m:rPr>
                          <a:rPr lang="zh-CN" sz="128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+</m:t>
                        </m:r>
                        <m:r>
                          <a:rPr lang="zh-CN" sz="128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f</m:t>
                        </m:r>
                        <m:d>
                          <m:dPr>
                            <m:begChr m:val="["/>
                            <m:sepChr m:val=""/>
                            <m:endChr m:val="]"/>
                            <m:grow m:val="on"/>
                            <m:ctrlPr>
                              <a:rPr lang="zh-CN" sz="12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sSub>
                              <m:e>
                                <m:r>
                                  <a:rPr lang="zh-CN" sz="12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x</m:t>
                                </m:r>
                              </m:e>
                              <m:sub>
                                <m:r>
                                  <a:rPr lang="zh-CN" sz="12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0</m:t>
                                </m:r>
                              </m:sub>
                            </m:sSub>
                            <m:r>
                              <m:rPr>
                                <m:sty m:val="p"/>
                              </m:rPr>
                              <a:rPr lang="zh-CN" sz="12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,…,</m:t>
                            </m:r>
                            <m:sSub>
                              <m:e>
                                <m:r>
                                  <a:rPr lang="zh-CN" sz="12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x</m:t>
                                </m:r>
                              </m:e>
                              <m:sub>
                                <m:r>
                                  <a:rPr lang="zh-CN" sz="12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n</m:t>
                                </m:r>
                                <m:r>
                                  <m:rPr>
                                    <m:sty m:val="p"/>
                                  </m:rPr>
                                  <a:rPr lang="zh-CN" sz="12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+</m:t>
                                </m:r>
                                <m:r>
                                  <a:rPr lang="zh-CN" sz="12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1</m:t>
                                </m:r>
                              </m:sub>
                            </m:sSub>
                          </m:e>
                        </m:d>
                        <m:d>
                          <m:dPr>
                            <m:begChr m:val="("/>
                            <m:sepChr m:val=""/>
                            <m:endChr m:val=")"/>
                            <m:grow m:val="on"/>
                            <m:ctrlPr>
                              <a:rPr lang="zh-CN" sz="12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r>
                              <a:rPr lang="zh-CN" sz="12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x</m:t>
                            </m:r>
                            <m:r>
                              <m:rPr>
                                <m:sty m:val="p"/>
                              </m:rPr>
                              <a:rPr lang="zh-CN" sz="12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−</m:t>
                            </m:r>
                            <m:sSub>
                              <m:e>
                                <m:r>
                                  <a:rPr lang="zh-CN" sz="12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x</m:t>
                                </m:r>
                              </m:e>
                              <m:sub>
                                <m:r>
                                  <a:rPr lang="zh-CN" sz="12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0</m:t>
                                </m:r>
                              </m:sub>
                            </m:sSub>
                          </m:e>
                        </m:d>
                        <m:r>
                          <m:rPr>
                            <m:sty m:val="p"/>
                          </m:rPr>
                          <a:rPr lang="zh-CN" sz="128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⋯</m:t>
                        </m:r>
                        <m:d>
                          <m:dPr>
                            <m:begChr m:val="("/>
                            <m:sepChr m:val=""/>
                            <m:endChr m:val=")"/>
                            <m:grow m:val="on"/>
                            <m:ctrlPr>
                              <a:rPr lang="zh-CN" sz="12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r>
                              <a:rPr lang="zh-CN" sz="12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x</m:t>
                            </m:r>
                            <m:r>
                              <m:rPr>
                                <m:sty m:val="p"/>
                              </m:rPr>
                              <a:rPr lang="zh-CN" sz="12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−</m:t>
                            </m:r>
                            <m:sSub>
                              <m:e>
                                <m:r>
                                  <a:rPr lang="zh-CN" sz="12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x</m:t>
                                </m:r>
                              </m:e>
                              <m:sub>
                                <m:r>
                                  <a:rPr lang="zh-CN" sz="12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n</m:t>
                                </m:r>
                              </m:sub>
                            </m:sSub>
                          </m:e>
                        </m:d>
                      </m:oMath>
                    </m:oMathPara>
                  </a14:m>
                </a:p>
              </p:txBody>
            </p:sp>
          </mc:Choice>
        </mc:AlternateContent>
        <p:sp>
          <p:nvSpPr>
            <p:cNvPr id="35" name="Ellipse 35"/>
            <p:cNvSpPr/>
            <p:nvPr/>
          </p:nvSpPr>
          <p:spPr>
            <a:xfrm>
              <a:off x="7145655" y="3472815"/>
              <a:ext cx="213360" cy="21336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7207504" y="3515106"/>
              <a:ext cx="89661" cy="1994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7446645" y="3486150"/>
              <a:ext cx="2445544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余项与 Lagrange 插值相同</a:t>
              </a:r>
            </a:p>
          </p:txBody>
        </p:sp>
      </p:grpSp>
      <p:grpSp>
        <p:nvGrpSpPr>
          <p:cNvPr id="52" name="c2-steps-2"/>
          <p:cNvGrpSpPr/>
          <p:nvPr/>
        </p:nvGrpSpPr>
        <p:grpSpPr>
          <a:xfrm>
            <a:off x="6898005" y="4130040"/>
            <a:ext cx="4716186" cy="1878615"/>
            <a:chOff x="6898005" y="4130040"/>
            <a:chExt cx="4716186" cy="1878615"/>
          </a:xfrm>
        </p:grpSpPr>
        <p:sp>
          <p:nvSpPr>
            <p:cNvPr id="39" name="Rectangle 39"/>
            <p:cNvSpPr/>
            <p:nvPr/>
          </p:nvSpPr>
          <p:spPr>
            <a:xfrm>
              <a:off x="7031355" y="4272915"/>
              <a:ext cx="19050" cy="130111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0" name="Ellipse 40"/>
            <p:cNvSpPr/>
            <p:nvPr/>
          </p:nvSpPr>
          <p:spPr>
            <a:xfrm>
              <a:off x="6898005" y="4130040"/>
              <a:ext cx="285750" cy="28575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6991629" y="4203859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42" name="Ellipse 42"/>
            <p:cNvSpPr/>
            <p:nvPr/>
          </p:nvSpPr>
          <p:spPr>
            <a:xfrm>
              <a:off x="6898005" y="4780598"/>
              <a:ext cx="285750" cy="28575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6991629" y="4854416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44" name="Ellipse 44"/>
            <p:cNvSpPr/>
            <p:nvPr/>
          </p:nvSpPr>
          <p:spPr>
            <a:xfrm>
              <a:off x="6898005" y="5431155"/>
              <a:ext cx="285750" cy="28575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6991629" y="550497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7309485" y="4164330"/>
              <a:ext cx="102489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构造差商表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7310628" y="4458176"/>
              <a:ext cx="156377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按给定节点逐列计算</a:t>
              </a: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7309485" y="4814888"/>
              <a:ext cx="1084083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写出 Nₙ(x)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7310628" y="5108734"/>
              <a:ext cx="1391463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系数取表中对角线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7309485" y="5465445"/>
              <a:ext cx="106679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代入 x 求值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7310628" y="5759291"/>
              <a:ext cx="4303563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可按 c₀ + (x − x₀)(c₁ + (x − x₁)(c₂ + ⋯)) 由内向外算</a:t>
              </a:r>
            </a:p>
          </p:txBody>
        </p:sp>
      </p:grpSp>
      <p:grpSp>
        <p:nvGrpSpPr>
          <p:cNvPr id="55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53" name="TextBox 53"/>
            <p:cNvSpPr txBox="1"/>
            <p:nvPr/>
          </p:nvSpPr>
          <p:spPr>
            <a:xfrm>
              <a:off x="528447" y="6581299"/>
              <a:ext cx="225267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计算方法 · 第5章 函数插值与曲线拟合</a:t>
              </a:r>
            </a:p>
          </p:txBody>
        </p:sp>
        <p:sp>
          <p:nvSpPr>
            <p:cNvPr id="54" name="TextBox 54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27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8368495" cy="909257"/>
            <a:chOff x="520446" y="342900"/>
            <a:chExt cx="8368495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1987868" cy="266700"/>
            </a:xfrm>
            <a:prstGeom prst="roundRect">
              <a:avLst>
                <a:gd name="adj" fmla="val 50000"/>
              </a:avLst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08957" y="407194"/>
              <a:ext cx="183580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第5章 函数插值 · 牛顿插值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8368495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插值节点的选择：让 |ωₙ₊₁(x)| 尽量小，避免高次插值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E7D4F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formula155"/>
              <p:cNvSpPr txBox="1">
                <a:spLocks noGrp="1"/>
              </p:cNvSpPr>
              <p:nvPr/>
            </p:nvSpPr>
            <p:spPr>
              <a:xfrm>
                <a:off x="533400" y="1524000"/>
                <a:ext cx="5410200" cy="50196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lIns="0" tIns="0" rIns="0" bIns="0" wrap="none" anchor="ctr">
                <a:normAutofit/>
              </a:bodyPr>
              <a:lstStyle/>
              <a:p>
                <a:pPr algn="ctr"/>
                <a14:m>
                  <m:oMathPara xmlns:a="http://schemas.openxmlformats.org/drawingml/2006/main"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a:rPr lang="zh-CN" sz="12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M</m:t>
                          </m:r>
                        </m:e>
                        <m:sub>
                          <m:r>
                            <a:rPr lang="zh-CN" sz="12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n</m:t>
                          </m:r>
                          <m:r>
                            <m:rPr>
                              <m:sty m:val="p"/>
                            </m:rPr>
                            <a:rPr lang="zh-CN" sz="12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+</m:t>
                          </m:r>
                          <m:r>
                            <a:rPr lang="zh-CN" sz="12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zh-CN" sz="128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func>
                        <m:funcPr/>
                        <m:fName>
                          <m:limLow>
                            <m:limLowPr/>
                            <m:e>
                              <m:r>
                                <m:rPr>
                                  <m:sty m:val="p"/>
                                </m:rPr>
                                <a:rPr lang="zh-CN" sz="12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max</m:t>
                              </m:r>
                            </m:e>
                            <m:lim>
                              <m:r>
                                <a:rPr lang="zh-CN" sz="12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a</m:t>
                              </m:r>
                              <m:r>
                                <m:rPr>
                                  <m:sty m:val="p"/>
                                </m:rPr>
                                <a:rPr lang="zh-CN" sz="12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≤</m:t>
                              </m:r>
                              <m:r>
                                <a:rPr lang="zh-CN" sz="12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a:rPr lang="zh-CN" sz="12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≤</m:t>
                              </m:r>
                              <m:r>
                                <a:rPr lang="zh-CN" sz="12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b</m:t>
                              </m:r>
                            </m:lim>
                          </m:limLow>
                        </m:fName>
                        <m:e>
                          <m:d>
                            <m:dPr>
                              <m:begChr m:val="|"/>
                              <m:sepChr m:val=""/>
                              <m:endChr m:val="|"/>
                              <m:grow m:val="on"/>
                              <m:ctrlPr>
                                <a:rPr lang="zh-CN" sz="12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sSup>
                                <m:e>
                                  <m:r>
                                    <a:rPr lang="zh-CN" sz="128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f</m:t>
                                  </m:r>
                                </m:e>
                                <m:sup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 m:val="on"/>
                                      <m:ctrlPr>
                                        <a:rPr lang="zh-CN" sz="1280" dirty="0">
                                          <a:solidFill>
                                            <a:srgbClr val="1F2937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zh-CN" sz="1280" dirty="0">
                                          <a:solidFill>
                                            <a:srgbClr val="1F2937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n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a:rPr lang="zh-CN" sz="1280" dirty="0">
                                          <a:solidFill>
                                            <a:srgbClr val="1F2937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+</m:t>
                                      </m:r>
                                      <m:r>
                                        <a:rPr lang="zh-CN" sz="1280" dirty="0">
                                          <a:solidFill>
                                            <a:srgbClr val="1F2937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1</m:t>
                                      </m:r>
                                    </m:e>
                                  </m:d>
                                </m:sup>
                              </m:sSup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 m:val="on"/>
                                  <m:ctrlPr>
                                    <a:rPr lang="zh-CN" sz="128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dPr>
                                <m:e>
                                  <m:r>
                                    <a:rPr lang="zh-CN" sz="128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x</m:t>
                                  </m:r>
                                </m:e>
                              </m:d>
                            </m:e>
                          </m:d>
                        </m:e>
                      </m:func>
                      <m:r>
                        <m:rPr>
                          <m:sty m:val="p"/>
                        </m:rPr>
                        <a:rPr lang="zh-CN" sz="128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,</m:t>
                      </m:r>
                      <m:r>
                        <a:rPr lang="zh-CN" sz="128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 xml:space="preserve">  </m:t>
                      </m:r>
                      <m:d>
                        <m:dPr>
                          <m:begChr m:val="|"/>
                          <m:sepChr m:val=""/>
                          <m:endChr m:val="|"/>
                          <m:grow m:val="on"/>
                          <m:ctrlPr>
                            <a:rPr lang="zh-CN" sz="12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sSub>
                            <m:e>
                              <m:r>
                                <a:rPr lang="zh-CN" sz="12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R</m:t>
                              </m:r>
                            </m:e>
                            <m:sub>
                              <m:r>
                                <a:rPr lang="zh-CN" sz="12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n</m:t>
                              </m:r>
                            </m:sub>
                          </m:sSub>
                          <m:d>
                            <m:dPr>
                              <m:begChr m:val="("/>
                              <m:sepChr m:val=""/>
                              <m:endChr m:val=")"/>
                              <m:grow m:val="on"/>
                              <m:ctrlPr>
                                <a:rPr lang="zh-CN" sz="12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r>
                                <a:rPr lang="zh-CN" sz="12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x</m:t>
                              </m:r>
                            </m:e>
                          </m:d>
                        </m:e>
                      </m:d>
                      <m:r>
                        <m:rPr>
                          <m:sty m:val="p"/>
                        </m:rPr>
                        <a:rPr lang="zh-CN" sz="128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≤</m:t>
                      </m:r>
                      <m:f>
                        <m:fPr>
                          <m:type m:val="bar"/>
                          <m:ctrlPr>
                            <a:rPr lang="zh-CN" sz="12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Pr>
                        <m:num>
                          <m:sSub>
                            <m:e>
                              <m:r>
                                <a:rPr lang="zh-CN" sz="12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M</m:t>
                              </m:r>
                            </m:e>
                            <m:sub>
                              <m:r>
                                <a:rPr lang="zh-CN" sz="12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n</m:t>
                              </m:r>
                              <m:r>
                                <m:rPr>
                                  <m:sty m:val="p"/>
                                </m:rPr>
                                <a:rPr lang="zh-CN" sz="12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+</m:t>
                              </m:r>
                              <m:r>
                                <a:rPr lang="zh-CN" sz="12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1</m:t>
                              </m:r>
                            </m:sub>
                          </m:sSub>
                        </m:num>
                        <m:den>
                          <m:d>
                            <m:dPr>
                              <m:begChr m:val="("/>
                              <m:sepChr m:val=""/>
                              <m:endChr m:val=")"/>
                              <m:grow m:val="on"/>
                              <m:ctrlPr>
                                <a:rPr lang="zh-CN" sz="12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r>
                                <a:rPr lang="zh-CN" sz="12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n</m:t>
                              </m:r>
                              <m:r>
                                <m:rPr>
                                  <m:sty m:val="p"/>
                                </m:rPr>
                                <a:rPr lang="zh-CN" sz="12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+</m:t>
                              </m:r>
                              <m:r>
                                <a:rPr lang="zh-CN" sz="12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1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a:rPr lang="zh-CN" sz="12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!</m:t>
                          </m:r>
                        </m:den>
                      </m:f>
                      <m:r>
                        <a:rPr lang="zh-CN" sz="128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 xml:space="preserve"> </m:t>
                      </m:r>
                      <m:func>
                        <m:funcPr/>
                        <m:fName>
                          <m:limLow>
                            <m:limLowPr/>
                            <m:e>
                              <m:r>
                                <m:rPr>
                                  <m:sty m:val="p"/>
                                </m:rPr>
                                <a:rPr lang="zh-CN" sz="12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max</m:t>
                              </m:r>
                            </m:e>
                            <m:lim>
                              <m:r>
                                <a:rPr lang="zh-CN" sz="12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a</m:t>
                              </m:r>
                              <m:r>
                                <m:rPr>
                                  <m:sty m:val="p"/>
                                </m:rPr>
                                <a:rPr lang="zh-CN" sz="12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≤</m:t>
                              </m:r>
                              <m:r>
                                <a:rPr lang="zh-CN" sz="12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a:rPr lang="zh-CN" sz="12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≤</m:t>
                              </m:r>
                              <m:r>
                                <a:rPr lang="zh-CN" sz="12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b</m:t>
                              </m:r>
                            </m:lim>
                          </m:limLow>
                        </m:fName>
                        <m:e>
                          <m:d>
                            <m:dPr>
                              <m:begChr m:val="|"/>
                              <m:sepChr m:val=""/>
                              <m:endChr m:val="|"/>
                              <m:grow m:val="on"/>
                              <m:ctrlPr>
                                <a:rPr lang="zh-CN" sz="12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sSub>
                                <m:e>
                                  <m:r>
                                    <a:rPr lang="zh-CN" sz="128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ω</m:t>
                                  </m:r>
                                </m:e>
                                <m:sub>
                                  <m:r>
                                    <a:rPr lang="zh-CN" sz="128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n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zh-CN" sz="128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+</m:t>
                                  </m:r>
                                  <m:r>
                                    <a:rPr lang="zh-CN" sz="128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1</m:t>
                                  </m:r>
                                </m:sub>
                              </m:sSub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 m:val="on"/>
                                  <m:ctrlPr>
                                    <a:rPr lang="zh-CN" sz="128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dPr>
                                <m:e>
                                  <m:r>
                                    <a:rPr lang="zh-CN" sz="128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x</m:t>
                                  </m:r>
                                </m:e>
                              </m:d>
                            </m:e>
                          </m:d>
                        </m:e>
                      </m:func>
                    </m:oMath>
                  </m:oMathPara>
                </a14:m>
              </a:p>
            </p:txBody>
          </p:sp>
        </mc:Choice>
      </mc:AlternateContent>
      <p:grpSp>
        <p:nvGrpSpPr>
          <p:cNvPr id="13" name="c1-card-2"/>
          <p:cNvGrpSpPr/>
          <p:nvPr/>
        </p:nvGrpSpPr>
        <p:grpSpPr>
          <a:xfrm>
            <a:off x="533400" y="2205990"/>
            <a:ext cx="5410200" cy="1750695"/>
            <a:chOff x="533400" y="2205990"/>
            <a:chExt cx="5410200" cy="1750695"/>
          </a:xfrm>
        </p:grpSpPr>
        <p:sp>
          <p:nvSpPr>
            <p:cNvPr id="8" name="Rectangle 8"/>
            <p:cNvSpPr/>
            <p:nvPr/>
          </p:nvSpPr>
          <p:spPr>
            <a:xfrm>
              <a:off x="533400" y="2205990"/>
              <a:ext cx="5410200" cy="1750695"/>
            </a:xfrm>
            <a:prstGeom prst="roundRect">
              <a:avLst>
                <a:gd name="adj" fmla="val 7617"/>
              </a:avLst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31520" y="2404110"/>
              <a:ext cx="876300" cy="247650"/>
            </a:xfrm>
            <a:prstGeom prst="roundRect">
              <a:avLst>
                <a:gd name="adj" fmla="val 50000"/>
              </a:avLst>
            </a:prstGeom>
            <a:solidFill>
              <a:srgbClr val="23613D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810958" y="2438400"/>
              <a:ext cx="71742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极小值原则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724281" y="2764631"/>
              <a:ext cx="4199719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节点个数确定后，从函数表中挑</a:t>
              </a:r>
              <a:r>
                <a:rPr lang="zh-CN" sz="1420" b="1" dirty="0">
                  <a:solidFill>
                    <a:srgbClr val="FFD58A"/>
                  </a:solidFill>
                  <a:latin typeface="+mn-lt"/>
                  <a:ea typeface="+mn-ea"/>
                  <a:cs typeface="+mn-cs"/>
                </a:rPr>
                <a:t>离 x 最近</a:t>
              </a:r>
              <a:r>
                <a:rPr lang="zh-CN" sz="142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的节点，使</a:t>
              </a:r>
              <a:br/>
              <a:r>
                <a:rPr lang="zh-CN" sz="142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|ωₙ₊₁(x)| 尽可能小，余项的上界也就最小。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725424" y="3350895"/>
              <a:ext cx="4683252" cy="4556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40"/>
                </a:lnSpc>
              </a:pPr>
              <a:r>
                <a:rPr lang="zh-CN" sz="12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例：x = 0.596 时，离它由近到远的节点依次是 0.55、0.65、0.40、</a:t>
              </a:r>
              <a:br/>
              <a:r>
                <a:rPr lang="zh-CN" sz="12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0.80、0.90、1.05。</a:t>
              </a:r>
            </a:p>
          </p:txBody>
        </p:sp>
      </p:grpSp>
      <p:grpSp>
        <p:nvGrpSpPr>
          <p:cNvPr id="19" name="c1-card-3"/>
          <p:cNvGrpSpPr/>
          <p:nvPr/>
        </p:nvGrpSpPr>
        <p:grpSpPr>
          <a:xfrm>
            <a:off x="533400" y="4137660"/>
            <a:ext cx="5410200" cy="2151698"/>
            <a:chOff x="533400" y="4137660"/>
            <a:chExt cx="5410200" cy="2151698"/>
          </a:xfrm>
        </p:grpSpPr>
        <p:sp>
          <p:nvSpPr>
            <p:cNvPr id="14" name="Rectangle 14"/>
            <p:cNvSpPr/>
            <p:nvPr/>
          </p:nvSpPr>
          <p:spPr>
            <a:xfrm>
              <a:off x="533400" y="4137660"/>
              <a:ext cx="5410200" cy="2151698"/>
            </a:xfrm>
            <a:prstGeom prst="roundRect">
              <a:avLst>
                <a:gd name="adj" fmla="val 6197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15" name="Rectangle 15"/>
            <p:cNvSpPr/>
            <p:nvPr/>
          </p:nvSpPr>
          <p:spPr>
            <a:xfrm>
              <a:off x="542925" y="4271010"/>
              <a:ext cx="47625" cy="1884998"/>
            </a:xfrm>
            <a:prstGeom prst="roundRect">
              <a:avLst>
                <a:gd name="adj" fmla="val 50000"/>
              </a:avLst>
            </a:prstGeom>
            <a:solidFill>
              <a:srgbClr val="B42318"/>
            </a:solidFill>
            <a:ln>
              <a:noFill/>
            </a:ln>
          </p:spPr>
        </p:sp>
        <p:sp>
          <p:nvSpPr>
            <p:cNvPr id="16" name="Rectangle 16"/>
            <p:cNvSpPr/>
            <p:nvPr/>
          </p:nvSpPr>
          <p:spPr>
            <a:xfrm>
              <a:off x="769620" y="4335780"/>
              <a:ext cx="1009650" cy="247650"/>
            </a:xfrm>
            <a:prstGeom prst="roundRect">
              <a:avLst>
                <a:gd name="adj" fmla="val 50000"/>
              </a:avLst>
            </a:prstGeom>
            <a:solidFill>
              <a:srgbClr val="FDECEA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845058" y="4370070"/>
              <a:ext cx="85877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避免高次插值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762381" y="4696301"/>
              <a:ext cx="4766437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次数高时容易出现 Runge 现象，误差反而变大，计算也不稳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定。节点很多时改用分段低次插值。</a:t>
              </a:r>
            </a:p>
          </p:txBody>
        </p:sp>
      </p:grpSp>
      <p:grpSp>
        <p:nvGrpSpPr>
          <p:cNvPr id="21" name="c2-text-1"/>
          <p:cNvGrpSpPr/>
          <p:nvPr/>
        </p:nvGrpSpPr>
        <p:grpSpPr>
          <a:xfrm>
            <a:off x="6241161" y="1547336"/>
            <a:ext cx="4267797" cy="278702"/>
            <a:chOff x="6241161" y="1547336"/>
            <a:chExt cx="4267797" cy="278702"/>
          </a:xfrm>
        </p:grpSpPr>
        <p:sp>
          <p:nvSpPr>
            <p:cNvPr id="20" name="TextBox 20"/>
            <p:cNvSpPr txBox="1"/>
            <p:nvPr/>
          </p:nvSpPr>
          <p:spPr>
            <a:xfrm>
              <a:off x="6241161" y="1547336"/>
              <a:ext cx="4267797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例 5.3 中要算 f(0.596)，从 6 个节点中选 5 个：</a:t>
              </a:r>
            </a:p>
          </p:txBody>
        </p:sp>
      </p:grpSp>
      <p:grpSp>
        <p:nvGrpSpPr>
          <p:cNvPr id="38" name="c2-table-2"/>
          <p:cNvGrpSpPr/>
          <p:nvPr/>
        </p:nvGrpSpPr>
        <p:grpSpPr>
          <a:xfrm>
            <a:off x="6248400" y="1950720"/>
            <a:ext cx="5410200" cy="1700213"/>
            <a:chOff x="6248400" y="1950720"/>
            <a:chExt cx="5410200" cy="1700213"/>
          </a:xfrm>
        </p:grpSpPr>
        <p:sp>
          <p:nvSpPr>
            <p:cNvPr id="22" name="Rectangle 22"/>
            <p:cNvSpPr/>
            <p:nvPr/>
          </p:nvSpPr>
          <p:spPr>
            <a:xfrm>
              <a:off x="6248400" y="1950720"/>
              <a:ext cx="5410200" cy="424815"/>
            </a:xfrm>
            <a:prstGeom prst="rect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6568821" y="2078355"/>
              <a:ext cx="65836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候选节点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8231615" y="2078355"/>
              <a:ext cx="1226599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到 0.596 的距离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0424568" y="2078355"/>
              <a:ext cx="95359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l-GR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|ω₅(0.596)|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6350889" y="2609850"/>
              <a:ext cx="95359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0.40 ~ 0.90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7649147" y="2503170"/>
              <a:ext cx="2161032" cy="44805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680"/>
                </a:lnSpc>
              </a:pPr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0.196, 0.046, 0.054, 0.204,</a:t>
              </a:r>
              <a:br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0.304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10153650" y="2384108"/>
              <a:ext cx="1495425" cy="619125"/>
            </a:xfrm>
            <a:prstGeom prst="rect">
              <a:avLst/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10495445" y="2609850"/>
              <a:ext cx="811835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3.02×10⁻⁵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6248400" y="3007995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1" name="Rectangle 31"/>
            <p:cNvSpPr/>
            <p:nvPr/>
          </p:nvSpPr>
          <p:spPr>
            <a:xfrm>
              <a:off x="6248400" y="3012758"/>
              <a:ext cx="5410200" cy="638175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6350889" y="3248025"/>
              <a:ext cx="95359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0.55 ~ 1.05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7649147" y="3141345"/>
              <a:ext cx="2161032" cy="44805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680"/>
                </a:lnSpc>
              </a:pPr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0.046, 0.054, 0.204, 0.304,</a:t>
              </a:r>
              <a:br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0.454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10495445" y="3248025"/>
              <a:ext cx="811835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6.99×10⁻⁵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6248400" y="1950720"/>
              <a:ext cx="5410200" cy="1700212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7541895" y="1950720"/>
              <a:ext cx="9525" cy="1700212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10139362" y="1950720"/>
              <a:ext cx="9525" cy="1700212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45" name="c2-callout-3"/>
          <p:cNvGrpSpPr/>
          <p:nvPr/>
        </p:nvGrpSpPr>
        <p:grpSpPr>
          <a:xfrm>
            <a:off x="6248400" y="3830955"/>
            <a:ext cx="5410200" cy="756285"/>
            <a:chOff x="6248400" y="3830955"/>
            <a:chExt cx="5410200" cy="756285"/>
          </a:xfrm>
        </p:grpSpPr>
        <p:sp>
          <p:nvSpPr>
            <p:cNvPr id="39" name="Rectangle 39"/>
            <p:cNvSpPr/>
            <p:nvPr/>
          </p:nvSpPr>
          <p:spPr>
            <a:xfrm>
              <a:off x="6248400" y="3830955"/>
              <a:ext cx="5410200" cy="756285"/>
            </a:xfrm>
            <a:prstGeom prst="roundRect">
              <a:avLst>
                <a:gd name="adj" fmla="val 15113"/>
              </a:avLst>
            </a:prstGeom>
            <a:solidFill>
              <a:srgbClr val="FDEEE7"/>
            </a:solidFill>
            <a:ln>
              <a:noFill/>
            </a:ln>
          </p:spPr>
        </p:sp>
        <p:grpSp>
          <p:nvGrpSpPr>
            <p:cNvPr id="43" name="Group 43"/>
            <p:cNvGrpSpPr/>
            <p:nvPr/>
          </p:nvGrpSpPr>
          <p:grpSpPr>
            <a:xfrm>
              <a:off x="6453188" y="4109085"/>
              <a:ext cx="200026" cy="200025"/>
              <a:chOff x="6453188" y="4109085"/>
              <a:chExt cx="200026" cy="200025"/>
            </a:xfrm>
          </p:grpSpPr>
          <p:sp>
            <p:nvSpPr>
              <p:cNvPr id="40" name="Freeform 40"/>
              <p:cNvSpPr/>
              <p:nvPr/>
            </p:nvSpPr>
            <p:spPr>
              <a:xfrm>
                <a:off x="6453188" y="4109085"/>
                <a:ext cx="200026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00013">
                    <a:moveTo>
                      <a:pt x="0" y="100013"/>
                    </a:moveTo>
                    <a:lnTo>
                      <a:pt x="11113" y="100013"/>
                    </a:lnTo>
                    <a:moveTo>
                      <a:pt x="100013" y="0"/>
                    </a:moveTo>
                    <a:lnTo>
                      <a:pt x="100013" y="11113"/>
                    </a:lnTo>
                    <a:moveTo>
                      <a:pt x="188913" y="100013"/>
                    </a:moveTo>
                    <a:lnTo>
                      <a:pt x="200026" y="100013"/>
                    </a:lnTo>
                    <a:moveTo>
                      <a:pt x="28893" y="28893"/>
                    </a:moveTo>
                    <a:lnTo>
                      <a:pt x="36671" y="36671"/>
                    </a:lnTo>
                    <a:moveTo>
                      <a:pt x="171133" y="28893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41" name="Freeform 41"/>
              <p:cNvSpPr/>
              <p:nvPr/>
            </p:nvSpPr>
            <p:spPr>
              <a:xfrm>
                <a:off x="6492926" y="4153535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3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3" y="15304"/>
                      <a:pt x="112986" y="37992"/>
                    </a:cubicBezTo>
                    <a:cubicBezTo>
                      <a:pt x="120548" y="60681"/>
                      <a:pt x="112745" y="85663"/>
                      <a:pt x="93612" y="100013"/>
                    </a:cubicBezTo>
                    <a:cubicBezTo>
                      <a:pt x="84812" y="108723"/>
                      <a:pt x="80686" y="121103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3"/>
                      <a:pt x="35736" y="108723"/>
                      <a:pt x="26937" y="100013"/>
                    </a:cubicBez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42" name="Freeform 42"/>
              <p:cNvSpPr/>
              <p:nvPr/>
            </p:nvSpPr>
            <p:spPr>
              <a:xfrm>
                <a:off x="6527642" y="4264661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</p:grpSp>
        <p:sp>
          <p:nvSpPr>
            <p:cNvPr id="44" name="TextBox 44"/>
            <p:cNvSpPr txBox="1"/>
            <p:nvPr/>
          </p:nvSpPr>
          <p:spPr>
            <a:xfrm>
              <a:off x="6755511" y="3978116"/>
              <a:ext cx="4153281" cy="5415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70"/>
                </a:lnSpc>
              </a:pPr>
              <a:r>
                <a:rPr lang="zh-CN" sz="14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1.05 离 0.596 最远（0.454），舍去它，选 0.40 ~</a:t>
              </a:r>
              <a:br/>
              <a:r>
                <a:rPr lang="zh-CN" sz="14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0.90 的 5 个节点，|ω₅| 不到另一组的一半。</a:t>
              </a:r>
            </a:p>
          </p:txBody>
        </p:sp>
      </p:grpSp>
      <p:grpSp>
        <p:nvGrpSpPr>
          <p:cNvPr id="51" name="c2-card-4"/>
          <p:cNvGrpSpPr/>
          <p:nvPr/>
        </p:nvGrpSpPr>
        <p:grpSpPr>
          <a:xfrm>
            <a:off x="6248400" y="4767262"/>
            <a:ext cx="5410200" cy="1522095"/>
            <a:chOff x="6248400" y="4767262"/>
            <a:chExt cx="5410200" cy="1522095"/>
          </a:xfrm>
        </p:grpSpPr>
        <p:sp>
          <p:nvSpPr>
            <p:cNvPr id="46" name="Rectangle 46"/>
            <p:cNvSpPr/>
            <p:nvPr/>
          </p:nvSpPr>
          <p:spPr>
            <a:xfrm>
              <a:off x="6248400" y="4767262"/>
              <a:ext cx="5410200" cy="1522095"/>
            </a:xfrm>
            <a:prstGeom prst="roundRect">
              <a:avLst>
                <a:gd name="adj" fmla="val 8761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47" name="Rectangle 47"/>
            <p:cNvSpPr/>
            <p:nvPr/>
          </p:nvSpPr>
          <p:spPr>
            <a:xfrm>
              <a:off x="6257925" y="4900612"/>
              <a:ext cx="47625" cy="1255395"/>
            </a:xfrm>
            <a:prstGeom prst="roundRect">
              <a:avLst>
                <a:gd name="adj" fmla="val 50000"/>
              </a:avLst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48" name="Rectangle 48"/>
            <p:cNvSpPr/>
            <p:nvPr/>
          </p:nvSpPr>
          <p:spPr>
            <a:xfrm>
              <a:off x="6484620" y="4965382"/>
              <a:ext cx="1276350" cy="247650"/>
            </a:xfrm>
            <a:prstGeom prst="roundRect">
              <a:avLst>
                <a:gd name="adj" fmla="val 5000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49" name="TextBox 49"/>
            <p:cNvSpPr txBox="1"/>
            <p:nvPr/>
          </p:nvSpPr>
          <p:spPr>
            <a:xfrm>
              <a:off x="6552057" y="4999672"/>
              <a:ext cx="1141476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尽量内插，少外推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6477381" y="5325904"/>
              <a:ext cx="4757420" cy="82162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x 落在所选节点范围之外叫外推。此时 ωₙ₊₁(x) 的每个因子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同号且随距离增大，误差一般明显变大，所以应让 x 位于所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选节点的中间。</a:t>
              </a:r>
            </a:p>
          </p:txBody>
        </p:sp>
      </p:grpSp>
      <p:grpSp>
        <p:nvGrpSpPr>
          <p:cNvPr id="54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52" name="TextBox 52"/>
            <p:cNvSpPr txBox="1"/>
            <p:nvPr/>
          </p:nvSpPr>
          <p:spPr>
            <a:xfrm>
              <a:off x="528447" y="6581299"/>
              <a:ext cx="225267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计算方法 · 第5章 函数插值与曲线拟合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28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5767283" cy="909257"/>
            <a:chOff x="520446" y="342900"/>
            <a:chExt cx="5767283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1987868" cy="266700"/>
            </a:xfrm>
            <a:prstGeom prst="roundRect">
              <a:avLst>
                <a:gd name="adj" fmla="val 50000"/>
              </a:avLst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08957" y="407194"/>
              <a:ext cx="183580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第5章 函数插值 · 牛顿插值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5767283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例 5.3：由 sh x 的函数表构造差商表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E7D4F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5399" y="1550194"/>
            <a:ext cx="8747321" cy="308039"/>
            <a:chOff x="525399" y="1550194"/>
            <a:chExt cx="8747321" cy="308039"/>
          </a:xfrm>
        </p:grpSpPr>
        <p:sp>
          <p:nvSpPr>
            <p:cNvPr id="7" name="TextBox 7"/>
            <p:cNvSpPr txBox="1"/>
            <p:nvPr/>
          </p:nvSpPr>
          <p:spPr>
            <a:xfrm>
              <a:off x="525399" y="1550194"/>
              <a:ext cx="8747321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已知 f(x) = sh x 在 6 个节点上的值（前两列），作插值多项式计算 f(0.596) = sh 0.596。</a:t>
              </a:r>
            </a:p>
          </p:txBody>
        </p:sp>
      </p:grpSp>
      <p:grpSp>
        <p:nvGrpSpPr>
          <p:cNvPr id="65" name="c1-table-1"/>
          <p:cNvGrpSpPr/>
          <p:nvPr/>
        </p:nvGrpSpPr>
        <p:grpSpPr>
          <a:xfrm>
            <a:off x="527685" y="1967865"/>
            <a:ext cx="6930390" cy="3637121"/>
            <a:chOff x="527685" y="1967865"/>
            <a:chExt cx="6930390" cy="3637121"/>
          </a:xfrm>
        </p:grpSpPr>
        <p:sp>
          <p:nvSpPr>
            <p:cNvPr id="9" name="Rectangle 9"/>
            <p:cNvSpPr/>
            <p:nvPr/>
          </p:nvSpPr>
          <p:spPr>
            <a:xfrm>
              <a:off x="533400" y="1967865"/>
              <a:ext cx="6924675" cy="448628"/>
            </a:xfrm>
            <a:prstGeom prst="rect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801744" y="2102644"/>
              <a:ext cx="21197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xₖ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541160" y="2102644"/>
              <a:ext cx="510510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f(xₖ)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2474011" y="2102644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一阶差商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3503663" y="2102644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二阶差商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4533316" y="2102644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三阶差商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5562968" y="2102644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四阶差商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6592621" y="2102644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五阶差商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702233" y="2551271"/>
              <a:ext cx="41099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0.40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1290638" y="2426018"/>
              <a:ext cx="1010602" cy="429578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1458234" y="2551271"/>
              <a:ext cx="67636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0.41075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533400" y="2860358"/>
              <a:ext cx="692467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1" name="Rectangle 21"/>
            <p:cNvSpPr/>
            <p:nvPr/>
          </p:nvSpPr>
          <p:spPr>
            <a:xfrm>
              <a:off x="533400" y="2865120"/>
              <a:ext cx="6924675" cy="448628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702233" y="3000851"/>
              <a:ext cx="41099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0.55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1458234" y="3000851"/>
              <a:ext cx="67636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0.57815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2320290" y="2874645"/>
              <a:ext cx="1010602" cy="429578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2486934" y="3000851"/>
              <a:ext cx="67636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1.11600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533400" y="3308985"/>
              <a:ext cx="692467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702233" y="3449479"/>
              <a:ext cx="41099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0.65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1458234" y="3449479"/>
              <a:ext cx="67636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0.69675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2486934" y="3449479"/>
              <a:ext cx="67636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1.18600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3349942" y="3323272"/>
              <a:ext cx="1010602" cy="429578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3516587" y="3449479"/>
              <a:ext cx="67636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0.28000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533400" y="3757612"/>
              <a:ext cx="692467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3" name="Rectangle 33"/>
            <p:cNvSpPr/>
            <p:nvPr/>
          </p:nvSpPr>
          <p:spPr>
            <a:xfrm>
              <a:off x="533400" y="3762375"/>
              <a:ext cx="6924675" cy="448628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702233" y="3898106"/>
              <a:ext cx="41099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0.80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1458234" y="3898106"/>
              <a:ext cx="67636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0.88811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2486934" y="3898106"/>
              <a:ext cx="67636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1.27573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3516587" y="3898106"/>
              <a:ext cx="67636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0.35893</a:t>
              </a:r>
            </a:p>
          </p:txBody>
        </p:sp>
        <p:sp>
          <p:nvSpPr>
            <p:cNvPr id="38" name="Rectangle 38"/>
            <p:cNvSpPr/>
            <p:nvPr/>
          </p:nvSpPr>
          <p:spPr>
            <a:xfrm>
              <a:off x="4379595" y="3771900"/>
              <a:ext cx="1010602" cy="429578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546239" y="3898106"/>
              <a:ext cx="67636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0.19733</a:t>
              </a:r>
            </a:p>
          </p:txBody>
        </p:sp>
        <p:sp>
          <p:nvSpPr>
            <p:cNvPr id="40" name="Rectangle 40"/>
            <p:cNvSpPr/>
            <p:nvPr/>
          </p:nvSpPr>
          <p:spPr>
            <a:xfrm>
              <a:off x="533400" y="4207192"/>
              <a:ext cx="692467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702233" y="4346734"/>
              <a:ext cx="41099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0.90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1458234" y="4346734"/>
              <a:ext cx="67636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1.02652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2486934" y="4346734"/>
              <a:ext cx="67636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1.38410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3516587" y="4346734"/>
              <a:ext cx="67636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0.43347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4546239" y="4346734"/>
              <a:ext cx="67636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0.21295</a:t>
              </a:r>
            </a:p>
          </p:txBody>
        </p:sp>
        <p:sp>
          <p:nvSpPr>
            <p:cNvPr id="46" name="Rectangle 46"/>
            <p:cNvSpPr/>
            <p:nvPr/>
          </p:nvSpPr>
          <p:spPr>
            <a:xfrm>
              <a:off x="5409248" y="4221480"/>
              <a:ext cx="1010602" cy="429578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47" name="TextBox 47"/>
            <p:cNvSpPr txBox="1"/>
            <p:nvPr/>
          </p:nvSpPr>
          <p:spPr>
            <a:xfrm>
              <a:off x="5575892" y="4346734"/>
              <a:ext cx="67636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0.03124</a:t>
              </a:r>
            </a:p>
          </p:txBody>
        </p:sp>
        <p:sp>
          <p:nvSpPr>
            <p:cNvPr id="48" name="Rectangle 48"/>
            <p:cNvSpPr/>
            <p:nvPr/>
          </p:nvSpPr>
          <p:spPr>
            <a:xfrm>
              <a:off x="533400" y="4655820"/>
              <a:ext cx="692467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9" name="Rectangle 49"/>
            <p:cNvSpPr/>
            <p:nvPr/>
          </p:nvSpPr>
          <p:spPr>
            <a:xfrm>
              <a:off x="533400" y="4660582"/>
              <a:ext cx="6924675" cy="448628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50" name="TextBox 50"/>
            <p:cNvSpPr txBox="1"/>
            <p:nvPr/>
          </p:nvSpPr>
          <p:spPr>
            <a:xfrm>
              <a:off x="702233" y="4795361"/>
              <a:ext cx="41099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1.05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1458234" y="4795361"/>
              <a:ext cx="67636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1.25386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2486934" y="4795361"/>
              <a:ext cx="67636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1.51560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3516587" y="4795361"/>
              <a:ext cx="67636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0.52600</a:t>
              </a:r>
            </a:p>
          </p:txBody>
        </p:sp>
        <p:sp>
          <p:nvSpPr>
            <p:cNvPr id="54" name="TextBox 54"/>
            <p:cNvSpPr txBox="1"/>
            <p:nvPr/>
          </p:nvSpPr>
          <p:spPr>
            <a:xfrm>
              <a:off x="4546239" y="4795361"/>
              <a:ext cx="67636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0.23133</a:t>
              </a:r>
            </a:p>
          </p:txBody>
        </p:sp>
        <p:sp>
          <p:nvSpPr>
            <p:cNvPr id="55" name="TextBox 55"/>
            <p:cNvSpPr txBox="1"/>
            <p:nvPr/>
          </p:nvSpPr>
          <p:spPr>
            <a:xfrm>
              <a:off x="5575892" y="4795361"/>
              <a:ext cx="67636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0.03676</a:t>
              </a:r>
            </a:p>
          </p:txBody>
        </p:sp>
        <p:sp>
          <p:nvSpPr>
            <p:cNvPr id="56" name="TextBox 56"/>
            <p:cNvSpPr txBox="1"/>
            <p:nvPr/>
          </p:nvSpPr>
          <p:spPr>
            <a:xfrm>
              <a:off x="6605544" y="4795361"/>
              <a:ext cx="67636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0.00850</a:t>
              </a:r>
            </a:p>
          </p:txBody>
        </p:sp>
        <p:sp>
          <p:nvSpPr>
            <p:cNvPr id="57" name="Rectangle 57"/>
            <p:cNvSpPr/>
            <p:nvPr/>
          </p:nvSpPr>
          <p:spPr>
            <a:xfrm>
              <a:off x="533400" y="1967865"/>
              <a:ext cx="6924675" cy="3141345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58" name="Rectangle 58"/>
            <p:cNvSpPr/>
            <p:nvPr/>
          </p:nvSpPr>
          <p:spPr>
            <a:xfrm>
              <a:off x="1276350" y="1967865"/>
              <a:ext cx="9525" cy="314134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9" name="Rectangle 59"/>
            <p:cNvSpPr/>
            <p:nvPr/>
          </p:nvSpPr>
          <p:spPr>
            <a:xfrm>
              <a:off x="2306002" y="1967865"/>
              <a:ext cx="9525" cy="314134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60" name="Rectangle 60"/>
            <p:cNvSpPr/>
            <p:nvPr/>
          </p:nvSpPr>
          <p:spPr>
            <a:xfrm>
              <a:off x="3335655" y="1967865"/>
              <a:ext cx="9525" cy="314134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61" name="Rectangle 61"/>
            <p:cNvSpPr/>
            <p:nvPr/>
          </p:nvSpPr>
          <p:spPr>
            <a:xfrm>
              <a:off x="4365308" y="1967865"/>
              <a:ext cx="9525" cy="314134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62" name="Rectangle 62"/>
            <p:cNvSpPr/>
            <p:nvPr/>
          </p:nvSpPr>
          <p:spPr>
            <a:xfrm>
              <a:off x="5394960" y="1967865"/>
              <a:ext cx="9525" cy="314134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63" name="Rectangle 63"/>
            <p:cNvSpPr/>
            <p:nvPr/>
          </p:nvSpPr>
          <p:spPr>
            <a:xfrm>
              <a:off x="6424612" y="1967865"/>
              <a:ext cx="9525" cy="314134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64" name="TextBox 64"/>
            <p:cNvSpPr txBox="1"/>
            <p:nvPr/>
          </p:nvSpPr>
          <p:spPr>
            <a:xfrm>
              <a:off x="527685" y="5184934"/>
              <a:ext cx="6305550" cy="4200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575"/>
                </a:lnSpc>
              </a:pPr>
              <a:r>
                <a:rPr lang="zh-CN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例：0.28000 = (1.18600 − 1.11600)/(0.65 − 0.40)；0.19733 = (0.35893 − 0.28000)/(0.80 −</a:t>
              </a:r>
              <a:br/>
              <a:r>
                <a:rPr lang="zh-CN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0.40)</a:t>
              </a:r>
            </a:p>
          </p:txBody>
        </p:sp>
      </p:grpSp>
      <p:grpSp>
        <p:nvGrpSpPr>
          <p:cNvPr id="75" name="c2-card-1"/>
          <p:cNvGrpSpPr/>
          <p:nvPr/>
        </p:nvGrpSpPr>
        <p:grpSpPr>
          <a:xfrm>
            <a:off x="7762875" y="1967865"/>
            <a:ext cx="3895725" cy="3040380"/>
            <a:chOff x="7762875" y="1967865"/>
            <a:chExt cx="3895725" cy="3040380"/>
          </a:xfrm>
        </p:grpSpPr>
        <p:sp>
          <p:nvSpPr>
            <p:cNvPr id="66" name="Rectangle 66"/>
            <p:cNvSpPr/>
            <p:nvPr/>
          </p:nvSpPr>
          <p:spPr>
            <a:xfrm>
              <a:off x="7762875" y="1967865"/>
              <a:ext cx="3895725" cy="3040380"/>
            </a:xfrm>
            <a:prstGeom prst="roundRect">
              <a:avLst>
                <a:gd name="adj" fmla="val 4386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67" name="Rectangle 67"/>
            <p:cNvSpPr/>
            <p:nvPr/>
          </p:nvSpPr>
          <p:spPr>
            <a:xfrm>
              <a:off x="7772400" y="2101215"/>
              <a:ext cx="47625" cy="2773680"/>
            </a:xfrm>
            <a:prstGeom prst="roundRect">
              <a:avLst>
                <a:gd name="adj" fmla="val 50000"/>
              </a:avLst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68" name="Rectangle 68"/>
            <p:cNvSpPr/>
            <p:nvPr/>
          </p:nvSpPr>
          <p:spPr>
            <a:xfrm>
              <a:off x="8010525" y="2177415"/>
              <a:ext cx="494348" cy="257175"/>
            </a:xfrm>
            <a:prstGeom prst="roundRect">
              <a:avLst>
                <a:gd name="adj" fmla="val 5000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69" name="TextBox 69"/>
            <p:cNvSpPr txBox="1"/>
            <p:nvPr/>
          </p:nvSpPr>
          <p:spPr>
            <a:xfrm>
              <a:off x="8101686" y="2213134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更正</a:t>
              </a:r>
            </a:p>
          </p:txBody>
        </p:sp>
        <p:sp>
          <p:nvSpPr>
            <p:cNvPr id="70" name="Ellipse 70"/>
            <p:cNvSpPr/>
            <p:nvPr/>
          </p:nvSpPr>
          <p:spPr>
            <a:xfrm>
              <a:off x="8016240" y="2617470"/>
              <a:ext cx="64770" cy="6477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71" name="TextBox 71"/>
            <p:cNvSpPr txBox="1"/>
            <p:nvPr/>
          </p:nvSpPr>
          <p:spPr>
            <a:xfrm>
              <a:off x="8174355" y="2554605"/>
              <a:ext cx="3025140" cy="8648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原课件表中 1.05 行的一阶差商写作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1.6156，应为 (1.25386 −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1.02652)/0.15 = 1.5156</a:t>
              </a:r>
            </a:p>
          </p:txBody>
        </p:sp>
        <p:sp>
          <p:nvSpPr>
            <p:cNvPr id="72" name="Ellipse 72"/>
            <p:cNvSpPr/>
            <p:nvPr/>
          </p:nvSpPr>
          <p:spPr>
            <a:xfrm>
              <a:off x="8016240" y="3524250"/>
              <a:ext cx="64770" cy="6477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73" name="TextBox 73"/>
            <p:cNvSpPr txBox="1"/>
            <p:nvPr/>
          </p:nvSpPr>
          <p:spPr>
            <a:xfrm>
              <a:off x="8174355" y="3461385"/>
              <a:ext cx="3063240" cy="8648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三阶、四阶差商随之改变：两个四阶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差商是 0.03124 和 0.03676，并不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相同，五阶差商约 0.0085，不为 0</a:t>
              </a:r>
            </a:p>
          </p:txBody>
        </p:sp>
        <p:sp>
          <p:nvSpPr>
            <p:cNvPr id="74" name="TextBox 74"/>
            <p:cNvSpPr txBox="1"/>
            <p:nvPr/>
          </p:nvSpPr>
          <p:spPr>
            <a:xfrm>
              <a:off x="8004048" y="4363879"/>
              <a:ext cx="3134106" cy="483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45"/>
                </a:lnSpc>
              </a:pPr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原表二阶差商 0.3588、0.4336 也有舍入偏</a:t>
              </a:r>
              <a:br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差，以左表为准。</a:t>
              </a:r>
            </a:p>
          </p:txBody>
        </p:sp>
      </p:grpSp>
      <p:grpSp>
        <p:nvGrpSpPr>
          <p:cNvPr id="82" name="c2-callout-2"/>
          <p:cNvGrpSpPr/>
          <p:nvPr/>
        </p:nvGrpSpPr>
        <p:grpSpPr>
          <a:xfrm>
            <a:off x="7762875" y="5197792"/>
            <a:ext cx="3895725" cy="782955"/>
            <a:chOff x="7762875" y="5197792"/>
            <a:chExt cx="3895725" cy="782955"/>
          </a:xfrm>
        </p:grpSpPr>
        <p:sp>
          <p:nvSpPr>
            <p:cNvPr id="76" name="Rectangle 76"/>
            <p:cNvSpPr/>
            <p:nvPr/>
          </p:nvSpPr>
          <p:spPr>
            <a:xfrm>
              <a:off x="7762875" y="5197792"/>
              <a:ext cx="3895725" cy="782955"/>
            </a:xfrm>
            <a:prstGeom prst="roundRect">
              <a:avLst>
                <a:gd name="adj" fmla="val 14599"/>
              </a:avLst>
            </a:prstGeom>
            <a:solidFill>
              <a:srgbClr val="FDEEE7"/>
            </a:solidFill>
            <a:ln>
              <a:noFill/>
            </a:ln>
          </p:spPr>
        </p:sp>
        <p:grpSp>
          <p:nvGrpSpPr>
            <p:cNvPr id="80" name="Group 80"/>
            <p:cNvGrpSpPr/>
            <p:nvPr/>
          </p:nvGrpSpPr>
          <p:grpSpPr>
            <a:xfrm>
              <a:off x="7967663" y="5489258"/>
              <a:ext cx="200026" cy="200025"/>
              <a:chOff x="7967663" y="5489258"/>
              <a:chExt cx="200026" cy="200025"/>
            </a:xfrm>
          </p:grpSpPr>
          <p:sp>
            <p:nvSpPr>
              <p:cNvPr id="77" name="Freeform 77"/>
              <p:cNvSpPr/>
              <p:nvPr/>
            </p:nvSpPr>
            <p:spPr>
              <a:xfrm>
                <a:off x="7967663" y="5489258"/>
                <a:ext cx="200026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00013">
                    <a:moveTo>
                      <a:pt x="0" y="100013"/>
                    </a:moveTo>
                    <a:lnTo>
                      <a:pt x="11113" y="100013"/>
                    </a:lnTo>
                    <a:moveTo>
                      <a:pt x="100013" y="0"/>
                    </a:moveTo>
                    <a:lnTo>
                      <a:pt x="100013" y="11113"/>
                    </a:lnTo>
                    <a:moveTo>
                      <a:pt x="188913" y="100013"/>
                    </a:moveTo>
                    <a:lnTo>
                      <a:pt x="200026" y="100013"/>
                    </a:lnTo>
                    <a:moveTo>
                      <a:pt x="28893" y="28893"/>
                    </a:moveTo>
                    <a:lnTo>
                      <a:pt x="36671" y="36671"/>
                    </a:lnTo>
                    <a:moveTo>
                      <a:pt x="171133" y="28893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78" name="Freeform 78"/>
              <p:cNvSpPr/>
              <p:nvPr/>
            </p:nvSpPr>
            <p:spPr>
              <a:xfrm>
                <a:off x="8007401" y="5533708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3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3" y="15304"/>
                      <a:pt x="112986" y="37992"/>
                    </a:cubicBezTo>
                    <a:cubicBezTo>
                      <a:pt x="120548" y="60681"/>
                      <a:pt x="112745" y="85663"/>
                      <a:pt x="93612" y="100013"/>
                    </a:cubicBezTo>
                    <a:cubicBezTo>
                      <a:pt x="84812" y="108723"/>
                      <a:pt x="80686" y="121103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3"/>
                      <a:pt x="35736" y="108723"/>
                      <a:pt x="26937" y="100013"/>
                    </a:cubicBez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79" name="Freeform 79"/>
              <p:cNvSpPr/>
              <p:nvPr/>
            </p:nvSpPr>
            <p:spPr>
              <a:xfrm>
                <a:off x="8042117" y="5644833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</p:grpSp>
        <p:sp>
          <p:nvSpPr>
            <p:cNvPr id="81" name="TextBox 81"/>
            <p:cNvSpPr txBox="1"/>
            <p:nvPr/>
          </p:nvSpPr>
          <p:spPr>
            <a:xfrm>
              <a:off x="8269605" y="5346382"/>
              <a:ext cx="2901315" cy="5695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橙色格是取 0.40 ~ 0.90 五个节点</a:t>
              </a:r>
              <a:br/>
              <a:r>
                <a:rPr lang="zh-CN" sz="15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时 Newton 公式的系数。</a:t>
              </a:r>
            </a:p>
          </p:txBody>
        </p:sp>
      </p:grpSp>
      <p:grpSp>
        <p:nvGrpSpPr>
          <p:cNvPr id="85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83" name="TextBox 83"/>
            <p:cNvSpPr txBox="1"/>
            <p:nvPr/>
          </p:nvSpPr>
          <p:spPr>
            <a:xfrm>
              <a:off x="528447" y="6581299"/>
              <a:ext cx="225267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计算方法 · 第5章 函数插值与曲线拟合</a:t>
              </a:r>
            </a:p>
          </p:txBody>
        </p:sp>
        <p:sp>
          <p:nvSpPr>
            <p:cNvPr id="84" name="TextBox 84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29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9303547" cy="909257"/>
            <a:chOff x="520446" y="342900"/>
            <a:chExt cx="9303547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1987868" cy="266700"/>
            </a:xfrm>
            <a:prstGeom prst="roundRect">
              <a:avLst>
                <a:gd name="adj" fmla="val 50000"/>
              </a:avLst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08957" y="407194"/>
              <a:ext cx="183580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第5章 函数插值 · 牛顿插值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9303547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例 5.3（续）：N₄(0.596) = 0.63192，误差约 10⁻⁷ 量级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E7D4F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formula159"/>
              <p:cNvSpPr txBox="1">
                <a:spLocks noGrp="1"/>
              </p:cNvSpPr>
              <p:nvPr/>
            </p:nvSpPr>
            <p:spPr>
              <a:xfrm>
                <a:off x="533400" y="1524000"/>
                <a:ext cx="5842635" cy="7543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lIns="0" tIns="0" rIns="0" bIns="0" wrap="none" anchor="ctr">
                <a:normAutofit/>
              </a:bodyPr>
              <a:lstStyle/>
              <a:p>
                <a:pPr algn="ctr"/>
                <a14:m>
                  <m:oMathPara xmlns:a="http://schemas.openxmlformats.org/drawingml/2006/main" xmlns:m="http://schemas.openxmlformats.org/officeDocument/2006/math">
                    <m:oMathParaPr>
                      <m:jc m:val="center"/>
                    </m:oMathParaPr>
                    <m:oMath>
                      <m:eqArr>
                        <m:eqArrPr>
                          <m:baseJc m:val="center"/>
                        </m:eqArrPr>
                        <m:e>
                          <m:sSub>
                            <m:e>
                              <m:r>
                                <a:rPr lang="zh-CN" sz="12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N</m:t>
                              </m:r>
                            </m:e>
                            <m:sub>
                              <m:r>
                                <a:rPr lang="zh-CN" sz="12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4</m:t>
                              </m:r>
                            </m:sub>
                          </m:sSub>
                          <m:d>
                            <m:dPr>
                              <m:begChr m:val="("/>
                              <m:sepChr m:val=""/>
                              <m:endChr m:val=")"/>
                              <m:grow m:val="on"/>
                              <m:ctrlPr>
                                <a:rPr lang="zh-CN" sz="12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r>
                                <a:rPr lang="zh-CN" sz="12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x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a:rPr lang="zh-CN" sz="12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=</m:t>
                          </m:r>
                          <m:r>
                            <a:rPr lang="zh-CN" sz="12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 xml:space="preserve"> </m:t>
                          </m:r>
                          <m:r>
                            <a:rPr lang="zh-CN" sz="12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&amp;</m:t>
                          </m:r>
                          <m:r>
                            <a:rPr lang="zh-CN" sz="12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0.41075</m:t>
                          </m:r>
                          <m:r>
                            <m:rPr>
                              <m:sty m:val="p"/>
                            </m:rPr>
                            <a:rPr lang="zh-CN" sz="12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+</m:t>
                          </m:r>
                          <m:r>
                            <a:rPr lang="zh-CN" sz="12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1.11600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 m:val="on"/>
                              <m:ctrlPr>
                                <a:rPr lang="zh-CN" sz="12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r>
                                <a:rPr lang="zh-CN" sz="12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a:rPr lang="zh-CN" sz="12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−</m:t>
                              </m:r>
                              <m:r>
                                <a:rPr lang="zh-CN" sz="12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0.40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a:rPr lang="zh-CN" sz="12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+</m:t>
                          </m:r>
                          <m:r>
                            <a:rPr lang="zh-CN" sz="12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0.28000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 m:val="on"/>
                              <m:ctrlPr>
                                <a:rPr lang="zh-CN" sz="12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r>
                                <a:rPr lang="zh-CN" sz="12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a:rPr lang="zh-CN" sz="12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−</m:t>
                              </m:r>
                              <m:r>
                                <a:rPr lang="zh-CN" sz="12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0.40</m:t>
                              </m:r>
                            </m:e>
                          </m:d>
                          <m:d>
                            <m:dPr>
                              <m:begChr m:val="("/>
                              <m:sepChr m:val=""/>
                              <m:endChr m:val=")"/>
                              <m:grow m:val="on"/>
                              <m:ctrlPr>
                                <a:rPr lang="zh-CN" sz="12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r>
                                <a:rPr lang="zh-CN" sz="12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a:rPr lang="zh-CN" sz="12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−</m:t>
                              </m:r>
                              <m:r>
                                <a:rPr lang="zh-CN" sz="12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0.55</m:t>
                              </m:r>
                            </m:e>
                          </m:d>
                        </m:e>
                        <m:e>
                          <m:r>
                            <a:rPr lang="zh-CN" sz="12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&amp;</m:t>
                          </m:r>
                          <m:r>
                            <m:rPr>
                              <m:sty m:val="p"/>
                            </m:rPr>
                            <a:rPr lang="zh-CN" sz="12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+</m:t>
                          </m:r>
                          <m:r>
                            <a:rPr lang="zh-CN" sz="12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0.19733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 m:val="on"/>
                              <m:ctrlPr>
                                <a:rPr lang="zh-CN" sz="12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r>
                                <a:rPr lang="zh-CN" sz="12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a:rPr lang="zh-CN" sz="12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−</m:t>
                              </m:r>
                              <m:r>
                                <a:rPr lang="zh-CN" sz="12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0.40</m:t>
                              </m:r>
                            </m:e>
                          </m:d>
                          <m:d>
                            <m:dPr>
                              <m:begChr m:val="("/>
                              <m:sepChr m:val=""/>
                              <m:endChr m:val=")"/>
                              <m:grow m:val="on"/>
                              <m:ctrlPr>
                                <a:rPr lang="zh-CN" sz="12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r>
                                <a:rPr lang="zh-CN" sz="12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a:rPr lang="zh-CN" sz="12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−</m:t>
                              </m:r>
                              <m:r>
                                <a:rPr lang="zh-CN" sz="12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0.55</m:t>
                              </m:r>
                            </m:e>
                          </m:d>
                          <m:d>
                            <m:dPr>
                              <m:begChr m:val="("/>
                              <m:sepChr m:val=""/>
                              <m:endChr m:val=")"/>
                              <m:grow m:val="on"/>
                              <m:ctrlPr>
                                <a:rPr lang="zh-CN" sz="12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r>
                                <a:rPr lang="zh-CN" sz="12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a:rPr lang="zh-CN" sz="12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−</m:t>
                              </m:r>
                              <m:r>
                                <a:rPr lang="zh-CN" sz="12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0.65</m:t>
                              </m:r>
                            </m:e>
                          </m:d>
                        </m:e>
                        <m:e>
                          <m:r>
                            <a:rPr lang="zh-CN" sz="12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&amp;</m:t>
                          </m:r>
                          <m:r>
                            <m:rPr>
                              <m:sty m:val="p"/>
                            </m:rPr>
                            <a:rPr lang="zh-CN" sz="12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+</m:t>
                          </m:r>
                          <m:r>
                            <a:rPr lang="zh-CN" sz="12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0.03124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 m:val="on"/>
                              <m:ctrlPr>
                                <a:rPr lang="zh-CN" sz="12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r>
                                <a:rPr lang="zh-CN" sz="12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a:rPr lang="zh-CN" sz="12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−</m:t>
                              </m:r>
                              <m:r>
                                <a:rPr lang="zh-CN" sz="12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0.40</m:t>
                              </m:r>
                            </m:e>
                          </m:d>
                          <m:d>
                            <m:dPr>
                              <m:begChr m:val="("/>
                              <m:sepChr m:val=""/>
                              <m:endChr m:val=")"/>
                              <m:grow m:val="on"/>
                              <m:ctrlPr>
                                <a:rPr lang="zh-CN" sz="12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r>
                                <a:rPr lang="zh-CN" sz="12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a:rPr lang="zh-CN" sz="12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−</m:t>
                              </m:r>
                              <m:r>
                                <a:rPr lang="zh-CN" sz="12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0.55</m:t>
                              </m:r>
                            </m:e>
                          </m:d>
                          <m:d>
                            <m:dPr>
                              <m:begChr m:val="("/>
                              <m:sepChr m:val=""/>
                              <m:endChr m:val=")"/>
                              <m:grow m:val="on"/>
                              <m:ctrlPr>
                                <a:rPr lang="zh-CN" sz="12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r>
                                <a:rPr lang="zh-CN" sz="12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a:rPr lang="zh-CN" sz="12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−</m:t>
                              </m:r>
                              <m:r>
                                <a:rPr lang="zh-CN" sz="12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0.65</m:t>
                              </m:r>
                            </m:e>
                          </m:d>
                          <m:d>
                            <m:dPr>
                              <m:begChr m:val="("/>
                              <m:sepChr m:val=""/>
                              <m:endChr m:val=")"/>
                              <m:grow m:val="on"/>
                              <m:ctrlPr>
                                <a:rPr lang="zh-CN" sz="12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r>
                                <a:rPr lang="zh-CN" sz="12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a:rPr lang="zh-CN" sz="12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−</m:t>
                              </m:r>
                              <m:r>
                                <a:rPr lang="zh-CN" sz="12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0.80</m:t>
                              </m:r>
                            </m:e>
                          </m:d>
                        </m:e>
                      </m:eqArr>
                    </m:oMath>
                  </m:oMathPara>
                </a14:m>
              </a:p>
            </p:txBody>
          </p:sp>
        </mc:Choice>
      </mc:AlternateContent>
      <p:grpSp>
        <p:nvGrpSpPr>
          <p:cNvPr id="38" name="c1-table-2"/>
          <p:cNvGrpSpPr/>
          <p:nvPr/>
        </p:nvGrpSpPr>
        <p:grpSpPr>
          <a:xfrm>
            <a:off x="527685" y="2468880"/>
            <a:ext cx="5848350" cy="2988469"/>
            <a:chOff x="527685" y="2468880"/>
            <a:chExt cx="5848350" cy="2988469"/>
          </a:xfrm>
        </p:grpSpPr>
        <p:sp>
          <p:nvSpPr>
            <p:cNvPr id="8" name="Rectangle 8"/>
            <p:cNvSpPr/>
            <p:nvPr/>
          </p:nvSpPr>
          <p:spPr>
            <a:xfrm>
              <a:off x="533400" y="2468880"/>
              <a:ext cx="5842635" cy="448628"/>
            </a:xfrm>
            <a:prstGeom prst="rect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1043569" y="2604611"/>
              <a:ext cx="104468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x = 0.596 时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3128899" y="2604611"/>
              <a:ext cx="87452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这一项的值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5103863" y="2604611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累加结果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641223" y="3053239"/>
              <a:ext cx="52989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零阶项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3180593" y="3053239"/>
              <a:ext cx="77113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0.410750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5069401" y="3053239"/>
              <a:ext cx="77113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0.410750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533400" y="3361372"/>
              <a:ext cx="584263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6" name="Rectangle 16"/>
            <p:cNvSpPr/>
            <p:nvPr/>
          </p:nvSpPr>
          <p:spPr>
            <a:xfrm>
              <a:off x="533400" y="3366135"/>
              <a:ext cx="5842635" cy="448628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641223" y="3501866"/>
              <a:ext cx="52989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一阶项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3180593" y="3501866"/>
              <a:ext cx="77113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0.218736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5069401" y="3501866"/>
              <a:ext cx="77113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0.629486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533400" y="3810952"/>
              <a:ext cx="584263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641223" y="3950494"/>
              <a:ext cx="52989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二阶项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3180593" y="3950494"/>
              <a:ext cx="77113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0.002524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5069401" y="3950494"/>
              <a:ext cx="77113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0.632010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533400" y="4259580"/>
              <a:ext cx="584263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533400" y="4264342"/>
              <a:ext cx="5842635" cy="448628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41223" y="4399121"/>
              <a:ext cx="52989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三阶项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3133207" y="4399121"/>
              <a:ext cx="86590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−0.000096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5069401" y="4399121"/>
              <a:ext cx="77113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0.631914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533400" y="4708208"/>
              <a:ext cx="584263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641223" y="4848701"/>
              <a:ext cx="52989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四阶项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3180593" y="4848701"/>
              <a:ext cx="77113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0.000003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4543425" y="4722495"/>
              <a:ext cx="1823085" cy="429578"/>
            </a:xfrm>
            <a:prstGeom prst="rect">
              <a:avLst/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5069401" y="4848701"/>
              <a:ext cx="77113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0.631918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533400" y="2468880"/>
              <a:ext cx="5842635" cy="2692718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35" name="Rectangle 35"/>
            <p:cNvSpPr/>
            <p:nvPr/>
          </p:nvSpPr>
          <p:spPr>
            <a:xfrm>
              <a:off x="2593658" y="2468880"/>
              <a:ext cx="9525" cy="2692718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6" name="Rectangle 36"/>
            <p:cNvSpPr/>
            <p:nvPr/>
          </p:nvSpPr>
          <p:spPr>
            <a:xfrm>
              <a:off x="4529138" y="2468880"/>
              <a:ext cx="9525" cy="2692718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527685" y="5237321"/>
              <a:ext cx="272536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逐项的贡献迅速变小，再加节点意义不大</a:t>
              </a:r>
            </a:p>
          </p:txBody>
        </p:sp>
      </p:grpSp>
      <p:grpSp>
        <p:nvGrpSpPr>
          <p:cNvPr id="47" name="c2-card-1"/>
          <p:cNvGrpSpPr/>
          <p:nvPr/>
        </p:nvGrpSpPr>
        <p:grpSpPr>
          <a:xfrm>
            <a:off x="6680835" y="1524000"/>
            <a:ext cx="4977765" cy="2552700"/>
            <a:chOff x="6680835" y="1524000"/>
            <a:chExt cx="4977765" cy="2552700"/>
          </a:xfrm>
        </p:grpSpPr>
        <p:sp>
          <p:nvSpPr>
            <p:cNvPr id="39" name="Rectangle 39"/>
            <p:cNvSpPr/>
            <p:nvPr/>
          </p:nvSpPr>
          <p:spPr>
            <a:xfrm>
              <a:off x="6680835" y="1524000"/>
              <a:ext cx="4977765" cy="2552700"/>
            </a:xfrm>
            <a:prstGeom prst="roundRect">
              <a:avLst>
                <a:gd name="adj" fmla="val 5224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40" name="Rectangle 40"/>
            <p:cNvSpPr/>
            <p:nvPr/>
          </p:nvSpPr>
          <p:spPr>
            <a:xfrm>
              <a:off x="6690360" y="1657350"/>
              <a:ext cx="47625" cy="2286000"/>
            </a:xfrm>
            <a:prstGeom prst="roundRect">
              <a:avLst>
                <a:gd name="adj" fmla="val 50000"/>
              </a:avLst>
            </a:prstGeom>
            <a:solidFill>
              <a:srgbClr val="14A38B"/>
            </a:solidFill>
            <a:ln>
              <a:noFill/>
            </a:ln>
          </p:spPr>
        </p:sp>
        <p:sp>
          <p:nvSpPr>
            <p:cNvPr id="41" name="Rectangle 41"/>
            <p:cNvSpPr/>
            <p:nvPr/>
          </p:nvSpPr>
          <p:spPr>
            <a:xfrm>
              <a:off x="6928485" y="1733550"/>
              <a:ext cx="494348" cy="257175"/>
            </a:xfrm>
            <a:prstGeom prst="roundRect">
              <a:avLst>
                <a:gd name="adj" fmla="val 50000"/>
              </a:avLst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42" name="TextBox 42"/>
            <p:cNvSpPr txBox="1"/>
            <p:nvPr/>
          </p:nvSpPr>
          <p:spPr>
            <a:xfrm>
              <a:off x="7019646" y="1769269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误差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6920865" y="2110740"/>
              <a:ext cx="4417314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用五阶差商近似代替余项中的 f[x₀, …, x₄, x]：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44" name="formula160"/>
                <p:cNvSpPr txBox="1">
                  <a:spLocks noGrp="1"/>
                </p:cNvSpPr>
                <p:nvPr/>
              </p:nvSpPr>
              <p:spPr>
                <a:xfrm>
                  <a:off x="6928485" y="2421255"/>
                  <a:ext cx="4520565" cy="40005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lIns="0" tIns="0" rIns="0" bIns="0" wrap="none" anchor="ctr">
                  <a:normAutofit/>
                </a:bodyPr>
                <a:lstStyle/>
                <a:p>
                  <a:pPr algn="ctr"/>
                  <a14:m>
                    <m:oMathPara xmlns:a="http://schemas.openxmlformats.org/drawingml/2006/main" xmlns:m="http://schemas.openxmlformats.org/officeDocument/2006/math">
                      <m:oMathParaPr>
                        <m:jc m:val="center"/>
                      </m:oMathParaPr>
                      <m:oMath>
                        <m:d>
                          <m:dPr>
                            <m:begChr m:val="|"/>
                            <m:sepChr m:val=""/>
                            <m:endChr m:val="|"/>
                            <m:grow m:val="on"/>
                            <m:ctrlPr>
                              <a:rPr lang="zh-CN" sz="15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sSub>
                              <m:e>
                                <m:r>
                                  <a:rPr lang="zh-CN" sz="15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R</m:t>
                                </m:r>
                              </m:e>
                              <m:sub>
                                <m:r>
                                  <a:rPr lang="zh-CN" sz="15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4</m:t>
                                </m:r>
                              </m:sub>
                            </m:sSub>
                            <m:d>
                              <m:dPr>
                                <m:begChr m:val="("/>
                                <m:sepChr m:val=""/>
                                <m:endChr m:val=")"/>
                                <m:grow m:val="on"/>
                                <m:ctrlPr>
                                  <a:rPr lang="zh-CN" sz="15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</m:ctrlPr>
                              </m:dPr>
                              <m:e>
                                <m:r>
                                  <a:rPr lang="zh-CN" sz="15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0.596</m:t>
                                </m:r>
                              </m:e>
                            </m:d>
                          </m:e>
                        </m:d>
                        <m:r>
                          <m:rPr>
                            <m:sty m:val="p"/>
                          </m:rPr>
                          <a:rPr lang="zh-CN" sz="158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≈</m:t>
                        </m:r>
                        <m:d>
                          <m:dPr>
                            <m:begChr m:val="|"/>
                            <m:sepChr m:val=""/>
                            <m:endChr m:val="|"/>
                            <m:grow m:val="on"/>
                            <m:ctrlPr>
                              <a:rPr lang="zh-CN" sz="15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r>
                              <a:rPr lang="zh-CN" sz="15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f</m:t>
                            </m:r>
                            <m:d>
                              <m:dPr>
                                <m:begChr m:val="["/>
                                <m:sepChr m:val=""/>
                                <m:endChr m:val="]"/>
                                <m:grow m:val="on"/>
                                <m:ctrlPr>
                                  <a:rPr lang="zh-CN" sz="15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</m:ctrlPr>
                              </m:dPr>
                              <m:e>
                                <m:sSub>
                                  <m:e>
                                    <m:r>
                                      <a:rPr lang="zh-CN" sz="158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x</m:t>
                                    </m:r>
                                  </m:e>
                                  <m:sub>
                                    <m:r>
                                      <a:rPr lang="zh-CN" sz="158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0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a:rPr lang="zh-CN" sz="15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,…,</m:t>
                                </m:r>
                                <m:sSub>
                                  <m:e>
                                    <m:r>
                                      <a:rPr lang="zh-CN" sz="158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x</m:t>
                                    </m:r>
                                  </m:e>
                                  <m:sub>
                                    <m:r>
                                      <a:rPr lang="zh-CN" sz="158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5</m:t>
                                    </m:r>
                                  </m:sub>
                                </m:sSub>
                              </m:e>
                            </m:d>
                            <m:r>
                              <a:rPr lang="zh-CN" sz="15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 xml:space="preserve"> </m:t>
                            </m:r>
                            <m:sSub>
                              <m:e>
                                <m:r>
                                  <a:rPr lang="zh-CN" sz="15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ω</m:t>
                                </m:r>
                              </m:e>
                              <m:sub>
                                <m:r>
                                  <a:rPr lang="zh-CN" sz="15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5</m:t>
                                </m:r>
                              </m:sub>
                            </m:sSub>
                            <m:d>
                              <m:dPr>
                                <m:begChr m:val="("/>
                                <m:sepChr m:val=""/>
                                <m:endChr m:val=")"/>
                                <m:grow m:val="on"/>
                                <m:ctrlPr>
                                  <a:rPr lang="zh-CN" sz="15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</m:ctrlPr>
                              </m:dPr>
                              <m:e>
                                <m:r>
                                  <a:rPr lang="zh-CN" sz="15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0.596</m:t>
                                </m:r>
                              </m:e>
                            </m:d>
                          </m:e>
                        </m:d>
                      </m:oMath>
                    </m:oMathPara>
                  </a14:m>
                </a:p>
              </p:txBody>
            </p:sp>
          </mc:Choice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45" name="formula161"/>
                <p:cNvSpPr txBox="1">
                  <a:spLocks noGrp="1"/>
                </p:cNvSpPr>
                <p:nvPr/>
              </p:nvSpPr>
              <p:spPr>
                <a:xfrm>
                  <a:off x="6928485" y="2916555"/>
                  <a:ext cx="4520565" cy="40005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lIns="0" tIns="0" rIns="0" bIns="0" wrap="none" anchor="ctr">
                  <a:normAutofit/>
                </a:bodyPr>
                <a:lstStyle/>
                <a:p>
                  <a:pPr algn="ctr"/>
                  <a14:m>
                    <m:oMathPara xmlns:a="http://schemas.openxmlformats.org/drawingml/2006/main" xmlns:m="http://schemas.openxmlformats.org/officeDocument/2006/math">
                      <m:oMathParaPr>
                        <m:jc m:val="center"/>
                      </m:oMathParaPr>
                      <m:oMath>
                        <m:r>
                          <m:rPr>
                            <m:sty m:val="p"/>
                          </m:rPr>
                          <a:rPr lang="zh-CN" sz="158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=</m:t>
                        </m:r>
                        <m:r>
                          <a:rPr lang="zh-CN" sz="158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0.0085</m:t>
                        </m:r>
                        <m:r>
                          <m:rPr>
                            <m:sty m:val="p"/>
                          </m:rPr>
                          <a:rPr lang="zh-CN" sz="158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×</m:t>
                        </m:r>
                        <m:r>
                          <a:rPr lang="zh-CN" sz="158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3.02</m:t>
                        </m:r>
                        <m:r>
                          <m:rPr>
                            <m:sty m:val="p"/>
                          </m:rPr>
                          <a:rPr lang="zh-CN" sz="158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×</m:t>
                        </m:r>
                        <m:r>
                          <a:rPr lang="zh-CN" sz="158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1</m:t>
                        </m:r>
                        <m:sSup>
                          <m:e>
                            <m:r>
                              <a:rPr lang="zh-CN" sz="15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0</m:t>
                            </m:r>
                          </m:e>
                          <m:sup>
                            <m:r>
                              <m:rPr>
                                <m:sty m:val="p"/>
                              </m:rPr>
                              <a:rPr lang="zh-CN" sz="15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−</m:t>
                            </m:r>
                            <m:r>
                              <a:rPr lang="zh-CN" sz="15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5</m:t>
                            </m:r>
                          </m:sup>
                        </m:sSup>
                        <m:r>
                          <m:rPr>
                            <m:sty m:val="p"/>
                          </m:rPr>
                          <a:rPr lang="zh-CN" sz="158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≈</m:t>
                        </m:r>
                        <m:r>
                          <a:rPr lang="zh-CN" sz="158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2.6</m:t>
                        </m:r>
                        <m:r>
                          <m:rPr>
                            <m:sty m:val="p"/>
                          </m:rPr>
                          <a:rPr lang="zh-CN" sz="158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×</m:t>
                        </m:r>
                        <m:r>
                          <a:rPr lang="zh-CN" sz="158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1</m:t>
                        </m:r>
                        <m:sSup>
                          <m:e>
                            <m:r>
                              <a:rPr lang="zh-CN" sz="15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0</m:t>
                            </m:r>
                          </m:e>
                          <m:sup>
                            <m:r>
                              <m:rPr>
                                <m:sty m:val="p"/>
                              </m:rPr>
                              <a:rPr lang="zh-CN" sz="15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−</m:t>
                            </m:r>
                            <m:r>
                              <a:rPr lang="zh-CN" sz="15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7</m:t>
                            </m:r>
                          </m:sup>
                        </m:sSup>
                      </m:oMath>
                    </m:oMathPara>
                  </a14:m>
                </a:p>
              </p:txBody>
            </p:sp>
          </mc:Choice>
        </mc:AlternateContent>
        <p:sp>
          <p:nvSpPr>
            <p:cNvPr id="46" name="TextBox 46"/>
            <p:cNvSpPr txBox="1"/>
            <p:nvPr/>
          </p:nvSpPr>
          <p:spPr>
            <a:xfrm>
              <a:off x="6922008" y="3433286"/>
              <a:ext cx="4263898" cy="483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45"/>
                </a:lnSpc>
              </a:pPr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真值 sh 0.596 = 0.631917，实际误差约 −7×10⁻⁷，已小于</a:t>
              </a:r>
              <a:br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函数表本身的舍入误差 5×10⁻⁶。</a:t>
              </a:r>
            </a:p>
          </p:txBody>
        </p:sp>
      </p:grpSp>
      <p:grpSp>
        <p:nvGrpSpPr>
          <p:cNvPr id="53" name="c2-card-2"/>
          <p:cNvGrpSpPr/>
          <p:nvPr/>
        </p:nvGrpSpPr>
        <p:grpSpPr>
          <a:xfrm>
            <a:off x="6680835" y="4267200"/>
            <a:ext cx="4977765" cy="1887855"/>
            <a:chOff x="6680835" y="4267200"/>
            <a:chExt cx="4977765" cy="1887855"/>
          </a:xfrm>
        </p:grpSpPr>
        <p:sp>
          <p:nvSpPr>
            <p:cNvPr id="48" name="Rectangle 48"/>
            <p:cNvSpPr/>
            <p:nvPr/>
          </p:nvSpPr>
          <p:spPr>
            <a:xfrm>
              <a:off x="6680835" y="4267200"/>
              <a:ext cx="4977765" cy="1887855"/>
            </a:xfrm>
            <a:prstGeom prst="roundRect">
              <a:avLst>
                <a:gd name="adj" fmla="val 7064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49" name="Rectangle 49"/>
            <p:cNvSpPr/>
            <p:nvPr/>
          </p:nvSpPr>
          <p:spPr>
            <a:xfrm>
              <a:off x="6690360" y="4400550"/>
              <a:ext cx="47625" cy="1621155"/>
            </a:xfrm>
            <a:prstGeom prst="roundRect">
              <a:avLst>
                <a:gd name="adj" fmla="val 50000"/>
              </a:avLst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50" name="Rectangle 50"/>
            <p:cNvSpPr/>
            <p:nvPr/>
          </p:nvSpPr>
          <p:spPr>
            <a:xfrm>
              <a:off x="6928485" y="4476750"/>
              <a:ext cx="494348" cy="257175"/>
            </a:xfrm>
            <a:prstGeom prst="roundRect">
              <a:avLst>
                <a:gd name="adj" fmla="val 5000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51" name="TextBox 51"/>
            <p:cNvSpPr txBox="1"/>
            <p:nvPr/>
          </p:nvSpPr>
          <p:spPr>
            <a:xfrm>
              <a:off x="7019646" y="4512469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更正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6920865" y="4853940"/>
              <a:ext cx="4301490" cy="11506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原课件说“四阶差商相同，五阶差商为 0，因此余项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为 0”。sh x 不是多项式，余项不会为 0。正确的说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法是：五阶差商很小，余项可以忽略，取四次插值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已经足够。结果 0.63192 本身无误。</a:t>
              </a:r>
            </a:p>
          </p:txBody>
        </p:sp>
      </p:grpSp>
      <p:grpSp>
        <p:nvGrpSpPr>
          <p:cNvPr id="56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54" name="TextBox 54"/>
            <p:cNvSpPr txBox="1"/>
            <p:nvPr/>
          </p:nvSpPr>
          <p:spPr>
            <a:xfrm>
              <a:off x="528447" y="6581299"/>
              <a:ext cx="225267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计算方法 · 第5章 函数插值与曲线拟合</a:t>
              </a:r>
            </a:p>
          </p:txBody>
        </p:sp>
        <p:sp>
          <p:nvSpPr>
            <p:cNvPr id="55" name="TextBox 55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30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-disc"/>
          <p:cNvSpPr/>
          <p:nvPr/>
        </p:nvSpPr>
        <p:spPr>
          <a:xfrm>
            <a:off x="7715250" y="571500"/>
            <a:ext cx="5715000" cy="5715000"/>
          </a:xfrm>
          <a:prstGeom prst="ellipse">
            <a:avLst/>
          </a:prstGeom>
          <a:solidFill>
            <a:srgbClr val="2E7D4F"/>
          </a:solidFill>
          <a:ln>
            <a:noFill/>
          </a:ln>
        </p:spPr>
      </p:sp>
      <p:sp>
        <p:nvSpPr>
          <p:cNvPr id="3" name="section-ring"/>
          <p:cNvSpPr/>
          <p:nvPr/>
        </p:nvSpPr>
        <p:spPr>
          <a:xfrm>
            <a:off x="7334250" y="190500"/>
            <a:ext cx="6477000" cy="6477000"/>
          </a:xfrm>
          <a:prstGeom prst="ellipse">
            <a:avLst/>
          </a:prstGeom>
          <a:noFill/>
          <a:ln w="133350">
            <a:solidFill>
              <a:srgbClr val="E5F2EA"/>
            </a:solidFill>
          </a:ln>
        </p:spPr>
      </p:sp>
      <p:grpSp>
        <p:nvGrpSpPr>
          <p:cNvPr id="5" name="section-num"/>
          <p:cNvGrpSpPr/>
          <p:nvPr/>
        </p:nvGrpSpPr>
        <p:grpSpPr>
          <a:xfrm>
            <a:off x="8954033" y="2705100"/>
            <a:ext cx="1903933" cy="2305050"/>
            <a:chOff x="8954033" y="2705100"/>
            <a:chExt cx="1903933" cy="2305050"/>
          </a:xfrm>
        </p:grpSpPr>
        <p:sp>
          <p:nvSpPr>
            <p:cNvPr id="4" name="TextBox 4"/>
            <p:cNvSpPr txBox="1"/>
            <p:nvPr/>
          </p:nvSpPr>
          <p:spPr>
            <a:xfrm>
              <a:off x="8954033" y="2705100"/>
              <a:ext cx="1903933" cy="2305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04</a:t>
              </a:r>
            </a:p>
          </p:txBody>
        </p:sp>
      </p:grpSp>
      <p:grpSp>
        <p:nvGrpSpPr>
          <p:cNvPr id="16" name="section-title"/>
          <p:cNvGrpSpPr/>
          <p:nvPr/>
        </p:nvGrpSpPr>
        <p:grpSpPr>
          <a:xfrm>
            <a:off x="667512" y="1835468"/>
            <a:ext cx="4024884" cy="2997517"/>
            <a:chOff x="667512" y="1835468"/>
            <a:chExt cx="4024884" cy="2997517"/>
          </a:xfrm>
        </p:grpSpPr>
        <p:sp>
          <p:nvSpPr>
            <p:cNvPr id="6" name="TextBox 6"/>
            <p:cNvSpPr txBox="1"/>
            <p:nvPr/>
          </p:nvSpPr>
          <p:spPr>
            <a:xfrm>
              <a:off x="678942" y="1835468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第四部分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667512" y="2240280"/>
              <a:ext cx="3913632" cy="704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6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三次埃尔米特插值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685800" y="3041332"/>
              <a:ext cx="762000" cy="47625"/>
            </a:xfrm>
            <a:prstGeom prst="roundRect">
              <a:avLst>
                <a:gd name="adj" fmla="val 50000"/>
              </a:avLst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677418" y="3377565"/>
              <a:ext cx="4014978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节点上不仅函数值相等，导数值也要相等</a:t>
              </a:r>
            </a:p>
          </p:txBody>
        </p:sp>
        <p:sp>
          <p:nvSpPr>
            <p:cNvPr id="10" name="Ellipse 10"/>
            <p:cNvSpPr/>
            <p:nvPr/>
          </p:nvSpPr>
          <p:spPr>
            <a:xfrm>
              <a:off x="723900" y="3888105"/>
              <a:ext cx="76200" cy="7620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906780" y="3830955"/>
              <a:ext cx="352591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5.4 整齐与非整齐的 Hermite 插值条件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723900" y="4242435"/>
              <a:ext cx="76200" cy="7620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906780" y="4185285"/>
              <a:ext cx="223647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基函数法与重节点差商法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723900" y="4596765"/>
              <a:ext cx="76200" cy="7620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906780" y="4539615"/>
              <a:ext cx="183261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插值余项与完整例题</a:t>
              </a:r>
            </a:p>
          </p:txBody>
        </p:sp>
      </p:grpSp>
      <p:grpSp>
        <p:nvGrpSpPr>
          <p:cNvPr id="19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17" name="TextBox 17"/>
            <p:cNvSpPr txBox="1"/>
            <p:nvPr/>
          </p:nvSpPr>
          <p:spPr>
            <a:xfrm>
              <a:off x="528447" y="6581299"/>
              <a:ext cx="225267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计算方法 · 第5章 函数插值与曲线拟合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31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8452534" cy="909257"/>
            <a:chOff x="520446" y="342900"/>
            <a:chExt cx="8452534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556510" cy="266700"/>
            </a:xfrm>
            <a:prstGeom prst="roundRect">
              <a:avLst>
                <a:gd name="adj" fmla="val 50000"/>
              </a:avLst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92206" y="407194"/>
              <a:ext cx="243889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第5章 函数插值 · 三次埃尔米特插值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8452534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Hermite 插值：节点上的函数值和导数值都要与 f 相等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E7D4F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2" name="c1-card-1"/>
          <p:cNvGrpSpPr/>
          <p:nvPr/>
        </p:nvGrpSpPr>
        <p:grpSpPr>
          <a:xfrm>
            <a:off x="533400" y="1524000"/>
            <a:ext cx="5842635" cy="1522095"/>
            <a:chOff x="533400" y="1524000"/>
            <a:chExt cx="5842635" cy="1522095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842635" cy="1522095"/>
            </a:xfrm>
            <a:prstGeom prst="roundRect">
              <a:avLst>
                <a:gd name="adj" fmla="val 8761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542925" y="1657350"/>
              <a:ext cx="47625" cy="1255395"/>
            </a:xfrm>
            <a:prstGeom prst="roundRect">
              <a:avLst>
                <a:gd name="adj" fmla="val 50000"/>
              </a:avLst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69620" y="1722120"/>
              <a:ext cx="476250" cy="247650"/>
            </a:xfrm>
            <a:prstGeom prst="roundRect">
              <a:avLst>
                <a:gd name="adj" fmla="val 50000"/>
              </a:avLst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861060" y="1756410"/>
              <a:ext cx="2933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定义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762381" y="2082641"/>
              <a:ext cx="5063998" cy="82162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许多应用问题不但要求插值函数在节点上的值等于被插函数值，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还要求导数值（一阶导数、高阶导数）也相等，这种插值称为</a:t>
              </a:r>
              <a:br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Hermite（埃尔米特）插值</a:t>
              </a: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。</a:t>
              </a:r>
            </a:p>
          </p:txBody>
        </p:sp>
      </p:grpSp>
      <p:grpSp>
        <p:nvGrpSpPr>
          <p:cNvPr id="29" name="c1-compare-2"/>
          <p:cNvGrpSpPr/>
          <p:nvPr/>
        </p:nvGrpSpPr>
        <p:grpSpPr>
          <a:xfrm>
            <a:off x="533400" y="3227070"/>
            <a:ext cx="5842636" cy="2109788"/>
            <a:chOff x="533400" y="3227070"/>
            <a:chExt cx="5842636" cy="2109788"/>
          </a:xfrm>
        </p:grpSpPr>
        <p:sp>
          <p:nvSpPr>
            <p:cNvPr id="13" name="Rectangle 13"/>
            <p:cNvSpPr/>
            <p:nvPr/>
          </p:nvSpPr>
          <p:spPr>
            <a:xfrm>
              <a:off x="533400" y="3227070"/>
              <a:ext cx="2749868" cy="2109788"/>
            </a:xfrm>
            <a:prstGeom prst="roundRect">
              <a:avLst>
                <a:gd name="adj" fmla="val 6321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14" name="Rectangle 14"/>
            <p:cNvSpPr/>
            <p:nvPr/>
          </p:nvSpPr>
          <p:spPr>
            <a:xfrm>
              <a:off x="542925" y="3360420"/>
              <a:ext cx="47625" cy="1843088"/>
            </a:xfrm>
            <a:prstGeom prst="roundRect">
              <a:avLst>
                <a:gd name="adj" fmla="val 50000"/>
              </a:avLst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762381" y="3448526"/>
              <a:ext cx="1860583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整齐的 Hermite 插值</a:t>
              </a:r>
            </a:p>
          </p:txBody>
        </p:sp>
        <p:sp>
          <p:nvSpPr>
            <p:cNvPr id="16" name="Ellipse 16"/>
            <p:cNvSpPr/>
            <p:nvPr/>
          </p:nvSpPr>
          <p:spPr>
            <a:xfrm>
              <a:off x="777240" y="3844290"/>
              <a:ext cx="60960" cy="6096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933831" y="3783806"/>
              <a:ext cx="1998218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节点处函数值与导数值成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对出现</a:t>
              </a:r>
            </a:p>
          </p:txBody>
        </p:sp>
        <p:sp>
          <p:nvSpPr>
            <p:cNvPr id="18" name="Ellipse 18"/>
            <p:cNvSpPr/>
            <p:nvPr/>
          </p:nvSpPr>
          <p:spPr>
            <a:xfrm>
              <a:off x="777240" y="4432935"/>
              <a:ext cx="60960" cy="6096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933831" y="4373404"/>
              <a:ext cx="1935099" cy="82162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例：x₀、x₁ 都给出 y 和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y′，共 4 个条件，构造</a:t>
              </a:r>
              <a:br/>
              <a:r>
                <a:rPr lang="en-US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H₃(x)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3626168" y="3227070"/>
              <a:ext cx="2749868" cy="2109788"/>
            </a:xfrm>
            <a:prstGeom prst="roundRect">
              <a:avLst>
                <a:gd name="adj" fmla="val 6321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21" name="Rectangle 21"/>
            <p:cNvSpPr/>
            <p:nvPr/>
          </p:nvSpPr>
          <p:spPr>
            <a:xfrm>
              <a:off x="3635692" y="3360420"/>
              <a:ext cx="47625" cy="1843088"/>
            </a:xfrm>
            <a:prstGeom prst="roundRect">
              <a:avLst>
                <a:gd name="adj" fmla="val 50000"/>
              </a:avLst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3855148" y="3448526"/>
              <a:ext cx="2051743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非整齐的 Hermite 插值</a:t>
              </a:r>
            </a:p>
          </p:txBody>
        </p:sp>
        <p:sp>
          <p:nvSpPr>
            <p:cNvPr id="23" name="Ellipse 23"/>
            <p:cNvSpPr/>
            <p:nvPr/>
          </p:nvSpPr>
          <p:spPr>
            <a:xfrm>
              <a:off x="3870008" y="3844290"/>
              <a:ext cx="60960" cy="6096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4026598" y="3783806"/>
              <a:ext cx="1998218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节点处函数值与导数值不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成对出现</a:t>
              </a:r>
            </a:p>
          </p:txBody>
        </p:sp>
        <p:sp>
          <p:nvSpPr>
            <p:cNvPr id="25" name="Ellipse 25"/>
            <p:cNvSpPr/>
            <p:nvPr/>
          </p:nvSpPr>
          <p:spPr>
            <a:xfrm>
              <a:off x="3870008" y="4432935"/>
              <a:ext cx="60960" cy="6096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4026598" y="4373404"/>
              <a:ext cx="2061337" cy="82162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例：x₀、x₁ 给出 y，只有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x₁ 给出 y′，共 3 个条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件，构造 H₂(x)</a:t>
              </a:r>
            </a:p>
          </p:txBody>
        </p:sp>
        <p:sp>
          <p:nvSpPr>
            <p:cNvPr id="27" name="Ellipse 27"/>
            <p:cNvSpPr/>
            <p:nvPr/>
          </p:nvSpPr>
          <p:spPr>
            <a:xfrm>
              <a:off x="3292792" y="4119562"/>
              <a:ext cx="323850" cy="323850"/>
            </a:xfrm>
            <a:prstGeom prst="ellipse">
              <a:avLst/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3363133" y="4215765"/>
              <a:ext cx="1831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VS</a:t>
              </a:r>
            </a:p>
          </p:txBody>
        </p:sp>
      </p:grpSp>
      <p:grpSp>
        <p:nvGrpSpPr>
          <p:cNvPr id="36" name="c1-callout-3"/>
          <p:cNvGrpSpPr/>
          <p:nvPr/>
        </p:nvGrpSpPr>
        <p:grpSpPr>
          <a:xfrm>
            <a:off x="533400" y="5516880"/>
            <a:ext cx="5842635" cy="756285"/>
            <a:chOff x="533400" y="5516880"/>
            <a:chExt cx="5842635" cy="756285"/>
          </a:xfrm>
        </p:grpSpPr>
        <p:sp>
          <p:nvSpPr>
            <p:cNvPr id="30" name="Rectangle 30"/>
            <p:cNvSpPr/>
            <p:nvPr/>
          </p:nvSpPr>
          <p:spPr>
            <a:xfrm>
              <a:off x="533400" y="5516880"/>
              <a:ext cx="5842635" cy="756285"/>
            </a:xfrm>
            <a:prstGeom prst="roundRect">
              <a:avLst>
                <a:gd name="adj" fmla="val 15113"/>
              </a:avLst>
            </a:prstGeom>
            <a:solidFill>
              <a:srgbClr val="F4F6FB"/>
            </a:solidFill>
            <a:ln>
              <a:noFill/>
            </a:ln>
          </p:spPr>
        </p:sp>
        <p:grpSp>
          <p:nvGrpSpPr>
            <p:cNvPr id="34" name="Group 34"/>
            <p:cNvGrpSpPr/>
            <p:nvPr/>
          </p:nvGrpSpPr>
          <p:grpSpPr>
            <a:xfrm>
              <a:off x="738188" y="5795010"/>
              <a:ext cx="200026" cy="200026"/>
              <a:chOff x="738188" y="5795010"/>
              <a:chExt cx="200026" cy="200026"/>
            </a:xfrm>
          </p:grpSpPr>
          <p:sp>
            <p:nvSpPr>
              <p:cNvPr id="31" name="Freeform 31"/>
              <p:cNvSpPr/>
              <p:nvPr/>
            </p:nvSpPr>
            <p:spPr>
              <a:xfrm>
                <a:off x="738188" y="5795010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32" name="Freeform 32"/>
              <p:cNvSpPr/>
              <p:nvPr/>
            </p:nvSpPr>
            <p:spPr>
              <a:xfrm>
                <a:off x="838200" y="5861685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33" name="Freeform 33"/>
              <p:cNvSpPr/>
              <p:nvPr/>
            </p:nvSpPr>
            <p:spPr>
              <a:xfrm>
                <a:off x="827088" y="5895023"/>
                <a:ext cx="222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22225" h="44450">
                    <a:moveTo>
                      <a:pt x="0" y="0"/>
                    </a:moveTo>
                    <a:lnTo>
                      <a:pt x="11113" y="0"/>
                    </a:lnTo>
                    <a:lnTo>
                      <a:pt x="11113" y="44450"/>
                    </a:lnTo>
                    <a:lnTo>
                      <a:pt x="22225" y="4445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</p:grpSp>
        <p:sp>
          <p:nvSpPr>
            <p:cNvPr id="35" name="TextBox 35"/>
            <p:cNvSpPr txBox="1"/>
            <p:nvPr/>
          </p:nvSpPr>
          <p:spPr>
            <a:xfrm>
              <a:off x="1040511" y="5664041"/>
              <a:ext cx="4910709" cy="5415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70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条件个数决定次数：共有 N 个插值条件时，插值多项式的次数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不超过 N − 1。</a:t>
              </a:r>
            </a:p>
          </p:txBody>
        </p:sp>
      </p:grpSp>
      <p:grpSp>
        <p:nvGrpSpPr>
          <p:cNvPr id="39" name="c2-image-1"/>
          <p:cNvGrpSpPr/>
          <p:nvPr/>
        </p:nvGrpSpPr>
        <p:grpSpPr>
          <a:xfrm>
            <a:off x="6680835" y="1524000"/>
            <a:ext cx="4977765" cy="4861179"/>
            <a:chOff x="6680835" y="1524000"/>
            <a:chExt cx="4977765" cy="4861179"/>
          </a:xfrm>
        </p:grpSpPr>
        <p:pic>
          <p:nvPicPr>
            <p:cNvPr id="37" name="Image 37"/>
            <p:cNvPicPr>
              <a:picLocks noChangeAspect="1"/>
            </p:cNvPicPr>
            <p:nvPr/>
          </p:nvPicPr>
          <p:blipFill>
            <a:blip r:embed="rId2"/>
            <a:srcRect l="9086" t="0" r="9087" b="0"/>
            <a:stretch>
              <a:fillRect/>
            </a:stretch>
          </p:blipFill>
          <p:spPr>
            <a:xfrm>
              <a:off x="6680835" y="1524000"/>
              <a:ext cx="4977765" cy="4562475"/>
            </a:xfrm>
            <a:prstGeom prst="roundRect">
              <a:avLst>
                <a:gd name="adj" fmla="val 2922"/>
              </a:avLst>
            </a:prstGeom>
          </p:spPr>
        </p:pic>
        <p:sp>
          <p:nvSpPr>
            <p:cNvPr id="38" name="TextBox 38"/>
            <p:cNvSpPr txBox="1"/>
            <p:nvPr/>
          </p:nvSpPr>
          <p:spPr>
            <a:xfrm>
              <a:off x="6832092" y="6179820"/>
              <a:ext cx="467525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新接的弯轨既要接上两端的位置，又要和两端的方向一致，接口处才不会折</a:t>
              </a:r>
            </a:p>
          </p:txBody>
        </p:sp>
      </p:grpSp>
      <p:grpSp>
        <p:nvGrpSpPr>
          <p:cNvPr id="42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40" name="TextBox 40"/>
            <p:cNvSpPr txBox="1"/>
            <p:nvPr/>
          </p:nvSpPr>
          <p:spPr>
            <a:xfrm>
              <a:off x="528447" y="6581299"/>
              <a:ext cx="225267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计算方法 · 第5章 函数插值与曲线拟合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32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8399608" cy="909257"/>
            <a:chOff x="520446" y="342900"/>
            <a:chExt cx="8399608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556510" cy="266700"/>
            </a:xfrm>
            <a:prstGeom prst="roundRect">
              <a:avLst>
                <a:gd name="adj" fmla="val 50000"/>
              </a:avLst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92206" y="407194"/>
              <a:ext cx="243889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第5章 函数插值 · 三次埃尔米特插值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8399608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问题一（整齐）解 1：用 4 个插值基函数组合出 H₃(x)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E7D4F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22" name="c1-table-1"/>
          <p:cNvGrpSpPr/>
          <p:nvPr/>
        </p:nvGrpSpPr>
        <p:grpSpPr>
          <a:xfrm>
            <a:off x="533400" y="1524000"/>
            <a:ext cx="4977765" cy="1463040"/>
            <a:chOff x="533400" y="1524000"/>
            <a:chExt cx="4977765" cy="1463040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4977765" cy="487680"/>
            </a:xfrm>
            <a:prstGeom prst="rect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1283765" y="1663065"/>
              <a:ext cx="131855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5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x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2878045" y="1663065"/>
              <a:ext cx="248469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5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x₀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4550635" y="1663065"/>
              <a:ext cx="248469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5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x₁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283765" y="2150745"/>
              <a:ext cx="131855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y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2883598" y="2150745"/>
              <a:ext cx="237363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y₀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4556188" y="2150745"/>
              <a:ext cx="237363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y₁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533400" y="2494598"/>
              <a:ext cx="497776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5" name="Rectangle 15"/>
            <p:cNvSpPr/>
            <p:nvPr/>
          </p:nvSpPr>
          <p:spPr>
            <a:xfrm>
              <a:off x="533400" y="2499360"/>
              <a:ext cx="4977765" cy="48768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1225458" y="2638425"/>
              <a:ext cx="248469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y′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2863405" y="2638425"/>
              <a:ext cx="277749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m₀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4535996" y="2638425"/>
              <a:ext cx="277749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m₁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533400" y="1524000"/>
              <a:ext cx="4977765" cy="1463040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20" name="Rectangle 20"/>
            <p:cNvSpPr/>
            <p:nvPr/>
          </p:nvSpPr>
          <p:spPr>
            <a:xfrm>
              <a:off x="2161222" y="1524000"/>
              <a:ext cx="9525" cy="146304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1" name="Rectangle 21"/>
            <p:cNvSpPr/>
            <p:nvPr/>
          </p:nvSpPr>
          <p:spPr>
            <a:xfrm>
              <a:off x="3833812" y="1524000"/>
              <a:ext cx="9525" cy="146304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24" name="c1-text-2"/>
          <p:cNvGrpSpPr/>
          <p:nvPr/>
        </p:nvGrpSpPr>
        <p:grpSpPr>
          <a:xfrm>
            <a:off x="525780" y="3202305"/>
            <a:ext cx="4730115" cy="588645"/>
            <a:chOff x="525780" y="3202305"/>
            <a:chExt cx="4730115" cy="588645"/>
          </a:xfrm>
        </p:grpSpPr>
        <p:sp>
          <p:nvSpPr>
            <p:cNvPr id="23" name="TextBox 23"/>
            <p:cNvSpPr txBox="1"/>
            <p:nvPr/>
          </p:nvSpPr>
          <p:spPr>
            <a:xfrm>
              <a:off x="525780" y="3202305"/>
              <a:ext cx="4730115" cy="58864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325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求次数不超过 3 的 H₃(x)，使 H₃(xₖ) = yₖ，H₃′(xₖ) =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mₖ（k = 0, 1）。令</a:t>
              </a:r>
            </a:p>
          </p:txBody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25" name="formula165"/>
              <p:cNvSpPr txBox="1">
                <a:spLocks noGrp="1"/>
              </p:cNvSpPr>
              <p:nvPr/>
            </p:nvSpPr>
            <p:spPr>
              <a:xfrm>
                <a:off x="533400" y="3922395"/>
                <a:ext cx="4977765" cy="3238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lIns="0" tIns="0" rIns="0" bIns="0" wrap="none" anchor="ctr">
                <a:normAutofit/>
              </a:bodyPr>
              <a:lstStyle/>
              <a:p>
                <a:pPr algn="ctr"/>
                <a14:m>
                  <m:oMathPara xmlns:a="http://schemas.openxmlformats.org/drawingml/2006/main"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a:rPr lang="zh-CN" sz="12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H</m:t>
                          </m:r>
                        </m:e>
                        <m:sub>
                          <m:r>
                            <a:rPr lang="zh-CN" sz="12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3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 m:val="on"/>
                          <m:ctrlPr>
                            <a:rPr lang="zh-CN" sz="12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a:rPr lang="zh-CN" sz="12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a:rPr lang="zh-CN" sz="128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sSub>
                        <m:e>
                          <m:r>
                            <a:rPr lang="zh-CN" sz="12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α</m:t>
                          </m:r>
                        </m:e>
                        <m:sub>
                          <m:r>
                            <a:rPr lang="zh-CN" sz="12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0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 m:val="on"/>
                          <m:ctrlPr>
                            <a:rPr lang="zh-CN" sz="12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a:rPr lang="zh-CN" sz="12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x</m:t>
                          </m:r>
                        </m:e>
                      </m:d>
                      <m:sSub>
                        <m:e>
                          <m:r>
                            <a:rPr lang="zh-CN" sz="12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y</m:t>
                          </m:r>
                        </m:e>
                        <m:sub>
                          <m:r>
                            <a:rPr lang="zh-CN" sz="12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zh-CN" sz="128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+</m:t>
                      </m:r>
                      <m:sSub>
                        <m:e>
                          <m:r>
                            <a:rPr lang="zh-CN" sz="12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α</m:t>
                          </m:r>
                        </m:e>
                        <m:sub>
                          <m:r>
                            <a:rPr lang="zh-CN" sz="12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 m:val="on"/>
                          <m:ctrlPr>
                            <a:rPr lang="zh-CN" sz="12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a:rPr lang="zh-CN" sz="12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x</m:t>
                          </m:r>
                        </m:e>
                      </m:d>
                      <m:sSub>
                        <m:e>
                          <m:r>
                            <a:rPr lang="zh-CN" sz="12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y</m:t>
                          </m:r>
                        </m:e>
                        <m:sub>
                          <m:r>
                            <a:rPr lang="zh-CN" sz="12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zh-CN" sz="128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+</m:t>
                      </m:r>
                      <m:sSub>
                        <m:e>
                          <m:r>
                            <a:rPr lang="zh-CN" sz="12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β</m:t>
                          </m:r>
                        </m:e>
                        <m:sub>
                          <m:r>
                            <a:rPr lang="zh-CN" sz="12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0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 m:val="on"/>
                          <m:ctrlPr>
                            <a:rPr lang="zh-CN" sz="12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a:rPr lang="zh-CN" sz="12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x</m:t>
                          </m:r>
                        </m:e>
                      </m:d>
                      <m:sSub>
                        <m:e>
                          <m:r>
                            <a:rPr lang="zh-CN" sz="12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m</m:t>
                          </m:r>
                        </m:e>
                        <m:sub>
                          <m:r>
                            <a:rPr lang="zh-CN" sz="12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zh-CN" sz="128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+</m:t>
                      </m:r>
                      <m:sSub>
                        <m:e>
                          <m:r>
                            <a:rPr lang="zh-CN" sz="12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β</m:t>
                          </m:r>
                        </m:e>
                        <m:sub>
                          <m:r>
                            <a:rPr lang="zh-CN" sz="12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 m:val="on"/>
                          <m:ctrlPr>
                            <a:rPr lang="zh-CN" sz="12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a:rPr lang="zh-CN" sz="12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x</m:t>
                          </m:r>
                        </m:e>
                      </m:d>
                      <m:sSub>
                        <m:e>
                          <m:r>
                            <a:rPr lang="zh-CN" sz="12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m</m:t>
                          </m:r>
                        </m:e>
                        <m:sub>
                          <m:r>
                            <a:rPr lang="zh-CN" sz="12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</m:t>
                          </m:r>
                        </m:sub>
                      </m:sSub>
                      <m:r>
                        <a:rPr lang="zh-CN" sz="128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 xml:space="preserve"> </m:t>
                      </m:r>
                      <m:d>
                        <m:dPr>
                          <m:begChr m:val="("/>
                          <m:sepChr m:val=""/>
                          <m:endChr m:val=")"/>
                          <m:grow m:val="on"/>
                          <m:ctrlPr>
                            <a:rPr lang="zh-CN" sz="12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a:rPr lang="zh-CN" sz="12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5.4.2</m:t>
                          </m:r>
                        </m:e>
                      </m:d>
                    </m:oMath>
                  </m:oMathPara>
                </a14:m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6" name="formula166"/>
              <p:cNvSpPr txBox="1">
                <a:spLocks noGrp="1"/>
              </p:cNvSpPr>
              <p:nvPr/>
            </p:nvSpPr>
            <p:spPr>
              <a:xfrm>
                <a:off x="533400" y="4436745"/>
                <a:ext cx="4977765" cy="64960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lIns="0" tIns="0" rIns="0" bIns="0" wrap="none" anchor="ctr">
                <a:normAutofit/>
              </a:bodyPr>
              <a:lstStyle/>
              <a:p>
                <a:pPr algn="ctr"/>
                <a14:m>
                  <m:oMathPara xmlns:a="http://schemas.openxmlformats.org/drawingml/2006/main"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a:rPr lang="zh-CN" sz="165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nary>
                        <m:naryPr>
                          <m:chr m:val="∑"/>
                          <m:limLoc m:val="undOvr"/>
                          <m:grow m:val="off"/>
                          <m:subHide m:val="off"/>
                          <m:supHide m:val="off"/>
                          <m:ctrlPr>
                            <a:rPr lang="zh-CN" sz="16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naryPr>
                        <m:sub>
                          <m:r>
                            <a:rPr lang="zh-CN" sz="16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i</m:t>
                          </m:r>
                          <m:r>
                            <m:rPr>
                              <m:sty m:val="p"/>
                            </m:rPr>
                            <a:rPr lang="zh-CN" sz="16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=</m:t>
                          </m:r>
                          <m:r>
                            <a:rPr lang="zh-CN" sz="16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0</m:t>
                          </m:r>
                        </m:sub>
                        <m:sup>
                          <m:r>
                            <a:rPr lang="zh-CN" sz="16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</m:t>
                          </m:r>
                        </m: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 m:val="on"/>
                              <m:ctrlPr>
                                <a:rPr lang="zh-CN" sz="165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sSub>
                                <m:e>
                                  <m:r>
                                    <a:rPr lang="zh-CN" sz="165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α</m:t>
                                  </m:r>
                                </m:e>
                                <m:sub>
                                  <m:r>
                                    <a:rPr lang="zh-CN" sz="165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i</m:t>
                                  </m:r>
                                </m:sub>
                              </m:sSub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 m:val="on"/>
                                  <m:ctrlPr>
                                    <a:rPr lang="zh-CN" sz="165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dPr>
                                <m:e>
                                  <m:r>
                                    <a:rPr lang="zh-CN" sz="165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x</m:t>
                                  </m:r>
                                </m:e>
                              </m:d>
                              <m:r>
                                <a:rPr lang="zh-CN" sz="165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 xml:space="preserve"> </m:t>
                              </m:r>
                              <m:sSub>
                                <m:e>
                                  <m:r>
                                    <a:rPr lang="zh-CN" sz="165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y</m:t>
                                  </m:r>
                                </m:e>
                                <m:sub>
                                  <m:r>
                                    <a:rPr lang="zh-CN" sz="165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i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a:rPr lang="zh-CN" sz="165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+</m:t>
                              </m:r>
                              <m:sSub>
                                <m:e>
                                  <m:r>
                                    <a:rPr lang="zh-CN" sz="165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β</m:t>
                                  </m:r>
                                </m:e>
                                <m:sub>
                                  <m:r>
                                    <a:rPr lang="zh-CN" sz="165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i</m:t>
                                  </m:r>
                                </m:sub>
                              </m:sSub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 m:val="on"/>
                                  <m:ctrlPr>
                                    <a:rPr lang="zh-CN" sz="165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dPr>
                                <m:e>
                                  <m:r>
                                    <a:rPr lang="zh-CN" sz="165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x</m:t>
                                  </m:r>
                                </m:e>
                              </m:d>
                              <m:r>
                                <a:rPr lang="zh-CN" sz="165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 xml:space="preserve"> </m:t>
                              </m:r>
                              <m:sSub>
                                <m:e>
                                  <m:r>
                                    <a:rPr lang="zh-CN" sz="165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m</m:t>
                                  </m:r>
                                </m:e>
                                <m:sub>
                                  <m:r>
                                    <a:rPr lang="zh-CN" sz="165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i</m:t>
                                  </m:r>
                                </m:sub>
                              </m:sSub>
                            </m:e>
                          </m:d>
                        </m:e>
                      </m:nary>
                    </m:oMath>
                  </m:oMathPara>
                </a14:m>
              </a:p>
            </p:txBody>
          </p:sp>
        </mc:Choice>
      </mc:AlternateContent>
      <p:grpSp>
        <p:nvGrpSpPr>
          <p:cNvPr id="28" name="c1-text-5"/>
          <p:cNvGrpSpPr/>
          <p:nvPr/>
        </p:nvGrpSpPr>
        <p:grpSpPr>
          <a:xfrm>
            <a:off x="526923" y="5298281"/>
            <a:ext cx="4346641" cy="249364"/>
            <a:chOff x="526923" y="5298281"/>
            <a:chExt cx="4346641" cy="249364"/>
          </a:xfrm>
        </p:grpSpPr>
        <p:sp>
          <p:nvSpPr>
            <p:cNvPr id="27" name="TextBox 27"/>
            <p:cNvSpPr txBox="1"/>
            <p:nvPr/>
          </p:nvSpPr>
          <p:spPr>
            <a:xfrm>
              <a:off x="526923" y="5298281"/>
              <a:ext cx="434664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其中 α₀、α₁、β₀、β₁ 是 3 次多项式，称为插值基函数。</a:t>
              </a:r>
            </a:p>
          </p:txBody>
        </p:sp>
      </p:grpSp>
      <p:grpSp>
        <p:nvGrpSpPr>
          <p:cNvPr id="70" name="c2-table-1"/>
          <p:cNvGrpSpPr/>
          <p:nvPr/>
        </p:nvGrpSpPr>
        <p:grpSpPr>
          <a:xfrm>
            <a:off x="5810250" y="1524000"/>
            <a:ext cx="5848350" cy="2734152"/>
            <a:chOff x="5810250" y="1524000"/>
            <a:chExt cx="5848350" cy="2734152"/>
          </a:xfrm>
        </p:grpSpPr>
        <p:sp>
          <p:nvSpPr>
            <p:cNvPr id="29" name="Rectangle 29"/>
            <p:cNvSpPr/>
            <p:nvPr/>
          </p:nvSpPr>
          <p:spPr>
            <a:xfrm>
              <a:off x="5815965" y="1524000"/>
              <a:ext cx="5842635" cy="487680"/>
            </a:xfrm>
            <a:prstGeom prst="rect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5938838" y="1663065"/>
              <a:ext cx="62103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基函数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6799116" y="1663065"/>
              <a:ext cx="917867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x₀ 处的值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7947831" y="1663065"/>
              <a:ext cx="917867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x₁ 处的值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9089879" y="1663065"/>
              <a:ext cx="1119797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x₀ 处的导数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10429094" y="1663065"/>
              <a:ext cx="1119797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x₁ 处的导数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5922645" y="2150745"/>
              <a:ext cx="598313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l-GR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α₀(x)</a:t>
              </a:r>
            </a:p>
          </p:txBody>
        </p:sp>
        <p:sp>
          <p:nvSpPr>
            <p:cNvPr id="36" name="Rectangle 36"/>
            <p:cNvSpPr/>
            <p:nvPr/>
          </p:nvSpPr>
          <p:spPr>
            <a:xfrm>
              <a:off x="6693218" y="2021205"/>
              <a:ext cx="1129665" cy="468630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7194899" y="2150745"/>
              <a:ext cx="12630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8343614" y="2150745"/>
              <a:ext cx="12630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9586627" y="2150745"/>
              <a:ext cx="12630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10925842" y="2150745"/>
              <a:ext cx="12630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41" name="Rectangle 41"/>
            <p:cNvSpPr/>
            <p:nvPr/>
          </p:nvSpPr>
          <p:spPr>
            <a:xfrm>
              <a:off x="5815965" y="2494598"/>
              <a:ext cx="584263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2" name="Rectangle 42"/>
            <p:cNvSpPr/>
            <p:nvPr/>
          </p:nvSpPr>
          <p:spPr>
            <a:xfrm>
              <a:off x="5815965" y="2499360"/>
              <a:ext cx="5842635" cy="48768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5922645" y="2638425"/>
              <a:ext cx="598313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l-GR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α₁(x)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7194899" y="2638425"/>
              <a:ext cx="12630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45" name="Rectangle 45"/>
            <p:cNvSpPr/>
            <p:nvPr/>
          </p:nvSpPr>
          <p:spPr>
            <a:xfrm>
              <a:off x="7841932" y="2508885"/>
              <a:ext cx="1129665" cy="468630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46" name="TextBox 46"/>
            <p:cNvSpPr txBox="1"/>
            <p:nvPr/>
          </p:nvSpPr>
          <p:spPr>
            <a:xfrm>
              <a:off x="8343614" y="2638425"/>
              <a:ext cx="12630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9586627" y="2638425"/>
              <a:ext cx="12630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10925842" y="2638425"/>
              <a:ext cx="12630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49" name="Rectangle 49"/>
            <p:cNvSpPr/>
            <p:nvPr/>
          </p:nvSpPr>
          <p:spPr>
            <a:xfrm>
              <a:off x="5815965" y="2982278"/>
              <a:ext cx="584263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0" name="TextBox 50"/>
            <p:cNvSpPr txBox="1"/>
            <p:nvPr/>
          </p:nvSpPr>
          <p:spPr>
            <a:xfrm>
              <a:off x="5922645" y="3126105"/>
              <a:ext cx="598313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l-GR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β₀(x)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7194899" y="3126105"/>
              <a:ext cx="12630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8343614" y="3126105"/>
              <a:ext cx="12630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53" name="Rectangle 53"/>
            <p:cNvSpPr/>
            <p:nvPr/>
          </p:nvSpPr>
          <p:spPr>
            <a:xfrm>
              <a:off x="8990648" y="2996565"/>
              <a:ext cx="1320165" cy="468630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54" name="TextBox 54"/>
            <p:cNvSpPr txBox="1"/>
            <p:nvPr/>
          </p:nvSpPr>
          <p:spPr>
            <a:xfrm>
              <a:off x="9586627" y="3126105"/>
              <a:ext cx="12630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55" name="TextBox 55"/>
            <p:cNvSpPr txBox="1"/>
            <p:nvPr/>
          </p:nvSpPr>
          <p:spPr>
            <a:xfrm>
              <a:off x="10925842" y="3126105"/>
              <a:ext cx="12630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56" name="Rectangle 56"/>
            <p:cNvSpPr/>
            <p:nvPr/>
          </p:nvSpPr>
          <p:spPr>
            <a:xfrm>
              <a:off x="5815965" y="3469958"/>
              <a:ext cx="584263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7" name="Rectangle 57"/>
            <p:cNvSpPr/>
            <p:nvPr/>
          </p:nvSpPr>
          <p:spPr>
            <a:xfrm>
              <a:off x="5815965" y="3474720"/>
              <a:ext cx="5842635" cy="48768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58" name="TextBox 58"/>
            <p:cNvSpPr txBox="1"/>
            <p:nvPr/>
          </p:nvSpPr>
          <p:spPr>
            <a:xfrm>
              <a:off x="5922645" y="3613785"/>
              <a:ext cx="598313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l-GR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β₁(x)</a:t>
              </a:r>
            </a:p>
          </p:txBody>
        </p:sp>
        <p:sp>
          <p:nvSpPr>
            <p:cNvPr id="59" name="TextBox 59"/>
            <p:cNvSpPr txBox="1"/>
            <p:nvPr/>
          </p:nvSpPr>
          <p:spPr>
            <a:xfrm>
              <a:off x="7194899" y="3613785"/>
              <a:ext cx="12630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60" name="TextBox 60"/>
            <p:cNvSpPr txBox="1"/>
            <p:nvPr/>
          </p:nvSpPr>
          <p:spPr>
            <a:xfrm>
              <a:off x="8343614" y="3613785"/>
              <a:ext cx="12630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61" name="TextBox 61"/>
            <p:cNvSpPr txBox="1"/>
            <p:nvPr/>
          </p:nvSpPr>
          <p:spPr>
            <a:xfrm>
              <a:off x="9586627" y="3613785"/>
              <a:ext cx="12630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62" name="Rectangle 62"/>
            <p:cNvSpPr/>
            <p:nvPr/>
          </p:nvSpPr>
          <p:spPr>
            <a:xfrm>
              <a:off x="10328910" y="3484245"/>
              <a:ext cx="1320165" cy="468630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63" name="TextBox 63"/>
            <p:cNvSpPr txBox="1"/>
            <p:nvPr/>
          </p:nvSpPr>
          <p:spPr>
            <a:xfrm>
              <a:off x="10925842" y="3613785"/>
              <a:ext cx="12630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64" name="Rectangle 64"/>
            <p:cNvSpPr/>
            <p:nvPr/>
          </p:nvSpPr>
          <p:spPr>
            <a:xfrm>
              <a:off x="5815965" y="1524000"/>
              <a:ext cx="5842635" cy="2438400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65" name="Rectangle 65"/>
            <p:cNvSpPr/>
            <p:nvPr/>
          </p:nvSpPr>
          <p:spPr>
            <a:xfrm>
              <a:off x="6678930" y="1524000"/>
              <a:ext cx="9525" cy="243840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66" name="Rectangle 66"/>
            <p:cNvSpPr/>
            <p:nvPr/>
          </p:nvSpPr>
          <p:spPr>
            <a:xfrm>
              <a:off x="7827645" y="1524000"/>
              <a:ext cx="9525" cy="243840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67" name="Rectangle 67"/>
            <p:cNvSpPr/>
            <p:nvPr/>
          </p:nvSpPr>
          <p:spPr>
            <a:xfrm>
              <a:off x="8976360" y="1524000"/>
              <a:ext cx="9525" cy="243840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68" name="Rectangle 68"/>
            <p:cNvSpPr/>
            <p:nvPr/>
          </p:nvSpPr>
          <p:spPr>
            <a:xfrm>
              <a:off x="10314622" y="1524000"/>
              <a:ext cx="9525" cy="243840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69" name="TextBox 69"/>
            <p:cNvSpPr txBox="1"/>
            <p:nvPr/>
          </p:nvSpPr>
          <p:spPr>
            <a:xfrm>
              <a:off x="5810250" y="4038124"/>
              <a:ext cx="51603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即 αᵢ(xⱼ) = δᵢⱼ，αᵢ′(xⱼ) = 0；βᵢ(xⱼ) = 0，βᵢ′(xⱼ) = δᵢⱼ（i, j = 0, 1）</a:t>
              </a:r>
            </a:p>
          </p:txBody>
        </p:sp>
      </p:grpSp>
      <p:grpSp>
        <p:nvGrpSpPr>
          <p:cNvPr id="76" name="c2-callout-2"/>
          <p:cNvGrpSpPr/>
          <p:nvPr/>
        </p:nvGrpSpPr>
        <p:grpSpPr>
          <a:xfrm>
            <a:off x="5815965" y="4404360"/>
            <a:ext cx="5842635" cy="1059180"/>
            <a:chOff x="5815965" y="4404360"/>
            <a:chExt cx="5842635" cy="1059180"/>
          </a:xfrm>
        </p:grpSpPr>
        <p:sp>
          <p:nvSpPr>
            <p:cNvPr id="71" name="Rectangle 71"/>
            <p:cNvSpPr/>
            <p:nvPr/>
          </p:nvSpPr>
          <p:spPr>
            <a:xfrm>
              <a:off x="5815965" y="4404360"/>
              <a:ext cx="5842635" cy="1059180"/>
            </a:xfrm>
            <a:prstGeom prst="roundRect">
              <a:avLst>
                <a:gd name="adj" fmla="val 10791"/>
              </a:avLst>
            </a:prstGeom>
            <a:solidFill>
              <a:srgbClr val="2E7D4F"/>
            </a:solidFill>
            <a:ln>
              <a:noFill/>
            </a:ln>
          </p:spPr>
        </p:sp>
        <p:grpSp>
          <p:nvGrpSpPr>
            <p:cNvPr id="74" name="Group 74"/>
            <p:cNvGrpSpPr/>
            <p:nvPr/>
          </p:nvGrpSpPr>
          <p:grpSpPr>
            <a:xfrm>
              <a:off x="6020753" y="4833940"/>
              <a:ext cx="200023" cy="200023"/>
              <a:chOff x="6020753" y="4833940"/>
              <a:chExt cx="200023" cy="200023"/>
            </a:xfrm>
          </p:grpSpPr>
          <p:sp>
            <p:nvSpPr>
              <p:cNvPr id="72" name="Freeform 72"/>
              <p:cNvSpPr/>
              <p:nvPr/>
            </p:nvSpPr>
            <p:spPr>
              <a:xfrm>
                <a:off x="6020753" y="4833940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73" name="Freeform 73"/>
              <p:cNvSpPr/>
              <p:nvPr/>
            </p:nvSpPr>
            <p:spPr>
              <a:xfrm>
                <a:off x="6154103" y="4900613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75" name="TextBox 75"/>
            <p:cNvSpPr txBox="1"/>
            <p:nvPr/>
          </p:nvSpPr>
          <p:spPr>
            <a:xfrm>
              <a:off x="6322695" y="4552950"/>
              <a:ext cx="4920615" cy="8458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每个基函数只对一个条件取 1，其余三个条件取 0。代入</a:t>
              </a:r>
              <a:br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(5.4.2) 容易验证 H₃(x₀) = y₀、H₃′(x₀) = m₀ 等 4 个条</a:t>
              </a:r>
              <a:br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件都成立。</a:t>
              </a:r>
            </a:p>
          </p:txBody>
        </p:sp>
      </p:grpSp>
      <p:grpSp>
        <p:nvGrpSpPr>
          <p:cNvPr id="79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77" name="TextBox 77"/>
            <p:cNvSpPr txBox="1"/>
            <p:nvPr/>
          </p:nvSpPr>
          <p:spPr>
            <a:xfrm>
              <a:off x="528447" y="6581299"/>
              <a:ext cx="225267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计算方法 · 第5章 函数插值与曲线拟合</a:t>
              </a:r>
            </a:p>
          </p:txBody>
        </p:sp>
        <p:sp>
          <p:nvSpPr>
            <p:cNvPr id="78" name="TextBox 78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33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7234809" cy="909257"/>
            <a:chOff x="520446" y="342900"/>
            <a:chExt cx="7234809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556510" cy="266700"/>
            </a:xfrm>
            <a:prstGeom prst="roundRect">
              <a:avLst>
                <a:gd name="adj" fmla="val 50000"/>
              </a:avLst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92206" y="407194"/>
              <a:ext cx="243889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第5章 函数插值 · 三次埃尔米特插值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7234809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求基函数：由重根定形式，由剩下的条件定系数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E7D4F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c1-text-1"/>
          <p:cNvGrpSpPr/>
          <p:nvPr/>
        </p:nvGrpSpPr>
        <p:grpSpPr>
          <a:xfrm>
            <a:off x="525780" y="1548765"/>
            <a:ext cx="5244465" cy="883920"/>
            <a:chOff x="525780" y="1548765"/>
            <a:chExt cx="5244465" cy="883920"/>
          </a:xfrm>
        </p:grpSpPr>
        <p:sp>
          <p:nvSpPr>
            <p:cNvPr id="7" name="TextBox 7"/>
            <p:cNvSpPr txBox="1"/>
            <p:nvPr/>
          </p:nvSpPr>
          <p:spPr>
            <a:xfrm>
              <a:off x="525780" y="1548765"/>
              <a:ext cx="5244465" cy="8839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325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α₀ 在 x₁ 处函数值和导数值都为 0，x₁ 是二重根；β₀ 在 x₀ 处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还有一个根。按零点设出形式（a, b, c, d, e, g 为待定系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数）：</a:t>
              </a:r>
            </a:p>
          </p:txBody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formula172"/>
              <p:cNvSpPr txBox="1">
                <a:spLocks noGrp="1"/>
              </p:cNvSpPr>
              <p:nvPr/>
            </p:nvSpPr>
            <p:spPr>
              <a:xfrm>
                <a:off x="533400" y="2564130"/>
                <a:ext cx="5626418" cy="685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lIns="0" tIns="0" rIns="0" bIns="0" wrap="none" anchor="ctr">
                <a:normAutofit/>
              </a:bodyPr>
              <a:lstStyle/>
              <a:p>
                <a:pPr algn="ctr"/>
                <a14:m>
                  <m:oMathPara xmlns:a="http://schemas.openxmlformats.org/drawingml/2006/main" xmlns:m="http://schemas.openxmlformats.org/officeDocument/2006/math">
                    <m:oMathParaPr>
                      <m:jc m:val="center"/>
                    </m:oMathParaPr>
                    <m:oMath>
                      <m:eqArr>
                        <m:eqArrPr>
                          <m:baseJc m:val="center"/>
                        </m:eqArrPr>
                        <m:e>
                          <m:sSub>
                            <m:e>
                              <m:r>
                                <a:rPr lang="zh-CN" sz="15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α</m:t>
                              </m:r>
                            </m:e>
                            <m:sub>
                              <m:r>
                                <a:rPr lang="zh-CN" sz="15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0</m:t>
                              </m:r>
                            </m:sub>
                          </m:sSub>
                          <m:d>
                            <m:dPr>
                              <m:begChr m:val="("/>
                              <m:sepChr m:val=""/>
                              <m:endChr m:val=")"/>
                              <m:grow m:val="on"/>
                              <m:ctrlPr>
                                <a:rPr lang="zh-CN" sz="15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r>
                                <a:rPr lang="zh-CN" sz="15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x</m:t>
                              </m:r>
                            </m:e>
                          </m:d>
                          <m:r>
                            <a:rPr lang="zh-CN" sz="15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&amp;</m:t>
                          </m:r>
                          <m:r>
                            <m:rPr>
                              <m:sty m:val="p"/>
                            </m:rPr>
                            <a:rPr lang="zh-CN" sz="15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=</m:t>
                          </m:r>
                          <m:sSup>
                            <m:e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 m:val="on"/>
                                  <m:ctrlPr>
                                    <a:rPr lang="zh-CN" sz="150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dPr>
                                <m:e>
                                  <m:r>
                                    <a:rPr lang="zh-CN" sz="150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x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zh-CN" sz="150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−</m:t>
                                  </m:r>
                                  <m:sSub>
                                    <m:e>
                                      <m:r>
                                        <a:rPr lang="zh-CN" sz="1500" dirty="0">
                                          <a:solidFill>
                                            <a:srgbClr val="1F2937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x</m:t>
                                      </m:r>
                                    </m:e>
                                    <m:sub>
                                      <m:r>
                                        <a:rPr lang="zh-CN" sz="1500" dirty="0">
                                          <a:solidFill>
                                            <a:srgbClr val="1F2937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1</m:t>
                                      </m:r>
                                    </m:sub>
                                  </m:sSub>
                                </m:e>
                              </m:d>
                            </m:e>
                            <m:sup>
                              <m:r>
                                <a:rPr lang="zh-CN" sz="15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2</m:t>
                              </m:r>
                            </m:sup>
                          </m:sSup>
                          <m:d>
                            <m:dPr>
                              <m:begChr m:val="("/>
                              <m:sepChr m:val=""/>
                              <m:endChr m:val=")"/>
                              <m:grow m:val="on"/>
                              <m:ctrlPr>
                                <a:rPr lang="zh-CN" sz="15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r>
                                <a:rPr lang="zh-CN" sz="15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ax</m:t>
                              </m:r>
                              <m:r>
                                <m:rPr>
                                  <m:sty m:val="p"/>
                                </m:rPr>
                                <a:rPr lang="zh-CN" sz="15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+</m:t>
                              </m:r>
                              <m:r>
                                <a:rPr lang="zh-CN" sz="15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b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a:rPr lang="zh-CN" sz="15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,</m:t>
                          </m:r>
                          <m:r>
                            <a:rPr lang="zh-CN" sz="15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&amp;</m:t>
                          </m:r>
                          <m:sSub>
                            <m:e>
                              <m:r>
                                <a:rPr lang="zh-CN" sz="15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α</m:t>
                              </m:r>
                            </m:e>
                            <m:sub>
                              <m:r>
                                <a:rPr lang="zh-CN" sz="15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1</m:t>
                              </m:r>
                            </m:sub>
                          </m:sSub>
                          <m:d>
                            <m:dPr>
                              <m:begChr m:val="("/>
                              <m:sepChr m:val=""/>
                              <m:endChr m:val=")"/>
                              <m:grow m:val="on"/>
                              <m:ctrlPr>
                                <a:rPr lang="zh-CN" sz="15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r>
                                <a:rPr lang="zh-CN" sz="15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x</m:t>
                              </m:r>
                            </m:e>
                          </m:d>
                          <m:r>
                            <a:rPr lang="zh-CN" sz="15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&amp;</m:t>
                          </m:r>
                          <m:r>
                            <m:rPr>
                              <m:sty m:val="p"/>
                            </m:rPr>
                            <a:rPr lang="zh-CN" sz="15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=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 m:val="on"/>
                              <m:ctrlPr>
                                <a:rPr lang="zh-CN" sz="15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r>
                                <a:rPr lang="zh-CN" sz="15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cx</m:t>
                              </m:r>
                              <m:r>
                                <m:rPr>
                                  <m:sty m:val="p"/>
                                </m:rPr>
                                <a:rPr lang="zh-CN" sz="15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+</m:t>
                              </m:r>
                              <m:r>
                                <a:rPr lang="zh-CN" sz="15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d</m:t>
                              </m:r>
                            </m:e>
                          </m:d>
                          <m:sSup>
                            <m:e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 m:val="on"/>
                                  <m:ctrlPr>
                                    <a:rPr lang="zh-CN" sz="150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dPr>
                                <m:e>
                                  <m:r>
                                    <a:rPr lang="zh-CN" sz="150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x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zh-CN" sz="150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−</m:t>
                                  </m:r>
                                  <m:sSub>
                                    <m:e>
                                      <m:r>
                                        <a:rPr lang="zh-CN" sz="1500" dirty="0">
                                          <a:solidFill>
                                            <a:srgbClr val="1F2937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x</m:t>
                                      </m:r>
                                    </m:e>
                                    <m:sub>
                                      <m:r>
                                        <a:rPr lang="zh-CN" sz="1500" dirty="0">
                                          <a:solidFill>
                                            <a:srgbClr val="1F2937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0</m:t>
                                      </m:r>
                                    </m:sub>
                                  </m:sSub>
                                </m:e>
                              </m:d>
                            </m:e>
                            <m:sup>
                              <m:r>
                                <a:rPr lang="zh-CN" sz="15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2</m:t>
                              </m:r>
                            </m:sup>
                          </m:sSup>
                        </m:e>
                        <m:e>
                          <m:sSub>
                            <m:e>
                              <m:r>
                                <a:rPr lang="zh-CN" sz="15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β</m:t>
                              </m:r>
                            </m:e>
                            <m:sub>
                              <m:r>
                                <a:rPr lang="zh-CN" sz="15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0</m:t>
                              </m:r>
                            </m:sub>
                          </m:sSub>
                          <m:d>
                            <m:dPr>
                              <m:begChr m:val="("/>
                              <m:sepChr m:val=""/>
                              <m:endChr m:val=")"/>
                              <m:grow m:val="on"/>
                              <m:ctrlPr>
                                <a:rPr lang="zh-CN" sz="15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r>
                                <a:rPr lang="zh-CN" sz="15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x</m:t>
                              </m:r>
                            </m:e>
                          </m:d>
                          <m:r>
                            <a:rPr lang="zh-CN" sz="15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&amp;</m:t>
                          </m:r>
                          <m:r>
                            <m:rPr>
                              <m:sty m:val="p"/>
                            </m:rPr>
                            <a:rPr lang="zh-CN" sz="15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=</m:t>
                          </m:r>
                          <m:r>
                            <a:rPr lang="zh-CN" sz="15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e</m:t>
                          </m:r>
                          <m:r>
                            <a:rPr lang="zh-CN" sz="15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 xml:space="preserve"> 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 m:val="on"/>
                              <m:ctrlPr>
                                <a:rPr lang="zh-CN" sz="15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r>
                                <a:rPr lang="zh-CN" sz="15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a:rPr lang="zh-CN" sz="15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−</m:t>
                              </m:r>
                              <m:sSub>
                                <m:e>
                                  <m:r>
                                    <a:rPr lang="zh-CN" sz="150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x</m:t>
                                  </m:r>
                                </m:e>
                                <m:sub>
                                  <m:r>
                                    <a:rPr lang="zh-CN" sz="150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0</m:t>
                                  </m:r>
                                </m:sub>
                              </m:sSub>
                            </m:e>
                          </m:d>
                          <m:sSup>
                            <m:e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 m:val="on"/>
                                  <m:ctrlPr>
                                    <a:rPr lang="zh-CN" sz="150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dPr>
                                <m:e>
                                  <m:r>
                                    <a:rPr lang="zh-CN" sz="150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x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zh-CN" sz="150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−</m:t>
                                  </m:r>
                                  <m:sSub>
                                    <m:e>
                                      <m:r>
                                        <a:rPr lang="zh-CN" sz="1500" dirty="0">
                                          <a:solidFill>
                                            <a:srgbClr val="1F2937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x</m:t>
                                      </m:r>
                                    </m:e>
                                    <m:sub>
                                      <m:r>
                                        <a:rPr lang="zh-CN" sz="1500" dirty="0">
                                          <a:solidFill>
                                            <a:srgbClr val="1F2937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1</m:t>
                                      </m:r>
                                    </m:sub>
                                  </m:sSub>
                                </m:e>
                              </m:d>
                            </m:e>
                            <m:sup>
                              <m:r>
                                <a:rPr lang="zh-CN" sz="15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2</m:t>
                              </m:r>
                            </m:sup>
                          </m:sSup>
                          <m:r>
                            <m:rPr>
                              <m:sty m:val="p"/>
                            </m:rPr>
                            <a:rPr lang="zh-CN" sz="15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,</m:t>
                          </m:r>
                          <m:r>
                            <a:rPr lang="zh-CN" sz="15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&amp;</m:t>
                          </m:r>
                          <m:sSub>
                            <m:e>
                              <m:r>
                                <a:rPr lang="zh-CN" sz="15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β</m:t>
                              </m:r>
                            </m:e>
                            <m:sub>
                              <m:r>
                                <a:rPr lang="zh-CN" sz="15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1</m:t>
                              </m:r>
                            </m:sub>
                          </m:sSub>
                          <m:d>
                            <m:dPr>
                              <m:begChr m:val="("/>
                              <m:sepChr m:val=""/>
                              <m:endChr m:val=")"/>
                              <m:grow m:val="on"/>
                              <m:ctrlPr>
                                <a:rPr lang="zh-CN" sz="15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r>
                                <a:rPr lang="zh-CN" sz="15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x</m:t>
                              </m:r>
                            </m:e>
                          </m:d>
                          <m:r>
                            <a:rPr lang="zh-CN" sz="15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&amp;</m:t>
                          </m:r>
                          <m:r>
                            <m:rPr>
                              <m:sty m:val="p"/>
                            </m:rPr>
                            <a:rPr lang="zh-CN" sz="15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=</m:t>
                          </m:r>
                          <m:r>
                            <a:rPr lang="zh-CN" sz="15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g</m:t>
                          </m:r>
                          <m:r>
                            <a:rPr lang="zh-CN" sz="15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 xml:space="preserve"> </m:t>
                          </m:r>
                          <m:sSup>
                            <m:e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 m:val="on"/>
                                  <m:ctrlPr>
                                    <a:rPr lang="zh-CN" sz="150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dPr>
                                <m:e>
                                  <m:r>
                                    <a:rPr lang="zh-CN" sz="150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x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zh-CN" sz="150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−</m:t>
                                  </m:r>
                                  <m:sSub>
                                    <m:e>
                                      <m:r>
                                        <a:rPr lang="zh-CN" sz="1500" dirty="0">
                                          <a:solidFill>
                                            <a:srgbClr val="1F2937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x</m:t>
                                      </m:r>
                                    </m:e>
                                    <m:sub>
                                      <m:r>
                                        <a:rPr lang="zh-CN" sz="1500" dirty="0">
                                          <a:solidFill>
                                            <a:srgbClr val="1F2937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0</m:t>
                                      </m:r>
                                    </m:sub>
                                  </m:sSub>
                                </m:e>
                              </m:d>
                            </m:e>
                            <m:sup>
                              <m:r>
                                <a:rPr lang="zh-CN" sz="15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2</m:t>
                              </m:r>
                            </m:sup>
                          </m:sSup>
                          <m:d>
                            <m:dPr>
                              <m:begChr m:val="("/>
                              <m:sepChr m:val=""/>
                              <m:endChr m:val=")"/>
                              <m:grow m:val="on"/>
                              <m:ctrlPr>
                                <a:rPr lang="zh-CN" sz="15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r>
                                <a:rPr lang="zh-CN" sz="15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a:rPr lang="zh-CN" sz="15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−</m:t>
                              </m:r>
                              <m:sSub>
                                <m:e>
                                  <m:r>
                                    <a:rPr lang="zh-CN" sz="150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x</m:t>
                                  </m:r>
                                </m:e>
                                <m:sub>
                                  <m:r>
                                    <a:rPr lang="zh-CN" sz="150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d>
                        </m:e>
                      </m:eqArr>
                    </m:oMath>
                  </m:oMathPara>
                </a14:m>
              </a:p>
            </p:txBody>
          </p:sp>
        </mc:Choice>
      </mc:AlternateContent>
      <p:grpSp>
        <p:nvGrpSpPr>
          <p:cNvPr id="23" name="c1-steps-3"/>
          <p:cNvGrpSpPr/>
          <p:nvPr/>
        </p:nvGrpSpPr>
        <p:grpSpPr>
          <a:xfrm>
            <a:off x="533400" y="3449955"/>
            <a:ext cx="5416169" cy="2348199"/>
            <a:chOff x="533400" y="3449955"/>
            <a:chExt cx="5416169" cy="2348199"/>
          </a:xfrm>
        </p:grpSpPr>
        <p:sp>
          <p:nvSpPr>
            <p:cNvPr id="10" name="Rectangle 10"/>
            <p:cNvSpPr/>
            <p:nvPr/>
          </p:nvSpPr>
          <p:spPr>
            <a:xfrm>
              <a:off x="666750" y="3592830"/>
              <a:ext cx="19050" cy="1536382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1" name="Ellipse 11"/>
            <p:cNvSpPr/>
            <p:nvPr/>
          </p:nvSpPr>
          <p:spPr>
            <a:xfrm>
              <a:off x="533400" y="3449955"/>
              <a:ext cx="285750" cy="28575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627024" y="352377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13" name="Ellipse 13"/>
            <p:cNvSpPr/>
            <p:nvPr/>
          </p:nvSpPr>
          <p:spPr>
            <a:xfrm>
              <a:off x="533400" y="4100512"/>
              <a:ext cx="285750" cy="28575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627024" y="4174331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5" name="Ellipse 15"/>
            <p:cNvSpPr/>
            <p:nvPr/>
          </p:nvSpPr>
          <p:spPr>
            <a:xfrm>
              <a:off x="533400" y="4986338"/>
              <a:ext cx="285750" cy="28575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627024" y="5060156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944880" y="3484245"/>
              <a:ext cx="1587265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以 α₀ 为例列条件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946023" y="3778091"/>
              <a:ext cx="200317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α₀(x₀) = 1，α₀′(x₀) = 0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944880" y="4134802"/>
              <a:ext cx="8229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解出系数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946023" y="4428649"/>
              <a:ext cx="4881626" cy="483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4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(x₀ − x₁)²(ax₀ + b) = 1；α₀′(x₀) = 2(x₀ − x₁)(ax₀ + b) + a(x₀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− x₁)² = 0，得 ax₀ + b = 1/(x₀ − x₁)²，a = −2/(x₀ − x₁)³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944880" y="5020628"/>
              <a:ext cx="4191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整理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946023" y="5314474"/>
              <a:ext cx="5003546" cy="483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4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ax + b = a(x − x₀) + (ax₀ + b)，代回即得右边 α₀ 的形式；其余三个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同理</a:t>
              </a:r>
            </a:p>
          </p:txBody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24" name="formula173"/>
              <p:cNvSpPr txBox="1">
                <a:spLocks noGrp="1"/>
              </p:cNvSpPr>
              <p:nvPr/>
            </p:nvSpPr>
            <p:spPr>
              <a:xfrm>
                <a:off x="6464618" y="1524000"/>
                <a:ext cx="5193982" cy="48863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lIns="0" tIns="0" rIns="0" bIns="0" wrap="none" anchor="ctr">
                <a:normAutofit/>
              </a:bodyPr>
              <a:lstStyle/>
              <a:p>
                <a:pPr algn="ctr"/>
                <a14:m>
                  <m:oMathPara xmlns:a="http://schemas.openxmlformats.org/drawingml/2006/main"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a:rPr lang="zh-CN" sz="14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α</m:t>
                          </m:r>
                        </m:e>
                        <m:sub>
                          <m:r>
                            <a:rPr lang="zh-CN" sz="14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0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 m:val="on"/>
                          <m:ctrlPr>
                            <a:rPr lang="zh-CN" sz="14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a:rPr lang="zh-CN" sz="14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a:rPr lang="zh-CN" sz="142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d>
                        <m:dPr>
                          <m:begChr m:val="("/>
                          <m:sepChr m:val=""/>
                          <m:endChr m:val=")"/>
                          <m:grow m:val="on"/>
                          <m:ctrlPr>
                            <a:rPr lang="zh-CN" sz="14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a:rPr lang="zh-CN" sz="14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</m:t>
                          </m:r>
                          <m:r>
                            <m:rPr>
                              <m:sty m:val="p"/>
                            </m:rPr>
                            <a:rPr lang="zh-CN" sz="14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+</m:t>
                          </m:r>
                          <m:r>
                            <a:rPr lang="zh-CN" sz="14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</m:t>
                          </m:r>
                          <m:r>
                            <a:rPr lang="zh-CN" sz="14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 xml:space="preserve"> </m:t>
                          </m:r>
                          <m:f>
                            <m:fPr>
                              <m:type m:val="bar"/>
                              <m:ctrlPr>
                                <a:rPr lang="zh-CN" sz="14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fPr>
                            <m:num>
                              <m:r>
                                <a:rPr lang="zh-CN" sz="14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a:rPr lang="zh-CN" sz="14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−</m:t>
                              </m:r>
                              <m:sSub>
                                <m:e>
                                  <m:r>
                                    <a:rPr lang="zh-CN" sz="142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x</m:t>
                                  </m:r>
                                </m:e>
                                <m:sub>
                                  <m:r>
                                    <a:rPr lang="zh-CN" sz="142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0</m:t>
                                  </m:r>
                                </m:sub>
                              </m:sSub>
                            </m:num>
                            <m:den>
                              <m:sSub>
                                <m:e>
                                  <m:r>
                                    <a:rPr lang="zh-CN" sz="142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x</m:t>
                                  </m:r>
                                </m:e>
                                <m:sub>
                                  <m:r>
                                    <a:rPr lang="zh-CN" sz="142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a:rPr lang="zh-CN" sz="14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−</m:t>
                              </m:r>
                              <m:sSub>
                                <m:e>
                                  <m:r>
                                    <a:rPr lang="zh-CN" sz="142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x</m:t>
                                  </m:r>
                                </m:e>
                                <m:sub>
                                  <m:r>
                                    <a:rPr lang="zh-CN" sz="142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0</m:t>
                                  </m:r>
                                </m:sub>
                              </m:sSub>
                            </m:den>
                          </m:f>
                        </m:e>
                      </m:d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 m:val="on"/>
                              <m:ctrlPr>
                                <a:rPr lang="zh-CN" sz="14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f>
                                <m:fPr>
                                  <m:type m:val="bar"/>
                                  <m:ctrlPr>
                                    <a:rPr lang="zh-CN" sz="142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fPr>
                                <m:num>
                                  <m:r>
                                    <a:rPr lang="zh-CN" sz="142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x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zh-CN" sz="142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−</m:t>
                                  </m:r>
                                  <m:sSub>
                                    <m:e>
                                      <m:r>
                                        <a:rPr lang="zh-CN" sz="1420" dirty="0">
                                          <a:solidFill>
                                            <a:srgbClr val="1F2937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x</m:t>
                                      </m:r>
                                    </m:e>
                                    <m:sub>
                                      <m:r>
                                        <a:rPr lang="zh-CN" sz="1420" dirty="0">
                                          <a:solidFill>
                                            <a:srgbClr val="1F2937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1</m:t>
                                      </m:r>
                                    </m:sub>
                                  </m:sSub>
                                </m:num>
                                <m:den>
                                  <m:sSub>
                                    <m:e>
                                      <m:r>
                                        <a:rPr lang="zh-CN" sz="1420" dirty="0">
                                          <a:solidFill>
                                            <a:srgbClr val="1F2937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x</m:t>
                                      </m:r>
                                    </m:e>
                                    <m:sub>
                                      <m:r>
                                        <a:rPr lang="zh-CN" sz="1420" dirty="0">
                                          <a:solidFill>
                                            <a:srgbClr val="1F2937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0</m:t>
                                      </m:r>
                                    </m:sub>
                                  </m:sSub>
                                  <m:r>
                                    <m:rPr>
                                      <m:sty m:val="p"/>
                                    </m:rPr>
                                    <a:rPr lang="zh-CN" sz="142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−</m:t>
                                  </m:r>
                                  <m:sSub>
                                    <m:e>
                                      <m:r>
                                        <a:rPr lang="zh-CN" sz="1420" dirty="0">
                                          <a:solidFill>
                                            <a:srgbClr val="1F2937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x</m:t>
                                      </m:r>
                                    </m:e>
                                    <m:sub>
                                      <m:r>
                                        <a:rPr lang="zh-CN" sz="1420" dirty="0">
                                          <a:solidFill>
                                            <a:srgbClr val="1F2937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1</m:t>
                                      </m:r>
                                    </m:sub>
                                  </m:sSub>
                                </m:den>
                              </m:f>
                            </m:e>
                          </m:d>
                        </m:e>
                        <m:sup>
                          <m:r>
                            <a:rPr lang="zh-CN" sz="14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5" name="formula174"/>
              <p:cNvSpPr txBox="1">
                <a:spLocks noGrp="1"/>
              </p:cNvSpPr>
              <p:nvPr/>
            </p:nvSpPr>
            <p:spPr>
              <a:xfrm>
                <a:off x="6464618" y="2203132"/>
                <a:ext cx="5193982" cy="48863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lIns="0" tIns="0" rIns="0" bIns="0" wrap="none" anchor="ctr">
                <a:normAutofit/>
              </a:bodyPr>
              <a:lstStyle/>
              <a:p>
                <a:pPr algn="ctr"/>
                <a14:m>
                  <m:oMathPara xmlns:a="http://schemas.openxmlformats.org/drawingml/2006/main"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a:rPr lang="zh-CN" sz="14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α</m:t>
                          </m:r>
                        </m:e>
                        <m:sub>
                          <m:r>
                            <a:rPr lang="zh-CN" sz="14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 m:val="on"/>
                          <m:ctrlPr>
                            <a:rPr lang="zh-CN" sz="14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a:rPr lang="zh-CN" sz="14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a:rPr lang="zh-CN" sz="142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d>
                        <m:dPr>
                          <m:begChr m:val="("/>
                          <m:sepChr m:val=""/>
                          <m:endChr m:val=")"/>
                          <m:grow m:val="on"/>
                          <m:ctrlPr>
                            <a:rPr lang="zh-CN" sz="14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a:rPr lang="zh-CN" sz="14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</m:t>
                          </m:r>
                          <m:r>
                            <m:rPr>
                              <m:sty m:val="p"/>
                            </m:rPr>
                            <a:rPr lang="zh-CN" sz="14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+</m:t>
                          </m:r>
                          <m:r>
                            <a:rPr lang="zh-CN" sz="14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</m:t>
                          </m:r>
                          <m:r>
                            <a:rPr lang="zh-CN" sz="14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 xml:space="preserve"> </m:t>
                          </m:r>
                          <m:f>
                            <m:fPr>
                              <m:type m:val="bar"/>
                              <m:ctrlPr>
                                <a:rPr lang="zh-CN" sz="14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fPr>
                            <m:num>
                              <m:r>
                                <a:rPr lang="zh-CN" sz="14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a:rPr lang="zh-CN" sz="14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−</m:t>
                              </m:r>
                              <m:sSub>
                                <m:e>
                                  <m:r>
                                    <a:rPr lang="zh-CN" sz="142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x</m:t>
                                  </m:r>
                                </m:e>
                                <m:sub>
                                  <m:r>
                                    <a:rPr lang="zh-CN" sz="142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1</m:t>
                                  </m:r>
                                </m:sub>
                              </m:sSub>
                            </m:num>
                            <m:den>
                              <m:sSub>
                                <m:e>
                                  <m:r>
                                    <a:rPr lang="zh-CN" sz="142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x</m:t>
                                  </m:r>
                                </m:e>
                                <m:sub>
                                  <m:r>
                                    <a:rPr lang="zh-CN" sz="142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0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a:rPr lang="zh-CN" sz="14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−</m:t>
                              </m:r>
                              <m:sSub>
                                <m:e>
                                  <m:r>
                                    <a:rPr lang="zh-CN" sz="142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x</m:t>
                                  </m:r>
                                </m:e>
                                <m:sub>
                                  <m:r>
                                    <a:rPr lang="zh-CN" sz="142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1</m:t>
                                  </m:r>
                                </m:sub>
                              </m:sSub>
                            </m:den>
                          </m:f>
                        </m:e>
                      </m:d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 m:val="on"/>
                              <m:ctrlPr>
                                <a:rPr lang="zh-CN" sz="14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f>
                                <m:fPr>
                                  <m:type m:val="bar"/>
                                  <m:ctrlPr>
                                    <a:rPr lang="zh-CN" sz="142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fPr>
                                <m:num>
                                  <m:r>
                                    <a:rPr lang="zh-CN" sz="142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x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zh-CN" sz="142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−</m:t>
                                  </m:r>
                                  <m:sSub>
                                    <m:e>
                                      <m:r>
                                        <a:rPr lang="zh-CN" sz="1420" dirty="0">
                                          <a:solidFill>
                                            <a:srgbClr val="1F2937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x</m:t>
                                      </m:r>
                                    </m:e>
                                    <m:sub>
                                      <m:r>
                                        <a:rPr lang="zh-CN" sz="1420" dirty="0">
                                          <a:solidFill>
                                            <a:srgbClr val="1F2937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0</m:t>
                                      </m:r>
                                    </m:sub>
                                  </m:sSub>
                                </m:num>
                                <m:den>
                                  <m:sSub>
                                    <m:e>
                                      <m:r>
                                        <a:rPr lang="zh-CN" sz="1420" dirty="0">
                                          <a:solidFill>
                                            <a:srgbClr val="1F2937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x</m:t>
                                      </m:r>
                                    </m:e>
                                    <m:sub>
                                      <m:r>
                                        <a:rPr lang="zh-CN" sz="1420" dirty="0">
                                          <a:solidFill>
                                            <a:srgbClr val="1F2937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1</m:t>
                                      </m:r>
                                    </m:sub>
                                  </m:sSub>
                                  <m:r>
                                    <m:rPr>
                                      <m:sty m:val="p"/>
                                    </m:rPr>
                                    <a:rPr lang="zh-CN" sz="142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−</m:t>
                                  </m:r>
                                  <m:sSub>
                                    <m:e>
                                      <m:r>
                                        <a:rPr lang="zh-CN" sz="1420" dirty="0">
                                          <a:solidFill>
                                            <a:srgbClr val="1F2937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x</m:t>
                                      </m:r>
                                    </m:e>
                                    <m:sub>
                                      <m:r>
                                        <a:rPr lang="zh-CN" sz="1420" dirty="0">
                                          <a:solidFill>
                                            <a:srgbClr val="1F2937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0</m:t>
                                      </m:r>
                                    </m:sub>
                                  </m:sSub>
                                </m:den>
                              </m:f>
                            </m:e>
                          </m:d>
                        </m:e>
                        <m:sup>
                          <m:r>
                            <a:rPr lang="zh-CN" sz="14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6" name="formula175"/>
              <p:cNvSpPr txBox="1">
                <a:spLocks noGrp="1"/>
              </p:cNvSpPr>
              <p:nvPr/>
            </p:nvSpPr>
            <p:spPr>
              <a:xfrm>
                <a:off x="6464618" y="2882265"/>
                <a:ext cx="5193982" cy="59150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lIns="0" tIns="0" rIns="0" bIns="0" wrap="none" anchor="ctr">
                <a:normAutofit/>
              </a:bodyPr>
              <a:lstStyle/>
              <a:p>
                <a:pPr algn="ctr"/>
                <a14:m>
                  <m:oMathPara xmlns:a="http://schemas.openxmlformats.org/drawingml/2006/main"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a:rPr lang="zh-CN" sz="17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β</m:t>
                          </m:r>
                        </m:e>
                        <m:sub>
                          <m:r>
                            <a:rPr lang="zh-CN" sz="17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0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 m:val="on"/>
                          <m:ctrlPr>
                            <a:rPr lang="zh-CN" sz="17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a:rPr lang="zh-CN" sz="17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a:rPr lang="zh-CN" sz="172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d>
                        <m:dPr>
                          <m:begChr m:val="("/>
                          <m:sepChr m:val=""/>
                          <m:endChr m:val=")"/>
                          <m:grow m:val="on"/>
                          <m:ctrlPr>
                            <a:rPr lang="zh-CN" sz="17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a:rPr lang="zh-CN" sz="17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x</m:t>
                          </m:r>
                          <m:r>
                            <m:rPr>
                              <m:sty m:val="p"/>
                            </m:rPr>
                            <a:rPr lang="zh-CN" sz="17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−</m:t>
                          </m:r>
                          <m:sSub>
                            <m:e>
                              <m:r>
                                <a:rPr lang="zh-CN" sz="17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x</m:t>
                              </m:r>
                            </m:e>
                            <m:sub>
                              <m:r>
                                <a:rPr lang="zh-CN" sz="17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0</m:t>
                              </m:r>
                            </m:sub>
                          </m:sSub>
                        </m:e>
                      </m:d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 m:val="on"/>
                              <m:ctrlPr>
                                <a:rPr lang="zh-CN" sz="17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f>
                                <m:fPr>
                                  <m:type m:val="bar"/>
                                  <m:ctrlPr>
                                    <a:rPr lang="zh-CN" sz="172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fPr>
                                <m:num>
                                  <m:r>
                                    <a:rPr lang="zh-CN" sz="172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x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zh-CN" sz="172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−</m:t>
                                  </m:r>
                                  <m:sSub>
                                    <m:e>
                                      <m:r>
                                        <a:rPr lang="zh-CN" sz="1720" dirty="0">
                                          <a:solidFill>
                                            <a:srgbClr val="1F2937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x</m:t>
                                      </m:r>
                                    </m:e>
                                    <m:sub>
                                      <m:r>
                                        <a:rPr lang="zh-CN" sz="1720" dirty="0">
                                          <a:solidFill>
                                            <a:srgbClr val="1F2937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1</m:t>
                                      </m:r>
                                    </m:sub>
                                  </m:sSub>
                                </m:num>
                                <m:den>
                                  <m:sSub>
                                    <m:e>
                                      <m:r>
                                        <a:rPr lang="zh-CN" sz="1720" dirty="0">
                                          <a:solidFill>
                                            <a:srgbClr val="1F2937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x</m:t>
                                      </m:r>
                                    </m:e>
                                    <m:sub>
                                      <m:r>
                                        <a:rPr lang="zh-CN" sz="1720" dirty="0">
                                          <a:solidFill>
                                            <a:srgbClr val="1F2937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0</m:t>
                                      </m:r>
                                    </m:sub>
                                  </m:sSub>
                                  <m:r>
                                    <m:rPr>
                                      <m:sty m:val="p"/>
                                    </m:rPr>
                                    <a:rPr lang="zh-CN" sz="172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−</m:t>
                                  </m:r>
                                  <m:sSub>
                                    <m:e>
                                      <m:r>
                                        <a:rPr lang="zh-CN" sz="1720" dirty="0">
                                          <a:solidFill>
                                            <a:srgbClr val="1F2937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x</m:t>
                                      </m:r>
                                    </m:e>
                                    <m:sub>
                                      <m:r>
                                        <a:rPr lang="zh-CN" sz="1720" dirty="0">
                                          <a:solidFill>
                                            <a:srgbClr val="1F2937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1</m:t>
                                      </m:r>
                                    </m:sub>
                                  </m:sSub>
                                </m:den>
                              </m:f>
                            </m:e>
                          </m:d>
                        </m:e>
                        <m:sup>
                          <m:r>
                            <a:rPr lang="zh-CN" sz="17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7" name="formula176"/>
              <p:cNvSpPr txBox="1">
                <a:spLocks noGrp="1"/>
              </p:cNvSpPr>
              <p:nvPr/>
            </p:nvSpPr>
            <p:spPr>
              <a:xfrm>
                <a:off x="6464618" y="3664268"/>
                <a:ext cx="5193982" cy="59150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lIns="0" tIns="0" rIns="0" bIns="0" wrap="none" anchor="ctr">
                <a:normAutofit/>
              </a:bodyPr>
              <a:lstStyle/>
              <a:p>
                <a:pPr algn="ctr"/>
                <a14:m>
                  <m:oMathPara xmlns:a="http://schemas.openxmlformats.org/drawingml/2006/main"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a:rPr lang="zh-CN" sz="17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β</m:t>
                          </m:r>
                        </m:e>
                        <m:sub>
                          <m:r>
                            <a:rPr lang="zh-CN" sz="17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 m:val="on"/>
                          <m:ctrlPr>
                            <a:rPr lang="zh-CN" sz="17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a:rPr lang="zh-CN" sz="17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a:rPr lang="zh-CN" sz="172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d>
                        <m:dPr>
                          <m:begChr m:val="("/>
                          <m:sepChr m:val=""/>
                          <m:endChr m:val=")"/>
                          <m:grow m:val="on"/>
                          <m:ctrlPr>
                            <a:rPr lang="zh-CN" sz="17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a:rPr lang="zh-CN" sz="17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x</m:t>
                          </m:r>
                          <m:r>
                            <m:rPr>
                              <m:sty m:val="p"/>
                            </m:rPr>
                            <a:rPr lang="zh-CN" sz="17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−</m:t>
                          </m:r>
                          <m:sSub>
                            <m:e>
                              <m:r>
                                <a:rPr lang="zh-CN" sz="17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x</m:t>
                              </m:r>
                            </m:e>
                            <m:sub>
                              <m:r>
                                <a:rPr lang="zh-CN" sz="17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 m:val="on"/>
                              <m:ctrlPr>
                                <a:rPr lang="zh-CN" sz="17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f>
                                <m:fPr>
                                  <m:type m:val="bar"/>
                                  <m:ctrlPr>
                                    <a:rPr lang="zh-CN" sz="172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fPr>
                                <m:num>
                                  <m:r>
                                    <a:rPr lang="zh-CN" sz="172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x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zh-CN" sz="172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−</m:t>
                                  </m:r>
                                  <m:sSub>
                                    <m:e>
                                      <m:r>
                                        <a:rPr lang="zh-CN" sz="1720" dirty="0">
                                          <a:solidFill>
                                            <a:srgbClr val="1F2937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x</m:t>
                                      </m:r>
                                    </m:e>
                                    <m:sub>
                                      <m:r>
                                        <a:rPr lang="zh-CN" sz="1720" dirty="0">
                                          <a:solidFill>
                                            <a:srgbClr val="1F2937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0</m:t>
                                      </m:r>
                                    </m:sub>
                                  </m:sSub>
                                </m:num>
                                <m:den>
                                  <m:sSub>
                                    <m:e>
                                      <m:r>
                                        <a:rPr lang="zh-CN" sz="1720" dirty="0">
                                          <a:solidFill>
                                            <a:srgbClr val="1F2937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x</m:t>
                                      </m:r>
                                    </m:e>
                                    <m:sub>
                                      <m:r>
                                        <a:rPr lang="zh-CN" sz="1720" dirty="0">
                                          <a:solidFill>
                                            <a:srgbClr val="1F2937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1</m:t>
                                      </m:r>
                                    </m:sub>
                                  </m:sSub>
                                  <m:r>
                                    <m:rPr>
                                      <m:sty m:val="p"/>
                                    </m:rPr>
                                    <a:rPr lang="zh-CN" sz="172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−</m:t>
                                  </m:r>
                                  <m:sSub>
                                    <m:e>
                                      <m:r>
                                        <a:rPr lang="zh-CN" sz="1720" dirty="0">
                                          <a:solidFill>
                                            <a:srgbClr val="1F2937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x</m:t>
                                      </m:r>
                                    </m:e>
                                    <m:sub>
                                      <m:r>
                                        <a:rPr lang="zh-CN" sz="1720" dirty="0">
                                          <a:solidFill>
                                            <a:srgbClr val="1F2937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0</m:t>
                                      </m:r>
                                    </m:sub>
                                  </m:sSub>
                                </m:den>
                              </m:f>
                            </m:e>
                          </m:d>
                        </m:e>
                        <m:sup>
                          <m:r>
                            <a:rPr lang="zh-CN" sz="17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</a:p>
            </p:txBody>
          </p:sp>
        </mc:Choice>
      </mc:AlternateContent>
      <p:grpSp>
        <p:nvGrpSpPr>
          <p:cNvPr id="34" name="c2-callout-5"/>
          <p:cNvGrpSpPr/>
          <p:nvPr/>
        </p:nvGrpSpPr>
        <p:grpSpPr>
          <a:xfrm>
            <a:off x="6464618" y="4446270"/>
            <a:ext cx="5193982" cy="1335405"/>
            <a:chOff x="6464618" y="4446270"/>
            <a:chExt cx="5193982" cy="1335405"/>
          </a:xfrm>
        </p:grpSpPr>
        <p:sp>
          <p:nvSpPr>
            <p:cNvPr id="28" name="Rectangle 28"/>
            <p:cNvSpPr/>
            <p:nvPr/>
          </p:nvSpPr>
          <p:spPr>
            <a:xfrm>
              <a:off x="6464618" y="4446270"/>
              <a:ext cx="5193982" cy="1335405"/>
            </a:xfrm>
            <a:prstGeom prst="roundRect">
              <a:avLst>
                <a:gd name="adj" fmla="val 8559"/>
              </a:avLst>
            </a:prstGeom>
            <a:solidFill>
              <a:srgbClr val="FDEEE7"/>
            </a:solidFill>
            <a:ln>
              <a:noFill/>
            </a:ln>
          </p:spPr>
        </p:sp>
        <p:grpSp>
          <p:nvGrpSpPr>
            <p:cNvPr id="32" name="Group 32"/>
            <p:cNvGrpSpPr/>
            <p:nvPr/>
          </p:nvGrpSpPr>
          <p:grpSpPr>
            <a:xfrm>
              <a:off x="6669405" y="5013960"/>
              <a:ext cx="200026" cy="200025"/>
              <a:chOff x="6669405" y="5013960"/>
              <a:chExt cx="200026" cy="200025"/>
            </a:xfrm>
          </p:grpSpPr>
          <p:sp>
            <p:nvSpPr>
              <p:cNvPr id="29" name="Freeform 29"/>
              <p:cNvSpPr/>
              <p:nvPr/>
            </p:nvSpPr>
            <p:spPr>
              <a:xfrm>
                <a:off x="6669405" y="5013960"/>
                <a:ext cx="200026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00013">
                    <a:moveTo>
                      <a:pt x="0" y="100013"/>
                    </a:moveTo>
                    <a:lnTo>
                      <a:pt x="11113" y="100013"/>
                    </a:lnTo>
                    <a:moveTo>
                      <a:pt x="100013" y="0"/>
                    </a:moveTo>
                    <a:lnTo>
                      <a:pt x="100013" y="11113"/>
                    </a:lnTo>
                    <a:moveTo>
                      <a:pt x="188913" y="100013"/>
                    </a:moveTo>
                    <a:lnTo>
                      <a:pt x="200026" y="100013"/>
                    </a:lnTo>
                    <a:moveTo>
                      <a:pt x="28893" y="28893"/>
                    </a:moveTo>
                    <a:lnTo>
                      <a:pt x="36671" y="36671"/>
                    </a:lnTo>
                    <a:moveTo>
                      <a:pt x="171133" y="28893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30" name="Freeform 30"/>
              <p:cNvSpPr/>
              <p:nvPr/>
            </p:nvSpPr>
            <p:spPr>
              <a:xfrm>
                <a:off x="6709144" y="5058410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3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3" y="15304"/>
                      <a:pt x="112986" y="37992"/>
                    </a:cubicBezTo>
                    <a:cubicBezTo>
                      <a:pt x="120548" y="60681"/>
                      <a:pt x="112745" y="85663"/>
                      <a:pt x="93612" y="100013"/>
                    </a:cubicBezTo>
                    <a:cubicBezTo>
                      <a:pt x="84812" y="108723"/>
                      <a:pt x="80686" y="121103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3"/>
                      <a:pt x="35736" y="108723"/>
                      <a:pt x="26937" y="100013"/>
                    </a:cubicBez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31" name="Freeform 31"/>
              <p:cNvSpPr/>
              <p:nvPr/>
            </p:nvSpPr>
            <p:spPr>
              <a:xfrm>
                <a:off x="6743859" y="5169536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</p:grpSp>
        <p:sp>
          <p:nvSpPr>
            <p:cNvPr id="33" name="TextBox 33"/>
            <p:cNvSpPr txBox="1"/>
            <p:nvPr/>
          </p:nvSpPr>
          <p:spPr>
            <a:xfrm>
              <a:off x="6971348" y="4594860"/>
              <a:ext cx="4263390" cy="112204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检验 α₀：x = x₀ 时两个因子都为 1；α₀′(x₀) =</a:t>
              </a:r>
              <a:br/>
              <a:r>
                <a:rPr lang="zh-CN" sz="15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2/(x₁ − x₀) + 2/(x₀ − x₁) = 0；x = x₁ 时第二个</a:t>
              </a:r>
              <a:br/>
              <a:r>
                <a:rPr lang="zh-CN" sz="15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因子及其导数都为 0。四个基函数代回 (5.4.2) 即</a:t>
              </a:r>
              <a:br/>
              <a:r>
                <a:rPr lang="zh-CN" sz="15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得 H₃(x)。</a:t>
              </a:r>
            </a:p>
          </p:txBody>
        </p:sp>
      </p:grpSp>
      <p:grpSp>
        <p:nvGrpSpPr>
          <p:cNvPr id="37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35" name="TextBox 35"/>
            <p:cNvSpPr txBox="1"/>
            <p:nvPr/>
          </p:nvSpPr>
          <p:spPr>
            <a:xfrm>
              <a:off x="528447" y="6581299"/>
              <a:ext cx="225267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计算方法 · 第5章 函数插值与曲线拟合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34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8914311" cy="909257"/>
            <a:chOff x="520446" y="342900"/>
            <a:chExt cx="8914311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556510" cy="266700"/>
            </a:xfrm>
            <a:prstGeom prst="roundRect">
              <a:avLst>
                <a:gd name="adj" fmla="val 50000"/>
              </a:avLst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92206" y="407194"/>
              <a:ext cx="243889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第5章 函数插值 · 三次埃尔米特插值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8914311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问题一解 2（差商法）：知道导数的节点在差商表里写两次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E7D4F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6" name="c1-card-1"/>
          <p:cNvGrpSpPr/>
          <p:nvPr/>
        </p:nvGrpSpPr>
        <p:grpSpPr>
          <a:xfrm>
            <a:off x="533400" y="1524000"/>
            <a:ext cx="5193982" cy="4773930"/>
            <a:chOff x="533400" y="1524000"/>
            <a:chExt cx="5193982" cy="4773930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193982" cy="4773930"/>
            </a:xfrm>
            <a:prstGeom prst="roundRect">
              <a:avLst>
                <a:gd name="adj" fmla="val 2793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542925" y="1657350"/>
              <a:ext cx="47625" cy="4507230"/>
            </a:xfrm>
            <a:prstGeom prst="roundRect">
              <a:avLst>
                <a:gd name="adj" fmla="val 50000"/>
              </a:avLst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81050" y="1733550"/>
              <a:ext cx="921068" cy="257175"/>
            </a:xfrm>
            <a:prstGeom prst="roundRect">
              <a:avLst>
                <a:gd name="adj" fmla="val 50000"/>
              </a:avLst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858457" y="1769269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重节点差商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773430" y="2110740"/>
              <a:ext cx="422529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构造差商表时引入重节点 z₀ = z₁ = x₀，z₂ = z₃ =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x₁。由导数定义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2" name="formula180"/>
                <p:cNvSpPr txBox="1">
                  <a:spLocks noGrp="1"/>
                </p:cNvSpPr>
                <p:nvPr/>
              </p:nvSpPr>
              <p:spPr>
                <a:xfrm>
                  <a:off x="781050" y="2707005"/>
                  <a:ext cx="4736782" cy="561022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lIns="0" tIns="0" rIns="0" bIns="0" wrap="none" anchor="ctr">
                  <a:normAutofit/>
                </a:bodyPr>
                <a:lstStyle/>
                <a:p>
                  <a:pPr algn="ctr"/>
                  <a14:m>
                    <m:oMathPara xmlns:a="http://schemas.openxmlformats.org/drawingml/2006/main" xmlns:m="http://schemas.openxmlformats.org/officeDocument/2006/math">
                      <m:oMathParaPr>
                        <m:jc m:val="center"/>
                      </m:oMathParaPr>
                      <m:oMath>
                        <m:r>
                          <a:rPr lang="zh-CN" sz="142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f</m:t>
                        </m:r>
                        <m:d>
                          <m:dPr>
                            <m:begChr m:val="["/>
                            <m:sepChr m:val=""/>
                            <m:endChr m:val="]"/>
                            <m:grow m:val="on"/>
                            <m:ctrlPr>
                              <a:rPr lang="zh-CN" sz="14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sSub>
                              <m:e>
                                <m:r>
                                  <a:rPr lang="zh-CN" sz="14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z</m:t>
                                </m:r>
                              </m:e>
                              <m:sub>
                                <m:r>
                                  <a:rPr lang="zh-CN" sz="14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0</m:t>
                                </m:r>
                              </m:sub>
                            </m:sSub>
                            <m:r>
                              <m:rPr>
                                <m:sty m:val="p"/>
                              </m:rPr>
                              <a:rPr lang="zh-CN" sz="14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,</m:t>
                            </m:r>
                            <m:sSub>
                              <m:e>
                                <m:r>
                                  <a:rPr lang="zh-CN" sz="14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z</m:t>
                                </m:r>
                              </m:e>
                              <m:sub>
                                <m:r>
                                  <a:rPr lang="zh-CN" sz="14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1</m:t>
                                </m:r>
                              </m:sub>
                            </m:sSub>
                          </m:e>
                        </m:d>
                        <m:r>
                          <m:rPr>
                            <m:sty m:val="p"/>
                          </m:rPr>
                          <a:rPr lang="zh-CN" sz="142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=</m:t>
                        </m:r>
                        <m:func>
                          <m:funcPr/>
                          <m:fName>
                            <m:limLow>
                              <m:limLowPr/>
                              <m:e>
                                <m:r>
                                  <m:rPr>
                                    <m:sty m:val="p"/>
                                  </m:rPr>
                                  <a:rPr lang="zh-CN" sz="14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lim</m:t>
                                </m:r>
                              </m:e>
                              <m:lim>
                                <m:sSub>
                                  <m:e>
                                    <m:r>
                                      <a:rPr lang="zh-CN" sz="142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z</m:t>
                                    </m:r>
                                  </m:e>
                                  <m:sub>
                                    <m:r>
                                      <a:rPr lang="zh-CN" sz="142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1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a:rPr lang="zh-CN" sz="14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→</m:t>
                                </m:r>
                                <m:sSub>
                                  <m:e>
                                    <m:r>
                                      <a:rPr lang="zh-CN" sz="142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z</m:t>
                                    </m:r>
                                  </m:e>
                                  <m:sub>
                                    <m:r>
                                      <a:rPr lang="zh-CN" sz="142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0</m:t>
                                    </m:r>
                                  </m:sub>
                                </m:sSub>
                              </m:lim>
                            </m:limLow>
                          </m:fName>
                          <m:e>
                            <m:f>
                              <m:fPr>
                                <m:type m:val="bar"/>
                                <m:ctrlPr>
                                  <a:rPr lang="zh-CN" sz="14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</m:ctrlPr>
                              </m:fPr>
                              <m:num>
                                <m:r>
                                  <a:rPr lang="zh-CN" sz="14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f</m:t>
                                </m:r>
                                <m:d>
                                  <m:dPr>
                                    <m:begChr m:val="("/>
                                    <m:sepChr m:val=""/>
                                    <m:endChr m:val=")"/>
                                    <m:grow m:val="on"/>
                                    <m:ctrlPr>
                                      <a:rPr lang="zh-CN" sz="142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dPr>
                                  <m:e>
                                    <m:sSub>
                                      <m:e>
                                        <m:r>
                                          <a:rPr lang="zh-CN" sz="1420" dirty="0">
                                            <a:solidFill>
                                              <a:srgbClr val="1F2937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  <m:t>z</m:t>
                                        </m:r>
                                      </m:e>
                                      <m:sub>
                                        <m:r>
                                          <a:rPr lang="zh-CN" sz="1420" dirty="0">
                                            <a:solidFill>
                                              <a:srgbClr val="1F2937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</m:e>
                                </m:d>
                                <m:r>
                                  <m:rPr>
                                    <m:sty m:val="p"/>
                                  </m:rPr>
                                  <a:rPr lang="zh-CN" sz="14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−</m:t>
                                </m:r>
                                <m:r>
                                  <a:rPr lang="zh-CN" sz="14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f</m:t>
                                </m:r>
                                <m:d>
                                  <m:dPr>
                                    <m:begChr m:val="("/>
                                    <m:sepChr m:val=""/>
                                    <m:endChr m:val=")"/>
                                    <m:grow m:val="on"/>
                                    <m:ctrlPr>
                                      <a:rPr lang="zh-CN" sz="142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dPr>
                                  <m:e>
                                    <m:sSub>
                                      <m:e>
                                        <m:r>
                                          <a:rPr lang="zh-CN" sz="1420" dirty="0">
                                            <a:solidFill>
                                              <a:srgbClr val="1F2937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  <m:t>z</m:t>
                                        </m:r>
                                      </m:e>
                                      <m:sub>
                                        <m:r>
                                          <a:rPr lang="zh-CN" sz="1420" dirty="0">
                                            <a:solidFill>
                                              <a:srgbClr val="1F2937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  <m:t>0</m:t>
                                        </m:r>
                                      </m:sub>
                                    </m:sSub>
                                  </m:e>
                                </m:d>
                              </m:num>
                              <m:den>
                                <m:sSub>
                                  <m:e>
                                    <m:r>
                                      <a:rPr lang="zh-CN" sz="142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z</m:t>
                                    </m:r>
                                  </m:e>
                                  <m:sub>
                                    <m:r>
                                      <a:rPr lang="zh-CN" sz="142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1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a:rPr lang="zh-CN" sz="14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−</m:t>
                                </m:r>
                                <m:sSub>
                                  <m:e>
                                    <m:r>
                                      <a:rPr lang="zh-CN" sz="142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z</m:t>
                                    </m:r>
                                  </m:e>
                                  <m:sub>
                                    <m:r>
                                      <a:rPr lang="zh-CN" sz="142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0</m:t>
                                    </m:r>
                                  </m:sub>
                                </m:sSub>
                              </m:den>
                            </m:f>
                          </m:e>
                        </m:func>
                        <m:r>
                          <m:rPr>
                            <m:sty m:val="p"/>
                          </m:rPr>
                          <a:rPr lang="zh-CN" sz="142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=</m:t>
                        </m:r>
                        <m:sSup>
                          <m:e>
                            <m:r>
                              <a:rPr lang="zh-CN" sz="14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f</m:t>
                            </m:r>
                          </m:e>
                          <m:sup>
                            <m:r>
                              <m:rPr>
                                <m:sty m:val="p"/>
                              </m:rPr>
                              <a:rPr lang="zh-CN" sz="14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′</m:t>
                            </m:r>
                          </m:sup>
                        </m:sSup>
                        <m:d>
                          <m:dPr>
                            <m:begChr m:val="("/>
                            <m:sepChr m:val=""/>
                            <m:endChr m:val=")"/>
                            <m:grow m:val="on"/>
                            <m:ctrlPr>
                              <a:rPr lang="zh-CN" sz="14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sSub>
                              <m:e>
                                <m:r>
                                  <a:rPr lang="zh-CN" sz="14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x</m:t>
                                </m:r>
                              </m:e>
                              <m:sub>
                                <m:r>
                                  <a:rPr lang="zh-CN" sz="14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0</m:t>
                                </m:r>
                              </m:sub>
                            </m:sSub>
                          </m:e>
                        </m:d>
                      </m:oMath>
                    </m:oMathPara>
                  </a14:m>
                </a:p>
              </p:txBody>
            </p:sp>
          </mc:Choice>
        </mc:AlternateContent>
        <p:sp>
          <p:nvSpPr>
            <p:cNvPr id="13" name="TextBox 13"/>
            <p:cNvSpPr txBox="1"/>
            <p:nvPr/>
          </p:nvSpPr>
          <p:spPr>
            <a:xfrm>
              <a:off x="773430" y="3388042"/>
              <a:ext cx="368027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一般地，由差商与导数的关系 (5.3.6)：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4" name="formula181"/>
                <p:cNvSpPr txBox="1">
                  <a:spLocks noGrp="1"/>
                </p:cNvSpPr>
                <p:nvPr/>
              </p:nvSpPr>
              <p:spPr>
                <a:xfrm>
                  <a:off x="781050" y="3698558"/>
                  <a:ext cx="4736782" cy="565785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lIns="0" tIns="0" rIns="0" bIns="0" wrap="none" anchor="ctr">
                  <a:normAutofit/>
                </a:bodyPr>
                <a:lstStyle/>
                <a:p>
                  <a:pPr algn="ctr"/>
                  <a14:m>
                    <m:oMathPara xmlns:a="http://schemas.openxmlformats.org/drawingml/2006/main" xmlns:m="http://schemas.openxmlformats.org/officeDocument/2006/math">
                      <m:oMathParaPr>
                        <m:jc m:val="center"/>
                      </m:oMathParaPr>
                      <m:oMath>
                        <m:r>
                          <a:rPr lang="zh-CN" sz="16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f</m:t>
                        </m:r>
                        <m:d>
                          <m:dPr>
                            <m:begChr m:val="["/>
                            <m:sepChr m:val=""/>
                            <m:endChr m:val="]"/>
                            <m:grow m:val="on"/>
                            <m:ctrlPr>
                              <a:rPr lang="zh-CN" sz="16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r>
                              <a:rPr lang="zh-CN" sz="16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x</m:t>
                            </m:r>
                            <m:r>
                              <m:rPr>
                                <m:sty m:val="p"/>
                              </m:rPr>
                              <a:rPr lang="zh-CN" sz="16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,</m:t>
                            </m:r>
                            <m:r>
                              <a:rPr lang="zh-CN" sz="16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x</m:t>
                            </m:r>
                          </m:e>
                        </m:d>
                        <m:r>
                          <m:rPr>
                            <m:sty m:val="p"/>
                          </m:rPr>
                          <a:rPr lang="zh-CN" sz="16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=</m:t>
                        </m:r>
                        <m:sSup>
                          <m:e>
                            <m:r>
                              <a:rPr lang="zh-CN" sz="16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f</m:t>
                            </m:r>
                          </m:e>
                          <m:sup>
                            <m:r>
                              <m:rPr>
                                <m:sty m:val="p"/>
                              </m:rPr>
                              <a:rPr lang="zh-CN" sz="16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′</m:t>
                            </m:r>
                          </m:sup>
                        </m:sSup>
                        <m:d>
                          <m:dPr>
                            <m:begChr m:val="("/>
                            <m:sepChr m:val=""/>
                            <m:endChr m:val=")"/>
                            <m:grow m:val="on"/>
                            <m:ctrlPr>
                              <a:rPr lang="zh-CN" sz="16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r>
                              <a:rPr lang="zh-CN" sz="16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x</m:t>
                            </m:r>
                          </m:e>
                        </m:d>
                        <m:r>
                          <m:rPr>
                            <m:sty m:val="p"/>
                          </m:rPr>
                          <a:rPr lang="zh-CN" sz="16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,</m:t>
                        </m:r>
                        <m:r>
                          <a:rPr lang="zh-CN" sz="16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 xml:space="preserve">  </m:t>
                        </m:r>
                        <m:r>
                          <a:rPr lang="zh-CN" sz="16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f</m:t>
                        </m:r>
                        <m:d>
                          <m:dPr>
                            <m:begChr m:val="["/>
                            <m:sepChr m:val=""/>
                            <m:endChr m:val="]"/>
                            <m:grow m:val="on"/>
                            <m:ctrlPr>
                              <a:rPr lang="zh-CN" sz="16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r>
                              <a:rPr lang="zh-CN" sz="16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x</m:t>
                            </m:r>
                            <m:r>
                              <m:rPr>
                                <m:sty m:val="p"/>
                              </m:rPr>
                              <a:rPr lang="zh-CN" sz="16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,</m:t>
                            </m:r>
                            <m:r>
                              <a:rPr lang="zh-CN" sz="16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x</m:t>
                            </m:r>
                            <m:r>
                              <m:rPr>
                                <m:sty m:val="p"/>
                              </m:rPr>
                              <a:rPr lang="zh-CN" sz="16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,</m:t>
                            </m:r>
                            <m:r>
                              <a:rPr lang="zh-CN" sz="16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x</m:t>
                            </m:r>
                          </m:e>
                        </m:d>
                        <m:r>
                          <m:rPr>
                            <m:sty m:val="p"/>
                          </m:rPr>
                          <a:rPr lang="zh-CN" sz="16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=</m:t>
                        </m:r>
                        <m:f>
                          <m:fPr>
                            <m:type m:val="bar"/>
                            <m:ctrlPr>
                              <a:rPr lang="zh-CN" sz="16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fPr>
                          <m:num>
                            <m:sSup>
                              <m:e>
                                <m:r>
                                  <a:rPr lang="zh-CN" sz="16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f</m:t>
                                </m:r>
                              </m:e>
                              <m:sup>
                                <m:r>
                                  <m:rPr>
                                    <m:sty m:val="p"/>
                                  </m:rPr>
                                  <a:rPr lang="zh-CN" sz="16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′′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sepChr m:val=""/>
                                <m:endChr m:val=")"/>
                                <m:grow m:val="on"/>
                                <m:ctrlPr>
                                  <a:rPr lang="zh-CN" sz="16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</m:ctrlPr>
                              </m:dPr>
                              <m:e>
                                <m:r>
                                  <a:rPr lang="zh-CN" sz="16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x</m:t>
                                </m:r>
                              </m:e>
                            </m:d>
                          </m:num>
                          <m:den>
                            <m:r>
                              <a:rPr lang="zh-CN" sz="16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2</m:t>
                            </m:r>
                            <m:r>
                              <m:rPr>
                                <m:sty m:val="p"/>
                              </m:rPr>
                              <a:rPr lang="zh-CN" sz="16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!</m:t>
                            </m:r>
                          </m:den>
                        </m:f>
                      </m:oMath>
                    </m:oMathPara>
                  </a14:m>
                </a:p>
              </p:txBody>
            </p:sp>
          </mc:Choice>
        </mc:AlternateContent>
        <p:sp>
          <p:nvSpPr>
            <p:cNvPr id="15" name="TextBox 15"/>
            <p:cNvSpPr txBox="1"/>
            <p:nvPr/>
          </p:nvSpPr>
          <p:spPr>
            <a:xfrm>
              <a:off x="774573" y="4381024"/>
              <a:ext cx="3976167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知道哪个节点的导数值，就把哪个节点写成重节点。</a:t>
              </a:r>
            </a:p>
          </p:txBody>
        </p:sp>
      </p:grpSp>
      <p:grpSp>
        <p:nvGrpSpPr>
          <p:cNvPr id="51" name="c2-table-1"/>
          <p:cNvGrpSpPr/>
          <p:nvPr/>
        </p:nvGrpSpPr>
        <p:grpSpPr>
          <a:xfrm>
            <a:off x="6032182" y="1524000"/>
            <a:ext cx="5626418" cy="2924175"/>
            <a:chOff x="6032182" y="1524000"/>
            <a:chExt cx="5626418" cy="2924175"/>
          </a:xfrm>
        </p:grpSpPr>
        <p:sp>
          <p:nvSpPr>
            <p:cNvPr id="17" name="Rectangle 17"/>
            <p:cNvSpPr/>
            <p:nvPr/>
          </p:nvSpPr>
          <p:spPr>
            <a:xfrm>
              <a:off x="6032182" y="1524000"/>
              <a:ext cx="5626418" cy="675322"/>
            </a:xfrm>
            <a:prstGeom prst="rect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6431972" y="1773079"/>
              <a:ext cx="21197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zₖ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7188594" y="1659731"/>
              <a:ext cx="388468" cy="4760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>
                <a:lnSpc>
                  <a:spcPts val="1785"/>
                </a:lnSpc>
              </a:pPr>
              <a:r>
                <a:rPr lang="en-US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f(zₖ</a:t>
              </a:r>
              <a:br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)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8044231" y="1773079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一阶差商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9337726" y="1773079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二阶差商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10632173" y="1773079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三阶差商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6228426" y="2335054"/>
              <a:ext cx="619067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z₀ = x₀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7054215" y="2208848"/>
              <a:ext cx="656272" cy="429578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7281578" y="2335054"/>
              <a:ext cx="20249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y₀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6032182" y="2643188"/>
              <a:ext cx="562641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7" name="Rectangle 27"/>
            <p:cNvSpPr/>
            <p:nvPr/>
          </p:nvSpPr>
          <p:spPr>
            <a:xfrm>
              <a:off x="6032182" y="2647950"/>
              <a:ext cx="5626418" cy="448628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228426" y="2783681"/>
              <a:ext cx="619067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z₁ = x₀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7281578" y="2783681"/>
              <a:ext cx="20249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y₀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7729538" y="2657475"/>
              <a:ext cx="1331595" cy="429578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893456" y="2783681"/>
              <a:ext cx="1003757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f′(x₀) = m₀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6032182" y="3092768"/>
              <a:ext cx="562641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6228426" y="3345656"/>
              <a:ext cx="619067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z₂ = x₁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7281578" y="3345656"/>
              <a:ext cx="20249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y₁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7983921" y="3345656"/>
              <a:ext cx="82282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f[z₁, z₂]</a:t>
              </a:r>
            </a:p>
          </p:txBody>
        </p:sp>
        <p:sp>
          <p:nvSpPr>
            <p:cNvPr id="36" name="Rectangle 36"/>
            <p:cNvSpPr/>
            <p:nvPr/>
          </p:nvSpPr>
          <p:spPr>
            <a:xfrm>
              <a:off x="9080182" y="3107055"/>
              <a:ext cx="1219200" cy="656272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9300337" y="3232309"/>
              <a:ext cx="776986" cy="4760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>
                <a:lnSpc>
                  <a:spcPts val="1785"/>
                </a:lnSpc>
              </a:pPr>
              <a:r>
                <a:rPr lang="en-US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f[z₀, z₁,</a:t>
              </a:r>
              <a:br/>
              <a:r>
                <a:rPr lang="en-US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z₂]</a:t>
              </a:r>
            </a:p>
          </p:txBody>
        </p:sp>
        <p:sp>
          <p:nvSpPr>
            <p:cNvPr id="38" name="Rectangle 38"/>
            <p:cNvSpPr/>
            <p:nvPr/>
          </p:nvSpPr>
          <p:spPr>
            <a:xfrm>
              <a:off x="6032182" y="3768090"/>
              <a:ext cx="562641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9" name="Rectangle 39"/>
            <p:cNvSpPr/>
            <p:nvPr/>
          </p:nvSpPr>
          <p:spPr>
            <a:xfrm>
              <a:off x="6032182" y="3772852"/>
              <a:ext cx="5626418" cy="675322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40" name="TextBox 40"/>
            <p:cNvSpPr txBox="1"/>
            <p:nvPr/>
          </p:nvSpPr>
          <p:spPr>
            <a:xfrm>
              <a:off x="6228426" y="4020979"/>
              <a:ext cx="619067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z₃ = x₁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7281578" y="4020979"/>
              <a:ext cx="20249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y₁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7893456" y="4020979"/>
              <a:ext cx="1003757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f′(x₁) = m₁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9300337" y="3907631"/>
              <a:ext cx="776986" cy="4760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>
                <a:lnSpc>
                  <a:spcPts val="1785"/>
                </a:lnSpc>
              </a:pPr>
              <a:r>
                <a:rPr lang="en-US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f[z₁, z₂,</a:t>
              </a:r>
              <a:br/>
              <a:r>
                <a:rPr lang="en-US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z₃]</a:t>
              </a:r>
            </a:p>
          </p:txBody>
        </p:sp>
        <p:sp>
          <p:nvSpPr>
            <p:cNvPr id="44" name="Rectangle 44"/>
            <p:cNvSpPr/>
            <p:nvPr/>
          </p:nvSpPr>
          <p:spPr>
            <a:xfrm>
              <a:off x="10317480" y="3782378"/>
              <a:ext cx="1331595" cy="656272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10594784" y="3907631"/>
              <a:ext cx="776986" cy="4760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>
                <a:lnSpc>
                  <a:spcPts val="1785"/>
                </a:lnSpc>
              </a:pPr>
              <a:r>
                <a:rPr lang="en-US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f[z₀, z₁,</a:t>
              </a:r>
              <a:br/>
              <a:r>
                <a:rPr lang="en-US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z₂, z₃]</a:t>
              </a:r>
            </a:p>
          </p:txBody>
        </p:sp>
        <p:sp>
          <p:nvSpPr>
            <p:cNvPr id="46" name="Rectangle 46"/>
            <p:cNvSpPr/>
            <p:nvPr/>
          </p:nvSpPr>
          <p:spPr>
            <a:xfrm>
              <a:off x="6032182" y="1524000"/>
              <a:ext cx="5626418" cy="2924175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47" name="Rectangle 47"/>
            <p:cNvSpPr/>
            <p:nvPr/>
          </p:nvSpPr>
          <p:spPr>
            <a:xfrm>
              <a:off x="7039928" y="1524000"/>
              <a:ext cx="9525" cy="292417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8" name="Rectangle 48"/>
            <p:cNvSpPr/>
            <p:nvPr/>
          </p:nvSpPr>
          <p:spPr>
            <a:xfrm>
              <a:off x="7715250" y="1524000"/>
              <a:ext cx="9525" cy="292417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9" name="Rectangle 49"/>
            <p:cNvSpPr/>
            <p:nvPr/>
          </p:nvSpPr>
          <p:spPr>
            <a:xfrm>
              <a:off x="9065895" y="1524000"/>
              <a:ext cx="9525" cy="292417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0" name="Rectangle 50"/>
            <p:cNvSpPr/>
            <p:nvPr/>
          </p:nvSpPr>
          <p:spPr>
            <a:xfrm>
              <a:off x="10303192" y="1524000"/>
              <a:ext cx="9525" cy="292417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52" name="formula182"/>
              <p:cNvSpPr txBox="1">
                <a:spLocks noGrp="1"/>
              </p:cNvSpPr>
              <p:nvPr/>
            </p:nvSpPr>
            <p:spPr>
              <a:xfrm>
                <a:off x="6032182" y="4638675"/>
                <a:ext cx="5626418" cy="685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lIns="0" tIns="0" rIns="0" bIns="0" wrap="none" anchor="ctr">
                <a:normAutofit/>
              </a:bodyPr>
              <a:lstStyle/>
              <a:p>
                <a:pPr algn="ctr"/>
                <a14:m>
                  <m:oMathPara xmlns:a="http://schemas.openxmlformats.org/drawingml/2006/main" xmlns:m="http://schemas.openxmlformats.org/officeDocument/2006/math">
                    <m:oMathParaPr>
                      <m:jc m:val="center"/>
                    </m:oMathParaPr>
                    <m:oMath>
                      <m:eqArr>
                        <m:eqArrPr>
                          <m:baseJc m:val="center"/>
                        </m:eqArrPr>
                        <m:e>
                          <m:sSub>
                            <m:e>
                              <m:r>
                                <a:rPr lang="zh-CN" sz="15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H</m:t>
                              </m:r>
                            </m:e>
                            <m:sub>
                              <m:r>
                                <a:rPr lang="zh-CN" sz="15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3</m:t>
                              </m:r>
                            </m:sub>
                          </m:sSub>
                          <m:d>
                            <m:dPr>
                              <m:begChr m:val="("/>
                              <m:sepChr m:val=""/>
                              <m:endChr m:val=")"/>
                              <m:grow m:val="on"/>
                              <m:ctrlPr>
                                <a:rPr lang="zh-CN" sz="15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r>
                                <a:rPr lang="zh-CN" sz="15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x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a:rPr lang="zh-CN" sz="15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=</m:t>
                          </m:r>
                          <m:r>
                            <a:rPr lang="zh-CN" sz="15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 xml:space="preserve"> </m:t>
                          </m:r>
                          <m:r>
                            <a:rPr lang="zh-CN" sz="15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&amp;</m:t>
                          </m:r>
                          <m:r>
                            <a:rPr lang="zh-CN" sz="15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f</m:t>
                          </m:r>
                          <m:d>
                            <m:dPr>
                              <m:begChr m:val="["/>
                              <m:sepChr m:val=""/>
                              <m:endChr m:val="]"/>
                              <m:grow m:val="on"/>
                              <m:ctrlPr>
                                <a:rPr lang="zh-CN" sz="15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sSub>
                                <m:e>
                                  <m:r>
                                    <a:rPr lang="zh-CN" sz="150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z</m:t>
                                  </m:r>
                                </m:e>
                                <m:sub>
                                  <m:r>
                                    <a:rPr lang="zh-CN" sz="150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0</m:t>
                                  </m:r>
                                </m:sub>
                              </m:sSub>
                            </m:e>
                          </m:d>
                          <m:r>
                            <m:rPr>
                              <m:sty m:val="p"/>
                            </m:rPr>
                            <a:rPr lang="zh-CN" sz="15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+</m:t>
                          </m:r>
                          <m:r>
                            <a:rPr lang="zh-CN" sz="15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f</m:t>
                          </m:r>
                          <m:d>
                            <m:dPr>
                              <m:begChr m:val="["/>
                              <m:sepChr m:val=""/>
                              <m:endChr m:val="]"/>
                              <m:grow m:val="on"/>
                              <m:ctrlPr>
                                <a:rPr lang="zh-CN" sz="15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sSub>
                                <m:e>
                                  <m:r>
                                    <a:rPr lang="zh-CN" sz="150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z</m:t>
                                  </m:r>
                                </m:e>
                                <m:sub>
                                  <m:r>
                                    <a:rPr lang="zh-CN" sz="150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0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a:rPr lang="zh-CN" sz="15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,</m:t>
                              </m:r>
                              <m:sSub>
                                <m:e>
                                  <m:r>
                                    <a:rPr lang="zh-CN" sz="150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z</m:t>
                                  </m:r>
                                </m:e>
                                <m:sub>
                                  <m:r>
                                    <a:rPr lang="zh-CN" sz="150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d>
                          <m:d>
                            <m:dPr>
                              <m:begChr m:val="("/>
                              <m:sepChr m:val=""/>
                              <m:endChr m:val=")"/>
                              <m:grow m:val="on"/>
                              <m:ctrlPr>
                                <a:rPr lang="zh-CN" sz="15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r>
                                <a:rPr lang="zh-CN" sz="15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a:rPr lang="zh-CN" sz="15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−</m:t>
                              </m:r>
                              <m:sSub>
                                <m:e>
                                  <m:r>
                                    <a:rPr lang="zh-CN" sz="150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x</m:t>
                                  </m:r>
                                </m:e>
                                <m:sub>
                                  <m:r>
                                    <a:rPr lang="zh-CN" sz="150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0</m:t>
                                  </m:r>
                                </m:sub>
                              </m:sSub>
                            </m:e>
                          </m:d>
                          <m:r>
                            <m:rPr>
                              <m:sty m:val="p"/>
                            </m:rPr>
                            <a:rPr lang="zh-CN" sz="15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+</m:t>
                          </m:r>
                          <m:r>
                            <a:rPr lang="zh-CN" sz="15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f</m:t>
                          </m:r>
                          <m:d>
                            <m:dPr>
                              <m:begChr m:val="["/>
                              <m:sepChr m:val=""/>
                              <m:endChr m:val="]"/>
                              <m:grow m:val="on"/>
                              <m:ctrlPr>
                                <a:rPr lang="zh-CN" sz="15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sSub>
                                <m:e>
                                  <m:r>
                                    <a:rPr lang="zh-CN" sz="150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z</m:t>
                                  </m:r>
                                </m:e>
                                <m:sub>
                                  <m:r>
                                    <a:rPr lang="zh-CN" sz="150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0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a:rPr lang="zh-CN" sz="15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,</m:t>
                              </m:r>
                              <m:sSub>
                                <m:e>
                                  <m:r>
                                    <a:rPr lang="zh-CN" sz="150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z</m:t>
                                  </m:r>
                                </m:e>
                                <m:sub>
                                  <m:r>
                                    <a:rPr lang="zh-CN" sz="150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a:rPr lang="zh-CN" sz="15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,</m:t>
                              </m:r>
                              <m:sSub>
                                <m:e>
                                  <m:r>
                                    <a:rPr lang="zh-CN" sz="150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z</m:t>
                                  </m:r>
                                </m:e>
                                <m:sub>
                                  <m:r>
                                    <a:rPr lang="zh-CN" sz="150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d>
                          <m:sSup>
                            <m:e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 m:val="on"/>
                                  <m:ctrlPr>
                                    <a:rPr lang="zh-CN" sz="150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dPr>
                                <m:e>
                                  <m:r>
                                    <a:rPr lang="zh-CN" sz="150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x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zh-CN" sz="150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−</m:t>
                                  </m:r>
                                  <m:sSub>
                                    <m:e>
                                      <m:r>
                                        <a:rPr lang="zh-CN" sz="1500" dirty="0">
                                          <a:solidFill>
                                            <a:srgbClr val="1F2937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x</m:t>
                                      </m:r>
                                    </m:e>
                                    <m:sub>
                                      <m:r>
                                        <a:rPr lang="zh-CN" sz="1500" dirty="0">
                                          <a:solidFill>
                                            <a:srgbClr val="1F2937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0</m:t>
                                      </m:r>
                                    </m:sub>
                                  </m:sSub>
                                </m:e>
                              </m:d>
                            </m:e>
                            <m:sup>
                              <m:r>
                                <a:rPr lang="zh-CN" sz="15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2</m:t>
                              </m:r>
                            </m:sup>
                          </m:sSup>
                        </m:e>
                        <m:e>
                          <m:r>
                            <a:rPr lang="zh-CN" sz="15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&amp;</m:t>
                          </m:r>
                          <m:r>
                            <m:rPr>
                              <m:sty m:val="p"/>
                            </m:rPr>
                            <a:rPr lang="zh-CN" sz="15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+</m:t>
                          </m:r>
                          <m:r>
                            <a:rPr lang="zh-CN" sz="15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f</m:t>
                          </m:r>
                          <m:d>
                            <m:dPr>
                              <m:begChr m:val="["/>
                              <m:sepChr m:val=""/>
                              <m:endChr m:val="]"/>
                              <m:grow m:val="on"/>
                              <m:ctrlPr>
                                <a:rPr lang="zh-CN" sz="15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sSub>
                                <m:e>
                                  <m:r>
                                    <a:rPr lang="zh-CN" sz="150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z</m:t>
                                  </m:r>
                                </m:e>
                                <m:sub>
                                  <m:r>
                                    <a:rPr lang="zh-CN" sz="150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0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a:rPr lang="zh-CN" sz="15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,</m:t>
                              </m:r>
                              <m:sSub>
                                <m:e>
                                  <m:r>
                                    <a:rPr lang="zh-CN" sz="150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z</m:t>
                                  </m:r>
                                </m:e>
                                <m:sub>
                                  <m:r>
                                    <a:rPr lang="zh-CN" sz="150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a:rPr lang="zh-CN" sz="15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,</m:t>
                              </m:r>
                              <m:sSub>
                                <m:e>
                                  <m:r>
                                    <a:rPr lang="zh-CN" sz="150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z</m:t>
                                  </m:r>
                                </m:e>
                                <m:sub>
                                  <m:r>
                                    <a:rPr lang="zh-CN" sz="150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a:rPr lang="zh-CN" sz="15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,</m:t>
                              </m:r>
                              <m:sSub>
                                <m:e>
                                  <m:r>
                                    <a:rPr lang="zh-CN" sz="150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z</m:t>
                                  </m:r>
                                </m:e>
                                <m:sub>
                                  <m:r>
                                    <a:rPr lang="zh-CN" sz="150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3</m:t>
                                  </m:r>
                                </m:sub>
                              </m:sSub>
                            </m:e>
                          </m:d>
                          <m:sSup>
                            <m:e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 m:val="on"/>
                                  <m:ctrlPr>
                                    <a:rPr lang="zh-CN" sz="150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dPr>
                                <m:e>
                                  <m:r>
                                    <a:rPr lang="zh-CN" sz="150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x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zh-CN" sz="150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−</m:t>
                                  </m:r>
                                  <m:sSub>
                                    <m:e>
                                      <m:r>
                                        <a:rPr lang="zh-CN" sz="1500" dirty="0">
                                          <a:solidFill>
                                            <a:srgbClr val="1F2937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x</m:t>
                                      </m:r>
                                    </m:e>
                                    <m:sub>
                                      <m:r>
                                        <a:rPr lang="zh-CN" sz="1500" dirty="0">
                                          <a:solidFill>
                                            <a:srgbClr val="1F2937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0</m:t>
                                      </m:r>
                                    </m:sub>
                                  </m:sSub>
                                </m:e>
                              </m:d>
                            </m:e>
                            <m:sup>
                              <m:r>
                                <a:rPr lang="zh-CN" sz="15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2</m:t>
                              </m:r>
                            </m:sup>
                          </m:sSup>
                          <m:d>
                            <m:dPr>
                              <m:begChr m:val="("/>
                              <m:sepChr m:val=""/>
                              <m:endChr m:val=")"/>
                              <m:grow m:val="on"/>
                              <m:ctrlPr>
                                <a:rPr lang="zh-CN" sz="15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r>
                                <a:rPr lang="zh-CN" sz="15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a:rPr lang="zh-CN" sz="15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−</m:t>
                              </m:r>
                              <m:sSub>
                                <m:e>
                                  <m:r>
                                    <a:rPr lang="zh-CN" sz="150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x</m:t>
                                  </m:r>
                                </m:e>
                                <m:sub>
                                  <m:r>
                                    <a:rPr lang="zh-CN" sz="150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d>
                        </m:e>
                      </m:eqArr>
                    </m:oMath>
                  </m:oMathPara>
                </a14:m>
              </a:p>
            </p:txBody>
          </p:sp>
        </mc:Choice>
      </mc:AlternateContent>
      <p:grpSp>
        <p:nvGrpSpPr>
          <p:cNvPr id="59" name="c2-callout-3"/>
          <p:cNvGrpSpPr/>
          <p:nvPr/>
        </p:nvGrpSpPr>
        <p:grpSpPr>
          <a:xfrm>
            <a:off x="6032182" y="5514975"/>
            <a:ext cx="5626418" cy="782955"/>
            <a:chOff x="6032182" y="5514975"/>
            <a:chExt cx="5626418" cy="782955"/>
          </a:xfrm>
        </p:grpSpPr>
        <p:sp>
          <p:nvSpPr>
            <p:cNvPr id="53" name="Rectangle 53"/>
            <p:cNvSpPr/>
            <p:nvPr/>
          </p:nvSpPr>
          <p:spPr>
            <a:xfrm>
              <a:off x="6032182" y="5514975"/>
              <a:ext cx="5626418" cy="782955"/>
            </a:xfrm>
            <a:prstGeom prst="roundRect">
              <a:avLst>
                <a:gd name="adj" fmla="val 14599"/>
              </a:avLst>
            </a:prstGeom>
            <a:solidFill>
              <a:srgbClr val="FDEEE7"/>
            </a:solidFill>
            <a:ln>
              <a:noFill/>
            </a:ln>
          </p:spPr>
        </p:sp>
        <p:grpSp>
          <p:nvGrpSpPr>
            <p:cNvPr id="57" name="Group 57"/>
            <p:cNvGrpSpPr/>
            <p:nvPr/>
          </p:nvGrpSpPr>
          <p:grpSpPr>
            <a:xfrm>
              <a:off x="6236970" y="5806440"/>
              <a:ext cx="200026" cy="200025"/>
              <a:chOff x="6236970" y="5806440"/>
              <a:chExt cx="200026" cy="200025"/>
            </a:xfrm>
          </p:grpSpPr>
          <p:sp>
            <p:nvSpPr>
              <p:cNvPr id="54" name="Freeform 54"/>
              <p:cNvSpPr/>
              <p:nvPr/>
            </p:nvSpPr>
            <p:spPr>
              <a:xfrm>
                <a:off x="6236970" y="5806440"/>
                <a:ext cx="200026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00013">
                    <a:moveTo>
                      <a:pt x="0" y="100013"/>
                    </a:moveTo>
                    <a:lnTo>
                      <a:pt x="11113" y="100013"/>
                    </a:lnTo>
                    <a:moveTo>
                      <a:pt x="100013" y="0"/>
                    </a:moveTo>
                    <a:lnTo>
                      <a:pt x="100013" y="11113"/>
                    </a:lnTo>
                    <a:moveTo>
                      <a:pt x="188913" y="100013"/>
                    </a:moveTo>
                    <a:lnTo>
                      <a:pt x="200026" y="100013"/>
                    </a:lnTo>
                    <a:moveTo>
                      <a:pt x="28893" y="28893"/>
                    </a:moveTo>
                    <a:lnTo>
                      <a:pt x="36671" y="36671"/>
                    </a:lnTo>
                    <a:moveTo>
                      <a:pt x="171133" y="28893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55" name="Freeform 55"/>
              <p:cNvSpPr/>
              <p:nvPr/>
            </p:nvSpPr>
            <p:spPr>
              <a:xfrm>
                <a:off x="6276709" y="5850890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3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3" y="15304"/>
                      <a:pt x="112986" y="37992"/>
                    </a:cubicBezTo>
                    <a:cubicBezTo>
                      <a:pt x="120548" y="60681"/>
                      <a:pt x="112745" y="85663"/>
                      <a:pt x="93612" y="100013"/>
                    </a:cubicBezTo>
                    <a:cubicBezTo>
                      <a:pt x="84812" y="108723"/>
                      <a:pt x="80686" y="121103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3"/>
                      <a:pt x="35736" y="108723"/>
                      <a:pt x="26937" y="100013"/>
                    </a:cubicBez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56" name="Freeform 56"/>
              <p:cNvSpPr/>
              <p:nvPr/>
            </p:nvSpPr>
            <p:spPr>
              <a:xfrm>
                <a:off x="6311424" y="5962016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</p:grpSp>
        <p:sp>
          <p:nvSpPr>
            <p:cNvPr id="58" name="TextBox 58"/>
            <p:cNvSpPr txBox="1"/>
            <p:nvPr/>
          </p:nvSpPr>
          <p:spPr>
            <a:xfrm>
              <a:off x="6538912" y="5663565"/>
              <a:ext cx="4615815" cy="5695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满足 4 个条件的三次多项式唯一，两种解法得到同一个</a:t>
              </a:r>
              <a:br/>
              <a:r>
                <a:rPr lang="zh-CN" sz="15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H₃(x)，差商法的计算量小得多。</a:t>
              </a:r>
            </a:p>
          </p:txBody>
        </p:sp>
      </p:grpSp>
      <p:grpSp>
        <p:nvGrpSpPr>
          <p:cNvPr id="62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60" name="TextBox 60"/>
            <p:cNvSpPr txBox="1"/>
            <p:nvPr/>
          </p:nvSpPr>
          <p:spPr>
            <a:xfrm>
              <a:off x="528447" y="6581299"/>
              <a:ext cx="225267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计算方法 · 第5章 函数插值与曲线拟合</a:t>
              </a:r>
            </a:p>
          </p:txBody>
        </p:sp>
        <p:sp>
          <p:nvSpPr>
            <p:cNvPr id="61" name="TextBox 61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35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827" y="342900"/>
            <a:ext cx="11252730" cy="902684"/>
            <a:chOff x="520827" y="342900"/>
            <a:chExt cx="11252730" cy="902684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556510" cy="266700"/>
            </a:xfrm>
            <a:prstGeom prst="roundRect">
              <a:avLst>
                <a:gd name="adj" fmla="val 50000"/>
              </a:avLst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92206" y="407194"/>
              <a:ext cx="243889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第5章 函数插值 · 三次埃尔米特插值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827" y="761524"/>
              <a:ext cx="11252730" cy="4840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4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例（补充）：对 f(x) = ln x 在 1、2 两点做三次 Hermite 插值，求 ln 1.5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E7D4F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22" name="c1-table-1"/>
          <p:cNvGrpSpPr/>
          <p:nvPr/>
        </p:nvGrpSpPr>
        <p:grpSpPr>
          <a:xfrm>
            <a:off x="533400" y="1524000"/>
            <a:ext cx="5193982" cy="1346835"/>
            <a:chOff x="533400" y="1524000"/>
            <a:chExt cx="5193982" cy="1346835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193982" cy="448628"/>
            </a:xfrm>
            <a:prstGeom prst="rect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1423952" y="1659731"/>
              <a:ext cx="11246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x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3031772" y="1659731"/>
              <a:ext cx="11246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4681502" y="1659731"/>
              <a:ext cx="11246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641223" y="2108359"/>
              <a:ext cx="62811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y = ln x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3034142" y="2108359"/>
              <a:ext cx="10772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4352168" y="2108359"/>
              <a:ext cx="77113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0.693147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533400" y="2416492"/>
              <a:ext cx="519398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5" name="Rectangle 15"/>
            <p:cNvSpPr/>
            <p:nvPr/>
          </p:nvSpPr>
          <p:spPr>
            <a:xfrm>
              <a:off x="533400" y="2421255"/>
              <a:ext cx="5193982" cy="448628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641223" y="2556986"/>
              <a:ext cx="71857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y′ = 1/x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3034142" y="2556986"/>
              <a:ext cx="10772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4589099" y="2556986"/>
              <a:ext cx="29727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0.5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533400" y="1524000"/>
              <a:ext cx="5193982" cy="1346835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20" name="Rectangle 20"/>
            <p:cNvSpPr/>
            <p:nvPr/>
          </p:nvSpPr>
          <p:spPr>
            <a:xfrm>
              <a:off x="2422208" y="1524000"/>
              <a:ext cx="9525" cy="134683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1" name="Rectangle 21"/>
            <p:cNvSpPr/>
            <p:nvPr/>
          </p:nvSpPr>
          <p:spPr>
            <a:xfrm>
              <a:off x="3743325" y="1524000"/>
              <a:ext cx="9525" cy="134683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30" name="c1-card-2"/>
          <p:cNvGrpSpPr/>
          <p:nvPr/>
        </p:nvGrpSpPr>
        <p:grpSpPr>
          <a:xfrm>
            <a:off x="533400" y="3061335"/>
            <a:ext cx="5193982" cy="2947035"/>
            <a:chOff x="533400" y="3061335"/>
            <a:chExt cx="5193982" cy="2947035"/>
          </a:xfrm>
        </p:grpSpPr>
        <p:sp>
          <p:nvSpPr>
            <p:cNvPr id="23" name="Rectangle 23"/>
            <p:cNvSpPr/>
            <p:nvPr/>
          </p:nvSpPr>
          <p:spPr>
            <a:xfrm>
              <a:off x="533400" y="3061335"/>
              <a:ext cx="5193982" cy="2947035"/>
            </a:xfrm>
            <a:prstGeom prst="roundRect">
              <a:avLst>
                <a:gd name="adj" fmla="val 4525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542925" y="3194685"/>
              <a:ext cx="47625" cy="2680335"/>
            </a:xfrm>
            <a:prstGeom prst="roundRect">
              <a:avLst>
                <a:gd name="adj" fmla="val 50000"/>
              </a:avLst>
            </a:prstGeom>
            <a:solidFill>
              <a:srgbClr val="14A38B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781050" y="3270885"/>
              <a:ext cx="1092518" cy="257175"/>
            </a:xfrm>
            <a:prstGeom prst="roundRect">
              <a:avLst>
                <a:gd name="adj" fmla="val 50000"/>
              </a:avLst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853151" y="3306604"/>
              <a:ext cx="94736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解 1 基函数法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773430" y="3648075"/>
              <a:ext cx="41300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x = 1.5 时：α₀ = α₁ = 0.5，β₀ = 0.125，β₁ = −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0.125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8" name="formula185"/>
                <p:cNvSpPr txBox="1">
                  <a:spLocks noGrp="1"/>
                </p:cNvSpPr>
                <p:nvPr/>
              </p:nvSpPr>
              <p:spPr>
                <a:xfrm>
                  <a:off x="781050" y="4244340"/>
                  <a:ext cx="4736782" cy="51435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lIns="0" tIns="0" rIns="0" bIns="0" wrap="none" anchor="ctr">
                  <a:normAutofit/>
                </a:bodyPr>
                <a:lstStyle/>
                <a:p>
                  <a:pPr algn="ctr"/>
                  <a14:m>
                    <m:oMathPara xmlns:a="http://schemas.openxmlformats.org/drawingml/2006/main" xmlns:m="http://schemas.openxmlformats.org/officeDocument/2006/math">
                      <m:oMathParaPr>
                        <m:jc m:val="center"/>
                      </m:oMathParaPr>
                      <m:oMath>
                        <m:eqArr>
                          <m:eqArrPr>
                            <m:baseJc m:val="center"/>
                          </m:eqArrPr>
                          <m:e>
                            <m:sSub>
                              <m:e>
                                <m:r>
                                  <a:rPr lang="zh-CN" sz="11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H</m:t>
                                </m:r>
                              </m:e>
                              <m:sub>
                                <m:r>
                                  <a:rPr lang="zh-CN" sz="11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3</m:t>
                                </m:r>
                              </m:sub>
                            </m:sSub>
                            <m:d>
                              <m:dPr>
                                <m:begChr m:val="("/>
                                <m:sepChr m:val=""/>
                                <m:endChr m:val=")"/>
                                <m:grow m:val="on"/>
                                <m:ctrlPr>
                                  <a:rPr lang="zh-CN" sz="11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</m:ctrlPr>
                              </m:dPr>
                              <m:e>
                                <m:r>
                                  <a:rPr lang="zh-CN" sz="11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1.5</m:t>
                                </m:r>
                              </m:e>
                            </m:d>
                            <m:r>
                              <a:rPr lang="zh-CN" sz="11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&amp;</m:t>
                            </m:r>
                            <m:r>
                              <m:rPr>
                                <m:sty m:val="p"/>
                              </m:rPr>
                              <a:rPr lang="zh-CN" sz="11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=</m:t>
                            </m:r>
                            <m:r>
                              <a:rPr lang="zh-CN" sz="11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0.5</m:t>
                            </m:r>
                            <m:r>
                              <m:rPr>
                                <m:sty m:val="p"/>
                              </m:rPr>
                              <a:rPr lang="zh-CN" sz="11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×</m:t>
                            </m:r>
                            <m:r>
                              <a:rPr lang="zh-CN" sz="11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0</m:t>
                            </m:r>
                            <m:r>
                              <m:rPr>
                                <m:sty m:val="p"/>
                              </m:rPr>
                              <a:rPr lang="zh-CN" sz="11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+</m:t>
                            </m:r>
                            <m:r>
                              <a:rPr lang="zh-CN" sz="11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0.5</m:t>
                            </m:r>
                            <m:r>
                              <m:rPr>
                                <m:sty m:val="p"/>
                              </m:rPr>
                              <a:rPr lang="zh-CN" sz="11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×</m:t>
                            </m:r>
                            <m:r>
                              <a:rPr lang="zh-CN" sz="11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0.693147</m:t>
                            </m:r>
                          </m:e>
                          <m:e>
                            <m:r>
                              <a:rPr lang="zh-CN" sz="11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&amp;</m:t>
                            </m:r>
                            <m:r>
                              <a:rPr lang="zh-CN" sz="11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 xml:space="preserve"> </m:t>
                            </m:r>
                            <m:r>
                              <m:rPr>
                                <m:sty m:val="p"/>
                              </m:rPr>
                              <a:rPr lang="zh-CN" sz="11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+</m:t>
                            </m:r>
                            <m:r>
                              <a:rPr lang="zh-CN" sz="11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0.125</m:t>
                            </m:r>
                            <m:r>
                              <m:rPr>
                                <m:sty m:val="p"/>
                              </m:rPr>
                              <a:rPr lang="zh-CN" sz="11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×</m:t>
                            </m:r>
                            <m:r>
                              <a:rPr lang="zh-CN" sz="11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1</m:t>
                            </m:r>
                            <m:r>
                              <m:rPr>
                                <m:sty m:val="p"/>
                              </m:rPr>
                              <a:rPr lang="zh-CN" sz="11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−</m:t>
                            </m:r>
                            <m:r>
                              <a:rPr lang="zh-CN" sz="11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0.125</m:t>
                            </m:r>
                            <m:r>
                              <m:rPr>
                                <m:sty m:val="p"/>
                              </m:rPr>
                              <a:rPr lang="zh-CN" sz="11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×</m:t>
                            </m:r>
                            <m:r>
                              <a:rPr lang="zh-CN" sz="11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0.5</m:t>
                            </m:r>
                            <m:r>
                              <m:rPr>
                                <m:sty m:val="p"/>
                              </m:rPr>
                              <a:rPr lang="zh-CN" sz="11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=</m:t>
                            </m:r>
                            <m:r>
                              <a:rPr lang="zh-CN" sz="11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0.409074</m:t>
                            </m:r>
                          </m:e>
                        </m:eqArr>
                      </m:oMath>
                    </m:oMathPara>
                  </a14:m>
                </a:p>
              </p:txBody>
            </p:sp>
          </mc:Choice>
        </mc:AlternateContent>
        <p:sp>
          <p:nvSpPr>
            <p:cNvPr id="29" name="TextBox 29"/>
            <p:cNvSpPr txBox="1"/>
            <p:nvPr/>
          </p:nvSpPr>
          <p:spPr>
            <a:xfrm>
              <a:off x="774573" y="4874419"/>
              <a:ext cx="4052570" cy="483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45"/>
                </a:lnSpc>
              </a:pPr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例如 α₀(1.5) = (1 + 2 × 0.5)(−0.5/−1)² = 2 × 0.25 =</a:t>
              </a:r>
              <a:br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0.5。</a:t>
              </a:r>
            </a:p>
          </p:txBody>
        </p:sp>
      </p:grpSp>
      <p:grpSp>
        <p:nvGrpSpPr>
          <p:cNvPr id="66" name="c2-table-1"/>
          <p:cNvGrpSpPr/>
          <p:nvPr/>
        </p:nvGrpSpPr>
        <p:grpSpPr>
          <a:xfrm>
            <a:off x="6026467" y="1524000"/>
            <a:ext cx="5632133" cy="2539842"/>
            <a:chOff x="6026467" y="1524000"/>
            <a:chExt cx="5632133" cy="2539842"/>
          </a:xfrm>
        </p:grpSpPr>
        <p:sp>
          <p:nvSpPr>
            <p:cNvPr id="31" name="Rectangle 31"/>
            <p:cNvSpPr/>
            <p:nvPr/>
          </p:nvSpPr>
          <p:spPr>
            <a:xfrm>
              <a:off x="6032182" y="1524000"/>
              <a:ext cx="5626418" cy="448628"/>
            </a:xfrm>
            <a:prstGeom prst="rect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6253854" y="1659731"/>
              <a:ext cx="21197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zₖ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7041848" y="1659731"/>
              <a:ext cx="510510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f(zₖ)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8337512" y="1659731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一阶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9604337" y="1659731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二阶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10870209" y="1659731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三阶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6303610" y="2108359"/>
              <a:ext cx="11246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38" name="Rectangle 38"/>
            <p:cNvSpPr/>
            <p:nvPr/>
          </p:nvSpPr>
          <p:spPr>
            <a:xfrm>
              <a:off x="6697028" y="1982152"/>
              <a:ext cx="1200150" cy="429578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7243239" y="2108359"/>
              <a:ext cx="10772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40" name="Rectangle 40"/>
            <p:cNvSpPr/>
            <p:nvPr/>
          </p:nvSpPr>
          <p:spPr>
            <a:xfrm>
              <a:off x="6032182" y="2416492"/>
              <a:ext cx="562641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1" name="Rectangle 41"/>
            <p:cNvSpPr/>
            <p:nvPr/>
          </p:nvSpPr>
          <p:spPr>
            <a:xfrm>
              <a:off x="6032182" y="2421255"/>
              <a:ext cx="5626418" cy="448628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42" name="TextBox 42"/>
            <p:cNvSpPr txBox="1"/>
            <p:nvPr/>
          </p:nvSpPr>
          <p:spPr>
            <a:xfrm>
              <a:off x="6303610" y="2556986"/>
              <a:ext cx="11246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7243239" y="2556986"/>
              <a:ext cx="10772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44" name="Rectangle 44"/>
            <p:cNvSpPr/>
            <p:nvPr/>
          </p:nvSpPr>
          <p:spPr>
            <a:xfrm>
              <a:off x="7916228" y="2430780"/>
              <a:ext cx="1200150" cy="429578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62439" y="2556986"/>
              <a:ext cx="10772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46" name="Rectangle 46"/>
            <p:cNvSpPr/>
            <p:nvPr/>
          </p:nvSpPr>
          <p:spPr>
            <a:xfrm>
              <a:off x="6032182" y="2866072"/>
              <a:ext cx="562641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7" name="TextBox 47"/>
            <p:cNvSpPr txBox="1"/>
            <p:nvPr/>
          </p:nvSpPr>
          <p:spPr>
            <a:xfrm>
              <a:off x="6303610" y="3005614"/>
              <a:ext cx="11246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6911536" y="3005614"/>
              <a:ext cx="77113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0.693147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8130736" y="3005614"/>
              <a:ext cx="77113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0.693147</a:t>
              </a:r>
            </a:p>
          </p:txBody>
        </p:sp>
        <p:sp>
          <p:nvSpPr>
            <p:cNvPr id="50" name="Rectangle 50"/>
            <p:cNvSpPr/>
            <p:nvPr/>
          </p:nvSpPr>
          <p:spPr>
            <a:xfrm>
              <a:off x="9135428" y="2880360"/>
              <a:ext cx="1294448" cy="429578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51" name="TextBox 51"/>
            <p:cNvSpPr txBox="1"/>
            <p:nvPr/>
          </p:nvSpPr>
          <p:spPr>
            <a:xfrm>
              <a:off x="9350174" y="3005614"/>
              <a:ext cx="86590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−0.306853</a:t>
              </a:r>
            </a:p>
          </p:txBody>
        </p:sp>
        <p:sp>
          <p:nvSpPr>
            <p:cNvPr id="52" name="Rectangle 52"/>
            <p:cNvSpPr/>
            <p:nvPr/>
          </p:nvSpPr>
          <p:spPr>
            <a:xfrm>
              <a:off x="6032182" y="3314700"/>
              <a:ext cx="562641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3" name="Rectangle 53"/>
            <p:cNvSpPr/>
            <p:nvPr/>
          </p:nvSpPr>
          <p:spPr>
            <a:xfrm>
              <a:off x="6032182" y="3319462"/>
              <a:ext cx="5626418" cy="448628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54" name="TextBox 54"/>
            <p:cNvSpPr txBox="1"/>
            <p:nvPr/>
          </p:nvSpPr>
          <p:spPr>
            <a:xfrm>
              <a:off x="6303610" y="3454241"/>
              <a:ext cx="11246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55" name="TextBox 55"/>
            <p:cNvSpPr txBox="1"/>
            <p:nvPr/>
          </p:nvSpPr>
          <p:spPr>
            <a:xfrm>
              <a:off x="6911536" y="3454241"/>
              <a:ext cx="77113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0.693147</a:t>
              </a:r>
            </a:p>
          </p:txBody>
        </p:sp>
        <p:sp>
          <p:nvSpPr>
            <p:cNvPr id="56" name="TextBox 56"/>
            <p:cNvSpPr txBox="1"/>
            <p:nvPr/>
          </p:nvSpPr>
          <p:spPr>
            <a:xfrm>
              <a:off x="8367667" y="3454241"/>
              <a:ext cx="29727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0.5</a:t>
              </a:r>
            </a:p>
          </p:txBody>
        </p:sp>
        <p:sp>
          <p:nvSpPr>
            <p:cNvPr id="57" name="TextBox 57"/>
            <p:cNvSpPr txBox="1"/>
            <p:nvPr/>
          </p:nvSpPr>
          <p:spPr>
            <a:xfrm>
              <a:off x="9350174" y="3454241"/>
              <a:ext cx="86590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−0.193147</a:t>
              </a:r>
            </a:p>
          </p:txBody>
        </p:sp>
        <p:sp>
          <p:nvSpPr>
            <p:cNvPr id="58" name="Rectangle 58"/>
            <p:cNvSpPr/>
            <p:nvPr/>
          </p:nvSpPr>
          <p:spPr>
            <a:xfrm>
              <a:off x="10448925" y="3328988"/>
              <a:ext cx="1200150" cy="429578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59" name="TextBox 59"/>
            <p:cNvSpPr txBox="1"/>
            <p:nvPr/>
          </p:nvSpPr>
          <p:spPr>
            <a:xfrm>
              <a:off x="10663433" y="3454241"/>
              <a:ext cx="77113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0.113706</a:t>
              </a:r>
            </a:p>
          </p:txBody>
        </p:sp>
        <p:sp>
          <p:nvSpPr>
            <p:cNvPr id="60" name="Rectangle 60"/>
            <p:cNvSpPr/>
            <p:nvPr/>
          </p:nvSpPr>
          <p:spPr>
            <a:xfrm>
              <a:off x="6032182" y="1524000"/>
              <a:ext cx="5626418" cy="2244090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61" name="Rectangle 61"/>
            <p:cNvSpPr/>
            <p:nvPr/>
          </p:nvSpPr>
          <p:spPr>
            <a:xfrm>
              <a:off x="6682740" y="1524000"/>
              <a:ext cx="9525" cy="224409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62" name="Rectangle 62"/>
            <p:cNvSpPr/>
            <p:nvPr/>
          </p:nvSpPr>
          <p:spPr>
            <a:xfrm>
              <a:off x="7901940" y="1524000"/>
              <a:ext cx="9525" cy="224409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63" name="Rectangle 63"/>
            <p:cNvSpPr/>
            <p:nvPr/>
          </p:nvSpPr>
          <p:spPr>
            <a:xfrm>
              <a:off x="9121140" y="1524000"/>
              <a:ext cx="9525" cy="224409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64" name="Rectangle 64"/>
            <p:cNvSpPr/>
            <p:nvPr/>
          </p:nvSpPr>
          <p:spPr>
            <a:xfrm>
              <a:off x="10434638" y="1524000"/>
              <a:ext cx="9525" cy="224409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65" name="TextBox 65"/>
            <p:cNvSpPr txBox="1"/>
            <p:nvPr/>
          </p:nvSpPr>
          <p:spPr>
            <a:xfrm>
              <a:off x="6026467" y="3843814"/>
              <a:ext cx="353201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解 2 差商表：−0.306853 = (0.693147 − 1)/(2 − 1)</a:t>
              </a:r>
            </a:p>
          </p:txBody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67" name="formula186"/>
              <p:cNvSpPr txBox="1">
                <a:spLocks noGrp="1"/>
              </p:cNvSpPr>
              <p:nvPr/>
            </p:nvSpPr>
            <p:spPr>
              <a:xfrm>
                <a:off x="6032182" y="4210050"/>
                <a:ext cx="5626418" cy="5486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lIns="0" tIns="0" rIns="0" bIns="0" wrap="none" anchor="ctr">
                <a:normAutofit/>
              </a:bodyPr>
              <a:lstStyle/>
              <a:p>
                <a:pPr algn="ctr"/>
                <a14:m>
                  <m:oMathPara xmlns:a="http://schemas.openxmlformats.org/drawingml/2006/main" xmlns:m="http://schemas.openxmlformats.org/officeDocument/2006/math">
                    <m:oMathParaPr>
                      <m:jc m:val="center"/>
                    </m:oMathParaPr>
                    <m:oMath>
                      <m:eqArr>
                        <m:eqArrPr>
                          <m:baseJc m:val="center"/>
                        </m:eqArrPr>
                        <m:e>
                          <m:sSub>
                            <m:e>
                              <m:r>
                                <a:rPr lang="zh-CN" sz="12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H</m:t>
                              </m:r>
                            </m:e>
                            <m:sub>
                              <m:r>
                                <a:rPr lang="zh-CN" sz="12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3</m:t>
                              </m:r>
                            </m:sub>
                          </m:sSub>
                          <m:d>
                            <m:dPr>
                              <m:begChr m:val="("/>
                              <m:sepChr m:val=""/>
                              <m:endChr m:val=")"/>
                              <m:grow m:val="on"/>
                              <m:ctrlPr>
                                <a:rPr lang="zh-CN" sz="12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r>
                                <a:rPr lang="zh-CN" sz="12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1.5</m:t>
                              </m:r>
                            </m:e>
                          </m:d>
                          <m:r>
                            <a:rPr lang="zh-CN" sz="12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&amp;</m:t>
                          </m:r>
                          <m:r>
                            <m:rPr>
                              <m:sty m:val="p"/>
                            </m:rPr>
                            <a:rPr lang="zh-CN" sz="12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=</m:t>
                          </m:r>
                          <m:r>
                            <a:rPr lang="zh-CN" sz="12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0</m:t>
                          </m:r>
                          <m:r>
                            <m:rPr>
                              <m:sty m:val="p"/>
                            </m:rPr>
                            <a:rPr lang="zh-CN" sz="12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+</m:t>
                          </m:r>
                          <m:r>
                            <a:rPr lang="zh-CN" sz="12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</m:t>
                          </m:r>
                          <m:r>
                            <m:rPr>
                              <m:sty m:val="p"/>
                            </m:rPr>
                            <a:rPr lang="zh-CN" sz="12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×</m:t>
                          </m:r>
                          <m:r>
                            <a:rPr lang="zh-CN" sz="12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0.5</m:t>
                          </m:r>
                          <m:r>
                            <m:rPr>
                              <m:sty m:val="p"/>
                            </m:rPr>
                            <a:rPr lang="zh-CN" sz="12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−</m:t>
                          </m:r>
                          <m:r>
                            <a:rPr lang="zh-CN" sz="12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0.306853</m:t>
                          </m:r>
                          <m:r>
                            <m:rPr>
                              <m:sty m:val="p"/>
                            </m:rPr>
                            <a:rPr lang="zh-CN" sz="12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×</m:t>
                          </m:r>
                          <m:r>
                            <a:rPr lang="zh-CN" sz="12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0.</m:t>
                          </m:r>
                          <m:sSup>
                            <m:e>
                              <m:r>
                                <a:rPr lang="zh-CN" sz="12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5</m:t>
                              </m:r>
                            </m:e>
                            <m:sup>
                              <m:r>
                                <a:rPr lang="zh-CN" sz="12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2</m:t>
                              </m:r>
                            </m:sup>
                          </m:sSup>
                        </m:e>
                        <m:e>
                          <m:r>
                            <a:rPr lang="zh-CN" sz="12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&amp;</m:t>
                          </m:r>
                          <m:r>
                            <a:rPr lang="zh-CN" sz="12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 xml:space="preserve"> </m:t>
                          </m:r>
                          <m:r>
                            <m:rPr>
                              <m:sty m:val="p"/>
                            </m:rPr>
                            <a:rPr lang="zh-CN" sz="12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+</m:t>
                          </m:r>
                          <m:r>
                            <a:rPr lang="zh-CN" sz="12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0.113706</m:t>
                          </m:r>
                          <m:r>
                            <m:rPr>
                              <m:sty m:val="p"/>
                            </m:rPr>
                            <a:rPr lang="zh-CN" sz="12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×</m:t>
                          </m:r>
                          <m:r>
                            <a:rPr lang="zh-CN" sz="12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0.</m:t>
                          </m:r>
                          <m:sSup>
                            <m:e>
                              <m:r>
                                <a:rPr lang="zh-CN" sz="12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5</m:t>
                              </m:r>
                            </m:e>
                            <m:sup>
                              <m:r>
                                <a:rPr lang="zh-CN" sz="12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2</m:t>
                              </m:r>
                            </m:sup>
                          </m:sSup>
                          <m:r>
                            <m:rPr>
                              <m:sty m:val="p"/>
                            </m:rPr>
                            <a:rPr lang="zh-CN" sz="12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×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 m:val="on"/>
                              <m:ctrlPr>
                                <a:rPr lang="zh-CN" sz="12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r>
                                <m:rPr>
                                  <m:sty m:val="p"/>
                                </m:rPr>
                                <a:rPr lang="zh-CN" sz="12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−</m:t>
                              </m:r>
                              <m:r>
                                <a:rPr lang="zh-CN" sz="12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0.5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a:rPr lang="zh-CN" sz="12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=</m:t>
                          </m:r>
                          <m:r>
                            <a:rPr lang="zh-CN" sz="12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0.409074</m:t>
                          </m:r>
                        </m:e>
                      </m:eqArr>
                    </m:oMath>
                  </m:oMathPara>
                </a14:m>
              </a:p>
            </p:txBody>
          </p:sp>
        </mc:Choice>
      </mc:AlternateContent>
      <p:grpSp>
        <p:nvGrpSpPr>
          <p:cNvPr id="74" name="c2-callout-3"/>
          <p:cNvGrpSpPr/>
          <p:nvPr/>
        </p:nvGrpSpPr>
        <p:grpSpPr>
          <a:xfrm>
            <a:off x="6032182" y="4949190"/>
            <a:ext cx="5626418" cy="1059180"/>
            <a:chOff x="6032182" y="4949190"/>
            <a:chExt cx="5626418" cy="1059180"/>
          </a:xfrm>
        </p:grpSpPr>
        <p:sp>
          <p:nvSpPr>
            <p:cNvPr id="68" name="Rectangle 68"/>
            <p:cNvSpPr/>
            <p:nvPr/>
          </p:nvSpPr>
          <p:spPr>
            <a:xfrm>
              <a:off x="6032182" y="4949190"/>
              <a:ext cx="5626418" cy="1059180"/>
            </a:xfrm>
            <a:prstGeom prst="roundRect">
              <a:avLst>
                <a:gd name="adj" fmla="val 10791"/>
              </a:avLst>
            </a:prstGeom>
            <a:solidFill>
              <a:srgbClr val="F4F6FB"/>
            </a:solidFill>
            <a:ln>
              <a:noFill/>
            </a:ln>
          </p:spPr>
        </p:sp>
        <p:grpSp>
          <p:nvGrpSpPr>
            <p:cNvPr id="72" name="Group 72"/>
            <p:cNvGrpSpPr/>
            <p:nvPr/>
          </p:nvGrpSpPr>
          <p:grpSpPr>
            <a:xfrm>
              <a:off x="6236970" y="5378768"/>
              <a:ext cx="200026" cy="200026"/>
              <a:chOff x="6236970" y="5378768"/>
              <a:chExt cx="200026" cy="200026"/>
            </a:xfrm>
          </p:grpSpPr>
          <p:sp>
            <p:nvSpPr>
              <p:cNvPr id="69" name="Freeform 69"/>
              <p:cNvSpPr/>
              <p:nvPr/>
            </p:nvSpPr>
            <p:spPr>
              <a:xfrm>
                <a:off x="6236970" y="5378768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70" name="Freeform 70"/>
              <p:cNvSpPr/>
              <p:nvPr/>
            </p:nvSpPr>
            <p:spPr>
              <a:xfrm>
                <a:off x="6336983" y="5445443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71" name="Freeform 71"/>
              <p:cNvSpPr/>
              <p:nvPr/>
            </p:nvSpPr>
            <p:spPr>
              <a:xfrm>
                <a:off x="6325870" y="5478780"/>
                <a:ext cx="222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22225" h="44450">
                    <a:moveTo>
                      <a:pt x="0" y="0"/>
                    </a:moveTo>
                    <a:lnTo>
                      <a:pt x="11113" y="0"/>
                    </a:lnTo>
                    <a:lnTo>
                      <a:pt x="11113" y="44450"/>
                    </a:lnTo>
                    <a:lnTo>
                      <a:pt x="22225" y="4445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</p:grpSp>
        <p:sp>
          <p:nvSpPr>
            <p:cNvPr id="73" name="TextBox 73"/>
            <p:cNvSpPr txBox="1"/>
            <p:nvPr/>
          </p:nvSpPr>
          <p:spPr>
            <a:xfrm>
              <a:off x="6538912" y="5097780"/>
              <a:ext cx="4615815" cy="8458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ln 1.5 = 0.405465，实际误差 −3.61×10⁻³。余项上界</a:t>
              </a:r>
              <a:br/>
              <a:r>
                <a:rPr lang="en-US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max|f⁽⁴⁾|/4! × 0.5² × 0.5² = 6/24 × 0.0625 =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0.0156（f⁽⁴⁾(x) = −6/x⁴）。</a:t>
              </a:r>
            </a:p>
          </p:txBody>
        </p:sp>
      </p:grpSp>
      <p:grpSp>
        <p:nvGrpSpPr>
          <p:cNvPr id="77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75" name="TextBox 75"/>
            <p:cNvSpPr txBox="1"/>
            <p:nvPr/>
          </p:nvSpPr>
          <p:spPr>
            <a:xfrm>
              <a:off x="528447" y="6581299"/>
              <a:ext cx="225267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计算方法 · 第5章 函数插值与曲线拟合</a:t>
              </a:r>
            </a:p>
          </p:txBody>
        </p:sp>
        <p:sp>
          <p:nvSpPr>
            <p:cNvPr id="76" name="TextBox 76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36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10539561" cy="909257"/>
            <a:chOff x="520446" y="342900"/>
            <a:chExt cx="10539561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556510" cy="266700"/>
            </a:xfrm>
            <a:prstGeom prst="roundRect">
              <a:avLst>
                <a:gd name="adj" fmla="val 50000"/>
              </a:avLst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92206" y="407194"/>
              <a:ext cx="243889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第5章 函数插值 · 三次埃尔米特插值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10539561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Hermite 插值余项：把节点按重数展开，与 Lagrange 余项同一形式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E7D4F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3" name="c1-card-1"/>
          <p:cNvGrpSpPr/>
          <p:nvPr/>
        </p:nvGrpSpPr>
        <p:grpSpPr>
          <a:xfrm>
            <a:off x="533400" y="1524000"/>
            <a:ext cx="5410200" cy="1925955"/>
            <a:chOff x="533400" y="1524000"/>
            <a:chExt cx="5410200" cy="1925955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410200" cy="1925955"/>
            </a:xfrm>
            <a:prstGeom prst="roundRect">
              <a:avLst>
                <a:gd name="adj" fmla="val 6924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542925" y="1657350"/>
              <a:ext cx="47625" cy="1659255"/>
            </a:xfrm>
            <a:prstGeom prst="roundRect">
              <a:avLst>
                <a:gd name="adj" fmla="val 50000"/>
              </a:avLst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81050" y="1733550"/>
              <a:ext cx="2146935" cy="257175"/>
            </a:xfrm>
            <a:prstGeom prst="roundRect">
              <a:avLst>
                <a:gd name="adj" fmla="val 50000"/>
              </a:avLst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819212" y="1769269"/>
              <a:ext cx="207061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整齐的三次 Hermite 插值余项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1" name="formula191"/>
                <p:cNvSpPr txBox="1">
                  <a:spLocks noGrp="1"/>
                </p:cNvSpPr>
                <p:nvPr/>
              </p:nvSpPr>
              <p:spPr>
                <a:xfrm>
                  <a:off x="781050" y="2085975"/>
                  <a:ext cx="4953000" cy="51435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lIns="0" tIns="0" rIns="0" bIns="0" wrap="none" anchor="ctr">
                  <a:normAutofit/>
                </a:bodyPr>
                <a:lstStyle/>
                <a:p>
                  <a:pPr algn="ctr"/>
                  <a14:m>
                    <m:oMathPara xmlns:a="http://schemas.openxmlformats.org/drawingml/2006/main" xmlns:m="http://schemas.openxmlformats.org/officeDocument/2006/math">
                      <m:oMathParaPr>
                        <m:jc m:val="center"/>
                      </m:oMathParaPr>
                      <m:oMath>
                        <m:sSub>
                          <m:e>
                            <m:r>
                              <a:rPr lang="zh-CN" sz="15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R</m:t>
                            </m:r>
                          </m:e>
                          <m:sub>
                            <m:r>
                              <a:rPr lang="zh-CN" sz="15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3</m:t>
                            </m:r>
                          </m:sub>
                        </m:sSub>
                        <m:d>
                          <m:dPr>
                            <m:begChr m:val="("/>
                            <m:sepChr m:val=""/>
                            <m:endChr m:val=")"/>
                            <m:grow m:val="on"/>
                            <m:ctrlPr>
                              <a:rPr lang="zh-CN" sz="15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r>
                              <a:rPr lang="zh-CN" sz="15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x</m:t>
                            </m:r>
                          </m:e>
                        </m:d>
                        <m:r>
                          <m:rPr>
                            <m:sty m:val="p"/>
                          </m:rPr>
                          <a:rPr lang="zh-CN" sz="150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=</m:t>
                        </m:r>
                        <m:r>
                          <a:rPr lang="zh-CN" sz="150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f</m:t>
                        </m:r>
                        <m:d>
                          <m:dPr>
                            <m:begChr m:val="("/>
                            <m:sepChr m:val=""/>
                            <m:endChr m:val=")"/>
                            <m:grow m:val="on"/>
                            <m:ctrlPr>
                              <a:rPr lang="zh-CN" sz="15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r>
                              <a:rPr lang="zh-CN" sz="15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x</m:t>
                            </m:r>
                          </m:e>
                        </m:d>
                        <m:r>
                          <m:rPr>
                            <m:sty m:val="p"/>
                          </m:rPr>
                          <a:rPr lang="zh-CN" sz="150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−</m:t>
                        </m:r>
                        <m:sSub>
                          <m:e>
                            <m:r>
                              <a:rPr lang="zh-CN" sz="15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H</m:t>
                            </m:r>
                          </m:e>
                          <m:sub>
                            <m:r>
                              <a:rPr lang="zh-CN" sz="15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3</m:t>
                            </m:r>
                          </m:sub>
                        </m:sSub>
                        <m:d>
                          <m:dPr>
                            <m:begChr m:val="("/>
                            <m:sepChr m:val=""/>
                            <m:endChr m:val=")"/>
                            <m:grow m:val="on"/>
                            <m:ctrlPr>
                              <a:rPr lang="zh-CN" sz="15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r>
                              <a:rPr lang="zh-CN" sz="15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x</m:t>
                            </m:r>
                          </m:e>
                        </m:d>
                        <m:r>
                          <m:rPr>
                            <m:sty m:val="p"/>
                          </m:rPr>
                          <a:rPr lang="zh-CN" sz="150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=</m:t>
                        </m:r>
                        <m:f>
                          <m:fPr>
                            <m:type m:val="bar"/>
                            <m:ctrlPr>
                              <a:rPr lang="zh-CN" sz="15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fPr>
                          <m:num>
                            <m:sSup>
                              <m:e>
                                <m:r>
                                  <a:rPr lang="zh-CN" sz="15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f</m:t>
                                </m:r>
                              </m:e>
                              <m:sup>
                                <m:d>
                                  <m:dPr>
                                    <m:begChr m:val="("/>
                                    <m:sepChr m:val=""/>
                                    <m:endChr m:val=")"/>
                                    <m:grow m:val="on"/>
                                    <m:ctrlPr>
                                      <a:rPr lang="zh-CN" sz="150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dPr>
                                  <m:e>
                                    <m:r>
                                      <a:rPr lang="zh-CN" sz="150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4</m:t>
                                    </m:r>
                                  </m:e>
                                </m:d>
                              </m:sup>
                            </m:sSup>
                            <m:d>
                              <m:dPr>
                                <m:begChr m:val="("/>
                                <m:sepChr m:val=""/>
                                <m:endChr m:val=")"/>
                                <m:grow m:val="on"/>
                                <m:ctrlPr>
                                  <a:rPr lang="zh-CN" sz="15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</m:ctrlPr>
                              </m:dPr>
                              <m:e>
                                <m:r>
                                  <a:rPr lang="zh-CN" sz="15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ξ</m:t>
                                </m:r>
                              </m:e>
                            </m:d>
                          </m:num>
                          <m:den>
                            <m:r>
                              <a:rPr lang="zh-CN" sz="15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4</m:t>
                            </m:r>
                            <m:r>
                              <m:rPr>
                                <m:sty m:val="p"/>
                              </m:rPr>
                              <a:rPr lang="zh-CN" sz="15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!</m:t>
                            </m:r>
                          </m:den>
                        </m:f>
                        <m:sSup>
                          <m:e>
                            <m:d>
                              <m:dPr>
                                <m:begChr m:val="("/>
                                <m:sepChr m:val=""/>
                                <m:endChr m:val=")"/>
                                <m:grow m:val="on"/>
                                <m:ctrlPr>
                                  <a:rPr lang="zh-CN" sz="15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</m:ctrlPr>
                              </m:dPr>
                              <m:e>
                                <m:r>
                                  <a:rPr lang="zh-CN" sz="15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x</m:t>
                                </m:r>
                                <m:r>
                                  <m:rPr>
                                    <m:sty m:val="p"/>
                                  </m:rPr>
                                  <a:rPr lang="zh-CN" sz="15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−</m:t>
                                </m:r>
                                <m:sSub>
                                  <m:e>
                                    <m:r>
                                      <a:rPr lang="zh-CN" sz="150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x</m:t>
                                    </m:r>
                                  </m:e>
                                  <m:sub>
                                    <m:r>
                                      <a:rPr lang="zh-CN" sz="150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0</m:t>
                                    </m:r>
                                  </m:sub>
                                </m:sSub>
                              </m:e>
                            </m:d>
                          </m:e>
                          <m:sup>
                            <m:r>
                              <a:rPr lang="zh-CN" sz="15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2</m:t>
                            </m:r>
                          </m:sup>
                        </m:sSup>
                        <m:sSup>
                          <m:e>
                            <m:d>
                              <m:dPr>
                                <m:begChr m:val="("/>
                                <m:sepChr m:val=""/>
                                <m:endChr m:val=")"/>
                                <m:grow m:val="on"/>
                                <m:ctrlPr>
                                  <a:rPr lang="zh-CN" sz="15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</m:ctrlPr>
                              </m:dPr>
                              <m:e>
                                <m:r>
                                  <a:rPr lang="zh-CN" sz="15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x</m:t>
                                </m:r>
                                <m:r>
                                  <m:rPr>
                                    <m:sty m:val="p"/>
                                  </m:rPr>
                                  <a:rPr lang="zh-CN" sz="15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−</m:t>
                                </m:r>
                                <m:sSub>
                                  <m:e>
                                    <m:r>
                                      <a:rPr lang="zh-CN" sz="150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x</m:t>
                                    </m:r>
                                  </m:e>
                                  <m:sub>
                                    <m:r>
                                      <a:rPr lang="zh-CN" sz="150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</m:d>
                          </m:e>
                          <m:sup>
                            <m:r>
                              <a:rPr lang="zh-CN" sz="15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2</m:t>
                            </m:r>
                          </m:sup>
                        </m:sSup>
                        <m:r>
                          <a:rPr lang="zh-CN" sz="150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 xml:space="preserve"> </m:t>
                        </m:r>
                        <m:d>
                          <m:dPr>
                            <m:begChr m:val="("/>
                            <m:sepChr m:val=""/>
                            <m:endChr m:val=")"/>
                            <m:grow m:val="on"/>
                            <m:ctrlPr>
                              <a:rPr lang="zh-CN" sz="15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r>
                              <a:rPr lang="zh-CN" sz="15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5.4.7</m:t>
                            </m:r>
                          </m:e>
                        </m:d>
                      </m:oMath>
                    </m:oMathPara>
                  </a14:m>
                </a:p>
              </p:txBody>
            </p:sp>
          </mc:Choice>
        </mc:AlternateContent>
        <p:sp>
          <p:nvSpPr>
            <p:cNvPr id="12" name="TextBox 12"/>
            <p:cNvSpPr txBox="1"/>
            <p:nvPr/>
          </p:nvSpPr>
          <p:spPr>
            <a:xfrm>
              <a:off x="773430" y="2720340"/>
              <a:ext cx="47015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ξ 介于 min(x, x₀, x₁) 与 max(x, x₀, x₁) 之间。证明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见习题 2。</a:t>
              </a:r>
            </a:p>
          </p:txBody>
        </p:sp>
      </p:grpSp>
      <p:grpSp>
        <p:nvGrpSpPr>
          <p:cNvPr id="20" name="c1-card-2"/>
          <p:cNvGrpSpPr/>
          <p:nvPr/>
        </p:nvGrpSpPr>
        <p:grpSpPr>
          <a:xfrm>
            <a:off x="533400" y="3640455"/>
            <a:ext cx="5410200" cy="2533650"/>
            <a:chOff x="533400" y="3640455"/>
            <a:chExt cx="5410200" cy="2533650"/>
          </a:xfrm>
        </p:grpSpPr>
        <p:sp>
          <p:nvSpPr>
            <p:cNvPr id="14" name="Rectangle 14"/>
            <p:cNvSpPr/>
            <p:nvPr/>
          </p:nvSpPr>
          <p:spPr>
            <a:xfrm>
              <a:off x="533400" y="3640455"/>
              <a:ext cx="5410200" cy="2533650"/>
            </a:xfrm>
            <a:prstGeom prst="roundRect">
              <a:avLst>
                <a:gd name="adj" fmla="val 5263"/>
              </a:avLst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5" name="Rectangle 15"/>
            <p:cNvSpPr/>
            <p:nvPr/>
          </p:nvSpPr>
          <p:spPr>
            <a:xfrm>
              <a:off x="742950" y="3850005"/>
              <a:ext cx="778192" cy="257175"/>
            </a:xfrm>
            <a:prstGeom prst="roundRect">
              <a:avLst>
                <a:gd name="adj" fmla="val 50000"/>
              </a:avLst>
            </a:prstGeom>
            <a:solidFill>
              <a:srgbClr val="23613D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825259" y="3885724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统一记法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735330" y="4227195"/>
              <a:ext cx="4777740" cy="8648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每个节点上给出从函数值开始连续的各阶导数值时，把节</a:t>
              </a:r>
              <a:br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点按重数依次写成 z₀, z₁, …（共 N 个，N 为条件总</a:t>
              </a:r>
              <a:br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数），则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8" name="formula192"/>
                <p:cNvSpPr txBox="1">
                  <a:spLocks noGrp="1"/>
                </p:cNvSpPr>
                <p:nvPr/>
              </p:nvSpPr>
              <p:spPr>
                <a:xfrm>
                  <a:off x="742950" y="5109210"/>
                  <a:ext cx="4991100" cy="540068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lIns="0" tIns="0" rIns="0" bIns="0" wrap="none" anchor="ctr">
                  <a:normAutofit/>
                </a:bodyPr>
                <a:lstStyle/>
                <a:p>
                  <a:pPr algn="ctr"/>
                  <a14:m>
                    <m:oMathPara xmlns:a="http://schemas.openxmlformats.org/drawingml/2006/main" xmlns:m="http://schemas.openxmlformats.org/officeDocument/2006/math">
                      <m:oMathParaPr>
                        <m:jc m:val="center"/>
                      </m:oMathParaPr>
                      <m:oMath>
                        <m:r>
                          <a:rPr lang="zh-CN" sz="1580" dirty="0">
                            <a:solidFill>
                              <a:srgbClr val="FFFFFF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R</m:t>
                        </m:r>
                        <m:d>
                          <m:dPr>
                            <m:begChr m:val="("/>
                            <m:sepChr m:val=""/>
                            <m:endChr m:val=")"/>
                            <m:grow m:val="on"/>
                            <m:ctrlPr>
                              <a:rPr lang="zh-CN" sz="158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r>
                              <a:rPr lang="zh-CN" sz="158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x</m:t>
                            </m:r>
                          </m:e>
                        </m:d>
                        <m:r>
                          <m:rPr>
                            <m:sty m:val="p"/>
                          </m:rPr>
                          <a:rPr lang="zh-CN" sz="1580" dirty="0">
                            <a:solidFill>
                              <a:srgbClr val="FFFFFF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=</m:t>
                        </m:r>
                        <m:f>
                          <m:fPr>
                            <m:type m:val="bar"/>
                            <m:ctrlPr>
                              <a:rPr lang="zh-CN" sz="158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fPr>
                          <m:num>
                            <m:sSup>
                              <m:e>
                                <m:r>
                                  <a:rPr lang="zh-CN" sz="1580" dirty="0">
                                    <a:solidFill>
                                      <a:srgbClr val="FFFF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f</m:t>
                                </m:r>
                              </m:e>
                              <m:sup>
                                <m:d>
                                  <m:dPr>
                                    <m:begChr m:val="("/>
                                    <m:sepChr m:val=""/>
                                    <m:endChr m:val=")"/>
                                    <m:grow m:val="on"/>
                                    <m:ctrlPr>
                                      <a:rPr lang="zh-CN" sz="1580" dirty="0">
                                        <a:solidFill>
                                          <a:srgbClr val="FFFFFF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dPr>
                                  <m:e>
                                    <m:r>
                                      <a:rPr lang="zh-CN" sz="1580" dirty="0">
                                        <a:solidFill>
                                          <a:srgbClr val="FFFFFF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N</m:t>
                                    </m:r>
                                  </m:e>
                                </m:d>
                              </m:sup>
                            </m:sSup>
                            <m:d>
                              <m:dPr>
                                <m:begChr m:val="("/>
                                <m:sepChr m:val=""/>
                                <m:endChr m:val=")"/>
                                <m:grow m:val="on"/>
                                <m:ctrlPr>
                                  <a:rPr lang="zh-CN" sz="1580" dirty="0">
                                    <a:solidFill>
                                      <a:srgbClr val="FFFF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</m:ctrlPr>
                              </m:dPr>
                              <m:e>
                                <m:r>
                                  <a:rPr lang="zh-CN" sz="1580" dirty="0">
                                    <a:solidFill>
                                      <a:srgbClr val="FFFF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ξ</m:t>
                                </m:r>
                              </m:e>
                            </m:d>
                          </m:num>
                          <m:den>
                            <m:r>
                              <a:rPr lang="zh-CN" sz="158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N</m:t>
                            </m:r>
                            <m:r>
                              <m:rPr>
                                <m:sty m:val="p"/>
                              </m:rPr>
                              <a:rPr lang="zh-CN" sz="158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!</m:t>
                            </m:r>
                          </m:den>
                        </m:f>
                        <m:r>
                          <a:rPr lang="zh-CN" sz="1580" dirty="0">
                            <a:solidFill>
                              <a:srgbClr val="FFFFFF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 xml:space="preserve"> </m:t>
                        </m:r>
                        <m:d>
                          <m:dPr>
                            <m:begChr m:val="("/>
                            <m:sepChr m:val=""/>
                            <m:endChr m:val=")"/>
                            <m:grow m:val="on"/>
                            <m:ctrlPr>
                              <a:rPr lang="zh-CN" sz="158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r>
                              <a:rPr lang="zh-CN" sz="158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x</m:t>
                            </m:r>
                            <m:r>
                              <m:rPr>
                                <m:sty m:val="p"/>
                              </m:rPr>
                              <a:rPr lang="zh-CN" sz="158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−</m:t>
                            </m:r>
                            <m:sSub>
                              <m:e>
                                <m:r>
                                  <a:rPr lang="zh-CN" sz="1580" dirty="0">
                                    <a:solidFill>
                                      <a:srgbClr val="FFFF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z</m:t>
                                </m:r>
                              </m:e>
                              <m:sub>
                                <m:r>
                                  <a:rPr lang="zh-CN" sz="1580" dirty="0">
                                    <a:solidFill>
                                      <a:srgbClr val="FFFF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0</m:t>
                                </m:r>
                              </m:sub>
                            </m:sSub>
                          </m:e>
                        </m:d>
                        <m:d>
                          <m:dPr>
                            <m:begChr m:val="("/>
                            <m:sepChr m:val=""/>
                            <m:endChr m:val=")"/>
                            <m:grow m:val="on"/>
                            <m:ctrlPr>
                              <a:rPr lang="zh-CN" sz="158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r>
                              <a:rPr lang="zh-CN" sz="158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x</m:t>
                            </m:r>
                            <m:r>
                              <m:rPr>
                                <m:sty m:val="p"/>
                              </m:rPr>
                              <a:rPr lang="zh-CN" sz="158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−</m:t>
                            </m:r>
                            <m:sSub>
                              <m:e>
                                <m:r>
                                  <a:rPr lang="zh-CN" sz="1580" dirty="0">
                                    <a:solidFill>
                                      <a:srgbClr val="FFFF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z</m:t>
                                </m:r>
                              </m:e>
                              <m:sub>
                                <m:r>
                                  <a:rPr lang="zh-CN" sz="1580" dirty="0">
                                    <a:solidFill>
                                      <a:srgbClr val="FFFF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1</m:t>
                                </m:r>
                              </m:sub>
                            </m:sSub>
                          </m:e>
                        </m:d>
                        <m:r>
                          <m:rPr>
                            <m:sty m:val="p"/>
                          </m:rPr>
                          <a:rPr lang="zh-CN" sz="1580" dirty="0">
                            <a:solidFill>
                              <a:srgbClr val="FFFFFF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⋯</m:t>
                        </m:r>
                        <m:d>
                          <m:dPr>
                            <m:begChr m:val="("/>
                            <m:sepChr m:val=""/>
                            <m:endChr m:val=")"/>
                            <m:grow m:val="on"/>
                            <m:ctrlPr>
                              <a:rPr lang="zh-CN" sz="158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r>
                              <a:rPr lang="zh-CN" sz="158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x</m:t>
                            </m:r>
                            <m:r>
                              <m:rPr>
                                <m:sty m:val="p"/>
                              </m:rPr>
                              <a:rPr lang="zh-CN" sz="158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−</m:t>
                            </m:r>
                            <m:sSub>
                              <m:e>
                                <m:r>
                                  <a:rPr lang="zh-CN" sz="1580" dirty="0">
                                    <a:solidFill>
                                      <a:srgbClr val="FFFF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z</m:t>
                                </m:r>
                              </m:e>
                              <m:sub>
                                <m:r>
                                  <a:rPr lang="zh-CN" sz="1580" dirty="0">
                                    <a:solidFill>
                                      <a:srgbClr val="FFFF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N</m:t>
                                </m:r>
                                <m:r>
                                  <m:rPr>
                                    <m:sty m:val="p"/>
                                  </m:rPr>
                                  <a:rPr lang="zh-CN" sz="1580" dirty="0">
                                    <a:solidFill>
                                      <a:srgbClr val="FFFF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−</m:t>
                                </m:r>
                                <m:r>
                                  <a:rPr lang="zh-CN" sz="1580" dirty="0">
                                    <a:solidFill>
                                      <a:srgbClr val="FFFF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1</m:t>
                                </m:r>
                              </m:sub>
                            </m:sSub>
                          </m:e>
                        </m:d>
                      </m:oMath>
                    </m:oMathPara>
                  </a14:m>
                </a:p>
              </p:txBody>
            </p:sp>
          </mc:Choice>
        </mc:AlternateContent>
        <p:sp>
          <p:nvSpPr>
            <p:cNvPr id="19" name="TextBox 19"/>
            <p:cNvSpPr txBox="1"/>
            <p:nvPr/>
          </p:nvSpPr>
          <p:spPr>
            <a:xfrm>
              <a:off x="736473" y="5765959"/>
              <a:ext cx="260375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无重节点时就是 Lagrange 余项。</a:t>
              </a:r>
            </a:p>
          </p:txBody>
        </p:sp>
      </p:grpSp>
      <p:grpSp>
        <p:nvGrpSpPr>
          <p:cNvPr id="32" name="c2-card-1"/>
          <p:cNvGrpSpPr/>
          <p:nvPr/>
        </p:nvGrpSpPr>
        <p:grpSpPr>
          <a:xfrm>
            <a:off x="6248400" y="1524000"/>
            <a:ext cx="5410200" cy="4650105"/>
            <a:chOff x="6248400" y="1524000"/>
            <a:chExt cx="5410200" cy="4650105"/>
          </a:xfrm>
        </p:grpSpPr>
        <p:sp>
          <p:nvSpPr>
            <p:cNvPr id="21" name="Rectangle 21"/>
            <p:cNvSpPr/>
            <p:nvPr/>
          </p:nvSpPr>
          <p:spPr>
            <a:xfrm>
              <a:off x="6248400" y="1524000"/>
              <a:ext cx="5410200" cy="4650105"/>
            </a:xfrm>
            <a:prstGeom prst="roundRect">
              <a:avLst>
                <a:gd name="adj" fmla="val 2868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22" name="Rectangle 22"/>
            <p:cNvSpPr/>
            <p:nvPr/>
          </p:nvSpPr>
          <p:spPr>
            <a:xfrm>
              <a:off x="6257925" y="1657350"/>
              <a:ext cx="47625" cy="4383405"/>
            </a:xfrm>
            <a:prstGeom prst="roundRect">
              <a:avLst>
                <a:gd name="adj" fmla="val 50000"/>
              </a:avLst>
            </a:prstGeom>
            <a:solidFill>
              <a:srgbClr val="14A38B"/>
            </a:solidFill>
            <a:ln>
              <a:noFill/>
            </a:ln>
          </p:spPr>
        </p:sp>
        <p:sp>
          <p:nvSpPr>
            <p:cNvPr id="23" name="Rectangle 23"/>
            <p:cNvSpPr/>
            <p:nvPr/>
          </p:nvSpPr>
          <p:spPr>
            <a:xfrm>
              <a:off x="6496050" y="1733550"/>
              <a:ext cx="1347788" cy="257175"/>
            </a:xfrm>
            <a:prstGeom prst="roundRect">
              <a:avLst>
                <a:gd name="adj" fmla="val 50000"/>
              </a:avLst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6560655" y="1769269"/>
              <a:ext cx="121762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非整齐的插值余项</a:t>
              </a:r>
            </a:p>
          </p:txBody>
        </p:sp>
        <p:sp>
          <p:nvSpPr>
            <p:cNvPr id="25" name="Ellipse 25"/>
            <p:cNvSpPr/>
            <p:nvPr/>
          </p:nvSpPr>
          <p:spPr>
            <a:xfrm>
              <a:off x="6501765" y="2173605"/>
              <a:ext cx="64770" cy="6477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659880" y="2110740"/>
              <a:ext cx="445389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三个节点 x₀、x₁、x₂ 给出函数值，另在其中一个 xᵢ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给出导数值，共 4 个条件，构造 H₃(x)：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7" name="formula193"/>
                <p:cNvSpPr txBox="1">
                  <a:spLocks noGrp="1"/>
                </p:cNvSpPr>
                <p:nvPr/>
              </p:nvSpPr>
              <p:spPr>
                <a:xfrm>
                  <a:off x="6496050" y="2707005"/>
                  <a:ext cx="4953000" cy="488632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lIns="0" tIns="0" rIns="0" bIns="0" wrap="none" anchor="ctr">
                  <a:normAutofit/>
                </a:bodyPr>
                <a:lstStyle/>
                <a:p>
                  <a:pPr algn="ctr"/>
                  <a14:m>
                    <m:oMathPara xmlns:a="http://schemas.openxmlformats.org/drawingml/2006/main" xmlns:m="http://schemas.openxmlformats.org/officeDocument/2006/math">
                      <m:oMathParaPr>
                        <m:jc m:val="center"/>
                      </m:oMathParaPr>
                      <m:oMath>
                        <m:sSub>
                          <m:e>
                            <m:r>
                              <a:rPr lang="zh-CN" sz="14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R</m:t>
                            </m:r>
                          </m:e>
                          <m:sub>
                            <m:r>
                              <a:rPr lang="zh-CN" sz="14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3</m:t>
                            </m:r>
                          </m:sub>
                        </m:sSub>
                        <m:d>
                          <m:dPr>
                            <m:begChr m:val="("/>
                            <m:sepChr m:val=""/>
                            <m:endChr m:val=")"/>
                            <m:grow m:val="on"/>
                            <m:ctrlPr>
                              <a:rPr lang="zh-CN" sz="14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r>
                              <a:rPr lang="zh-CN" sz="14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x</m:t>
                            </m:r>
                          </m:e>
                        </m:d>
                        <m:r>
                          <m:rPr>
                            <m:sty m:val="p"/>
                          </m:rPr>
                          <a:rPr lang="zh-CN" sz="142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=</m:t>
                        </m:r>
                        <m:f>
                          <m:fPr>
                            <m:type m:val="bar"/>
                            <m:ctrlPr>
                              <a:rPr lang="zh-CN" sz="14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fPr>
                          <m:num>
                            <m:sSup>
                              <m:e>
                                <m:r>
                                  <a:rPr lang="zh-CN" sz="14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f</m:t>
                                </m:r>
                              </m:e>
                              <m:sup>
                                <m:d>
                                  <m:dPr>
                                    <m:begChr m:val="("/>
                                    <m:sepChr m:val=""/>
                                    <m:endChr m:val=")"/>
                                    <m:grow m:val="on"/>
                                    <m:ctrlPr>
                                      <a:rPr lang="zh-CN" sz="142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dPr>
                                  <m:e>
                                    <m:r>
                                      <a:rPr lang="zh-CN" sz="142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4</m:t>
                                    </m:r>
                                  </m:e>
                                </m:d>
                              </m:sup>
                            </m:sSup>
                            <m:d>
                              <m:dPr>
                                <m:begChr m:val="("/>
                                <m:sepChr m:val=""/>
                                <m:endChr m:val=")"/>
                                <m:grow m:val="on"/>
                                <m:ctrlPr>
                                  <a:rPr lang="zh-CN" sz="14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</m:ctrlPr>
                              </m:dPr>
                              <m:e>
                                <m:r>
                                  <a:rPr lang="zh-CN" sz="14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ξ</m:t>
                                </m:r>
                              </m:e>
                            </m:d>
                          </m:num>
                          <m:den>
                            <m:r>
                              <a:rPr lang="zh-CN" sz="14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4</m:t>
                            </m:r>
                            <m:r>
                              <m:rPr>
                                <m:sty m:val="p"/>
                              </m:rPr>
                              <a:rPr lang="zh-CN" sz="14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!</m:t>
                            </m:r>
                          </m:den>
                        </m:f>
                        <m:d>
                          <m:dPr>
                            <m:begChr m:val="("/>
                            <m:sepChr m:val=""/>
                            <m:endChr m:val=")"/>
                            <m:grow m:val="on"/>
                            <m:ctrlPr>
                              <a:rPr lang="zh-CN" sz="14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r>
                              <a:rPr lang="zh-CN" sz="14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x</m:t>
                            </m:r>
                            <m:r>
                              <m:rPr>
                                <m:sty m:val="p"/>
                              </m:rPr>
                              <a:rPr lang="zh-CN" sz="14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−</m:t>
                            </m:r>
                            <m:sSub>
                              <m:e>
                                <m:r>
                                  <a:rPr lang="zh-CN" sz="14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x</m:t>
                                </m:r>
                              </m:e>
                              <m:sub>
                                <m:r>
                                  <a:rPr lang="zh-CN" sz="14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0</m:t>
                                </m:r>
                              </m:sub>
                            </m:sSub>
                          </m:e>
                        </m:d>
                        <m:d>
                          <m:dPr>
                            <m:begChr m:val="("/>
                            <m:sepChr m:val=""/>
                            <m:endChr m:val=")"/>
                            <m:grow m:val="on"/>
                            <m:ctrlPr>
                              <a:rPr lang="zh-CN" sz="14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r>
                              <a:rPr lang="zh-CN" sz="14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x</m:t>
                            </m:r>
                            <m:r>
                              <m:rPr>
                                <m:sty m:val="p"/>
                              </m:rPr>
                              <a:rPr lang="zh-CN" sz="14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−</m:t>
                            </m:r>
                            <m:sSub>
                              <m:e>
                                <m:r>
                                  <a:rPr lang="zh-CN" sz="14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x</m:t>
                                </m:r>
                              </m:e>
                              <m:sub>
                                <m:r>
                                  <a:rPr lang="zh-CN" sz="14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1</m:t>
                                </m:r>
                              </m:sub>
                            </m:sSub>
                          </m:e>
                        </m:d>
                        <m:d>
                          <m:dPr>
                            <m:begChr m:val="("/>
                            <m:sepChr m:val=""/>
                            <m:endChr m:val=")"/>
                            <m:grow m:val="on"/>
                            <m:ctrlPr>
                              <a:rPr lang="zh-CN" sz="14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r>
                              <a:rPr lang="zh-CN" sz="14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x</m:t>
                            </m:r>
                            <m:r>
                              <m:rPr>
                                <m:sty m:val="p"/>
                              </m:rPr>
                              <a:rPr lang="zh-CN" sz="14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−</m:t>
                            </m:r>
                            <m:sSub>
                              <m:e>
                                <m:r>
                                  <a:rPr lang="zh-CN" sz="14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x</m:t>
                                </m:r>
                              </m:e>
                              <m:sub>
                                <m:r>
                                  <a:rPr lang="zh-CN" sz="14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2</m:t>
                                </m:r>
                              </m:sub>
                            </m:sSub>
                          </m:e>
                        </m:d>
                        <m:d>
                          <m:dPr>
                            <m:begChr m:val="("/>
                            <m:sepChr m:val=""/>
                            <m:endChr m:val=")"/>
                            <m:grow m:val="on"/>
                            <m:ctrlPr>
                              <a:rPr lang="zh-CN" sz="14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r>
                              <a:rPr lang="zh-CN" sz="14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x</m:t>
                            </m:r>
                            <m:r>
                              <m:rPr>
                                <m:sty m:val="p"/>
                              </m:rPr>
                              <a:rPr lang="zh-CN" sz="14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−</m:t>
                            </m:r>
                            <m:sSub>
                              <m:e>
                                <m:r>
                                  <a:rPr lang="zh-CN" sz="14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x</m:t>
                                </m:r>
                              </m:e>
                              <m:sub>
                                <m:r>
                                  <a:rPr lang="zh-CN" sz="14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i</m:t>
                                </m:r>
                              </m:sub>
                            </m:sSub>
                          </m:e>
                        </m:d>
                      </m:oMath>
                    </m:oMathPara>
                  </a14:m>
                </a:p>
              </p:txBody>
            </p:sp>
          </mc:Choice>
        </mc:AlternateContent>
        <p:sp>
          <p:nvSpPr>
            <p:cNvPr id="28" name="Ellipse 28"/>
            <p:cNvSpPr/>
            <p:nvPr/>
          </p:nvSpPr>
          <p:spPr>
            <a:xfrm>
              <a:off x="6501765" y="3378518"/>
              <a:ext cx="64770" cy="6477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6659880" y="3315652"/>
              <a:ext cx="4558665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两个节点给出函数值，只在 x₁ 给出导数值，共 3 个条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件，构造 H₂(x)：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0" name="formula194"/>
                <p:cNvSpPr txBox="1">
                  <a:spLocks noGrp="1"/>
                </p:cNvSpPr>
                <p:nvPr/>
              </p:nvSpPr>
              <p:spPr>
                <a:xfrm>
                  <a:off x="6496050" y="3911918"/>
                  <a:ext cx="4953000" cy="540068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lIns="0" tIns="0" rIns="0" bIns="0" wrap="none" anchor="ctr">
                  <a:normAutofit/>
                </a:bodyPr>
                <a:lstStyle/>
                <a:p>
                  <a:pPr algn="ctr"/>
                  <a14:m>
                    <m:oMathPara xmlns:a="http://schemas.openxmlformats.org/drawingml/2006/main" xmlns:m="http://schemas.openxmlformats.org/officeDocument/2006/math">
                      <m:oMathParaPr>
                        <m:jc m:val="center"/>
                      </m:oMathParaPr>
                      <m:oMath>
                        <m:sSub>
                          <m:e>
                            <m:r>
                              <a:rPr lang="zh-CN" sz="15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R</m:t>
                            </m:r>
                          </m:e>
                          <m:sub>
                            <m:r>
                              <a:rPr lang="zh-CN" sz="15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2</m:t>
                            </m:r>
                          </m:sub>
                        </m:sSub>
                        <m:d>
                          <m:dPr>
                            <m:begChr m:val="("/>
                            <m:sepChr m:val=""/>
                            <m:endChr m:val=")"/>
                            <m:grow m:val="on"/>
                            <m:ctrlPr>
                              <a:rPr lang="zh-CN" sz="15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r>
                              <a:rPr lang="zh-CN" sz="15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x</m:t>
                            </m:r>
                          </m:e>
                        </m:d>
                        <m:r>
                          <m:rPr>
                            <m:sty m:val="p"/>
                          </m:rPr>
                          <a:rPr lang="zh-CN" sz="158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=</m:t>
                        </m:r>
                        <m:f>
                          <m:fPr>
                            <m:type m:val="bar"/>
                            <m:ctrlPr>
                              <a:rPr lang="zh-CN" sz="15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fPr>
                          <m:num>
                            <m:sSup>
                              <m:e>
                                <m:r>
                                  <a:rPr lang="zh-CN" sz="15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f</m:t>
                                </m:r>
                              </m:e>
                              <m:sup>
                                <m:r>
                                  <m:rPr>
                                    <m:sty m:val="p"/>
                                  </m:rPr>
                                  <a:rPr lang="zh-CN" sz="15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′′′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sepChr m:val=""/>
                                <m:endChr m:val=")"/>
                                <m:grow m:val="on"/>
                                <m:ctrlPr>
                                  <a:rPr lang="zh-CN" sz="15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</m:ctrlPr>
                              </m:dPr>
                              <m:e>
                                <m:r>
                                  <a:rPr lang="zh-CN" sz="15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ξ</m:t>
                                </m:r>
                              </m:e>
                            </m:d>
                          </m:num>
                          <m:den>
                            <m:r>
                              <a:rPr lang="zh-CN" sz="15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3</m:t>
                            </m:r>
                            <m:r>
                              <m:rPr>
                                <m:sty m:val="p"/>
                              </m:rPr>
                              <a:rPr lang="zh-CN" sz="15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!</m:t>
                            </m:r>
                          </m:den>
                        </m:f>
                        <m:d>
                          <m:dPr>
                            <m:begChr m:val="("/>
                            <m:sepChr m:val=""/>
                            <m:endChr m:val=")"/>
                            <m:grow m:val="on"/>
                            <m:ctrlPr>
                              <a:rPr lang="zh-CN" sz="15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r>
                              <a:rPr lang="zh-CN" sz="15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x</m:t>
                            </m:r>
                            <m:r>
                              <m:rPr>
                                <m:sty m:val="p"/>
                              </m:rPr>
                              <a:rPr lang="zh-CN" sz="15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−</m:t>
                            </m:r>
                            <m:sSub>
                              <m:e>
                                <m:r>
                                  <a:rPr lang="zh-CN" sz="15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x</m:t>
                                </m:r>
                              </m:e>
                              <m:sub>
                                <m:r>
                                  <a:rPr lang="zh-CN" sz="15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0</m:t>
                                </m:r>
                              </m:sub>
                            </m:sSub>
                          </m:e>
                        </m:d>
                        <m:sSup>
                          <m:e>
                            <m:d>
                              <m:dPr>
                                <m:begChr m:val="("/>
                                <m:sepChr m:val=""/>
                                <m:endChr m:val=")"/>
                                <m:grow m:val="on"/>
                                <m:ctrlPr>
                                  <a:rPr lang="zh-CN" sz="15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</m:ctrlPr>
                              </m:dPr>
                              <m:e>
                                <m:r>
                                  <a:rPr lang="zh-CN" sz="15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x</m:t>
                                </m:r>
                                <m:r>
                                  <m:rPr>
                                    <m:sty m:val="p"/>
                                  </m:rPr>
                                  <a:rPr lang="zh-CN" sz="15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−</m:t>
                                </m:r>
                                <m:sSub>
                                  <m:e>
                                    <m:r>
                                      <a:rPr lang="zh-CN" sz="158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x</m:t>
                                    </m:r>
                                  </m:e>
                                  <m:sub>
                                    <m:r>
                                      <a:rPr lang="zh-CN" sz="158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</m:d>
                          </m:e>
                          <m:sup>
                            <m:r>
                              <a:rPr lang="zh-CN" sz="15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2</m:t>
                            </m:r>
                          </m:sup>
                        </m:sSup>
                      </m:oMath>
                    </m:oMathPara>
                  </a14:m>
                </a:p>
              </p:txBody>
            </p:sp>
          </mc:Choice>
        </mc:AlternateContent>
        <p:sp>
          <p:nvSpPr>
            <p:cNvPr id="31" name="TextBox 31"/>
            <p:cNvSpPr txBox="1"/>
            <p:nvPr/>
          </p:nvSpPr>
          <p:spPr>
            <a:xfrm>
              <a:off x="6489573" y="4568666"/>
              <a:ext cx="4662170" cy="483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45"/>
                </a:lnSpc>
              </a:pPr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i 的取值取决于给定的插值条件：哪个节点给了导数，哪个因子就</a:t>
              </a:r>
              <a:br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出现两次。</a:t>
              </a:r>
            </a:p>
          </p:txBody>
        </p:sp>
      </p:grpSp>
      <p:grpSp>
        <p:nvGrpSpPr>
          <p:cNvPr id="35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33" name="TextBox 33"/>
            <p:cNvSpPr txBox="1"/>
            <p:nvPr/>
          </p:nvSpPr>
          <p:spPr>
            <a:xfrm>
              <a:off x="528447" y="6581299"/>
              <a:ext cx="225267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计算方法 · 第5章 函数插值与曲线拟合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37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9928925" cy="909257"/>
            <a:chOff x="520446" y="342900"/>
            <a:chExt cx="9928925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556510" cy="266700"/>
            </a:xfrm>
            <a:prstGeom prst="roundRect">
              <a:avLst>
                <a:gd name="adj" fmla="val 50000"/>
              </a:avLst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92206" y="407194"/>
              <a:ext cx="243889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第5章 函数插值 · 三次埃尔米特插值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9928925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问题二（非整齐）：已知 f(x₀)、f(x₁)、f′(x₁)，构造 H₂(x)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E7D4F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21" name="c1-table-1"/>
          <p:cNvGrpSpPr/>
          <p:nvPr/>
        </p:nvGrpSpPr>
        <p:grpSpPr>
          <a:xfrm>
            <a:off x="533400" y="1524000"/>
            <a:ext cx="5410200" cy="1273493"/>
            <a:chOff x="533400" y="1524000"/>
            <a:chExt cx="5410200" cy="1273493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410200" cy="424815"/>
            </a:xfrm>
            <a:prstGeom prst="rect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1376961" y="1652588"/>
              <a:ext cx="10548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x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3122920" y="1652588"/>
              <a:ext cx="198775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x₀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4931717" y="1652588"/>
              <a:ext cx="198775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x₁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376961" y="2076450"/>
              <a:ext cx="10548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y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3127362" y="2076450"/>
              <a:ext cx="18989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y₀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4936160" y="2076450"/>
              <a:ext cx="18989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y₁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533400" y="2367915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5" name="Rectangle 15"/>
            <p:cNvSpPr/>
            <p:nvPr/>
          </p:nvSpPr>
          <p:spPr>
            <a:xfrm>
              <a:off x="533400" y="2372678"/>
              <a:ext cx="5410200" cy="424815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1330315" y="2501265"/>
              <a:ext cx="198775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y′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4920005" y="2501265"/>
              <a:ext cx="222199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m₁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533400" y="1524000"/>
              <a:ext cx="5410200" cy="1273492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2321242" y="1524000"/>
              <a:ext cx="9525" cy="1273492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0" name="Rectangle 20"/>
            <p:cNvSpPr/>
            <p:nvPr/>
          </p:nvSpPr>
          <p:spPr>
            <a:xfrm>
              <a:off x="4113848" y="1524000"/>
              <a:ext cx="9525" cy="1273492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46" name="c1-table-2"/>
          <p:cNvGrpSpPr/>
          <p:nvPr/>
        </p:nvGrpSpPr>
        <p:grpSpPr>
          <a:xfrm>
            <a:off x="533400" y="2977515"/>
            <a:ext cx="5410200" cy="1697355"/>
            <a:chOff x="533400" y="2977515"/>
            <a:chExt cx="5410200" cy="1697355"/>
          </a:xfrm>
        </p:grpSpPr>
        <p:sp>
          <p:nvSpPr>
            <p:cNvPr id="22" name="Rectangle 22"/>
            <p:cNvSpPr/>
            <p:nvPr/>
          </p:nvSpPr>
          <p:spPr>
            <a:xfrm>
              <a:off x="533400" y="2977515"/>
              <a:ext cx="5410200" cy="424815"/>
            </a:xfrm>
            <a:prstGeom prst="rect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1008370" y="3106102"/>
              <a:ext cx="198775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zₖ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1968570" y="3106102"/>
              <a:ext cx="47865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f(zₖ)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3171254" y="3106102"/>
              <a:ext cx="65836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一阶差商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4776216" y="3106102"/>
              <a:ext cx="65836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二阶差商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817546" y="3529965"/>
              <a:ext cx="580423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z₀ = x₀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1691640" y="3411855"/>
              <a:ext cx="1033462" cy="405765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2112950" y="3529965"/>
              <a:ext cx="18989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y₀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533400" y="3821430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1" name="Rectangle 31"/>
            <p:cNvSpPr/>
            <p:nvPr/>
          </p:nvSpPr>
          <p:spPr>
            <a:xfrm>
              <a:off x="533400" y="3826192"/>
              <a:ext cx="5410200" cy="424815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817546" y="3954780"/>
              <a:ext cx="580423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z₁ = x₁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2112950" y="3954780"/>
              <a:ext cx="18989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y₁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2744152" y="3835718"/>
              <a:ext cx="1513522" cy="405765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3114713" y="3954780"/>
              <a:ext cx="771449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f[x₀, x₁]</a:t>
              </a:r>
            </a:p>
          </p:txBody>
        </p:sp>
        <p:sp>
          <p:nvSpPr>
            <p:cNvPr id="36" name="Rectangle 36"/>
            <p:cNvSpPr/>
            <p:nvPr/>
          </p:nvSpPr>
          <p:spPr>
            <a:xfrm>
              <a:off x="533400" y="4246245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817546" y="4379595"/>
              <a:ext cx="580423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z₂ = x₁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2112950" y="4379595"/>
              <a:ext cx="18989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y₁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3029902" y="4379595"/>
              <a:ext cx="94107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f′(x₁) = m₁</a:t>
              </a:r>
            </a:p>
          </p:txBody>
        </p:sp>
        <p:sp>
          <p:nvSpPr>
            <p:cNvPr id="40" name="Rectangle 40"/>
            <p:cNvSpPr/>
            <p:nvPr/>
          </p:nvSpPr>
          <p:spPr>
            <a:xfrm>
              <a:off x="4276725" y="4260532"/>
              <a:ext cx="1657350" cy="405765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4562170" y="4379595"/>
              <a:ext cx="108646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f[x₀, x₁, x₁]</a:t>
              </a:r>
            </a:p>
          </p:txBody>
        </p:sp>
        <p:sp>
          <p:nvSpPr>
            <p:cNvPr id="42" name="Rectangle 42"/>
            <p:cNvSpPr/>
            <p:nvPr/>
          </p:nvSpPr>
          <p:spPr>
            <a:xfrm>
              <a:off x="533400" y="2977515"/>
              <a:ext cx="5410200" cy="1697355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43" name="Rectangle 43"/>
            <p:cNvSpPr/>
            <p:nvPr/>
          </p:nvSpPr>
          <p:spPr>
            <a:xfrm>
              <a:off x="1677352" y="2977515"/>
              <a:ext cx="9525" cy="169735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4" name="Rectangle 44"/>
            <p:cNvSpPr/>
            <p:nvPr/>
          </p:nvSpPr>
          <p:spPr>
            <a:xfrm>
              <a:off x="2729865" y="2977515"/>
              <a:ext cx="9525" cy="169735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5" name="Rectangle 45"/>
            <p:cNvSpPr/>
            <p:nvPr/>
          </p:nvSpPr>
          <p:spPr>
            <a:xfrm>
              <a:off x="4262438" y="2977515"/>
              <a:ext cx="9525" cy="169735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47" name="formula199"/>
              <p:cNvSpPr txBox="1">
                <a:spLocks noGrp="1"/>
              </p:cNvSpPr>
              <p:nvPr/>
            </p:nvSpPr>
            <p:spPr>
              <a:xfrm>
                <a:off x="533400" y="4855845"/>
                <a:ext cx="5410200" cy="3238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lIns="0" tIns="0" rIns="0" bIns="0" wrap="none" anchor="ctr">
                <a:normAutofit/>
              </a:bodyPr>
              <a:lstStyle/>
              <a:p>
                <a:pPr algn="ctr"/>
                <a14:m>
                  <m:oMathPara xmlns:a="http://schemas.openxmlformats.org/drawingml/2006/main"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a:rPr lang="zh-CN" sz="12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H</m:t>
                          </m:r>
                        </m:e>
                        <m:sub>
                          <m:r>
                            <a:rPr lang="zh-CN" sz="12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 m:val="on"/>
                          <m:ctrlPr>
                            <a:rPr lang="zh-CN" sz="12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a:rPr lang="zh-CN" sz="12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a:rPr lang="zh-CN" sz="128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sSub>
                        <m:e>
                          <m:r>
                            <a:rPr lang="zh-CN" sz="12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y</m:t>
                          </m:r>
                        </m:e>
                        <m:sub>
                          <m:r>
                            <a:rPr lang="zh-CN" sz="12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zh-CN" sz="128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+</m:t>
                      </m:r>
                      <m:r>
                        <a:rPr lang="zh-CN" sz="128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f</m:t>
                      </m:r>
                      <m:d>
                        <m:dPr>
                          <m:begChr m:val="["/>
                          <m:sepChr m:val=""/>
                          <m:endChr m:val="]"/>
                          <m:grow m:val="on"/>
                          <m:ctrlPr>
                            <a:rPr lang="zh-CN" sz="12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sSub>
                            <m:e>
                              <m:r>
                                <a:rPr lang="zh-CN" sz="12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x</m:t>
                              </m:r>
                            </m:e>
                            <m:sub>
                              <m:r>
                                <a:rPr lang="zh-CN" sz="12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0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a:rPr lang="zh-CN" sz="12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,</m:t>
                          </m:r>
                          <m:sSub>
                            <m:e>
                              <m:r>
                                <a:rPr lang="zh-CN" sz="12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x</m:t>
                              </m:r>
                            </m:e>
                            <m:sub>
                              <m:r>
                                <a:rPr lang="zh-CN" sz="12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  <m:d>
                        <m:dPr>
                          <m:begChr m:val="("/>
                          <m:sepChr m:val=""/>
                          <m:endChr m:val=")"/>
                          <m:grow m:val="on"/>
                          <m:ctrlPr>
                            <a:rPr lang="zh-CN" sz="12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a:rPr lang="zh-CN" sz="12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x</m:t>
                          </m:r>
                          <m:r>
                            <m:rPr>
                              <m:sty m:val="p"/>
                            </m:rPr>
                            <a:rPr lang="zh-CN" sz="12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−</m:t>
                          </m:r>
                          <m:sSub>
                            <m:e>
                              <m:r>
                                <a:rPr lang="zh-CN" sz="12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x</m:t>
                              </m:r>
                            </m:e>
                            <m:sub>
                              <m:r>
                                <a:rPr lang="zh-CN" sz="12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0</m:t>
                              </m:r>
                            </m:sub>
                          </m:sSub>
                        </m:e>
                      </m:d>
                      <m:r>
                        <m:rPr>
                          <m:sty m:val="p"/>
                        </m:rPr>
                        <a:rPr lang="zh-CN" sz="128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+</m:t>
                      </m:r>
                      <m:r>
                        <a:rPr lang="zh-CN" sz="128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f</m:t>
                      </m:r>
                      <m:d>
                        <m:dPr>
                          <m:begChr m:val="["/>
                          <m:sepChr m:val=""/>
                          <m:endChr m:val="]"/>
                          <m:grow m:val="on"/>
                          <m:ctrlPr>
                            <a:rPr lang="zh-CN" sz="12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sSub>
                            <m:e>
                              <m:r>
                                <a:rPr lang="zh-CN" sz="12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x</m:t>
                              </m:r>
                            </m:e>
                            <m:sub>
                              <m:r>
                                <a:rPr lang="zh-CN" sz="12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0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a:rPr lang="zh-CN" sz="12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,</m:t>
                          </m:r>
                          <m:sSub>
                            <m:e>
                              <m:r>
                                <a:rPr lang="zh-CN" sz="12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x</m:t>
                              </m:r>
                            </m:e>
                            <m:sub>
                              <m:r>
                                <a:rPr lang="zh-CN" sz="12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1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a:rPr lang="zh-CN" sz="12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,</m:t>
                          </m:r>
                          <m:sSub>
                            <m:e>
                              <m:r>
                                <a:rPr lang="zh-CN" sz="12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x</m:t>
                              </m:r>
                            </m:e>
                            <m:sub>
                              <m:r>
                                <a:rPr lang="zh-CN" sz="12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  <m:d>
                        <m:dPr>
                          <m:begChr m:val="("/>
                          <m:sepChr m:val=""/>
                          <m:endChr m:val=")"/>
                          <m:grow m:val="on"/>
                          <m:ctrlPr>
                            <a:rPr lang="zh-CN" sz="12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a:rPr lang="zh-CN" sz="12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x</m:t>
                          </m:r>
                          <m:r>
                            <m:rPr>
                              <m:sty m:val="p"/>
                            </m:rPr>
                            <a:rPr lang="zh-CN" sz="12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−</m:t>
                          </m:r>
                          <m:sSub>
                            <m:e>
                              <m:r>
                                <a:rPr lang="zh-CN" sz="12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x</m:t>
                              </m:r>
                            </m:e>
                            <m:sub>
                              <m:r>
                                <a:rPr lang="zh-CN" sz="12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0</m:t>
                              </m:r>
                            </m:sub>
                          </m:sSub>
                        </m:e>
                      </m:d>
                      <m:d>
                        <m:dPr>
                          <m:begChr m:val="("/>
                          <m:sepChr m:val=""/>
                          <m:endChr m:val=")"/>
                          <m:grow m:val="on"/>
                          <m:ctrlPr>
                            <a:rPr lang="zh-CN" sz="12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a:rPr lang="zh-CN" sz="12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x</m:t>
                          </m:r>
                          <m:r>
                            <m:rPr>
                              <m:sty m:val="p"/>
                            </m:rPr>
                            <a:rPr lang="zh-CN" sz="12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−</m:t>
                          </m:r>
                          <m:sSub>
                            <m:e>
                              <m:r>
                                <a:rPr lang="zh-CN" sz="12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x</m:t>
                              </m:r>
                            </m:e>
                            <m:sub>
                              <m:r>
                                <a:rPr lang="zh-CN" sz="12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8" name="formula200"/>
              <p:cNvSpPr txBox="1">
                <a:spLocks noGrp="1"/>
              </p:cNvSpPr>
              <p:nvPr/>
            </p:nvSpPr>
            <p:spPr>
              <a:xfrm>
                <a:off x="533400" y="5359718"/>
                <a:ext cx="5410200" cy="48863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lIns="0" tIns="0" rIns="0" bIns="0" wrap="none" anchor="ctr">
                <a:normAutofit/>
              </a:bodyPr>
              <a:lstStyle/>
              <a:p>
                <a:pPr algn="ctr"/>
                <a14:m>
                  <m:oMathPara xmlns:a="http://schemas.openxmlformats.org/drawingml/2006/main" xmlns:m="http://schemas.openxmlformats.org/officeDocument/2006/math">
                    <m:oMathParaPr>
                      <m:jc m:val="center"/>
                    </m:oMathParaPr>
                    <m:oMath>
                      <m:r>
                        <a:rPr lang="zh-CN" sz="142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f</m:t>
                      </m:r>
                      <m:d>
                        <m:dPr>
                          <m:begChr m:val="["/>
                          <m:sepChr m:val=""/>
                          <m:endChr m:val="]"/>
                          <m:grow m:val="on"/>
                          <m:ctrlPr>
                            <a:rPr lang="zh-CN" sz="14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sSub>
                            <m:e>
                              <m:r>
                                <a:rPr lang="zh-CN" sz="14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x</m:t>
                              </m:r>
                            </m:e>
                            <m:sub>
                              <m:r>
                                <a:rPr lang="zh-CN" sz="14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0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a:rPr lang="zh-CN" sz="14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,</m:t>
                          </m:r>
                          <m:sSub>
                            <m:e>
                              <m:r>
                                <a:rPr lang="zh-CN" sz="14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x</m:t>
                              </m:r>
                            </m:e>
                            <m:sub>
                              <m:r>
                                <a:rPr lang="zh-CN" sz="14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1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a:rPr lang="zh-CN" sz="14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,</m:t>
                          </m:r>
                          <m:sSub>
                            <m:e>
                              <m:r>
                                <a:rPr lang="zh-CN" sz="14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x</m:t>
                              </m:r>
                            </m:e>
                            <m:sub>
                              <m:r>
                                <a:rPr lang="zh-CN" sz="14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  <m:r>
                        <m:rPr>
                          <m:sty m:val="p"/>
                        </m:rPr>
                        <a:rPr lang="zh-CN" sz="142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f>
                        <m:fPr>
                          <m:type m:val="bar"/>
                          <m:ctrlPr>
                            <a:rPr lang="zh-CN" sz="14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Pr>
                        <m:num>
                          <m:sSub>
                            <m:e>
                              <m:r>
                                <a:rPr lang="zh-CN" sz="14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m</m:t>
                              </m:r>
                            </m:e>
                            <m:sub>
                              <m:r>
                                <a:rPr lang="zh-CN" sz="14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1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a:rPr lang="zh-CN" sz="14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−</m:t>
                          </m:r>
                          <m:r>
                            <a:rPr lang="zh-CN" sz="14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f</m:t>
                          </m:r>
                          <m:d>
                            <m:dPr>
                              <m:begChr m:val="["/>
                              <m:sepChr m:val=""/>
                              <m:endChr m:val="]"/>
                              <m:grow m:val="on"/>
                              <m:ctrlPr>
                                <a:rPr lang="zh-CN" sz="14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sSub>
                                <m:e>
                                  <m:r>
                                    <a:rPr lang="zh-CN" sz="142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x</m:t>
                                  </m:r>
                                </m:e>
                                <m:sub>
                                  <m:r>
                                    <a:rPr lang="zh-CN" sz="142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0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a:rPr lang="zh-CN" sz="14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,</m:t>
                              </m:r>
                              <m:sSub>
                                <m:e>
                                  <m:r>
                                    <a:rPr lang="zh-CN" sz="142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x</m:t>
                                  </m:r>
                                </m:e>
                                <m:sub>
                                  <m:r>
                                    <a:rPr lang="zh-CN" sz="142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d>
                        </m:num>
                        <m:den>
                          <m:sSub>
                            <m:e>
                              <m:r>
                                <a:rPr lang="zh-CN" sz="14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x</m:t>
                              </m:r>
                            </m:e>
                            <m:sub>
                              <m:r>
                                <a:rPr lang="zh-CN" sz="14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1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a:rPr lang="zh-CN" sz="14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−</m:t>
                          </m:r>
                          <m:sSub>
                            <m:e>
                              <m:r>
                                <a:rPr lang="zh-CN" sz="14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x</m:t>
                              </m:r>
                            </m:e>
                            <m:sub>
                              <m:r>
                                <a:rPr lang="zh-CN" sz="14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0</m:t>
                              </m:r>
                            </m:sub>
                          </m:sSub>
                        </m:den>
                      </m:f>
                      <m:r>
                        <m:rPr>
                          <m:sty m:val="p"/>
                        </m:rPr>
                        <a:rPr lang="zh-CN" sz="142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,</m:t>
                      </m:r>
                      <m:r>
                        <a:rPr lang="zh-CN" sz="142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 xml:space="preserve">  </m:t>
                      </m:r>
                      <m:sSub>
                        <m:e>
                          <m:r>
                            <a:rPr lang="zh-CN" sz="14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R</m:t>
                          </m:r>
                        </m:e>
                        <m:sub>
                          <m:r>
                            <a:rPr lang="zh-CN" sz="14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 m:val="on"/>
                          <m:ctrlPr>
                            <a:rPr lang="zh-CN" sz="14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a:rPr lang="zh-CN" sz="14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a:rPr lang="zh-CN" sz="142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f>
                        <m:fPr>
                          <m:type m:val="bar"/>
                          <m:ctrlPr>
                            <a:rPr lang="zh-CN" sz="14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Pr>
                        <m:num>
                          <m:sSup>
                            <m:e>
                              <m:r>
                                <a:rPr lang="zh-CN" sz="14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f</m:t>
                              </m:r>
                            </m:e>
                            <m:sup>
                              <m:r>
                                <m:rPr>
                                  <m:sty m:val="p"/>
                                </m:rPr>
                                <a:rPr lang="zh-CN" sz="14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′′′</m:t>
                              </m:r>
                            </m:sup>
                          </m:sSup>
                          <m:d>
                            <m:dPr>
                              <m:begChr m:val="("/>
                              <m:sepChr m:val=""/>
                              <m:endChr m:val=")"/>
                              <m:grow m:val="on"/>
                              <m:ctrlPr>
                                <a:rPr lang="zh-CN" sz="14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r>
                                <a:rPr lang="zh-CN" sz="14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ξ</m:t>
                              </m:r>
                            </m:e>
                          </m:d>
                        </m:num>
                        <m:den>
                          <m:r>
                            <a:rPr lang="zh-CN" sz="14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3</m:t>
                          </m:r>
                          <m:r>
                            <m:rPr>
                              <m:sty m:val="p"/>
                            </m:rPr>
                            <a:rPr lang="zh-CN" sz="14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!</m:t>
                          </m:r>
                        </m:den>
                      </m:f>
                      <m:d>
                        <m:dPr>
                          <m:begChr m:val="("/>
                          <m:sepChr m:val=""/>
                          <m:endChr m:val=")"/>
                          <m:grow m:val="on"/>
                          <m:ctrlPr>
                            <a:rPr lang="zh-CN" sz="14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a:rPr lang="zh-CN" sz="14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x</m:t>
                          </m:r>
                          <m:r>
                            <m:rPr>
                              <m:sty m:val="p"/>
                            </m:rPr>
                            <a:rPr lang="zh-CN" sz="14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−</m:t>
                          </m:r>
                          <m:sSub>
                            <m:e>
                              <m:r>
                                <a:rPr lang="zh-CN" sz="14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x</m:t>
                              </m:r>
                            </m:e>
                            <m:sub>
                              <m:r>
                                <a:rPr lang="zh-CN" sz="14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0</m:t>
                              </m:r>
                            </m:sub>
                          </m:sSub>
                        </m:e>
                      </m:d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 m:val="on"/>
                              <m:ctrlPr>
                                <a:rPr lang="zh-CN" sz="14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r>
                                <a:rPr lang="zh-CN" sz="14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a:rPr lang="zh-CN" sz="14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−</m:t>
                              </m:r>
                              <m:sSub>
                                <m:e>
                                  <m:r>
                                    <a:rPr lang="zh-CN" sz="142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x</m:t>
                                  </m:r>
                                </m:e>
                                <m:sub>
                                  <m:r>
                                    <a:rPr lang="zh-CN" sz="142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d>
                        </m:e>
                        <m:sup>
                          <m:r>
                            <a:rPr lang="zh-CN" sz="14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</a:p>
            </p:txBody>
          </p:sp>
        </mc:Choice>
      </mc:AlternateContent>
      <p:grpSp>
        <p:nvGrpSpPr>
          <p:cNvPr id="59" name="c2-card-1"/>
          <p:cNvGrpSpPr/>
          <p:nvPr/>
        </p:nvGrpSpPr>
        <p:grpSpPr>
          <a:xfrm>
            <a:off x="6248400" y="1524000"/>
            <a:ext cx="5410200" cy="2358390"/>
            <a:chOff x="6248400" y="1524000"/>
            <a:chExt cx="5410200" cy="2358390"/>
          </a:xfrm>
        </p:grpSpPr>
        <p:sp>
          <p:nvSpPr>
            <p:cNvPr id="49" name="Rectangle 49"/>
            <p:cNvSpPr/>
            <p:nvPr/>
          </p:nvSpPr>
          <p:spPr>
            <a:xfrm>
              <a:off x="6248400" y="1524000"/>
              <a:ext cx="5410200" cy="2358390"/>
            </a:xfrm>
            <a:prstGeom prst="roundRect">
              <a:avLst>
                <a:gd name="adj" fmla="val 5654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50" name="Rectangle 50"/>
            <p:cNvSpPr/>
            <p:nvPr/>
          </p:nvSpPr>
          <p:spPr>
            <a:xfrm>
              <a:off x="6257925" y="1657350"/>
              <a:ext cx="47625" cy="2091690"/>
            </a:xfrm>
            <a:prstGeom prst="roundRect">
              <a:avLst>
                <a:gd name="adj" fmla="val 50000"/>
              </a:avLst>
            </a:prstGeom>
            <a:solidFill>
              <a:srgbClr val="14A38B"/>
            </a:solidFill>
            <a:ln>
              <a:noFill/>
            </a:ln>
          </p:spPr>
        </p:sp>
        <p:sp>
          <p:nvSpPr>
            <p:cNvPr id="51" name="Rectangle 51"/>
            <p:cNvSpPr/>
            <p:nvPr/>
          </p:nvSpPr>
          <p:spPr>
            <a:xfrm>
              <a:off x="6484620" y="1722120"/>
              <a:ext cx="342900" cy="247650"/>
            </a:xfrm>
            <a:prstGeom prst="roundRect">
              <a:avLst>
                <a:gd name="adj" fmla="val 50000"/>
              </a:avLst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52" name="TextBox 52"/>
            <p:cNvSpPr txBox="1"/>
            <p:nvPr/>
          </p:nvSpPr>
          <p:spPr>
            <a:xfrm>
              <a:off x="6580061" y="1756410"/>
              <a:ext cx="15201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例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6934581" y="1756886"/>
              <a:ext cx="4381537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ln x：f(1) = 0，f(2) = 0.693147，f′(2) = 0.5</a:t>
              </a:r>
            </a:p>
          </p:txBody>
        </p:sp>
        <p:sp>
          <p:nvSpPr>
            <p:cNvPr id="54" name="Ellipse 54"/>
            <p:cNvSpPr/>
            <p:nvPr/>
          </p:nvSpPr>
          <p:spPr>
            <a:xfrm>
              <a:off x="6492240" y="2161222"/>
              <a:ext cx="60960" cy="6096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55" name="TextBox 55"/>
            <p:cNvSpPr txBox="1"/>
            <p:nvPr/>
          </p:nvSpPr>
          <p:spPr>
            <a:xfrm>
              <a:off x="6648831" y="2100739"/>
              <a:ext cx="3504057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f[1, 2] = 0.693147，f[1, 2, 2] = (0.5 −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0.693147)/(2 − 1) = −0.193147</a:t>
              </a:r>
            </a:p>
          </p:txBody>
        </p:sp>
        <p:sp>
          <p:nvSpPr>
            <p:cNvPr id="56" name="Ellipse 56"/>
            <p:cNvSpPr/>
            <p:nvPr/>
          </p:nvSpPr>
          <p:spPr>
            <a:xfrm>
              <a:off x="6492240" y="2749868"/>
              <a:ext cx="60960" cy="6096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57" name="TextBox 57"/>
            <p:cNvSpPr txBox="1"/>
            <p:nvPr/>
          </p:nvSpPr>
          <p:spPr>
            <a:xfrm>
              <a:off x="6648831" y="2690336"/>
              <a:ext cx="4126230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en-US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H₂(1.5) = 0.693147 × 0.5 − 0.193147 × 0.5 × (−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0.5) = 0.394860</a:t>
              </a:r>
            </a:p>
          </p:txBody>
        </p:sp>
        <p:sp>
          <p:nvSpPr>
            <p:cNvPr id="58" name="TextBox 58"/>
            <p:cNvSpPr txBox="1"/>
            <p:nvPr/>
          </p:nvSpPr>
          <p:spPr>
            <a:xfrm>
              <a:off x="6478524" y="3275648"/>
              <a:ext cx="4782312" cy="4556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40"/>
                </a:lnSpc>
              </a:pPr>
              <a:r>
                <a:rPr lang="zh-CN" sz="12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误差 0.0106，比同样两点上的三次 Hermite 插值（0.0036）大，因为</a:t>
              </a:r>
              <a:br/>
              <a:r>
                <a:rPr lang="zh-CN" sz="12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少了 x₀ 处的导数条件。</a:t>
              </a:r>
            </a:p>
          </p:txBody>
        </p:sp>
      </p:grpSp>
      <p:grpSp>
        <p:nvGrpSpPr>
          <p:cNvPr id="65" name="c2-card-2"/>
          <p:cNvGrpSpPr/>
          <p:nvPr/>
        </p:nvGrpSpPr>
        <p:grpSpPr>
          <a:xfrm>
            <a:off x="6248400" y="4062412"/>
            <a:ext cx="5410200" cy="1793558"/>
            <a:chOff x="6248400" y="4062412"/>
            <a:chExt cx="5410200" cy="1793558"/>
          </a:xfrm>
        </p:grpSpPr>
        <p:sp>
          <p:nvSpPr>
            <p:cNvPr id="60" name="Rectangle 60"/>
            <p:cNvSpPr/>
            <p:nvPr/>
          </p:nvSpPr>
          <p:spPr>
            <a:xfrm>
              <a:off x="6248400" y="4062412"/>
              <a:ext cx="5410200" cy="1793558"/>
            </a:xfrm>
            <a:prstGeom prst="roundRect">
              <a:avLst>
                <a:gd name="adj" fmla="val 7435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61" name="Rectangle 61"/>
            <p:cNvSpPr/>
            <p:nvPr/>
          </p:nvSpPr>
          <p:spPr>
            <a:xfrm>
              <a:off x="6257925" y="4195762"/>
              <a:ext cx="47625" cy="1526858"/>
            </a:xfrm>
            <a:prstGeom prst="roundRect">
              <a:avLst>
                <a:gd name="adj" fmla="val 50000"/>
              </a:avLst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62" name="Rectangle 62"/>
            <p:cNvSpPr/>
            <p:nvPr/>
          </p:nvSpPr>
          <p:spPr>
            <a:xfrm>
              <a:off x="6484620" y="4260532"/>
              <a:ext cx="476250" cy="247650"/>
            </a:xfrm>
            <a:prstGeom prst="roundRect">
              <a:avLst>
                <a:gd name="adj" fmla="val 5000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63" name="TextBox 63"/>
            <p:cNvSpPr txBox="1"/>
            <p:nvPr/>
          </p:nvSpPr>
          <p:spPr>
            <a:xfrm>
              <a:off x="6576060" y="4294822"/>
              <a:ext cx="2933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更正</a:t>
              </a:r>
            </a:p>
          </p:txBody>
        </p:sp>
        <p:sp>
          <p:nvSpPr>
            <p:cNvPr id="64" name="TextBox 64"/>
            <p:cNvSpPr txBox="1"/>
            <p:nvPr/>
          </p:nvSpPr>
          <p:spPr>
            <a:xfrm>
              <a:off x="6477381" y="4621054"/>
              <a:ext cx="4775454" cy="109308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原课件问题二的文字条件写作 H′(x₀) = y₀′，表格却把导数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值给在 x₁ 处；它的“解 2”一页只是重复了问题一的差商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表。本页按表格（导数在 x₁）给出完整解法。若导数给在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x₀，就把 x₀ 写两次，做法相同。</a:t>
              </a:r>
            </a:p>
          </p:txBody>
        </p:sp>
      </p:grpSp>
      <p:grpSp>
        <p:nvGrpSpPr>
          <p:cNvPr id="68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66" name="TextBox 66"/>
            <p:cNvSpPr txBox="1"/>
            <p:nvPr/>
          </p:nvSpPr>
          <p:spPr>
            <a:xfrm>
              <a:off x="528447" y="6581299"/>
              <a:ext cx="225267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计算方法 · 第5章 函数插值与曲线拟合</a:t>
              </a:r>
            </a:p>
          </p:txBody>
        </p:sp>
        <p:sp>
          <p:nvSpPr>
            <p:cNvPr id="67" name="TextBox 67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38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-disc"/>
          <p:cNvSpPr/>
          <p:nvPr/>
        </p:nvSpPr>
        <p:spPr>
          <a:xfrm>
            <a:off x="7715250" y="571500"/>
            <a:ext cx="5715000" cy="5715000"/>
          </a:xfrm>
          <a:prstGeom prst="ellipse">
            <a:avLst/>
          </a:prstGeom>
          <a:solidFill>
            <a:srgbClr val="2E7D4F"/>
          </a:solidFill>
          <a:ln>
            <a:noFill/>
          </a:ln>
        </p:spPr>
      </p:sp>
      <p:sp>
        <p:nvSpPr>
          <p:cNvPr id="3" name="section-ring"/>
          <p:cNvSpPr/>
          <p:nvPr/>
        </p:nvSpPr>
        <p:spPr>
          <a:xfrm>
            <a:off x="7334250" y="190500"/>
            <a:ext cx="6477000" cy="6477000"/>
          </a:xfrm>
          <a:prstGeom prst="ellipse">
            <a:avLst/>
          </a:prstGeom>
          <a:noFill/>
          <a:ln w="133350">
            <a:solidFill>
              <a:srgbClr val="E5F2EA"/>
            </a:solidFill>
          </a:ln>
        </p:spPr>
      </p:sp>
      <p:grpSp>
        <p:nvGrpSpPr>
          <p:cNvPr id="5" name="section-num"/>
          <p:cNvGrpSpPr/>
          <p:nvPr/>
        </p:nvGrpSpPr>
        <p:grpSpPr>
          <a:xfrm>
            <a:off x="8954033" y="2705100"/>
            <a:ext cx="1903933" cy="2305050"/>
            <a:chOff x="8954033" y="2705100"/>
            <a:chExt cx="1903933" cy="2305050"/>
          </a:xfrm>
        </p:grpSpPr>
        <p:sp>
          <p:nvSpPr>
            <p:cNvPr id="4" name="TextBox 4"/>
            <p:cNvSpPr txBox="1"/>
            <p:nvPr/>
          </p:nvSpPr>
          <p:spPr>
            <a:xfrm>
              <a:off x="8954033" y="2705100"/>
              <a:ext cx="1903933" cy="2305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05</a:t>
              </a:r>
            </a:p>
          </p:txBody>
        </p:sp>
      </p:grpSp>
      <p:grpSp>
        <p:nvGrpSpPr>
          <p:cNvPr id="16" name="section-title"/>
          <p:cNvGrpSpPr/>
          <p:nvPr/>
        </p:nvGrpSpPr>
        <p:grpSpPr>
          <a:xfrm>
            <a:off x="667512" y="1835468"/>
            <a:ext cx="4469130" cy="2997517"/>
            <a:chOff x="667512" y="1835468"/>
            <a:chExt cx="4469130" cy="2997517"/>
          </a:xfrm>
        </p:grpSpPr>
        <p:sp>
          <p:nvSpPr>
            <p:cNvPr id="6" name="TextBox 6"/>
            <p:cNvSpPr txBox="1"/>
            <p:nvPr/>
          </p:nvSpPr>
          <p:spPr>
            <a:xfrm>
              <a:off x="678942" y="1835468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第五部分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667512" y="2240280"/>
              <a:ext cx="2459736" cy="704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6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补充与练习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685800" y="3041332"/>
              <a:ext cx="762000" cy="47625"/>
            </a:xfrm>
            <a:prstGeom prst="roundRect">
              <a:avLst>
                <a:gd name="adj" fmla="val 50000"/>
              </a:avLst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677418" y="3377565"/>
              <a:ext cx="4459224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等距节点的差分公式、实验题和课后习题讲解</a:t>
              </a:r>
            </a:p>
          </p:txBody>
        </p:sp>
        <p:sp>
          <p:nvSpPr>
            <p:cNvPr id="10" name="Ellipse 10"/>
            <p:cNvSpPr/>
            <p:nvPr/>
          </p:nvSpPr>
          <p:spPr>
            <a:xfrm>
              <a:off x="723900" y="3888105"/>
              <a:ext cx="76200" cy="7620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906780" y="3830955"/>
              <a:ext cx="2741295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5.5* 差分与等距节点插值公式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723900" y="4242435"/>
              <a:ext cx="76200" cy="7620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906780" y="4185285"/>
              <a:ext cx="24384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实验题：比较几种插值方法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723900" y="4596765"/>
              <a:ext cx="76200" cy="7620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906780" y="4539615"/>
              <a:ext cx="1883093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习题 1–8 讲解与自测</a:t>
              </a:r>
            </a:p>
          </p:txBody>
        </p:sp>
      </p:grpSp>
      <p:grpSp>
        <p:nvGrpSpPr>
          <p:cNvPr id="19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17" name="TextBox 17"/>
            <p:cNvSpPr txBox="1"/>
            <p:nvPr/>
          </p:nvSpPr>
          <p:spPr>
            <a:xfrm>
              <a:off x="528447" y="6581299"/>
              <a:ext cx="225267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计算方法 · 第5章 函数插值与曲线拟合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39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8597845" cy="909257"/>
            <a:chOff x="520446" y="342900"/>
            <a:chExt cx="8597845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129790" cy="266700"/>
            </a:xfrm>
            <a:prstGeom prst="roundRect">
              <a:avLst>
                <a:gd name="adj" fmla="val 50000"/>
              </a:avLst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05008" y="407194"/>
              <a:ext cx="198657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第5章 函数插值 · 补充与练习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8597845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5.5* 等距节点：差商化为差分，得到 Newton 前插公式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E7D4F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5780" y="1548765"/>
            <a:ext cx="11151680" cy="293370"/>
            <a:chOff x="525780" y="1548765"/>
            <a:chExt cx="11151680" cy="293370"/>
          </a:xfrm>
        </p:grpSpPr>
        <p:sp>
          <p:nvSpPr>
            <p:cNvPr id="7" name="TextBox 7"/>
            <p:cNvSpPr txBox="1"/>
            <p:nvPr/>
          </p:nvSpPr>
          <p:spPr>
            <a:xfrm>
              <a:off x="525780" y="1548765"/>
              <a:ext cx="1115168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原课件目录列出 5.5 节（带 *，选学）但没有展开，这里补充要点。设节点等距 xₖ = x₀ + kh（h 为步长），记 fₖ = f(xₖ)。</a:t>
              </a:r>
            </a:p>
          </p:txBody>
        </p:sp>
      </p:grpSp>
      <p:grpSp>
        <p:nvGrpSpPr>
          <p:cNvPr id="16" name="c1-card-1"/>
          <p:cNvGrpSpPr/>
          <p:nvPr/>
        </p:nvGrpSpPr>
        <p:grpSpPr>
          <a:xfrm>
            <a:off x="533400" y="1954530"/>
            <a:ext cx="5193982" cy="1428750"/>
            <a:chOff x="533400" y="1954530"/>
            <a:chExt cx="5193982" cy="1428750"/>
          </a:xfrm>
        </p:grpSpPr>
        <p:sp>
          <p:nvSpPr>
            <p:cNvPr id="9" name="Rectangle 9"/>
            <p:cNvSpPr/>
            <p:nvPr/>
          </p:nvSpPr>
          <p:spPr>
            <a:xfrm>
              <a:off x="533400" y="1954530"/>
              <a:ext cx="5193982" cy="1428750"/>
            </a:xfrm>
            <a:prstGeom prst="roundRect">
              <a:avLst>
                <a:gd name="adj" fmla="val 9333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10" name="Rectangle 10"/>
            <p:cNvSpPr/>
            <p:nvPr/>
          </p:nvSpPr>
          <p:spPr>
            <a:xfrm>
              <a:off x="542925" y="2087880"/>
              <a:ext cx="47625" cy="1162050"/>
            </a:xfrm>
            <a:prstGeom prst="roundRect">
              <a:avLst>
                <a:gd name="adj" fmla="val 50000"/>
              </a:avLst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1" name="Rectangle 11"/>
            <p:cNvSpPr/>
            <p:nvPr/>
          </p:nvSpPr>
          <p:spPr>
            <a:xfrm>
              <a:off x="769620" y="2152650"/>
              <a:ext cx="476250" cy="247650"/>
            </a:xfrm>
            <a:prstGeom prst="roundRect">
              <a:avLst>
                <a:gd name="adj" fmla="val 50000"/>
              </a:avLst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861060" y="2186940"/>
              <a:ext cx="2933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定义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352931" y="2187416"/>
              <a:ext cx="77912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向前差分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4" name="formula209"/>
                <p:cNvSpPr txBox="1">
                  <a:spLocks noGrp="1"/>
                </p:cNvSpPr>
                <p:nvPr/>
              </p:nvSpPr>
              <p:spPr>
                <a:xfrm>
                  <a:off x="769620" y="2507932"/>
                  <a:ext cx="4759642" cy="3810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lIns="0" tIns="0" rIns="0" bIns="0" wrap="none" anchor="ctr">
                  <a:normAutofit/>
                </a:bodyPr>
                <a:lstStyle/>
                <a:p>
                  <a:pPr algn="ctr"/>
                  <a14:m>
                    <m:oMathPara xmlns:a="http://schemas.openxmlformats.org/drawingml/2006/main" xmlns:m="http://schemas.openxmlformats.org/officeDocument/2006/math">
                      <m:oMathParaPr>
                        <m:jc m:val="center"/>
                      </m:oMathParaPr>
                      <m:oMath>
                        <m:r>
                          <m:rPr>
                            <m:sty m:val="p"/>
                          </m:rPr>
                          <a:rPr lang="zh-CN" sz="150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Δ</m:t>
                        </m:r>
                        <m:sSub>
                          <m:e>
                            <m:r>
                              <a:rPr lang="zh-CN" sz="15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f</m:t>
                            </m:r>
                          </m:e>
                          <m:sub>
                            <m:r>
                              <a:rPr lang="zh-CN" sz="15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k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a:rPr lang="zh-CN" sz="150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=</m:t>
                        </m:r>
                        <m:sSub>
                          <m:e>
                            <m:r>
                              <a:rPr lang="zh-CN" sz="15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f</m:t>
                            </m:r>
                          </m:e>
                          <m:sub>
                            <m:r>
                              <a:rPr lang="zh-CN" sz="15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k</m:t>
                            </m:r>
                            <m:r>
                              <m:rPr>
                                <m:sty m:val="p"/>
                              </m:rPr>
                              <a:rPr lang="zh-CN" sz="15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+</m:t>
                            </m:r>
                            <m:r>
                              <a:rPr lang="zh-CN" sz="15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1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a:rPr lang="zh-CN" sz="150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−</m:t>
                        </m:r>
                        <m:sSub>
                          <m:e>
                            <m:r>
                              <a:rPr lang="zh-CN" sz="15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f</m:t>
                            </m:r>
                          </m:e>
                          <m:sub>
                            <m:r>
                              <a:rPr lang="zh-CN" sz="15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k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a:rPr lang="zh-CN" sz="150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,</m:t>
                        </m:r>
                        <m:r>
                          <a:rPr lang="zh-CN" sz="150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 xml:space="preserve">  </m:t>
                        </m:r>
                        <m:sSup>
                          <m:e>
                            <m:r>
                              <m:rPr>
                                <m:sty m:val="p"/>
                              </m:rPr>
                              <a:rPr lang="zh-CN" sz="15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Δ</m:t>
                            </m:r>
                          </m:e>
                          <m:sup>
                            <m:r>
                              <a:rPr lang="zh-CN" sz="15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m</m:t>
                            </m:r>
                          </m:sup>
                        </m:sSup>
                        <m:sSub>
                          <m:e>
                            <m:r>
                              <a:rPr lang="zh-CN" sz="15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f</m:t>
                            </m:r>
                          </m:e>
                          <m:sub>
                            <m:r>
                              <a:rPr lang="zh-CN" sz="15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k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a:rPr lang="zh-CN" sz="150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=</m:t>
                        </m:r>
                        <m:sSup>
                          <m:e>
                            <m:r>
                              <m:rPr>
                                <m:sty m:val="p"/>
                              </m:rPr>
                              <a:rPr lang="zh-CN" sz="15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Δ</m:t>
                            </m:r>
                          </m:e>
                          <m:sup>
                            <m:r>
                              <a:rPr lang="zh-CN" sz="15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m</m:t>
                            </m:r>
                            <m:r>
                              <m:rPr>
                                <m:sty m:val="p"/>
                              </m:rPr>
                              <a:rPr lang="zh-CN" sz="15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−</m:t>
                            </m:r>
                            <m:r>
                              <a:rPr lang="zh-CN" sz="15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1</m:t>
                            </m:r>
                          </m:sup>
                        </m:sSup>
                        <m:sSub>
                          <m:e>
                            <m:r>
                              <a:rPr lang="zh-CN" sz="15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f</m:t>
                            </m:r>
                          </m:e>
                          <m:sub>
                            <m:r>
                              <a:rPr lang="zh-CN" sz="15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k</m:t>
                            </m:r>
                            <m:r>
                              <m:rPr>
                                <m:sty m:val="p"/>
                              </m:rPr>
                              <a:rPr lang="zh-CN" sz="15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+</m:t>
                            </m:r>
                            <m:r>
                              <a:rPr lang="zh-CN" sz="15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1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a:rPr lang="zh-CN" sz="150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−</m:t>
                        </m:r>
                        <m:sSup>
                          <m:e>
                            <m:r>
                              <m:rPr>
                                <m:sty m:val="p"/>
                              </m:rPr>
                              <a:rPr lang="zh-CN" sz="15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Δ</m:t>
                            </m:r>
                          </m:e>
                          <m:sup>
                            <m:r>
                              <a:rPr lang="zh-CN" sz="15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m</m:t>
                            </m:r>
                            <m:r>
                              <m:rPr>
                                <m:sty m:val="p"/>
                              </m:rPr>
                              <a:rPr lang="zh-CN" sz="15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−</m:t>
                            </m:r>
                            <m:r>
                              <a:rPr lang="zh-CN" sz="15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1</m:t>
                            </m:r>
                          </m:sup>
                        </m:sSup>
                        <m:sSub>
                          <m:e>
                            <m:r>
                              <a:rPr lang="zh-CN" sz="15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f</m:t>
                            </m:r>
                          </m:e>
                          <m:sub>
                            <m:r>
                              <a:rPr lang="zh-CN" sz="15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k</m:t>
                            </m:r>
                          </m:sub>
                        </m:sSub>
                      </m:oMath>
                    </m:oMathPara>
                  </a14:m>
                </a:p>
              </p:txBody>
            </p:sp>
          </mc:Choice>
        </mc:AlternateContent>
        <p:sp>
          <p:nvSpPr>
            <p:cNvPr id="15" name="TextBox 15"/>
            <p:cNvSpPr txBox="1"/>
            <p:nvPr/>
          </p:nvSpPr>
          <p:spPr>
            <a:xfrm>
              <a:off x="763524" y="2998470"/>
              <a:ext cx="477774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一阶差分是相邻函数值之差，m 阶差分是对 m−1 阶差分再做差分。</a:t>
              </a:r>
            </a:p>
          </p:txBody>
        </p:sp>
      </p:grpSp>
      <p:grpSp>
        <p:nvGrpSpPr>
          <p:cNvPr id="27" name="c1-card-2"/>
          <p:cNvGrpSpPr/>
          <p:nvPr/>
        </p:nvGrpSpPr>
        <p:grpSpPr>
          <a:xfrm>
            <a:off x="533400" y="3564255"/>
            <a:ext cx="5193982" cy="2477452"/>
            <a:chOff x="533400" y="3564255"/>
            <a:chExt cx="5193982" cy="2477452"/>
          </a:xfrm>
        </p:grpSpPr>
        <p:sp>
          <p:nvSpPr>
            <p:cNvPr id="17" name="Rectangle 17"/>
            <p:cNvSpPr/>
            <p:nvPr/>
          </p:nvSpPr>
          <p:spPr>
            <a:xfrm>
              <a:off x="533400" y="3564255"/>
              <a:ext cx="5193982" cy="2477452"/>
            </a:xfrm>
            <a:prstGeom prst="roundRect">
              <a:avLst>
                <a:gd name="adj" fmla="val 5383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542925" y="3697605"/>
              <a:ext cx="47625" cy="2210752"/>
            </a:xfrm>
            <a:prstGeom prst="roundRect">
              <a:avLst>
                <a:gd name="adj" fmla="val 50000"/>
              </a:avLst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19" name="Rectangle 19"/>
            <p:cNvSpPr/>
            <p:nvPr/>
          </p:nvSpPr>
          <p:spPr>
            <a:xfrm>
              <a:off x="769620" y="3762375"/>
              <a:ext cx="1276350" cy="247650"/>
            </a:xfrm>
            <a:prstGeom prst="roundRect">
              <a:avLst>
                <a:gd name="adj" fmla="val 50000"/>
              </a:avLst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837057" y="3796665"/>
              <a:ext cx="1141476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差商与差分的关系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1" name="formula210"/>
                <p:cNvSpPr txBox="1">
                  <a:spLocks noGrp="1"/>
                </p:cNvSpPr>
                <p:nvPr/>
              </p:nvSpPr>
              <p:spPr>
                <a:xfrm>
                  <a:off x="769620" y="4099560"/>
                  <a:ext cx="4759642" cy="540068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lIns="0" tIns="0" rIns="0" bIns="0" wrap="none" anchor="ctr">
                  <a:normAutofit/>
                </a:bodyPr>
                <a:lstStyle/>
                <a:p>
                  <a:pPr algn="ctr"/>
                  <a14:m>
                    <m:oMathPara xmlns:a="http://schemas.openxmlformats.org/drawingml/2006/main" xmlns:m="http://schemas.openxmlformats.org/officeDocument/2006/math">
                      <m:oMathParaPr>
                        <m:jc m:val="center"/>
                      </m:oMathParaPr>
                      <m:oMath>
                        <m:r>
                          <a:rPr lang="zh-CN" sz="158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f</m:t>
                        </m:r>
                        <m:d>
                          <m:dPr>
                            <m:begChr m:val="["/>
                            <m:sepChr m:val=""/>
                            <m:endChr m:val="]"/>
                            <m:grow m:val="on"/>
                            <m:ctrlPr>
                              <a:rPr lang="zh-CN" sz="15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sSub>
                              <m:e>
                                <m:r>
                                  <a:rPr lang="zh-CN" sz="15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x</m:t>
                                </m:r>
                              </m:e>
                              <m:sub>
                                <m:r>
                                  <a:rPr lang="zh-CN" sz="15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k</m:t>
                                </m:r>
                              </m:sub>
                            </m:sSub>
                            <m:r>
                              <m:rPr>
                                <m:sty m:val="p"/>
                              </m:rPr>
                              <a:rPr lang="zh-CN" sz="15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,</m:t>
                            </m:r>
                            <m:sSub>
                              <m:e>
                                <m:r>
                                  <a:rPr lang="zh-CN" sz="15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x</m:t>
                                </m:r>
                              </m:e>
                              <m:sub>
                                <m:r>
                                  <a:rPr lang="zh-CN" sz="15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k</m:t>
                                </m:r>
                                <m:r>
                                  <m:rPr>
                                    <m:sty m:val="p"/>
                                  </m:rPr>
                                  <a:rPr lang="zh-CN" sz="15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+</m:t>
                                </m:r>
                                <m:r>
                                  <a:rPr lang="zh-CN" sz="15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1</m:t>
                                </m:r>
                              </m:sub>
                            </m:sSub>
                            <m:r>
                              <m:rPr>
                                <m:sty m:val="p"/>
                              </m:rPr>
                              <a:rPr lang="zh-CN" sz="15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,…,</m:t>
                            </m:r>
                            <m:sSub>
                              <m:e>
                                <m:r>
                                  <a:rPr lang="zh-CN" sz="15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x</m:t>
                                </m:r>
                              </m:e>
                              <m:sub>
                                <m:r>
                                  <a:rPr lang="zh-CN" sz="15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k</m:t>
                                </m:r>
                                <m:r>
                                  <m:rPr>
                                    <m:sty m:val="p"/>
                                  </m:rPr>
                                  <a:rPr lang="zh-CN" sz="15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+</m:t>
                                </m:r>
                                <m:r>
                                  <a:rPr lang="zh-CN" sz="15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m</m:t>
                                </m:r>
                              </m:sub>
                            </m:sSub>
                          </m:e>
                        </m:d>
                        <m:r>
                          <m:rPr>
                            <m:sty m:val="p"/>
                          </m:rPr>
                          <a:rPr lang="zh-CN" sz="158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=</m:t>
                        </m:r>
                        <m:f>
                          <m:fPr>
                            <m:type m:val="bar"/>
                            <m:ctrlPr>
                              <a:rPr lang="zh-CN" sz="15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fPr>
                          <m:num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a:rPr lang="zh-CN" sz="15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Δ</m:t>
                                </m:r>
                              </m:e>
                              <m:sup>
                                <m:r>
                                  <a:rPr lang="zh-CN" sz="15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m</m:t>
                                </m:r>
                              </m:sup>
                            </m:sSup>
                            <m:sSub>
                              <m:e>
                                <m:r>
                                  <a:rPr lang="zh-CN" sz="15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f</m:t>
                                </m:r>
                              </m:e>
                              <m:sub>
                                <m:r>
                                  <a:rPr lang="zh-CN" sz="15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k</m:t>
                                </m:r>
                              </m:sub>
                            </m:sSub>
                          </m:num>
                          <m:den>
                            <m:r>
                              <a:rPr lang="zh-CN" sz="15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m</m:t>
                            </m:r>
                            <m:r>
                              <m:rPr>
                                <m:sty m:val="p"/>
                              </m:rPr>
                              <a:rPr lang="zh-CN" sz="15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!</m:t>
                            </m:r>
                            <m:r>
                              <a:rPr lang="zh-CN" sz="15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 xml:space="preserve"> </m:t>
                            </m:r>
                            <m:sSup>
                              <m:e>
                                <m:r>
                                  <a:rPr lang="zh-CN" sz="15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h</m:t>
                                </m:r>
                              </m:e>
                              <m:sup>
                                <m:r>
                                  <a:rPr lang="zh-CN" sz="15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m</m:t>
                                </m:r>
                              </m:sup>
                            </m:sSup>
                          </m:den>
                        </m:f>
                      </m:oMath>
                    </m:oMathPara>
                  </a14:m>
                </a:p>
              </p:txBody>
            </p:sp>
          </mc:Choice>
        </mc:AlternateContent>
        <p:sp>
          <p:nvSpPr>
            <p:cNvPr id="22" name="Ellipse 22"/>
            <p:cNvSpPr/>
            <p:nvPr/>
          </p:nvSpPr>
          <p:spPr>
            <a:xfrm>
              <a:off x="777240" y="4812030"/>
              <a:ext cx="60960" cy="6096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933831" y="4752499"/>
              <a:ext cx="4040328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m = 1：f[xₖ, xₖ₊₁] = (fₖ₊₁ − fₖ)/h = Δfₖ/h</a:t>
              </a:r>
            </a:p>
          </p:txBody>
        </p:sp>
        <p:sp>
          <p:nvSpPr>
            <p:cNvPr id="24" name="Ellipse 24"/>
            <p:cNvSpPr/>
            <p:nvPr/>
          </p:nvSpPr>
          <p:spPr>
            <a:xfrm>
              <a:off x="777240" y="5130165"/>
              <a:ext cx="60960" cy="6096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933831" y="5069681"/>
              <a:ext cx="3386836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m = 2：f[xₖ, xₖ₊₁, xₖ₊₂] = (Δfₖ₊₁/h −</a:t>
              </a:r>
              <a:br/>
              <a:r>
                <a:rPr lang="el-GR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Δfₖ/h)/(2h) = Δ²fₖ/(2h²)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763524" y="5655945"/>
              <a:ext cx="178917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一般情形用归纳法证明。</a:t>
              </a:r>
            </a:p>
          </p:txBody>
        </p:sp>
      </p:grpSp>
      <p:grpSp>
        <p:nvGrpSpPr>
          <p:cNvPr id="37" name="c2-steps-1"/>
          <p:cNvGrpSpPr/>
          <p:nvPr/>
        </p:nvGrpSpPr>
        <p:grpSpPr>
          <a:xfrm>
            <a:off x="6032182" y="1964055"/>
            <a:ext cx="5279136" cy="1386269"/>
            <a:chOff x="6032182" y="1964055"/>
            <a:chExt cx="5279136" cy="1386269"/>
          </a:xfrm>
        </p:grpSpPr>
        <p:sp>
          <p:nvSpPr>
            <p:cNvPr id="28" name="Rectangle 28"/>
            <p:cNvSpPr/>
            <p:nvPr/>
          </p:nvSpPr>
          <p:spPr>
            <a:xfrm>
              <a:off x="6165532" y="2106930"/>
              <a:ext cx="19050" cy="61722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9" name="Ellipse 29"/>
            <p:cNvSpPr/>
            <p:nvPr/>
          </p:nvSpPr>
          <p:spPr>
            <a:xfrm>
              <a:off x="6032182" y="1964055"/>
              <a:ext cx="285750" cy="28575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6125806" y="203787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31" name="Ellipse 31"/>
            <p:cNvSpPr/>
            <p:nvPr/>
          </p:nvSpPr>
          <p:spPr>
            <a:xfrm>
              <a:off x="6032182" y="2581275"/>
              <a:ext cx="285750" cy="28575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6125806" y="265509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6444044" y="1996916"/>
              <a:ext cx="396799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换元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6445186" y="2277428"/>
              <a:ext cx="263728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令 x = x₀ + th，则 x − xⱼ = (t − j)h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6444044" y="2614136"/>
              <a:ext cx="1609829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代入 Newton 公式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6445186" y="2894648"/>
              <a:ext cx="4866132" cy="4556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40"/>
                </a:lnSpc>
              </a:pPr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第 k 项 f[x₀, …, xₖ](x − x₀)⋯(x − xₖ₋₁) = Δᵏf₀/(k! hᵏ) · t(t − 1)⋯</a:t>
              </a:r>
              <a:br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(t − k + 1)hᵏ，hᵏ 约掉</a:t>
              </a:r>
            </a:p>
          </p:txBody>
        </p:sp>
      </p:grpSp>
      <p:grpSp>
        <p:nvGrpSpPr>
          <p:cNvPr id="44" name="c2-card-2"/>
          <p:cNvGrpSpPr/>
          <p:nvPr/>
        </p:nvGrpSpPr>
        <p:grpSpPr>
          <a:xfrm>
            <a:off x="6032182" y="3521392"/>
            <a:ext cx="5626418" cy="2520315"/>
            <a:chOff x="6032182" y="3521392"/>
            <a:chExt cx="5626418" cy="2520315"/>
          </a:xfrm>
        </p:grpSpPr>
        <p:sp>
          <p:nvSpPr>
            <p:cNvPr id="38" name="Rectangle 38"/>
            <p:cNvSpPr/>
            <p:nvPr/>
          </p:nvSpPr>
          <p:spPr>
            <a:xfrm>
              <a:off x="6032182" y="3521392"/>
              <a:ext cx="5626418" cy="2520315"/>
            </a:xfrm>
            <a:prstGeom prst="roundRect">
              <a:avLst>
                <a:gd name="adj" fmla="val 5291"/>
              </a:avLst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39" name="Rectangle 39"/>
            <p:cNvSpPr/>
            <p:nvPr/>
          </p:nvSpPr>
          <p:spPr>
            <a:xfrm>
              <a:off x="6230302" y="3719512"/>
              <a:ext cx="1275398" cy="247650"/>
            </a:xfrm>
            <a:prstGeom prst="roundRect">
              <a:avLst>
                <a:gd name="adj" fmla="val 50000"/>
              </a:avLst>
            </a:prstGeom>
            <a:solidFill>
              <a:srgbClr val="23613D"/>
            </a:solidFill>
            <a:ln>
              <a:noFill/>
            </a:ln>
          </p:spPr>
        </p:sp>
        <p:sp>
          <p:nvSpPr>
            <p:cNvPr id="40" name="TextBox 40"/>
            <p:cNvSpPr txBox="1"/>
            <p:nvPr/>
          </p:nvSpPr>
          <p:spPr>
            <a:xfrm>
              <a:off x="6294833" y="3753802"/>
              <a:ext cx="114538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Newton 前插公式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41" name="formula211"/>
                <p:cNvSpPr txBox="1">
                  <a:spLocks noGrp="1"/>
                </p:cNvSpPr>
                <p:nvPr/>
              </p:nvSpPr>
              <p:spPr>
                <a:xfrm>
                  <a:off x="6230302" y="4056698"/>
                  <a:ext cx="5230178" cy="41148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lIns="0" tIns="0" rIns="0" bIns="0" wrap="none" anchor="ctr">
                  <a:normAutofit/>
                </a:bodyPr>
                <a:lstStyle/>
                <a:p>
                  <a:pPr algn="ctr"/>
                  <a14:m>
                    <m:oMathPara xmlns:a="http://schemas.openxmlformats.org/drawingml/2006/main" xmlns:m="http://schemas.openxmlformats.org/officeDocument/2006/math">
                      <m:oMathParaPr>
                        <m:jc m:val="center"/>
                      </m:oMathParaPr>
                      <m:oMath>
                        <m:sSub>
                          <m:e>
                            <m:r>
                              <a:rPr lang="zh-CN" sz="120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N</m:t>
                            </m:r>
                          </m:e>
                          <m:sub>
                            <m:r>
                              <a:rPr lang="zh-CN" sz="120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n</m:t>
                            </m:r>
                          </m:sub>
                        </m:sSub>
                        <m:d>
                          <m:dPr>
                            <m:begChr m:val="("/>
                            <m:sepChr m:val=""/>
                            <m:endChr m:val=")"/>
                            <m:grow m:val="on"/>
                            <m:ctrlPr>
                              <a:rPr lang="zh-CN" sz="120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sSub>
                              <m:e>
                                <m:r>
                                  <a:rPr lang="zh-CN" sz="1200" dirty="0">
                                    <a:solidFill>
                                      <a:srgbClr val="FFFF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x</m:t>
                                </m:r>
                              </m:e>
                              <m:sub>
                                <m:r>
                                  <a:rPr lang="zh-CN" sz="1200" dirty="0">
                                    <a:solidFill>
                                      <a:srgbClr val="FFFF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0</m:t>
                                </m:r>
                              </m:sub>
                            </m:sSub>
                            <m:r>
                              <m:rPr>
                                <m:sty m:val="p"/>
                              </m:rPr>
                              <a:rPr lang="zh-CN" sz="120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+</m:t>
                            </m:r>
                            <m:r>
                              <a:rPr lang="zh-CN" sz="120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th</m:t>
                            </m:r>
                          </m:e>
                        </m:d>
                        <m:r>
                          <m:rPr>
                            <m:sty m:val="p"/>
                          </m:rPr>
                          <a:rPr lang="zh-CN" sz="1200" dirty="0">
                            <a:solidFill>
                              <a:srgbClr val="FFFFFF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=</m:t>
                        </m:r>
                        <m:sSub>
                          <m:e>
                            <m:r>
                              <a:rPr lang="zh-CN" sz="120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f</m:t>
                            </m:r>
                          </m:e>
                          <m:sub>
                            <m:r>
                              <a:rPr lang="zh-CN" sz="120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0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a:rPr lang="zh-CN" sz="1200" dirty="0">
                            <a:solidFill>
                              <a:srgbClr val="FFFFFF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+</m:t>
                        </m:r>
                        <m:r>
                          <a:rPr lang="zh-CN" sz="1200" dirty="0">
                            <a:solidFill>
                              <a:srgbClr val="FFFFFF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t</m:t>
                        </m:r>
                        <m:r>
                          <a:rPr lang="zh-CN" sz="1200" dirty="0">
                            <a:solidFill>
                              <a:srgbClr val="FFFFFF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 xml:space="preserve"> </m:t>
                        </m:r>
                        <m:r>
                          <m:rPr>
                            <m:sty m:val="p"/>
                          </m:rPr>
                          <a:rPr lang="zh-CN" sz="1200" dirty="0">
                            <a:solidFill>
                              <a:srgbClr val="FFFFFF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Δ</m:t>
                        </m:r>
                        <m:sSub>
                          <m:e>
                            <m:r>
                              <a:rPr lang="zh-CN" sz="120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f</m:t>
                            </m:r>
                          </m:e>
                          <m:sub>
                            <m:r>
                              <a:rPr lang="zh-CN" sz="120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0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a:rPr lang="zh-CN" sz="1200" dirty="0">
                            <a:solidFill>
                              <a:srgbClr val="FFFFFF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+</m:t>
                        </m:r>
                        <m:f>
                          <m:fPr>
                            <m:type m:val="bar"/>
                            <m:ctrlPr>
                              <a:rPr lang="zh-CN" sz="120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fPr>
                          <m:num>
                            <m:r>
                              <a:rPr lang="zh-CN" sz="120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t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 m:val="on"/>
                                <m:ctrlPr>
                                  <a:rPr lang="zh-CN" sz="1200" dirty="0">
                                    <a:solidFill>
                                      <a:srgbClr val="FFFF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</m:ctrlPr>
                              </m:dPr>
                              <m:e>
                                <m:r>
                                  <a:rPr lang="zh-CN" sz="1200" dirty="0">
                                    <a:solidFill>
                                      <a:srgbClr val="FFFF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t</m:t>
                                </m:r>
                                <m:r>
                                  <m:rPr>
                                    <m:sty m:val="p"/>
                                  </m:rPr>
                                  <a:rPr lang="zh-CN" sz="1200" dirty="0">
                                    <a:solidFill>
                                      <a:srgbClr val="FFFF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−</m:t>
                                </m:r>
                                <m:r>
                                  <a:rPr lang="zh-CN" sz="1200" dirty="0">
                                    <a:solidFill>
                                      <a:srgbClr val="FFFF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1</m:t>
                                </m:r>
                              </m:e>
                            </m:d>
                          </m:num>
                          <m:den>
                            <m:r>
                              <a:rPr lang="zh-CN" sz="120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2</m:t>
                            </m:r>
                            <m:r>
                              <m:rPr>
                                <m:sty m:val="p"/>
                              </m:rPr>
                              <a:rPr lang="zh-CN" sz="120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!</m:t>
                            </m:r>
                          </m:den>
                        </m:f>
                        <m:sSup>
                          <m:e>
                            <m:r>
                              <m:rPr>
                                <m:sty m:val="p"/>
                              </m:rPr>
                              <a:rPr lang="zh-CN" sz="120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Δ</m:t>
                            </m:r>
                          </m:e>
                          <m:sup>
                            <m:r>
                              <a:rPr lang="zh-CN" sz="120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2</m:t>
                            </m:r>
                          </m:sup>
                        </m:sSup>
                        <m:sSub>
                          <m:e>
                            <m:r>
                              <a:rPr lang="zh-CN" sz="120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f</m:t>
                            </m:r>
                          </m:e>
                          <m:sub>
                            <m:r>
                              <a:rPr lang="zh-CN" sz="120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0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a:rPr lang="zh-CN" sz="1200" dirty="0">
                            <a:solidFill>
                              <a:srgbClr val="FFFFFF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+⋯+</m:t>
                        </m:r>
                        <m:f>
                          <m:fPr>
                            <m:type m:val="bar"/>
                            <m:ctrlPr>
                              <a:rPr lang="zh-CN" sz="120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fPr>
                          <m:num>
                            <m:r>
                              <a:rPr lang="zh-CN" sz="120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t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 m:val="on"/>
                                <m:ctrlPr>
                                  <a:rPr lang="zh-CN" sz="1200" dirty="0">
                                    <a:solidFill>
                                      <a:srgbClr val="FFFF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</m:ctrlPr>
                              </m:dPr>
                              <m:e>
                                <m:r>
                                  <a:rPr lang="zh-CN" sz="1200" dirty="0">
                                    <a:solidFill>
                                      <a:srgbClr val="FFFF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t</m:t>
                                </m:r>
                                <m:r>
                                  <m:rPr>
                                    <m:sty m:val="p"/>
                                  </m:rPr>
                                  <a:rPr lang="zh-CN" sz="1200" dirty="0">
                                    <a:solidFill>
                                      <a:srgbClr val="FFFF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−</m:t>
                                </m:r>
                                <m:r>
                                  <a:rPr lang="zh-CN" sz="1200" dirty="0">
                                    <a:solidFill>
                                      <a:srgbClr val="FFFF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1</m:t>
                                </m:r>
                              </m:e>
                            </m:d>
                            <m:r>
                              <m:rPr>
                                <m:sty m:val="p"/>
                              </m:rPr>
                              <a:rPr lang="zh-CN" sz="120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⋯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 m:val="on"/>
                                <m:ctrlPr>
                                  <a:rPr lang="zh-CN" sz="1200" dirty="0">
                                    <a:solidFill>
                                      <a:srgbClr val="FFFF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</m:ctrlPr>
                              </m:dPr>
                              <m:e>
                                <m:r>
                                  <a:rPr lang="zh-CN" sz="1200" dirty="0">
                                    <a:solidFill>
                                      <a:srgbClr val="FFFF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t</m:t>
                                </m:r>
                                <m:r>
                                  <m:rPr>
                                    <m:sty m:val="p"/>
                                  </m:rPr>
                                  <a:rPr lang="zh-CN" sz="1200" dirty="0">
                                    <a:solidFill>
                                      <a:srgbClr val="FFFF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−</m:t>
                                </m:r>
                                <m:r>
                                  <a:rPr lang="zh-CN" sz="1200" dirty="0">
                                    <a:solidFill>
                                      <a:srgbClr val="FFFF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n</m:t>
                                </m:r>
                                <m:r>
                                  <m:rPr>
                                    <m:sty m:val="p"/>
                                  </m:rPr>
                                  <a:rPr lang="zh-CN" sz="1200" dirty="0">
                                    <a:solidFill>
                                      <a:srgbClr val="FFFF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+</m:t>
                                </m:r>
                                <m:r>
                                  <a:rPr lang="zh-CN" sz="1200" dirty="0">
                                    <a:solidFill>
                                      <a:srgbClr val="FFFF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1</m:t>
                                </m:r>
                              </m:e>
                            </m:d>
                          </m:num>
                          <m:den>
                            <m:r>
                              <a:rPr lang="zh-CN" sz="120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n</m:t>
                            </m:r>
                            <m:r>
                              <m:rPr>
                                <m:sty m:val="p"/>
                              </m:rPr>
                              <a:rPr lang="zh-CN" sz="120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!</m:t>
                            </m:r>
                          </m:den>
                        </m:f>
                        <m:sSup>
                          <m:e>
                            <m:r>
                              <m:rPr>
                                <m:sty m:val="p"/>
                              </m:rPr>
                              <a:rPr lang="zh-CN" sz="120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Δ</m:t>
                            </m:r>
                          </m:e>
                          <m:sup>
                            <m:r>
                              <a:rPr lang="zh-CN" sz="120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n</m:t>
                            </m:r>
                          </m:sup>
                        </m:sSup>
                        <m:sSub>
                          <m:e>
                            <m:r>
                              <a:rPr lang="zh-CN" sz="120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f</m:t>
                            </m:r>
                          </m:e>
                          <m:sub>
                            <m:r>
                              <a:rPr lang="zh-CN" sz="120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</a:p>
              </p:txBody>
            </p:sp>
          </mc:Choice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42" name="formula212"/>
                <p:cNvSpPr txBox="1">
                  <a:spLocks noGrp="1"/>
                </p:cNvSpPr>
                <p:nvPr/>
              </p:nvSpPr>
              <p:spPr>
                <a:xfrm>
                  <a:off x="6230302" y="4557712"/>
                  <a:ext cx="5230178" cy="488632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lIns="0" tIns="0" rIns="0" bIns="0" wrap="none" anchor="ctr">
                  <a:normAutofit/>
                </a:bodyPr>
                <a:lstStyle/>
                <a:p>
                  <a:pPr algn="ctr"/>
                  <a14:m>
                    <m:oMathPara xmlns:a="http://schemas.openxmlformats.org/drawingml/2006/main" xmlns:m="http://schemas.openxmlformats.org/officeDocument/2006/math">
                      <m:oMathParaPr>
                        <m:jc m:val="center"/>
                      </m:oMathParaPr>
                      <m:oMath>
                        <m:sSub>
                          <m:e>
                            <m:r>
                              <a:rPr lang="zh-CN" sz="142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R</m:t>
                            </m:r>
                          </m:e>
                          <m:sub>
                            <m:r>
                              <a:rPr lang="zh-CN" sz="142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n</m:t>
                            </m:r>
                          </m:sub>
                        </m:sSub>
                        <m:d>
                          <m:dPr>
                            <m:begChr m:val="("/>
                            <m:sepChr m:val=""/>
                            <m:endChr m:val=")"/>
                            <m:grow m:val="on"/>
                            <m:ctrlPr>
                              <a:rPr lang="zh-CN" sz="142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sSub>
                              <m:e>
                                <m:r>
                                  <a:rPr lang="zh-CN" sz="1420" dirty="0">
                                    <a:solidFill>
                                      <a:srgbClr val="FFFF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x</m:t>
                                </m:r>
                              </m:e>
                              <m:sub>
                                <m:r>
                                  <a:rPr lang="zh-CN" sz="1420" dirty="0">
                                    <a:solidFill>
                                      <a:srgbClr val="FFFF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0</m:t>
                                </m:r>
                              </m:sub>
                            </m:sSub>
                            <m:r>
                              <m:rPr>
                                <m:sty m:val="p"/>
                              </m:rPr>
                              <a:rPr lang="zh-CN" sz="142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+</m:t>
                            </m:r>
                            <m:r>
                              <a:rPr lang="zh-CN" sz="142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th</m:t>
                            </m:r>
                          </m:e>
                        </m:d>
                        <m:r>
                          <m:rPr>
                            <m:sty m:val="p"/>
                          </m:rPr>
                          <a:rPr lang="zh-CN" sz="1420" dirty="0">
                            <a:solidFill>
                              <a:srgbClr val="FFFFFF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=</m:t>
                        </m:r>
                        <m:f>
                          <m:fPr>
                            <m:type m:val="bar"/>
                            <m:ctrlPr>
                              <a:rPr lang="zh-CN" sz="142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fPr>
                          <m:num>
                            <m:r>
                              <a:rPr lang="zh-CN" sz="142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t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 m:val="on"/>
                                <m:ctrlPr>
                                  <a:rPr lang="zh-CN" sz="1420" dirty="0">
                                    <a:solidFill>
                                      <a:srgbClr val="FFFF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</m:ctrlPr>
                              </m:dPr>
                              <m:e>
                                <m:r>
                                  <a:rPr lang="zh-CN" sz="1420" dirty="0">
                                    <a:solidFill>
                                      <a:srgbClr val="FFFF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t</m:t>
                                </m:r>
                                <m:r>
                                  <m:rPr>
                                    <m:sty m:val="p"/>
                                  </m:rPr>
                                  <a:rPr lang="zh-CN" sz="1420" dirty="0">
                                    <a:solidFill>
                                      <a:srgbClr val="FFFF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−</m:t>
                                </m:r>
                                <m:r>
                                  <a:rPr lang="zh-CN" sz="1420" dirty="0">
                                    <a:solidFill>
                                      <a:srgbClr val="FFFF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1</m:t>
                                </m:r>
                              </m:e>
                            </m:d>
                            <m:r>
                              <m:rPr>
                                <m:sty m:val="p"/>
                              </m:rPr>
                              <a:rPr lang="zh-CN" sz="142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⋯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 m:val="on"/>
                                <m:ctrlPr>
                                  <a:rPr lang="zh-CN" sz="1420" dirty="0">
                                    <a:solidFill>
                                      <a:srgbClr val="FFFF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</m:ctrlPr>
                              </m:dPr>
                              <m:e>
                                <m:r>
                                  <a:rPr lang="zh-CN" sz="1420" dirty="0">
                                    <a:solidFill>
                                      <a:srgbClr val="FFFF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t</m:t>
                                </m:r>
                                <m:r>
                                  <m:rPr>
                                    <m:sty m:val="p"/>
                                  </m:rPr>
                                  <a:rPr lang="zh-CN" sz="1420" dirty="0">
                                    <a:solidFill>
                                      <a:srgbClr val="FFFF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−</m:t>
                                </m:r>
                                <m:r>
                                  <a:rPr lang="zh-CN" sz="1420" dirty="0">
                                    <a:solidFill>
                                      <a:srgbClr val="FFFF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n</m:t>
                                </m:r>
                              </m:e>
                            </m:d>
                          </m:num>
                          <m:den>
                            <m:d>
                              <m:dPr>
                                <m:begChr m:val="("/>
                                <m:sepChr m:val=""/>
                                <m:endChr m:val=")"/>
                                <m:grow m:val="on"/>
                                <m:ctrlPr>
                                  <a:rPr lang="zh-CN" sz="1420" dirty="0">
                                    <a:solidFill>
                                      <a:srgbClr val="FFFF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</m:ctrlPr>
                              </m:dPr>
                              <m:e>
                                <m:r>
                                  <a:rPr lang="zh-CN" sz="1420" dirty="0">
                                    <a:solidFill>
                                      <a:srgbClr val="FFFF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n</m:t>
                                </m:r>
                                <m:r>
                                  <m:rPr>
                                    <m:sty m:val="p"/>
                                  </m:rPr>
                                  <a:rPr lang="zh-CN" sz="1420" dirty="0">
                                    <a:solidFill>
                                      <a:srgbClr val="FFFF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+</m:t>
                                </m:r>
                                <m:r>
                                  <a:rPr lang="zh-CN" sz="1420" dirty="0">
                                    <a:solidFill>
                                      <a:srgbClr val="FFFF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1</m:t>
                                </m:r>
                              </m:e>
                            </m:d>
                            <m:r>
                              <m:rPr>
                                <m:sty m:val="p"/>
                              </m:rPr>
                              <a:rPr lang="zh-CN" sz="142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!</m:t>
                            </m:r>
                          </m:den>
                        </m:f>
                        <m:r>
                          <a:rPr lang="zh-CN" sz="1420" dirty="0">
                            <a:solidFill>
                              <a:srgbClr val="FFFFFF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 xml:space="preserve"> </m:t>
                        </m:r>
                        <m:sSup>
                          <m:e>
                            <m:r>
                              <a:rPr lang="zh-CN" sz="142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h</m:t>
                            </m:r>
                          </m:e>
                          <m:sup>
                            <m:r>
                              <a:rPr lang="zh-CN" sz="142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n</m:t>
                            </m:r>
                            <m:r>
                              <m:rPr>
                                <m:sty m:val="p"/>
                              </m:rPr>
                              <a:rPr lang="zh-CN" sz="142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+</m:t>
                            </m:r>
                            <m:r>
                              <a:rPr lang="zh-CN" sz="142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1</m:t>
                            </m:r>
                          </m:sup>
                        </m:sSup>
                        <m:sSup>
                          <m:e>
                            <m:r>
                              <a:rPr lang="zh-CN" sz="142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f</m:t>
                            </m:r>
                          </m:e>
                          <m:sup>
                            <m:d>
                              <m:dPr>
                                <m:begChr m:val="("/>
                                <m:sepChr m:val=""/>
                                <m:endChr m:val=")"/>
                                <m:grow m:val="on"/>
                                <m:ctrlPr>
                                  <a:rPr lang="zh-CN" sz="1420" dirty="0">
                                    <a:solidFill>
                                      <a:srgbClr val="FFFF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</m:ctrlPr>
                              </m:dPr>
                              <m:e>
                                <m:r>
                                  <a:rPr lang="zh-CN" sz="1420" dirty="0">
                                    <a:solidFill>
                                      <a:srgbClr val="FFFF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n</m:t>
                                </m:r>
                                <m:r>
                                  <m:rPr>
                                    <m:sty m:val="p"/>
                                  </m:rPr>
                                  <a:rPr lang="zh-CN" sz="1420" dirty="0">
                                    <a:solidFill>
                                      <a:srgbClr val="FFFF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+</m:t>
                                </m:r>
                                <m:r>
                                  <a:rPr lang="zh-CN" sz="1420" dirty="0">
                                    <a:solidFill>
                                      <a:srgbClr val="FFFF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1</m:t>
                                </m:r>
                              </m:e>
                            </m:d>
                          </m:sup>
                        </m:sSup>
                        <m:d>
                          <m:dPr>
                            <m:begChr m:val="("/>
                            <m:sepChr m:val=""/>
                            <m:endChr m:val=")"/>
                            <m:grow m:val="on"/>
                            <m:ctrlPr>
                              <a:rPr lang="zh-CN" sz="142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r>
                              <a:rPr lang="zh-CN" sz="142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ξ</m:t>
                            </m:r>
                          </m:e>
                        </m:d>
                      </m:oMath>
                    </m:oMathPara>
                  </a14:m>
                </a:p>
              </p:txBody>
            </p:sp>
          </mc:Choice>
        </mc:AlternateContent>
        <p:sp>
          <p:nvSpPr>
            <p:cNvPr id="43" name="TextBox 43"/>
            <p:cNvSpPr txBox="1"/>
            <p:nvPr/>
          </p:nvSpPr>
          <p:spPr>
            <a:xfrm>
              <a:off x="6224206" y="5155882"/>
              <a:ext cx="4881372" cy="4556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40"/>
                </a:lnSpc>
              </a:pPr>
              <a:r>
                <a:rPr lang="zh-CN" sz="12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系数只用到表头一行的各阶差分，适合计算表头附近（0 &lt; t &lt; 1）的函数</a:t>
              </a:r>
              <a:br/>
              <a:r>
                <a:rPr lang="zh-CN" sz="12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值。</a:t>
              </a:r>
            </a:p>
          </p:txBody>
        </p:sp>
      </p:grpSp>
      <p:grpSp>
        <p:nvGrpSpPr>
          <p:cNvPr id="47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45" name="TextBox 45"/>
            <p:cNvSpPr txBox="1"/>
            <p:nvPr/>
          </p:nvSpPr>
          <p:spPr>
            <a:xfrm>
              <a:off x="528447" y="6581299"/>
              <a:ext cx="225267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计算方法 · 第5章 函数插值与曲线拟合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40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8528120" cy="909257"/>
            <a:chOff x="520446" y="342900"/>
            <a:chExt cx="8528120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129790" cy="266700"/>
            </a:xfrm>
            <a:prstGeom prst="roundRect">
              <a:avLst>
                <a:gd name="adj" fmla="val 50000"/>
              </a:avLst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05008" y="407194"/>
              <a:ext cx="198657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第5章 函数插值 · 补充与练习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8528120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5.5* 例：由 eˣ 的等距函数表，用前插公式求 f(0.05)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E7D4F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55" name="c1-table-1"/>
          <p:cNvGrpSpPr/>
          <p:nvPr/>
        </p:nvGrpSpPr>
        <p:grpSpPr>
          <a:xfrm>
            <a:off x="528066" y="1524000"/>
            <a:ext cx="5415534" cy="3437191"/>
            <a:chOff x="528066" y="1524000"/>
            <a:chExt cx="5415534" cy="3437191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410200" cy="424815"/>
            </a:xfrm>
            <a:prstGeom prst="rect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915951" y="1652588"/>
              <a:ext cx="10548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x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778996" y="1652588"/>
              <a:ext cx="385359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f(x)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3004075" y="1652588"/>
              <a:ext cx="20405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l-GR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Δf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4091489" y="1652588"/>
              <a:ext cx="29998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l-GR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Δ²f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5225916" y="1652588"/>
              <a:ext cx="29998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l-GR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Δ³f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822659" y="2076450"/>
              <a:ext cx="292067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0.0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1413510" y="1958340"/>
              <a:ext cx="1115378" cy="405765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1699031" y="2076450"/>
              <a:ext cx="545287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1.0000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2548890" y="1958340"/>
              <a:ext cx="1115378" cy="405765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2833459" y="2076450"/>
              <a:ext cx="545287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0.1052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3683318" y="1958340"/>
              <a:ext cx="1115378" cy="405765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3968839" y="2076450"/>
              <a:ext cx="545287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0.0110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4818698" y="1958340"/>
              <a:ext cx="1115378" cy="405765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5103266" y="2076450"/>
              <a:ext cx="545287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0.0013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533400" y="2367915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3" name="Rectangle 23"/>
            <p:cNvSpPr/>
            <p:nvPr/>
          </p:nvSpPr>
          <p:spPr>
            <a:xfrm>
              <a:off x="533400" y="2372678"/>
              <a:ext cx="5410200" cy="424815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822659" y="2501265"/>
              <a:ext cx="292067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0.1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699031" y="2501265"/>
              <a:ext cx="545287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1.1052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2833459" y="2501265"/>
              <a:ext cx="545287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0.1162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3968839" y="2501265"/>
              <a:ext cx="545287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0.0123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5103266" y="2501265"/>
              <a:ext cx="545287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0.0011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533400" y="2792730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822659" y="2926080"/>
              <a:ext cx="292067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0.2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1699031" y="2926080"/>
              <a:ext cx="545287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1.2214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2833459" y="2926080"/>
              <a:ext cx="545287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0.1285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3968839" y="2926080"/>
              <a:ext cx="545287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0.0134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5103266" y="2926080"/>
              <a:ext cx="545287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0.0016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533400" y="3216592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6" name="Rectangle 36"/>
            <p:cNvSpPr/>
            <p:nvPr/>
          </p:nvSpPr>
          <p:spPr>
            <a:xfrm>
              <a:off x="533400" y="3221355"/>
              <a:ext cx="5410200" cy="424815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822659" y="3349942"/>
              <a:ext cx="292067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0.3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1699031" y="3349942"/>
              <a:ext cx="545287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1.3499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2833459" y="3349942"/>
              <a:ext cx="545287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0.1419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3968839" y="3349942"/>
              <a:ext cx="545287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0.0150</a:t>
              </a:r>
            </a:p>
          </p:txBody>
        </p:sp>
        <p:sp>
          <p:nvSpPr>
            <p:cNvPr id="41" name="Rectangle 41"/>
            <p:cNvSpPr/>
            <p:nvPr/>
          </p:nvSpPr>
          <p:spPr>
            <a:xfrm>
              <a:off x="533400" y="3641408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2" name="TextBox 42"/>
            <p:cNvSpPr txBox="1"/>
            <p:nvPr/>
          </p:nvSpPr>
          <p:spPr>
            <a:xfrm>
              <a:off x="822659" y="3774757"/>
              <a:ext cx="292067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0.4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1699031" y="3774757"/>
              <a:ext cx="545287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1.4918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2833459" y="3774757"/>
              <a:ext cx="545287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0.1569</a:t>
              </a:r>
            </a:p>
          </p:txBody>
        </p:sp>
        <p:sp>
          <p:nvSpPr>
            <p:cNvPr id="45" name="Rectangle 45"/>
            <p:cNvSpPr/>
            <p:nvPr/>
          </p:nvSpPr>
          <p:spPr>
            <a:xfrm>
              <a:off x="533400" y="4066222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6" name="Rectangle 46"/>
            <p:cNvSpPr/>
            <p:nvPr/>
          </p:nvSpPr>
          <p:spPr>
            <a:xfrm>
              <a:off x="533400" y="4070985"/>
              <a:ext cx="5410200" cy="424815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47" name="TextBox 47"/>
            <p:cNvSpPr txBox="1"/>
            <p:nvPr/>
          </p:nvSpPr>
          <p:spPr>
            <a:xfrm>
              <a:off x="822659" y="4198620"/>
              <a:ext cx="292067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0.5</a:t>
              </a: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1699031" y="4198620"/>
              <a:ext cx="545287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1.6487</a:t>
              </a:r>
            </a:p>
          </p:txBody>
        </p:sp>
        <p:sp>
          <p:nvSpPr>
            <p:cNvPr id="49" name="Rectangle 49"/>
            <p:cNvSpPr/>
            <p:nvPr/>
          </p:nvSpPr>
          <p:spPr>
            <a:xfrm>
              <a:off x="533400" y="1524000"/>
              <a:ext cx="5410200" cy="2970848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50" name="Rectangle 50"/>
            <p:cNvSpPr/>
            <p:nvPr/>
          </p:nvSpPr>
          <p:spPr>
            <a:xfrm>
              <a:off x="1399222" y="1524000"/>
              <a:ext cx="9525" cy="2970848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1" name="Rectangle 51"/>
            <p:cNvSpPr/>
            <p:nvPr/>
          </p:nvSpPr>
          <p:spPr>
            <a:xfrm>
              <a:off x="2534602" y="1524000"/>
              <a:ext cx="9525" cy="2970848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2" name="Rectangle 52"/>
            <p:cNvSpPr/>
            <p:nvPr/>
          </p:nvSpPr>
          <p:spPr>
            <a:xfrm>
              <a:off x="3669030" y="1524000"/>
              <a:ext cx="9525" cy="2970848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3" name="Rectangle 53"/>
            <p:cNvSpPr/>
            <p:nvPr/>
          </p:nvSpPr>
          <p:spPr>
            <a:xfrm>
              <a:off x="4804410" y="1524000"/>
              <a:ext cx="9525" cy="2970848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4" name="TextBox 54"/>
            <p:cNvSpPr txBox="1"/>
            <p:nvPr/>
          </p:nvSpPr>
          <p:spPr>
            <a:xfrm>
              <a:off x="528066" y="4569142"/>
              <a:ext cx="5104638" cy="39204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470"/>
                </a:lnSpc>
              </a:pPr>
              <a:r>
                <a:rPr lang="zh-CN" sz="10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数据取自习题 3（即 eˣ 的四位小数值），h = 0.1；每格 = 下一行左格 − 本行左格，橙</a:t>
              </a:r>
              <a:br/>
              <a:r>
                <a:rPr lang="zh-CN" sz="10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色为表头一行的各阶差分</a:t>
              </a:r>
            </a:p>
          </p:txBody>
        </p:sp>
      </p:grpSp>
      <p:grpSp>
        <p:nvGrpSpPr>
          <p:cNvPr id="62" name="c1-callout-2"/>
          <p:cNvGrpSpPr/>
          <p:nvPr/>
        </p:nvGrpSpPr>
        <p:grpSpPr>
          <a:xfrm>
            <a:off x="533400" y="5100638"/>
            <a:ext cx="5410200" cy="1018222"/>
            <a:chOff x="533400" y="5100638"/>
            <a:chExt cx="5410200" cy="1018222"/>
          </a:xfrm>
        </p:grpSpPr>
        <p:sp>
          <p:nvSpPr>
            <p:cNvPr id="56" name="Rectangle 56"/>
            <p:cNvSpPr/>
            <p:nvPr/>
          </p:nvSpPr>
          <p:spPr>
            <a:xfrm>
              <a:off x="533400" y="5100638"/>
              <a:ext cx="5410200" cy="1018222"/>
            </a:xfrm>
            <a:prstGeom prst="roundRect">
              <a:avLst>
                <a:gd name="adj" fmla="val 11225"/>
              </a:avLst>
            </a:prstGeom>
            <a:solidFill>
              <a:srgbClr val="FDECEA"/>
            </a:solidFill>
            <a:ln>
              <a:noFill/>
            </a:ln>
          </p:spPr>
        </p:sp>
        <p:grpSp>
          <p:nvGrpSpPr>
            <p:cNvPr id="60" name="Group 60"/>
            <p:cNvGrpSpPr/>
            <p:nvPr/>
          </p:nvGrpSpPr>
          <p:grpSpPr>
            <a:xfrm>
              <a:off x="726129" y="5506521"/>
              <a:ext cx="224134" cy="192560"/>
              <a:chOff x="726129" y="5506521"/>
              <a:chExt cx="224134" cy="192560"/>
            </a:xfrm>
          </p:grpSpPr>
          <p:sp>
            <p:nvSpPr>
              <p:cNvPr id="57" name="Freeform 57"/>
              <p:cNvSpPr/>
              <p:nvPr/>
            </p:nvSpPr>
            <p:spPr>
              <a:xfrm>
                <a:off x="838200" y="5576888"/>
                <a:ext cx="95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44450">
                    <a:moveTo>
                      <a:pt x="0" y="0"/>
                    </a:moveTo>
                    <a:lnTo>
                      <a:pt x="0" y="4445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58" name="Freeform 58"/>
              <p:cNvSpPr/>
              <p:nvPr/>
            </p:nvSpPr>
            <p:spPr>
              <a:xfrm>
                <a:off x="726129" y="5506521"/>
                <a:ext cx="224134" cy="192560"/>
              </a:xfrm>
              <a:custGeom>
                <a:avLst/>
                <a:gdLst/>
                <a:ahLst/>
                <a:cxnLst/>
                <a:rect l="l" t="t" r="r" b="b"/>
                <a:pathLst>
                  <a:path w="224134" h="192560">
                    <a:moveTo>
                      <a:pt x="93880" y="10259"/>
                    </a:moveTo>
                    <a:lnTo>
                      <a:pt x="3802" y="160656"/>
                    </a:lnTo>
                    <a:cubicBezTo>
                      <a:pt x="23" y="167200"/>
                      <a:pt x="0" y="175257"/>
                      <a:pt x="3741" y="181823"/>
                    </a:cubicBezTo>
                    <a:cubicBezTo>
                      <a:pt x="7482" y="188388"/>
                      <a:pt x="14426" y="192476"/>
                      <a:pt x="21982" y="192560"/>
                    </a:cubicBezTo>
                    <a:lnTo>
                      <a:pt x="202160" y="192560"/>
                    </a:lnTo>
                    <a:cubicBezTo>
                      <a:pt x="209713" y="192473"/>
                      <a:pt x="216653" y="188387"/>
                      <a:pt x="220393" y="181826"/>
                    </a:cubicBezTo>
                    <a:cubicBezTo>
                      <a:pt x="224134" y="175264"/>
                      <a:pt x="224114" y="167211"/>
                      <a:pt x="220341" y="160667"/>
                    </a:cubicBezTo>
                    <a:lnTo>
                      <a:pt x="130262" y="10248"/>
                    </a:lnTo>
                    <a:cubicBezTo>
                      <a:pt x="126408" y="3886"/>
                      <a:pt x="119510" y="0"/>
                      <a:pt x="112071" y="0"/>
                    </a:cubicBezTo>
                    <a:cubicBezTo>
                      <a:pt x="104633" y="0"/>
                      <a:pt x="97734" y="3886"/>
                      <a:pt x="93880" y="10248"/>
                    </a:cubicBez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59" name="Freeform 59"/>
              <p:cNvSpPr/>
              <p:nvPr/>
            </p:nvSpPr>
            <p:spPr>
              <a:xfrm>
                <a:off x="838200" y="5654676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</p:grpSp>
        <p:sp>
          <p:nvSpPr>
            <p:cNvPr id="61" name="TextBox 61"/>
            <p:cNvSpPr txBox="1"/>
            <p:nvPr/>
          </p:nvSpPr>
          <p:spPr>
            <a:xfrm>
              <a:off x="1040511" y="5247799"/>
              <a:ext cx="4432808" cy="80448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70"/>
                </a:lnSpc>
              </a:pPr>
              <a:r>
                <a:rPr lang="zh-CN" sz="142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三阶差分 0.0013、0.0011、0.0016 忽大忽小：函数值</a:t>
              </a:r>
              <a:br/>
              <a:r>
                <a:rPr lang="zh-CN" sz="142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只有 4 位小数，舍入误差可达 5×10⁻⁵，三阶差分最多</a:t>
              </a:r>
              <a:br/>
              <a:r>
                <a:rPr lang="zh-CN" sz="142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放大 8 倍，已和差分本身同量级。</a:t>
              </a:r>
            </a:p>
          </p:txBody>
        </p:sp>
      </p:grpSp>
      <p:grpSp>
        <p:nvGrpSpPr>
          <p:cNvPr id="64" name="c2-text-1"/>
          <p:cNvGrpSpPr/>
          <p:nvPr/>
        </p:nvGrpSpPr>
        <p:grpSpPr>
          <a:xfrm>
            <a:off x="6241161" y="1547336"/>
            <a:ext cx="5100066" cy="558736"/>
            <a:chOff x="6241161" y="1547336"/>
            <a:chExt cx="5100066" cy="558736"/>
          </a:xfrm>
        </p:grpSpPr>
        <p:sp>
          <p:nvSpPr>
            <p:cNvPr id="63" name="TextBox 63"/>
            <p:cNvSpPr txBox="1"/>
            <p:nvPr/>
          </p:nvSpPr>
          <p:spPr>
            <a:xfrm>
              <a:off x="6241161" y="1547336"/>
              <a:ext cx="5100066" cy="55873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05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0.05 在表头附近，用前插公式。t = (0.05 − 0)/0.1 = 0.5，逐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项加入：</a:t>
              </a:r>
            </a:p>
          </p:txBody>
        </p:sp>
      </p:grpSp>
      <p:grpSp>
        <p:nvGrpSpPr>
          <p:cNvPr id="91" name="c2-table-2"/>
          <p:cNvGrpSpPr/>
          <p:nvPr/>
        </p:nvGrpSpPr>
        <p:grpSpPr>
          <a:xfrm>
            <a:off x="6243066" y="2230755"/>
            <a:ext cx="5415534" cy="2191322"/>
            <a:chOff x="6243066" y="2230755"/>
            <a:chExt cx="5415534" cy="2191322"/>
          </a:xfrm>
        </p:grpSpPr>
        <p:sp>
          <p:nvSpPr>
            <p:cNvPr id="65" name="Rectangle 65"/>
            <p:cNvSpPr/>
            <p:nvPr/>
          </p:nvSpPr>
          <p:spPr>
            <a:xfrm>
              <a:off x="6248400" y="2230755"/>
              <a:ext cx="5410200" cy="424815"/>
            </a:xfrm>
            <a:prstGeom prst="rect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66" name="TextBox 66"/>
            <p:cNvSpPr txBox="1"/>
            <p:nvPr/>
          </p:nvSpPr>
          <p:spPr>
            <a:xfrm>
              <a:off x="6405562" y="2359342"/>
              <a:ext cx="33528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次数</a:t>
              </a:r>
            </a:p>
          </p:txBody>
        </p:sp>
        <p:sp>
          <p:nvSpPr>
            <p:cNvPr id="67" name="TextBox 67"/>
            <p:cNvSpPr txBox="1"/>
            <p:nvPr/>
          </p:nvSpPr>
          <p:spPr>
            <a:xfrm>
              <a:off x="7812786" y="2359342"/>
              <a:ext cx="65836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新增的项</a:t>
              </a:r>
            </a:p>
          </p:txBody>
        </p:sp>
        <p:sp>
          <p:nvSpPr>
            <p:cNvPr id="68" name="TextBox 68"/>
            <p:cNvSpPr txBox="1"/>
            <p:nvPr/>
          </p:nvSpPr>
          <p:spPr>
            <a:xfrm>
              <a:off x="9759315" y="2359342"/>
              <a:ext cx="33528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结果</a:t>
              </a:r>
            </a:p>
          </p:txBody>
        </p:sp>
        <p:sp>
          <p:nvSpPr>
            <p:cNvPr id="69" name="TextBox 69"/>
            <p:cNvSpPr txBox="1"/>
            <p:nvPr/>
          </p:nvSpPr>
          <p:spPr>
            <a:xfrm>
              <a:off x="10734103" y="2359342"/>
              <a:ext cx="65836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实际误差</a:t>
              </a:r>
            </a:p>
          </p:txBody>
        </p:sp>
        <p:sp>
          <p:nvSpPr>
            <p:cNvPr id="70" name="TextBox 70"/>
            <p:cNvSpPr txBox="1"/>
            <p:nvPr/>
          </p:nvSpPr>
          <p:spPr>
            <a:xfrm>
              <a:off x="6468534" y="2783205"/>
              <a:ext cx="209337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N₁</a:t>
              </a:r>
            </a:p>
          </p:txBody>
        </p:sp>
        <p:sp>
          <p:nvSpPr>
            <p:cNvPr id="71" name="TextBox 71"/>
            <p:cNvSpPr txBox="1"/>
            <p:nvPr/>
          </p:nvSpPr>
          <p:spPr>
            <a:xfrm>
              <a:off x="7000494" y="2783205"/>
              <a:ext cx="1272235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 + 0.5 × 0.1052</a:t>
              </a:r>
            </a:p>
          </p:txBody>
        </p:sp>
        <p:sp>
          <p:nvSpPr>
            <p:cNvPr id="72" name="TextBox 72"/>
            <p:cNvSpPr txBox="1"/>
            <p:nvPr/>
          </p:nvSpPr>
          <p:spPr>
            <a:xfrm>
              <a:off x="9565462" y="2783205"/>
              <a:ext cx="72298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1.052600</a:t>
              </a:r>
            </a:p>
          </p:txBody>
        </p:sp>
        <p:sp>
          <p:nvSpPr>
            <p:cNvPr id="73" name="TextBox 73"/>
            <p:cNvSpPr txBox="1"/>
            <p:nvPr/>
          </p:nvSpPr>
          <p:spPr>
            <a:xfrm>
              <a:off x="10612945" y="2783205"/>
              <a:ext cx="90068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−1.33×10⁻³</a:t>
              </a:r>
            </a:p>
          </p:txBody>
        </p:sp>
        <p:sp>
          <p:nvSpPr>
            <p:cNvPr id="74" name="Rectangle 74"/>
            <p:cNvSpPr/>
            <p:nvPr/>
          </p:nvSpPr>
          <p:spPr>
            <a:xfrm>
              <a:off x="6248400" y="3074670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75" name="Rectangle 75"/>
            <p:cNvSpPr/>
            <p:nvPr/>
          </p:nvSpPr>
          <p:spPr>
            <a:xfrm>
              <a:off x="6248400" y="3079432"/>
              <a:ext cx="5410200" cy="424815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76" name="TextBox 76"/>
            <p:cNvSpPr txBox="1"/>
            <p:nvPr/>
          </p:nvSpPr>
          <p:spPr>
            <a:xfrm>
              <a:off x="6468534" y="3208020"/>
              <a:ext cx="209337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N₂</a:t>
              </a:r>
            </a:p>
          </p:txBody>
        </p:sp>
        <p:sp>
          <p:nvSpPr>
            <p:cNvPr id="77" name="TextBox 77"/>
            <p:cNvSpPr txBox="1"/>
            <p:nvPr/>
          </p:nvSpPr>
          <p:spPr>
            <a:xfrm>
              <a:off x="7000494" y="3208020"/>
              <a:ext cx="189418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0.5 × (−0.5)/2 × 0.0110</a:t>
              </a:r>
            </a:p>
          </p:txBody>
        </p:sp>
        <p:sp>
          <p:nvSpPr>
            <p:cNvPr id="78" name="Rectangle 78"/>
            <p:cNvSpPr/>
            <p:nvPr/>
          </p:nvSpPr>
          <p:spPr>
            <a:xfrm>
              <a:off x="9395460" y="3088958"/>
              <a:ext cx="1062990" cy="405765"/>
            </a:xfrm>
            <a:prstGeom prst="rect">
              <a:avLst/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79" name="TextBox 79"/>
            <p:cNvSpPr txBox="1"/>
            <p:nvPr/>
          </p:nvSpPr>
          <p:spPr>
            <a:xfrm>
              <a:off x="9565462" y="3208020"/>
              <a:ext cx="72298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1.051225</a:t>
              </a:r>
            </a:p>
          </p:txBody>
        </p:sp>
        <p:sp>
          <p:nvSpPr>
            <p:cNvPr id="80" name="TextBox 80"/>
            <p:cNvSpPr txBox="1"/>
            <p:nvPr/>
          </p:nvSpPr>
          <p:spPr>
            <a:xfrm>
              <a:off x="10701795" y="3208020"/>
              <a:ext cx="72298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4.6×10⁻⁵</a:t>
              </a:r>
            </a:p>
          </p:txBody>
        </p:sp>
        <p:sp>
          <p:nvSpPr>
            <p:cNvPr id="81" name="Rectangle 81"/>
            <p:cNvSpPr/>
            <p:nvPr/>
          </p:nvSpPr>
          <p:spPr>
            <a:xfrm>
              <a:off x="6248400" y="3499485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82" name="TextBox 82"/>
            <p:cNvSpPr txBox="1"/>
            <p:nvPr/>
          </p:nvSpPr>
          <p:spPr>
            <a:xfrm>
              <a:off x="6468534" y="3739515"/>
              <a:ext cx="209337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N₃</a:t>
              </a:r>
            </a:p>
          </p:txBody>
        </p:sp>
        <p:sp>
          <p:nvSpPr>
            <p:cNvPr id="83" name="TextBox 83"/>
            <p:cNvSpPr txBox="1"/>
            <p:nvPr/>
          </p:nvSpPr>
          <p:spPr>
            <a:xfrm>
              <a:off x="7000494" y="3632835"/>
              <a:ext cx="1917192" cy="44805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680"/>
                </a:lnSpc>
              </a:pPr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0.5 × (−0.5) × (−1.5)/6 ×</a:t>
              </a:r>
              <a:br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0.0013</a:t>
              </a:r>
            </a:p>
          </p:txBody>
        </p:sp>
        <p:sp>
          <p:nvSpPr>
            <p:cNvPr id="84" name="TextBox 84"/>
            <p:cNvSpPr txBox="1"/>
            <p:nvPr/>
          </p:nvSpPr>
          <p:spPr>
            <a:xfrm>
              <a:off x="9565462" y="3739515"/>
              <a:ext cx="72298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1.051306</a:t>
              </a:r>
            </a:p>
          </p:txBody>
        </p:sp>
        <p:sp>
          <p:nvSpPr>
            <p:cNvPr id="85" name="TextBox 85"/>
            <p:cNvSpPr txBox="1"/>
            <p:nvPr/>
          </p:nvSpPr>
          <p:spPr>
            <a:xfrm>
              <a:off x="10657370" y="3739515"/>
              <a:ext cx="811835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−3.5×10⁻⁵</a:t>
              </a:r>
            </a:p>
          </p:txBody>
        </p:sp>
        <p:sp>
          <p:nvSpPr>
            <p:cNvPr id="86" name="Rectangle 86"/>
            <p:cNvSpPr/>
            <p:nvPr/>
          </p:nvSpPr>
          <p:spPr>
            <a:xfrm>
              <a:off x="6248400" y="2230755"/>
              <a:ext cx="5410200" cy="1910715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87" name="Rectangle 87"/>
            <p:cNvSpPr/>
            <p:nvPr/>
          </p:nvSpPr>
          <p:spPr>
            <a:xfrm>
              <a:off x="6893242" y="2230755"/>
              <a:ext cx="9525" cy="191071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88" name="Rectangle 88"/>
            <p:cNvSpPr/>
            <p:nvPr/>
          </p:nvSpPr>
          <p:spPr>
            <a:xfrm>
              <a:off x="9381172" y="2230755"/>
              <a:ext cx="9525" cy="191071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89" name="Rectangle 89"/>
            <p:cNvSpPr/>
            <p:nvPr/>
          </p:nvSpPr>
          <p:spPr>
            <a:xfrm>
              <a:off x="10463212" y="2230755"/>
              <a:ext cx="9525" cy="191071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90" name="TextBox 90"/>
            <p:cNvSpPr txBox="1"/>
            <p:nvPr/>
          </p:nvSpPr>
          <p:spPr>
            <a:xfrm>
              <a:off x="6243066" y="4216718"/>
              <a:ext cx="5212385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真值 exp(0.05) = 1.051271。加三次项改进很有限，再往高阶走舍入误差占主导。</a:t>
              </a:r>
            </a:p>
          </p:txBody>
        </p:sp>
      </p:grpSp>
      <p:grpSp>
        <p:nvGrpSpPr>
          <p:cNvPr id="98" name="c2-callout-3"/>
          <p:cNvGrpSpPr/>
          <p:nvPr/>
        </p:nvGrpSpPr>
        <p:grpSpPr>
          <a:xfrm>
            <a:off x="6248400" y="4560570"/>
            <a:ext cx="5410200" cy="1018222"/>
            <a:chOff x="6248400" y="4560570"/>
            <a:chExt cx="5410200" cy="1018222"/>
          </a:xfrm>
        </p:grpSpPr>
        <p:sp>
          <p:nvSpPr>
            <p:cNvPr id="92" name="Rectangle 92"/>
            <p:cNvSpPr/>
            <p:nvPr/>
          </p:nvSpPr>
          <p:spPr>
            <a:xfrm>
              <a:off x="6248400" y="4560570"/>
              <a:ext cx="5410200" cy="1018222"/>
            </a:xfrm>
            <a:prstGeom prst="roundRect">
              <a:avLst>
                <a:gd name="adj" fmla="val 11225"/>
              </a:avLst>
            </a:prstGeom>
            <a:solidFill>
              <a:srgbClr val="F4F6FB"/>
            </a:solidFill>
            <a:ln>
              <a:noFill/>
            </a:ln>
          </p:spPr>
        </p:sp>
        <p:grpSp>
          <p:nvGrpSpPr>
            <p:cNvPr id="96" name="Group 96"/>
            <p:cNvGrpSpPr/>
            <p:nvPr/>
          </p:nvGrpSpPr>
          <p:grpSpPr>
            <a:xfrm>
              <a:off x="6453188" y="4970145"/>
              <a:ext cx="200026" cy="200026"/>
              <a:chOff x="6453188" y="4970145"/>
              <a:chExt cx="200026" cy="200026"/>
            </a:xfrm>
          </p:grpSpPr>
          <p:sp>
            <p:nvSpPr>
              <p:cNvPr id="93" name="Freeform 93"/>
              <p:cNvSpPr/>
              <p:nvPr/>
            </p:nvSpPr>
            <p:spPr>
              <a:xfrm>
                <a:off x="6453188" y="4970145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94" name="Freeform 94"/>
              <p:cNvSpPr/>
              <p:nvPr/>
            </p:nvSpPr>
            <p:spPr>
              <a:xfrm>
                <a:off x="6553200" y="5036820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95" name="Freeform 95"/>
              <p:cNvSpPr/>
              <p:nvPr/>
            </p:nvSpPr>
            <p:spPr>
              <a:xfrm>
                <a:off x="6542088" y="5070158"/>
                <a:ext cx="222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22225" h="44450">
                    <a:moveTo>
                      <a:pt x="0" y="0"/>
                    </a:moveTo>
                    <a:lnTo>
                      <a:pt x="11113" y="0"/>
                    </a:lnTo>
                    <a:lnTo>
                      <a:pt x="11113" y="44450"/>
                    </a:lnTo>
                    <a:lnTo>
                      <a:pt x="22225" y="4445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</p:grpSp>
        <p:sp>
          <p:nvSpPr>
            <p:cNvPr id="97" name="TextBox 97"/>
            <p:cNvSpPr txBox="1"/>
            <p:nvPr/>
          </p:nvSpPr>
          <p:spPr>
            <a:xfrm>
              <a:off x="6755511" y="4707731"/>
              <a:ext cx="4414774" cy="80448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70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若函数值精确，N₂ 的误差应落在余项 0.0625h³exp(ξ)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的范围 6.3×10⁻⁵ ~ 7.6×10⁻⁵ 内（实测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6.8×10⁻⁵）；表中数据的舍入使它变成 4.6×10⁻⁵。</a:t>
              </a:r>
            </a:p>
          </p:txBody>
        </p:sp>
      </p:grpSp>
      <p:grpSp>
        <p:nvGrpSpPr>
          <p:cNvPr id="101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99" name="TextBox 99"/>
            <p:cNvSpPr txBox="1"/>
            <p:nvPr/>
          </p:nvSpPr>
          <p:spPr>
            <a:xfrm>
              <a:off x="528447" y="6581299"/>
              <a:ext cx="225267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计算方法 · 第5章 函数插值与曲线拟合</a:t>
              </a:r>
            </a:p>
          </p:txBody>
        </p:sp>
        <p:sp>
          <p:nvSpPr>
            <p:cNvPr id="100" name="TextBox 100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41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8180759" cy="909257"/>
            <a:chOff x="520446" y="342900"/>
            <a:chExt cx="8180759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129790" cy="266700"/>
            </a:xfrm>
            <a:prstGeom prst="roundRect">
              <a:avLst>
                <a:gd name="adj" fmla="val 50000"/>
              </a:avLst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05008" y="407194"/>
              <a:ext cx="198657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第5章 函数插值 · 补充与练习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8180759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实验题：在 Octave 中用 interp1 比较几种插值方法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E7D4F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0" name="c1-code-1"/>
          <p:cNvGrpSpPr/>
          <p:nvPr/>
        </p:nvGrpSpPr>
        <p:grpSpPr>
          <a:xfrm>
            <a:off x="533400" y="1524000"/>
            <a:ext cx="5842635" cy="2966085"/>
            <a:chOff x="533400" y="1524000"/>
            <a:chExt cx="5842635" cy="2966085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842635" cy="2966085"/>
            </a:xfrm>
            <a:prstGeom prst="roundRect">
              <a:avLst>
                <a:gd name="adj" fmla="val 3211"/>
              </a:avLst>
            </a:prstGeom>
            <a:solidFill>
              <a:srgbClr val="F6F8FA"/>
            </a:solidFill>
            <a:ln w="11430">
              <a:solidFill>
                <a:srgbClr val="D9DFEA"/>
              </a:solidFill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661797" y="1675924"/>
              <a:ext cx="429520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原题代码（Octave）：用 help interp1 查看用法，读懂程序并分析结果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661416" y="1937385"/>
              <a:ext cx="4044506" cy="24799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492"/>
                </a:lnSpc>
              </a:pPr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a = -1;  b = 1;</a:t>
              </a:r>
              <a:br/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h = (b-a)/100;</a:t>
              </a:r>
              <a:br/>
              <a:r>
                <a:rPr lang="zh-CN" sz="1050" dirty="0">
                  <a:solidFill>
                    <a:srgbClr val="1F2937"/>
                  </a:solidFill>
                  <a:latin typeface="Consolas"/>
                  <a:ea typeface="Microsoft YaHei"/>
                  <a:cs typeface="Consolas"/>
                </a:rPr>
                <a:t>xf = [a:h:b];                  % 画图用的密集点</a:t>
              </a:r>
              <a:br/>
              <a:r>
                <a:rPr lang="zh-CN" sz="1050" dirty="0">
                  <a:solidFill>
                    <a:srgbClr val="1F2937"/>
                  </a:solidFill>
                  <a:latin typeface="Consolas"/>
                  <a:ea typeface="Microsoft YaHei"/>
                  <a:cs typeface="Consolas"/>
                </a:rPr>
                <a:t>yf = 1./(1+25*xf.*xf);         % Runge 函数</a:t>
              </a:r>
              <a:br/>
              <a:r>
                <a:rPr lang="zh-CN" sz="1050" dirty="0">
                  <a:solidFill>
                    <a:srgbClr val="1F2937"/>
                  </a:solidFill>
                  <a:latin typeface="Consolas"/>
                  <a:ea typeface="Microsoft YaHei"/>
                  <a:cs typeface="Consolas"/>
                </a:rPr>
                <a:t>xp = a+(b-a)*rand(1,11);       % 11 个随机节点</a:t>
              </a:r>
              <a:br/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yp = 1./(1+25*xp.*xp);</a:t>
              </a:r>
              <a:br/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lin  = interp1(xp, yp, xf);</a:t>
              </a:r>
              <a:br/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near = interp1(xp, yp, xf, </a:t>
              </a:r>
              <a:r>
                <a:rPr lang="en-US" sz="1050" dirty="0">
                  <a:solidFill>
                    <a:srgbClr val="C2410C"/>
                  </a:solidFill>
                  <a:latin typeface="Consolas"/>
                  <a:ea typeface="Consolas"/>
                  <a:cs typeface="Consolas"/>
                </a:rPr>
                <a:t>"nearest"</a:t>
              </a:r>
              <a:r>
                <a:rPr lang="zh-CN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);</a:t>
              </a:r>
              <a:br/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pch  = interp1(xp, yp, xf, </a:t>
              </a:r>
              <a:r>
                <a:rPr lang="en-US" sz="1050" dirty="0">
                  <a:solidFill>
                    <a:srgbClr val="C2410C"/>
                  </a:solidFill>
                  <a:latin typeface="Consolas"/>
                  <a:ea typeface="Consolas"/>
                  <a:cs typeface="Consolas"/>
                </a:rPr>
                <a:t>"pchip"</a:t>
              </a:r>
              <a:r>
                <a:rPr lang="zh-CN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);</a:t>
              </a:r>
              <a:br/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spl  = interp1(xp, yp, xf, </a:t>
              </a:r>
              <a:r>
                <a:rPr lang="en-US" sz="1050" dirty="0">
                  <a:solidFill>
                    <a:srgbClr val="C2410C"/>
                  </a:solidFill>
                  <a:latin typeface="Consolas"/>
                  <a:ea typeface="Consolas"/>
                  <a:cs typeface="Consolas"/>
                </a:rPr>
                <a:t>"spline"</a:t>
              </a:r>
              <a:r>
                <a:rPr lang="zh-CN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);</a:t>
              </a:r>
              <a:br/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plot(xf,yf,</a:t>
              </a:r>
              <a:r>
                <a:rPr lang="en-US" sz="1050" dirty="0">
                  <a:solidFill>
                    <a:srgbClr val="C2410C"/>
                  </a:solidFill>
                  <a:latin typeface="Consolas"/>
                  <a:ea typeface="Consolas"/>
                  <a:cs typeface="Consolas"/>
                </a:rPr>
                <a:t>"r"</a:t>
              </a:r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, xf,near,</a:t>
              </a:r>
              <a:r>
                <a:rPr lang="en-US" sz="1050" dirty="0">
                  <a:solidFill>
                    <a:srgbClr val="C2410C"/>
                  </a:solidFill>
                  <a:latin typeface="Consolas"/>
                  <a:ea typeface="Consolas"/>
                  <a:cs typeface="Consolas"/>
                </a:rPr>
                <a:t>"g"</a:t>
              </a:r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, xf,lin,</a:t>
              </a:r>
              <a:r>
                <a:rPr lang="en-US" sz="1050" dirty="0">
                  <a:solidFill>
                    <a:srgbClr val="C2410C"/>
                  </a:solidFill>
                  <a:latin typeface="Consolas"/>
                  <a:ea typeface="Consolas"/>
                  <a:cs typeface="Consolas"/>
                </a:rPr>
                <a:t>"b"</a:t>
              </a:r>
              <a:r>
                <a:rPr lang="zh-CN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, ...</a:t>
              </a:r>
              <a:br/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xf,pch,</a:t>
              </a:r>
              <a:r>
                <a:rPr lang="en-US" sz="1050" dirty="0">
                  <a:solidFill>
                    <a:srgbClr val="C2410C"/>
                  </a:solidFill>
                  <a:latin typeface="Consolas"/>
                  <a:ea typeface="Consolas"/>
                  <a:cs typeface="Consolas"/>
                </a:rPr>
                <a:t>"c"</a:t>
              </a:r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, xf,spl,</a:t>
              </a:r>
              <a:r>
                <a:rPr lang="en-US" sz="1050" dirty="0">
                  <a:solidFill>
                    <a:srgbClr val="C2410C"/>
                  </a:solidFill>
                  <a:latin typeface="Consolas"/>
                  <a:ea typeface="Consolas"/>
                  <a:cs typeface="Consolas"/>
                </a:rPr>
                <a:t>"m"</a:t>
              </a:r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, xp,yp,</a:t>
              </a:r>
              <a:r>
                <a:rPr lang="en-US" sz="1050" dirty="0">
                  <a:solidFill>
                    <a:srgbClr val="C2410C"/>
                  </a:solidFill>
                  <a:latin typeface="Consolas"/>
                  <a:ea typeface="Consolas"/>
                  <a:cs typeface="Consolas"/>
                </a:rPr>
                <a:t>"r*"</a:t>
              </a:r>
              <a:r>
                <a:rPr lang="zh-CN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);</a:t>
              </a:r>
              <a:br/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legend(</a:t>
              </a:r>
              <a:r>
                <a:rPr lang="en-US" sz="1050" dirty="0">
                  <a:solidFill>
                    <a:srgbClr val="C2410C"/>
                  </a:solidFill>
                  <a:latin typeface="Consolas"/>
                  <a:ea typeface="Consolas"/>
                  <a:cs typeface="Consolas"/>
                </a:rPr>
                <a:t>"original"</a:t>
              </a:r>
              <a:r>
                <a:rPr lang="zh-CN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,</a:t>
              </a:r>
              <a:r>
                <a:rPr lang="en-US" sz="1050" dirty="0">
                  <a:solidFill>
                    <a:srgbClr val="C2410C"/>
                  </a:solidFill>
                  <a:latin typeface="Consolas"/>
                  <a:ea typeface="Consolas"/>
                  <a:cs typeface="Consolas"/>
                </a:rPr>
                <a:t>"nearest"</a:t>
              </a:r>
              <a:r>
                <a:rPr lang="zh-CN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,</a:t>
              </a:r>
              <a:r>
                <a:rPr lang="en-US" sz="1050" dirty="0">
                  <a:solidFill>
                    <a:srgbClr val="C2410C"/>
                  </a:solidFill>
                  <a:latin typeface="Consolas"/>
                  <a:ea typeface="Consolas"/>
                  <a:cs typeface="Consolas"/>
                </a:rPr>
                <a:t>"linear"</a:t>
              </a:r>
              <a:r>
                <a:rPr lang="zh-CN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,</a:t>
              </a:r>
              <a:r>
                <a:rPr lang="en-US" sz="1050" dirty="0">
                  <a:solidFill>
                    <a:srgbClr val="C2410C"/>
                  </a:solidFill>
                  <a:latin typeface="Consolas"/>
                  <a:ea typeface="Consolas"/>
                  <a:cs typeface="Consolas"/>
                </a:rPr>
                <a:t>"pchip"</a:t>
              </a:r>
              <a:r>
                <a:rPr lang="zh-CN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,</a:t>
              </a:r>
              <a:r>
                <a:rPr lang="en-US" sz="1050" dirty="0">
                  <a:solidFill>
                    <a:srgbClr val="C2410C"/>
                  </a:solidFill>
                  <a:latin typeface="Consolas"/>
                  <a:ea typeface="Consolas"/>
                  <a:cs typeface="Consolas"/>
                </a:rPr>
                <a:t>"spline"</a:t>
              </a:r>
              <a:r>
                <a:rPr lang="zh-CN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);</a:t>
              </a:r>
            </a:p>
          </p:txBody>
        </p:sp>
      </p:grpSp>
      <p:grpSp>
        <p:nvGrpSpPr>
          <p:cNvPr id="19" name="c1-card-2"/>
          <p:cNvGrpSpPr/>
          <p:nvPr/>
        </p:nvGrpSpPr>
        <p:grpSpPr>
          <a:xfrm>
            <a:off x="533400" y="4670108"/>
            <a:ext cx="5842635" cy="1568768"/>
            <a:chOff x="533400" y="4670108"/>
            <a:chExt cx="5842635" cy="1568768"/>
          </a:xfrm>
        </p:grpSpPr>
        <p:sp>
          <p:nvSpPr>
            <p:cNvPr id="11" name="Rectangle 11"/>
            <p:cNvSpPr/>
            <p:nvPr/>
          </p:nvSpPr>
          <p:spPr>
            <a:xfrm>
              <a:off x="533400" y="4670108"/>
              <a:ext cx="5842635" cy="1568768"/>
            </a:xfrm>
            <a:prstGeom prst="roundRect">
              <a:avLst>
                <a:gd name="adj" fmla="val 8500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12" name="Rectangle 12"/>
            <p:cNvSpPr/>
            <p:nvPr/>
          </p:nvSpPr>
          <p:spPr>
            <a:xfrm>
              <a:off x="542925" y="4803458"/>
              <a:ext cx="47625" cy="1302068"/>
            </a:xfrm>
            <a:prstGeom prst="roundRect">
              <a:avLst>
                <a:gd name="adj" fmla="val 50000"/>
              </a:avLst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13" name="Rectangle 13"/>
            <p:cNvSpPr/>
            <p:nvPr/>
          </p:nvSpPr>
          <p:spPr>
            <a:xfrm>
              <a:off x="769620" y="4868228"/>
              <a:ext cx="1009650" cy="247650"/>
            </a:xfrm>
            <a:prstGeom prst="roundRect">
              <a:avLst>
                <a:gd name="adj" fmla="val 5000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845058" y="4902518"/>
              <a:ext cx="85877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与本章的联系</a:t>
              </a:r>
            </a:p>
          </p:txBody>
        </p:sp>
        <p:sp>
          <p:nvSpPr>
            <p:cNvPr id="15" name="Ellipse 15"/>
            <p:cNvSpPr/>
            <p:nvPr/>
          </p:nvSpPr>
          <p:spPr>
            <a:xfrm>
              <a:off x="777240" y="5289232"/>
              <a:ext cx="60960" cy="6096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933831" y="5228749"/>
              <a:ext cx="5153936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pchip：分段三次 Hermite 插值（5.4 节），导数由数据估计</a:t>
              </a:r>
            </a:p>
          </p:txBody>
        </p:sp>
        <p:sp>
          <p:nvSpPr>
            <p:cNvPr id="17" name="Ellipse 17"/>
            <p:cNvSpPr/>
            <p:nvPr/>
          </p:nvSpPr>
          <p:spPr>
            <a:xfrm>
              <a:off x="777240" y="5606415"/>
              <a:ext cx="60960" cy="6096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933831" y="5546884"/>
              <a:ext cx="5027930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spline：节点参数要解线性方程组，给定端点导数时是三对角方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程组，可用第 2 章的追赶法</a:t>
              </a:r>
            </a:p>
          </p:txBody>
        </p:sp>
      </p:grpSp>
      <p:grpSp>
        <p:nvGrpSpPr>
          <p:cNvPr id="38" name="c2-table-1"/>
          <p:cNvGrpSpPr/>
          <p:nvPr/>
        </p:nvGrpSpPr>
        <p:grpSpPr>
          <a:xfrm>
            <a:off x="6680835" y="1524000"/>
            <a:ext cx="4977765" cy="2335530"/>
            <a:chOff x="6680835" y="1524000"/>
            <a:chExt cx="4977765" cy="2335530"/>
          </a:xfrm>
        </p:grpSpPr>
        <p:sp>
          <p:nvSpPr>
            <p:cNvPr id="20" name="Rectangle 20"/>
            <p:cNvSpPr/>
            <p:nvPr/>
          </p:nvSpPr>
          <p:spPr>
            <a:xfrm>
              <a:off x="6680835" y="1524000"/>
              <a:ext cx="4977765" cy="424815"/>
            </a:xfrm>
            <a:prstGeom prst="rect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7025602" y="1652588"/>
              <a:ext cx="60586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method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9649778" y="1652588"/>
              <a:ext cx="33528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做法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6783324" y="2076450"/>
              <a:ext cx="66523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nearest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8077772" y="2076450"/>
              <a:ext cx="259689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最近邻：取最近节点的值，分段常数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6680835" y="2367915"/>
              <a:ext cx="497776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6" name="Rectangle 26"/>
            <p:cNvSpPr/>
            <p:nvPr/>
          </p:nvSpPr>
          <p:spPr>
            <a:xfrm>
              <a:off x="6680835" y="2372678"/>
              <a:ext cx="4977765" cy="424815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6783324" y="2501265"/>
              <a:ext cx="48713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linear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8077772" y="2501265"/>
              <a:ext cx="195072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分段线性插值（默认方法）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6680835" y="2792730"/>
              <a:ext cx="497776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6783324" y="3032760"/>
              <a:ext cx="436245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pchip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8077772" y="2926080"/>
              <a:ext cx="3273552" cy="44805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680"/>
                </a:lnSpc>
              </a:pPr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分段三次 Hermite 插值，节点导数由数据估计，</a:t>
              </a:r>
              <a:br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保持数据的单调性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6680835" y="3429952"/>
              <a:ext cx="497776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3" name="Rectangle 33"/>
            <p:cNvSpPr/>
            <p:nvPr/>
          </p:nvSpPr>
          <p:spPr>
            <a:xfrm>
              <a:off x="6680835" y="3434715"/>
              <a:ext cx="4977765" cy="424815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6783324" y="3563302"/>
              <a:ext cx="48713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spline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8077772" y="3563302"/>
              <a:ext cx="275844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三次样条插值，整条曲线二阶导数连续</a:t>
              </a:r>
            </a:p>
          </p:txBody>
        </p:sp>
        <p:sp>
          <p:nvSpPr>
            <p:cNvPr id="36" name="Rectangle 36"/>
            <p:cNvSpPr/>
            <p:nvPr/>
          </p:nvSpPr>
          <p:spPr>
            <a:xfrm>
              <a:off x="6680835" y="1524000"/>
              <a:ext cx="4977765" cy="2335530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37" name="Rectangle 37"/>
            <p:cNvSpPr/>
            <p:nvPr/>
          </p:nvSpPr>
          <p:spPr>
            <a:xfrm>
              <a:off x="7970520" y="1524000"/>
              <a:ext cx="9525" cy="233553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49" name="c2-card-2"/>
          <p:cNvGrpSpPr/>
          <p:nvPr/>
        </p:nvGrpSpPr>
        <p:grpSpPr>
          <a:xfrm>
            <a:off x="6680835" y="4039552"/>
            <a:ext cx="4977765" cy="2199322"/>
            <a:chOff x="6680835" y="4039552"/>
            <a:chExt cx="4977765" cy="2199322"/>
          </a:xfrm>
        </p:grpSpPr>
        <p:sp>
          <p:nvSpPr>
            <p:cNvPr id="39" name="Rectangle 39"/>
            <p:cNvSpPr/>
            <p:nvPr/>
          </p:nvSpPr>
          <p:spPr>
            <a:xfrm>
              <a:off x="6680835" y="4039552"/>
              <a:ext cx="4977765" cy="2199322"/>
            </a:xfrm>
            <a:prstGeom prst="roundRect">
              <a:avLst>
                <a:gd name="adj" fmla="val 6063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40" name="Rectangle 40"/>
            <p:cNvSpPr/>
            <p:nvPr/>
          </p:nvSpPr>
          <p:spPr>
            <a:xfrm>
              <a:off x="6690360" y="4172902"/>
              <a:ext cx="47625" cy="1932622"/>
            </a:xfrm>
            <a:prstGeom prst="roundRect">
              <a:avLst>
                <a:gd name="adj" fmla="val 50000"/>
              </a:avLst>
            </a:prstGeom>
            <a:solidFill>
              <a:srgbClr val="D97706"/>
            </a:solidFill>
            <a:ln>
              <a:noFill/>
            </a:ln>
          </p:spPr>
        </p:sp>
        <p:sp>
          <p:nvSpPr>
            <p:cNvPr id="41" name="Rectangle 41"/>
            <p:cNvSpPr/>
            <p:nvPr/>
          </p:nvSpPr>
          <p:spPr>
            <a:xfrm>
              <a:off x="6917055" y="4237672"/>
              <a:ext cx="742950" cy="247650"/>
            </a:xfrm>
            <a:prstGeom prst="roundRect">
              <a:avLst>
                <a:gd name="adj" fmla="val 50000"/>
              </a:avLst>
            </a:prstGeom>
            <a:solidFill>
              <a:srgbClr val="FEF3C7"/>
            </a:solidFill>
            <a:ln>
              <a:noFill/>
            </a:ln>
          </p:spPr>
        </p:sp>
        <p:sp>
          <p:nvSpPr>
            <p:cNvPr id="42" name="TextBox 42"/>
            <p:cNvSpPr txBox="1"/>
            <p:nvPr/>
          </p:nvSpPr>
          <p:spPr>
            <a:xfrm>
              <a:off x="7000494" y="4271962"/>
              <a:ext cx="57607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92400E"/>
                  </a:solidFill>
                  <a:latin typeface="+mn-lt"/>
                  <a:ea typeface="+mn-ea"/>
                  <a:cs typeface="+mn-cs"/>
                </a:rPr>
                <a:t>观察要点</a:t>
              </a:r>
            </a:p>
          </p:txBody>
        </p:sp>
        <p:sp>
          <p:nvSpPr>
            <p:cNvPr id="43" name="Ellipse 43"/>
            <p:cNvSpPr/>
            <p:nvPr/>
          </p:nvSpPr>
          <p:spPr>
            <a:xfrm>
              <a:off x="6924675" y="4658678"/>
              <a:ext cx="60960" cy="6096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44" name="TextBox 44"/>
            <p:cNvSpPr txBox="1"/>
            <p:nvPr/>
          </p:nvSpPr>
          <p:spPr>
            <a:xfrm>
              <a:off x="7081266" y="4598194"/>
              <a:ext cx="3799454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节点由 rand 随机产生，每次运行的图都不同</a:t>
              </a:r>
            </a:p>
          </p:txBody>
        </p:sp>
        <p:sp>
          <p:nvSpPr>
            <p:cNvPr id="45" name="Ellipse 45"/>
            <p:cNvSpPr/>
            <p:nvPr/>
          </p:nvSpPr>
          <p:spPr>
            <a:xfrm>
              <a:off x="6924675" y="4975860"/>
              <a:ext cx="60960" cy="6096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46" name="TextBox 46"/>
            <p:cNvSpPr txBox="1"/>
            <p:nvPr/>
          </p:nvSpPr>
          <p:spPr>
            <a:xfrm>
              <a:off x="7081266" y="4916329"/>
              <a:ext cx="4207383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四种方法都是分段低次插值，不会像 L₁₀ 那样在两端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剧烈振荡</a:t>
              </a:r>
            </a:p>
          </p:txBody>
        </p:sp>
        <p:sp>
          <p:nvSpPr>
            <p:cNvPr id="47" name="Ellipse 47"/>
            <p:cNvSpPr/>
            <p:nvPr/>
          </p:nvSpPr>
          <p:spPr>
            <a:xfrm>
              <a:off x="6924675" y="5565458"/>
              <a:ext cx="60960" cy="6096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48" name="TextBox 48"/>
            <p:cNvSpPr txBox="1"/>
            <p:nvPr/>
          </p:nvSpPr>
          <p:spPr>
            <a:xfrm>
              <a:off x="7081266" y="5505926"/>
              <a:ext cx="4198366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把 xp 改为 linspace(a, b, 11) 得到等距节点，再与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Runge 现象一页的 L₁₀ 对比</a:t>
              </a:r>
            </a:p>
          </p:txBody>
        </p:sp>
      </p:grpSp>
      <p:grpSp>
        <p:nvGrpSpPr>
          <p:cNvPr id="52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50" name="TextBox 50"/>
            <p:cNvSpPr txBox="1"/>
            <p:nvPr/>
          </p:nvSpPr>
          <p:spPr>
            <a:xfrm>
              <a:off x="528447" y="6581299"/>
              <a:ext cx="225267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计算方法 · 第5章 函数插值与曲线拟合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42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5191429" cy="909257"/>
            <a:chOff x="520446" y="342900"/>
            <a:chExt cx="5191429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129790" cy="266700"/>
            </a:xfrm>
            <a:prstGeom prst="roundRect">
              <a:avLst>
                <a:gd name="adj" fmla="val 50000"/>
              </a:avLst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05008" y="407194"/>
              <a:ext cx="198657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第5章 函数插值 · 补充与练习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5191429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习题 1、2、7：三道证明题的思路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E7D4F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23" name="c1-card-1"/>
          <p:cNvGrpSpPr/>
          <p:nvPr/>
        </p:nvGrpSpPr>
        <p:grpSpPr>
          <a:xfrm>
            <a:off x="533400" y="1524000"/>
            <a:ext cx="3505200" cy="4687252"/>
            <a:chOff x="533400" y="1524000"/>
            <a:chExt cx="3505200" cy="4687252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3505200" cy="4687252"/>
            </a:xfrm>
            <a:prstGeom prst="roundRect">
              <a:avLst>
                <a:gd name="adj" fmla="val 3804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542925" y="1657350"/>
              <a:ext cx="47625" cy="4420552"/>
            </a:xfrm>
            <a:prstGeom prst="roundRect">
              <a:avLst>
                <a:gd name="adj" fmla="val 50000"/>
              </a:avLst>
            </a:prstGeom>
            <a:solidFill>
              <a:srgbClr val="14A38B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81050" y="1733550"/>
              <a:ext cx="621030" cy="257175"/>
            </a:xfrm>
            <a:prstGeom prst="roundRect">
              <a:avLst>
                <a:gd name="adj" fmla="val 50000"/>
              </a:avLst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867793" y="1769269"/>
              <a:ext cx="44754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习题 1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773430" y="2110740"/>
              <a:ext cx="2646998" cy="55054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证明 Σ xᵢᵐ lᵢ(x) ≡ xᵐ（0 ≤ m</a:t>
              </a:r>
              <a:br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≤ n）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773430" y="2722245"/>
              <a:ext cx="2844165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lᵢ(x) 是以互异节点 x₀, …, xₙ 构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造的基函数。</a:t>
              </a:r>
            </a:p>
          </p:txBody>
        </p:sp>
        <p:sp>
          <p:nvSpPr>
            <p:cNvPr id="13" name="Ellipse 13"/>
            <p:cNvSpPr/>
            <p:nvPr/>
          </p:nvSpPr>
          <p:spPr>
            <a:xfrm>
              <a:off x="781050" y="3329940"/>
              <a:ext cx="213360" cy="21336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842899" y="3372231"/>
              <a:ext cx="89661" cy="1994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1082040" y="3343275"/>
              <a:ext cx="2444115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取 f(x) = xᵐ，左边正是它的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n 次 Lagrange 插值多项式</a:t>
              </a:r>
            </a:p>
          </p:txBody>
        </p:sp>
        <p:sp>
          <p:nvSpPr>
            <p:cNvPr id="16" name="Ellipse 16"/>
            <p:cNvSpPr/>
            <p:nvPr/>
          </p:nvSpPr>
          <p:spPr>
            <a:xfrm>
              <a:off x="781050" y="3950970"/>
              <a:ext cx="213360" cy="21336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842899" y="3993261"/>
              <a:ext cx="89661" cy="1994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082040" y="3964305"/>
              <a:ext cx="24917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余项含 f⁽ⁿ⁺¹⁾(ξ)，m ≤ n 时</a:t>
              </a:r>
              <a:br/>
              <a:r>
                <a:rPr lang="en-US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f⁽ⁿ⁺¹⁾ ≡ 0</a:t>
              </a:r>
            </a:p>
          </p:txBody>
        </p:sp>
        <p:sp>
          <p:nvSpPr>
            <p:cNvPr id="19" name="Ellipse 19"/>
            <p:cNvSpPr/>
            <p:nvPr/>
          </p:nvSpPr>
          <p:spPr>
            <a:xfrm>
              <a:off x="781050" y="4572000"/>
              <a:ext cx="213360" cy="21336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842899" y="4614291"/>
              <a:ext cx="89661" cy="1994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1082040" y="4585335"/>
              <a:ext cx="2690813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余项为 0，所以左边恒等于 xᵐ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74573" y="4917281"/>
              <a:ext cx="228765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m = 0 时就得到 Σ lᵢ(x) ≡ 1。</a:t>
              </a:r>
            </a:p>
          </p:txBody>
        </p:sp>
      </p:grpSp>
      <p:grpSp>
        <p:nvGrpSpPr>
          <p:cNvPr id="42" name="c2-card-1"/>
          <p:cNvGrpSpPr/>
          <p:nvPr/>
        </p:nvGrpSpPr>
        <p:grpSpPr>
          <a:xfrm>
            <a:off x="4343400" y="1524000"/>
            <a:ext cx="3505200" cy="4687252"/>
            <a:chOff x="4343400" y="1524000"/>
            <a:chExt cx="3505200" cy="4687252"/>
          </a:xfrm>
        </p:grpSpPr>
        <p:sp>
          <p:nvSpPr>
            <p:cNvPr id="24" name="Rectangle 24"/>
            <p:cNvSpPr/>
            <p:nvPr/>
          </p:nvSpPr>
          <p:spPr>
            <a:xfrm>
              <a:off x="4343400" y="1524000"/>
              <a:ext cx="3505200" cy="4687252"/>
            </a:xfrm>
            <a:prstGeom prst="roundRect">
              <a:avLst>
                <a:gd name="adj" fmla="val 3804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25" name="Rectangle 25"/>
            <p:cNvSpPr/>
            <p:nvPr/>
          </p:nvSpPr>
          <p:spPr>
            <a:xfrm>
              <a:off x="4352925" y="1657350"/>
              <a:ext cx="47625" cy="4420552"/>
            </a:xfrm>
            <a:prstGeom prst="roundRect">
              <a:avLst>
                <a:gd name="adj" fmla="val 50000"/>
              </a:avLst>
            </a:prstGeom>
            <a:solidFill>
              <a:srgbClr val="14A38B"/>
            </a:solidFill>
            <a:ln>
              <a:noFill/>
            </a:ln>
          </p:spPr>
        </p:sp>
        <p:sp>
          <p:nvSpPr>
            <p:cNvPr id="26" name="Rectangle 26"/>
            <p:cNvSpPr/>
            <p:nvPr/>
          </p:nvSpPr>
          <p:spPr>
            <a:xfrm>
              <a:off x="4591050" y="1733550"/>
              <a:ext cx="621030" cy="257175"/>
            </a:xfrm>
            <a:prstGeom prst="roundRect">
              <a:avLst>
                <a:gd name="adj" fmla="val 50000"/>
              </a:avLst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77793" y="1769269"/>
              <a:ext cx="44754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习题 2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4583430" y="2110740"/>
              <a:ext cx="257114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证明整齐三次 Hermite 余项</a:t>
              </a:r>
            </a:p>
          </p:txBody>
        </p:sp>
        <p:sp>
          <p:nvSpPr>
            <p:cNvPr id="29" name="Ellipse 29"/>
            <p:cNvSpPr/>
            <p:nvPr/>
          </p:nvSpPr>
          <p:spPr>
            <a:xfrm>
              <a:off x="4591050" y="2451735"/>
              <a:ext cx="213360" cy="21336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4652899" y="2494026"/>
              <a:ext cx="89661" cy="1994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4892040" y="2465070"/>
              <a:ext cx="2272665" cy="8648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固定 x ∈ (x₀, x₁)，令 K =</a:t>
              </a:r>
              <a:br/>
              <a:r>
                <a:rPr lang="en-US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(f(x) − H₃(x)) / [(x −</a:t>
              </a:r>
              <a:br/>
              <a:r>
                <a:rPr lang="en-US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x₀)²(x − x₁)²]</a:t>
              </a:r>
            </a:p>
          </p:txBody>
        </p:sp>
        <p:sp>
          <p:nvSpPr>
            <p:cNvPr id="32" name="Ellipse 32"/>
            <p:cNvSpPr/>
            <p:nvPr/>
          </p:nvSpPr>
          <p:spPr>
            <a:xfrm>
              <a:off x="4591050" y="3358515"/>
              <a:ext cx="213360" cy="21336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4652899" y="3400806"/>
              <a:ext cx="89661" cy="1994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4892040" y="3371850"/>
              <a:ext cx="2358390" cy="8648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设 φ(t) = f(t) − H₃(t) −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K(t − x₀)²(t − x₁)²，φ 在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x₀、x、x₁ 为 0</a:t>
              </a:r>
            </a:p>
          </p:txBody>
        </p:sp>
        <p:sp>
          <p:nvSpPr>
            <p:cNvPr id="35" name="Ellipse 35"/>
            <p:cNvSpPr/>
            <p:nvPr/>
          </p:nvSpPr>
          <p:spPr>
            <a:xfrm>
              <a:off x="4591050" y="4265295"/>
              <a:ext cx="213360" cy="21336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4652899" y="4307586"/>
              <a:ext cx="89661" cy="1994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4892040" y="4278630"/>
              <a:ext cx="2596515" cy="8648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由 Rolle 定理 φ′ 在两个小区间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内各有一个零点，又 φ′(x₀) =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φ′(x₁) = 0，共 4 个零点</a:t>
              </a:r>
            </a:p>
          </p:txBody>
        </p:sp>
        <p:sp>
          <p:nvSpPr>
            <p:cNvPr id="38" name="Ellipse 38"/>
            <p:cNvSpPr/>
            <p:nvPr/>
          </p:nvSpPr>
          <p:spPr>
            <a:xfrm>
              <a:off x="4591050" y="5172075"/>
              <a:ext cx="213360" cy="21336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52899" y="5214366"/>
              <a:ext cx="89661" cy="1994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4892040" y="5185410"/>
              <a:ext cx="2615565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再用 3 次 Rolle 定理得</a:t>
              </a:r>
              <a:br/>
              <a:r>
                <a:rPr lang="el-GR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φ⁽⁴⁾(ξ) = f⁽⁴⁾(ξ) − 4!·K = 0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4584573" y="5803106"/>
              <a:ext cx="298308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所以 K = f⁽⁴⁾(ξ)/4!，ξ ∈ (x₀, x₁)。</a:t>
              </a:r>
            </a:p>
          </p:txBody>
        </p:sp>
      </p:grpSp>
      <p:grpSp>
        <p:nvGrpSpPr>
          <p:cNvPr id="58" name="c3-card-1"/>
          <p:cNvGrpSpPr/>
          <p:nvPr/>
        </p:nvGrpSpPr>
        <p:grpSpPr>
          <a:xfrm>
            <a:off x="8153400" y="1524000"/>
            <a:ext cx="3505200" cy="4687252"/>
            <a:chOff x="8153400" y="1524000"/>
            <a:chExt cx="3505200" cy="4687252"/>
          </a:xfrm>
        </p:grpSpPr>
        <p:sp>
          <p:nvSpPr>
            <p:cNvPr id="43" name="Rectangle 43"/>
            <p:cNvSpPr/>
            <p:nvPr/>
          </p:nvSpPr>
          <p:spPr>
            <a:xfrm>
              <a:off x="8153400" y="1524000"/>
              <a:ext cx="3505200" cy="4687252"/>
            </a:xfrm>
            <a:prstGeom prst="roundRect">
              <a:avLst>
                <a:gd name="adj" fmla="val 3804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44" name="Rectangle 44"/>
            <p:cNvSpPr/>
            <p:nvPr/>
          </p:nvSpPr>
          <p:spPr>
            <a:xfrm>
              <a:off x="8162925" y="1657350"/>
              <a:ext cx="47625" cy="4420552"/>
            </a:xfrm>
            <a:prstGeom prst="roundRect">
              <a:avLst>
                <a:gd name="adj" fmla="val 50000"/>
              </a:avLst>
            </a:prstGeom>
            <a:solidFill>
              <a:srgbClr val="14A38B"/>
            </a:solidFill>
            <a:ln>
              <a:noFill/>
            </a:ln>
          </p:spPr>
        </p:sp>
        <p:sp>
          <p:nvSpPr>
            <p:cNvPr id="45" name="Rectangle 45"/>
            <p:cNvSpPr/>
            <p:nvPr/>
          </p:nvSpPr>
          <p:spPr>
            <a:xfrm>
              <a:off x="8401050" y="1733550"/>
              <a:ext cx="621030" cy="257175"/>
            </a:xfrm>
            <a:prstGeom prst="roundRect">
              <a:avLst>
                <a:gd name="adj" fmla="val 50000"/>
              </a:avLst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46" name="TextBox 46"/>
            <p:cNvSpPr txBox="1"/>
            <p:nvPr/>
          </p:nvSpPr>
          <p:spPr>
            <a:xfrm>
              <a:off x="8487793" y="1769269"/>
              <a:ext cx="44754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习题 7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8393430" y="2110740"/>
              <a:ext cx="2546033" cy="55054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f(a) = f(b) = 0 时 max|f| ≤</a:t>
              </a:r>
              <a:br/>
              <a:r>
                <a:rPr lang="en-US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(b − a)² max|f″| / 8</a:t>
              </a:r>
            </a:p>
          </p:txBody>
        </p:sp>
        <p:sp>
          <p:nvSpPr>
            <p:cNvPr id="48" name="Ellipse 48"/>
            <p:cNvSpPr/>
            <p:nvPr/>
          </p:nvSpPr>
          <p:spPr>
            <a:xfrm>
              <a:off x="8401050" y="2708910"/>
              <a:ext cx="213360" cy="21336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49" name="TextBox 49"/>
            <p:cNvSpPr txBox="1"/>
            <p:nvPr/>
          </p:nvSpPr>
          <p:spPr>
            <a:xfrm>
              <a:off x="8462899" y="2751201"/>
              <a:ext cx="89661" cy="1994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8702040" y="2722245"/>
              <a:ext cx="2625090" cy="8648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以 a、b 为节点作线性插值，因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f(a) = f(b) = 0，得 L₁(x) ≡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51" name="Ellipse 51"/>
            <p:cNvSpPr/>
            <p:nvPr/>
          </p:nvSpPr>
          <p:spPr>
            <a:xfrm>
              <a:off x="8401050" y="3615690"/>
              <a:ext cx="213360" cy="21336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52" name="TextBox 52"/>
            <p:cNvSpPr txBox="1"/>
            <p:nvPr/>
          </p:nvSpPr>
          <p:spPr>
            <a:xfrm>
              <a:off x="8462899" y="3657981"/>
              <a:ext cx="89661" cy="1994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8702040" y="3629025"/>
              <a:ext cx="2558415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由余项公式 f(x) = f″(ξ)/2 ·</a:t>
              </a:r>
              <a:br/>
              <a:r>
                <a:rPr lang="en-US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(x − a)(x − b)</a:t>
              </a:r>
            </a:p>
          </p:txBody>
        </p:sp>
        <p:sp>
          <p:nvSpPr>
            <p:cNvPr id="54" name="Ellipse 54"/>
            <p:cNvSpPr/>
            <p:nvPr/>
          </p:nvSpPr>
          <p:spPr>
            <a:xfrm>
              <a:off x="8401050" y="4236720"/>
              <a:ext cx="213360" cy="21336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55" name="TextBox 55"/>
            <p:cNvSpPr txBox="1"/>
            <p:nvPr/>
          </p:nvSpPr>
          <p:spPr>
            <a:xfrm>
              <a:off x="8462899" y="4279011"/>
              <a:ext cx="89661" cy="1994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56" name="TextBox 56"/>
            <p:cNvSpPr txBox="1"/>
            <p:nvPr/>
          </p:nvSpPr>
          <p:spPr>
            <a:xfrm>
              <a:off x="8702040" y="4250055"/>
              <a:ext cx="24536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|(x − a)(x − b)| 在 x = (a +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b)/2 处最大，为 (b − a)²/4</a:t>
              </a:r>
            </a:p>
          </p:txBody>
        </p:sp>
        <p:sp>
          <p:nvSpPr>
            <p:cNvPr id="57" name="TextBox 57"/>
            <p:cNvSpPr txBox="1"/>
            <p:nvPr/>
          </p:nvSpPr>
          <p:spPr>
            <a:xfrm>
              <a:off x="8394573" y="4867751"/>
              <a:ext cx="2768346" cy="483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45"/>
                </a:lnSpc>
              </a:pPr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于是 |f(x)| ≤ max|f″| · (b − a)²/8，</a:t>
              </a:r>
              <a:br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对 x 取最大值即得结论。</a:t>
              </a:r>
            </a:p>
          </p:txBody>
        </p:sp>
      </p:grpSp>
      <p:grpSp>
        <p:nvGrpSpPr>
          <p:cNvPr id="61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59" name="TextBox 59"/>
            <p:cNvSpPr txBox="1"/>
            <p:nvPr/>
          </p:nvSpPr>
          <p:spPr>
            <a:xfrm>
              <a:off x="528447" y="6581299"/>
              <a:ext cx="225267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计算方法 · 第5章 函数插值与曲线拟合</a:t>
              </a:r>
            </a:p>
          </p:txBody>
        </p:sp>
        <p:sp>
          <p:nvSpPr>
            <p:cNvPr id="60" name="TextBox 60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43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6366308" cy="909257"/>
            <a:chOff x="520446" y="342900"/>
            <a:chExt cx="6366308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129790" cy="266700"/>
            </a:xfrm>
            <a:prstGeom prst="roundRect">
              <a:avLst>
                <a:gd name="adj" fmla="val 50000"/>
              </a:avLst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05008" y="407194"/>
              <a:ext cx="198657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第5章 函数插值 · 补充与练习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6366308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习题 3、4：线性、二次与三次插值的计算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E7D4F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20" name="c1-card-1"/>
          <p:cNvGrpSpPr/>
          <p:nvPr/>
        </p:nvGrpSpPr>
        <p:grpSpPr>
          <a:xfrm>
            <a:off x="533400" y="1524000"/>
            <a:ext cx="5410200" cy="4695825"/>
            <a:chOff x="533400" y="1524000"/>
            <a:chExt cx="5410200" cy="4695825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410200" cy="4695825"/>
            </a:xfrm>
            <a:prstGeom prst="roundRect">
              <a:avLst>
                <a:gd name="adj" fmla="val 2840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542925" y="1657350"/>
              <a:ext cx="47625" cy="4429125"/>
            </a:xfrm>
            <a:prstGeom prst="roundRect">
              <a:avLst>
                <a:gd name="adj" fmla="val 50000"/>
              </a:avLst>
            </a:prstGeom>
            <a:solidFill>
              <a:srgbClr val="14A38B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69620" y="1722120"/>
              <a:ext cx="595312" cy="247650"/>
            </a:xfrm>
            <a:prstGeom prst="roundRect">
              <a:avLst>
                <a:gd name="adj" fmla="val 50000"/>
              </a:avLst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857037" y="1756410"/>
              <a:ext cx="419526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习题 3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471994" y="1756886"/>
              <a:ext cx="2556433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由 f(x) 的函数表求 f(0.33)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762381" y="2100739"/>
              <a:ext cx="4072128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表：x = 0.0, 0.1, …, 0.5 时 f = 1.000, 1.1052,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1.2214, 1.3499, 1.4918, 1.6487（即 eˣ）</a:t>
              </a:r>
            </a:p>
          </p:txBody>
        </p:sp>
        <p:sp>
          <p:nvSpPr>
            <p:cNvPr id="13" name="Ellipse 13"/>
            <p:cNvSpPr/>
            <p:nvPr/>
          </p:nvSpPr>
          <p:spPr>
            <a:xfrm>
              <a:off x="777240" y="2749868"/>
              <a:ext cx="60960" cy="6096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933831" y="2690336"/>
              <a:ext cx="4369689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线性：取 0.3、0.4，l₀ = 0.7，l₁ = 0.3，L₁(0.33) =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1.3499 × 0.7 + 1.4918 × 0.3 = 1.39247</a:t>
              </a:r>
            </a:p>
          </p:txBody>
        </p:sp>
        <p:sp>
          <p:nvSpPr>
            <p:cNvPr id="15" name="Ellipse 15"/>
            <p:cNvSpPr/>
            <p:nvPr/>
          </p:nvSpPr>
          <p:spPr>
            <a:xfrm>
              <a:off x="777240" y="3339465"/>
              <a:ext cx="60960" cy="6096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933831" y="3278981"/>
              <a:ext cx="4477893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二次：比较 |ω₃(0.33)|，取 0.2、0.3、0.4 为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2.73×10⁻⁴，取 0.3、0.4、0.5 为 3.57×10⁻⁴，选前者</a:t>
              </a:r>
            </a:p>
          </p:txBody>
        </p:sp>
        <p:sp>
          <p:nvSpPr>
            <p:cNvPr id="17" name="Ellipse 17"/>
            <p:cNvSpPr/>
            <p:nvPr/>
          </p:nvSpPr>
          <p:spPr>
            <a:xfrm>
              <a:off x="777240" y="3928110"/>
              <a:ext cx="60960" cy="6096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933831" y="3868579"/>
              <a:ext cx="4044536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L₂(0.33) = 1.39106（取后一组为 1.39090）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763524" y="4182427"/>
              <a:ext cx="447888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真值 1.39097：线性误差 −1.5×10⁻³，二次误差 −9.5×10⁻⁵。</a:t>
              </a:r>
            </a:p>
          </p:txBody>
        </p:sp>
      </p:grpSp>
      <p:grpSp>
        <p:nvGrpSpPr>
          <p:cNvPr id="33" name="c2-card-1"/>
          <p:cNvGrpSpPr/>
          <p:nvPr/>
        </p:nvGrpSpPr>
        <p:grpSpPr>
          <a:xfrm>
            <a:off x="6248400" y="1524000"/>
            <a:ext cx="5410200" cy="3265170"/>
            <a:chOff x="6248400" y="1524000"/>
            <a:chExt cx="5410200" cy="3265170"/>
          </a:xfrm>
        </p:grpSpPr>
        <p:sp>
          <p:nvSpPr>
            <p:cNvPr id="21" name="Rectangle 21"/>
            <p:cNvSpPr/>
            <p:nvPr/>
          </p:nvSpPr>
          <p:spPr>
            <a:xfrm>
              <a:off x="6248400" y="1524000"/>
              <a:ext cx="5410200" cy="3265170"/>
            </a:xfrm>
            <a:prstGeom prst="roundRect">
              <a:avLst>
                <a:gd name="adj" fmla="val 4084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22" name="Rectangle 22"/>
            <p:cNvSpPr/>
            <p:nvPr/>
          </p:nvSpPr>
          <p:spPr>
            <a:xfrm>
              <a:off x="6257925" y="1657350"/>
              <a:ext cx="47625" cy="2998470"/>
            </a:xfrm>
            <a:prstGeom prst="roundRect">
              <a:avLst>
                <a:gd name="adj" fmla="val 50000"/>
              </a:avLst>
            </a:prstGeom>
            <a:solidFill>
              <a:srgbClr val="14A38B"/>
            </a:solidFill>
            <a:ln>
              <a:noFill/>
            </a:ln>
          </p:spPr>
        </p:sp>
        <p:sp>
          <p:nvSpPr>
            <p:cNvPr id="23" name="Rectangle 23"/>
            <p:cNvSpPr/>
            <p:nvPr/>
          </p:nvSpPr>
          <p:spPr>
            <a:xfrm>
              <a:off x="6484620" y="1722120"/>
              <a:ext cx="595312" cy="247650"/>
            </a:xfrm>
            <a:prstGeom prst="roundRect">
              <a:avLst>
                <a:gd name="adj" fmla="val 50000"/>
              </a:avLst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6572037" y="1756410"/>
              <a:ext cx="419526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习题 4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6477381" y="2082641"/>
              <a:ext cx="4722759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f(x) = (4x − 7)/(x − 2)，节点 1.7, 1.8, 1.9, 2.1</a:t>
              </a:r>
            </a:p>
          </p:txBody>
        </p:sp>
        <p:sp>
          <p:nvSpPr>
            <p:cNvPr id="26" name="Ellipse 26"/>
            <p:cNvSpPr/>
            <p:nvPr/>
          </p:nvSpPr>
          <p:spPr>
            <a:xfrm>
              <a:off x="6492240" y="2478405"/>
              <a:ext cx="60960" cy="6096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6648831" y="2418874"/>
              <a:ext cx="4378706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节点值：f(1.7) = 2/3，f(1.8) = −1，f(1.9) = −6，</a:t>
              </a:r>
              <a:br/>
              <a:r>
                <a:rPr lang="en-US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f(2.1) = 14</a:t>
              </a:r>
            </a:p>
          </p:txBody>
        </p:sp>
        <p:sp>
          <p:nvSpPr>
            <p:cNvPr id="28" name="Ellipse 28"/>
            <p:cNvSpPr/>
            <p:nvPr/>
          </p:nvSpPr>
          <p:spPr>
            <a:xfrm>
              <a:off x="6492240" y="3068002"/>
              <a:ext cx="60960" cy="6096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6648831" y="3007519"/>
              <a:ext cx="4568063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(1) 用 1.7、1.8、1.9 作二次插值：P₂(1.75) = 0.25，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真值 f(1.75) = 0</a:t>
              </a:r>
            </a:p>
          </p:txBody>
        </p:sp>
        <p:sp>
          <p:nvSpPr>
            <p:cNvPr id="30" name="Ellipse 30"/>
            <p:cNvSpPr/>
            <p:nvPr/>
          </p:nvSpPr>
          <p:spPr>
            <a:xfrm>
              <a:off x="6492240" y="3656648"/>
              <a:ext cx="60960" cy="6096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6648831" y="3597116"/>
              <a:ext cx="3990975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(2) 加上 2.1，新增差商 100、500、1666.67，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P₃(1.75) = 0.875，P₃(2.00) = −13/3 ≈ −4.333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6478524" y="4182427"/>
              <a:ext cx="4675632" cy="4556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40"/>
                </a:lnSpc>
              </a:pPr>
              <a:r>
                <a:rPr lang="zh-CN" sz="12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x = 2 是 f 的极点，f(2) 不存在，区间内 f 的导数无界，定理 5.1 的</a:t>
              </a:r>
              <a:br/>
              <a:r>
                <a:rPr lang="zh-CN" sz="12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条件不满足：P₃(2.00) 没有意义，1.75 处加节点后误差反而变大。</a:t>
              </a:r>
            </a:p>
          </p:txBody>
        </p:sp>
      </p:grpSp>
      <p:grpSp>
        <p:nvGrpSpPr>
          <p:cNvPr id="39" name="c2-card-2"/>
          <p:cNvGrpSpPr/>
          <p:nvPr/>
        </p:nvGrpSpPr>
        <p:grpSpPr>
          <a:xfrm>
            <a:off x="6248400" y="4969192"/>
            <a:ext cx="5410200" cy="1250632"/>
            <a:chOff x="6248400" y="4969192"/>
            <a:chExt cx="5410200" cy="1250632"/>
          </a:xfrm>
        </p:grpSpPr>
        <p:sp>
          <p:nvSpPr>
            <p:cNvPr id="34" name="Rectangle 34"/>
            <p:cNvSpPr/>
            <p:nvPr/>
          </p:nvSpPr>
          <p:spPr>
            <a:xfrm>
              <a:off x="6248400" y="4969192"/>
              <a:ext cx="5410200" cy="1250632"/>
            </a:xfrm>
            <a:prstGeom prst="roundRect">
              <a:avLst>
                <a:gd name="adj" fmla="val 10663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35" name="Rectangle 35"/>
            <p:cNvSpPr/>
            <p:nvPr/>
          </p:nvSpPr>
          <p:spPr>
            <a:xfrm>
              <a:off x="6257925" y="5102542"/>
              <a:ext cx="47625" cy="983932"/>
            </a:xfrm>
            <a:prstGeom prst="roundRect">
              <a:avLst>
                <a:gd name="adj" fmla="val 50000"/>
              </a:avLst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36" name="Rectangle 36"/>
            <p:cNvSpPr/>
            <p:nvPr/>
          </p:nvSpPr>
          <p:spPr>
            <a:xfrm>
              <a:off x="6484620" y="5167312"/>
              <a:ext cx="476250" cy="247650"/>
            </a:xfrm>
            <a:prstGeom prst="roundRect">
              <a:avLst>
                <a:gd name="adj" fmla="val 5000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6576060" y="5201602"/>
              <a:ext cx="2933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更正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6477381" y="5527834"/>
              <a:ext cx="4531995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原题节点写作 x₄ = 2.1，第 (2) 问用的是 x₀、x₁、x₂、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x₃，应为 x₃ = 2.1。</a:t>
              </a:r>
            </a:p>
          </p:txBody>
        </p:sp>
      </p:grpSp>
      <p:grpSp>
        <p:nvGrpSpPr>
          <p:cNvPr id="42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40" name="TextBox 40"/>
            <p:cNvSpPr txBox="1"/>
            <p:nvPr/>
          </p:nvSpPr>
          <p:spPr>
            <a:xfrm>
              <a:off x="528447" y="6581299"/>
              <a:ext cx="225267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计算方法 · 第5章 函数插值与曲线拟合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44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9318735" cy="909257"/>
            <a:chOff x="520446" y="342900"/>
            <a:chExt cx="9318735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129790" cy="266700"/>
            </a:xfrm>
            <a:prstGeom prst="roundRect">
              <a:avLst>
                <a:gd name="adj" fmla="val 50000"/>
              </a:avLst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05008" y="407194"/>
              <a:ext cx="198657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第5章 函数插值 · 补充与练习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9318735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习题 5：差商表与两点、三点、四点 Newton 插值求 sin 1.0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E7D4F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58" name="c1-table-1"/>
          <p:cNvGrpSpPr/>
          <p:nvPr/>
        </p:nvGrpSpPr>
        <p:grpSpPr>
          <a:xfrm>
            <a:off x="527685" y="1524000"/>
            <a:ext cx="6065520" cy="3909536"/>
            <a:chOff x="527685" y="1524000"/>
            <a:chExt cx="6065520" cy="3909536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6059805" cy="487680"/>
            </a:xfrm>
            <a:prstGeom prst="rect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886573" y="1663065"/>
              <a:ext cx="131855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5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x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709333" y="1663065"/>
              <a:ext cx="4923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5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sin x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2767012" y="1663065"/>
              <a:ext cx="8229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一阶差商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4099560" y="1663065"/>
              <a:ext cx="8229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二阶差商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5487352" y="1663065"/>
              <a:ext cx="8229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三阶差商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769958" y="2150745"/>
              <a:ext cx="365084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0.7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1381125" y="2021205"/>
              <a:ext cx="1148715" cy="468630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1614678" y="2150745"/>
              <a:ext cx="681609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0.6442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533400" y="2494598"/>
              <a:ext cx="605980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533400" y="2499360"/>
              <a:ext cx="6059805" cy="48768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769958" y="2638425"/>
              <a:ext cx="365084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0.9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1381125" y="2508885"/>
              <a:ext cx="1148715" cy="468630"/>
            </a:xfrm>
            <a:prstGeom prst="rect">
              <a:avLst/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614678" y="2638425"/>
              <a:ext cx="681609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0.7833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2548890" y="2508885"/>
              <a:ext cx="1259205" cy="468630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2837688" y="2638425"/>
              <a:ext cx="681609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0.6955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533400" y="2982278"/>
              <a:ext cx="605980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69958" y="3126105"/>
              <a:ext cx="365084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1.1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614678" y="3126105"/>
              <a:ext cx="681609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0.8912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2548890" y="2996565"/>
              <a:ext cx="1259205" cy="468630"/>
            </a:xfrm>
            <a:prstGeom prst="rect">
              <a:avLst/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2837688" y="3126105"/>
              <a:ext cx="681609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0.5395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3826192" y="2996565"/>
              <a:ext cx="1368742" cy="468630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4059174" y="3126105"/>
              <a:ext cx="90373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−0.39000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533400" y="3469958"/>
              <a:ext cx="605980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1" name="Rectangle 31"/>
            <p:cNvSpPr/>
            <p:nvPr/>
          </p:nvSpPr>
          <p:spPr>
            <a:xfrm>
              <a:off x="533400" y="3474720"/>
              <a:ext cx="6059805" cy="48768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769958" y="3613785"/>
              <a:ext cx="365084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1.3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1614678" y="3613785"/>
              <a:ext cx="681609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0.9636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2837688" y="3613785"/>
              <a:ext cx="681609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0.3620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3826192" y="3484245"/>
              <a:ext cx="1368742" cy="468630"/>
            </a:xfrm>
            <a:prstGeom prst="rect">
              <a:avLst/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4059174" y="3613785"/>
              <a:ext cx="90373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−0.44375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5213985" y="3484245"/>
              <a:ext cx="1368742" cy="468630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5446966" y="3613785"/>
              <a:ext cx="90373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−0.08958</a:t>
              </a:r>
            </a:p>
          </p:txBody>
        </p:sp>
        <p:sp>
          <p:nvSpPr>
            <p:cNvPr id="39" name="Rectangle 39"/>
            <p:cNvSpPr/>
            <p:nvPr/>
          </p:nvSpPr>
          <p:spPr>
            <a:xfrm>
              <a:off x="533400" y="3957638"/>
              <a:ext cx="605980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0" name="TextBox 40"/>
            <p:cNvSpPr txBox="1"/>
            <p:nvPr/>
          </p:nvSpPr>
          <p:spPr>
            <a:xfrm>
              <a:off x="769958" y="4101465"/>
              <a:ext cx="365084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1.5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1614678" y="4101465"/>
              <a:ext cx="681609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0.9975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2837688" y="4101465"/>
              <a:ext cx="681609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0.1695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4059174" y="4101465"/>
              <a:ext cx="90373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−0.48125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5446966" y="4101465"/>
              <a:ext cx="90373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−0.06250</a:t>
              </a:r>
            </a:p>
          </p:txBody>
        </p:sp>
        <p:sp>
          <p:nvSpPr>
            <p:cNvPr id="45" name="Rectangle 45"/>
            <p:cNvSpPr/>
            <p:nvPr/>
          </p:nvSpPr>
          <p:spPr>
            <a:xfrm>
              <a:off x="533400" y="4445318"/>
              <a:ext cx="605980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6" name="Rectangle 46"/>
            <p:cNvSpPr/>
            <p:nvPr/>
          </p:nvSpPr>
          <p:spPr>
            <a:xfrm>
              <a:off x="533400" y="4450080"/>
              <a:ext cx="6059805" cy="48768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47" name="TextBox 47"/>
            <p:cNvSpPr txBox="1"/>
            <p:nvPr/>
          </p:nvSpPr>
          <p:spPr>
            <a:xfrm>
              <a:off x="769958" y="4589145"/>
              <a:ext cx="365084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1.7</a:t>
              </a: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1614678" y="4589145"/>
              <a:ext cx="681609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0.9917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2782157" y="4589145"/>
              <a:ext cx="79267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−0.0290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4059174" y="4589145"/>
              <a:ext cx="90373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−0.49625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5446966" y="4589145"/>
              <a:ext cx="90373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−0.02500</a:t>
              </a:r>
            </a:p>
          </p:txBody>
        </p:sp>
        <p:sp>
          <p:nvSpPr>
            <p:cNvPr id="52" name="Rectangle 52"/>
            <p:cNvSpPr/>
            <p:nvPr/>
          </p:nvSpPr>
          <p:spPr>
            <a:xfrm>
              <a:off x="533400" y="1524000"/>
              <a:ext cx="6059805" cy="3413760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53" name="Rectangle 53"/>
            <p:cNvSpPr/>
            <p:nvPr/>
          </p:nvSpPr>
          <p:spPr>
            <a:xfrm>
              <a:off x="1366838" y="1524000"/>
              <a:ext cx="9525" cy="341376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4" name="Rectangle 54"/>
            <p:cNvSpPr/>
            <p:nvPr/>
          </p:nvSpPr>
          <p:spPr>
            <a:xfrm>
              <a:off x="2534602" y="1524000"/>
              <a:ext cx="9525" cy="341376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5" name="Rectangle 55"/>
            <p:cNvSpPr/>
            <p:nvPr/>
          </p:nvSpPr>
          <p:spPr>
            <a:xfrm>
              <a:off x="3811905" y="1524000"/>
              <a:ext cx="9525" cy="341376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6" name="Rectangle 56"/>
            <p:cNvSpPr/>
            <p:nvPr/>
          </p:nvSpPr>
          <p:spPr>
            <a:xfrm>
              <a:off x="5199698" y="1524000"/>
              <a:ext cx="9525" cy="341376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7" name="TextBox 57"/>
            <p:cNvSpPr txBox="1"/>
            <p:nvPr/>
          </p:nvSpPr>
          <p:spPr>
            <a:xfrm>
              <a:off x="527685" y="5013484"/>
              <a:ext cx="5772150" cy="4200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575"/>
                </a:lnSpc>
              </a:pPr>
              <a:r>
                <a:rPr lang="zh-CN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橙色：从 0.7 开始的对角线（四点公式系数）；蓝色：从 0.9 开始的对角线（两点、三点公</a:t>
              </a:r>
              <a:br/>
              <a:r>
                <a:rPr lang="zh-CN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式系数）</a:t>
              </a:r>
            </a:p>
          </p:txBody>
        </p:sp>
      </p:grpSp>
      <p:grpSp>
        <p:nvGrpSpPr>
          <p:cNvPr id="76" name="c2-steps-1"/>
          <p:cNvGrpSpPr/>
          <p:nvPr/>
        </p:nvGrpSpPr>
        <p:grpSpPr>
          <a:xfrm>
            <a:off x="6898005" y="1533525"/>
            <a:ext cx="4167058" cy="3233071"/>
            <a:chOff x="6898005" y="1533525"/>
            <a:chExt cx="4167058" cy="3233071"/>
          </a:xfrm>
        </p:grpSpPr>
        <p:sp>
          <p:nvSpPr>
            <p:cNvPr id="59" name="Rectangle 59"/>
            <p:cNvSpPr/>
            <p:nvPr/>
          </p:nvSpPr>
          <p:spPr>
            <a:xfrm>
              <a:off x="7031355" y="1676400"/>
              <a:ext cx="19050" cy="2422208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60" name="Ellipse 60"/>
            <p:cNvSpPr/>
            <p:nvPr/>
          </p:nvSpPr>
          <p:spPr>
            <a:xfrm>
              <a:off x="6898005" y="1533525"/>
              <a:ext cx="285750" cy="28575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61" name="TextBox 61"/>
            <p:cNvSpPr txBox="1"/>
            <p:nvPr/>
          </p:nvSpPr>
          <p:spPr>
            <a:xfrm>
              <a:off x="6991629" y="160734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62" name="Ellipse 62"/>
            <p:cNvSpPr/>
            <p:nvPr/>
          </p:nvSpPr>
          <p:spPr>
            <a:xfrm>
              <a:off x="6898005" y="2184082"/>
              <a:ext cx="285750" cy="28575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63" name="TextBox 63"/>
            <p:cNvSpPr txBox="1"/>
            <p:nvPr/>
          </p:nvSpPr>
          <p:spPr>
            <a:xfrm>
              <a:off x="6991629" y="2257901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64" name="Ellipse 64"/>
            <p:cNvSpPr/>
            <p:nvPr/>
          </p:nvSpPr>
          <p:spPr>
            <a:xfrm>
              <a:off x="6898005" y="3069908"/>
              <a:ext cx="285750" cy="28575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65" name="TextBox 65"/>
            <p:cNvSpPr txBox="1"/>
            <p:nvPr/>
          </p:nvSpPr>
          <p:spPr>
            <a:xfrm>
              <a:off x="6991629" y="3143726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66" name="Ellipse 66"/>
            <p:cNvSpPr/>
            <p:nvPr/>
          </p:nvSpPr>
          <p:spPr>
            <a:xfrm>
              <a:off x="6898005" y="3955732"/>
              <a:ext cx="285750" cy="28575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67" name="TextBox 67"/>
            <p:cNvSpPr txBox="1"/>
            <p:nvPr/>
          </p:nvSpPr>
          <p:spPr>
            <a:xfrm>
              <a:off x="6991629" y="4029551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68" name="TextBox 68"/>
            <p:cNvSpPr txBox="1"/>
            <p:nvPr/>
          </p:nvSpPr>
          <p:spPr>
            <a:xfrm>
              <a:off x="7309485" y="1567815"/>
              <a:ext cx="1724577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两点（0.9、1.1）</a:t>
              </a:r>
            </a:p>
          </p:txBody>
        </p:sp>
        <p:sp>
          <p:nvSpPr>
            <p:cNvPr id="69" name="TextBox 69"/>
            <p:cNvSpPr txBox="1"/>
            <p:nvPr/>
          </p:nvSpPr>
          <p:spPr>
            <a:xfrm>
              <a:off x="7310628" y="1861661"/>
              <a:ext cx="375443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N₁(1.0) = 0.7833 + 0.5395 × 0.1 = 0.83725</a:t>
              </a:r>
            </a:p>
          </p:txBody>
        </p:sp>
        <p:sp>
          <p:nvSpPr>
            <p:cNvPr id="70" name="TextBox 70"/>
            <p:cNvSpPr txBox="1"/>
            <p:nvPr/>
          </p:nvSpPr>
          <p:spPr>
            <a:xfrm>
              <a:off x="7309485" y="2218372"/>
              <a:ext cx="2276351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三点（0.9、1.1、1.3）</a:t>
              </a:r>
            </a:p>
          </p:txBody>
        </p:sp>
        <p:sp>
          <p:nvSpPr>
            <p:cNvPr id="71" name="TextBox 71"/>
            <p:cNvSpPr txBox="1"/>
            <p:nvPr/>
          </p:nvSpPr>
          <p:spPr>
            <a:xfrm>
              <a:off x="7310628" y="2512219"/>
              <a:ext cx="3654298" cy="483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45"/>
                </a:lnSpc>
              </a:pPr>
              <a:r>
                <a:rPr lang="en-US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N₂(1.0) = 0.83725 + (−0.44375)(0.1)(−0.1) =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0.84169</a:t>
              </a:r>
            </a:p>
          </p:txBody>
        </p:sp>
        <p:sp>
          <p:nvSpPr>
            <p:cNvPr id="72" name="TextBox 72"/>
            <p:cNvSpPr txBox="1"/>
            <p:nvPr/>
          </p:nvSpPr>
          <p:spPr>
            <a:xfrm>
              <a:off x="7309485" y="3104198"/>
              <a:ext cx="1766478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四点（0.7 ~ 1.3）</a:t>
              </a:r>
            </a:p>
          </p:txBody>
        </p:sp>
        <p:sp>
          <p:nvSpPr>
            <p:cNvPr id="73" name="TextBox 73"/>
            <p:cNvSpPr txBox="1"/>
            <p:nvPr/>
          </p:nvSpPr>
          <p:spPr>
            <a:xfrm>
              <a:off x="7310628" y="3397091"/>
              <a:ext cx="3678682" cy="483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45"/>
                </a:lnSpc>
              </a:pPr>
              <a:r>
                <a:rPr lang="en-US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N₃(1.0) = 0.6442 + 0.6955 × 0.3 − 0.39 × 0.3 ×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0.1 − 0.08958 × 0.3 × 0.1 × (−0.1) = 0.84142</a:t>
              </a:r>
            </a:p>
          </p:txBody>
        </p:sp>
        <p:sp>
          <p:nvSpPr>
            <p:cNvPr id="74" name="TextBox 74"/>
            <p:cNvSpPr txBox="1"/>
            <p:nvPr/>
          </p:nvSpPr>
          <p:spPr>
            <a:xfrm>
              <a:off x="7309485" y="3990022"/>
              <a:ext cx="4191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比较</a:t>
              </a:r>
            </a:p>
          </p:txBody>
        </p:sp>
        <p:sp>
          <p:nvSpPr>
            <p:cNvPr id="75" name="TextBox 75"/>
            <p:cNvSpPr txBox="1"/>
            <p:nvPr/>
          </p:nvSpPr>
          <p:spPr>
            <a:xfrm>
              <a:off x="7310628" y="4282916"/>
              <a:ext cx="3686810" cy="483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4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sin 1.0 = 0.84147，三者误差依次为 4.2×10⁻³、−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2.2×10⁻⁴、5.2×10⁻⁵</a:t>
              </a:r>
            </a:p>
          </p:txBody>
        </p:sp>
      </p:grpSp>
      <p:grpSp>
        <p:nvGrpSpPr>
          <p:cNvPr id="83" name="c2-callout-2"/>
          <p:cNvGrpSpPr/>
          <p:nvPr/>
        </p:nvGrpSpPr>
        <p:grpSpPr>
          <a:xfrm>
            <a:off x="6898005" y="4945380"/>
            <a:ext cx="4760595" cy="1059180"/>
            <a:chOff x="6898005" y="4945380"/>
            <a:chExt cx="4760595" cy="1059180"/>
          </a:xfrm>
        </p:grpSpPr>
        <p:sp>
          <p:nvSpPr>
            <p:cNvPr id="77" name="Rectangle 77"/>
            <p:cNvSpPr/>
            <p:nvPr/>
          </p:nvSpPr>
          <p:spPr>
            <a:xfrm>
              <a:off x="6898005" y="4945380"/>
              <a:ext cx="4760595" cy="1059180"/>
            </a:xfrm>
            <a:prstGeom prst="roundRect">
              <a:avLst>
                <a:gd name="adj" fmla="val 10791"/>
              </a:avLst>
            </a:prstGeom>
            <a:solidFill>
              <a:srgbClr val="FDEEE7"/>
            </a:solidFill>
            <a:ln>
              <a:noFill/>
            </a:ln>
          </p:spPr>
        </p:sp>
        <p:grpSp>
          <p:nvGrpSpPr>
            <p:cNvPr id="81" name="Group 81"/>
            <p:cNvGrpSpPr/>
            <p:nvPr/>
          </p:nvGrpSpPr>
          <p:grpSpPr>
            <a:xfrm>
              <a:off x="7102793" y="5374958"/>
              <a:ext cx="200026" cy="200025"/>
              <a:chOff x="7102793" y="5374958"/>
              <a:chExt cx="200026" cy="200025"/>
            </a:xfrm>
          </p:grpSpPr>
          <p:sp>
            <p:nvSpPr>
              <p:cNvPr id="78" name="Freeform 78"/>
              <p:cNvSpPr/>
              <p:nvPr/>
            </p:nvSpPr>
            <p:spPr>
              <a:xfrm>
                <a:off x="7102793" y="5374958"/>
                <a:ext cx="200026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00013">
                    <a:moveTo>
                      <a:pt x="0" y="100013"/>
                    </a:moveTo>
                    <a:lnTo>
                      <a:pt x="11113" y="100013"/>
                    </a:lnTo>
                    <a:moveTo>
                      <a:pt x="100013" y="0"/>
                    </a:moveTo>
                    <a:lnTo>
                      <a:pt x="100013" y="11113"/>
                    </a:lnTo>
                    <a:moveTo>
                      <a:pt x="188913" y="100013"/>
                    </a:moveTo>
                    <a:lnTo>
                      <a:pt x="200026" y="100013"/>
                    </a:lnTo>
                    <a:moveTo>
                      <a:pt x="28893" y="28893"/>
                    </a:moveTo>
                    <a:lnTo>
                      <a:pt x="36671" y="36671"/>
                    </a:lnTo>
                    <a:moveTo>
                      <a:pt x="171133" y="28893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79" name="Freeform 79"/>
              <p:cNvSpPr/>
              <p:nvPr/>
            </p:nvSpPr>
            <p:spPr>
              <a:xfrm>
                <a:off x="7142531" y="5419408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3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3" y="15304"/>
                      <a:pt x="112986" y="37992"/>
                    </a:cubicBezTo>
                    <a:cubicBezTo>
                      <a:pt x="120548" y="60681"/>
                      <a:pt x="112745" y="85663"/>
                      <a:pt x="93612" y="100013"/>
                    </a:cubicBezTo>
                    <a:cubicBezTo>
                      <a:pt x="84812" y="108723"/>
                      <a:pt x="80686" y="121103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3"/>
                      <a:pt x="35736" y="108723"/>
                      <a:pt x="26937" y="100013"/>
                    </a:cubicBez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80" name="Freeform 80"/>
              <p:cNvSpPr/>
              <p:nvPr/>
            </p:nvSpPr>
            <p:spPr>
              <a:xfrm>
                <a:off x="7177247" y="5530533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</p:grpSp>
        <p:sp>
          <p:nvSpPr>
            <p:cNvPr id="82" name="TextBox 82"/>
            <p:cNvSpPr txBox="1"/>
            <p:nvPr/>
          </p:nvSpPr>
          <p:spPr>
            <a:xfrm>
              <a:off x="7404735" y="5093970"/>
              <a:ext cx="3749040" cy="8458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三点取 0.7、0.9、1.1 时 |ω₃(1.0)| 相同，</a:t>
              </a:r>
              <a:br/>
              <a:r>
                <a:rPr lang="zh-CN" sz="15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结果 0.84115；四点取 0.9 ~ 1.5 时</a:t>
              </a:r>
              <a:br/>
              <a:r>
                <a:rPr lang="zh-CN" sz="15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|ω₄(1.0)| 更大，结果 0.84150。</a:t>
              </a:r>
            </a:p>
          </p:txBody>
        </p:sp>
      </p:grpSp>
      <p:grpSp>
        <p:nvGrpSpPr>
          <p:cNvPr id="86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84" name="TextBox 84"/>
            <p:cNvSpPr txBox="1"/>
            <p:nvPr/>
          </p:nvSpPr>
          <p:spPr>
            <a:xfrm>
              <a:off x="528447" y="6581299"/>
              <a:ext cx="225267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计算方法 · 第5章 函数插值与曲线拟合</a:t>
              </a:r>
            </a:p>
          </p:txBody>
        </p:sp>
        <p:sp>
          <p:nvSpPr>
            <p:cNvPr id="85" name="TextBox 85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45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7965091" cy="909257"/>
            <a:chOff x="520446" y="342900"/>
            <a:chExt cx="7965091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129790" cy="266700"/>
            </a:xfrm>
            <a:prstGeom prst="roundRect">
              <a:avLst>
                <a:gd name="adj" fmla="val 50000"/>
              </a:avLst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05008" y="407194"/>
              <a:ext cx="198657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第5章 函数插值 · 补充与练习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7965091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习题 6、8：用重节点差商表求 Hermite 插值多项式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E7D4F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59" name="c1-card-1"/>
          <p:cNvGrpSpPr/>
          <p:nvPr/>
        </p:nvGrpSpPr>
        <p:grpSpPr>
          <a:xfrm>
            <a:off x="533400" y="1524000"/>
            <a:ext cx="5735002" cy="4674870"/>
            <a:chOff x="533400" y="1524000"/>
            <a:chExt cx="5735002" cy="4674870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735002" cy="4674870"/>
            </a:xfrm>
            <a:prstGeom prst="roundRect">
              <a:avLst>
                <a:gd name="adj" fmla="val 2852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542925" y="1657350"/>
              <a:ext cx="47625" cy="4408170"/>
            </a:xfrm>
            <a:prstGeom prst="roundRect">
              <a:avLst>
                <a:gd name="adj" fmla="val 50000"/>
              </a:avLst>
            </a:prstGeom>
            <a:solidFill>
              <a:srgbClr val="14A38B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58190" y="1710690"/>
              <a:ext cx="569595" cy="238125"/>
            </a:xfrm>
            <a:prstGeom prst="roundRect">
              <a:avLst>
                <a:gd name="adj" fmla="val 50000"/>
              </a:avLst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847234" y="1743551"/>
              <a:ext cx="391507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习题 6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751332" y="2054542"/>
              <a:ext cx="498649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f(0) = 1，f′(0) = −3，f″(0) = 0，f(1) = 4，f′(1) = 16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751332" y="2371725"/>
              <a:ext cx="4848606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关系：f[x, x] = f′(x)，f[x, x, x] = f″(x)/2!。节点写成 0,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0, 0, 1, 1：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758190" y="2907030"/>
              <a:ext cx="5323522" cy="400050"/>
            </a:xfrm>
            <a:prstGeom prst="rect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1085176" y="302847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z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1837651" y="302847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f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2583853" y="3028474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一阶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3538258" y="3028474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二阶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4492663" y="3028474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三阶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5448021" y="3028474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四阶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1085176" y="342852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1520190" y="3316605"/>
              <a:ext cx="733425" cy="381000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1839725" y="3428524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58190" y="3702368"/>
              <a:ext cx="532352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4" name="Rectangle 24"/>
            <p:cNvSpPr/>
            <p:nvPr/>
          </p:nvSpPr>
          <p:spPr>
            <a:xfrm>
              <a:off x="758190" y="3707130"/>
              <a:ext cx="5323522" cy="40005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1085176" y="382857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1839725" y="3828574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2272665" y="3716655"/>
              <a:ext cx="935355" cy="381000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2651702" y="3828574"/>
              <a:ext cx="17728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−3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758190" y="4102418"/>
              <a:ext cx="532352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1085176" y="422862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1839725" y="4228624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2651702" y="4228624"/>
              <a:ext cx="17728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−3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3227070" y="4116705"/>
              <a:ext cx="935355" cy="381000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3647570" y="4228624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758190" y="4502468"/>
              <a:ext cx="532352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6" name="Rectangle 36"/>
            <p:cNvSpPr/>
            <p:nvPr/>
          </p:nvSpPr>
          <p:spPr>
            <a:xfrm>
              <a:off x="758190" y="4507230"/>
              <a:ext cx="5323522" cy="40005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1085176" y="462867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1839725" y="4628674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2693165" y="4628674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3647570" y="4628674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6</a:t>
              </a:r>
            </a:p>
          </p:txBody>
        </p:sp>
        <p:sp>
          <p:nvSpPr>
            <p:cNvPr id="41" name="Rectangle 41"/>
            <p:cNvSpPr/>
            <p:nvPr/>
          </p:nvSpPr>
          <p:spPr>
            <a:xfrm>
              <a:off x="4181475" y="4516755"/>
              <a:ext cx="935355" cy="381000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42" name="TextBox 42"/>
            <p:cNvSpPr txBox="1"/>
            <p:nvPr/>
          </p:nvSpPr>
          <p:spPr>
            <a:xfrm>
              <a:off x="4601975" y="4628674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6</a:t>
              </a:r>
            </a:p>
          </p:txBody>
        </p:sp>
        <p:sp>
          <p:nvSpPr>
            <p:cNvPr id="43" name="Rectangle 43"/>
            <p:cNvSpPr/>
            <p:nvPr/>
          </p:nvSpPr>
          <p:spPr>
            <a:xfrm>
              <a:off x="758190" y="4902518"/>
              <a:ext cx="532352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4" name="TextBox 44"/>
            <p:cNvSpPr txBox="1"/>
            <p:nvPr/>
          </p:nvSpPr>
          <p:spPr>
            <a:xfrm>
              <a:off x="1085176" y="502872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1839725" y="5028724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2651702" y="5028724"/>
              <a:ext cx="17728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16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3606107" y="5028724"/>
              <a:ext cx="17728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13</a:t>
              </a: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4601975" y="5028724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7</a:t>
              </a:r>
            </a:p>
          </p:txBody>
        </p:sp>
        <p:sp>
          <p:nvSpPr>
            <p:cNvPr id="49" name="Rectangle 49"/>
            <p:cNvSpPr/>
            <p:nvPr/>
          </p:nvSpPr>
          <p:spPr>
            <a:xfrm>
              <a:off x="5136832" y="4916805"/>
              <a:ext cx="935355" cy="381000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50" name="TextBox 50"/>
            <p:cNvSpPr txBox="1"/>
            <p:nvPr/>
          </p:nvSpPr>
          <p:spPr>
            <a:xfrm>
              <a:off x="5557332" y="5028724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51" name="Rectangle 51"/>
            <p:cNvSpPr/>
            <p:nvPr/>
          </p:nvSpPr>
          <p:spPr>
            <a:xfrm>
              <a:off x="758190" y="2907030"/>
              <a:ext cx="5323522" cy="2400300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52" name="Rectangle 52"/>
            <p:cNvSpPr/>
            <p:nvPr/>
          </p:nvSpPr>
          <p:spPr>
            <a:xfrm>
              <a:off x="1505902" y="2907030"/>
              <a:ext cx="9525" cy="240030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3" name="Rectangle 53"/>
            <p:cNvSpPr/>
            <p:nvPr/>
          </p:nvSpPr>
          <p:spPr>
            <a:xfrm>
              <a:off x="2258378" y="2907030"/>
              <a:ext cx="9525" cy="240030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4" name="Rectangle 54"/>
            <p:cNvSpPr/>
            <p:nvPr/>
          </p:nvSpPr>
          <p:spPr>
            <a:xfrm>
              <a:off x="3212782" y="2907030"/>
              <a:ext cx="9525" cy="240030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5" name="Rectangle 55"/>
            <p:cNvSpPr/>
            <p:nvPr/>
          </p:nvSpPr>
          <p:spPr>
            <a:xfrm>
              <a:off x="4167188" y="2907030"/>
              <a:ext cx="9525" cy="240030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6" name="Rectangle 56"/>
            <p:cNvSpPr/>
            <p:nvPr/>
          </p:nvSpPr>
          <p:spPr>
            <a:xfrm>
              <a:off x="5122545" y="2907030"/>
              <a:ext cx="9525" cy="240030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7" name="formula219"/>
                <p:cNvSpPr txBox="1">
                  <a:spLocks noGrp="1"/>
                </p:cNvSpPr>
                <p:nvPr/>
              </p:nvSpPr>
              <p:spPr>
                <a:xfrm>
                  <a:off x="758190" y="5391150"/>
                  <a:ext cx="5323522" cy="3429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lIns="0" tIns="0" rIns="0" bIns="0" wrap="none" anchor="ctr">
                  <a:normAutofit/>
                </a:bodyPr>
                <a:lstStyle/>
                <a:p>
                  <a:pPr algn="ctr"/>
                  <a14:m>
                    <m:oMathPara xmlns:a="http://schemas.openxmlformats.org/drawingml/2006/main" xmlns:m="http://schemas.openxmlformats.org/officeDocument/2006/math">
                      <m:oMathParaPr>
                        <m:jc m:val="center"/>
                      </m:oMathParaPr>
                      <m:oMath>
                        <m:sSub>
                          <m:e>
                            <m:r>
                              <a:rPr lang="zh-CN" sz="13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H</m:t>
                            </m:r>
                          </m:e>
                          <m:sub>
                            <m:r>
                              <a:rPr lang="zh-CN" sz="13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4</m:t>
                            </m:r>
                          </m:sub>
                        </m:sSub>
                        <m:d>
                          <m:dPr>
                            <m:begChr m:val="("/>
                            <m:sepChr m:val=""/>
                            <m:endChr m:val=")"/>
                            <m:grow m:val="on"/>
                            <m:ctrlPr>
                              <a:rPr lang="zh-CN" sz="13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r>
                              <a:rPr lang="zh-CN" sz="13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x</m:t>
                            </m:r>
                          </m:e>
                        </m:d>
                        <m:r>
                          <m:rPr>
                            <m:sty m:val="p"/>
                          </m:rPr>
                          <a:rPr lang="zh-CN" sz="13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=</m:t>
                        </m:r>
                        <m:r>
                          <a:rPr lang="zh-CN" sz="13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1</m:t>
                        </m:r>
                        <m:r>
                          <m:rPr>
                            <m:sty m:val="p"/>
                          </m:rPr>
                          <a:rPr lang="zh-CN" sz="13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−</m:t>
                        </m:r>
                        <m:r>
                          <a:rPr lang="zh-CN" sz="13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3x</m:t>
                        </m:r>
                        <m:r>
                          <m:rPr>
                            <m:sty m:val="p"/>
                          </m:rPr>
                          <a:rPr lang="zh-CN" sz="13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+</m:t>
                        </m:r>
                        <m:r>
                          <a:rPr lang="zh-CN" sz="13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0</m:t>
                        </m:r>
                        <m:r>
                          <m:rPr>
                            <m:sty m:val="p"/>
                          </m:rPr>
                          <a:rPr lang="zh-CN" sz="13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⋅</m:t>
                        </m:r>
                        <m:sSup>
                          <m:e>
                            <m:r>
                              <a:rPr lang="zh-CN" sz="13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x</m:t>
                            </m:r>
                          </m:e>
                          <m:sup>
                            <m:r>
                              <a:rPr lang="zh-CN" sz="13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2</m:t>
                            </m:r>
                          </m:sup>
                        </m:sSup>
                        <m:r>
                          <m:rPr>
                            <m:sty m:val="p"/>
                          </m:rPr>
                          <a:rPr lang="zh-CN" sz="13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+</m:t>
                        </m:r>
                        <m:r>
                          <a:rPr lang="zh-CN" sz="13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6</m:t>
                        </m:r>
                        <m:sSup>
                          <m:e>
                            <m:r>
                              <a:rPr lang="zh-CN" sz="13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x</m:t>
                            </m:r>
                          </m:e>
                          <m:sup>
                            <m:r>
                              <a:rPr lang="zh-CN" sz="13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3</m:t>
                            </m:r>
                          </m:sup>
                        </m:sSup>
                        <m:r>
                          <m:rPr>
                            <m:sty m:val="p"/>
                          </m:rPr>
                          <a:rPr lang="zh-CN" sz="13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+</m:t>
                        </m:r>
                        <m:sSup>
                          <m:e>
                            <m:r>
                              <a:rPr lang="zh-CN" sz="13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x</m:t>
                            </m:r>
                          </m:e>
                          <m:sup>
                            <m:r>
                              <a:rPr lang="zh-CN" sz="13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3</m:t>
                            </m:r>
                          </m:sup>
                        </m:sSup>
                        <m:d>
                          <m:dPr>
                            <m:begChr m:val="("/>
                            <m:sepChr m:val=""/>
                            <m:endChr m:val=")"/>
                            <m:grow m:val="on"/>
                            <m:ctrlPr>
                              <a:rPr lang="zh-CN" sz="13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r>
                              <a:rPr lang="zh-CN" sz="13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x</m:t>
                            </m:r>
                            <m:r>
                              <m:rPr>
                                <m:sty m:val="p"/>
                              </m:rPr>
                              <a:rPr lang="zh-CN" sz="13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−</m:t>
                            </m:r>
                            <m:r>
                              <a:rPr lang="zh-CN" sz="13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1</m:t>
                            </m:r>
                          </m:e>
                        </m:d>
                        <m:r>
                          <m:rPr>
                            <m:sty m:val="p"/>
                          </m:rPr>
                          <a:rPr lang="zh-CN" sz="13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=</m:t>
                        </m:r>
                        <m:sSup>
                          <m:e>
                            <m:r>
                              <a:rPr lang="zh-CN" sz="13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x</m:t>
                            </m:r>
                          </m:e>
                          <m:sup>
                            <m:r>
                              <a:rPr lang="zh-CN" sz="13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4</m:t>
                            </m:r>
                          </m:sup>
                        </m:sSup>
                        <m:r>
                          <m:rPr>
                            <m:sty m:val="p"/>
                          </m:rPr>
                          <a:rPr lang="zh-CN" sz="13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+</m:t>
                        </m:r>
                        <m:r>
                          <a:rPr lang="zh-CN" sz="13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5</m:t>
                        </m:r>
                        <m:sSup>
                          <m:e>
                            <m:r>
                              <a:rPr lang="zh-CN" sz="13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x</m:t>
                            </m:r>
                          </m:e>
                          <m:sup>
                            <m:r>
                              <a:rPr lang="zh-CN" sz="13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3</m:t>
                            </m:r>
                          </m:sup>
                        </m:sSup>
                        <m:r>
                          <m:rPr>
                            <m:sty m:val="p"/>
                          </m:rPr>
                          <a:rPr lang="zh-CN" sz="13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−</m:t>
                        </m:r>
                        <m:r>
                          <a:rPr lang="zh-CN" sz="13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3x</m:t>
                        </m:r>
                        <m:r>
                          <m:rPr>
                            <m:sty m:val="p"/>
                          </m:rPr>
                          <a:rPr lang="zh-CN" sz="13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+</m:t>
                        </m:r>
                        <m:r>
                          <a:rPr lang="zh-CN" sz="13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1</m:t>
                        </m:r>
                      </m:oMath>
                    </m:oMathPara>
                  </a14:m>
                </a:p>
              </p:txBody>
            </p:sp>
          </mc:Choice>
        </mc:AlternateContent>
        <p:sp>
          <p:nvSpPr>
            <p:cNvPr id="58" name="TextBox 58"/>
            <p:cNvSpPr txBox="1"/>
            <p:nvPr/>
          </p:nvSpPr>
          <p:spPr>
            <a:xfrm>
              <a:off x="752475" y="5836444"/>
              <a:ext cx="39429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验证：H(1) = 4，H′(1) = 4 + 15 − 3 = 16，H″(0) = 0。</a:t>
              </a:r>
            </a:p>
          </p:txBody>
        </p:sp>
      </p:grpSp>
      <p:grpSp>
        <p:nvGrpSpPr>
          <p:cNvPr id="102" name="c2-card-1"/>
          <p:cNvGrpSpPr/>
          <p:nvPr/>
        </p:nvGrpSpPr>
        <p:grpSpPr>
          <a:xfrm>
            <a:off x="6573202" y="1524000"/>
            <a:ext cx="5085398" cy="4674870"/>
            <a:chOff x="6573202" y="1524000"/>
            <a:chExt cx="5085398" cy="4674870"/>
          </a:xfrm>
        </p:grpSpPr>
        <p:sp>
          <p:nvSpPr>
            <p:cNvPr id="60" name="Rectangle 60"/>
            <p:cNvSpPr/>
            <p:nvPr/>
          </p:nvSpPr>
          <p:spPr>
            <a:xfrm>
              <a:off x="6573202" y="1524000"/>
              <a:ext cx="5085398" cy="4674870"/>
            </a:xfrm>
            <a:prstGeom prst="roundRect">
              <a:avLst>
                <a:gd name="adj" fmla="val 2852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61" name="Rectangle 61"/>
            <p:cNvSpPr/>
            <p:nvPr/>
          </p:nvSpPr>
          <p:spPr>
            <a:xfrm>
              <a:off x="6582728" y="1657350"/>
              <a:ext cx="47625" cy="4408170"/>
            </a:xfrm>
            <a:prstGeom prst="roundRect">
              <a:avLst>
                <a:gd name="adj" fmla="val 50000"/>
              </a:avLst>
            </a:prstGeom>
            <a:solidFill>
              <a:srgbClr val="14A38B"/>
            </a:solidFill>
            <a:ln>
              <a:noFill/>
            </a:ln>
          </p:spPr>
        </p:sp>
        <p:sp>
          <p:nvSpPr>
            <p:cNvPr id="62" name="Rectangle 62"/>
            <p:cNvSpPr/>
            <p:nvPr/>
          </p:nvSpPr>
          <p:spPr>
            <a:xfrm>
              <a:off x="6797992" y="1710690"/>
              <a:ext cx="569595" cy="238125"/>
            </a:xfrm>
            <a:prstGeom prst="roundRect">
              <a:avLst>
                <a:gd name="adj" fmla="val 50000"/>
              </a:avLst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63" name="TextBox 63"/>
            <p:cNvSpPr txBox="1"/>
            <p:nvPr/>
          </p:nvSpPr>
          <p:spPr>
            <a:xfrm>
              <a:off x="6887037" y="1743551"/>
              <a:ext cx="391507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习题 8</a:t>
              </a:r>
            </a:p>
          </p:txBody>
        </p:sp>
        <p:sp>
          <p:nvSpPr>
            <p:cNvPr id="64" name="TextBox 64"/>
            <p:cNvSpPr txBox="1"/>
            <p:nvPr/>
          </p:nvSpPr>
          <p:spPr>
            <a:xfrm>
              <a:off x="6791134" y="2054542"/>
              <a:ext cx="416549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f(0) = 1，f′(0) = 0.5，f(1) = 2，f′(1) = 0.5</a:t>
              </a:r>
            </a:p>
          </p:txBody>
        </p:sp>
        <p:sp>
          <p:nvSpPr>
            <p:cNvPr id="65" name="TextBox 65"/>
            <p:cNvSpPr txBox="1"/>
            <p:nvPr/>
          </p:nvSpPr>
          <p:spPr>
            <a:xfrm>
              <a:off x="6791134" y="2371725"/>
              <a:ext cx="184017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节点写成 0, 0, 1, 1：</a:t>
              </a:r>
            </a:p>
          </p:txBody>
        </p:sp>
        <p:sp>
          <p:nvSpPr>
            <p:cNvPr id="66" name="Rectangle 66"/>
            <p:cNvSpPr/>
            <p:nvPr/>
          </p:nvSpPr>
          <p:spPr>
            <a:xfrm>
              <a:off x="6797992" y="2649855"/>
              <a:ext cx="4673918" cy="400050"/>
            </a:xfrm>
            <a:prstGeom prst="rect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67" name="TextBox 67"/>
            <p:cNvSpPr txBox="1"/>
            <p:nvPr/>
          </p:nvSpPr>
          <p:spPr>
            <a:xfrm>
              <a:off x="7150696" y="2771299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z</a:t>
              </a:r>
            </a:p>
          </p:txBody>
        </p:sp>
        <p:sp>
          <p:nvSpPr>
            <p:cNvPr id="68" name="TextBox 68"/>
            <p:cNvSpPr txBox="1"/>
            <p:nvPr/>
          </p:nvSpPr>
          <p:spPr>
            <a:xfrm>
              <a:off x="7955559" y="2771299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f</a:t>
              </a:r>
            </a:p>
          </p:txBody>
        </p:sp>
        <p:sp>
          <p:nvSpPr>
            <p:cNvPr id="69" name="TextBox 69"/>
            <p:cNvSpPr txBox="1"/>
            <p:nvPr/>
          </p:nvSpPr>
          <p:spPr>
            <a:xfrm>
              <a:off x="8754148" y="2771299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一阶</a:t>
              </a:r>
            </a:p>
          </p:txBody>
        </p:sp>
        <p:sp>
          <p:nvSpPr>
            <p:cNvPr id="70" name="TextBox 70"/>
            <p:cNvSpPr txBox="1"/>
            <p:nvPr/>
          </p:nvSpPr>
          <p:spPr>
            <a:xfrm>
              <a:off x="9782848" y="2771299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二阶</a:t>
              </a:r>
            </a:p>
          </p:txBody>
        </p:sp>
        <p:sp>
          <p:nvSpPr>
            <p:cNvPr id="71" name="TextBox 71"/>
            <p:cNvSpPr txBox="1"/>
            <p:nvPr/>
          </p:nvSpPr>
          <p:spPr>
            <a:xfrm>
              <a:off x="10811548" y="2771299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三阶</a:t>
              </a:r>
            </a:p>
          </p:txBody>
        </p:sp>
        <p:sp>
          <p:nvSpPr>
            <p:cNvPr id="72" name="TextBox 72"/>
            <p:cNvSpPr txBox="1"/>
            <p:nvPr/>
          </p:nvSpPr>
          <p:spPr>
            <a:xfrm>
              <a:off x="7150696" y="3171349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73" name="Rectangle 73"/>
            <p:cNvSpPr/>
            <p:nvPr/>
          </p:nvSpPr>
          <p:spPr>
            <a:xfrm>
              <a:off x="7612380" y="3059430"/>
              <a:ext cx="785812" cy="381000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74" name="TextBox 74"/>
            <p:cNvSpPr txBox="1"/>
            <p:nvPr/>
          </p:nvSpPr>
          <p:spPr>
            <a:xfrm>
              <a:off x="7957632" y="3171349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75" name="Rectangle 75"/>
            <p:cNvSpPr/>
            <p:nvPr/>
          </p:nvSpPr>
          <p:spPr>
            <a:xfrm>
              <a:off x="6797992" y="3445192"/>
              <a:ext cx="467391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76" name="Rectangle 76"/>
            <p:cNvSpPr/>
            <p:nvPr/>
          </p:nvSpPr>
          <p:spPr>
            <a:xfrm>
              <a:off x="6797992" y="3449955"/>
              <a:ext cx="4673918" cy="40005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77" name="TextBox 77"/>
            <p:cNvSpPr txBox="1"/>
            <p:nvPr/>
          </p:nvSpPr>
          <p:spPr>
            <a:xfrm>
              <a:off x="7150696" y="3571399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78" name="TextBox 78"/>
            <p:cNvSpPr txBox="1"/>
            <p:nvPr/>
          </p:nvSpPr>
          <p:spPr>
            <a:xfrm>
              <a:off x="7957632" y="3571399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79" name="Rectangle 79"/>
            <p:cNvSpPr/>
            <p:nvPr/>
          </p:nvSpPr>
          <p:spPr>
            <a:xfrm>
              <a:off x="8416290" y="3459480"/>
              <a:ext cx="987742" cy="381000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80" name="TextBox 80"/>
            <p:cNvSpPr txBox="1"/>
            <p:nvPr/>
          </p:nvSpPr>
          <p:spPr>
            <a:xfrm>
              <a:off x="8780534" y="3571399"/>
              <a:ext cx="26020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0.5</a:t>
              </a:r>
            </a:p>
          </p:txBody>
        </p:sp>
        <p:sp>
          <p:nvSpPr>
            <p:cNvPr id="81" name="Rectangle 81"/>
            <p:cNvSpPr/>
            <p:nvPr/>
          </p:nvSpPr>
          <p:spPr>
            <a:xfrm>
              <a:off x="6797992" y="3845242"/>
              <a:ext cx="467391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82" name="TextBox 82"/>
            <p:cNvSpPr txBox="1"/>
            <p:nvPr/>
          </p:nvSpPr>
          <p:spPr>
            <a:xfrm>
              <a:off x="7150696" y="3971449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83" name="TextBox 83"/>
            <p:cNvSpPr txBox="1"/>
            <p:nvPr/>
          </p:nvSpPr>
          <p:spPr>
            <a:xfrm>
              <a:off x="7957632" y="3971449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84" name="TextBox 84"/>
            <p:cNvSpPr txBox="1"/>
            <p:nvPr/>
          </p:nvSpPr>
          <p:spPr>
            <a:xfrm>
              <a:off x="8863460" y="3971449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85" name="Rectangle 85"/>
            <p:cNvSpPr/>
            <p:nvPr/>
          </p:nvSpPr>
          <p:spPr>
            <a:xfrm>
              <a:off x="9423082" y="3859530"/>
              <a:ext cx="1031558" cy="381000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86" name="TextBox 86"/>
            <p:cNvSpPr txBox="1"/>
            <p:nvPr/>
          </p:nvSpPr>
          <p:spPr>
            <a:xfrm>
              <a:off x="9809234" y="3971449"/>
              <a:ext cx="26020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0.5</a:t>
              </a:r>
            </a:p>
          </p:txBody>
        </p:sp>
        <p:sp>
          <p:nvSpPr>
            <p:cNvPr id="87" name="Rectangle 87"/>
            <p:cNvSpPr/>
            <p:nvPr/>
          </p:nvSpPr>
          <p:spPr>
            <a:xfrm>
              <a:off x="6797992" y="4245292"/>
              <a:ext cx="467391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88" name="Rectangle 88"/>
            <p:cNvSpPr/>
            <p:nvPr/>
          </p:nvSpPr>
          <p:spPr>
            <a:xfrm>
              <a:off x="6797992" y="4250055"/>
              <a:ext cx="4673918" cy="40005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89" name="TextBox 89"/>
            <p:cNvSpPr txBox="1"/>
            <p:nvPr/>
          </p:nvSpPr>
          <p:spPr>
            <a:xfrm>
              <a:off x="7150696" y="4371499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90" name="TextBox 90"/>
            <p:cNvSpPr txBox="1"/>
            <p:nvPr/>
          </p:nvSpPr>
          <p:spPr>
            <a:xfrm>
              <a:off x="7957632" y="4371499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91" name="TextBox 91"/>
            <p:cNvSpPr txBox="1"/>
            <p:nvPr/>
          </p:nvSpPr>
          <p:spPr>
            <a:xfrm>
              <a:off x="8780534" y="4371499"/>
              <a:ext cx="26020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0.5</a:t>
              </a:r>
            </a:p>
          </p:txBody>
        </p:sp>
        <p:sp>
          <p:nvSpPr>
            <p:cNvPr id="92" name="TextBox 92"/>
            <p:cNvSpPr txBox="1"/>
            <p:nvPr/>
          </p:nvSpPr>
          <p:spPr>
            <a:xfrm>
              <a:off x="9767771" y="4371499"/>
              <a:ext cx="34313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−0.5</a:t>
              </a:r>
            </a:p>
          </p:txBody>
        </p:sp>
        <p:sp>
          <p:nvSpPr>
            <p:cNvPr id="93" name="Rectangle 93"/>
            <p:cNvSpPr/>
            <p:nvPr/>
          </p:nvSpPr>
          <p:spPr>
            <a:xfrm>
              <a:off x="10474642" y="4259580"/>
              <a:ext cx="987742" cy="381000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94" name="TextBox 94"/>
            <p:cNvSpPr txBox="1"/>
            <p:nvPr/>
          </p:nvSpPr>
          <p:spPr>
            <a:xfrm>
              <a:off x="10879397" y="4371499"/>
              <a:ext cx="17728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−1</a:t>
              </a:r>
            </a:p>
          </p:txBody>
        </p:sp>
        <p:sp>
          <p:nvSpPr>
            <p:cNvPr id="95" name="Rectangle 95"/>
            <p:cNvSpPr/>
            <p:nvPr/>
          </p:nvSpPr>
          <p:spPr>
            <a:xfrm>
              <a:off x="6797992" y="2649855"/>
              <a:ext cx="4673918" cy="2000250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96" name="Rectangle 96"/>
            <p:cNvSpPr/>
            <p:nvPr/>
          </p:nvSpPr>
          <p:spPr>
            <a:xfrm>
              <a:off x="7598092" y="2649855"/>
              <a:ext cx="9525" cy="200025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97" name="Rectangle 97"/>
            <p:cNvSpPr/>
            <p:nvPr/>
          </p:nvSpPr>
          <p:spPr>
            <a:xfrm>
              <a:off x="8402002" y="2649855"/>
              <a:ext cx="9525" cy="200025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98" name="Rectangle 98"/>
            <p:cNvSpPr/>
            <p:nvPr/>
          </p:nvSpPr>
          <p:spPr>
            <a:xfrm>
              <a:off x="9408795" y="2649855"/>
              <a:ext cx="9525" cy="200025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99" name="Rectangle 99"/>
            <p:cNvSpPr/>
            <p:nvPr/>
          </p:nvSpPr>
          <p:spPr>
            <a:xfrm>
              <a:off x="10460355" y="2649855"/>
              <a:ext cx="9525" cy="200025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00" name="formula220"/>
                <p:cNvSpPr txBox="1">
                  <a:spLocks noGrp="1"/>
                </p:cNvSpPr>
                <p:nvPr/>
              </p:nvSpPr>
              <p:spPr>
                <a:xfrm>
                  <a:off x="6797992" y="4733925"/>
                  <a:ext cx="4673918" cy="3048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lIns="0" tIns="0" rIns="0" bIns="0" wrap="none" anchor="ctr">
                  <a:normAutofit/>
                </a:bodyPr>
                <a:lstStyle/>
                <a:p>
                  <a:pPr algn="ctr"/>
                  <a14:m>
                    <m:oMathPara xmlns:a="http://schemas.openxmlformats.org/drawingml/2006/main" xmlns:m="http://schemas.openxmlformats.org/officeDocument/2006/math">
                      <m:oMathParaPr>
                        <m:jc m:val="center"/>
                      </m:oMathParaPr>
                      <m:oMath>
                        <m:sSub>
                          <m:e>
                            <m:r>
                              <a:rPr lang="zh-CN" sz="12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H</m:t>
                            </m:r>
                          </m:e>
                          <m:sub>
                            <m:r>
                              <a:rPr lang="zh-CN" sz="12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3</m:t>
                            </m:r>
                          </m:sub>
                        </m:sSub>
                        <m:d>
                          <m:dPr>
                            <m:begChr m:val="("/>
                            <m:sepChr m:val=""/>
                            <m:endChr m:val=")"/>
                            <m:grow m:val="on"/>
                            <m:ctrlPr>
                              <a:rPr lang="zh-CN" sz="12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r>
                              <a:rPr lang="zh-CN" sz="12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x</m:t>
                            </m:r>
                          </m:e>
                        </m:d>
                        <m:r>
                          <m:rPr>
                            <m:sty m:val="p"/>
                          </m:rPr>
                          <a:rPr lang="zh-CN" sz="120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=</m:t>
                        </m:r>
                        <m:r>
                          <a:rPr lang="zh-CN" sz="120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1</m:t>
                        </m:r>
                        <m:r>
                          <m:rPr>
                            <m:sty m:val="p"/>
                          </m:rPr>
                          <a:rPr lang="zh-CN" sz="120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+</m:t>
                        </m:r>
                        <m:r>
                          <a:rPr lang="zh-CN" sz="120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0.5x</m:t>
                        </m:r>
                        <m:r>
                          <m:rPr>
                            <m:sty m:val="p"/>
                          </m:rPr>
                          <a:rPr lang="zh-CN" sz="120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+</m:t>
                        </m:r>
                        <m:r>
                          <a:rPr lang="zh-CN" sz="120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0.5</m:t>
                        </m:r>
                        <m:sSup>
                          <m:e>
                            <m:r>
                              <a:rPr lang="zh-CN" sz="12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x</m:t>
                            </m:r>
                          </m:e>
                          <m:sup>
                            <m:r>
                              <a:rPr lang="zh-CN" sz="12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2</m:t>
                            </m:r>
                          </m:sup>
                        </m:sSup>
                        <m:r>
                          <m:rPr>
                            <m:sty m:val="p"/>
                          </m:rPr>
                          <a:rPr lang="zh-CN" sz="120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−</m:t>
                        </m:r>
                        <m:sSup>
                          <m:e>
                            <m:r>
                              <a:rPr lang="zh-CN" sz="12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x</m:t>
                            </m:r>
                          </m:e>
                          <m:sup>
                            <m:r>
                              <a:rPr lang="zh-CN" sz="12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2</m:t>
                            </m:r>
                          </m:sup>
                        </m:sSup>
                        <m:d>
                          <m:dPr>
                            <m:begChr m:val="("/>
                            <m:sepChr m:val=""/>
                            <m:endChr m:val=")"/>
                            <m:grow m:val="on"/>
                            <m:ctrlPr>
                              <a:rPr lang="zh-CN" sz="12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r>
                              <a:rPr lang="zh-CN" sz="12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x</m:t>
                            </m:r>
                            <m:r>
                              <m:rPr>
                                <m:sty m:val="p"/>
                              </m:rPr>
                              <a:rPr lang="zh-CN" sz="12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−</m:t>
                            </m:r>
                            <m:r>
                              <a:rPr lang="zh-CN" sz="12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1</m:t>
                            </m:r>
                          </m:e>
                        </m:d>
                        <m:r>
                          <m:rPr>
                            <m:sty m:val="p"/>
                          </m:rPr>
                          <a:rPr lang="zh-CN" sz="120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=−</m:t>
                        </m:r>
                        <m:sSup>
                          <m:e>
                            <m:r>
                              <a:rPr lang="zh-CN" sz="12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x</m:t>
                            </m:r>
                          </m:e>
                          <m:sup>
                            <m:r>
                              <a:rPr lang="zh-CN" sz="12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3</m:t>
                            </m:r>
                          </m:sup>
                        </m:sSup>
                        <m:r>
                          <m:rPr>
                            <m:sty m:val="p"/>
                          </m:rPr>
                          <a:rPr lang="zh-CN" sz="120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+</m:t>
                        </m:r>
                        <m:r>
                          <a:rPr lang="zh-CN" sz="120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1.5</m:t>
                        </m:r>
                        <m:sSup>
                          <m:e>
                            <m:r>
                              <a:rPr lang="zh-CN" sz="12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x</m:t>
                            </m:r>
                          </m:e>
                          <m:sup>
                            <m:r>
                              <a:rPr lang="zh-CN" sz="12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2</m:t>
                            </m:r>
                          </m:sup>
                        </m:sSup>
                        <m:r>
                          <m:rPr>
                            <m:sty m:val="p"/>
                          </m:rPr>
                          <a:rPr lang="zh-CN" sz="120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+</m:t>
                        </m:r>
                        <m:r>
                          <a:rPr lang="zh-CN" sz="120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0.5x</m:t>
                        </m:r>
                        <m:r>
                          <m:rPr>
                            <m:sty m:val="p"/>
                          </m:rPr>
                          <a:rPr lang="zh-CN" sz="120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+</m:t>
                        </m:r>
                        <m:r>
                          <a:rPr lang="zh-CN" sz="120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1</m:t>
                        </m:r>
                      </m:oMath>
                    </m:oMathPara>
                  </a14:m>
                </a:p>
              </p:txBody>
            </p:sp>
          </mc:Choice>
        </mc:AlternateContent>
        <p:sp>
          <p:nvSpPr>
            <p:cNvPr id="101" name="TextBox 101"/>
            <p:cNvSpPr txBox="1"/>
            <p:nvPr/>
          </p:nvSpPr>
          <p:spPr>
            <a:xfrm>
              <a:off x="6792278" y="5141119"/>
              <a:ext cx="474777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验证：H′(x) = −3x² + 3x + 0.5，H′(0) = H′(1) = 0.5，H(1) = 2。</a:t>
              </a:r>
            </a:p>
          </p:txBody>
        </p:sp>
      </p:grpSp>
      <p:grpSp>
        <p:nvGrpSpPr>
          <p:cNvPr id="105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103" name="TextBox 103"/>
            <p:cNvSpPr txBox="1"/>
            <p:nvPr/>
          </p:nvSpPr>
          <p:spPr>
            <a:xfrm>
              <a:off x="528447" y="6581299"/>
              <a:ext cx="225267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计算方法 · 第5章 函数插值与曲线拟合</a:t>
              </a:r>
            </a:p>
          </p:txBody>
        </p:sp>
        <p:sp>
          <p:nvSpPr>
            <p:cNvPr id="104" name="TextBox 104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46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2142744" cy="909257"/>
            <a:chOff x="520446" y="342900"/>
            <a:chExt cx="2142744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129790" cy="266700"/>
            </a:xfrm>
            <a:prstGeom prst="roundRect">
              <a:avLst>
                <a:gd name="adj" fmla="val 50000"/>
              </a:avLst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05008" y="407194"/>
              <a:ext cx="198657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第5章 函数插值 · 补充与练习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1055751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自测题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E7D4F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2" name="c1-card-1"/>
          <p:cNvGrpSpPr/>
          <p:nvPr/>
        </p:nvGrpSpPr>
        <p:grpSpPr>
          <a:xfrm>
            <a:off x="533400" y="1524000"/>
            <a:ext cx="3505200" cy="2654618"/>
            <a:chOff x="533400" y="1524000"/>
            <a:chExt cx="3505200" cy="2654618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3505200" cy="2654618"/>
            </a:xfrm>
            <a:prstGeom prst="roundRect">
              <a:avLst>
                <a:gd name="adj" fmla="val 5023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8" name="Rectangle 8"/>
            <p:cNvSpPr/>
            <p:nvPr/>
          </p:nvSpPr>
          <p:spPr>
            <a:xfrm>
              <a:off x="731520" y="1722120"/>
              <a:ext cx="391478" cy="247650"/>
            </a:xfrm>
            <a:prstGeom prst="roundRect">
              <a:avLst>
                <a:gd name="adj" fmla="val 50000"/>
              </a:avLst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820468" y="1756410"/>
              <a:ext cx="21453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Q1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724281" y="2082641"/>
              <a:ext cx="2899918" cy="82162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插值多项式的次数越高，结果越准确</a:t>
              </a:r>
              <a:br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吗？节点很多时怎么办？（原课件思</a:t>
              </a:r>
              <a:br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考题）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724281" y="2943701"/>
              <a:ext cx="2963037" cy="109308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答：</a:t>
              </a: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不一定，等距节点上的高次插值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会出现 Runge 现象。节点多时用分段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低次插值，每段只用离 x 最近的几个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节点。</a:t>
              </a:r>
            </a:p>
          </p:txBody>
        </p:sp>
      </p:grpSp>
      <p:grpSp>
        <p:nvGrpSpPr>
          <p:cNvPr id="18" name="c1-card-2"/>
          <p:cNvGrpSpPr/>
          <p:nvPr/>
        </p:nvGrpSpPr>
        <p:grpSpPr>
          <a:xfrm>
            <a:off x="533400" y="4358640"/>
            <a:ext cx="3505200" cy="1840230"/>
            <a:chOff x="533400" y="4358640"/>
            <a:chExt cx="3505200" cy="1840230"/>
          </a:xfrm>
        </p:grpSpPr>
        <p:sp>
          <p:nvSpPr>
            <p:cNvPr id="13" name="Rectangle 13"/>
            <p:cNvSpPr/>
            <p:nvPr/>
          </p:nvSpPr>
          <p:spPr>
            <a:xfrm>
              <a:off x="533400" y="4358640"/>
              <a:ext cx="3505200" cy="1840230"/>
            </a:xfrm>
            <a:prstGeom prst="roundRect">
              <a:avLst>
                <a:gd name="adj" fmla="val 7246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14" name="Rectangle 14"/>
            <p:cNvSpPr/>
            <p:nvPr/>
          </p:nvSpPr>
          <p:spPr>
            <a:xfrm>
              <a:off x="731520" y="4556760"/>
              <a:ext cx="391478" cy="247650"/>
            </a:xfrm>
            <a:prstGeom prst="roundRect">
              <a:avLst>
                <a:gd name="adj" fmla="val 50000"/>
              </a:avLst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820468" y="4591050"/>
              <a:ext cx="21453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Q4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724281" y="4917281"/>
              <a:ext cx="2812904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用 x₀ = 0、x₁ = 1 对 eˣ 作线性插</a:t>
              </a:r>
              <a:br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值，[0, 1] 上的误差不超过多少？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724281" y="5506879"/>
              <a:ext cx="2773680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答：</a:t>
              </a:r>
              <a:r>
                <a:rPr lang="en-US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|R₁| ≤ max|f″|/2 × max|x(x −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1)| = e/2 × 1/4 = e/8 ≈ 0.340。</a:t>
              </a:r>
            </a:p>
          </p:txBody>
        </p:sp>
      </p:grpSp>
      <p:grpSp>
        <p:nvGrpSpPr>
          <p:cNvPr id="24" name="c2-card-1"/>
          <p:cNvGrpSpPr/>
          <p:nvPr/>
        </p:nvGrpSpPr>
        <p:grpSpPr>
          <a:xfrm>
            <a:off x="4343400" y="1524000"/>
            <a:ext cx="3505200" cy="2111692"/>
            <a:chOff x="4343400" y="1524000"/>
            <a:chExt cx="3505200" cy="2111692"/>
          </a:xfrm>
        </p:grpSpPr>
        <p:sp>
          <p:nvSpPr>
            <p:cNvPr id="19" name="Rectangle 19"/>
            <p:cNvSpPr/>
            <p:nvPr/>
          </p:nvSpPr>
          <p:spPr>
            <a:xfrm>
              <a:off x="4343400" y="1524000"/>
              <a:ext cx="3505200" cy="2111692"/>
            </a:xfrm>
            <a:prstGeom prst="roundRect">
              <a:avLst>
                <a:gd name="adj" fmla="val 6315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0" name="Rectangle 20"/>
            <p:cNvSpPr/>
            <p:nvPr/>
          </p:nvSpPr>
          <p:spPr>
            <a:xfrm>
              <a:off x="4541520" y="1722120"/>
              <a:ext cx="391478" cy="247650"/>
            </a:xfrm>
            <a:prstGeom prst="roundRect">
              <a:avLst>
                <a:gd name="adj" fmla="val 50000"/>
              </a:avLst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4630468" y="1756410"/>
              <a:ext cx="21453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Q2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4534281" y="2082641"/>
              <a:ext cx="2762860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为什么 Newton 插值和 Lagrange</a:t>
              </a:r>
              <a:br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插值的余项相同？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4534281" y="2672239"/>
              <a:ext cx="2972054" cy="82162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答：</a:t>
              </a: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满足同样 n+1 个条件的 n 次多项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式唯一，Nₙ(x) 与 Lₙ(x) 是同一个多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项式，只是写法不同。</a:t>
              </a:r>
            </a:p>
          </p:txBody>
        </p:sp>
      </p:grpSp>
      <p:grpSp>
        <p:nvGrpSpPr>
          <p:cNvPr id="30" name="c2-card-2"/>
          <p:cNvGrpSpPr/>
          <p:nvPr/>
        </p:nvGrpSpPr>
        <p:grpSpPr>
          <a:xfrm>
            <a:off x="4343400" y="3815715"/>
            <a:ext cx="3505200" cy="2383155"/>
            <a:chOff x="4343400" y="3815715"/>
            <a:chExt cx="3505200" cy="2383155"/>
          </a:xfrm>
        </p:grpSpPr>
        <p:sp>
          <p:nvSpPr>
            <p:cNvPr id="25" name="Rectangle 25"/>
            <p:cNvSpPr/>
            <p:nvPr/>
          </p:nvSpPr>
          <p:spPr>
            <a:xfrm>
              <a:off x="4343400" y="3815715"/>
              <a:ext cx="3505200" cy="2383155"/>
            </a:xfrm>
            <a:prstGeom prst="roundRect">
              <a:avLst>
                <a:gd name="adj" fmla="val 5596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6" name="Rectangle 26"/>
            <p:cNvSpPr/>
            <p:nvPr/>
          </p:nvSpPr>
          <p:spPr>
            <a:xfrm>
              <a:off x="4541520" y="4013835"/>
              <a:ext cx="391478" cy="247650"/>
            </a:xfrm>
            <a:prstGeom prst="roundRect">
              <a:avLst>
                <a:gd name="adj" fmla="val 50000"/>
              </a:avLst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30468" y="4048125"/>
              <a:ext cx="21453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Q5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4534281" y="4374356"/>
              <a:ext cx="2879630" cy="82162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已知 f(0)、f(1)、f′(1)、</a:t>
              </a:r>
              <a:br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f″(1)，差商表中节点怎样写？多项</a:t>
              </a:r>
              <a:br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式最高几次？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4534281" y="5235416"/>
              <a:ext cx="2899918" cy="82162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答：</a:t>
              </a: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写成 0, 1, 1, 1，f[1,1] =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f′(1)，f[1,1,1] = f″(1)/2；4 个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条件，次数不超过 3。</a:t>
              </a:r>
            </a:p>
          </p:txBody>
        </p:sp>
      </p:grpSp>
      <p:grpSp>
        <p:nvGrpSpPr>
          <p:cNvPr id="36" name="c3-card-1"/>
          <p:cNvGrpSpPr/>
          <p:nvPr/>
        </p:nvGrpSpPr>
        <p:grpSpPr>
          <a:xfrm>
            <a:off x="8153400" y="1524000"/>
            <a:ext cx="3505200" cy="2111692"/>
            <a:chOff x="8153400" y="1524000"/>
            <a:chExt cx="3505200" cy="2111692"/>
          </a:xfrm>
        </p:grpSpPr>
        <p:sp>
          <p:nvSpPr>
            <p:cNvPr id="31" name="Rectangle 31"/>
            <p:cNvSpPr/>
            <p:nvPr/>
          </p:nvSpPr>
          <p:spPr>
            <a:xfrm>
              <a:off x="8153400" y="1524000"/>
              <a:ext cx="3505200" cy="2111692"/>
            </a:xfrm>
            <a:prstGeom prst="roundRect">
              <a:avLst>
                <a:gd name="adj" fmla="val 6315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8351520" y="1722120"/>
              <a:ext cx="391478" cy="247650"/>
            </a:xfrm>
            <a:prstGeom prst="roundRect">
              <a:avLst>
                <a:gd name="adj" fmla="val 50000"/>
              </a:avLst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440468" y="1756410"/>
              <a:ext cx="21453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Q3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8344281" y="2082641"/>
              <a:ext cx="2704249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f(x) = 2x³ − x + 1，求 f[0, 1,</a:t>
              </a:r>
              <a:br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2, 3] 和 f[0, 1, 2, 3, 4]。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8344281" y="2672239"/>
              <a:ext cx="2863850" cy="82162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答：</a:t>
              </a: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由 (5.3.6)，三阶差商 = f‴/3!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= 12/6 = 2（首项系数），四阶差商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为 0。</a:t>
              </a:r>
            </a:p>
          </p:txBody>
        </p:sp>
      </p:grpSp>
      <p:grpSp>
        <p:nvGrpSpPr>
          <p:cNvPr id="42" name="c3-card-2"/>
          <p:cNvGrpSpPr/>
          <p:nvPr/>
        </p:nvGrpSpPr>
        <p:grpSpPr>
          <a:xfrm>
            <a:off x="8153400" y="3815715"/>
            <a:ext cx="3505200" cy="2383155"/>
            <a:chOff x="8153400" y="3815715"/>
            <a:chExt cx="3505200" cy="2383155"/>
          </a:xfrm>
        </p:grpSpPr>
        <p:sp>
          <p:nvSpPr>
            <p:cNvPr id="37" name="Rectangle 37"/>
            <p:cNvSpPr/>
            <p:nvPr/>
          </p:nvSpPr>
          <p:spPr>
            <a:xfrm>
              <a:off x="8153400" y="3815715"/>
              <a:ext cx="3505200" cy="2383155"/>
            </a:xfrm>
            <a:prstGeom prst="roundRect">
              <a:avLst>
                <a:gd name="adj" fmla="val 5596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8" name="Rectangle 38"/>
            <p:cNvSpPr/>
            <p:nvPr/>
          </p:nvSpPr>
          <p:spPr>
            <a:xfrm>
              <a:off x="8351520" y="4013835"/>
              <a:ext cx="391478" cy="247650"/>
            </a:xfrm>
            <a:prstGeom prst="roundRect">
              <a:avLst>
                <a:gd name="adj" fmla="val 50000"/>
              </a:avLst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8440468" y="4048125"/>
              <a:ext cx="21453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Q6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8344281" y="4374356"/>
              <a:ext cx="2831389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三次 Hermite 插值比两点线性插值</a:t>
              </a:r>
              <a:br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多用了什么信息？余项怎样变？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8344281" y="4963954"/>
              <a:ext cx="2945003" cy="82162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答：</a:t>
              </a: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多用了两个节点上的导数值。余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项由 f″(ξ)(x − x₀)(x − x₁)/2 变为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f⁽⁴⁾(ξ)(x − x₀)²(x − x₁)²/4!。</a:t>
              </a:r>
            </a:p>
          </p:txBody>
        </p:sp>
      </p:grpSp>
      <p:grpSp>
        <p:nvGrpSpPr>
          <p:cNvPr id="45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43" name="TextBox 43"/>
            <p:cNvSpPr txBox="1"/>
            <p:nvPr/>
          </p:nvSpPr>
          <p:spPr>
            <a:xfrm>
              <a:off x="528447" y="6581299"/>
              <a:ext cx="225267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计算方法 · 第5章 函数插值与曲线拟合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47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2142744" cy="909257"/>
            <a:chOff x="520446" y="342900"/>
            <a:chExt cx="2142744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129790" cy="266700"/>
            </a:xfrm>
            <a:prstGeom prst="roundRect">
              <a:avLst>
                <a:gd name="adj" fmla="val 50000"/>
              </a:avLst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05008" y="407194"/>
              <a:ext cx="198657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第5章 函数插值 · 补充与练习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1399032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本章小结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E7D4F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37" name="c1-table-1"/>
          <p:cNvGrpSpPr/>
          <p:nvPr/>
        </p:nvGrpSpPr>
        <p:grpSpPr>
          <a:xfrm>
            <a:off x="533400" y="1524000"/>
            <a:ext cx="6059805" cy="3200400"/>
            <a:chOff x="533400" y="1524000"/>
            <a:chExt cx="6059805" cy="3200400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6059805" cy="400050"/>
            </a:xfrm>
            <a:prstGeom prst="rect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922693" y="1645444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方法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922539" y="1645444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插值条件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3497974" y="1645444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公式要点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5527078" y="1645444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余项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630555" y="2245519"/>
              <a:ext cx="71293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Lagrange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721168" y="2245519"/>
              <a:ext cx="90853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n+1 个函数值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2932748" y="2045494"/>
              <a:ext cx="1554734" cy="62007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575"/>
                </a:lnSpc>
              </a:pPr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Lₙ = Σ lᵢ(x)yᵢ，lᵢ 在自</a:t>
              </a:r>
              <a:br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己的节点取 1、其余节点</a:t>
              </a:r>
              <a:br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取 0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4872038" y="2145506"/>
              <a:ext cx="1497838" cy="4200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575"/>
                </a:lnSpc>
              </a:pPr>
              <a:r>
                <a:rPr lang="el-GR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f⁽ⁿ⁺¹⁾(ξ)ωₙ₊₁(x)/(n</a:t>
              </a:r>
              <a:br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+1)!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533400" y="2719388"/>
              <a:ext cx="605980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533400" y="2724150"/>
              <a:ext cx="6059805" cy="600075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630555" y="2945606"/>
              <a:ext cx="570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Newton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1721168" y="2945606"/>
              <a:ext cx="90853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n+1 个函数值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2932748" y="2845594"/>
              <a:ext cx="1576070" cy="4200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575"/>
                </a:lnSpc>
              </a:pPr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系数取差商表对角线，加</a:t>
              </a:r>
              <a:br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节点只加一项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4872038" y="2845594"/>
              <a:ext cx="1497838" cy="4200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575"/>
                </a:lnSpc>
              </a:pPr>
              <a:r>
                <a:rPr lang="el-GR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f[x₀,…,xₙ,x]ωₙ₊₁(x)</a:t>
              </a:r>
              <a:br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，与 Lagrange 相同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533400" y="3319462"/>
              <a:ext cx="605980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630555" y="3445669"/>
              <a:ext cx="578968" cy="4200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575"/>
                </a:lnSpc>
              </a:pPr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三次</a:t>
              </a:r>
              <a:br/>
              <a:r>
                <a:rPr lang="en-US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Hermite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1721168" y="3445669"/>
              <a:ext cx="864870" cy="4200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575"/>
                </a:lnSpc>
              </a:pPr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两个节点的函</a:t>
              </a:r>
              <a:br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数值和导数值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2932748" y="3445669"/>
              <a:ext cx="1647190" cy="4200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575"/>
                </a:lnSpc>
              </a:pPr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基函数 αᵢ、βᵢ，或重节点</a:t>
              </a:r>
              <a:br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差商表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4872038" y="3445669"/>
              <a:ext cx="1469390" cy="4200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575"/>
                </a:lnSpc>
              </a:pPr>
              <a:r>
                <a:rPr lang="el-GR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f⁽⁴⁾(ξ)(x − x₀)²(x −</a:t>
              </a:r>
              <a:br/>
              <a:r>
                <a:rPr lang="en-US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x₁)²/4!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533400" y="3919538"/>
              <a:ext cx="605980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8" name="Rectangle 28"/>
            <p:cNvSpPr/>
            <p:nvPr/>
          </p:nvSpPr>
          <p:spPr>
            <a:xfrm>
              <a:off x="533400" y="3924300"/>
              <a:ext cx="6059805" cy="80010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630555" y="4145756"/>
              <a:ext cx="766724" cy="4200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575"/>
                </a:lnSpc>
              </a:pPr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Newton 前</a:t>
              </a:r>
              <a:br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插（5.5*）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1721168" y="4145756"/>
              <a:ext cx="864870" cy="4200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575"/>
                </a:lnSpc>
              </a:pPr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等距节点的函</a:t>
              </a:r>
              <a:br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数值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2932748" y="4145756"/>
              <a:ext cx="1526286" cy="4200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575"/>
                </a:lnSpc>
              </a:pPr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差分代替差商，x = x₀ +</a:t>
              </a:r>
              <a:br/>
              <a:r>
                <a:rPr lang="en-US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th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4872038" y="4045744"/>
              <a:ext cx="1497838" cy="62007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575"/>
                </a:lnSpc>
              </a:pPr>
              <a:r>
                <a:rPr lang="en-US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t(t − 1)⋯(t −</a:t>
              </a:r>
              <a:br/>
              <a:r>
                <a:rPr lang="el-GR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n)hⁿ⁺¹f⁽ⁿ⁺¹⁾(ξ)/(n+</a:t>
              </a:r>
              <a:br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1)!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533400" y="1524000"/>
              <a:ext cx="6059805" cy="3200400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34" name="Rectangle 34"/>
            <p:cNvSpPr/>
            <p:nvPr/>
          </p:nvSpPr>
          <p:spPr>
            <a:xfrm>
              <a:off x="1619250" y="1524000"/>
              <a:ext cx="9525" cy="320040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5" name="Rectangle 35"/>
            <p:cNvSpPr/>
            <p:nvPr/>
          </p:nvSpPr>
          <p:spPr>
            <a:xfrm>
              <a:off x="2830830" y="1524000"/>
              <a:ext cx="9525" cy="320040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6" name="Rectangle 36"/>
            <p:cNvSpPr/>
            <p:nvPr/>
          </p:nvSpPr>
          <p:spPr>
            <a:xfrm>
              <a:off x="4770120" y="1524000"/>
              <a:ext cx="9525" cy="320040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47" name="c2-bullets-1"/>
          <p:cNvGrpSpPr/>
          <p:nvPr/>
        </p:nvGrpSpPr>
        <p:grpSpPr>
          <a:xfrm>
            <a:off x="6897052" y="1534478"/>
            <a:ext cx="4495038" cy="1664207"/>
            <a:chOff x="6897052" y="1534478"/>
            <a:chExt cx="4495038" cy="1664207"/>
          </a:xfrm>
        </p:grpSpPr>
        <p:sp>
          <p:nvSpPr>
            <p:cNvPr id="38" name="Ellipse 38"/>
            <p:cNvSpPr/>
            <p:nvPr/>
          </p:nvSpPr>
          <p:spPr>
            <a:xfrm>
              <a:off x="6897052" y="1534478"/>
              <a:ext cx="192405" cy="192405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6952731" y="1572863"/>
              <a:ext cx="81049" cy="1790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7177849" y="1545907"/>
              <a:ext cx="4214241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插值多项式由插值条件唯一确定，Lagrange 与 Newton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只是写法不同</a:t>
              </a:r>
            </a:p>
          </p:txBody>
        </p:sp>
        <p:sp>
          <p:nvSpPr>
            <p:cNvPr id="41" name="Ellipse 41"/>
            <p:cNvSpPr/>
            <p:nvPr/>
          </p:nvSpPr>
          <p:spPr>
            <a:xfrm>
              <a:off x="6897052" y="2100262"/>
              <a:ext cx="192405" cy="192405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42" name="TextBox 42"/>
            <p:cNvSpPr txBox="1"/>
            <p:nvPr/>
          </p:nvSpPr>
          <p:spPr>
            <a:xfrm>
              <a:off x="6952731" y="2138648"/>
              <a:ext cx="81049" cy="1790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7177849" y="2111692"/>
              <a:ext cx="4154234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节点离 x 越近误差越小；等距高次插值可能发散，节点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多时分段插值</a:t>
              </a:r>
            </a:p>
          </p:txBody>
        </p:sp>
        <p:sp>
          <p:nvSpPr>
            <p:cNvPr id="44" name="Ellipse 44"/>
            <p:cNvSpPr/>
            <p:nvPr/>
          </p:nvSpPr>
          <p:spPr>
            <a:xfrm>
              <a:off x="6897052" y="2666048"/>
              <a:ext cx="192405" cy="192405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6952731" y="2704433"/>
              <a:ext cx="81049" cy="1790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7177849" y="2677477"/>
              <a:ext cx="4145661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重节点处的差商用导数值代替，Hermite 插值由此并入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差商表</a:t>
              </a:r>
            </a:p>
          </p:txBody>
        </p:sp>
      </p:grpSp>
      <p:grpSp>
        <p:nvGrpSpPr>
          <p:cNvPr id="58" name="c2-card-2"/>
          <p:cNvGrpSpPr/>
          <p:nvPr/>
        </p:nvGrpSpPr>
        <p:grpSpPr>
          <a:xfrm>
            <a:off x="6898005" y="3315652"/>
            <a:ext cx="4760595" cy="2300288"/>
            <a:chOff x="6898005" y="3315652"/>
            <a:chExt cx="4760595" cy="2300288"/>
          </a:xfrm>
        </p:grpSpPr>
        <p:sp>
          <p:nvSpPr>
            <p:cNvPr id="48" name="Rectangle 48"/>
            <p:cNvSpPr/>
            <p:nvPr/>
          </p:nvSpPr>
          <p:spPr>
            <a:xfrm>
              <a:off x="6898005" y="3315652"/>
              <a:ext cx="4760595" cy="2300288"/>
            </a:xfrm>
            <a:prstGeom prst="roundRect">
              <a:avLst>
                <a:gd name="adj" fmla="val 5797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49" name="Rectangle 49"/>
            <p:cNvSpPr/>
            <p:nvPr/>
          </p:nvSpPr>
          <p:spPr>
            <a:xfrm>
              <a:off x="6907530" y="3449002"/>
              <a:ext cx="47625" cy="2033588"/>
            </a:xfrm>
            <a:prstGeom prst="roundRect">
              <a:avLst>
                <a:gd name="adj" fmla="val 50000"/>
              </a:avLst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50" name="Rectangle 50"/>
            <p:cNvSpPr/>
            <p:nvPr/>
          </p:nvSpPr>
          <p:spPr>
            <a:xfrm>
              <a:off x="7122795" y="3502342"/>
              <a:ext cx="1454468" cy="238125"/>
            </a:xfrm>
            <a:prstGeom prst="roundRect">
              <a:avLst>
                <a:gd name="adj" fmla="val 5000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51" name="TextBox 51"/>
            <p:cNvSpPr txBox="1"/>
            <p:nvPr/>
          </p:nvSpPr>
          <p:spPr>
            <a:xfrm>
              <a:off x="7184962" y="3535204"/>
              <a:ext cx="132918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本讲义对原课件的更正</a:t>
              </a:r>
            </a:p>
          </p:txBody>
        </p:sp>
        <p:sp>
          <p:nvSpPr>
            <p:cNvPr id="52" name="Ellipse 52"/>
            <p:cNvSpPr/>
            <p:nvPr/>
          </p:nvSpPr>
          <p:spPr>
            <a:xfrm>
              <a:off x="7131367" y="3903345"/>
              <a:ext cx="59055" cy="59055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53" name="TextBox 53"/>
            <p:cNvSpPr txBox="1"/>
            <p:nvPr/>
          </p:nvSpPr>
          <p:spPr>
            <a:xfrm>
              <a:off x="7287387" y="3847148"/>
              <a:ext cx="3939921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例 5.2：误差式因子 0.033 应为 0.0033；抛物线插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值结果应为 0.330374</a:t>
              </a:r>
            </a:p>
          </p:txBody>
        </p:sp>
        <p:sp>
          <p:nvSpPr>
            <p:cNvPr id="54" name="Ellipse 54"/>
            <p:cNvSpPr/>
            <p:nvPr/>
          </p:nvSpPr>
          <p:spPr>
            <a:xfrm>
              <a:off x="7131367" y="4460558"/>
              <a:ext cx="59055" cy="59055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55" name="TextBox 55"/>
            <p:cNvSpPr txBox="1"/>
            <p:nvPr/>
          </p:nvSpPr>
          <p:spPr>
            <a:xfrm>
              <a:off x="7287387" y="4404360"/>
              <a:ext cx="3965638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例 5.3：1.05 行一阶差商应为 1.5156；四阶差商不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相同，余项约 10⁻⁷ 而非 0</a:t>
              </a:r>
            </a:p>
          </p:txBody>
        </p:sp>
        <p:sp>
          <p:nvSpPr>
            <p:cNvPr id="56" name="Ellipse 56"/>
            <p:cNvSpPr/>
            <p:nvPr/>
          </p:nvSpPr>
          <p:spPr>
            <a:xfrm>
              <a:off x="7131367" y="5017770"/>
              <a:ext cx="59055" cy="59055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57" name="TextBox 57"/>
            <p:cNvSpPr txBox="1"/>
            <p:nvPr/>
          </p:nvSpPr>
          <p:spPr>
            <a:xfrm>
              <a:off x="7287387" y="4961573"/>
              <a:ext cx="3939921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(5.3.4) 分母末因子应为 (xⱼ − xₖ)；问题二的导数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条件以表格为准；习题 4 的 x₄ 应为 x₃</a:t>
              </a:r>
            </a:p>
          </p:txBody>
        </p:sp>
      </p:grpSp>
      <p:grpSp>
        <p:nvGrpSpPr>
          <p:cNvPr id="64" name="takeaway"/>
          <p:cNvGrpSpPr/>
          <p:nvPr/>
        </p:nvGrpSpPr>
        <p:grpSpPr>
          <a:xfrm>
            <a:off x="533400" y="5881688"/>
            <a:ext cx="11125200" cy="481012"/>
            <a:chOff x="533400" y="5881688"/>
            <a:chExt cx="11125200" cy="481012"/>
          </a:xfrm>
        </p:grpSpPr>
        <p:sp>
          <p:nvSpPr>
            <p:cNvPr id="59" name="Rectangle 59"/>
            <p:cNvSpPr/>
            <p:nvPr/>
          </p:nvSpPr>
          <p:spPr>
            <a:xfrm>
              <a:off x="533400" y="5881688"/>
              <a:ext cx="11125200" cy="481012"/>
            </a:xfrm>
            <a:prstGeom prst="roundRect">
              <a:avLst>
                <a:gd name="adj" fmla="val 23762"/>
              </a:avLst>
            </a:prstGeom>
            <a:solidFill>
              <a:srgbClr val="2E7D4F"/>
            </a:solidFill>
            <a:ln>
              <a:noFill/>
            </a:ln>
          </p:spPr>
        </p:sp>
        <p:grpSp>
          <p:nvGrpSpPr>
            <p:cNvPr id="62" name="Group 62"/>
            <p:cNvGrpSpPr/>
            <p:nvPr/>
          </p:nvGrpSpPr>
          <p:grpSpPr>
            <a:xfrm>
              <a:off x="738188" y="6022660"/>
              <a:ext cx="200023" cy="200023"/>
              <a:chOff x="738188" y="6022660"/>
              <a:chExt cx="200023" cy="200023"/>
            </a:xfrm>
          </p:grpSpPr>
          <p:sp>
            <p:nvSpPr>
              <p:cNvPr id="60" name="Freeform 60"/>
              <p:cNvSpPr/>
              <p:nvPr/>
            </p:nvSpPr>
            <p:spPr>
              <a:xfrm>
                <a:off x="738188" y="6022660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61" name="Freeform 61"/>
              <p:cNvSpPr/>
              <p:nvPr/>
            </p:nvSpPr>
            <p:spPr>
              <a:xfrm>
                <a:off x="871538" y="6089333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63" name="TextBox 63"/>
            <p:cNvSpPr txBox="1"/>
            <p:nvPr/>
          </p:nvSpPr>
          <p:spPr>
            <a:xfrm>
              <a:off x="1040892" y="6028373"/>
              <a:ext cx="850687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复习时重点练手算：Lagrange 基函数值、差商表（含重节点）、用余项估计误差，每一步写出代入的数。</a:t>
              </a:r>
            </a:p>
          </p:txBody>
        </p:sp>
      </p:grpSp>
      <p:grpSp>
        <p:nvGrpSpPr>
          <p:cNvPr id="67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65" name="TextBox 65"/>
            <p:cNvSpPr txBox="1"/>
            <p:nvPr/>
          </p:nvSpPr>
          <p:spPr>
            <a:xfrm>
              <a:off x="528447" y="6581299"/>
              <a:ext cx="225267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计算方法 · 第5章 函数插值与曲线拟合</a:t>
              </a:r>
            </a:p>
          </p:txBody>
        </p:sp>
        <p:sp>
          <p:nvSpPr>
            <p:cNvPr id="66" name="TextBox 66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48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theme/theme1.xml><?xml version="1.0" encoding="utf-8"?>
<a:theme xmlns:a="http://schemas.openxmlformats.org/drawingml/2006/main" name="numa_ch5">
  <a:themeElements>
    <a:clrScheme name="numa_ch5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numa_ch5">
      <a:majorFont>
        <a:latin typeface="Microsoft YaHei"/>
        <a:ea typeface="Microsoft YaHei"/>
        <a:cs typeface="Microsoft YaHei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Microsoft YaHei"/>
        <a:ea typeface="Microsoft YaHei"/>
        <a:cs typeface="Microsoft YaHei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numa_ch5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Office PowerPoint</Application>
  <PresentationFormat>On-screen Show (16:9)</PresentationFormat>
  <Paragraphs>0</Paragraphs>
  <Slides>48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/>
  <dc:language>zh-CN</dc:language>
  <cp:lastModifiedBy/>
  <cp:revision>1</cp:revision>
  <dcterms:created xsi:type="dcterms:W3CDTF">2026-09-17T09:20:48Z</dcterms:created>
  <dcterms:modified xsi:type="dcterms:W3CDTF">2026-09-17T09:20:48Z</dcterms:modified>
  <cp:category/>
  <cp:contentStatus/>
</cp:coreProperties>
</file>