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numa_ch5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numa_ch5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55568a3e6f98038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1aaebdf5ecb846e.png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03ea92d4e697308.png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126736" cy="3437763"/>
            <a:chOff x="666750" y="1619250"/>
            <a:chExt cx="5126736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529715" cy="3429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5751" y="1718310"/>
              <a:ext cx="1269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计算方法 · 第5章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512673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函数插值与曲线拟合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864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用多项式穿过已知数据点，并估计误差有多大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图像缩放与插值的概念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7826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Lagrange 插值与余项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6745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差商与 Newton 插值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5467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三次 Hermite 插值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6505746" cy="205359"/>
            <a:chOff x="680466" y="6192202"/>
            <a:chExt cx="6505746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65057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自学复习版｜据吉林大学《计算方法》第5章课件整理（原课件讲到 5.4 节，未含曲线拟合）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第5章 函数插值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924585"/>
            <a:chOff x="521970" y="1515428"/>
            <a:chExt cx="6287453" cy="392458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引入：图像缩放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点阵图放大需要补像素，最近邻插值，插值的历史与应用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拉格朗日插值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523113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插值问题与存在唯一性，余项定理，线性、抛物线与 n 次公式，例 5.1、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5.2，Runge 现象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318801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29374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32994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牛顿插值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646646"/>
              <a:ext cx="49731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差商及其性质，差商表，Newton 公式与余项，节点选择，例 5.3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96049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406527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4101465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三次埃尔米特插值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419124"/>
              <a:ext cx="48377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整齐与非整齐的插值条件，基函数法，重节点差商法，插值余项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73202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83774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87394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补充与练习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5190649"/>
              <a:ext cx="47429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等距节点的差分公式（5.5*），实验题，习题 1–8 讲解，自测</a:t>
              </a:r>
            </a:p>
          </p:txBody>
        </p:sp>
      </p:grpSp>
      <p:grpSp>
        <p:nvGrpSpPr>
          <p:cNvPr id="39" name="c2-card-1"/>
          <p:cNvGrpSpPr/>
          <p:nvPr/>
        </p:nvGrpSpPr>
        <p:grpSpPr>
          <a:xfrm>
            <a:off x="7114222" y="1524000"/>
            <a:ext cx="4544378" cy="3866198"/>
            <a:chOff x="7114222" y="1524000"/>
            <a:chExt cx="4544378" cy="3866198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3866198"/>
            </a:xfrm>
            <a:prstGeom prst="roundRect">
              <a:avLst>
                <a:gd name="adj" fmla="val 34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599498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63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 n 次 Lagrange 插值多项式和余项，用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余项估计误差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653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手算差商表，写出 Newton 插值多项式，按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 x 最近的原则选节点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701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 Runge 现象，说明节点多时为什么改用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分段低次插值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973830"/>
              <a:ext cx="3063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用基函数法或重节点差商表构造三次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Hermite 插值多项式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691253" cy="2997517"/>
            <a:chOff x="667512" y="1835468"/>
            <a:chExt cx="4691253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引入：图像缩放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放大图片时，新增像素的值要由已有像素算出来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244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5.1 点阵图放大与插值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最近邻插值的坐标映射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插值的历史与应用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第5章 函数插值 · 引入：图像缩放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放大点阵图时，新增的像素要用插值算出来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842635" cy="1966912"/>
            <a:chOff x="533400" y="1524000"/>
            <a:chExt cx="5842635" cy="19669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966912"/>
            </a:xfrm>
            <a:prstGeom prst="roundRect">
              <a:avLst>
                <a:gd name="adj" fmla="val 67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0021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背景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点阵图与矢量图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19265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129790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点阵图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：用像素矩阵描述图像，放大时像素个数随之增加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52793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46507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矢量图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：用函数描述图形，放大时不需要补像素，本节不讨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4573" y="3082766"/>
              <a:ext cx="5354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新增像素的值，由它周围已有像素的值按数学公式计算，这就是插值。</a:t>
              </a:r>
            </a:p>
          </p:txBody>
        </p:sp>
      </p:grpSp>
      <p:grpSp>
        <p:nvGrpSpPr>
          <p:cNvPr id="37" name="c1-table-2"/>
          <p:cNvGrpSpPr/>
          <p:nvPr/>
        </p:nvGrpSpPr>
        <p:grpSpPr>
          <a:xfrm>
            <a:off x="533400" y="3681412"/>
            <a:ext cx="5842635" cy="2475548"/>
            <a:chOff x="533400" y="3681412"/>
            <a:chExt cx="5842635" cy="2475548"/>
          </a:xfrm>
        </p:grpSpPr>
        <p:sp>
          <p:nvSpPr>
            <p:cNvPr id="18" name="Rectangle 18"/>
            <p:cNvSpPr/>
            <p:nvPr/>
          </p:nvSpPr>
          <p:spPr>
            <a:xfrm>
              <a:off x="533400" y="3681412"/>
              <a:ext cx="5842635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97547" y="38171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466569" y="381714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新像素的取值依据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62842" y="38171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效果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1223" y="437911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最近邻插值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27098" y="4379119"/>
              <a:ext cx="17619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离它最近的 1 个原像素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14100" y="4265771"/>
              <a:ext cx="1475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最快；放大后出现锯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齿和色块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80155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4806315"/>
              <a:ext cx="584263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1223" y="505444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双线性插值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27098" y="4941094"/>
              <a:ext cx="219125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周围 2×2 共 4 个像素，沿行、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列两个方向做线性插值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14100" y="505444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较平滑，边缘略模糊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547687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1223" y="572976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双三次插值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27098" y="5616416"/>
              <a:ext cx="228066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周围 4×4 共 16 个像素，用三次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函数加权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14100" y="572976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更平滑，计算量最大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3681412"/>
              <a:ext cx="5842635" cy="24755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814512" y="3681412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501515" y="3681412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0" name="c2-image-1"/>
          <p:cNvGrpSpPr/>
          <p:nvPr/>
        </p:nvGrpSpPr>
        <p:grpSpPr>
          <a:xfrm>
            <a:off x="6680835" y="1524000"/>
            <a:ext cx="4977765" cy="3614262"/>
            <a:chOff x="6680835" y="1524000"/>
            <a:chExt cx="4977765" cy="3614262"/>
          </a:xfrm>
        </p:grpSpPr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2"/>
            <a:srcRect l="0" t="5810" r="0" b="5811"/>
            <a:stretch>
              <a:fillRect/>
            </a:stretch>
          </p:blipFill>
          <p:spPr>
            <a:xfrm>
              <a:off x="6680835" y="1524000"/>
              <a:ext cx="4977765" cy="3299460"/>
            </a:xfrm>
            <a:prstGeom prst="roundRect">
              <a:avLst>
                <a:gd name="adj" fmla="val 4041"/>
              </a:avLst>
            </a:prstGeom>
          </p:spPr>
        </p:pic>
        <p:sp>
          <p:nvSpPr>
            <p:cNvPr id="39" name="TextBox 39"/>
            <p:cNvSpPr txBox="1"/>
            <p:nvPr/>
          </p:nvSpPr>
          <p:spPr>
            <a:xfrm>
              <a:off x="7505484" y="4918234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最近邻放大：多出来的格子照搬相邻原格子的颜色</a:t>
              </a:r>
            </a:p>
          </p:txBody>
        </p:sp>
      </p:grpSp>
      <p:grpSp>
        <p:nvGrpSpPr>
          <p:cNvPr id="47" name="c2-callout-2"/>
          <p:cNvGrpSpPr/>
          <p:nvPr/>
        </p:nvGrpSpPr>
        <p:grpSpPr>
          <a:xfrm>
            <a:off x="6680835" y="5303520"/>
            <a:ext cx="4977765" cy="1059180"/>
            <a:chOff x="6680835" y="5303520"/>
            <a:chExt cx="4977765" cy="1059180"/>
          </a:xfrm>
        </p:grpSpPr>
        <p:sp>
          <p:nvSpPr>
            <p:cNvPr id="41" name="Rectangle 41"/>
            <p:cNvSpPr/>
            <p:nvPr/>
          </p:nvSpPr>
          <p:spPr>
            <a:xfrm>
              <a:off x="6680835" y="5303520"/>
              <a:ext cx="4977765" cy="1059180"/>
            </a:xfrm>
            <a:prstGeom prst="roundRect">
              <a:avLst>
                <a:gd name="adj" fmla="val 1079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873564" y="5729406"/>
              <a:ext cx="224134" cy="192560"/>
              <a:chOff x="6873564" y="5729406"/>
              <a:chExt cx="224134" cy="19256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985635" y="579977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873564" y="572940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985635" y="587756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7187565" y="5452110"/>
              <a:ext cx="4015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插值让放大后的图像看起来平滑、干净，但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不能</a:t>
              </a:r>
              <a:br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增加光学信息</a:t>
              </a: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。数码变焦就是插值放大，光学变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焦靠镜头结构才真正拍到更多细节。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96504" cy="909257"/>
            <a:chOff x="520446" y="342900"/>
            <a:chExt cx="79965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第5章 函数插值 · 引入：图像缩放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965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最近邻插值：把 B 的坐标映射回 A，取最近的原像素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10411079" cy="541592"/>
            <a:chOff x="526161" y="1547336"/>
            <a:chExt cx="10411079" cy="54159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041107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例：把 3×3 的 256 级灰度图 A 放大成 4×4 的 B。行、列坐标都从 0 开始，Bx、By 是 B 中某位置的横（列）、纵（行）坐标，Ax、</a:t>
              </a:r>
              <a:br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Ay 是它映射回 A 后的坐标。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4"/>
              <p:cNvSpPr txBox="1">
                <a:spLocks noGrp="1"/>
              </p:cNvSpPr>
              <p:nvPr/>
            </p:nvSpPr>
            <p:spPr>
              <a:xfrm>
                <a:off x="533400" y="2204085"/>
                <a:ext cx="5410200" cy="565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sub>
                          </m:sSub>
                        </m:den>
                      </m:f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5.1.1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sub>
                          </m:sSub>
                        </m:den>
                      </m:f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5.1.2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1" name="c1-text-2"/>
          <p:cNvGrpSpPr/>
          <p:nvPr/>
        </p:nvGrpSpPr>
        <p:grpSpPr>
          <a:xfrm>
            <a:off x="527685" y="2963704"/>
            <a:ext cx="3456625" cy="220028"/>
            <a:chOff x="527685" y="2963704"/>
            <a:chExt cx="3456625" cy="220028"/>
          </a:xfrm>
        </p:grpSpPr>
        <p:sp>
          <p:nvSpPr>
            <p:cNvPr id="10" name="TextBox 10"/>
            <p:cNvSpPr txBox="1"/>
            <p:nvPr/>
          </p:nvSpPr>
          <p:spPr>
            <a:xfrm>
              <a:off x="527685" y="2963704"/>
              <a:ext cx="3456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 表示列数，n 表示行数。本例两个比值都是 3/4。</a:t>
              </a:r>
            </a:p>
          </p:txBody>
        </p:sp>
      </p:grpSp>
      <p:grpSp>
        <p:nvGrpSpPr>
          <p:cNvPr id="43" name="c1-table-3"/>
          <p:cNvGrpSpPr/>
          <p:nvPr/>
        </p:nvGrpSpPr>
        <p:grpSpPr>
          <a:xfrm>
            <a:off x="528066" y="3313748"/>
            <a:ext cx="5415534" cy="1903666"/>
            <a:chOff x="528066" y="3313748"/>
            <a:chExt cx="5415534" cy="1903666"/>
          </a:xfrm>
        </p:grpSpPr>
        <p:sp>
          <p:nvSpPr>
            <p:cNvPr id="12" name="Rectangle 12"/>
            <p:cNvSpPr/>
            <p:nvPr/>
          </p:nvSpPr>
          <p:spPr>
            <a:xfrm>
              <a:off x="533400" y="3313748"/>
              <a:ext cx="5410200" cy="40576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0039" y="3438049"/>
              <a:ext cx="605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 的坐标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251036" y="34380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27349" y="34380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85576" y="34380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44756" y="34380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3412" y="3843814"/>
              <a:ext cx="605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映射回 A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53110" y="384381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105033" y="384381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04724" y="384381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22441" y="384381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2.25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1205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125278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3412" y="424957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四舍五入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253110" y="424957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736532" y="4134802"/>
              <a:ext cx="1081088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229422" y="424957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87650" y="424957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46830" y="424957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5262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3412" y="46562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舍去小数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253110" y="46562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229422" y="46562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287650" y="46562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346830" y="46562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3313748"/>
              <a:ext cx="5410200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868805" y="3313748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2722245" y="3313748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3821430" y="3313748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838700" y="3313748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8066" y="5012055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横、纵两个方向的映射相同</a:t>
              </a:r>
            </a:p>
          </p:txBody>
        </p:sp>
      </p:grpSp>
      <p:grpSp>
        <p:nvGrpSpPr>
          <p:cNvPr id="50" name="c1-callout-4"/>
          <p:cNvGrpSpPr/>
          <p:nvPr/>
        </p:nvGrpSpPr>
        <p:grpSpPr>
          <a:xfrm>
            <a:off x="533400" y="5351145"/>
            <a:ext cx="5410200" cy="929640"/>
            <a:chOff x="533400" y="5351145"/>
            <a:chExt cx="5410200" cy="929640"/>
          </a:xfrm>
        </p:grpSpPr>
        <p:sp>
          <p:nvSpPr>
            <p:cNvPr id="44" name="Rectangle 44"/>
            <p:cNvSpPr/>
            <p:nvPr/>
          </p:nvSpPr>
          <p:spPr>
            <a:xfrm>
              <a:off x="533400" y="5351145"/>
              <a:ext cx="5410200" cy="929640"/>
            </a:xfrm>
            <a:prstGeom prst="roundRect">
              <a:avLst>
                <a:gd name="adj" fmla="val 1229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5715953"/>
              <a:ext cx="200026" cy="200025"/>
              <a:chOff x="738188" y="5715953"/>
              <a:chExt cx="200026" cy="20002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571595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77926" y="576040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12642" y="587152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892" y="5596890"/>
              <a:ext cx="426567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B(1,0) 指第 1 列、第 0 行：(1×3/4, 0×3/4) = (0.75,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0)，四舍五入得 (1, 0)，所以 B(1,0) = A(1,0) = 88。</a:t>
              </a:r>
            </a:p>
          </p:txBody>
        </p:sp>
      </p:grpSp>
      <p:grpSp>
        <p:nvGrpSpPr>
          <p:cNvPr id="52" name="c2-text-1"/>
          <p:cNvGrpSpPr/>
          <p:nvPr/>
        </p:nvGrpSpPr>
        <p:grpSpPr>
          <a:xfrm>
            <a:off x="6241542" y="2225992"/>
            <a:ext cx="2760345" cy="264033"/>
            <a:chOff x="6241542" y="2225992"/>
            <a:chExt cx="2760345" cy="264033"/>
          </a:xfrm>
        </p:grpSpPr>
        <p:sp>
          <p:nvSpPr>
            <p:cNvPr id="51" name="TextBox 51"/>
            <p:cNvSpPr txBox="1"/>
            <p:nvPr/>
          </p:nvSpPr>
          <p:spPr>
            <a:xfrm>
              <a:off x="6241542" y="2225992"/>
              <a:ext cx="27603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原图 A 与两种取整方式得到的 B：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formula15"/>
              <p:cNvSpPr txBox="1">
                <a:spLocks noGrp="1"/>
              </p:cNvSpPr>
              <p:nvPr/>
            </p:nvSpPr>
            <p:spPr>
              <a:xfrm>
                <a:off x="6248400" y="2611755"/>
                <a:ext cx="5410200" cy="7648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99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88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77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66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55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44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33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22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formula16"/>
              <p:cNvSpPr txBox="1">
                <a:spLocks noGrp="1"/>
              </p:cNvSpPr>
              <p:nvPr/>
            </p:nvSpPr>
            <p:spPr>
              <a:xfrm>
                <a:off x="6248400" y="3551872"/>
                <a:ext cx="5410200" cy="9848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99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88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77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77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66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55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44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44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33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22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33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22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11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p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′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99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99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88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77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99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99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88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77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66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66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55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44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33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33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22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56" name="c2-text-4"/>
          <p:cNvGrpSpPr/>
          <p:nvPr/>
        </p:nvGrpSpPr>
        <p:grpSpPr>
          <a:xfrm>
            <a:off x="6242685" y="4730591"/>
            <a:ext cx="5167630" cy="441008"/>
            <a:chOff x="6242685" y="4730591"/>
            <a:chExt cx="5167630" cy="441008"/>
          </a:xfrm>
        </p:grpSpPr>
        <p:sp>
          <p:nvSpPr>
            <p:cNvPr id="55" name="TextBox 55"/>
            <p:cNvSpPr txBox="1"/>
            <p:nvPr/>
          </p:nvSpPr>
          <p:spPr>
            <a:xfrm>
              <a:off x="6242685" y="4730591"/>
              <a:ext cx="5167630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 按四舍五入取整（原课件的结果），B′ 按舍去小数取整。两种做法都是让每个新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像素照搬一个原像素，所以放大后出现成块的相同灰度。</a:t>
              </a:r>
            </a:p>
          </p:txBody>
        </p:sp>
      </p:grpSp>
      <p:grpSp>
        <p:nvGrpSpPr>
          <p:cNvPr id="63" name="c2-callout-5"/>
          <p:cNvGrpSpPr/>
          <p:nvPr/>
        </p:nvGrpSpPr>
        <p:grpSpPr>
          <a:xfrm>
            <a:off x="6248400" y="5302568"/>
            <a:ext cx="5410200" cy="978218"/>
            <a:chOff x="6248400" y="5302568"/>
            <a:chExt cx="5410200" cy="978218"/>
          </a:xfrm>
        </p:grpSpPr>
        <p:sp>
          <p:nvSpPr>
            <p:cNvPr id="57" name="Rectangle 57"/>
            <p:cNvSpPr/>
            <p:nvPr/>
          </p:nvSpPr>
          <p:spPr>
            <a:xfrm>
              <a:off x="6248400" y="5302568"/>
              <a:ext cx="5410200" cy="978218"/>
            </a:xfrm>
            <a:prstGeom prst="roundRect">
              <a:avLst>
                <a:gd name="adj" fmla="val 116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453188" y="5692140"/>
              <a:ext cx="200026" cy="200026"/>
              <a:chOff x="6453188" y="5692140"/>
              <a:chExt cx="200026" cy="200026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6453188" y="569214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553200" y="57588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542088" y="579215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755892" y="5449252"/>
              <a:ext cx="4479988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再算 B(3,2)：映射得 (2.25, 1.5)。四舍五入取 A(2,2)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11，舍去小数取 A(2,1) = 44，分别是 B、B′ 第 2 行第 3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列的值。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第5章 函数插值 · 引入：图像缩放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插值的历史与用途：从隋代历法到数值分析各分支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4628576" cy="1693069"/>
            <a:chOff x="533400" y="1533525"/>
            <a:chExt cx="4628576" cy="169306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2026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0700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642" y="1564957"/>
              <a:ext cx="960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公元 6 世纪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785" y="1833086"/>
              <a:ext cx="3630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隋代天文学家刘焯把等距节点的二次插值用于天文计算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642" y="2152650"/>
              <a:ext cx="644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 世纪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785" y="2419826"/>
              <a:ext cx="4215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牛顿、格雷戈里（Gregory）建立了等距节点上的一般插值公式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2739390"/>
              <a:ext cx="644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 世纪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3006566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拉格朗日给出了非等距节点上的插值公式</a:t>
              </a:r>
            </a:p>
          </p:txBody>
        </p:sp>
      </p:grpSp>
      <p:grpSp>
        <p:nvGrpSpPr>
          <p:cNvPr id="26" name="c1-callout-2"/>
          <p:cNvGrpSpPr/>
          <p:nvPr/>
        </p:nvGrpSpPr>
        <p:grpSpPr>
          <a:xfrm>
            <a:off x="533400" y="3395662"/>
            <a:ext cx="5410200" cy="729615"/>
            <a:chOff x="533400" y="3395662"/>
            <a:chExt cx="5410200" cy="729615"/>
          </a:xfrm>
        </p:grpSpPr>
        <p:sp>
          <p:nvSpPr>
            <p:cNvPr id="21" name="Rectangle 21"/>
            <p:cNvSpPr/>
            <p:nvPr/>
          </p:nvSpPr>
          <p:spPr>
            <a:xfrm>
              <a:off x="533400" y="3395662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3660460"/>
              <a:ext cx="200023" cy="200023"/>
              <a:chOff x="738188" y="3660460"/>
              <a:chExt cx="200023" cy="200023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36604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71538" y="37271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892" y="3541395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插值问题：已知若干点上的函数值（有时还有导数值），构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造一个简单函数经过这些点，再用它计算其他点的近似值。</a:t>
              </a:r>
            </a:p>
          </p:txBody>
        </p:sp>
      </p:grpSp>
      <p:grpSp>
        <p:nvGrpSpPr>
          <p:cNvPr id="43" name="c1-compare-3"/>
          <p:cNvGrpSpPr/>
          <p:nvPr/>
        </p:nvGrpSpPr>
        <p:grpSpPr>
          <a:xfrm>
            <a:off x="533400" y="4300538"/>
            <a:ext cx="5410200" cy="2011680"/>
            <a:chOff x="533400" y="4300538"/>
            <a:chExt cx="5410200" cy="2011680"/>
          </a:xfrm>
        </p:grpSpPr>
        <p:sp>
          <p:nvSpPr>
            <p:cNvPr id="27" name="Rectangle 27"/>
            <p:cNvSpPr/>
            <p:nvPr/>
          </p:nvSpPr>
          <p:spPr>
            <a:xfrm>
              <a:off x="533400" y="4300538"/>
              <a:ext cx="2495550" cy="2011680"/>
            </a:xfrm>
            <a:prstGeom prst="roundRect">
              <a:avLst>
                <a:gd name="adj" fmla="val 66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433888"/>
              <a:ext cx="47625" cy="174498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7047" y="451485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插值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72478" y="4891088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28497" y="4834890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曲线必须严格经过每个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数据点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72478" y="545020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28497" y="539400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适合数据准确的函数表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448050" y="4300538"/>
              <a:ext cx="2495550" cy="2011680"/>
            </a:xfrm>
            <a:prstGeom prst="roundRect">
              <a:avLst>
                <a:gd name="adj" fmla="val 66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3457575" y="4433888"/>
              <a:ext cx="47625" cy="174498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671697" y="45148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曲线拟合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3687127" y="4891088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843147" y="4834890"/>
              <a:ext cx="17282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不要求经过数据点，只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要整体偏差最小（如最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小二乘）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3687127" y="570738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843147" y="5651183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适合带测量误差的实验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3076575" y="5144452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153046" y="5244941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54" name="c2-card-1"/>
          <p:cNvGrpSpPr/>
          <p:nvPr/>
        </p:nvGrpSpPr>
        <p:grpSpPr>
          <a:xfrm>
            <a:off x="6248400" y="1524000"/>
            <a:ext cx="5410200" cy="1768792"/>
            <a:chOff x="6248400" y="1524000"/>
            <a:chExt cx="5410200" cy="1768792"/>
          </a:xfrm>
        </p:grpSpPr>
        <p:sp>
          <p:nvSpPr>
            <p:cNvPr id="44" name="Rectangle 44"/>
            <p:cNvSpPr/>
            <p:nvPr/>
          </p:nvSpPr>
          <p:spPr>
            <a:xfrm>
              <a:off x="6248400" y="1524000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57925" y="1657350"/>
              <a:ext cx="47625" cy="150209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78905" y="1716405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50342" y="175069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为什么需要插值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478905" y="2061210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34583" y="209959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759702" y="2072640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函数来自实验或观测，只知道离散点上的值，不知道解析表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达式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478905" y="2620327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34583" y="265871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59702" y="2632710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表达式已知但形式复杂，不便于分析和计算，想用简单函数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近似代替</a:t>
              </a:r>
            </a:p>
          </p:txBody>
        </p:sp>
      </p:grpSp>
      <p:grpSp>
        <p:nvGrpSpPr>
          <p:cNvPr id="67" name="c2-card-2"/>
          <p:cNvGrpSpPr/>
          <p:nvPr/>
        </p:nvGrpSpPr>
        <p:grpSpPr>
          <a:xfrm>
            <a:off x="6248400" y="3468052"/>
            <a:ext cx="5410200" cy="2844165"/>
            <a:chOff x="6248400" y="3468052"/>
            <a:chExt cx="5410200" cy="2844165"/>
          </a:xfrm>
        </p:grpSpPr>
        <p:sp>
          <p:nvSpPr>
            <p:cNvPr id="55" name="Rectangle 55"/>
            <p:cNvSpPr/>
            <p:nvPr/>
          </p:nvSpPr>
          <p:spPr>
            <a:xfrm>
              <a:off x="6248400" y="3468052"/>
              <a:ext cx="5410200" cy="2844165"/>
            </a:xfrm>
            <a:prstGeom prst="roundRect">
              <a:avLst>
                <a:gd name="adj" fmla="val 468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257925" y="3601402"/>
              <a:ext cx="47625" cy="257746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478905" y="3660458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554343" y="369474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插值用在哪里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487478" y="407384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43497" y="4017645"/>
              <a:ext cx="40391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数值积分（第 6 章的插值型求积公式）、数值微分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487478" y="437578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643497" y="431958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微分方程数值解、曲线曲面拟合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487478" y="467868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643497" y="4622482"/>
              <a:ext cx="33395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函数值的近似计算，如查表求 sin 0.3367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487478" y="498062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643497" y="492442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图像缩放、数码变焦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913376" cy="3351847"/>
            <a:chOff x="667512" y="1835468"/>
            <a:chExt cx="4913376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拉格朗日插值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用基函数直接写出插值多项式，再用余项估计误差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283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5.2 插值问题与存在唯一性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42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5.2.2 插值余项定理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2865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5.2.3 线性、抛物线与 n 次插值公式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759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5.1、例 5.2 与 Runge 现象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35883" cy="909257"/>
            <a:chOff x="520446" y="342900"/>
            <a:chExt cx="833588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第5章 函数插值 · 拉格朗日插值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358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插值问题：找一个简单函数，在节点上与 f 取相同的值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626418" cy="4714875"/>
            <a:chOff x="533400" y="1524000"/>
            <a:chExt cx="5626418" cy="47148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714875"/>
            </a:xfrm>
            <a:prstGeom prst="roundRect">
              <a:avLst>
                <a:gd name="adj" fmla="val 28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44817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插值函数与插值法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8253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y = f(x) 在 [a, b] 上有定义，已知互异节点 x₀,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x₁, …, xₙ ∈ [a, b] 上的值 yᵢ = f(xᵢ)，有时还知道直到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阶的导数值。若简单函数 φ(x) 满足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9"/>
                <p:cNvSpPr txBox="1">
                  <a:spLocks noGrp="1"/>
                </p:cNvSpPr>
                <p:nvPr/>
              </p:nvSpPr>
              <p:spPr>
                <a:xfrm>
                  <a:off x="781050" y="3011805"/>
                  <a:ext cx="5169218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φ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,…,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</m:d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5.2.1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73430" y="355092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或还满足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20"/>
                <p:cNvSpPr txBox="1">
                  <a:spLocks noGrp="1"/>
                </p:cNvSpPr>
                <p:nvPr/>
              </p:nvSpPr>
              <p:spPr>
                <a:xfrm>
                  <a:off x="781050" y="3861435"/>
                  <a:ext cx="5169218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φ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d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,…,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e>
                        </m:d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5.2.2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TextBox 16"/>
            <p:cNvSpPr txBox="1"/>
            <p:nvPr/>
          </p:nvSpPr>
          <p:spPr>
            <a:xfrm>
              <a:off x="773430" y="4400550"/>
              <a:ext cx="4853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则称 φ(x) 为 f(x) 的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插值函数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，求 φ(x) 的方法称为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插值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63" name="c2-graph-1"/>
          <p:cNvGrpSpPr/>
          <p:nvPr/>
        </p:nvGrpSpPr>
        <p:grpSpPr>
          <a:xfrm>
            <a:off x="6573202" y="1553051"/>
            <a:ext cx="4949696" cy="2438401"/>
            <a:chOff x="6573202" y="1553051"/>
            <a:chExt cx="4949696" cy="2438401"/>
          </a:xfrm>
        </p:grpSpPr>
        <p:sp>
          <p:nvSpPr>
            <p:cNvPr id="18" name="Freeform 18"/>
            <p:cNvSpPr/>
            <p:nvPr/>
          </p:nvSpPr>
          <p:spPr>
            <a:xfrm>
              <a:off x="6631305" y="3728085"/>
              <a:ext cx="4738688" cy="9525"/>
            </a:xfrm>
            <a:custGeom>
              <a:avLst/>
              <a:gdLst/>
              <a:ahLst/>
              <a:cxnLst/>
              <a:rect l="l" t="t" r="r" b="b"/>
              <a:pathLst>
                <a:path w="4738688" h="9525">
                  <a:moveTo>
                    <a:pt x="0" y="0"/>
                  </a:moveTo>
                  <a:lnTo>
                    <a:pt x="4738688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1369992" y="36804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6620828" y="1763078"/>
              <a:ext cx="9525" cy="1954530"/>
            </a:xfrm>
            <a:custGeom>
              <a:avLst/>
              <a:gdLst/>
              <a:ahLst/>
              <a:cxnLst/>
              <a:rect l="l" t="t" r="r" b="b"/>
              <a:pathLst>
                <a:path w="9525" h="1954530">
                  <a:moveTo>
                    <a:pt x="0" y="1954530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6573202" y="16678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6987540" y="2103120"/>
              <a:ext cx="4001452" cy="695325"/>
            </a:xfrm>
            <a:custGeom>
              <a:avLst/>
              <a:gdLst/>
              <a:ahLst/>
              <a:cxnLst/>
              <a:rect l="l" t="t" r="r" b="b"/>
              <a:pathLst>
                <a:path w="4001452" h="695325">
                  <a:moveTo>
                    <a:pt x="0" y="491490"/>
                  </a:moveTo>
                  <a:lnTo>
                    <a:pt x="36195" y="464820"/>
                  </a:lnTo>
                  <a:lnTo>
                    <a:pt x="80962" y="433388"/>
                  </a:lnTo>
                  <a:lnTo>
                    <a:pt x="126682" y="401002"/>
                  </a:lnTo>
                  <a:lnTo>
                    <a:pt x="171450" y="370522"/>
                  </a:lnTo>
                  <a:lnTo>
                    <a:pt x="217170" y="340995"/>
                  </a:lnTo>
                  <a:lnTo>
                    <a:pt x="261938" y="311467"/>
                  </a:lnTo>
                  <a:lnTo>
                    <a:pt x="307657" y="284797"/>
                  </a:lnTo>
                  <a:lnTo>
                    <a:pt x="352425" y="258127"/>
                  </a:lnTo>
                  <a:lnTo>
                    <a:pt x="397192" y="234315"/>
                  </a:lnTo>
                  <a:lnTo>
                    <a:pt x="442912" y="211455"/>
                  </a:lnTo>
                  <a:lnTo>
                    <a:pt x="487680" y="190500"/>
                  </a:lnTo>
                  <a:lnTo>
                    <a:pt x="533400" y="170497"/>
                  </a:lnTo>
                  <a:lnTo>
                    <a:pt x="578167" y="153352"/>
                  </a:lnTo>
                  <a:lnTo>
                    <a:pt x="623888" y="137160"/>
                  </a:lnTo>
                  <a:lnTo>
                    <a:pt x="668655" y="123825"/>
                  </a:lnTo>
                  <a:lnTo>
                    <a:pt x="714375" y="112395"/>
                  </a:lnTo>
                  <a:lnTo>
                    <a:pt x="759142" y="102870"/>
                  </a:lnTo>
                  <a:lnTo>
                    <a:pt x="803910" y="96202"/>
                  </a:lnTo>
                  <a:lnTo>
                    <a:pt x="848678" y="91440"/>
                  </a:lnTo>
                  <a:lnTo>
                    <a:pt x="894397" y="87630"/>
                  </a:lnTo>
                  <a:lnTo>
                    <a:pt x="939165" y="87630"/>
                  </a:lnTo>
                  <a:lnTo>
                    <a:pt x="984885" y="88582"/>
                  </a:lnTo>
                  <a:lnTo>
                    <a:pt x="1029653" y="92392"/>
                  </a:lnTo>
                  <a:lnTo>
                    <a:pt x="1074420" y="97155"/>
                  </a:lnTo>
                  <a:lnTo>
                    <a:pt x="1120140" y="104775"/>
                  </a:lnTo>
                  <a:lnTo>
                    <a:pt x="1164907" y="114300"/>
                  </a:lnTo>
                  <a:lnTo>
                    <a:pt x="1210628" y="125730"/>
                  </a:lnTo>
                  <a:lnTo>
                    <a:pt x="1255395" y="138112"/>
                  </a:lnTo>
                  <a:lnTo>
                    <a:pt x="1301115" y="152400"/>
                  </a:lnTo>
                  <a:lnTo>
                    <a:pt x="1345882" y="169545"/>
                  </a:lnTo>
                  <a:lnTo>
                    <a:pt x="1391603" y="186690"/>
                  </a:lnTo>
                  <a:lnTo>
                    <a:pt x="1436370" y="205740"/>
                  </a:lnTo>
                  <a:lnTo>
                    <a:pt x="1481138" y="225742"/>
                  </a:lnTo>
                  <a:lnTo>
                    <a:pt x="1526857" y="247650"/>
                  </a:lnTo>
                  <a:lnTo>
                    <a:pt x="1571625" y="269557"/>
                  </a:lnTo>
                  <a:lnTo>
                    <a:pt x="1616392" y="292417"/>
                  </a:lnTo>
                  <a:lnTo>
                    <a:pt x="1662112" y="316230"/>
                  </a:lnTo>
                  <a:lnTo>
                    <a:pt x="1706880" y="340042"/>
                  </a:lnTo>
                  <a:lnTo>
                    <a:pt x="1752600" y="364808"/>
                  </a:lnTo>
                  <a:lnTo>
                    <a:pt x="1797367" y="388620"/>
                  </a:lnTo>
                  <a:lnTo>
                    <a:pt x="1842135" y="413385"/>
                  </a:lnTo>
                  <a:lnTo>
                    <a:pt x="1887855" y="438150"/>
                  </a:lnTo>
                  <a:lnTo>
                    <a:pt x="1932622" y="461962"/>
                  </a:lnTo>
                  <a:lnTo>
                    <a:pt x="1978342" y="485775"/>
                  </a:lnTo>
                  <a:lnTo>
                    <a:pt x="2023110" y="508635"/>
                  </a:lnTo>
                  <a:lnTo>
                    <a:pt x="2068830" y="531495"/>
                  </a:lnTo>
                  <a:lnTo>
                    <a:pt x="2113598" y="552450"/>
                  </a:lnTo>
                  <a:lnTo>
                    <a:pt x="2158365" y="573405"/>
                  </a:lnTo>
                  <a:lnTo>
                    <a:pt x="2204085" y="592455"/>
                  </a:lnTo>
                  <a:lnTo>
                    <a:pt x="2248852" y="610552"/>
                  </a:lnTo>
                  <a:lnTo>
                    <a:pt x="2294572" y="626745"/>
                  </a:lnTo>
                  <a:lnTo>
                    <a:pt x="2339340" y="641985"/>
                  </a:lnTo>
                  <a:lnTo>
                    <a:pt x="2384107" y="655320"/>
                  </a:lnTo>
                  <a:lnTo>
                    <a:pt x="2429828" y="666750"/>
                  </a:lnTo>
                  <a:lnTo>
                    <a:pt x="2474595" y="676275"/>
                  </a:lnTo>
                  <a:lnTo>
                    <a:pt x="2519362" y="683895"/>
                  </a:lnTo>
                  <a:lnTo>
                    <a:pt x="2565082" y="689610"/>
                  </a:lnTo>
                  <a:lnTo>
                    <a:pt x="2609850" y="693420"/>
                  </a:lnTo>
                  <a:lnTo>
                    <a:pt x="2655570" y="695325"/>
                  </a:lnTo>
                  <a:lnTo>
                    <a:pt x="2700338" y="694372"/>
                  </a:lnTo>
                  <a:lnTo>
                    <a:pt x="2746057" y="691515"/>
                  </a:lnTo>
                  <a:lnTo>
                    <a:pt x="2790825" y="686752"/>
                  </a:lnTo>
                  <a:lnTo>
                    <a:pt x="2836545" y="680085"/>
                  </a:lnTo>
                  <a:lnTo>
                    <a:pt x="2881312" y="671512"/>
                  </a:lnTo>
                  <a:lnTo>
                    <a:pt x="2926080" y="660083"/>
                  </a:lnTo>
                  <a:lnTo>
                    <a:pt x="2971800" y="646747"/>
                  </a:lnTo>
                  <a:lnTo>
                    <a:pt x="3016567" y="631508"/>
                  </a:lnTo>
                  <a:lnTo>
                    <a:pt x="3062287" y="614362"/>
                  </a:lnTo>
                  <a:lnTo>
                    <a:pt x="3107055" y="595312"/>
                  </a:lnTo>
                  <a:lnTo>
                    <a:pt x="3152775" y="574358"/>
                  </a:lnTo>
                  <a:lnTo>
                    <a:pt x="3196590" y="551497"/>
                  </a:lnTo>
                  <a:lnTo>
                    <a:pt x="3242310" y="527685"/>
                  </a:lnTo>
                  <a:lnTo>
                    <a:pt x="3287078" y="501967"/>
                  </a:lnTo>
                  <a:lnTo>
                    <a:pt x="3332798" y="474345"/>
                  </a:lnTo>
                  <a:lnTo>
                    <a:pt x="3377565" y="445770"/>
                  </a:lnTo>
                  <a:lnTo>
                    <a:pt x="3423285" y="416242"/>
                  </a:lnTo>
                  <a:lnTo>
                    <a:pt x="3468052" y="385762"/>
                  </a:lnTo>
                  <a:lnTo>
                    <a:pt x="3513772" y="354330"/>
                  </a:lnTo>
                  <a:lnTo>
                    <a:pt x="3558540" y="322897"/>
                  </a:lnTo>
                  <a:lnTo>
                    <a:pt x="3603308" y="289560"/>
                  </a:lnTo>
                  <a:lnTo>
                    <a:pt x="3649028" y="256222"/>
                  </a:lnTo>
                  <a:lnTo>
                    <a:pt x="3693795" y="222885"/>
                  </a:lnTo>
                  <a:lnTo>
                    <a:pt x="3739515" y="189547"/>
                  </a:lnTo>
                  <a:lnTo>
                    <a:pt x="3784283" y="156210"/>
                  </a:lnTo>
                  <a:lnTo>
                    <a:pt x="3830002" y="122872"/>
                  </a:lnTo>
                  <a:lnTo>
                    <a:pt x="3874770" y="89535"/>
                  </a:lnTo>
                  <a:lnTo>
                    <a:pt x="3920490" y="57150"/>
                  </a:lnTo>
                  <a:lnTo>
                    <a:pt x="3964305" y="25717"/>
                  </a:lnTo>
                  <a:lnTo>
                    <a:pt x="4001452" y="0"/>
                  </a:lnTo>
                </a:path>
              </a:pathLst>
            </a:custGeom>
            <a:noFill/>
            <a:ln w="2476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6985635" y="1984058"/>
              <a:ext cx="3848100" cy="852488"/>
            </a:xfrm>
            <a:custGeom>
              <a:avLst/>
              <a:gdLst/>
              <a:ahLst/>
              <a:cxnLst/>
              <a:rect l="l" t="t" r="r" b="b"/>
              <a:pathLst>
                <a:path w="3848100" h="852488">
                  <a:moveTo>
                    <a:pt x="0" y="700088"/>
                  </a:moveTo>
                  <a:lnTo>
                    <a:pt x="36195" y="651510"/>
                  </a:lnTo>
                  <a:lnTo>
                    <a:pt x="80010" y="598170"/>
                  </a:lnTo>
                  <a:lnTo>
                    <a:pt x="122872" y="548640"/>
                  </a:lnTo>
                  <a:lnTo>
                    <a:pt x="166688" y="502920"/>
                  </a:lnTo>
                  <a:lnTo>
                    <a:pt x="209550" y="460058"/>
                  </a:lnTo>
                  <a:lnTo>
                    <a:pt x="253365" y="421005"/>
                  </a:lnTo>
                  <a:lnTo>
                    <a:pt x="296228" y="385762"/>
                  </a:lnTo>
                  <a:lnTo>
                    <a:pt x="340043" y="353377"/>
                  </a:lnTo>
                  <a:lnTo>
                    <a:pt x="383858" y="323850"/>
                  </a:lnTo>
                  <a:lnTo>
                    <a:pt x="426720" y="298132"/>
                  </a:lnTo>
                  <a:lnTo>
                    <a:pt x="470535" y="274320"/>
                  </a:lnTo>
                  <a:lnTo>
                    <a:pt x="513397" y="254317"/>
                  </a:lnTo>
                  <a:lnTo>
                    <a:pt x="557212" y="236220"/>
                  </a:lnTo>
                  <a:lnTo>
                    <a:pt x="600075" y="221932"/>
                  </a:lnTo>
                  <a:lnTo>
                    <a:pt x="643890" y="209550"/>
                  </a:lnTo>
                  <a:lnTo>
                    <a:pt x="687705" y="199072"/>
                  </a:lnTo>
                  <a:lnTo>
                    <a:pt x="730568" y="192405"/>
                  </a:lnTo>
                  <a:lnTo>
                    <a:pt x="774383" y="186690"/>
                  </a:lnTo>
                  <a:lnTo>
                    <a:pt x="817245" y="183832"/>
                  </a:lnTo>
                  <a:lnTo>
                    <a:pt x="861060" y="182880"/>
                  </a:lnTo>
                  <a:lnTo>
                    <a:pt x="903922" y="184785"/>
                  </a:lnTo>
                  <a:lnTo>
                    <a:pt x="947738" y="187642"/>
                  </a:lnTo>
                  <a:lnTo>
                    <a:pt x="990600" y="192405"/>
                  </a:lnTo>
                  <a:lnTo>
                    <a:pt x="1034415" y="199072"/>
                  </a:lnTo>
                  <a:lnTo>
                    <a:pt x="1077278" y="207645"/>
                  </a:lnTo>
                  <a:lnTo>
                    <a:pt x="1121093" y="218122"/>
                  </a:lnTo>
                  <a:lnTo>
                    <a:pt x="1163955" y="229552"/>
                  </a:lnTo>
                  <a:lnTo>
                    <a:pt x="1207770" y="241935"/>
                  </a:lnTo>
                  <a:lnTo>
                    <a:pt x="1250633" y="256222"/>
                  </a:lnTo>
                  <a:lnTo>
                    <a:pt x="1293495" y="271462"/>
                  </a:lnTo>
                  <a:lnTo>
                    <a:pt x="1337310" y="288607"/>
                  </a:lnTo>
                  <a:lnTo>
                    <a:pt x="1380172" y="305752"/>
                  </a:lnTo>
                  <a:lnTo>
                    <a:pt x="1423988" y="323850"/>
                  </a:lnTo>
                  <a:lnTo>
                    <a:pt x="1467803" y="343852"/>
                  </a:lnTo>
                  <a:lnTo>
                    <a:pt x="1510665" y="362902"/>
                  </a:lnTo>
                  <a:lnTo>
                    <a:pt x="1554480" y="383857"/>
                  </a:lnTo>
                  <a:lnTo>
                    <a:pt x="1597343" y="405765"/>
                  </a:lnTo>
                  <a:lnTo>
                    <a:pt x="1641158" y="426720"/>
                  </a:lnTo>
                  <a:lnTo>
                    <a:pt x="1684020" y="448627"/>
                  </a:lnTo>
                  <a:lnTo>
                    <a:pt x="1727835" y="471488"/>
                  </a:lnTo>
                  <a:lnTo>
                    <a:pt x="1771650" y="494347"/>
                  </a:lnTo>
                  <a:lnTo>
                    <a:pt x="1814512" y="516255"/>
                  </a:lnTo>
                  <a:lnTo>
                    <a:pt x="1858328" y="539115"/>
                  </a:lnTo>
                  <a:lnTo>
                    <a:pt x="1901190" y="561975"/>
                  </a:lnTo>
                  <a:lnTo>
                    <a:pt x="1945005" y="583883"/>
                  </a:lnTo>
                  <a:lnTo>
                    <a:pt x="1987868" y="605790"/>
                  </a:lnTo>
                  <a:lnTo>
                    <a:pt x="2031683" y="627697"/>
                  </a:lnTo>
                  <a:lnTo>
                    <a:pt x="2074545" y="649605"/>
                  </a:lnTo>
                  <a:lnTo>
                    <a:pt x="2118360" y="669608"/>
                  </a:lnTo>
                  <a:lnTo>
                    <a:pt x="2161222" y="689610"/>
                  </a:lnTo>
                  <a:lnTo>
                    <a:pt x="2205038" y="709612"/>
                  </a:lnTo>
                  <a:lnTo>
                    <a:pt x="2247900" y="727710"/>
                  </a:lnTo>
                  <a:lnTo>
                    <a:pt x="2291715" y="745808"/>
                  </a:lnTo>
                  <a:lnTo>
                    <a:pt x="2334578" y="762000"/>
                  </a:lnTo>
                  <a:lnTo>
                    <a:pt x="2378393" y="777240"/>
                  </a:lnTo>
                  <a:lnTo>
                    <a:pt x="2421255" y="791527"/>
                  </a:lnTo>
                  <a:lnTo>
                    <a:pt x="2465070" y="804862"/>
                  </a:lnTo>
                  <a:lnTo>
                    <a:pt x="2507933" y="816292"/>
                  </a:lnTo>
                  <a:lnTo>
                    <a:pt x="2551748" y="826770"/>
                  </a:lnTo>
                  <a:lnTo>
                    <a:pt x="2594610" y="835342"/>
                  </a:lnTo>
                  <a:lnTo>
                    <a:pt x="2638425" y="842010"/>
                  </a:lnTo>
                  <a:lnTo>
                    <a:pt x="2681288" y="847725"/>
                  </a:lnTo>
                  <a:lnTo>
                    <a:pt x="2725102" y="850583"/>
                  </a:lnTo>
                  <a:lnTo>
                    <a:pt x="2767965" y="852488"/>
                  </a:lnTo>
                  <a:lnTo>
                    <a:pt x="2811780" y="851535"/>
                  </a:lnTo>
                  <a:lnTo>
                    <a:pt x="2855595" y="848677"/>
                  </a:lnTo>
                  <a:lnTo>
                    <a:pt x="2898458" y="843915"/>
                  </a:lnTo>
                  <a:lnTo>
                    <a:pt x="2942272" y="837247"/>
                  </a:lnTo>
                  <a:lnTo>
                    <a:pt x="2985135" y="827722"/>
                  </a:lnTo>
                  <a:lnTo>
                    <a:pt x="3028950" y="815340"/>
                  </a:lnTo>
                  <a:lnTo>
                    <a:pt x="3071813" y="800100"/>
                  </a:lnTo>
                  <a:lnTo>
                    <a:pt x="3115628" y="782955"/>
                  </a:lnTo>
                  <a:lnTo>
                    <a:pt x="3159442" y="762952"/>
                  </a:lnTo>
                  <a:lnTo>
                    <a:pt x="3202305" y="740092"/>
                  </a:lnTo>
                  <a:lnTo>
                    <a:pt x="3246120" y="714375"/>
                  </a:lnTo>
                  <a:lnTo>
                    <a:pt x="3288983" y="685800"/>
                  </a:lnTo>
                  <a:lnTo>
                    <a:pt x="3332798" y="653415"/>
                  </a:lnTo>
                  <a:lnTo>
                    <a:pt x="3375660" y="618172"/>
                  </a:lnTo>
                  <a:lnTo>
                    <a:pt x="3419475" y="579120"/>
                  </a:lnTo>
                  <a:lnTo>
                    <a:pt x="3462338" y="537210"/>
                  </a:lnTo>
                  <a:lnTo>
                    <a:pt x="3506152" y="492442"/>
                  </a:lnTo>
                  <a:lnTo>
                    <a:pt x="3549015" y="442912"/>
                  </a:lnTo>
                  <a:lnTo>
                    <a:pt x="3592830" y="390525"/>
                  </a:lnTo>
                  <a:lnTo>
                    <a:pt x="3635692" y="333375"/>
                  </a:lnTo>
                  <a:lnTo>
                    <a:pt x="3679508" y="273367"/>
                  </a:lnTo>
                  <a:lnTo>
                    <a:pt x="3722370" y="208597"/>
                  </a:lnTo>
                  <a:lnTo>
                    <a:pt x="3766185" y="140017"/>
                  </a:lnTo>
                  <a:lnTo>
                    <a:pt x="3809048" y="67627"/>
                  </a:lnTo>
                  <a:lnTo>
                    <a:pt x="3848100" y="0"/>
                  </a:lnTo>
                </a:path>
              </a:pathLst>
            </a:custGeom>
            <a:noFill/>
            <a:ln w="24765">
              <a:solidFill>
                <a:srgbClr val="F26B3A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7178040" y="2471738"/>
              <a:ext cx="9525" cy="1245870"/>
            </a:xfrm>
            <a:custGeom>
              <a:avLst/>
              <a:gdLst/>
              <a:ahLst/>
              <a:cxnLst/>
              <a:rect l="l" t="t" r="r" b="b"/>
              <a:pathLst>
                <a:path w="9525" h="1245870">
                  <a:moveTo>
                    <a:pt x="0" y="1245870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  <a:custDash>
                <a:ds d="500000" sp="333333"/>
              </a:custDash>
            </a:ln>
          </p:spPr>
        </p:sp>
        <p:sp>
          <p:nvSpPr>
            <p:cNvPr id="25" name="Freeform 25"/>
            <p:cNvSpPr/>
            <p:nvPr/>
          </p:nvSpPr>
          <p:spPr>
            <a:xfrm>
              <a:off x="8212455" y="2243138"/>
              <a:ext cx="9525" cy="1474470"/>
            </a:xfrm>
            <a:custGeom>
              <a:avLst/>
              <a:gdLst/>
              <a:ahLst/>
              <a:cxnLst/>
              <a:rect l="l" t="t" r="r" b="b"/>
              <a:pathLst>
                <a:path w="9525" h="1474470">
                  <a:moveTo>
                    <a:pt x="0" y="1474470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  <a:custDash>
                <a:ds d="500000" sp="333333"/>
              </a:custDash>
            </a:ln>
          </p:spPr>
        </p:sp>
        <p:sp>
          <p:nvSpPr>
            <p:cNvPr id="26" name="Freeform 26"/>
            <p:cNvSpPr/>
            <p:nvPr/>
          </p:nvSpPr>
          <p:spPr>
            <a:xfrm>
              <a:off x="9246870" y="2727960"/>
              <a:ext cx="9525" cy="989648"/>
            </a:xfrm>
            <a:custGeom>
              <a:avLst/>
              <a:gdLst/>
              <a:ahLst/>
              <a:cxnLst/>
              <a:rect l="l" t="t" r="r" b="b"/>
              <a:pathLst>
                <a:path w="9525" h="989648">
                  <a:moveTo>
                    <a:pt x="0" y="989648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  <a:custDash>
                <a:ds d="500000" sp="333333"/>
              </a:custDash>
            </a:ln>
          </p:spPr>
        </p:sp>
        <p:sp>
          <p:nvSpPr>
            <p:cNvPr id="27" name="Freeform 27"/>
            <p:cNvSpPr/>
            <p:nvPr/>
          </p:nvSpPr>
          <p:spPr>
            <a:xfrm>
              <a:off x="10520362" y="2454592"/>
              <a:ext cx="9525" cy="1263015"/>
            </a:xfrm>
            <a:custGeom>
              <a:avLst/>
              <a:gdLst/>
              <a:ahLst/>
              <a:cxnLst/>
              <a:rect l="l" t="t" r="r" b="b"/>
              <a:pathLst>
                <a:path w="9525" h="1263015">
                  <a:moveTo>
                    <a:pt x="0" y="1263015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  <a:custDash>
                <a:ds d="500000" sp="333333"/>
              </a:custDash>
            </a:ln>
          </p:spPr>
        </p:sp>
        <p:sp>
          <p:nvSpPr>
            <p:cNvPr id="28" name="Freeform 28"/>
            <p:cNvSpPr/>
            <p:nvPr/>
          </p:nvSpPr>
          <p:spPr>
            <a:xfrm>
              <a:off x="9963150" y="2726055"/>
              <a:ext cx="9525" cy="991553"/>
            </a:xfrm>
            <a:custGeom>
              <a:avLst/>
              <a:gdLst/>
              <a:ahLst/>
              <a:cxnLst/>
              <a:rect l="l" t="t" r="r" b="b"/>
              <a:pathLst>
                <a:path w="9525" h="991553">
                  <a:moveTo>
                    <a:pt x="0" y="991553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B42318"/>
              </a:solidFill>
              <a:custDash>
                <a:ds d="428571" sp="285714"/>
              </a:custDash>
            </a:ln>
          </p:spPr>
        </p:sp>
        <p:sp>
          <p:nvSpPr>
            <p:cNvPr id="29" name="Ellipse 29"/>
            <p:cNvSpPr/>
            <p:nvPr/>
          </p:nvSpPr>
          <p:spPr>
            <a:xfrm>
              <a:off x="6619875" y="3727132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1474768" y="3727132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6619875" y="3727132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6619875" y="1656398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6978015" y="2600325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10996612" y="2096452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6978015" y="2690812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0837545" y="1974532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7177088" y="3727132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7177088" y="2460307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7130415" y="2413635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211502" y="3727132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8211502" y="2231708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164830" y="2185035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9245918" y="3727132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9245918" y="2716530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199245" y="2669858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10519410" y="3727132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10519410" y="2443162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10472738" y="2396490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9962198" y="3727132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9962198" y="2714625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9925050" y="2710815"/>
              <a:ext cx="76200" cy="7620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9925050" y="2775585"/>
              <a:ext cx="76200" cy="762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1428542" y="373332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738938" y="15530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089399" y="377142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x₀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123814" y="377142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158229" y="377142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431722" y="377142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x₃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870363" y="377142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x′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772574" y="2009299"/>
              <a:ext cx="628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f(x)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035939" y="1689259"/>
              <a:ext cx="7292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y = Pₙ(x)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052685" y="2416969"/>
              <a:ext cx="11123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f(x′) ≈ Pₙ(x′)</a:t>
              </a:r>
            </a:p>
          </p:txBody>
        </p:sp>
      </p:grpSp>
      <p:grpSp>
        <p:nvGrpSpPr>
          <p:cNvPr id="75" name="c2-kv-2"/>
          <p:cNvGrpSpPr/>
          <p:nvPr/>
        </p:nvGrpSpPr>
        <p:grpSpPr>
          <a:xfrm>
            <a:off x="6456998" y="4244340"/>
            <a:ext cx="5201602" cy="2177415"/>
            <a:chOff x="6456998" y="4244340"/>
            <a:chExt cx="5201602" cy="2177415"/>
          </a:xfrm>
        </p:grpSpPr>
        <p:sp>
          <p:nvSpPr>
            <p:cNvPr id="64" name="TextBox 64"/>
            <p:cNvSpPr txBox="1"/>
            <p:nvPr/>
          </p:nvSpPr>
          <p:spPr>
            <a:xfrm>
              <a:off x="6456998" y="424434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被插值函数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015288" y="4244340"/>
              <a:ext cx="1469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f(x)，图中黑线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464618" y="456438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456998" y="468439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插值函数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015288" y="4684395"/>
              <a:ext cx="33013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φ(x)，取多项式时记为 Pₙ(x)，图中橙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464618" y="528637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456998" y="540639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插值节点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015288" y="5406390"/>
              <a:ext cx="33108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xᵢ（i = 0, 1, …, n），两条曲线在这里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相交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464618" y="600837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456998" y="61283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插值区间与条件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015288" y="6128385"/>
              <a:ext cx="28523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[a, b]；(5.2.1)、(5.2.2) 式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059844" cy="909257"/>
            <a:chOff x="520446" y="342900"/>
            <a:chExt cx="100598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第5章 函数插值 · 拉格朗日插值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05984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代数插值多项式存在且唯一：系数行列式是 Vandermonde 行列式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161" y="1547336"/>
            <a:ext cx="5091049" cy="558736"/>
            <a:chOff x="526161" y="1547336"/>
            <a:chExt cx="5091049" cy="558736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091049" cy="558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0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取插值函数为次数不超过 n 的代数多项式（</a:t>
              </a: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代数多项式插值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），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Pₙ(x) 称为代数插值多项式：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30"/>
              <p:cNvSpPr txBox="1">
                <a:spLocks noGrp="1"/>
              </p:cNvSpPr>
              <p:nvPr/>
            </p:nvSpPr>
            <p:spPr>
              <a:xfrm>
                <a:off x="533400" y="2230755"/>
                <a:ext cx="541020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sSup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+⋯+</m:t>
                      </m:r>
                      <m:sSub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sSup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p:grpSp>
        <p:nvGrpSpPr>
          <p:cNvPr id="11" name="c1-text-3"/>
          <p:cNvGrpSpPr/>
          <p:nvPr/>
        </p:nvGrpSpPr>
        <p:grpSpPr>
          <a:xfrm>
            <a:off x="526161" y="2873216"/>
            <a:ext cx="5082032" cy="558736"/>
            <a:chOff x="526161" y="2873216"/>
            <a:chExt cx="5082032" cy="558736"/>
          </a:xfrm>
        </p:grpSpPr>
        <p:sp>
          <p:nvSpPr>
            <p:cNvPr id="10" name="TextBox 10"/>
            <p:cNvSpPr txBox="1"/>
            <p:nvPr/>
          </p:nvSpPr>
          <p:spPr>
            <a:xfrm>
              <a:off x="526161" y="2873216"/>
              <a:ext cx="5082032" cy="558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0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由插值条件 Pₙ(xᵢ) = yᵢ，系数 a₀, a₁, …, aₙ 满足 n+1 阶线性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方程组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formula31"/>
              <p:cNvSpPr txBox="1">
                <a:spLocks noGrp="1"/>
              </p:cNvSpPr>
              <p:nvPr/>
            </p:nvSpPr>
            <p:spPr>
              <a:xfrm>
                <a:off x="533400" y="3555682"/>
                <a:ext cx="5410200" cy="1340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  <m:sSubSup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+⋯+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b>
                              </m:sSub>
                              <m:sSubSup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  <m:sSubSup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+⋯+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b>
                              </m:sSub>
                              <m:sSubSup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  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⋯⋯</m:t>
                              </m:r>
                            </m:e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  <m:sSubSup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b>
                                <m:sup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+⋯+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b>
                              </m:sSub>
                              <m:sSubSup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b>
                                <m:sup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5.2.4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8" name="c1-card-5"/>
          <p:cNvGrpSpPr/>
          <p:nvPr/>
        </p:nvGrpSpPr>
        <p:grpSpPr>
          <a:xfrm>
            <a:off x="533400" y="5076825"/>
            <a:ext cx="5410200" cy="1250632"/>
            <a:chOff x="533400" y="5076825"/>
            <a:chExt cx="5410200" cy="1250632"/>
          </a:xfrm>
        </p:grpSpPr>
        <p:sp>
          <p:nvSpPr>
            <p:cNvPr id="13" name="Rectangle 13"/>
            <p:cNvSpPr/>
            <p:nvPr/>
          </p:nvSpPr>
          <p:spPr>
            <a:xfrm>
              <a:off x="533400" y="5076825"/>
              <a:ext cx="5410200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5210175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9620" y="527494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1060" y="530923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381" y="5635466"/>
              <a:ext cx="477545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 Vandermonde 行列式最后一行第 3 个元素写作 xₙ，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应为 xₙ²。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formula32"/>
              <p:cNvSpPr txBox="1">
                <a:spLocks noGrp="1"/>
              </p:cNvSpPr>
              <p:nvPr/>
            </p:nvSpPr>
            <p:spPr>
              <a:xfrm>
                <a:off x="6248400" y="1524000"/>
                <a:ext cx="5410200" cy="9401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,…,</m:t>
                          </m:r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|"/>
                          <m:sepChr m:val=""/>
                          <m:endChr m:val="|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sSubSup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Sup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  <m:e/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b>
                                </m:sSub>
                              </m:e>
                              <m:e>
                                <m:sSubSup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b>
                                  <m:sup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b>
                                  <m:sup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nary>
                            <m:naryPr>
                              <m:chr m:val="∏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j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33" name="c2-steps-2"/>
          <p:cNvGrpSpPr/>
          <p:nvPr/>
        </p:nvGrpSpPr>
        <p:grpSpPr>
          <a:xfrm>
            <a:off x="6248400" y="2653665"/>
            <a:ext cx="5291785" cy="2224469"/>
            <a:chOff x="6248400" y="2653665"/>
            <a:chExt cx="5291785" cy="2224469"/>
          </a:xfrm>
        </p:grpSpPr>
        <p:sp>
          <p:nvSpPr>
            <p:cNvPr id="20" name="Rectangle 20"/>
            <p:cNvSpPr/>
            <p:nvPr/>
          </p:nvSpPr>
          <p:spPr>
            <a:xfrm>
              <a:off x="6381750" y="2796540"/>
              <a:ext cx="19050" cy="16754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6248400" y="265366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42024" y="27274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248400" y="349186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42024" y="35656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248400" y="432911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42024" y="44029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60261" y="268652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化为方程组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61404" y="2967038"/>
              <a:ext cx="47061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证明 Pₙ(x) 存在唯一，只需证明方程组 (5.2.4) 的解存在唯一，即系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数行列式不为零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60261" y="352472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认出行列式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61404" y="3805238"/>
              <a:ext cx="47899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系数行列式是 Vandermonde 行列式，等于所有 (xᵢ − xⱼ)（i &gt; j）的乘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60261" y="436292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下结论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61404" y="4643438"/>
              <a:ext cx="48787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节点互异，每个因子都不为 0，所以 Vₙ ≠ 0，插值多项式存在且唯一</a:t>
              </a:r>
            </a:p>
          </p:txBody>
        </p:sp>
      </p:grpSp>
      <p:grpSp>
        <p:nvGrpSpPr>
          <p:cNvPr id="40" name="c2-callout-3"/>
          <p:cNvGrpSpPr/>
          <p:nvPr/>
        </p:nvGrpSpPr>
        <p:grpSpPr>
          <a:xfrm>
            <a:off x="6248400" y="5049202"/>
            <a:ext cx="5410200" cy="1278255"/>
            <a:chOff x="6248400" y="5049202"/>
            <a:chExt cx="5410200" cy="1278255"/>
          </a:xfrm>
        </p:grpSpPr>
        <p:sp>
          <p:nvSpPr>
            <p:cNvPr id="34" name="Rectangle 34"/>
            <p:cNvSpPr/>
            <p:nvPr/>
          </p:nvSpPr>
          <p:spPr>
            <a:xfrm>
              <a:off x="6248400" y="5049202"/>
              <a:ext cx="5410200" cy="1278255"/>
            </a:xfrm>
            <a:prstGeom prst="roundRect">
              <a:avLst>
                <a:gd name="adj" fmla="val 894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453188" y="5588318"/>
              <a:ext cx="200026" cy="200025"/>
              <a:chOff x="6453188" y="5588318"/>
              <a:chExt cx="200026" cy="200025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453188" y="558831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492926" y="563276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527642" y="574389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6755511" y="5325904"/>
              <a:ext cx="4387723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例：节点 0, 1, 2 时 V₂ = (1 − 0)(2 − 0)(2 − 1) = 2。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实际计算中不解这个方程组，直接构造插值多项式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（Lagrange 法、Newton 法）。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430949" cy="909257"/>
            <a:chOff x="520446" y="342900"/>
            <a:chExt cx="943094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第5章 函数插值 · 拉格朗日插值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4309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 5.1 插值余项：误差由 n+1 阶导数和 ωₙ₊₁(x) 共同决定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842635" cy="3347085"/>
            <a:chOff x="533400" y="1524000"/>
            <a:chExt cx="5842635" cy="33470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347085"/>
            </a:xfrm>
            <a:prstGeom prst="roundRect">
              <a:avLst>
                <a:gd name="adj" fmla="val 39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08038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8486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2635" y="1769269"/>
              <a:ext cx="621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5.1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50444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f(x) 在 [a, b] 上 n 阶导数连续，f⁽ⁿ⁺¹⁾(x) 在 (a, b)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内存在，节点 a ≤ x₀ &lt; x₁ &lt; ⋯ &lt; xₙ ≤ b，Lₙ(x) 是满足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Lₙ(xⱼ) = f(xⱼ)（j = 0, 1, …, n）的插值多项式，则对任何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∈ [a, b] 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36"/>
                <p:cNvSpPr txBox="1">
                  <a:spLocks noGrp="1"/>
                </p:cNvSpPr>
                <p:nvPr/>
              </p:nvSpPr>
              <p:spPr>
                <a:xfrm>
                  <a:off x="781050" y="3278505"/>
                  <a:ext cx="5385435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ξ</m:t>
                                </m:r>
                              </m:e>
                            </m:d>
                          </m:num>
                          <m:den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den>
                        </m:f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ω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5.2.7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73430" y="3912870"/>
              <a:ext cx="1842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其中 ξ ∈ (a, b)，且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37"/>
                <p:cNvSpPr txBox="1">
                  <a:spLocks noGrp="1"/>
                </p:cNvSpPr>
                <p:nvPr/>
              </p:nvSpPr>
              <p:spPr>
                <a:xfrm>
                  <a:off x="781050" y="4223385"/>
                  <a:ext cx="5385435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ω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⋯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17" name="c1-text-2"/>
          <p:cNvGrpSpPr/>
          <p:nvPr/>
        </p:nvGrpSpPr>
        <p:grpSpPr>
          <a:xfrm>
            <a:off x="525780" y="5086350"/>
            <a:ext cx="5606415" cy="588645"/>
            <a:chOff x="525780" y="5086350"/>
            <a:chExt cx="5606415" cy="588645"/>
          </a:xfrm>
        </p:grpSpPr>
        <p:sp>
          <p:nvSpPr>
            <p:cNvPr id="16" name="TextBox 16"/>
            <p:cNvSpPr txBox="1"/>
            <p:nvPr/>
          </p:nvSpPr>
          <p:spPr>
            <a:xfrm>
              <a:off x="525780" y="5086350"/>
              <a:ext cx="5606415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Rₙ(x) 称为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插值余项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或截断误差项。节点上 Rₙ(xᵢ) = 0，其他点一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般 Lₙ(x) ≠ f(x)。</a:t>
              </a:r>
            </a:p>
          </p:txBody>
        </p:sp>
      </p:grpSp>
      <p:grpSp>
        <p:nvGrpSpPr>
          <p:cNvPr id="28" name="c2-card-1"/>
          <p:cNvGrpSpPr/>
          <p:nvPr/>
        </p:nvGrpSpPr>
        <p:grpSpPr>
          <a:xfrm>
            <a:off x="6680835" y="1524000"/>
            <a:ext cx="4977765" cy="3219450"/>
            <a:chOff x="6680835" y="1524000"/>
            <a:chExt cx="4977765" cy="3219450"/>
          </a:xfrm>
        </p:grpSpPr>
        <p:sp>
          <p:nvSpPr>
            <p:cNvPr id="18" name="Rectangle 18"/>
            <p:cNvSpPr/>
            <p:nvPr/>
          </p:nvSpPr>
          <p:spPr>
            <a:xfrm>
              <a:off x="6680835" y="1524000"/>
              <a:ext cx="4977765" cy="3219450"/>
            </a:xfrm>
            <a:prstGeom prst="roundRect">
              <a:avLst>
                <a:gd name="adj" fmla="val 4142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890385" y="17335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59892" y="17692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怎样用这个公式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896100" y="217360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54215" y="2110740"/>
              <a:ext cx="39014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ξ 的具体位置不知道，实际用上界。记 Mₙ₊₁ =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max|f⁽ⁿ⁺¹⁾(x)|（a ≤ x ≤ b），则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formula38"/>
                <p:cNvSpPr txBox="1">
                  <a:spLocks noGrp="1"/>
                </p:cNvSpPr>
                <p:nvPr/>
              </p:nvSpPr>
              <p:spPr>
                <a:xfrm>
                  <a:off x="6890385" y="2707005"/>
                  <a:ext cx="4558665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den>
                        </m:f>
                        <m: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ω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4" name="Ellipse 24"/>
            <p:cNvSpPr/>
            <p:nvPr/>
          </p:nvSpPr>
          <p:spPr>
            <a:xfrm>
              <a:off x="6896100" y="345567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054215" y="3392805"/>
              <a:ext cx="4072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 是次数不超过 n 的多项式时 f⁽ⁿ⁺¹⁾ ≡ 0，插值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没有误差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896100" y="407670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054215" y="4013835"/>
              <a:ext cx="41586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|ωₙ₊₁(x)| 由 x 与各节点的距离决定：x 离节点越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近，误差越小</a:t>
              </a:r>
            </a:p>
          </p:txBody>
        </p:sp>
      </p:grpSp>
      <p:grpSp>
        <p:nvGrpSpPr>
          <p:cNvPr id="35" name="c2-callout-2"/>
          <p:cNvGrpSpPr/>
          <p:nvPr/>
        </p:nvGrpSpPr>
        <p:grpSpPr>
          <a:xfrm>
            <a:off x="6680835" y="4933950"/>
            <a:ext cx="4977765" cy="1059180"/>
            <a:chOff x="6680835" y="4933950"/>
            <a:chExt cx="4977765" cy="1059180"/>
          </a:xfrm>
        </p:grpSpPr>
        <p:sp>
          <p:nvSpPr>
            <p:cNvPr id="29" name="Rectangle 29"/>
            <p:cNvSpPr/>
            <p:nvPr/>
          </p:nvSpPr>
          <p:spPr>
            <a:xfrm>
              <a:off x="6680835" y="4933950"/>
              <a:ext cx="4977765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885623" y="5363528"/>
              <a:ext cx="200026" cy="200026"/>
              <a:chOff x="6885623" y="5363528"/>
              <a:chExt cx="200026" cy="20002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885623" y="53635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985635" y="54302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974523" y="54635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7187565" y="5082540"/>
              <a:ext cx="39490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ξ 实际位于 x, x₀, …, xₙ 中最小者与最大者之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间，比 (a, b) 更精确，估计 Mₙ₊₁ 时可以只在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这个小区间上取最大值。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30426" cy="909257"/>
            <a:chOff x="520446" y="342900"/>
            <a:chExt cx="793042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第5章 函数插值 · 拉格朗日插值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3042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证明余项定理：构造辅助函数，反复使用 Rolle 定理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297104" cy="2695098"/>
            <a:chOff x="533400" y="1533525"/>
            <a:chExt cx="5297104" cy="2695098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9678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32791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017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91465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884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50139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575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642" y="1564957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 x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785" y="1833086"/>
              <a:ext cx="434975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取定 x ∈ [a, b]，x ≠ xᵢ（x = xᵢ 时两边都为 0，结论成立），记 F =</a:t>
              </a:r>
              <a:br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(f(x) − Lₙ(x)) / ωₙ₊₁(x)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23593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构造辅助函数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2627471"/>
              <a:ext cx="3116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φ(t) = f(t) − Lₙ(t) − F·ωₙ₊₁(t)，t 为变量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294608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数零点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3214211"/>
              <a:ext cx="4883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φ(xᵢ) = 0（i = 0, 1, …, n），由 F 的取法 φ(x) = 0，共 n+2 个互异零点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3532822"/>
              <a:ext cx="14724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反复用 Rolle 定理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3800951"/>
              <a:ext cx="463423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相邻两个零点之间 φ′ 至少有一个零点，共 n+1 个；如此 n+1 次，φ⁽ⁿ⁺¹⁾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(a, b) 内至少有一个零点 ξ</a:t>
              </a:r>
            </a:p>
          </p:txBody>
        </p:sp>
      </p:grpSp>
      <p:grpSp>
        <p:nvGrpSpPr>
          <p:cNvPr id="31" name="c1-card-2"/>
          <p:cNvGrpSpPr/>
          <p:nvPr/>
        </p:nvGrpSpPr>
        <p:grpSpPr>
          <a:xfrm>
            <a:off x="533400" y="4396740"/>
            <a:ext cx="5410200" cy="1680210"/>
            <a:chOff x="533400" y="4396740"/>
            <a:chExt cx="5410200" cy="1680210"/>
          </a:xfrm>
        </p:grpSpPr>
        <p:sp>
          <p:nvSpPr>
            <p:cNvPr id="25" name="Rectangle 25"/>
            <p:cNvSpPr/>
            <p:nvPr/>
          </p:nvSpPr>
          <p:spPr>
            <a:xfrm>
              <a:off x="533400" y="4396740"/>
              <a:ext cx="5410200" cy="1680210"/>
            </a:xfrm>
            <a:prstGeom prst="roundRect">
              <a:avLst>
                <a:gd name="adj" fmla="val 79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4530090"/>
              <a:ext cx="47625" cy="141351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63905" y="4589145"/>
              <a:ext cx="1233488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30085" y="4623435"/>
              <a:ext cx="11001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复习：Rolle 定理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7047" y="4946333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 在 [α, β] 上连续、在 (α, β) 内可导，且 φ(α) = φ(β)，则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存在 η ∈ (α, β) 使 φ′(η) = 0。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8190" y="5502116"/>
              <a:ext cx="440664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定理 5.1 要求 f 的 n 阶导数连续、n+1 阶导数存在，正是为了能对 φ,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φ′, …, φ⁽ⁿ⁾ 逐个使用它。</a:t>
              </a:r>
            </a:p>
          </p:txBody>
        </p:sp>
      </p:grpSp>
      <p:grpSp>
        <p:nvGrpSpPr>
          <p:cNvPr id="33" name="c2-text-1"/>
          <p:cNvGrpSpPr/>
          <p:nvPr/>
        </p:nvGrpSpPr>
        <p:grpSpPr>
          <a:xfrm>
            <a:off x="6241542" y="1545907"/>
            <a:ext cx="5114354" cy="529780"/>
            <a:chOff x="6241542" y="1545907"/>
            <a:chExt cx="5114354" cy="529780"/>
          </a:xfrm>
        </p:grpSpPr>
        <p:sp>
          <p:nvSpPr>
            <p:cNvPr id="32" name="TextBox 32"/>
            <p:cNvSpPr txBox="1"/>
            <p:nvPr/>
          </p:nvSpPr>
          <p:spPr>
            <a:xfrm>
              <a:off x="6241542" y="1545907"/>
              <a:ext cx="5114354" cy="5297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92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Lₙ 的次数不超过 n，故 Lₙ⁽ⁿ⁺¹⁾ ≡ 0；ωₙ₊₁(t) 的首项是 tⁿ⁺¹，其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n+1 阶导数为 (n+1)!。于是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formula51"/>
              <p:cNvSpPr txBox="1">
                <a:spLocks noGrp="1"/>
              </p:cNvSpPr>
              <p:nvPr/>
            </p:nvSpPr>
            <p:spPr>
              <a:xfrm>
                <a:off x="6248400" y="2198370"/>
                <a:ext cx="54102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φ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ξ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ξ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!=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5.2.5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formula52"/>
              <p:cNvSpPr txBox="1">
                <a:spLocks noGrp="1"/>
              </p:cNvSpPr>
              <p:nvPr/>
            </p:nvSpPr>
            <p:spPr>
              <a:xfrm>
                <a:off x="6248400" y="2791778"/>
                <a:ext cx="5410200" cy="565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  <m:sup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ξ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!</m:t>
                          </m:r>
                        </m:den>
                      </m:f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5.2.6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37" name="c2-text-4"/>
          <p:cNvGrpSpPr/>
          <p:nvPr/>
        </p:nvGrpSpPr>
        <p:grpSpPr>
          <a:xfrm>
            <a:off x="6241542" y="3555682"/>
            <a:ext cx="2778862" cy="264033"/>
            <a:chOff x="6241542" y="3555682"/>
            <a:chExt cx="2778862" cy="264033"/>
          </a:xfrm>
        </p:grpSpPr>
        <p:sp>
          <p:nvSpPr>
            <p:cNvPr id="36" name="TextBox 36"/>
            <p:cNvSpPr txBox="1"/>
            <p:nvPr/>
          </p:nvSpPr>
          <p:spPr>
            <a:xfrm>
              <a:off x="6241542" y="3555682"/>
              <a:ext cx="27788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代回 F 的定义，得插值余项公式：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formula53"/>
              <p:cNvSpPr txBox="1">
                <a:spLocks noGrp="1"/>
              </p:cNvSpPr>
              <p:nvPr/>
            </p:nvSpPr>
            <p:spPr>
              <a:xfrm>
                <a:off x="6248400" y="3941445"/>
                <a:ext cx="5410200" cy="565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  <m:sup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ξ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!</m:t>
                          </m:r>
                        </m:den>
                      </m:f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45" name="c2-callout-6"/>
          <p:cNvGrpSpPr/>
          <p:nvPr/>
        </p:nvGrpSpPr>
        <p:grpSpPr>
          <a:xfrm>
            <a:off x="6248400" y="4682490"/>
            <a:ext cx="5410200" cy="1395412"/>
            <a:chOff x="6248400" y="4682490"/>
            <a:chExt cx="5410200" cy="1395412"/>
          </a:xfrm>
        </p:grpSpPr>
        <p:sp>
          <p:nvSpPr>
            <p:cNvPr id="39" name="Rectangle 39"/>
            <p:cNvSpPr/>
            <p:nvPr/>
          </p:nvSpPr>
          <p:spPr>
            <a:xfrm>
              <a:off x="6248400" y="4682490"/>
              <a:ext cx="5410200" cy="1395412"/>
            </a:xfrm>
            <a:prstGeom prst="roundRect">
              <a:avLst>
                <a:gd name="adj" fmla="val 81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6453188" y="5279708"/>
              <a:ext cx="200026" cy="200025"/>
              <a:chOff x="6453188" y="5279708"/>
              <a:chExt cx="200026" cy="20002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453188" y="52797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492926" y="53241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527642" y="54352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6755892" y="5160645"/>
              <a:ext cx="444569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构造辅助函数、数零点、用 Rolle 定理，这一套做法还会用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来证明 Hermite 插值余项（习题 2）。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72686" cy="909257"/>
            <a:chOff x="520446" y="342900"/>
            <a:chExt cx="667268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第5章 函数插值 · 拉格朗日插值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7268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线性插值（n = 1）：过两点作直线代替曲线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5780" y="1548765"/>
            <a:ext cx="4930140" cy="588645"/>
            <a:chOff x="525780" y="1548765"/>
            <a:chExt cx="4930140" cy="58864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4930140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 (x₀, y₀)、(x₁, y₁)，求次数不超过 1 的 L₁(x)，使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L₁(xᵢ) = yᵢ（i = 0, 1）。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57"/>
              <p:cNvSpPr txBox="1">
                <a:spLocks noGrp="1"/>
              </p:cNvSpPr>
              <p:nvPr/>
            </p:nvSpPr>
            <p:spPr>
              <a:xfrm>
                <a:off x="533400" y="2268855"/>
                <a:ext cx="5410200" cy="565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 m:val="on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点斜式：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58"/>
              <p:cNvSpPr txBox="1">
                <a:spLocks noGrp="1"/>
              </p:cNvSpPr>
              <p:nvPr/>
            </p:nvSpPr>
            <p:spPr>
              <a:xfrm>
                <a:off x="533400" y="3025140"/>
                <a:ext cx="5410200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 m:val="on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对称式：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5.2.11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6" name="c1-kv-4"/>
          <p:cNvGrpSpPr/>
          <p:nvPr/>
        </p:nvGrpSpPr>
        <p:grpSpPr>
          <a:xfrm>
            <a:off x="525780" y="3651885"/>
            <a:ext cx="5417820" cy="733425"/>
            <a:chOff x="525780" y="3651885"/>
            <a:chExt cx="5417820" cy="733425"/>
          </a:xfrm>
        </p:grpSpPr>
        <p:sp>
          <p:nvSpPr>
            <p:cNvPr id="11" name="TextBox 11"/>
            <p:cNvSpPr txBox="1"/>
            <p:nvPr/>
          </p:nvSpPr>
          <p:spPr>
            <a:xfrm>
              <a:off x="525780" y="3651885"/>
              <a:ext cx="5453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l₀(x)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94447" y="3651885"/>
              <a:ext cx="24585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x₀ 处为 1，在 x₁ 处为 0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397192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5780" y="4091940"/>
              <a:ext cx="5453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l₁(x)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94447" y="4091940"/>
              <a:ext cx="24585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x₀ 处为 0，在 x₁ 处为 1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formula59"/>
              <p:cNvSpPr txBox="1">
                <a:spLocks noGrp="1"/>
              </p:cNvSpPr>
              <p:nvPr/>
            </p:nvSpPr>
            <p:spPr>
              <a:xfrm>
                <a:off x="533400" y="4516755"/>
                <a:ext cx="5410200" cy="565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 m:val="on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余项：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ξ</m:t>
                              </m:r>
                            </m:e>
                          </m:d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4" name="c1-callout-6"/>
          <p:cNvGrpSpPr/>
          <p:nvPr/>
        </p:nvGrpSpPr>
        <p:grpSpPr>
          <a:xfrm>
            <a:off x="533400" y="5273040"/>
            <a:ext cx="5410200" cy="1059180"/>
            <a:chOff x="533400" y="5273040"/>
            <a:chExt cx="5410200" cy="1059180"/>
          </a:xfrm>
        </p:grpSpPr>
        <p:sp>
          <p:nvSpPr>
            <p:cNvPr id="18" name="Rectangle 18"/>
            <p:cNvSpPr/>
            <p:nvPr/>
          </p:nvSpPr>
          <p:spPr>
            <a:xfrm>
              <a:off x="533400" y="5273040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5702618"/>
              <a:ext cx="200026" cy="200025"/>
              <a:chOff x="738188" y="5702618"/>
              <a:chExt cx="200026" cy="20002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570261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77926" y="574706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12642" y="585819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130" y="5421630"/>
              <a:ext cx="45110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l₀、l₁ 相当于权重：x 在 [x₀, x₁] 内（内插）时两者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都在 0 与 1 之间，x 越靠近 x₀，y₀ 的权重越大；x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在区间外（外推）时出现负权重，误差通常更大。</a:t>
              </a:r>
            </a:p>
          </p:txBody>
        </p:sp>
      </p:grpSp>
      <p:grpSp>
        <p:nvGrpSpPr>
          <p:cNvPr id="63" name="c2-graph-1"/>
          <p:cNvGrpSpPr/>
          <p:nvPr/>
        </p:nvGrpSpPr>
        <p:grpSpPr>
          <a:xfrm>
            <a:off x="6362700" y="1619726"/>
            <a:ext cx="5127813" cy="3653791"/>
            <a:chOff x="6362700" y="1619726"/>
            <a:chExt cx="5127813" cy="3653791"/>
          </a:xfrm>
        </p:grpSpPr>
        <p:sp>
          <p:nvSpPr>
            <p:cNvPr id="25" name="Freeform 25"/>
            <p:cNvSpPr/>
            <p:nvPr/>
          </p:nvSpPr>
          <p:spPr>
            <a:xfrm>
              <a:off x="6420802" y="4925378"/>
              <a:ext cx="4916805" cy="9525"/>
            </a:xfrm>
            <a:custGeom>
              <a:avLst/>
              <a:gdLst/>
              <a:ahLst/>
              <a:cxnLst/>
              <a:rect l="l" t="t" r="r" b="b"/>
              <a:pathLst>
                <a:path w="4916805" h="9525">
                  <a:moveTo>
                    <a:pt x="0" y="0"/>
                  </a:moveTo>
                  <a:lnTo>
                    <a:pt x="4916805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11337608" y="487775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6410325" y="1846898"/>
              <a:ext cx="9525" cy="3068002"/>
            </a:xfrm>
            <a:custGeom>
              <a:avLst/>
              <a:gdLst/>
              <a:ahLst/>
              <a:cxnLst/>
              <a:rect l="l" t="t" r="r" b="b"/>
              <a:pathLst>
                <a:path w="9525" h="3068002">
                  <a:moveTo>
                    <a:pt x="0" y="3068002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6362700" y="175164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6738938" y="2204085"/>
              <a:ext cx="4372927" cy="1704975"/>
            </a:xfrm>
            <a:custGeom>
              <a:avLst/>
              <a:gdLst/>
              <a:ahLst/>
              <a:cxnLst/>
              <a:rect l="l" t="t" r="r" b="b"/>
              <a:pathLst>
                <a:path w="4372927" h="1704975">
                  <a:moveTo>
                    <a:pt x="0" y="902018"/>
                  </a:moveTo>
                  <a:lnTo>
                    <a:pt x="41910" y="857250"/>
                  </a:lnTo>
                  <a:lnTo>
                    <a:pt x="91440" y="805815"/>
                  </a:lnTo>
                  <a:lnTo>
                    <a:pt x="140970" y="754380"/>
                  </a:lnTo>
                  <a:lnTo>
                    <a:pt x="190500" y="704850"/>
                  </a:lnTo>
                  <a:lnTo>
                    <a:pt x="240030" y="655320"/>
                  </a:lnTo>
                  <a:lnTo>
                    <a:pt x="288607" y="606743"/>
                  </a:lnTo>
                  <a:lnTo>
                    <a:pt x="338138" y="559118"/>
                  </a:lnTo>
                  <a:lnTo>
                    <a:pt x="387668" y="513398"/>
                  </a:lnTo>
                  <a:lnTo>
                    <a:pt x="437197" y="468630"/>
                  </a:lnTo>
                  <a:lnTo>
                    <a:pt x="486728" y="424815"/>
                  </a:lnTo>
                  <a:lnTo>
                    <a:pt x="535305" y="382905"/>
                  </a:lnTo>
                  <a:lnTo>
                    <a:pt x="584835" y="343852"/>
                  </a:lnTo>
                  <a:lnTo>
                    <a:pt x="634365" y="304800"/>
                  </a:lnTo>
                  <a:lnTo>
                    <a:pt x="683895" y="268605"/>
                  </a:lnTo>
                  <a:lnTo>
                    <a:pt x="732472" y="234315"/>
                  </a:lnTo>
                  <a:lnTo>
                    <a:pt x="782955" y="201930"/>
                  </a:lnTo>
                  <a:lnTo>
                    <a:pt x="831532" y="171450"/>
                  </a:lnTo>
                  <a:lnTo>
                    <a:pt x="881062" y="143827"/>
                  </a:lnTo>
                  <a:lnTo>
                    <a:pt x="930593" y="118110"/>
                  </a:lnTo>
                  <a:lnTo>
                    <a:pt x="979170" y="95250"/>
                  </a:lnTo>
                  <a:lnTo>
                    <a:pt x="1028700" y="74295"/>
                  </a:lnTo>
                  <a:lnTo>
                    <a:pt x="1078230" y="56198"/>
                  </a:lnTo>
                  <a:lnTo>
                    <a:pt x="1127760" y="40005"/>
                  </a:lnTo>
                  <a:lnTo>
                    <a:pt x="1177290" y="26670"/>
                  </a:lnTo>
                  <a:lnTo>
                    <a:pt x="1225868" y="16192"/>
                  </a:lnTo>
                  <a:lnTo>
                    <a:pt x="1275397" y="8573"/>
                  </a:lnTo>
                  <a:lnTo>
                    <a:pt x="1324928" y="2857"/>
                  </a:lnTo>
                  <a:lnTo>
                    <a:pt x="1374457" y="0"/>
                  </a:lnTo>
                  <a:lnTo>
                    <a:pt x="1423988" y="0"/>
                  </a:lnTo>
                  <a:lnTo>
                    <a:pt x="1472565" y="1905"/>
                  </a:lnTo>
                  <a:lnTo>
                    <a:pt x="1522095" y="7620"/>
                  </a:lnTo>
                  <a:lnTo>
                    <a:pt x="1571625" y="15240"/>
                  </a:lnTo>
                  <a:lnTo>
                    <a:pt x="1621155" y="24765"/>
                  </a:lnTo>
                  <a:lnTo>
                    <a:pt x="1670685" y="38100"/>
                  </a:lnTo>
                  <a:lnTo>
                    <a:pt x="1719262" y="52388"/>
                  </a:lnTo>
                  <a:lnTo>
                    <a:pt x="1768793" y="70485"/>
                  </a:lnTo>
                  <a:lnTo>
                    <a:pt x="1818322" y="90488"/>
                  </a:lnTo>
                  <a:lnTo>
                    <a:pt x="1866900" y="112395"/>
                  </a:lnTo>
                  <a:lnTo>
                    <a:pt x="1917382" y="137160"/>
                  </a:lnTo>
                  <a:lnTo>
                    <a:pt x="1965960" y="163830"/>
                  </a:lnTo>
                  <a:lnTo>
                    <a:pt x="2015490" y="192405"/>
                  </a:lnTo>
                  <a:lnTo>
                    <a:pt x="2065020" y="222885"/>
                  </a:lnTo>
                  <a:lnTo>
                    <a:pt x="2113598" y="255270"/>
                  </a:lnTo>
                  <a:lnTo>
                    <a:pt x="2163128" y="290512"/>
                  </a:lnTo>
                  <a:lnTo>
                    <a:pt x="2212657" y="325755"/>
                  </a:lnTo>
                  <a:lnTo>
                    <a:pt x="2262188" y="363855"/>
                  </a:lnTo>
                  <a:lnTo>
                    <a:pt x="2311718" y="402907"/>
                  </a:lnTo>
                  <a:lnTo>
                    <a:pt x="2360295" y="442912"/>
                  </a:lnTo>
                  <a:lnTo>
                    <a:pt x="2409825" y="484823"/>
                  </a:lnTo>
                  <a:lnTo>
                    <a:pt x="2459355" y="527685"/>
                  </a:lnTo>
                  <a:lnTo>
                    <a:pt x="2508885" y="571500"/>
                  </a:lnTo>
                  <a:lnTo>
                    <a:pt x="2558415" y="616268"/>
                  </a:lnTo>
                  <a:lnTo>
                    <a:pt x="2606993" y="661035"/>
                  </a:lnTo>
                  <a:lnTo>
                    <a:pt x="2656522" y="706755"/>
                  </a:lnTo>
                  <a:lnTo>
                    <a:pt x="2706052" y="753428"/>
                  </a:lnTo>
                  <a:lnTo>
                    <a:pt x="2755582" y="799148"/>
                  </a:lnTo>
                  <a:lnTo>
                    <a:pt x="2805112" y="846772"/>
                  </a:lnTo>
                  <a:lnTo>
                    <a:pt x="2853690" y="893445"/>
                  </a:lnTo>
                  <a:lnTo>
                    <a:pt x="2903220" y="940118"/>
                  </a:lnTo>
                  <a:lnTo>
                    <a:pt x="2952750" y="985837"/>
                  </a:lnTo>
                  <a:lnTo>
                    <a:pt x="3001328" y="1031557"/>
                  </a:lnTo>
                  <a:lnTo>
                    <a:pt x="3051810" y="1077278"/>
                  </a:lnTo>
                  <a:lnTo>
                    <a:pt x="3100388" y="1122045"/>
                  </a:lnTo>
                  <a:lnTo>
                    <a:pt x="3149918" y="1165860"/>
                  </a:lnTo>
                  <a:lnTo>
                    <a:pt x="3199448" y="1209675"/>
                  </a:lnTo>
                  <a:lnTo>
                    <a:pt x="3248025" y="1250632"/>
                  </a:lnTo>
                  <a:lnTo>
                    <a:pt x="3297555" y="1291590"/>
                  </a:lnTo>
                  <a:lnTo>
                    <a:pt x="3347085" y="1331595"/>
                  </a:lnTo>
                  <a:lnTo>
                    <a:pt x="3396615" y="1369695"/>
                  </a:lnTo>
                  <a:lnTo>
                    <a:pt x="3446145" y="1405890"/>
                  </a:lnTo>
                  <a:lnTo>
                    <a:pt x="3494723" y="1440180"/>
                  </a:lnTo>
                  <a:lnTo>
                    <a:pt x="3544252" y="1473518"/>
                  </a:lnTo>
                  <a:lnTo>
                    <a:pt x="3593782" y="1504950"/>
                  </a:lnTo>
                  <a:lnTo>
                    <a:pt x="3643312" y="1533525"/>
                  </a:lnTo>
                  <a:lnTo>
                    <a:pt x="3692843" y="1561148"/>
                  </a:lnTo>
                  <a:lnTo>
                    <a:pt x="3741420" y="1585912"/>
                  </a:lnTo>
                  <a:lnTo>
                    <a:pt x="3790950" y="1608772"/>
                  </a:lnTo>
                  <a:lnTo>
                    <a:pt x="3840480" y="1629728"/>
                  </a:lnTo>
                  <a:lnTo>
                    <a:pt x="3890010" y="1647825"/>
                  </a:lnTo>
                  <a:lnTo>
                    <a:pt x="3939540" y="1663065"/>
                  </a:lnTo>
                  <a:lnTo>
                    <a:pt x="3988118" y="1677352"/>
                  </a:lnTo>
                  <a:lnTo>
                    <a:pt x="4037648" y="1687830"/>
                  </a:lnTo>
                  <a:lnTo>
                    <a:pt x="4087177" y="1695450"/>
                  </a:lnTo>
                  <a:lnTo>
                    <a:pt x="4136707" y="1702118"/>
                  </a:lnTo>
                  <a:lnTo>
                    <a:pt x="4186238" y="1704975"/>
                  </a:lnTo>
                  <a:lnTo>
                    <a:pt x="4234815" y="1704975"/>
                  </a:lnTo>
                  <a:lnTo>
                    <a:pt x="4284345" y="1703070"/>
                  </a:lnTo>
                  <a:lnTo>
                    <a:pt x="4333875" y="1698307"/>
                  </a:lnTo>
                  <a:lnTo>
                    <a:pt x="4372927" y="1692593"/>
                  </a:lnTo>
                </a:path>
              </a:pathLst>
            </a:custGeom>
            <a:noFill/>
            <a:ln w="2476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6795135" y="2316480"/>
              <a:ext cx="4210050" cy="1394460"/>
            </a:xfrm>
            <a:custGeom>
              <a:avLst/>
              <a:gdLst/>
              <a:ahLst/>
              <a:cxnLst/>
              <a:rect l="l" t="t" r="r" b="b"/>
              <a:pathLst>
                <a:path w="4210050" h="1394460">
                  <a:moveTo>
                    <a:pt x="0" y="0"/>
                  </a:moveTo>
                  <a:lnTo>
                    <a:pt x="38100" y="12383"/>
                  </a:lnTo>
                  <a:lnTo>
                    <a:pt x="84772" y="28575"/>
                  </a:lnTo>
                  <a:lnTo>
                    <a:pt x="132397" y="43815"/>
                  </a:lnTo>
                  <a:lnTo>
                    <a:pt x="180022" y="60008"/>
                  </a:lnTo>
                  <a:lnTo>
                    <a:pt x="227647" y="75248"/>
                  </a:lnTo>
                  <a:lnTo>
                    <a:pt x="275272" y="91440"/>
                  </a:lnTo>
                  <a:lnTo>
                    <a:pt x="322897" y="106680"/>
                  </a:lnTo>
                  <a:lnTo>
                    <a:pt x="370522" y="122873"/>
                  </a:lnTo>
                  <a:lnTo>
                    <a:pt x="418147" y="138112"/>
                  </a:lnTo>
                  <a:lnTo>
                    <a:pt x="465772" y="154305"/>
                  </a:lnTo>
                  <a:lnTo>
                    <a:pt x="513397" y="169545"/>
                  </a:lnTo>
                  <a:lnTo>
                    <a:pt x="561022" y="185738"/>
                  </a:lnTo>
                  <a:lnTo>
                    <a:pt x="608647" y="200978"/>
                  </a:lnTo>
                  <a:lnTo>
                    <a:pt x="655320" y="217170"/>
                  </a:lnTo>
                  <a:lnTo>
                    <a:pt x="702945" y="233362"/>
                  </a:lnTo>
                  <a:lnTo>
                    <a:pt x="750570" y="248603"/>
                  </a:lnTo>
                  <a:lnTo>
                    <a:pt x="798195" y="263842"/>
                  </a:lnTo>
                  <a:lnTo>
                    <a:pt x="845820" y="280035"/>
                  </a:lnTo>
                  <a:lnTo>
                    <a:pt x="893445" y="296228"/>
                  </a:lnTo>
                  <a:lnTo>
                    <a:pt x="940118" y="311467"/>
                  </a:lnTo>
                  <a:lnTo>
                    <a:pt x="987743" y="327660"/>
                  </a:lnTo>
                  <a:lnTo>
                    <a:pt x="1035368" y="342900"/>
                  </a:lnTo>
                  <a:lnTo>
                    <a:pt x="1082993" y="358140"/>
                  </a:lnTo>
                  <a:lnTo>
                    <a:pt x="1130618" y="374333"/>
                  </a:lnTo>
                  <a:lnTo>
                    <a:pt x="1178243" y="390525"/>
                  </a:lnTo>
                  <a:lnTo>
                    <a:pt x="1225868" y="405765"/>
                  </a:lnTo>
                  <a:lnTo>
                    <a:pt x="1273493" y="421958"/>
                  </a:lnTo>
                  <a:lnTo>
                    <a:pt x="1321118" y="437198"/>
                  </a:lnTo>
                  <a:lnTo>
                    <a:pt x="1368743" y="453390"/>
                  </a:lnTo>
                  <a:lnTo>
                    <a:pt x="1416368" y="469583"/>
                  </a:lnTo>
                  <a:lnTo>
                    <a:pt x="1463993" y="484823"/>
                  </a:lnTo>
                  <a:lnTo>
                    <a:pt x="1511618" y="500062"/>
                  </a:lnTo>
                  <a:lnTo>
                    <a:pt x="1558290" y="516255"/>
                  </a:lnTo>
                  <a:lnTo>
                    <a:pt x="1605915" y="531495"/>
                  </a:lnTo>
                  <a:lnTo>
                    <a:pt x="1653540" y="547688"/>
                  </a:lnTo>
                  <a:lnTo>
                    <a:pt x="1701165" y="563880"/>
                  </a:lnTo>
                  <a:lnTo>
                    <a:pt x="1748790" y="579120"/>
                  </a:lnTo>
                  <a:lnTo>
                    <a:pt x="1796415" y="594360"/>
                  </a:lnTo>
                  <a:lnTo>
                    <a:pt x="1843088" y="610553"/>
                  </a:lnTo>
                  <a:lnTo>
                    <a:pt x="1890712" y="626745"/>
                  </a:lnTo>
                  <a:lnTo>
                    <a:pt x="1938338" y="641985"/>
                  </a:lnTo>
                  <a:lnTo>
                    <a:pt x="1985962" y="658178"/>
                  </a:lnTo>
                  <a:lnTo>
                    <a:pt x="2033588" y="673417"/>
                  </a:lnTo>
                  <a:lnTo>
                    <a:pt x="2081212" y="689610"/>
                  </a:lnTo>
                  <a:lnTo>
                    <a:pt x="2128838" y="704850"/>
                  </a:lnTo>
                  <a:lnTo>
                    <a:pt x="2176462" y="721042"/>
                  </a:lnTo>
                  <a:lnTo>
                    <a:pt x="2224088" y="736283"/>
                  </a:lnTo>
                  <a:lnTo>
                    <a:pt x="2271712" y="752475"/>
                  </a:lnTo>
                  <a:lnTo>
                    <a:pt x="2319338" y="767715"/>
                  </a:lnTo>
                  <a:lnTo>
                    <a:pt x="2366962" y="783908"/>
                  </a:lnTo>
                  <a:lnTo>
                    <a:pt x="2414588" y="799148"/>
                  </a:lnTo>
                  <a:lnTo>
                    <a:pt x="2461260" y="815340"/>
                  </a:lnTo>
                  <a:lnTo>
                    <a:pt x="2508885" y="830580"/>
                  </a:lnTo>
                  <a:lnTo>
                    <a:pt x="2556510" y="846773"/>
                  </a:lnTo>
                  <a:lnTo>
                    <a:pt x="2604135" y="862965"/>
                  </a:lnTo>
                  <a:lnTo>
                    <a:pt x="2651760" y="878205"/>
                  </a:lnTo>
                  <a:lnTo>
                    <a:pt x="2699385" y="894398"/>
                  </a:lnTo>
                  <a:lnTo>
                    <a:pt x="2746058" y="909638"/>
                  </a:lnTo>
                  <a:lnTo>
                    <a:pt x="2793683" y="925830"/>
                  </a:lnTo>
                  <a:lnTo>
                    <a:pt x="2841308" y="941070"/>
                  </a:lnTo>
                  <a:lnTo>
                    <a:pt x="2888933" y="957262"/>
                  </a:lnTo>
                  <a:lnTo>
                    <a:pt x="2936558" y="972503"/>
                  </a:lnTo>
                  <a:lnTo>
                    <a:pt x="2984183" y="988695"/>
                  </a:lnTo>
                  <a:lnTo>
                    <a:pt x="3031808" y="1003935"/>
                  </a:lnTo>
                  <a:lnTo>
                    <a:pt x="3079433" y="1020128"/>
                  </a:lnTo>
                  <a:lnTo>
                    <a:pt x="3127058" y="1035367"/>
                  </a:lnTo>
                  <a:lnTo>
                    <a:pt x="3174683" y="1051560"/>
                  </a:lnTo>
                  <a:lnTo>
                    <a:pt x="3222308" y="1066800"/>
                  </a:lnTo>
                  <a:lnTo>
                    <a:pt x="3269933" y="1082992"/>
                  </a:lnTo>
                  <a:lnTo>
                    <a:pt x="3316605" y="1099185"/>
                  </a:lnTo>
                  <a:lnTo>
                    <a:pt x="3364230" y="1114425"/>
                  </a:lnTo>
                  <a:lnTo>
                    <a:pt x="3411855" y="1129665"/>
                  </a:lnTo>
                  <a:lnTo>
                    <a:pt x="3459480" y="1145858"/>
                  </a:lnTo>
                  <a:lnTo>
                    <a:pt x="3507105" y="1162050"/>
                  </a:lnTo>
                  <a:lnTo>
                    <a:pt x="3554730" y="1177290"/>
                  </a:lnTo>
                  <a:lnTo>
                    <a:pt x="3602355" y="1193482"/>
                  </a:lnTo>
                  <a:lnTo>
                    <a:pt x="3649028" y="1208723"/>
                  </a:lnTo>
                  <a:lnTo>
                    <a:pt x="3696652" y="1223962"/>
                  </a:lnTo>
                  <a:lnTo>
                    <a:pt x="3744278" y="1240155"/>
                  </a:lnTo>
                  <a:lnTo>
                    <a:pt x="3791902" y="1256348"/>
                  </a:lnTo>
                  <a:lnTo>
                    <a:pt x="3839528" y="1271588"/>
                  </a:lnTo>
                  <a:lnTo>
                    <a:pt x="3887152" y="1287780"/>
                  </a:lnTo>
                  <a:lnTo>
                    <a:pt x="3934778" y="1303020"/>
                  </a:lnTo>
                  <a:lnTo>
                    <a:pt x="3982402" y="1319212"/>
                  </a:lnTo>
                  <a:lnTo>
                    <a:pt x="4030028" y="1335405"/>
                  </a:lnTo>
                  <a:lnTo>
                    <a:pt x="4077652" y="1350645"/>
                  </a:lnTo>
                  <a:lnTo>
                    <a:pt x="4125278" y="1365885"/>
                  </a:lnTo>
                  <a:lnTo>
                    <a:pt x="4172902" y="1382078"/>
                  </a:lnTo>
                  <a:lnTo>
                    <a:pt x="4210050" y="1394460"/>
                  </a:lnTo>
                </a:path>
              </a:pathLst>
            </a:custGeom>
            <a:noFill/>
            <a:ln w="24765">
              <a:solidFill>
                <a:srgbClr val="F26B3A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374255" y="2518410"/>
              <a:ext cx="9525" cy="2396490"/>
            </a:xfrm>
            <a:custGeom>
              <a:avLst/>
              <a:gdLst/>
              <a:ahLst/>
              <a:cxnLst/>
              <a:rect l="l" t="t" r="r" b="b"/>
              <a:pathLst>
                <a:path w="9525" h="2396490">
                  <a:moveTo>
                    <a:pt x="0" y="2396490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  <a:custDash>
                <a:ds d="500000" sp="333333"/>
              </a:custDash>
            </a:ln>
          </p:spPr>
        </p:sp>
        <p:sp>
          <p:nvSpPr>
            <p:cNvPr id="32" name="Freeform 32"/>
            <p:cNvSpPr/>
            <p:nvPr/>
          </p:nvSpPr>
          <p:spPr>
            <a:xfrm>
              <a:off x="9837420" y="3334702"/>
              <a:ext cx="9525" cy="1580197"/>
            </a:xfrm>
            <a:custGeom>
              <a:avLst/>
              <a:gdLst/>
              <a:ahLst/>
              <a:cxnLst/>
              <a:rect l="l" t="t" r="r" b="b"/>
              <a:pathLst>
                <a:path w="9525" h="1580197">
                  <a:moveTo>
                    <a:pt x="0" y="1580197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  <a:custDash>
                <a:ds d="500000" sp="333333"/>
              </a:custDash>
            </a:ln>
          </p:spPr>
        </p:sp>
        <p:sp>
          <p:nvSpPr>
            <p:cNvPr id="33" name="Freeform 33"/>
            <p:cNvSpPr/>
            <p:nvPr/>
          </p:nvSpPr>
          <p:spPr>
            <a:xfrm>
              <a:off x="8444865" y="2263140"/>
              <a:ext cx="9525" cy="2651760"/>
            </a:xfrm>
            <a:custGeom>
              <a:avLst/>
              <a:gdLst/>
              <a:ahLst/>
              <a:cxnLst/>
              <a:rect l="l" t="t" r="r" b="b"/>
              <a:pathLst>
                <a:path w="9525" h="2651760">
                  <a:moveTo>
                    <a:pt x="0" y="2651760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B42318"/>
              </a:solidFill>
              <a:custDash>
                <a:ds d="428571" sp="285714"/>
              </a:custDash>
            </a:ln>
          </p:spPr>
        </p:sp>
        <p:sp>
          <p:nvSpPr>
            <p:cNvPr id="34" name="Ellipse 34"/>
            <p:cNvSpPr/>
            <p:nvPr/>
          </p:nvSpPr>
          <p:spPr>
            <a:xfrm>
              <a:off x="6409372" y="4924425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11442383" y="4924425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6409372" y="4924425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6409372" y="1740218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6731317" y="3112770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1121390" y="3893820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6784658" y="2312670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11013758" y="3712845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7373302" y="4924425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7373302" y="2506980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7326630" y="2460308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836468" y="4924425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9836468" y="3323272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9789795" y="3276600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8443912" y="4924425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8443912" y="2251710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8406765" y="2214562"/>
              <a:ext cx="76200" cy="7620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8406765" y="2825115"/>
              <a:ext cx="76200" cy="762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1396157" y="49991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534150" y="16197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285614" y="505348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x₀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074101" y="218741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y₀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748779" y="505348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537266" y="30027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y₁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352078" y="505348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x′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547164" y="1965007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f(x′)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547164" y="2899410"/>
              <a:ext cx="490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L₁(x′)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552546" y="4022884"/>
              <a:ext cx="628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f(x)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344549" y="3342799"/>
              <a:ext cx="7292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y = L₁(x)</a:t>
              </a:r>
            </a:p>
          </p:txBody>
        </p:sp>
      </p:grpSp>
      <p:grpSp>
        <p:nvGrpSpPr>
          <p:cNvPr id="70" name="c2-callout-2"/>
          <p:cNvGrpSpPr/>
          <p:nvPr/>
        </p:nvGrpSpPr>
        <p:grpSpPr>
          <a:xfrm>
            <a:off x="6248400" y="5579745"/>
            <a:ext cx="5410200" cy="782955"/>
            <a:chOff x="6248400" y="5579745"/>
            <a:chExt cx="5410200" cy="782955"/>
          </a:xfrm>
        </p:grpSpPr>
        <p:sp>
          <p:nvSpPr>
            <p:cNvPr id="64" name="Rectangle 64"/>
            <p:cNvSpPr/>
            <p:nvPr/>
          </p:nvSpPr>
          <p:spPr>
            <a:xfrm>
              <a:off x="6248400" y="557974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6453188" y="5871210"/>
              <a:ext cx="200026" cy="200026"/>
              <a:chOff x="6453188" y="5871210"/>
              <a:chExt cx="200026" cy="200026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6453188" y="5871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6553200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542088" y="59712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6755130" y="5728335"/>
              <a:ext cx="44634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L₁(x′) 近似 f(x′)，x′ 处直线与曲线之间的竖直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距离就是误差 R₁(x′)。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29405" cy="909257"/>
            <a:chOff x="520446" y="342900"/>
            <a:chExt cx="632940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第5章 函数插值 · 拉格朗日插值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2940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抛物线插值（n = 2）：过三点作二次曲线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5780" y="1548765"/>
            <a:ext cx="4853940" cy="588645"/>
            <a:chOff x="525780" y="1548765"/>
            <a:chExt cx="4853940" cy="58864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4853940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已知三个点 (xᵢ, yᵢ)（i = 0, 1, 2），求次数不超过 2 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L₂(x)，使 L₂(xᵢ) = yᵢ：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64"/>
              <p:cNvSpPr txBox="1">
                <a:spLocks noGrp="1"/>
              </p:cNvSpPr>
              <p:nvPr/>
            </p:nvSpPr>
            <p:spPr>
              <a:xfrm>
                <a:off x="533400" y="2268855"/>
                <a:ext cx="5735002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5.2.12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65"/>
              <p:cNvSpPr txBox="1">
                <a:spLocks noGrp="1"/>
              </p:cNvSpPr>
              <p:nvPr/>
            </p:nvSpPr>
            <p:spPr>
              <a:xfrm>
                <a:off x="533400" y="2878455"/>
                <a:ext cx="5735002" cy="540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formula66"/>
              <p:cNvSpPr txBox="1">
                <a:spLocks noGrp="1"/>
              </p:cNvSpPr>
              <p:nvPr/>
            </p:nvSpPr>
            <p:spPr>
              <a:xfrm>
                <a:off x="533400" y="3609022"/>
                <a:ext cx="5735002" cy="540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formula67"/>
              <p:cNvSpPr txBox="1">
                <a:spLocks noGrp="1"/>
              </p:cNvSpPr>
              <p:nvPr/>
            </p:nvSpPr>
            <p:spPr>
              <a:xfrm>
                <a:off x="533400" y="4339590"/>
                <a:ext cx="5735002" cy="565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 m:val="on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余项：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′′′</m:t>
                              </m:r>
                            </m:sup>
                          </m:s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ξ</m:t>
                              </m:r>
                            </m:e>
                          </m:d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!</m:t>
                          </m:r>
                        </m:den>
                      </m:f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9" name="c1-callout-6"/>
          <p:cNvGrpSpPr/>
          <p:nvPr/>
        </p:nvGrpSpPr>
        <p:grpSpPr>
          <a:xfrm>
            <a:off x="533400" y="5095875"/>
            <a:ext cx="5735002" cy="1059180"/>
            <a:chOff x="533400" y="5095875"/>
            <a:chExt cx="5735002" cy="1059180"/>
          </a:xfrm>
        </p:grpSpPr>
        <p:sp>
          <p:nvSpPr>
            <p:cNvPr id="13" name="Rectangle 13"/>
            <p:cNvSpPr/>
            <p:nvPr/>
          </p:nvSpPr>
          <p:spPr>
            <a:xfrm>
              <a:off x="533400" y="5095875"/>
              <a:ext cx="5735002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5525453"/>
              <a:ext cx="200026" cy="200025"/>
              <a:chOff x="738188" y="5525453"/>
              <a:chExt cx="200026" cy="20002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552545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77926" y="556990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12642" y="568102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130" y="5244465"/>
              <a:ext cx="47586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例：节点 0, 1, 2 上函数值为 1, 3, 7，l₀ = (x − 1)(x −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2)/2，l₁ = −x(x − 2)，l₂ = x(x − 1)/2，合并得 L₂(x)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= x² + x + 1，代回三个节点检验都成立。</a:t>
              </a:r>
            </a:p>
          </p:txBody>
        </p:sp>
      </p:grpSp>
      <p:grpSp>
        <p:nvGrpSpPr>
          <p:cNvPr id="59" name="c2-graph-1"/>
          <p:cNvGrpSpPr/>
          <p:nvPr/>
        </p:nvGrpSpPr>
        <p:grpSpPr>
          <a:xfrm>
            <a:off x="6677978" y="1609249"/>
            <a:ext cx="4833937" cy="3624263"/>
            <a:chOff x="6677978" y="1609249"/>
            <a:chExt cx="4833937" cy="3624263"/>
          </a:xfrm>
        </p:grpSpPr>
        <p:sp>
          <p:nvSpPr>
            <p:cNvPr id="20" name="Freeform 20"/>
            <p:cNvSpPr/>
            <p:nvPr/>
          </p:nvSpPr>
          <p:spPr>
            <a:xfrm>
              <a:off x="6736080" y="4925378"/>
              <a:ext cx="4613910" cy="9525"/>
            </a:xfrm>
            <a:custGeom>
              <a:avLst/>
              <a:gdLst/>
              <a:ahLst/>
              <a:cxnLst/>
              <a:rect l="l" t="t" r="r" b="b"/>
              <a:pathLst>
                <a:path w="4613910" h="9525">
                  <a:moveTo>
                    <a:pt x="0" y="0"/>
                  </a:moveTo>
                  <a:lnTo>
                    <a:pt x="461391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1349990" y="487775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6725602" y="1836420"/>
              <a:ext cx="9525" cy="3078480"/>
            </a:xfrm>
            <a:custGeom>
              <a:avLst/>
              <a:gdLst/>
              <a:ahLst/>
              <a:cxnLst/>
              <a:rect l="l" t="t" r="r" b="b"/>
              <a:pathLst>
                <a:path w="9525" h="3078480">
                  <a:moveTo>
                    <a:pt x="0" y="3078480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6677978" y="17411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7034212" y="2325052"/>
              <a:ext cx="4009073" cy="1241107"/>
            </a:xfrm>
            <a:custGeom>
              <a:avLst/>
              <a:gdLst/>
              <a:ahLst/>
              <a:cxnLst/>
              <a:rect l="l" t="t" r="r" b="b"/>
              <a:pathLst>
                <a:path w="4009073" h="1241107">
                  <a:moveTo>
                    <a:pt x="0" y="1160145"/>
                  </a:moveTo>
                  <a:lnTo>
                    <a:pt x="39053" y="1115378"/>
                  </a:lnTo>
                  <a:lnTo>
                    <a:pt x="83820" y="1062990"/>
                  </a:lnTo>
                  <a:lnTo>
                    <a:pt x="129540" y="1011555"/>
                  </a:lnTo>
                  <a:lnTo>
                    <a:pt x="174307" y="961072"/>
                  </a:lnTo>
                  <a:lnTo>
                    <a:pt x="220028" y="913448"/>
                  </a:lnTo>
                  <a:lnTo>
                    <a:pt x="264795" y="866775"/>
                  </a:lnTo>
                  <a:lnTo>
                    <a:pt x="309562" y="822960"/>
                  </a:lnTo>
                  <a:lnTo>
                    <a:pt x="355282" y="781050"/>
                  </a:lnTo>
                  <a:lnTo>
                    <a:pt x="400050" y="742950"/>
                  </a:lnTo>
                  <a:lnTo>
                    <a:pt x="445770" y="707707"/>
                  </a:lnTo>
                  <a:lnTo>
                    <a:pt x="490538" y="676275"/>
                  </a:lnTo>
                  <a:lnTo>
                    <a:pt x="536257" y="647700"/>
                  </a:lnTo>
                  <a:lnTo>
                    <a:pt x="581025" y="623888"/>
                  </a:lnTo>
                  <a:lnTo>
                    <a:pt x="626745" y="603885"/>
                  </a:lnTo>
                  <a:lnTo>
                    <a:pt x="671512" y="587693"/>
                  </a:lnTo>
                  <a:lnTo>
                    <a:pt x="717232" y="575310"/>
                  </a:lnTo>
                  <a:lnTo>
                    <a:pt x="762000" y="567690"/>
                  </a:lnTo>
                  <a:lnTo>
                    <a:pt x="807720" y="563880"/>
                  </a:lnTo>
                  <a:lnTo>
                    <a:pt x="852488" y="564832"/>
                  </a:lnTo>
                  <a:lnTo>
                    <a:pt x="898207" y="569595"/>
                  </a:lnTo>
                  <a:lnTo>
                    <a:pt x="942975" y="578168"/>
                  </a:lnTo>
                  <a:lnTo>
                    <a:pt x="988695" y="590550"/>
                  </a:lnTo>
                  <a:lnTo>
                    <a:pt x="1034415" y="606743"/>
                  </a:lnTo>
                  <a:lnTo>
                    <a:pt x="1079182" y="625793"/>
                  </a:lnTo>
                  <a:lnTo>
                    <a:pt x="1124903" y="648652"/>
                  </a:lnTo>
                  <a:lnTo>
                    <a:pt x="1169670" y="674370"/>
                  </a:lnTo>
                  <a:lnTo>
                    <a:pt x="1214438" y="701993"/>
                  </a:lnTo>
                  <a:lnTo>
                    <a:pt x="1260157" y="731520"/>
                  </a:lnTo>
                  <a:lnTo>
                    <a:pt x="1304925" y="763905"/>
                  </a:lnTo>
                  <a:lnTo>
                    <a:pt x="1350645" y="797243"/>
                  </a:lnTo>
                  <a:lnTo>
                    <a:pt x="1395412" y="832485"/>
                  </a:lnTo>
                  <a:lnTo>
                    <a:pt x="1441132" y="867728"/>
                  </a:lnTo>
                  <a:lnTo>
                    <a:pt x="1485900" y="903922"/>
                  </a:lnTo>
                  <a:lnTo>
                    <a:pt x="1531620" y="940118"/>
                  </a:lnTo>
                  <a:lnTo>
                    <a:pt x="1576388" y="975360"/>
                  </a:lnTo>
                  <a:lnTo>
                    <a:pt x="1622107" y="1010602"/>
                  </a:lnTo>
                  <a:lnTo>
                    <a:pt x="1666875" y="1043940"/>
                  </a:lnTo>
                  <a:lnTo>
                    <a:pt x="1712595" y="1076325"/>
                  </a:lnTo>
                  <a:lnTo>
                    <a:pt x="1757362" y="1105852"/>
                  </a:lnTo>
                  <a:lnTo>
                    <a:pt x="1803082" y="1133475"/>
                  </a:lnTo>
                  <a:lnTo>
                    <a:pt x="1847850" y="1159193"/>
                  </a:lnTo>
                  <a:lnTo>
                    <a:pt x="1893570" y="1181100"/>
                  </a:lnTo>
                  <a:lnTo>
                    <a:pt x="1938338" y="1200150"/>
                  </a:lnTo>
                  <a:lnTo>
                    <a:pt x="1984057" y="1216343"/>
                  </a:lnTo>
                  <a:lnTo>
                    <a:pt x="2028825" y="1227772"/>
                  </a:lnTo>
                  <a:lnTo>
                    <a:pt x="2074545" y="1236345"/>
                  </a:lnTo>
                  <a:lnTo>
                    <a:pt x="2119312" y="1241107"/>
                  </a:lnTo>
                  <a:lnTo>
                    <a:pt x="2164080" y="1241107"/>
                  </a:lnTo>
                  <a:lnTo>
                    <a:pt x="2209800" y="1237298"/>
                  </a:lnTo>
                  <a:lnTo>
                    <a:pt x="2254568" y="1229678"/>
                  </a:lnTo>
                  <a:lnTo>
                    <a:pt x="2300288" y="1217295"/>
                  </a:lnTo>
                  <a:lnTo>
                    <a:pt x="2346007" y="1201102"/>
                  </a:lnTo>
                  <a:lnTo>
                    <a:pt x="2390775" y="1181100"/>
                  </a:lnTo>
                  <a:lnTo>
                    <a:pt x="2436495" y="1156335"/>
                  </a:lnTo>
                  <a:lnTo>
                    <a:pt x="2481262" y="1127760"/>
                  </a:lnTo>
                  <a:lnTo>
                    <a:pt x="2526982" y="1096328"/>
                  </a:lnTo>
                  <a:lnTo>
                    <a:pt x="2571750" y="1060132"/>
                  </a:lnTo>
                  <a:lnTo>
                    <a:pt x="2617470" y="1022032"/>
                  </a:lnTo>
                  <a:lnTo>
                    <a:pt x="2662238" y="980122"/>
                  </a:lnTo>
                  <a:lnTo>
                    <a:pt x="2707957" y="936307"/>
                  </a:lnTo>
                  <a:lnTo>
                    <a:pt x="2752725" y="889635"/>
                  </a:lnTo>
                  <a:lnTo>
                    <a:pt x="2798445" y="841057"/>
                  </a:lnTo>
                  <a:lnTo>
                    <a:pt x="2843212" y="790575"/>
                  </a:lnTo>
                  <a:lnTo>
                    <a:pt x="2888932" y="740093"/>
                  </a:lnTo>
                  <a:lnTo>
                    <a:pt x="2933700" y="686752"/>
                  </a:lnTo>
                  <a:lnTo>
                    <a:pt x="2979420" y="634365"/>
                  </a:lnTo>
                  <a:lnTo>
                    <a:pt x="3024188" y="581978"/>
                  </a:lnTo>
                  <a:lnTo>
                    <a:pt x="3068955" y="528638"/>
                  </a:lnTo>
                  <a:lnTo>
                    <a:pt x="3114675" y="477202"/>
                  </a:lnTo>
                  <a:lnTo>
                    <a:pt x="3159443" y="425768"/>
                  </a:lnTo>
                  <a:lnTo>
                    <a:pt x="3205162" y="376238"/>
                  </a:lnTo>
                  <a:lnTo>
                    <a:pt x="3249930" y="328613"/>
                  </a:lnTo>
                  <a:lnTo>
                    <a:pt x="3295650" y="283845"/>
                  </a:lnTo>
                  <a:lnTo>
                    <a:pt x="3340418" y="240982"/>
                  </a:lnTo>
                  <a:lnTo>
                    <a:pt x="3386138" y="200025"/>
                  </a:lnTo>
                  <a:lnTo>
                    <a:pt x="3430905" y="162877"/>
                  </a:lnTo>
                  <a:lnTo>
                    <a:pt x="3476625" y="129540"/>
                  </a:lnTo>
                  <a:lnTo>
                    <a:pt x="3521393" y="100012"/>
                  </a:lnTo>
                  <a:lnTo>
                    <a:pt x="3567112" y="73343"/>
                  </a:lnTo>
                  <a:lnTo>
                    <a:pt x="3611880" y="50483"/>
                  </a:lnTo>
                  <a:lnTo>
                    <a:pt x="3657600" y="32385"/>
                  </a:lnTo>
                  <a:lnTo>
                    <a:pt x="3703320" y="18098"/>
                  </a:lnTo>
                  <a:lnTo>
                    <a:pt x="3748088" y="7620"/>
                  </a:lnTo>
                  <a:lnTo>
                    <a:pt x="3793807" y="1905"/>
                  </a:lnTo>
                  <a:lnTo>
                    <a:pt x="3838575" y="0"/>
                  </a:lnTo>
                  <a:lnTo>
                    <a:pt x="3884295" y="1905"/>
                  </a:lnTo>
                  <a:lnTo>
                    <a:pt x="3929062" y="8573"/>
                  </a:lnTo>
                  <a:lnTo>
                    <a:pt x="3973830" y="19050"/>
                  </a:lnTo>
                  <a:lnTo>
                    <a:pt x="4009073" y="29527"/>
                  </a:lnTo>
                </a:path>
              </a:pathLst>
            </a:custGeom>
            <a:noFill/>
            <a:ln w="2476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7037070" y="1985962"/>
              <a:ext cx="4009073" cy="1353503"/>
            </a:xfrm>
            <a:custGeom>
              <a:avLst/>
              <a:gdLst/>
              <a:ahLst/>
              <a:cxnLst/>
              <a:rect l="l" t="t" r="r" b="b"/>
              <a:pathLst>
                <a:path w="4009073" h="1353503">
                  <a:moveTo>
                    <a:pt x="0" y="1055370"/>
                  </a:moveTo>
                  <a:lnTo>
                    <a:pt x="36195" y="1071562"/>
                  </a:lnTo>
                  <a:lnTo>
                    <a:pt x="80962" y="1091565"/>
                  </a:lnTo>
                  <a:lnTo>
                    <a:pt x="126683" y="1110615"/>
                  </a:lnTo>
                  <a:lnTo>
                    <a:pt x="171450" y="1129665"/>
                  </a:lnTo>
                  <a:lnTo>
                    <a:pt x="217170" y="1147762"/>
                  </a:lnTo>
                  <a:lnTo>
                    <a:pt x="261938" y="1164908"/>
                  </a:lnTo>
                  <a:lnTo>
                    <a:pt x="306705" y="1181100"/>
                  </a:lnTo>
                  <a:lnTo>
                    <a:pt x="352425" y="1196340"/>
                  </a:lnTo>
                  <a:lnTo>
                    <a:pt x="397193" y="1211580"/>
                  </a:lnTo>
                  <a:lnTo>
                    <a:pt x="442912" y="1225868"/>
                  </a:lnTo>
                  <a:lnTo>
                    <a:pt x="487680" y="1239203"/>
                  </a:lnTo>
                  <a:lnTo>
                    <a:pt x="533400" y="1251585"/>
                  </a:lnTo>
                  <a:lnTo>
                    <a:pt x="578168" y="1263968"/>
                  </a:lnTo>
                  <a:lnTo>
                    <a:pt x="623888" y="1275397"/>
                  </a:lnTo>
                  <a:lnTo>
                    <a:pt x="668655" y="1285875"/>
                  </a:lnTo>
                  <a:lnTo>
                    <a:pt x="714375" y="1295400"/>
                  </a:lnTo>
                  <a:lnTo>
                    <a:pt x="759143" y="1304925"/>
                  </a:lnTo>
                  <a:lnTo>
                    <a:pt x="804862" y="1312545"/>
                  </a:lnTo>
                  <a:lnTo>
                    <a:pt x="849630" y="1320165"/>
                  </a:lnTo>
                  <a:lnTo>
                    <a:pt x="895350" y="1326832"/>
                  </a:lnTo>
                  <a:lnTo>
                    <a:pt x="940118" y="1332547"/>
                  </a:lnTo>
                  <a:lnTo>
                    <a:pt x="985838" y="1338262"/>
                  </a:lnTo>
                  <a:lnTo>
                    <a:pt x="1031558" y="1343025"/>
                  </a:lnTo>
                  <a:lnTo>
                    <a:pt x="1076325" y="1345882"/>
                  </a:lnTo>
                  <a:lnTo>
                    <a:pt x="1122045" y="1349692"/>
                  </a:lnTo>
                  <a:lnTo>
                    <a:pt x="1166812" y="1351597"/>
                  </a:lnTo>
                  <a:lnTo>
                    <a:pt x="1211580" y="1353503"/>
                  </a:lnTo>
                  <a:lnTo>
                    <a:pt x="1257300" y="1353503"/>
                  </a:lnTo>
                  <a:lnTo>
                    <a:pt x="1302068" y="1353503"/>
                  </a:lnTo>
                  <a:lnTo>
                    <a:pt x="1347788" y="1353503"/>
                  </a:lnTo>
                  <a:lnTo>
                    <a:pt x="1392555" y="1351597"/>
                  </a:lnTo>
                  <a:lnTo>
                    <a:pt x="1438275" y="1349692"/>
                  </a:lnTo>
                  <a:lnTo>
                    <a:pt x="1483043" y="1346835"/>
                  </a:lnTo>
                  <a:lnTo>
                    <a:pt x="1528762" y="1343025"/>
                  </a:lnTo>
                  <a:lnTo>
                    <a:pt x="1573530" y="1338262"/>
                  </a:lnTo>
                  <a:lnTo>
                    <a:pt x="1619250" y="1333500"/>
                  </a:lnTo>
                  <a:lnTo>
                    <a:pt x="1664018" y="1327785"/>
                  </a:lnTo>
                  <a:lnTo>
                    <a:pt x="1709738" y="1321118"/>
                  </a:lnTo>
                  <a:lnTo>
                    <a:pt x="1754505" y="1313497"/>
                  </a:lnTo>
                  <a:lnTo>
                    <a:pt x="1800225" y="1304925"/>
                  </a:lnTo>
                  <a:lnTo>
                    <a:pt x="1844993" y="1296353"/>
                  </a:lnTo>
                  <a:lnTo>
                    <a:pt x="1890712" y="1286828"/>
                  </a:lnTo>
                  <a:lnTo>
                    <a:pt x="1935480" y="1276350"/>
                  </a:lnTo>
                  <a:lnTo>
                    <a:pt x="1981200" y="1264920"/>
                  </a:lnTo>
                  <a:lnTo>
                    <a:pt x="2025968" y="1253490"/>
                  </a:lnTo>
                  <a:lnTo>
                    <a:pt x="2071688" y="1241108"/>
                  </a:lnTo>
                  <a:lnTo>
                    <a:pt x="2116455" y="1226820"/>
                  </a:lnTo>
                  <a:lnTo>
                    <a:pt x="2161223" y="1213485"/>
                  </a:lnTo>
                  <a:lnTo>
                    <a:pt x="2206943" y="1198245"/>
                  </a:lnTo>
                  <a:lnTo>
                    <a:pt x="2251710" y="1183005"/>
                  </a:lnTo>
                  <a:lnTo>
                    <a:pt x="2297430" y="1166812"/>
                  </a:lnTo>
                  <a:lnTo>
                    <a:pt x="2343150" y="1149668"/>
                  </a:lnTo>
                  <a:lnTo>
                    <a:pt x="2387918" y="1131570"/>
                  </a:lnTo>
                  <a:lnTo>
                    <a:pt x="2433638" y="1112520"/>
                  </a:lnTo>
                  <a:lnTo>
                    <a:pt x="2478405" y="1093470"/>
                  </a:lnTo>
                  <a:lnTo>
                    <a:pt x="2524125" y="1073468"/>
                  </a:lnTo>
                  <a:lnTo>
                    <a:pt x="2568893" y="1052512"/>
                  </a:lnTo>
                  <a:lnTo>
                    <a:pt x="2614612" y="1031558"/>
                  </a:lnTo>
                  <a:lnTo>
                    <a:pt x="2659380" y="1008697"/>
                  </a:lnTo>
                  <a:lnTo>
                    <a:pt x="2705100" y="985838"/>
                  </a:lnTo>
                  <a:lnTo>
                    <a:pt x="2749868" y="962025"/>
                  </a:lnTo>
                  <a:lnTo>
                    <a:pt x="2795588" y="937260"/>
                  </a:lnTo>
                  <a:lnTo>
                    <a:pt x="2840355" y="912495"/>
                  </a:lnTo>
                  <a:lnTo>
                    <a:pt x="2886075" y="885825"/>
                  </a:lnTo>
                  <a:lnTo>
                    <a:pt x="2930843" y="859155"/>
                  </a:lnTo>
                  <a:lnTo>
                    <a:pt x="2976562" y="831533"/>
                  </a:lnTo>
                  <a:lnTo>
                    <a:pt x="3021330" y="803910"/>
                  </a:lnTo>
                  <a:lnTo>
                    <a:pt x="3066098" y="774383"/>
                  </a:lnTo>
                  <a:lnTo>
                    <a:pt x="3111818" y="744855"/>
                  </a:lnTo>
                  <a:lnTo>
                    <a:pt x="3156585" y="714375"/>
                  </a:lnTo>
                  <a:lnTo>
                    <a:pt x="3202305" y="682942"/>
                  </a:lnTo>
                  <a:lnTo>
                    <a:pt x="3247073" y="650558"/>
                  </a:lnTo>
                  <a:lnTo>
                    <a:pt x="3292793" y="618172"/>
                  </a:lnTo>
                  <a:lnTo>
                    <a:pt x="3337560" y="584835"/>
                  </a:lnTo>
                  <a:lnTo>
                    <a:pt x="3383280" y="550545"/>
                  </a:lnTo>
                  <a:lnTo>
                    <a:pt x="3428048" y="515303"/>
                  </a:lnTo>
                  <a:lnTo>
                    <a:pt x="3473768" y="480060"/>
                  </a:lnTo>
                  <a:lnTo>
                    <a:pt x="3518535" y="442912"/>
                  </a:lnTo>
                  <a:lnTo>
                    <a:pt x="3564255" y="405765"/>
                  </a:lnTo>
                  <a:lnTo>
                    <a:pt x="3609023" y="368617"/>
                  </a:lnTo>
                  <a:lnTo>
                    <a:pt x="3654743" y="329565"/>
                  </a:lnTo>
                  <a:lnTo>
                    <a:pt x="3700462" y="289560"/>
                  </a:lnTo>
                  <a:lnTo>
                    <a:pt x="3745230" y="249555"/>
                  </a:lnTo>
                  <a:lnTo>
                    <a:pt x="3790950" y="208598"/>
                  </a:lnTo>
                  <a:lnTo>
                    <a:pt x="3835718" y="167640"/>
                  </a:lnTo>
                  <a:lnTo>
                    <a:pt x="3881438" y="124777"/>
                  </a:lnTo>
                  <a:lnTo>
                    <a:pt x="3926205" y="81915"/>
                  </a:lnTo>
                  <a:lnTo>
                    <a:pt x="3970973" y="38100"/>
                  </a:lnTo>
                  <a:lnTo>
                    <a:pt x="4009073" y="0"/>
                  </a:lnTo>
                </a:path>
              </a:pathLst>
            </a:custGeom>
            <a:noFill/>
            <a:ln w="24765">
              <a:solidFill>
                <a:srgbClr val="F26B3A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7329488" y="3171825"/>
              <a:ext cx="9525" cy="1743075"/>
            </a:xfrm>
            <a:custGeom>
              <a:avLst/>
              <a:gdLst/>
              <a:ahLst/>
              <a:cxnLst/>
              <a:rect l="l" t="t" r="r" b="b"/>
              <a:pathLst>
                <a:path w="9525" h="1743075">
                  <a:moveTo>
                    <a:pt x="0" y="1743075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  <a:custDash>
                <a:ds d="500000" sp="333333"/>
              </a:custDash>
            </a:ln>
          </p:spPr>
        </p:sp>
        <p:sp>
          <p:nvSpPr>
            <p:cNvPr id="27" name="Freeform 27"/>
            <p:cNvSpPr/>
            <p:nvPr/>
          </p:nvSpPr>
          <p:spPr>
            <a:xfrm>
              <a:off x="8638222" y="3331845"/>
              <a:ext cx="9525" cy="1583055"/>
            </a:xfrm>
            <a:custGeom>
              <a:avLst/>
              <a:gdLst/>
              <a:ahLst/>
              <a:cxnLst/>
              <a:rect l="l" t="t" r="r" b="b"/>
              <a:pathLst>
                <a:path w="9525" h="1583055">
                  <a:moveTo>
                    <a:pt x="0" y="1583055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  <a:custDash>
                <a:ds d="500000" sp="333333"/>
              </a:custDash>
            </a:ln>
          </p:spPr>
        </p:sp>
        <p:sp>
          <p:nvSpPr>
            <p:cNvPr id="28" name="Freeform 28"/>
            <p:cNvSpPr/>
            <p:nvPr/>
          </p:nvSpPr>
          <p:spPr>
            <a:xfrm>
              <a:off x="10348912" y="2600325"/>
              <a:ext cx="9525" cy="2314575"/>
            </a:xfrm>
            <a:custGeom>
              <a:avLst/>
              <a:gdLst/>
              <a:ahLst/>
              <a:cxnLst/>
              <a:rect l="l" t="t" r="r" b="b"/>
              <a:pathLst>
                <a:path w="9525" h="2314575">
                  <a:moveTo>
                    <a:pt x="0" y="2314575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  <a:custDash>
                <a:ds d="500000" sp="333333"/>
              </a:custDash>
            </a:ln>
          </p:spPr>
        </p:sp>
        <p:sp>
          <p:nvSpPr>
            <p:cNvPr id="29" name="Freeform 29"/>
            <p:cNvSpPr/>
            <p:nvPr/>
          </p:nvSpPr>
          <p:spPr>
            <a:xfrm>
              <a:off x="9544050" y="3077528"/>
              <a:ext cx="9525" cy="1837372"/>
            </a:xfrm>
            <a:custGeom>
              <a:avLst/>
              <a:gdLst/>
              <a:ahLst/>
              <a:cxnLst/>
              <a:rect l="l" t="t" r="r" b="b"/>
              <a:pathLst>
                <a:path w="9525" h="1837372">
                  <a:moveTo>
                    <a:pt x="0" y="1837372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B42318"/>
              </a:solidFill>
              <a:custDash>
                <a:ds d="428571" sp="285714"/>
              </a:custDash>
            </a:ln>
          </p:spPr>
        </p:sp>
        <p:sp>
          <p:nvSpPr>
            <p:cNvPr id="30" name="Ellipse 30"/>
            <p:cNvSpPr/>
            <p:nvPr/>
          </p:nvSpPr>
          <p:spPr>
            <a:xfrm>
              <a:off x="6724650" y="4924425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1454765" y="4924425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6724650" y="4924425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6724650" y="1729740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7026592" y="3492818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11052810" y="2357438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7026592" y="3035618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11052810" y="1978343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7328535" y="4924425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7328535" y="3160395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7281862" y="3113722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8637270" y="4924425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637270" y="3320415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590598" y="3273742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10347960" y="4924425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10347960" y="2588895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10301288" y="2542222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9543098" y="4924425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9543098" y="3066098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9505950" y="3395662"/>
              <a:ext cx="76200" cy="7620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9505950" y="3028950"/>
              <a:ext cx="76200" cy="762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1408540" y="49991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840855" y="160924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240847" y="501348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x₀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549582" y="501348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260272" y="501348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451263" y="501348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x′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883064" y="2288381"/>
              <a:ext cx="628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f(x)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129284" y="1627346"/>
              <a:ext cx="7292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y = L₂(x)</a:t>
              </a:r>
            </a:p>
          </p:txBody>
        </p:sp>
      </p:grpSp>
      <p:grpSp>
        <p:nvGrpSpPr>
          <p:cNvPr id="65" name="c2-callout-2"/>
          <p:cNvGrpSpPr/>
          <p:nvPr/>
        </p:nvGrpSpPr>
        <p:grpSpPr>
          <a:xfrm>
            <a:off x="6573202" y="5579745"/>
            <a:ext cx="5085398" cy="782955"/>
            <a:chOff x="6573202" y="5579745"/>
            <a:chExt cx="5085398" cy="782955"/>
          </a:xfrm>
        </p:grpSpPr>
        <p:sp>
          <p:nvSpPr>
            <p:cNvPr id="60" name="Rectangle 60"/>
            <p:cNvSpPr/>
            <p:nvPr/>
          </p:nvSpPr>
          <p:spPr>
            <a:xfrm>
              <a:off x="6573202" y="5579745"/>
              <a:ext cx="5085398" cy="782955"/>
            </a:xfrm>
            <a:prstGeom prst="roundRect">
              <a:avLst>
                <a:gd name="adj" fmla="val 14599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6777990" y="5871212"/>
              <a:ext cx="200023" cy="200023"/>
              <a:chOff x="6777990" y="5871212"/>
              <a:chExt cx="200023" cy="200023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6777990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911340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7079933" y="5728335"/>
              <a:ext cx="41776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每个基函数在自己的节点上取 1，在另外两个节点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上取 0，所以 L₂(xₖ) = yₖ 自动成立。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708691" cy="909257"/>
            <a:chOff x="520446" y="342900"/>
            <a:chExt cx="1070869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第5章 函数插值 · 拉格朗日插值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70869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次 Lagrange 插值：先构造在节点上“一个取 1、其余取 0”的基函数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5082921" cy="2582514"/>
            <a:chOff x="533400" y="1533525"/>
            <a:chExt cx="5082921" cy="2582514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7706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41935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30422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3780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4880" y="1567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提出要求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023" y="1861661"/>
              <a:ext cx="437769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lᵢ(x) 是 n 次多项式，lᵢ(xₖ) = 1（k = i），lᵢ(xₖ) = 0（k ≠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i），i, k = 0, 1, …, n（5.2.8）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245364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由零点写形式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2746534"/>
              <a:ext cx="46702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lᵢ(x) 有 n 个根 x₀, …, xᵢ₋₁, xᵢ₊₁, …, xₙ，故设 lᵢ(x) = A(x −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x₀)⋯(x − xᵢ₋₁)(x − xᵢ₊₁)⋯(x − xₙ)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3338512"/>
              <a:ext cx="8114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定常数 A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3632359"/>
              <a:ext cx="46052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lᵢ(xᵢ) = 1 得 A = 1 / [(xᵢ − x₀)⋯(xᵢ − xᵢ₋₁)(xᵢ − xᵢ₊₁)⋯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(xᵢ − xₙ)]</a:t>
              </a:r>
            </a:p>
          </p:txBody>
        </p:sp>
      </p:grpSp>
      <p:grpSp>
        <p:nvGrpSpPr>
          <p:cNvPr id="48" name="c1-table-2"/>
          <p:cNvGrpSpPr/>
          <p:nvPr/>
        </p:nvGrpSpPr>
        <p:grpSpPr>
          <a:xfrm>
            <a:off x="533400" y="4294822"/>
            <a:ext cx="5410200" cy="1795462"/>
            <a:chOff x="533400" y="4294822"/>
            <a:chExt cx="5410200" cy="1795462"/>
          </a:xfrm>
        </p:grpSpPr>
        <p:sp>
          <p:nvSpPr>
            <p:cNvPr id="21" name="Rectangle 21"/>
            <p:cNvSpPr/>
            <p:nvPr/>
          </p:nvSpPr>
          <p:spPr>
            <a:xfrm>
              <a:off x="533400" y="4294822"/>
              <a:ext cx="5410200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59699" y="4430554"/>
              <a:ext cx="6466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= 2 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465813" y="4430554"/>
              <a:ext cx="4385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 x₀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68833" y="4430554"/>
              <a:ext cx="4385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 x₁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72806" y="4430554"/>
              <a:ext cx="4385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 x₂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1223" y="4879181"/>
              <a:ext cx="465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l₀(x)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043112" y="4752975"/>
              <a:ext cx="1283970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631234" y="487918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934254" y="487918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38227" y="487918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51873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5192078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1223" y="5327809"/>
              <a:ext cx="465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l₁(x)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631234" y="532780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346132" y="5201602"/>
              <a:ext cx="1283970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934254" y="532780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38227" y="532780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563689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1223" y="5776436"/>
              <a:ext cx="465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l₂(x)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631234" y="577643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934254" y="577643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650105" y="5651182"/>
              <a:ext cx="1283970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238227" y="577643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4294822"/>
              <a:ext cx="5410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2028825" y="4294822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3331845" y="4294822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4635818" y="4294822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formula71"/>
              <p:cNvSpPr txBox="1">
                <a:spLocks noGrp="1"/>
              </p:cNvSpPr>
              <p:nvPr/>
            </p:nvSpPr>
            <p:spPr>
              <a:xfrm>
                <a:off x="6248400" y="1524000"/>
                <a:ext cx="5410200" cy="7543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≠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f>
                            <m:fPr>
                              <m:type m:val="bar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b>
                              </m:sSub>
                            </m:num>
                            <m:den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b>
                              </m:sSub>
                            </m:den>
                          </m:f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  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5.2.9</m:t>
                              </m:r>
                            </m:e>
                          </m:d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51" name="c2-text-2"/>
          <p:cNvGrpSpPr/>
          <p:nvPr/>
        </p:nvGrpSpPr>
        <p:grpSpPr>
          <a:xfrm>
            <a:off x="6240780" y="2493645"/>
            <a:ext cx="4711065" cy="588645"/>
            <a:chOff x="6240780" y="2493645"/>
            <a:chExt cx="4711065" cy="588645"/>
          </a:xfrm>
        </p:grpSpPr>
        <p:sp>
          <p:nvSpPr>
            <p:cNvPr id="50" name="TextBox 50"/>
            <p:cNvSpPr txBox="1"/>
            <p:nvPr/>
          </p:nvSpPr>
          <p:spPr>
            <a:xfrm>
              <a:off x="6240780" y="2493645"/>
              <a:ext cx="4711065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lᵢ(x) 称为以 x₀, x₁, …, xₙ 为节点的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插值基函数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。n 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Lagrange 插值多项式为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formula72"/>
              <p:cNvSpPr txBox="1">
                <a:spLocks noGrp="1"/>
              </p:cNvSpPr>
              <p:nvPr/>
            </p:nvSpPr>
            <p:spPr>
              <a:xfrm>
                <a:off x="6248400" y="3213735"/>
                <a:ext cx="5410200" cy="700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∏"/>
                                  <m:limLoc m:val="undOvr"/>
                                  <m:grow m:val="off"/>
                                  <m:subHide m:val="off"/>
                                  <m:supHide m:val="on"/>
                                  <m:ctrl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naryPr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≠</m:t>
                                  </m:r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  <m:sup/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sSub>
                                        <m:e>
                                          <m: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j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e>
                                          <m: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sSub>
                                        <m:e>
                                          <m: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j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nary>
                            </m:e>
                          </m:d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  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5.2.10</m:t>
                              </m:r>
                            </m:e>
                          </m:d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58" name="c2-card-4"/>
          <p:cNvGrpSpPr/>
          <p:nvPr/>
        </p:nvGrpSpPr>
        <p:grpSpPr>
          <a:xfrm>
            <a:off x="6248400" y="4104322"/>
            <a:ext cx="5410200" cy="1985962"/>
            <a:chOff x="6248400" y="4104322"/>
            <a:chExt cx="5410200" cy="1985962"/>
          </a:xfrm>
        </p:grpSpPr>
        <p:sp>
          <p:nvSpPr>
            <p:cNvPr id="53" name="Rectangle 53"/>
            <p:cNvSpPr/>
            <p:nvPr/>
          </p:nvSpPr>
          <p:spPr>
            <a:xfrm>
              <a:off x="6248400" y="4104322"/>
              <a:ext cx="5410200" cy="1985962"/>
            </a:xfrm>
            <a:prstGeom prst="roundRect">
              <a:avLst>
                <a:gd name="adj" fmla="val 6715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457950" y="4313872"/>
              <a:ext cx="2094548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497352" y="4349591"/>
              <a:ext cx="20147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带余项的 Lagrange 插值公式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formula73"/>
                <p:cNvSpPr txBox="1">
                  <a:spLocks noGrp="1"/>
                </p:cNvSpPr>
                <p:nvPr/>
              </p:nvSpPr>
              <p:spPr>
                <a:xfrm>
                  <a:off x="6457950" y="4666298"/>
                  <a:ext cx="4991100" cy="6915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nary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6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6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ξ</m:t>
                                </m:r>
                              </m:e>
                            </m:d>
                          </m:num>
                          <m:den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den>
                        </m:f>
                        <m: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b>
                          <m:e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ω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57" name="TextBox 57"/>
            <p:cNvSpPr txBox="1"/>
            <p:nvPr/>
          </p:nvSpPr>
          <p:spPr>
            <a:xfrm>
              <a:off x="6451473" y="5474494"/>
              <a:ext cx="34764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= 1 就是线性插值，n = 2 就是抛物线插值。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91217" cy="909257"/>
            <a:chOff x="520446" y="342900"/>
            <a:chExt cx="849121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第5章 函数插值 · 拉格朗日插值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912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5.1（解 1）：取 121、144 两点，线性插值求 √125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576849" cy="308039"/>
            <a:chOff x="525399" y="1550194"/>
            <a:chExt cx="9576849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57684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已知 √100 = 10，√121 = 11，√144 = 12，√169 = 13，求 √125 的近似值。准确值 √125 = 11.18034。</a:t>
              </a:r>
            </a:p>
          </p:txBody>
        </p:sp>
      </p:grpSp>
      <p:grpSp>
        <p:nvGrpSpPr>
          <p:cNvPr id="26" name="c1-steps-1"/>
          <p:cNvGrpSpPr/>
          <p:nvPr/>
        </p:nvGrpSpPr>
        <p:grpSpPr>
          <a:xfrm>
            <a:off x="533400" y="1977390"/>
            <a:ext cx="5491597" cy="2998755"/>
            <a:chOff x="533400" y="1977390"/>
            <a:chExt cx="5491597" cy="2998755"/>
          </a:xfrm>
        </p:grpSpPr>
        <p:sp>
          <p:nvSpPr>
            <p:cNvPr id="9" name="Rectangle 9"/>
            <p:cNvSpPr/>
            <p:nvPr/>
          </p:nvSpPr>
          <p:spPr>
            <a:xfrm>
              <a:off x="666750" y="2120265"/>
              <a:ext cx="19050" cy="24222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7739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6226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360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51282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5866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39864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4724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01168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选节点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304574"/>
              <a:ext cx="47271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125 落在 121 与 144 之间，取 x₀ = 121，x₁ = 144，y₀ = 11，y₁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12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89655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写基函数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190399"/>
              <a:ext cx="50789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l₀(x) = (x − 144)/(121 − 144)，l₁(x) = (x − 121)/(144 − 121)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547110"/>
              <a:ext cx="11929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 x = 125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840956"/>
              <a:ext cx="410133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l₀(125) = (−19)/(−23) = 0.826087，l₁(125) = 4/23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0.173913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443293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4726781"/>
              <a:ext cx="45596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L₁(125) = 11 × 0.826087 + 12 × 0.173913 =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11.17391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formula78"/>
              <p:cNvSpPr txBox="1">
                <a:spLocks noGrp="1"/>
              </p:cNvSpPr>
              <p:nvPr/>
            </p:nvSpPr>
            <p:spPr>
              <a:xfrm>
                <a:off x="533400" y="5153978"/>
                <a:ext cx="5410200" cy="565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11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144</m:t>
                          </m:r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121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144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12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121</m:t>
                          </m:r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144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121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37" name="c2-card-1"/>
          <p:cNvGrpSpPr/>
          <p:nvPr/>
        </p:nvGrpSpPr>
        <p:grpSpPr>
          <a:xfrm>
            <a:off x="6248400" y="1967865"/>
            <a:ext cx="5410200" cy="3752850"/>
            <a:chOff x="6248400" y="1967865"/>
            <a:chExt cx="5410200" cy="3752850"/>
          </a:xfrm>
        </p:grpSpPr>
        <p:sp>
          <p:nvSpPr>
            <p:cNvPr id="28" name="Rectangle 28"/>
            <p:cNvSpPr/>
            <p:nvPr/>
          </p:nvSpPr>
          <p:spPr>
            <a:xfrm>
              <a:off x="6248400" y="1967865"/>
              <a:ext cx="5410200" cy="3752850"/>
            </a:xfrm>
            <a:prstGeom prst="roundRect">
              <a:avLst>
                <a:gd name="adj" fmla="val 35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57925" y="2101215"/>
              <a:ext cx="47625" cy="34861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96050" y="2177415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52756" y="221313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补充：用余项估计误差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88430" y="2554605"/>
              <a:ext cx="4425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 = √x，f″(x) = −1/(4x√x)，在 [121, 144] 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|f″(x)| 在 x = 121 处最大：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formula79"/>
                <p:cNvSpPr txBox="1">
                  <a:spLocks noGrp="1"/>
                </p:cNvSpPr>
                <p:nvPr/>
              </p:nvSpPr>
              <p:spPr>
                <a:xfrm>
                  <a:off x="6496050" y="3150870"/>
                  <a:ext cx="4953000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12</m:t>
                        </m:r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1.878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formula80"/>
                <p:cNvSpPr txBox="1">
                  <a:spLocks noGrp="1"/>
                </p:cNvSpPr>
                <p:nvPr/>
              </p:nvSpPr>
              <p:spPr>
                <a:xfrm>
                  <a:off x="6496050" y="3811905"/>
                  <a:ext cx="4953000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125</m:t>
                                </m:r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125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121</m:t>
                                </m:r>
                              </m:e>
                            </m:d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125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144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formula81"/>
                <p:cNvSpPr txBox="1">
                  <a:spLocks noGrp="1"/>
                </p:cNvSpPr>
                <p:nvPr/>
              </p:nvSpPr>
              <p:spPr>
                <a:xfrm>
                  <a:off x="6496050" y="4472940"/>
                  <a:ext cx="4953000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1.878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76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7.14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6" name="TextBox 36"/>
            <p:cNvSpPr txBox="1"/>
            <p:nvPr/>
          </p:nvSpPr>
          <p:spPr>
            <a:xfrm>
              <a:off x="6489573" y="5154454"/>
              <a:ext cx="43565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实际误差 √125 − L₁(125) = 0.00643，没有超过上界。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28120" cy="909257"/>
            <a:chOff x="520446" y="342900"/>
            <a:chExt cx="852812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第5章 函数插值 · 拉格朗日插值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2812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5.1（解 2）：取 100、121、144 三点，抛物线插值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542" y="1545907"/>
            <a:ext cx="5354384" cy="529780"/>
            <a:chOff x="526542" y="1545907"/>
            <a:chExt cx="5354384" cy="529780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354384" cy="5297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92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 x₀ = 100，x₁ = 121，x₂ = 144，y 依次为 10、11、12。代入 x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125 求三个基函数值：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06"/>
              <p:cNvSpPr txBox="1">
                <a:spLocks noGrp="1"/>
              </p:cNvSpPr>
              <p:nvPr/>
            </p:nvSpPr>
            <p:spPr>
              <a:xfrm>
                <a:off x="533400" y="2198370"/>
                <a:ext cx="5842635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125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125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121</m:t>
                              </m:r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125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144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100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121</m:t>
                              </m:r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100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144</m:t>
                              </m:r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76</m:t>
                          </m:r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924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0.082251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107"/>
              <p:cNvSpPr txBox="1">
                <a:spLocks noGrp="1"/>
              </p:cNvSpPr>
              <p:nvPr/>
            </p:nvSpPr>
            <p:spPr>
              <a:xfrm>
                <a:off x="533400" y="2887028"/>
                <a:ext cx="5842635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125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125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100</m:t>
                              </m:r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125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144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121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100</m:t>
                              </m:r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121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144</m:t>
                              </m:r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475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483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0.983437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formula108"/>
              <p:cNvSpPr txBox="1">
                <a:spLocks noGrp="1"/>
              </p:cNvSpPr>
              <p:nvPr/>
            </p:nvSpPr>
            <p:spPr>
              <a:xfrm>
                <a:off x="533400" y="3576638"/>
                <a:ext cx="5842635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125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125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100</m:t>
                              </m:r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125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121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144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100</m:t>
                              </m:r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144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121</m:t>
                              </m:r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100</m:t>
                          </m:r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1012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0.098814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formula109"/>
              <p:cNvSpPr txBox="1">
                <a:spLocks noGrp="1"/>
              </p:cNvSpPr>
              <p:nvPr/>
            </p:nvSpPr>
            <p:spPr>
              <a:xfrm>
                <a:off x="533400" y="4266248"/>
                <a:ext cx="5842635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ad>
                        <m:radPr>
                          <m:degHide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/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125</m:t>
                          </m:r>
                        </m:e>
                      </m:ra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125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10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11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12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11.18107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19" name="c1-callout-6"/>
          <p:cNvGrpSpPr/>
          <p:nvPr/>
        </p:nvGrpSpPr>
        <p:grpSpPr>
          <a:xfrm>
            <a:off x="533400" y="4898708"/>
            <a:ext cx="5842635" cy="1451610"/>
            <a:chOff x="533400" y="4898708"/>
            <a:chExt cx="5842635" cy="1451610"/>
          </a:xfrm>
        </p:grpSpPr>
        <p:sp>
          <p:nvSpPr>
            <p:cNvPr id="13" name="Rectangle 13"/>
            <p:cNvSpPr/>
            <p:nvPr/>
          </p:nvSpPr>
          <p:spPr>
            <a:xfrm>
              <a:off x="533400" y="4898708"/>
              <a:ext cx="5842635" cy="1451610"/>
            </a:xfrm>
            <a:prstGeom prst="roundRect">
              <a:avLst>
                <a:gd name="adj" fmla="val 787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5524500"/>
              <a:ext cx="200026" cy="200025"/>
              <a:chOff x="738188" y="5524500"/>
              <a:chExt cx="200026" cy="20002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552450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77926" y="556895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12642" y="568007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892" y="5281612"/>
              <a:ext cx="4822888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三个基函数值之和 −0.082251 + 0.983437 + 0.098814 = 1。这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是普遍性质 Σ lᵢ(x) ≡ 1（对 f(x) ≡ 1 插值没有误差），可用来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检查计算。</a:t>
              </a:r>
            </a:p>
          </p:txBody>
        </p:sp>
      </p:grpSp>
      <p:grpSp>
        <p:nvGrpSpPr>
          <p:cNvPr id="28" name="c2-card-1"/>
          <p:cNvGrpSpPr/>
          <p:nvPr/>
        </p:nvGrpSpPr>
        <p:grpSpPr>
          <a:xfrm>
            <a:off x="6680835" y="1524000"/>
            <a:ext cx="4977765" cy="2882265"/>
            <a:chOff x="6680835" y="1524000"/>
            <a:chExt cx="4977765" cy="2882265"/>
          </a:xfrm>
        </p:grpSpPr>
        <p:sp>
          <p:nvSpPr>
            <p:cNvPr id="20" name="Rectangle 20"/>
            <p:cNvSpPr/>
            <p:nvPr/>
          </p:nvSpPr>
          <p:spPr>
            <a:xfrm>
              <a:off x="6680835" y="1524000"/>
              <a:ext cx="4977765" cy="2882265"/>
            </a:xfrm>
            <a:prstGeom prst="roundRect">
              <a:avLst>
                <a:gd name="adj" fmla="val 46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690360" y="1657350"/>
              <a:ext cx="47625" cy="26155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911340" y="1716405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82778" y="175069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补充：误差估计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04482" y="2072640"/>
              <a:ext cx="40685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f‴(x) = 3/(8x²√x)，在 [100, 144] 上 x = 100 处最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大：M₃ = 3.75×10⁻⁶。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formula110"/>
                <p:cNvSpPr txBox="1">
                  <a:spLocks noGrp="1"/>
                </p:cNvSpPr>
                <p:nvPr/>
              </p:nvSpPr>
              <p:spPr>
                <a:xfrm>
                  <a:off x="6911340" y="2610802"/>
                  <a:ext cx="4554855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125</m:t>
                                </m:r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sub>
                            </m:sSub>
                          </m:num>
                          <m:den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den>
                        </m:f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25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19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formula111"/>
                <p:cNvSpPr txBox="1">
                  <a:spLocks noGrp="1"/>
                </p:cNvSpPr>
                <p:nvPr/>
              </p:nvSpPr>
              <p:spPr>
                <a:xfrm>
                  <a:off x="6911340" y="3211830"/>
                  <a:ext cx="4554855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3.75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1900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1.19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s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7" name="TextBox 27"/>
            <p:cNvSpPr txBox="1"/>
            <p:nvPr/>
          </p:nvSpPr>
          <p:spPr>
            <a:xfrm>
              <a:off x="6905625" y="3831431"/>
              <a:ext cx="432841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实际误差 11.18034 − 11.18107 = −7.3×10⁻⁴，绝对值比线性插值小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了一个数量级。</a:t>
              </a:r>
            </a:p>
          </p:txBody>
        </p:sp>
      </p:grpSp>
      <p:grpSp>
        <p:nvGrpSpPr>
          <p:cNvPr id="37" name="c2-card-2"/>
          <p:cNvGrpSpPr/>
          <p:nvPr/>
        </p:nvGrpSpPr>
        <p:grpSpPr>
          <a:xfrm>
            <a:off x="6680835" y="4581525"/>
            <a:ext cx="4977765" cy="1768792"/>
            <a:chOff x="6680835" y="4581525"/>
            <a:chExt cx="4977765" cy="1768792"/>
          </a:xfrm>
        </p:grpSpPr>
        <p:sp>
          <p:nvSpPr>
            <p:cNvPr id="29" name="Rectangle 29"/>
            <p:cNvSpPr/>
            <p:nvPr/>
          </p:nvSpPr>
          <p:spPr>
            <a:xfrm>
              <a:off x="6680835" y="4581525"/>
              <a:ext cx="4977765" cy="1768792"/>
            </a:xfrm>
            <a:prstGeom prst="roundRect">
              <a:avLst>
                <a:gd name="adj" fmla="val 75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690360" y="4714875"/>
              <a:ext cx="47625" cy="150209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911340" y="4773930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978777" y="480822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为什么选这三个点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919912" y="518636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075932" y="5130165"/>
              <a:ext cx="382847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余项含 |ω₃(125)| = |(125 − x₀)(125 − x₁)(125 −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x₂)|，节点离 125 越近越小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919912" y="574643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075932" y="5690235"/>
              <a:ext cx="41799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100、121、144 时为 1900；若取 121、144、169，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则为 4×19×44 = 3344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732372" cy="909257"/>
            <a:chOff x="520446" y="342900"/>
            <a:chExt cx="873237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第5章 函数插值 · 拉格朗日插值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7323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5.1 结果比较：本例中节点每多一个，误差都明显变小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161" y="1547336"/>
            <a:ext cx="10284841" cy="558736"/>
            <a:chOff x="526161" y="1547336"/>
            <a:chExt cx="10284841" cy="558736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0284841" cy="558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0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 3（原课件只给出结果，这里补全）：取 100、121、144、169 四点作三次插值，x = 125 处四个基函数值依次为 −0.052450、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0.901484、0.173913、−0.022947，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14"/>
              <p:cNvSpPr txBox="1">
                <a:spLocks noGrp="1"/>
              </p:cNvSpPr>
              <p:nvPr/>
            </p:nvSpPr>
            <p:spPr>
              <a:xfrm>
                <a:off x="533400" y="2236470"/>
                <a:ext cx="1112520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125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10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0.052450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11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0.901484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12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0.173913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13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0.022947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11.18047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45" name="c1-table-3"/>
          <p:cNvGrpSpPr/>
          <p:nvPr/>
        </p:nvGrpSpPr>
        <p:grpSpPr>
          <a:xfrm>
            <a:off x="527685" y="2821305"/>
            <a:ext cx="11130915" cy="2640807"/>
            <a:chOff x="527685" y="2821305"/>
            <a:chExt cx="11130915" cy="2640807"/>
          </a:xfrm>
        </p:grpSpPr>
        <p:sp>
          <p:nvSpPr>
            <p:cNvPr id="10" name="Rectangle 10"/>
            <p:cNvSpPr/>
            <p:nvPr/>
          </p:nvSpPr>
          <p:spPr>
            <a:xfrm>
              <a:off x="533400" y="2821305"/>
              <a:ext cx="11125200" cy="46863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87538" y="295608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113568" y="295608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节点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82275" y="2956084"/>
              <a:ext cx="12809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√125 的近似值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30565" y="295608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实际误差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943122" y="295608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余项给出的上界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7604" y="3425666"/>
              <a:ext cx="16130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线性插值（n = 1）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141726" y="3425666"/>
              <a:ext cx="8077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121, 144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194941" y="3425666"/>
              <a:ext cx="8555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11.17391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39764" y="3425666"/>
              <a:ext cx="9607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6.43×10⁻³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139062" y="3425666"/>
              <a:ext cx="9607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7.14×10⁻³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75475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3759518"/>
              <a:ext cx="11125200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7604" y="3894296"/>
              <a:ext cx="18042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抛物线插值（n = 2）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141726" y="3894296"/>
              <a:ext cx="128569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100, 121, 144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194941" y="3894296"/>
              <a:ext cx="8555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11.18107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87195" y="3894296"/>
              <a:ext cx="10658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−7.25×10⁻⁴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139062" y="3894296"/>
              <a:ext cx="9607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1.19×10⁻³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2233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7604" y="4362926"/>
              <a:ext cx="16130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三次插值（n = 3）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41726" y="4362926"/>
              <a:ext cx="17635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100, 121, 144, 169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194941" y="4362926"/>
              <a:ext cx="8555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11.18047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87195" y="4362926"/>
              <a:ext cx="10658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−1.29×10⁻⁴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39062" y="4362926"/>
              <a:ext cx="9607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3.27×10⁻⁴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6929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697730"/>
              <a:ext cx="11125200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7604" y="483250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准确值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595938" y="4707255"/>
              <a:ext cx="2054542" cy="4495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194941" y="4832509"/>
              <a:ext cx="8555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11.18034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2821305"/>
              <a:ext cx="11125200" cy="23450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3032760" y="2821305"/>
              <a:ext cx="9525" cy="23450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581650" y="2821305"/>
              <a:ext cx="9525" cy="23450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655242" y="2821305"/>
              <a:ext cx="9525" cy="23450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9575482" y="2821305"/>
              <a:ext cx="9525" cy="23450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7685" y="5242084"/>
              <a:ext cx="62685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实际误差 = 准确值 − 近似值；三次插值的上界用 |f⁽⁴⁾(x)| = 15/(16x³√x) 在 x = 100 处的值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6" name="Rectangle 46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511" y="6004084"/>
              <a:ext cx="1041129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这里次数升高误差在变小，但这不是普遍规律。插值多项式的次数越高，结果不一定越准，下一页的 Runge 现象就是反例。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376455" cy="909257"/>
            <a:chOff x="520446" y="342900"/>
            <a:chExt cx="937645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第5章 函数插值 · 拉格朗日插值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37645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Runge 现象：等距节点上插值次数越高，区间两端振荡越厉害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3" name="c1-graph-1"/>
          <p:cNvGrpSpPr/>
          <p:nvPr/>
        </p:nvGrpSpPr>
        <p:grpSpPr>
          <a:xfrm>
            <a:off x="705803" y="1630204"/>
            <a:ext cx="5761225" cy="4263866"/>
            <a:chOff x="705803" y="1630204"/>
            <a:chExt cx="5761225" cy="4263866"/>
          </a:xfrm>
        </p:grpSpPr>
        <p:sp>
          <p:nvSpPr>
            <p:cNvPr id="7" name="Freeform 7"/>
            <p:cNvSpPr/>
            <p:nvPr/>
          </p:nvSpPr>
          <p:spPr>
            <a:xfrm>
              <a:off x="717232" y="5064442"/>
              <a:ext cx="5596890" cy="9525"/>
            </a:xfrm>
            <a:custGeom>
              <a:avLst/>
              <a:gdLst/>
              <a:ahLst/>
              <a:cxnLst/>
              <a:rect l="l" t="t" r="r" b="b"/>
              <a:pathLst>
                <a:path w="5596890" h="9525">
                  <a:moveTo>
                    <a:pt x="0" y="0"/>
                  </a:moveTo>
                  <a:lnTo>
                    <a:pt x="559689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6314122" y="501681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563302" y="1857375"/>
              <a:ext cx="9525" cy="4025265"/>
            </a:xfrm>
            <a:custGeom>
              <a:avLst/>
              <a:gdLst/>
              <a:ahLst/>
              <a:cxnLst/>
              <a:rect l="l" t="t" r="r" b="b"/>
              <a:pathLst>
                <a:path w="9525" h="4025265">
                  <a:moveTo>
                    <a:pt x="0" y="4025265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515678" y="1762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965835" y="5074920"/>
              <a:ext cx="9525" cy="45720"/>
            </a:xfrm>
            <a:custGeom>
              <a:avLst/>
              <a:gdLst/>
              <a:ahLst/>
              <a:cxnLst/>
              <a:rect l="l" t="t" r="r" b="b"/>
              <a:pathLst>
                <a:path w="9525" h="45720">
                  <a:moveTo>
                    <a:pt x="0" y="0"/>
                  </a:moveTo>
                  <a:lnTo>
                    <a:pt x="0" y="45720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265045" y="5074920"/>
              <a:ext cx="9525" cy="45720"/>
            </a:xfrm>
            <a:custGeom>
              <a:avLst/>
              <a:gdLst/>
              <a:ahLst/>
              <a:cxnLst/>
              <a:rect l="l" t="t" r="r" b="b"/>
              <a:pathLst>
                <a:path w="9525" h="45720">
                  <a:moveTo>
                    <a:pt x="0" y="0"/>
                  </a:moveTo>
                  <a:lnTo>
                    <a:pt x="0" y="45720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861560" y="5074920"/>
              <a:ext cx="9525" cy="45720"/>
            </a:xfrm>
            <a:custGeom>
              <a:avLst/>
              <a:gdLst/>
              <a:ahLst/>
              <a:cxnLst/>
              <a:rect l="l" t="t" r="r" b="b"/>
              <a:pathLst>
                <a:path w="9525" h="45720">
                  <a:moveTo>
                    <a:pt x="0" y="0"/>
                  </a:moveTo>
                  <a:lnTo>
                    <a:pt x="0" y="45720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6159818" y="5074920"/>
              <a:ext cx="9525" cy="45720"/>
            </a:xfrm>
            <a:custGeom>
              <a:avLst/>
              <a:gdLst/>
              <a:ahLst/>
              <a:cxnLst/>
              <a:rect l="l" t="t" r="r" b="b"/>
              <a:pathLst>
                <a:path w="9525" h="45720">
                  <a:moveTo>
                    <a:pt x="0" y="0"/>
                  </a:moveTo>
                  <a:lnTo>
                    <a:pt x="0" y="45720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509010" y="3408045"/>
              <a:ext cx="43815" cy="9525"/>
            </a:xfrm>
            <a:custGeom>
              <a:avLst/>
              <a:gdLst/>
              <a:ahLst/>
              <a:cxnLst/>
              <a:rect l="l" t="t" r="r" b="b"/>
              <a:pathLst>
                <a:path w="43815" h="9525">
                  <a:moveTo>
                    <a:pt x="43815" y="0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509010" y="1751648"/>
              <a:ext cx="43815" cy="9525"/>
            </a:xfrm>
            <a:custGeom>
              <a:avLst/>
              <a:gdLst/>
              <a:ahLst/>
              <a:cxnLst/>
              <a:rect l="l" t="t" r="r" b="b"/>
              <a:pathLst>
                <a:path w="43815" h="9525">
                  <a:moveTo>
                    <a:pt x="43815" y="0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974408" y="4125278"/>
              <a:ext cx="5177790" cy="1031557"/>
            </a:xfrm>
            <a:custGeom>
              <a:avLst/>
              <a:gdLst/>
              <a:ahLst/>
              <a:cxnLst/>
              <a:rect l="l" t="t" r="r" b="b"/>
              <a:pathLst>
                <a:path w="5177790" h="1031557">
                  <a:moveTo>
                    <a:pt x="0" y="882015"/>
                  </a:moveTo>
                  <a:lnTo>
                    <a:pt x="35243" y="910590"/>
                  </a:lnTo>
                  <a:lnTo>
                    <a:pt x="79057" y="941070"/>
                  </a:lnTo>
                  <a:lnTo>
                    <a:pt x="122873" y="965835"/>
                  </a:lnTo>
                  <a:lnTo>
                    <a:pt x="165735" y="986790"/>
                  </a:lnTo>
                  <a:lnTo>
                    <a:pt x="209550" y="1003935"/>
                  </a:lnTo>
                  <a:lnTo>
                    <a:pt x="253365" y="1016317"/>
                  </a:lnTo>
                  <a:lnTo>
                    <a:pt x="297180" y="1024890"/>
                  </a:lnTo>
                  <a:lnTo>
                    <a:pt x="340995" y="1030605"/>
                  </a:lnTo>
                  <a:lnTo>
                    <a:pt x="384810" y="1031557"/>
                  </a:lnTo>
                  <a:lnTo>
                    <a:pt x="428625" y="1030605"/>
                  </a:lnTo>
                  <a:lnTo>
                    <a:pt x="472440" y="1025842"/>
                  </a:lnTo>
                  <a:lnTo>
                    <a:pt x="515303" y="1018222"/>
                  </a:lnTo>
                  <a:lnTo>
                    <a:pt x="559118" y="1007745"/>
                  </a:lnTo>
                  <a:lnTo>
                    <a:pt x="602932" y="995362"/>
                  </a:lnTo>
                  <a:lnTo>
                    <a:pt x="646747" y="980122"/>
                  </a:lnTo>
                  <a:lnTo>
                    <a:pt x="690563" y="962978"/>
                  </a:lnTo>
                  <a:lnTo>
                    <a:pt x="734378" y="943928"/>
                  </a:lnTo>
                  <a:lnTo>
                    <a:pt x="777240" y="922972"/>
                  </a:lnTo>
                  <a:lnTo>
                    <a:pt x="821055" y="900112"/>
                  </a:lnTo>
                  <a:lnTo>
                    <a:pt x="864870" y="876300"/>
                  </a:lnTo>
                  <a:lnTo>
                    <a:pt x="908685" y="851535"/>
                  </a:lnTo>
                  <a:lnTo>
                    <a:pt x="952500" y="824865"/>
                  </a:lnTo>
                  <a:lnTo>
                    <a:pt x="995363" y="796290"/>
                  </a:lnTo>
                  <a:lnTo>
                    <a:pt x="1039178" y="767715"/>
                  </a:lnTo>
                  <a:lnTo>
                    <a:pt x="1082992" y="738188"/>
                  </a:lnTo>
                  <a:lnTo>
                    <a:pt x="1126808" y="708660"/>
                  </a:lnTo>
                  <a:lnTo>
                    <a:pt x="1170622" y="678180"/>
                  </a:lnTo>
                  <a:lnTo>
                    <a:pt x="1213485" y="646747"/>
                  </a:lnTo>
                  <a:lnTo>
                    <a:pt x="1257300" y="615315"/>
                  </a:lnTo>
                  <a:lnTo>
                    <a:pt x="1301115" y="583882"/>
                  </a:lnTo>
                  <a:lnTo>
                    <a:pt x="1344930" y="552450"/>
                  </a:lnTo>
                  <a:lnTo>
                    <a:pt x="1388745" y="521017"/>
                  </a:lnTo>
                  <a:lnTo>
                    <a:pt x="1431608" y="490538"/>
                  </a:lnTo>
                  <a:lnTo>
                    <a:pt x="1475422" y="459105"/>
                  </a:lnTo>
                  <a:lnTo>
                    <a:pt x="1519238" y="428625"/>
                  </a:lnTo>
                  <a:lnTo>
                    <a:pt x="1563052" y="398145"/>
                  </a:lnTo>
                  <a:lnTo>
                    <a:pt x="1606868" y="368617"/>
                  </a:lnTo>
                  <a:lnTo>
                    <a:pt x="1649730" y="340042"/>
                  </a:lnTo>
                  <a:lnTo>
                    <a:pt x="1693545" y="312420"/>
                  </a:lnTo>
                  <a:lnTo>
                    <a:pt x="1737360" y="284797"/>
                  </a:lnTo>
                  <a:lnTo>
                    <a:pt x="1781175" y="258127"/>
                  </a:lnTo>
                  <a:lnTo>
                    <a:pt x="1824990" y="232410"/>
                  </a:lnTo>
                  <a:lnTo>
                    <a:pt x="1868805" y="208597"/>
                  </a:lnTo>
                  <a:lnTo>
                    <a:pt x="1912620" y="184785"/>
                  </a:lnTo>
                  <a:lnTo>
                    <a:pt x="1956435" y="162877"/>
                  </a:lnTo>
                  <a:lnTo>
                    <a:pt x="1999297" y="141922"/>
                  </a:lnTo>
                  <a:lnTo>
                    <a:pt x="2043112" y="122872"/>
                  </a:lnTo>
                  <a:lnTo>
                    <a:pt x="2086927" y="103822"/>
                  </a:lnTo>
                  <a:lnTo>
                    <a:pt x="2130742" y="86677"/>
                  </a:lnTo>
                  <a:lnTo>
                    <a:pt x="2174558" y="71438"/>
                  </a:lnTo>
                  <a:lnTo>
                    <a:pt x="2217420" y="57150"/>
                  </a:lnTo>
                  <a:lnTo>
                    <a:pt x="2261235" y="44767"/>
                  </a:lnTo>
                  <a:lnTo>
                    <a:pt x="2305050" y="33338"/>
                  </a:lnTo>
                  <a:lnTo>
                    <a:pt x="2348865" y="23812"/>
                  </a:lnTo>
                  <a:lnTo>
                    <a:pt x="2392680" y="16192"/>
                  </a:lnTo>
                  <a:lnTo>
                    <a:pt x="2435542" y="9525"/>
                  </a:lnTo>
                  <a:lnTo>
                    <a:pt x="2479358" y="4762"/>
                  </a:lnTo>
                  <a:lnTo>
                    <a:pt x="2523172" y="1905"/>
                  </a:lnTo>
                  <a:lnTo>
                    <a:pt x="2566988" y="0"/>
                  </a:lnTo>
                  <a:lnTo>
                    <a:pt x="2610802" y="0"/>
                  </a:lnTo>
                  <a:lnTo>
                    <a:pt x="2654618" y="1905"/>
                  </a:lnTo>
                  <a:lnTo>
                    <a:pt x="2697480" y="4762"/>
                  </a:lnTo>
                  <a:lnTo>
                    <a:pt x="2741295" y="9525"/>
                  </a:lnTo>
                  <a:lnTo>
                    <a:pt x="2785110" y="16192"/>
                  </a:lnTo>
                  <a:lnTo>
                    <a:pt x="2828925" y="23812"/>
                  </a:lnTo>
                  <a:lnTo>
                    <a:pt x="2872740" y="33338"/>
                  </a:lnTo>
                  <a:lnTo>
                    <a:pt x="2915602" y="44767"/>
                  </a:lnTo>
                  <a:lnTo>
                    <a:pt x="2959418" y="57150"/>
                  </a:lnTo>
                  <a:lnTo>
                    <a:pt x="3003232" y="71438"/>
                  </a:lnTo>
                  <a:lnTo>
                    <a:pt x="3047048" y="86677"/>
                  </a:lnTo>
                  <a:lnTo>
                    <a:pt x="3090862" y="103822"/>
                  </a:lnTo>
                  <a:lnTo>
                    <a:pt x="3133725" y="122872"/>
                  </a:lnTo>
                  <a:lnTo>
                    <a:pt x="3177540" y="141922"/>
                  </a:lnTo>
                  <a:lnTo>
                    <a:pt x="3221355" y="162877"/>
                  </a:lnTo>
                  <a:lnTo>
                    <a:pt x="3265170" y="184785"/>
                  </a:lnTo>
                  <a:lnTo>
                    <a:pt x="3308985" y="208597"/>
                  </a:lnTo>
                  <a:lnTo>
                    <a:pt x="3352800" y="232410"/>
                  </a:lnTo>
                  <a:lnTo>
                    <a:pt x="3396615" y="258127"/>
                  </a:lnTo>
                  <a:lnTo>
                    <a:pt x="3440430" y="284797"/>
                  </a:lnTo>
                  <a:lnTo>
                    <a:pt x="3483292" y="312420"/>
                  </a:lnTo>
                  <a:lnTo>
                    <a:pt x="3527108" y="340042"/>
                  </a:lnTo>
                  <a:lnTo>
                    <a:pt x="3570922" y="368617"/>
                  </a:lnTo>
                  <a:lnTo>
                    <a:pt x="3614738" y="398145"/>
                  </a:lnTo>
                  <a:lnTo>
                    <a:pt x="3658552" y="428625"/>
                  </a:lnTo>
                  <a:lnTo>
                    <a:pt x="3701415" y="459105"/>
                  </a:lnTo>
                  <a:lnTo>
                    <a:pt x="3745230" y="490538"/>
                  </a:lnTo>
                  <a:lnTo>
                    <a:pt x="3789045" y="521017"/>
                  </a:lnTo>
                  <a:lnTo>
                    <a:pt x="3832860" y="552450"/>
                  </a:lnTo>
                  <a:lnTo>
                    <a:pt x="3876675" y="583882"/>
                  </a:lnTo>
                  <a:lnTo>
                    <a:pt x="3919537" y="615315"/>
                  </a:lnTo>
                  <a:lnTo>
                    <a:pt x="3963352" y="646747"/>
                  </a:lnTo>
                  <a:lnTo>
                    <a:pt x="4007168" y="678180"/>
                  </a:lnTo>
                  <a:lnTo>
                    <a:pt x="4050982" y="708660"/>
                  </a:lnTo>
                  <a:lnTo>
                    <a:pt x="4094798" y="738188"/>
                  </a:lnTo>
                  <a:lnTo>
                    <a:pt x="4137660" y="767715"/>
                  </a:lnTo>
                  <a:lnTo>
                    <a:pt x="4181475" y="796290"/>
                  </a:lnTo>
                  <a:lnTo>
                    <a:pt x="4225290" y="824865"/>
                  </a:lnTo>
                  <a:lnTo>
                    <a:pt x="4269105" y="851535"/>
                  </a:lnTo>
                  <a:lnTo>
                    <a:pt x="4312920" y="876300"/>
                  </a:lnTo>
                  <a:lnTo>
                    <a:pt x="4355782" y="900112"/>
                  </a:lnTo>
                  <a:lnTo>
                    <a:pt x="4399598" y="922972"/>
                  </a:lnTo>
                  <a:lnTo>
                    <a:pt x="4443412" y="943928"/>
                  </a:lnTo>
                  <a:lnTo>
                    <a:pt x="4487228" y="962978"/>
                  </a:lnTo>
                  <a:lnTo>
                    <a:pt x="4531042" y="980122"/>
                  </a:lnTo>
                  <a:lnTo>
                    <a:pt x="4573905" y="995362"/>
                  </a:lnTo>
                  <a:lnTo>
                    <a:pt x="4617720" y="1007745"/>
                  </a:lnTo>
                  <a:lnTo>
                    <a:pt x="4661535" y="1018222"/>
                  </a:lnTo>
                  <a:lnTo>
                    <a:pt x="4705350" y="1025842"/>
                  </a:lnTo>
                  <a:lnTo>
                    <a:pt x="4749165" y="1030605"/>
                  </a:lnTo>
                  <a:lnTo>
                    <a:pt x="4792980" y="1031557"/>
                  </a:lnTo>
                  <a:lnTo>
                    <a:pt x="4835842" y="1030605"/>
                  </a:lnTo>
                  <a:lnTo>
                    <a:pt x="4880610" y="1024890"/>
                  </a:lnTo>
                  <a:lnTo>
                    <a:pt x="4924425" y="1016317"/>
                  </a:lnTo>
                  <a:lnTo>
                    <a:pt x="4967288" y="1003935"/>
                  </a:lnTo>
                  <a:lnTo>
                    <a:pt x="5011102" y="986790"/>
                  </a:lnTo>
                  <a:lnTo>
                    <a:pt x="5054918" y="965835"/>
                  </a:lnTo>
                  <a:lnTo>
                    <a:pt x="5098733" y="941070"/>
                  </a:lnTo>
                  <a:lnTo>
                    <a:pt x="5142548" y="910590"/>
                  </a:lnTo>
                  <a:lnTo>
                    <a:pt x="5177790" y="882015"/>
                  </a:lnTo>
                </a:path>
              </a:pathLst>
            </a:custGeom>
            <a:noFill/>
            <a:ln w="20955">
              <a:solidFill>
                <a:srgbClr val="1F5FA8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965835" y="1820228"/>
              <a:ext cx="5193983" cy="3669982"/>
            </a:xfrm>
            <a:custGeom>
              <a:avLst/>
              <a:gdLst/>
              <a:ahLst/>
              <a:cxnLst/>
              <a:rect l="l" t="t" r="r" b="b"/>
              <a:pathLst>
                <a:path w="5193983" h="3669982">
                  <a:moveTo>
                    <a:pt x="0" y="3169920"/>
                  </a:moveTo>
                  <a:lnTo>
                    <a:pt x="26670" y="2037398"/>
                  </a:lnTo>
                  <a:lnTo>
                    <a:pt x="52388" y="1199198"/>
                  </a:lnTo>
                  <a:lnTo>
                    <a:pt x="79057" y="619125"/>
                  </a:lnTo>
                  <a:lnTo>
                    <a:pt x="104775" y="250508"/>
                  </a:lnTo>
                  <a:lnTo>
                    <a:pt x="131445" y="55245"/>
                  </a:lnTo>
                  <a:lnTo>
                    <a:pt x="157162" y="0"/>
                  </a:lnTo>
                  <a:lnTo>
                    <a:pt x="182880" y="54293"/>
                  </a:lnTo>
                  <a:lnTo>
                    <a:pt x="209550" y="194310"/>
                  </a:lnTo>
                  <a:lnTo>
                    <a:pt x="235267" y="396240"/>
                  </a:lnTo>
                  <a:lnTo>
                    <a:pt x="260985" y="642938"/>
                  </a:lnTo>
                  <a:lnTo>
                    <a:pt x="287655" y="917257"/>
                  </a:lnTo>
                  <a:lnTo>
                    <a:pt x="313373" y="1207770"/>
                  </a:lnTo>
                  <a:lnTo>
                    <a:pt x="339090" y="1503045"/>
                  </a:lnTo>
                  <a:lnTo>
                    <a:pt x="365760" y="1793557"/>
                  </a:lnTo>
                  <a:lnTo>
                    <a:pt x="391477" y="2073593"/>
                  </a:lnTo>
                  <a:lnTo>
                    <a:pt x="418148" y="2336482"/>
                  </a:lnTo>
                  <a:lnTo>
                    <a:pt x="444817" y="2579370"/>
                  </a:lnTo>
                  <a:lnTo>
                    <a:pt x="470535" y="2799398"/>
                  </a:lnTo>
                  <a:lnTo>
                    <a:pt x="496252" y="2993707"/>
                  </a:lnTo>
                  <a:lnTo>
                    <a:pt x="522923" y="3162300"/>
                  </a:lnTo>
                  <a:lnTo>
                    <a:pt x="548640" y="3306128"/>
                  </a:lnTo>
                  <a:lnTo>
                    <a:pt x="574357" y="3422332"/>
                  </a:lnTo>
                  <a:lnTo>
                    <a:pt x="601028" y="3515678"/>
                  </a:lnTo>
                  <a:lnTo>
                    <a:pt x="626745" y="3585210"/>
                  </a:lnTo>
                  <a:lnTo>
                    <a:pt x="652462" y="3632835"/>
                  </a:lnTo>
                  <a:lnTo>
                    <a:pt x="679132" y="3660457"/>
                  </a:lnTo>
                  <a:lnTo>
                    <a:pt x="704850" y="3669982"/>
                  </a:lnTo>
                  <a:lnTo>
                    <a:pt x="730567" y="3664267"/>
                  </a:lnTo>
                  <a:lnTo>
                    <a:pt x="757238" y="3645217"/>
                  </a:lnTo>
                  <a:lnTo>
                    <a:pt x="782955" y="3613785"/>
                  </a:lnTo>
                  <a:lnTo>
                    <a:pt x="809625" y="3572828"/>
                  </a:lnTo>
                  <a:lnTo>
                    <a:pt x="835342" y="3525202"/>
                  </a:lnTo>
                  <a:lnTo>
                    <a:pt x="862012" y="3470910"/>
                  </a:lnTo>
                  <a:lnTo>
                    <a:pt x="887730" y="3413760"/>
                  </a:lnTo>
                  <a:lnTo>
                    <a:pt x="914400" y="3353752"/>
                  </a:lnTo>
                  <a:lnTo>
                    <a:pt x="940117" y="3293745"/>
                  </a:lnTo>
                  <a:lnTo>
                    <a:pt x="965835" y="3233738"/>
                  </a:lnTo>
                  <a:lnTo>
                    <a:pt x="992505" y="3175635"/>
                  </a:lnTo>
                  <a:lnTo>
                    <a:pt x="1018222" y="3120390"/>
                  </a:lnTo>
                  <a:lnTo>
                    <a:pt x="1043940" y="3068955"/>
                  </a:lnTo>
                  <a:lnTo>
                    <a:pt x="1070610" y="3021330"/>
                  </a:lnTo>
                  <a:lnTo>
                    <a:pt x="1096328" y="2978468"/>
                  </a:lnTo>
                  <a:lnTo>
                    <a:pt x="1122045" y="2941320"/>
                  </a:lnTo>
                  <a:lnTo>
                    <a:pt x="1148715" y="2907982"/>
                  </a:lnTo>
                  <a:lnTo>
                    <a:pt x="1175385" y="2882265"/>
                  </a:lnTo>
                  <a:lnTo>
                    <a:pt x="1201102" y="2860357"/>
                  </a:lnTo>
                  <a:lnTo>
                    <a:pt x="1226820" y="2844165"/>
                  </a:lnTo>
                  <a:lnTo>
                    <a:pt x="1253490" y="2832735"/>
                  </a:lnTo>
                  <a:lnTo>
                    <a:pt x="1279207" y="2826068"/>
                  </a:lnTo>
                  <a:lnTo>
                    <a:pt x="1305878" y="2824162"/>
                  </a:lnTo>
                  <a:lnTo>
                    <a:pt x="1331595" y="2825115"/>
                  </a:lnTo>
                  <a:lnTo>
                    <a:pt x="1357312" y="2829878"/>
                  </a:lnTo>
                  <a:lnTo>
                    <a:pt x="1383982" y="2837498"/>
                  </a:lnTo>
                  <a:lnTo>
                    <a:pt x="1409700" y="2847022"/>
                  </a:lnTo>
                  <a:lnTo>
                    <a:pt x="1435418" y="2858452"/>
                  </a:lnTo>
                  <a:lnTo>
                    <a:pt x="1462088" y="2869882"/>
                  </a:lnTo>
                  <a:lnTo>
                    <a:pt x="1487805" y="2883218"/>
                  </a:lnTo>
                  <a:lnTo>
                    <a:pt x="1513522" y="2894648"/>
                  </a:lnTo>
                  <a:lnTo>
                    <a:pt x="1540193" y="2906078"/>
                  </a:lnTo>
                  <a:lnTo>
                    <a:pt x="1566862" y="2915602"/>
                  </a:lnTo>
                  <a:lnTo>
                    <a:pt x="1592580" y="2924175"/>
                  </a:lnTo>
                  <a:lnTo>
                    <a:pt x="1618298" y="2928938"/>
                  </a:lnTo>
                  <a:lnTo>
                    <a:pt x="1644968" y="2931795"/>
                  </a:lnTo>
                  <a:lnTo>
                    <a:pt x="1670685" y="2930843"/>
                  </a:lnTo>
                  <a:lnTo>
                    <a:pt x="1696402" y="2927032"/>
                  </a:lnTo>
                  <a:lnTo>
                    <a:pt x="1723072" y="2919412"/>
                  </a:lnTo>
                  <a:lnTo>
                    <a:pt x="1748790" y="2907030"/>
                  </a:lnTo>
                  <a:lnTo>
                    <a:pt x="1775460" y="2890838"/>
                  </a:lnTo>
                  <a:lnTo>
                    <a:pt x="1801178" y="2869882"/>
                  </a:lnTo>
                  <a:lnTo>
                    <a:pt x="1826895" y="2845118"/>
                  </a:lnTo>
                  <a:lnTo>
                    <a:pt x="1853565" y="2816543"/>
                  </a:lnTo>
                  <a:lnTo>
                    <a:pt x="1880235" y="2783205"/>
                  </a:lnTo>
                  <a:lnTo>
                    <a:pt x="1905952" y="2746057"/>
                  </a:lnTo>
                  <a:lnTo>
                    <a:pt x="1931670" y="2704148"/>
                  </a:lnTo>
                  <a:lnTo>
                    <a:pt x="1958340" y="2659380"/>
                  </a:lnTo>
                  <a:lnTo>
                    <a:pt x="1984057" y="2611755"/>
                  </a:lnTo>
                  <a:lnTo>
                    <a:pt x="2009775" y="2560320"/>
                  </a:lnTo>
                  <a:lnTo>
                    <a:pt x="2036445" y="2506980"/>
                  </a:lnTo>
                  <a:lnTo>
                    <a:pt x="2062162" y="2450782"/>
                  </a:lnTo>
                  <a:lnTo>
                    <a:pt x="2087880" y="2392680"/>
                  </a:lnTo>
                  <a:lnTo>
                    <a:pt x="2114550" y="2333625"/>
                  </a:lnTo>
                  <a:lnTo>
                    <a:pt x="2140268" y="2273618"/>
                  </a:lnTo>
                  <a:lnTo>
                    <a:pt x="2165985" y="2214563"/>
                  </a:lnTo>
                  <a:lnTo>
                    <a:pt x="2192655" y="2154555"/>
                  </a:lnTo>
                  <a:lnTo>
                    <a:pt x="2218372" y="2094548"/>
                  </a:lnTo>
                  <a:lnTo>
                    <a:pt x="2245042" y="2036445"/>
                  </a:lnTo>
                  <a:lnTo>
                    <a:pt x="2271712" y="1980248"/>
                  </a:lnTo>
                  <a:lnTo>
                    <a:pt x="2297430" y="1925955"/>
                  </a:lnTo>
                  <a:lnTo>
                    <a:pt x="2323148" y="1874520"/>
                  </a:lnTo>
                  <a:lnTo>
                    <a:pt x="2349818" y="1825943"/>
                  </a:lnTo>
                  <a:lnTo>
                    <a:pt x="2375535" y="1781175"/>
                  </a:lnTo>
                  <a:lnTo>
                    <a:pt x="2401252" y="1740218"/>
                  </a:lnTo>
                  <a:lnTo>
                    <a:pt x="2427922" y="1704022"/>
                  </a:lnTo>
                  <a:lnTo>
                    <a:pt x="2453640" y="1671638"/>
                  </a:lnTo>
                  <a:lnTo>
                    <a:pt x="2479357" y="1644015"/>
                  </a:lnTo>
                  <a:lnTo>
                    <a:pt x="2506028" y="1622107"/>
                  </a:lnTo>
                  <a:lnTo>
                    <a:pt x="2531745" y="1604963"/>
                  </a:lnTo>
                  <a:lnTo>
                    <a:pt x="2557462" y="1594485"/>
                  </a:lnTo>
                  <a:lnTo>
                    <a:pt x="2584132" y="1588770"/>
                  </a:lnTo>
                  <a:lnTo>
                    <a:pt x="2610802" y="1588770"/>
                  </a:lnTo>
                  <a:lnTo>
                    <a:pt x="2636520" y="1594485"/>
                  </a:lnTo>
                  <a:lnTo>
                    <a:pt x="2663190" y="1604963"/>
                  </a:lnTo>
                  <a:lnTo>
                    <a:pt x="2688907" y="1622107"/>
                  </a:lnTo>
                  <a:lnTo>
                    <a:pt x="2714625" y="1644015"/>
                  </a:lnTo>
                  <a:lnTo>
                    <a:pt x="2741295" y="1671638"/>
                  </a:lnTo>
                  <a:lnTo>
                    <a:pt x="2767012" y="1704022"/>
                  </a:lnTo>
                  <a:lnTo>
                    <a:pt x="2792730" y="1740218"/>
                  </a:lnTo>
                  <a:lnTo>
                    <a:pt x="2819400" y="1781175"/>
                  </a:lnTo>
                  <a:lnTo>
                    <a:pt x="2845118" y="1825943"/>
                  </a:lnTo>
                  <a:lnTo>
                    <a:pt x="2870835" y="1874520"/>
                  </a:lnTo>
                  <a:lnTo>
                    <a:pt x="2897505" y="1925955"/>
                  </a:lnTo>
                  <a:lnTo>
                    <a:pt x="2923222" y="1980248"/>
                  </a:lnTo>
                  <a:lnTo>
                    <a:pt x="2948940" y="2036445"/>
                  </a:lnTo>
                  <a:lnTo>
                    <a:pt x="2975610" y="2094548"/>
                  </a:lnTo>
                  <a:lnTo>
                    <a:pt x="3002280" y="2154555"/>
                  </a:lnTo>
                  <a:lnTo>
                    <a:pt x="3027998" y="2214563"/>
                  </a:lnTo>
                  <a:lnTo>
                    <a:pt x="3053715" y="2273618"/>
                  </a:lnTo>
                  <a:lnTo>
                    <a:pt x="3080385" y="2333625"/>
                  </a:lnTo>
                  <a:lnTo>
                    <a:pt x="3106102" y="2392680"/>
                  </a:lnTo>
                  <a:lnTo>
                    <a:pt x="3132772" y="2450782"/>
                  </a:lnTo>
                  <a:lnTo>
                    <a:pt x="3158490" y="2506980"/>
                  </a:lnTo>
                  <a:lnTo>
                    <a:pt x="3184207" y="2560320"/>
                  </a:lnTo>
                  <a:lnTo>
                    <a:pt x="3210878" y="2611755"/>
                  </a:lnTo>
                  <a:lnTo>
                    <a:pt x="3236595" y="2659380"/>
                  </a:lnTo>
                  <a:lnTo>
                    <a:pt x="3262312" y="2704148"/>
                  </a:lnTo>
                  <a:lnTo>
                    <a:pt x="3288982" y="2746057"/>
                  </a:lnTo>
                  <a:lnTo>
                    <a:pt x="3314700" y="2783205"/>
                  </a:lnTo>
                  <a:lnTo>
                    <a:pt x="3341370" y="2816543"/>
                  </a:lnTo>
                  <a:lnTo>
                    <a:pt x="3367088" y="2845118"/>
                  </a:lnTo>
                  <a:lnTo>
                    <a:pt x="3393757" y="2869882"/>
                  </a:lnTo>
                  <a:lnTo>
                    <a:pt x="3419475" y="2890838"/>
                  </a:lnTo>
                  <a:lnTo>
                    <a:pt x="3445193" y="2907030"/>
                  </a:lnTo>
                  <a:lnTo>
                    <a:pt x="3471862" y="2919412"/>
                  </a:lnTo>
                  <a:lnTo>
                    <a:pt x="3497580" y="2927032"/>
                  </a:lnTo>
                  <a:lnTo>
                    <a:pt x="3523298" y="2930843"/>
                  </a:lnTo>
                  <a:lnTo>
                    <a:pt x="3549968" y="2931795"/>
                  </a:lnTo>
                  <a:lnTo>
                    <a:pt x="3575685" y="2928938"/>
                  </a:lnTo>
                  <a:lnTo>
                    <a:pt x="3602355" y="2924175"/>
                  </a:lnTo>
                  <a:lnTo>
                    <a:pt x="3628072" y="2915602"/>
                  </a:lnTo>
                  <a:lnTo>
                    <a:pt x="3653790" y="2906078"/>
                  </a:lnTo>
                  <a:lnTo>
                    <a:pt x="3680460" y="2894648"/>
                  </a:lnTo>
                  <a:lnTo>
                    <a:pt x="3707130" y="2883218"/>
                  </a:lnTo>
                  <a:lnTo>
                    <a:pt x="3732848" y="2869882"/>
                  </a:lnTo>
                  <a:lnTo>
                    <a:pt x="3758565" y="2858452"/>
                  </a:lnTo>
                  <a:lnTo>
                    <a:pt x="3785235" y="2847022"/>
                  </a:lnTo>
                  <a:lnTo>
                    <a:pt x="3810952" y="2837498"/>
                  </a:lnTo>
                  <a:lnTo>
                    <a:pt x="3836670" y="2829878"/>
                  </a:lnTo>
                  <a:lnTo>
                    <a:pt x="3863340" y="2825115"/>
                  </a:lnTo>
                  <a:lnTo>
                    <a:pt x="3889057" y="2824162"/>
                  </a:lnTo>
                  <a:lnTo>
                    <a:pt x="3914775" y="2826068"/>
                  </a:lnTo>
                  <a:lnTo>
                    <a:pt x="3941445" y="2832735"/>
                  </a:lnTo>
                  <a:lnTo>
                    <a:pt x="3967162" y="2844165"/>
                  </a:lnTo>
                  <a:lnTo>
                    <a:pt x="3993833" y="2860357"/>
                  </a:lnTo>
                  <a:lnTo>
                    <a:pt x="4019550" y="2882265"/>
                  </a:lnTo>
                  <a:lnTo>
                    <a:pt x="4046220" y="2907982"/>
                  </a:lnTo>
                  <a:lnTo>
                    <a:pt x="4071938" y="2941320"/>
                  </a:lnTo>
                  <a:lnTo>
                    <a:pt x="4098608" y="2978468"/>
                  </a:lnTo>
                  <a:lnTo>
                    <a:pt x="4124325" y="3021330"/>
                  </a:lnTo>
                  <a:lnTo>
                    <a:pt x="4150043" y="3068955"/>
                  </a:lnTo>
                  <a:lnTo>
                    <a:pt x="4176712" y="3120390"/>
                  </a:lnTo>
                  <a:lnTo>
                    <a:pt x="4202430" y="3175635"/>
                  </a:lnTo>
                  <a:lnTo>
                    <a:pt x="4228148" y="3233738"/>
                  </a:lnTo>
                  <a:lnTo>
                    <a:pt x="4254818" y="3293745"/>
                  </a:lnTo>
                  <a:lnTo>
                    <a:pt x="4280535" y="3353752"/>
                  </a:lnTo>
                  <a:lnTo>
                    <a:pt x="4306252" y="3413760"/>
                  </a:lnTo>
                  <a:lnTo>
                    <a:pt x="4332922" y="3470910"/>
                  </a:lnTo>
                  <a:lnTo>
                    <a:pt x="4358640" y="3525202"/>
                  </a:lnTo>
                  <a:lnTo>
                    <a:pt x="4384358" y="3572828"/>
                  </a:lnTo>
                  <a:lnTo>
                    <a:pt x="4411028" y="3613785"/>
                  </a:lnTo>
                  <a:lnTo>
                    <a:pt x="4437698" y="3645217"/>
                  </a:lnTo>
                  <a:lnTo>
                    <a:pt x="4463415" y="3664267"/>
                  </a:lnTo>
                  <a:lnTo>
                    <a:pt x="4490085" y="3669982"/>
                  </a:lnTo>
                  <a:lnTo>
                    <a:pt x="4515802" y="3660457"/>
                  </a:lnTo>
                  <a:lnTo>
                    <a:pt x="4541520" y="3632835"/>
                  </a:lnTo>
                  <a:lnTo>
                    <a:pt x="4568190" y="3585210"/>
                  </a:lnTo>
                  <a:lnTo>
                    <a:pt x="4593908" y="3515678"/>
                  </a:lnTo>
                  <a:lnTo>
                    <a:pt x="4619625" y="3422332"/>
                  </a:lnTo>
                  <a:lnTo>
                    <a:pt x="4646295" y="3306128"/>
                  </a:lnTo>
                  <a:lnTo>
                    <a:pt x="4672012" y="3162300"/>
                  </a:lnTo>
                  <a:lnTo>
                    <a:pt x="4697730" y="2993707"/>
                  </a:lnTo>
                  <a:lnTo>
                    <a:pt x="4724400" y="2799398"/>
                  </a:lnTo>
                  <a:lnTo>
                    <a:pt x="4750118" y="2579370"/>
                  </a:lnTo>
                  <a:lnTo>
                    <a:pt x="4776788" y="2336482"/>
                  </a:lnTo>
                  <a:lnTo>
                    <a:pt x="4802505" y="2073593"/>
                  </a:lnTo>
                  <a:lnTo>
                    <a:pt x="4829175" y="1793557"/>
                  </a:lnTo>
                  <a:lnTo>
                    <a:pt x="4854892" y="1503045"/>
                  </a:lnTo>
                  <a:lnTo>
                    <a:pt x="4880610" y="1207770"/>
                  </a:lnTo>
                  <a:lnTo>
                    <a:pt x="4907280" y="917257"/>
                  </a:lnTo>
                  <a:lnTo>
                    <a:pt x="4932998" y="642938"/>
                  </a:lnTo>
                  <a:lnTo>
                    <a:pt x="4959668" y="396240"/>
                  </a:lnTo>
                  <a:lnTo>
                    <a:pt x="4985385" y="194310"/>
                  </a:lnTo>
                  <a:lnTo>
                    <a:pt x="5011102" y="54293"/>
                  </a:lnTo>
                  <a:lnTo>
                    <a:pt x="5037772" y="0"/>
                  </a:lnTo>
                  <a:lnTo>
                    <a:pt x="5063490" y="55245"/>
                  </a:lnTo>
                  <a:lnTo>
                    <a:pt x="5089208" y="250508"/>
                  </a:lnTo>
                  <a:lnTo>
                    <a:pt x="5115878" y="619125"/>
                  </a:lnTo>
                  <a:lnTo>
                    <a:pt x="5142548" y="1199198"/>
                  </a:lnTo>
                  <a:lnTo>
                    <a:pt x="5168265" y="2037398"/>
                  </a:lnTo>
                  <a:lnTo>
                    <a:pt x="5193983" y="3169920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976312" y="3410902"/>
              <a:ext cx="5173028" cy="1589722"/>
            </a:xfrm>
            <a:custGeom>
              <a:avLst/>
              <a:gdLst/>
              <a:ahLst/>
              <a:cxnLst/>
              <a:rect l="l" t="t" r="r" b="b"/>
              <a:pathLst>
                <a:path w="5173028" h="1589722">
                  <a:moveTo>
                    <a:pt x="0" y="1589722"/>
                  </a:moveTo>
                  <a:lnTo>
                    <a:pt x="33338" y="1587817"/>
                  </a:lnTo>
                  <a:lnTo>
                    <a:pt x="77152" y="1585912"/>
                  </a:lnTo>
                  <a:lnTo>
                    <a:pt x="120968" y="1583055"/>
                  </a:lnTo>
                  <a:lnTo>
                    <a:pt x="163830" y="1581150"/>
                  </a:lnTo>
                  <a:lnTo>
                    <a:pt x="207645" y="1578292"/>
                  </a:lnTo>
                  <a:lnTo>
                    <a:pt x="251460" y="1575435"/>
                  </a:lnTo>
                  <a:lnTo>
                    <a:pt x="295275" y="1572578"/>
                  </a:lnTo>
                  <a:lnTo>
                    <a:pt x="339090" y="1569720"/>
                  </a:lnTo>
                  <a:lnTo>
                    <a:pt x="382905" y="1566862"/>
                  </a:lnTo>
                  <a:lnTo>
                    <a:pt x="426720" y="1563053"/>
                  </a:lnTo>
                  <a:lnTo>
                    <a:pt x="470535" y="1559242"/>
                  </a:lnTo>
                  <a:lnTo>
                    <a:pt x="513398" y="1555432"/>
                  </a:lnTo>
                  <a:lnTo>
                    <a:pt x="557212" y="1551622"/>
                  </a:lnTo>
                  <a:lnTo>
                    <a:pt x="601028" y="1547812"/>
                  </a:lnTo>
                  <a:lnTo>
                    <a:pt x="644842" y="1543050"/>
                  </a:lnTo>
                  <a:lnTo>
                    <a:pt x="688658" y="1538288"/>
                  </a:lnTo>
                  <a:lnTo>
                    <a:pt x="732472" y="1533525"/>
                  </a:lnTo>
                  <a:lnTo>
                    <a:pt x="775335" y="1527810"/>
                  </a:lnTo>
                  <a:lnTo>
                    <a:pt x="819150" y="1522095"/>
                  </a:lnTo>
                  <a:lnTo>
                    <a:pt x="862965" y="1515428"/>
                  </a:lnTo>
                  <a:lnTo>
                    <a:pt x="906780" y="1509712"/>
                  </a:lnTo>
                  <a:lnTo>
                    <a:pt x="950595" y="1502092"/>
                  </a:lnTo>
                  <a:lnTo>
                    <a:pt x="993458" y="1494472"/>
                  </a:lnTo>
                  <a:lnTo>
                    <a:pt x="1037272" y="1486853"/>
                  </a:lnTo>
                  <a:lnTo>
                    <a:pt x="1081088" y="1477328"/>
                  </a:lnTo>
                  <a:lnTo>
                    <a:pt x="1124902" y="1467803"/>
                  </a:lnTo>
                  <a:lnTo>
                    <a:pt x="1168718" y="1458277"/>
                  </a:lnTo>
                  <a:lnTo>
                    <a:pt x="1211580" y="1446847"/>
                  </a:lnTo>
                  <a:lnTo>
                    <a:pt x="1255395" y="1434465"/>
                  </a:lnTo>
                  <a:lnTo>
                    <a:pt x="1299210" y="1422082"/>
                  </a:lnTo>
                  <a:lnTo>
                    <a:pt x="1343025" y="1407795"/>
                  </a:lnTo>
                  <a:lnTo>
                    <a:pt x="1386840" y="1392555"/>
                  </a:lnTo>
                  <a:lnTo>
                    <a:pt x="1429702" y="1375410"/>
                  </a:lnTo>
                  <a:lnTo>
                    <a:pt x="1473518" y="1357312"/>
                  </a:lnTo>
                  <a:lnTo>
                    <a:pt x="1517332" y="1337310"/>
                  </a:lnTo>
                  <a:lnTo>
                    <a:pt x="1561147" y="1315402"/>
                  </a:lnTo>
                  <a:lnTo>
                    <a:pt x="1604962" y="1291590"/>
                  </a:lnTo>
                  <a:lnTo>
                    <a:pt x="1647825" y="1265872"/>
                  </a:lnTo>
                  <a:lnTo>
                    <a:pt x="1691640" y="1236345"/>
                  </a:lnTo>
                  <a:lnTo>
                    <a:pt x="1735455" y="1203960"/>
                  </a:lnTo>
                  <a:lnTo>
                    <a:pt x="1779270" y="1168718"/>
                  </a:lnTo>
                  <a:lnTo>
                    <a:pt x="1823085" y="1129665"/>
                  </a:lnTo>
                  <a:lnTo>
                    <a:pt x="1866900" y="1086802"/>
                  </a:lnTo>
                  <a:lnTo>
                    <a:pt x="1910715" y="1039177"/>
                  </a:lnTo>
                  <a:lnTo>
                    <a:pt x="1954530" y="987742"/>
                  </a:lnTo>
                  <a:lnTo>
                    <a:pt x="1997392" y="929640"/>
                  </a:lnTo>
                  <a:lnTo>
                    <a:pt x="2041208" y="866775"/>
                  </a:lnTo>
                  <a:lnTo>
                    <a:pt x="2085022" y="797242"/>
                  </a:lnTo>
                  <a:lnTo>
                    <a:pt x="2128838" y="722947"/>
                  </a:lnTo>
                  <a:lnTo>
                    <a:pt x="2172652" y="641985"/>
                  </a:lnTo>
                  <a:lnTo>
                    <a:pt x="2215515" y="557212"/>
                  </a:lnTo>
                  <a:lnTo>
                    <a:pt x="2259330" y="467677"/>
                  </a:lnTo>
                  <a:lnTo>
                    <a:pt x="2303145" y="378142"/>
                  </a:lnTo>
                  <a:lnTo>
                    <a:pt x="2346960" y="288607"/>
                  </a:lnTo>
                  <a:lnTo>
                    <a:pt x="2390775" y="204788"/>
                  </a:lnTo>
                  <a:lnTo>
                    <a:pt x="2433638" y="129540"/>
                  </a:lnTo>
                  <a:lnTo>
                    <a:pt x="2477452" y="67627"/>
                  </a:lnTo>
                  <a:lnTo>
                    <a:pt x="2521268" y="23812"/>
                  </a:lnTo>
                  <a:lnTo>
                    <a:pt x="2565082" y="0"/>
                  </a:lnTo>
                  <a:lnTo>
                    <a:pt x="2608898" y="0"/>
                  </a:lnTo>
                  <a:lnTo>
                    <a:pt x="2652712" y="23812"/>
                  </a:lnTo>
                  <a:lnTo>
                    <a:pt x="2695575" y="67627"/>
                  </a:lnTo>
                  <a:lnTo>
                    <a:pt x="2739390" y="129540"/>
                  </a:lnTo>
                  <a:lnTo>
                    <a:pt x="2783205" y="204788"/>
                  </a:lnTo>
                  <a:lnTo>
                    <a:pt x="2827020" y="288607"/>
                  </a:lnTo>
                  <a:lnTo>
                    <a:pt x="2870835" y="378142"/>
                  </a:lnTo>
                  <a:lnTo>
                    <a:pt x="2913698" y="467677"/>
                  </a:lnTo>
                  <a:lnTo>
                    <a:pt x="2957512" y="557212"/>
                  </a:lnTo>
                  <a:lnTo>
                    <a:pt x="3001328" y="641985"/>
                  </a:lnTo>
                  <a:lnTo>
                    <a:pt x="3045142" y="722947"/>
                  </a:lnTo>
                  <a:lnTo>
                    <a:pt x="3088958" y="797242"/>
                  </a:lnTo>
                  <a:lnTo>
                    <a:pt x="3131820" y="866775"/>
                  </a:lnTo>
                  <a:lnTo>
                    <a:pt x="3175635" y="929640"/>
                  </a:lnTo>
                  <a:lnTo>
                    <a:pt x="3219450" y="987742"/>
                  </a:lnTo>
                  <a:lnTo>
                    <a:pt x="3263265" y="1039177"/>
                  </a:lnTo>
                  <a:lnTo>
                    <a:pt x="3307080" y="1086802"/>
                  </a:lnTo>
                  <a:lnTo>
                    <a:pt x="3350895" y="1129665"/>
                  </a:lnTo>
                  <a:lnTo>
                    <a:pt x="3394710" y="1168718"/>
                  </a:lnTo>
                  <a:lnTo>
                    <a:pt x="3438525" y="1203960"/>
                  </a:lnTo>
                  <a:lnTo>
                    <a:pt x="3481388" y="1236345"/>
                  </a:lnTo>
                  <a:lnTo>
                    <a:pt x="3525202" y="1265872"/>
                  </a:lnTo>
                  <a:lnTo>
                    <a:pt x="3569018" y="1291590"/>
                  </a:lnTo>
                  <a:lnTo>
                    <a:pt x="3612832" y="1315402"/>
                  </a:lnTo>
                  <a:lnTo>
                    <a:pt x="3656648" y="1337310"/>
                  </a:lnTo>
                  <a:lnTo>
                    <a:pt x="3699510" y="1357312"/>
                  </a:lnTo>
                  <a:lnTo>
                    <a:pt x="3743325" y="1375410"/>
                  </a:lnTo>
                  <a:lnTo>
                    <a:pt x="3787140" y="1392555"/>
                  </a:lnTo>
                  <a:lnTo>
                    <a:pt x="3830955" y="1407795"/>
                  </a:lnTo>
                  <a:lnTo>
                    <a:pt x="3874770" y="1422082"/>
                  </a:lnTo>
                  <a:lnTo>
                    <a:pt x="3917632" y="1434465"/>
                  </a:lnTo>
                  <a:lnTo>
                    <a:pt x="3961448" y="1446847"/>
                  </a:lnTo>
                  <a:lnTo>
                    <a:pt x="4005262" y="1458277"/>
                  </a:lnTo>
                  <a:lnTo>
                    <a:pt x="4049078" y="1467803"/>
                  </a:lnTo>
                  <a:lnTo>
                    <a:pt x="4092893" y="1477328"/>
                  </a:lnTo>
                  <a:lnTo>
                    <a:pt x="4135755" y="1486853"/>
                  </a:lnTo>
                  <a:lnTo>
                    <a:pt x="4179570" y="1494472"/>
                  </a:lnTo>
                  <a:lnTo>
                    <a:pt x="4223385" y="1502092"/>
                  </a:lnTo>
                  <a:lnTo>
                    <a:pt x="4267200" y="1509712"/>
                  </a:lnTo>
                  <a:lnTo>
                    <a:pt x="4311015" y="1515428"/>
                  </a:lnTo>
                  <a:lnTo>
                    <a:pt x="4353878" y="1522095"/>
                  </a:lnTo>
                  <a:lnTo>
                    <a:pt x="4397692" y="1527810"/>
                  </a:lnTo>
                  <a:lnTo>
                    <a:pt x="4441508" y="1533525"/>
                  </a:lnTo>
                  <a:lnTo>
                    <a:pt x="4485322" y="1538288"/>
                  </a:lnTo>
                  <a:lnTo>
                    <a:pt x="4529138" y="1543050"/>
                  </a:lnTo>
                  <a:lnTo>
                    <a:pt x="4572000" y="1547812"/>
                  </a:lnTo>
                  <a:lnTo>
                    <a:pt x="4615815" y="1551622"/>
                  </a:lnTo>
                  <a:lnTo>
                    <a:pt x="4659630" y="1555432"/>
                  </a:lnTo>
                  <a:lnTo>
                    <a:pt x="4703445" y="1559242"/>
                  </a:lnTo>
                  <a:lnTo>
                    <a:pt x="4747260" y="1563053"/>
                  </a:lnTo>
                  <a:lnTo>
                    <a:pt x="4791075" y="1566862"/>
                  </a:lnTo>
                  <a:lnTo>
                    <a:pt x="4833938" y="1569720"/>
                  </a:lnTo>
                  <a:lnTo>
                    <a:pt x="4878705" y="1572578"/>
                  </a:lnTo>
                  <a:lnTo>
                    <a:pt x="4922520" y="1575435"/>
                  </a:lnTo>
                  <a:lnTo>
                    <a:pt x="4965382" y="1578292"/>
                  </a:lnTo>
                  <a:lnTo>
                    <a:pt x="5009198" y="1581150"/>
                  </a:lnTo>
                  <a:lnTo>
                    <a:pt x="5053012" y="1583055"/>
                  </a:lnTo>
                  <a:lnTo>
                    <a:pt x="5096828" y="1585912"/>
                  </a:lnTo>
                  <a:lnTo>
                    <a:pt x="5140642" y="1587817"/>
                  </a:lnTo>
                  <a:lnTo>
                    <a:pt x="5173028" y="1589722"/>
                  </a:lnTo>
                </a:path>
              </a:pathLst>
            </a:custGeom>
            <a:noFill/>
            <a:ln w="26670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547812" y="1950720"/>
              <a:ext cx="239077" cy="9525"/>
            </a:xfrm>
            <a:custGeom>
              <a:avLst/>
              <a:gdLst/>
              <a:ahLst/>
              <a:cxnLst/>
              <a:rect l="l" t="t" r="r" b="b"/>
              <a:pathLst>
                <a:path w="239077" h="9525">
                  <a:moveTo>
                    <a:pt x="0" y="0"/>
                  </a:moveTo>
                  <a:lnTo>
                    <a:pt x="239077" y="0"/>
                  </a:lnTo>
                </a:path>
              </a:pathLst>
            </a:custGeom>
            <a:noFill/>
            <a:ln w="26670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547812" y="2282190"/>
              <a:ext cx="239077" cy="9525"/>
            </a:xfrm>
            <a:custGeom>
              <a:avLst/>
              <a:gdLst/>
              <a:ahLst/>
              <a:cxnLst/>
              <a:rect l="l" t="t" r="r" b="b"/>
              <a:pathLst>
                <a:path w="239077" h="9525">
                  <a:moveTo>
                    <a:pt x="0" y="0"/>
                  </a:moveTo>
                  <a:lnTo>
                    <a:pt x="239077" y="0"/>
                  </a:lnTo>
                </a:path>
              </a:pathLst>
            </a:custGeom>
            <a:noFill/>
            <a:ln w="20955">
              <a:solidFill>
                <a:srgbClr val="1F5FA8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547812" y="2613660"/>
              <a:ext cx="239077" cy="9525"/>
            </a:xfrm>
            <a:custGeom>
              <a:avLst/>
              <a:gdLst/>
              <a:ahLst/>
              <a:cxnLst/>
              <a:rect l="l" t="t" r="r" b="b"/>
              <a:pathLst>
                <a:path w="239077" h="9525">
                  <a:moveTo>
                    <a:pt x="0" y="0"/>
                  </a:moveTo>
                  <a:lnTo>
                    <a:pt x="239077" y="0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705803" y="5063490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6418898" y="5063490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3562350" y="5892165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562350" y="1750695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964883" y="5063490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964883" y="5130165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2264092" y="5063490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2264092" y="5130165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4860608" y="5063490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4860608" y="5130165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6158865" y="5063490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6158865" y="5130165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3562350" y="3407092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3497580" y="3407092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3562350" y="1750695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3497580" y="1750695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964883" y="4999672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6158865" y="4999672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64883" y="4999672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6158865" y="4999672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964883" y="4999672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6158865" y="4999672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" y="4962525"/>
              <a:ext cx="76200" cy="762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1446848" y="4929188"/>
              <a:ext cx="76200" cy="762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1966912" y="4860608"/>
              <a:ext cx="76200" cy="762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2486025" y="4695825"/>
              <a:ext cx="76200" cy="762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3006090" y="4198620"/>
              <a:ext cx="76200" cy="762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3525202" y="3369945"/>
              <a:ext cx="76200" cy="762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4044315" y="4198620"/>
              <a:ext cx="76200" cy="762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4563428" y="4695825"/>
              <a:ext cx="76200" cy="762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5082540" y="4860608"/>
              <a:ext cx="76200" cy="762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5602605" y="4929188"/>
              <a:ext cx="76200" cy="762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6121718" y="4962525"/>
              <a:ext cx="76200" cy="762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1536382" y="1949768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1796415" y="1949768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1536382" y="2281238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1796415" y="2281238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1536382" y="2612707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1796415" y="2612707"/>
              <a:ext cx="1905" cy="1905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372672" y="52011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702368" y="163020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88322" y="5191601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2114972" y="5191601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−0.5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747767" y="5191601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118584" y="519160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3381967" y="336946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3381967" y="171307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895856" y="1904048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895856" y="2234565"/>
              <a:ext cx="11219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L₅(x)，6 个节点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895856" y="2566035"/>
              <a:ext cx="12875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L₁₀(x)，11 个节点</a:t>
              </a:r>
            </a:p>
          </p:txBody>
        </p:sp>
      </p:grpSp>
      <p:grpSp>
        <p:nvGrpSpPr>
          <p:cNvPr id="95" name="c2-table-1"/>
          <p:cNvGrpSpPr/>
          <p:nvPr/>
        </p:nvGrpSpPr>
        <p:grpSpPr>
          <a:xfrm>
            <a:off x="6892290" y="1524000"/>
            <a:ext cx="4766310" cy="2446497"/>
            <a:chOff x="6892290" y="1524000"/>
            <a:chExt cx="4766310" cy="2446497"/>
          </a:xfrm>
        </p:grpSpPr>
        <p:sp>
          <p:nvSpPr>
            <p:cNvPr id="74" name="Rectangle 74"/>
            <p:cNvSpPr/>
            <p:nvPr/>
          </p:nvSpPr>
          <p:spPr>
            <a:xfrm>
              <a:off x="6898005" y="1524000"/>
              <a:ext cx="4760595" cy="43053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654100" y="165544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等距节点插值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788035" y="1655445"/>
              <a:ext cx="14741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max|f(x) − Lₙ(x)|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003352" y="2085022"/>
              <a:ext cx="11612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L₅（6 个节点）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296906" y="208502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0.433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6898005" y="237934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6898005" y="2384108"/>
              <a:ext cx="476059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7003352" y="2515552"/>
              <a:ext cx="13530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L₁₀（11 个节点）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0296906" y="251555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1.916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6898005" y="280987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7003352" y="2946082"/>
              <a:ext cx="13530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L₂₀（21 个节点）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9401175" y="2824162"/>
              <a:ext cx="2247900" cy="4114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0341331" y="294608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59.8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6898005" y="323945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6898005" y="3244215"/>
              <a:ext cx="476059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7003352" y="3375660"/>
              <a:ext cx="17035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分段线性（11 个节点）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9401175" y="3253740"/>
              <a:ext cx="2247900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10296906" y="337566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0.067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6898005" y="1524000"/>
              <a:ext cx="4760595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3" name="Rectangle 93"/>
            <p:cNvSpPr/>
            <p:nvPr/>
          </p:nvSpPr>
          <p:spPr>
            <a:xfrm>
              <a:off x="9386888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6892290" y="3750469"/>
              <a:ext cx="2913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 [−1, 1] 上对 f(x) = 1/(1 + 25x²) 插值</a:t>
              </a:r>
            </a:p>
          </p:txBody>
        </p:sp>
      </p:grpSp>
      <p:grpSp>
        <p:nvGrpSpPr>
          <p:cNvPr id="104" name="c2-card-2"/>
          <p:cNvGrpSpPr/>
          <p:nvPr/>
        </p:nvGrpSpPr>
        <p:grpSpPr>
          <a:xfrm>
            <a:off x="6898005" y="4111942"/>
            <a:ext cx="4760595" cy="2137410"/>
            <a:chOff x="6898005" y="4111942"/>
            <a:chExt cx="4760595" cy="2137410"/>
          </a:xfrm>
        </p:grpSpPr>
        <p:sp>
          <p:nvSpPr>
            <p:cNvPr id="96" name="Rectangle 96"/>
            <p:cNvSpPr/>
            <p:nvPr/>
          </p:nvSpPr>
          <p:spPr>
            <a:xfrm>
              <a:off x="6898005" y="4111942"/>
              <a:ext cx="4760595" cy="2137410"/>
            </a:xfrm>
            <a:prstGeom prst="roundRect">
              <a:avLst>
                <a:gd name="adj" fmla="val 62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7" name="Rectangle 97"/>
            <p:cNvSpPr/>
            <p:nvPr/>
          </p:nvSpPr>
          <p:spPr>
            <a:xfrm>
              <a:off x="6907530" y="4245292"/>
              <a:ext cx="47625" cy="187071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98" name="Rectangle 98"/>
            <p:cNvSpPr/>
            <p:nvPr/>
          </p:nvSpPr>
          <p:spPr>
            <a:xfrm>
              <a:off x="7139940" y="4315778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7217346" y="435149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原因与对策</a:t>
              </a:r>
            </a:p>
          </p:txBody>
        </p:sp>
        <p:sp>
          <p:nvSpPr>
            <p:cNvPr id="100" name="Ellipse 100"/>
            <p:cNvSpPr/>
            <p:nvPr/>
          </p:nvSpPr>
          <p:spPr>
            <a:xfrm>
              <a:off x="7147560" y="4748212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7304151" y="4688681"/>
              <a:ext cx="399097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等距节点时 |ωₙ₊₁(x)| 在两端远大于中间，而这个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的高阶导数随阶数增长极快</a:t>
              </a:r>
            </a:p>
          </p:txBody>
        </p:sp>
        <p:sp>
          <p:nvSpPr>
            <p:cNvPr id="102" name="Ellipse 102"/>
            <p:cNvSpPr/>
            <p:nvPr/>
          </p:nvSpPr>
          <p:spPr>
            <a:xfrm>
              <a:off x="7147560" y="533971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7304151" y="5280184"/>
              <a:ext cx="398195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节点多时改用分段低次插值（分段线性、三次样条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等），或让节点在两端加密（11 个 Chebyshev 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点的最大误差约 0.109）</a:t>
              </a:r>
            </a:p>
          </p:txBody>
        </p:sp>
      </p:grpSp>
      <p:grpSp>
        <p:nvGrpSpPr>
          <p:cNvPr id="10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5" name="TextBox 10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827" y="342900"/>
            <a:ext cx="10921423" cy="902684"/>
            <a:chOff x="520827" y="342900"/>
            <a:chExt cx="10921423" cy="902684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第5章 函数插值 · 拉格朗日插值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827" y="761524"/>
              <a:ext cx="10921423" cy="4840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5.2（线性插值）：sin 0.3367 ≈ 0.330365，误差不超过 0.92×10⁻⁵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10518742" cy="278702"/>
            <a:chOff x="526161" y="1547336"/>
            <a:chExt cx="10518742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05187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已知 sin 0.32 = 0.314567，sin 0.34 = 0.333487，sin 0.36 = 0.352274，分别用线性插值和抛物线插值计算 sin 0.3367。</a:t>
              </a:r>
            </a:p>
          </p:txBody>
        </p:sp>
      </p:grpSp>
      <p:grpSp>
        <p:nvGrpSpPr>
          <p:cNvPr id="22" name="c1-steps-1"/>
          <p:cNvGrpSpPr/>
          <p:nvPr/>
        </p:nvGrpSpPr>
        <p:grpSpPr>
          <a:xfrm>
            <a:off x="533400" y="1950720"/>
            <a:ext cx="5191733" cy="2108359"/>
            <a:chOff x="533400" y="1950720"/>
            <a:chExt cx="5191733" cy="2108359"/>
          </a:xfrm>
        </p:grpSpPr>
        <p:sp>
          <p:nvSpPr>
            <p:cNvPr id="9" name="Rectangle 9"/>
            <p:cNvSpPr/>
            <p:nvPr/>
          </p:nvSpPr>
          <p:spPr>
            <a:xfrm>
              <a:off x="666750" y="2093595"/>
              <a:ext cx="19050" cy="15878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5072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245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4510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189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53949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6133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642" y="198310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选节点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785" y="2250281"/>
              <a:ext cx="460578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由余项公式，节点应尽量靠近 x。0.3367 在 0.32 与 0.34 之间，取 x₀ =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0.32，x₁ = 0.34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277749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基函数值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3044666"/>
              <a:ext cx="461289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l₀(0.3367) = (0.3367 − 0.34)/(0.32 − 0.34) = 0.165，l₁(0.3367) =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(0.3367 − 0.32)/(0.34 − 0.32) = 0.835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357092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3839051"/>
              <a:ext cx="47783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L₁(0.3367) = 0.314567 × 0.165 + 0.333487 × 0.835 = </a:t>
              </a:r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0.330365</a:t>
              </a:r>
            </a:p>
          </p:txBody>
        </p:sp>
      </p:grpSp>
      <p:grpSp>
        <p:nvGrpSpPr>
          <p:cNvPr id="44" name="c1-table-2"/>
          <p:cNvGrpSpPr/>
          <p:nvPr/>
        </p:nvGrpSpPr>
        <p:grpSpPr>
          <a:xfrm>
            <a:off x="528066" y="4227195"/>
            <a:ext cx="5415534" cy="2097976"/>
            <a:chOff x="528066" y="4227195"/>
            <a:chExt cx="5415534" cy="2097976"/>
          </a:xfrm>
        </p:grpSpPr>
        <p:sp>
          <p:nvSpPr>
            <p:cNvPr id="23" name="Rectangle 23"/>
            <p:cNvSpPr/>
            <p:nvPr/>
          </p:nvSpPr>
          <p:spPr>
            <a:xfrm>
              <a:off x="533400" y="4227195"/>
              <a:ext cx="5410200" cy="60579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47191" y="445150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两个节点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474443" y="4351496"/>
              <a:ext cx="929945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|(x − x₀)(x −</a:t>
              </a:r>
              <a:br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x₁)|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85288" y="4451509"/>
              <a:ext cx="9314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L₁(0.3367)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063884" y="445150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实际误差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3412" y="4957286"/>
              <a:ext cx="1095299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0.32、0.34（内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560533" y="5057299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5.51×10⁻⁵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913589" y="5057299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0.330365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808220" y="4842510"/>
              <a:ext cx="1125855" cy="5867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033729" y="5057299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9.0×10⁻⁶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54340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5438775"/>
              <a:ext cx="541020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3412" y="5563076"/>
              <a:ext cx="1095299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0.34、0.36（外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560533" y="5663089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7.69×10⁻⁵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913589" y="5663089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0.330387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950803" y="5663089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−1.29×10⁻⁵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227195"/>
              <a:ext cx="5410200" cy="18173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2170748" y="4227195"/>
              <a:ext cx="9525" cy="18173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3698558" y="4227195"/>
              <a:ext cx="9525" cy="18173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793932" y="4227195"/>
              <a:ext cx="9525" cy="18173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28066" y="6119812"/>
              <a:ext cx="51346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对比：x = 0.3367 不在 [0.34, 0.36] 内，改用这两点是外推，|ω₂| 和误差都更大</a:t>
              </a:r>
            </a:p>
          </p:txBody>
        </p:sp>
      </p:grpSp>
      <p:grpSp>
        <p:nvGrpSpPr>
          <p:cNvPr id="52" name="c2-card-1"/>
          <p:cNvGrpSpPr/>
          <p:nvPr/>
        </p:nvGrpSpPr>
        <p:grpSpPr>
          <a:xfrm>
            <a:off x="6248400" y="1941195"/>
            <a:ext cx="5410200" cy="2023110"/>
            <a:chOff x="6248400" y="1941195"/>
            <a:chExt cx="5410200" cy="2023110"/>
          </a:xfrm>
        </p:grpSpPr>
        <p:sp>
          <p:nvSpPr>
            <p:cNvPr id="45" name="Rectangle 45"/>
            <p:cNvSpPr/>
            <p:nvPr/>
          </p:nvSpPr>
          <p:spPr>
            <a:xfrm>
              <a:off x="6248400" y="1941195"/>
              <a:ext cx="5410200" cy="2023110"/>
            </a:xfrm>
            <a:prstGeom prst="roundRect">
              <a:avLst>
                <a:gd name="adj" fmla="val 65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57925" y="2074545"/>
              <a:ext cx="47625" cy="175641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78905" y="2133600"/>
              <a:ext cx="1458278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40534" y="2167890"/>
              <a:ext cx="13340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由定理 5.1 估计误差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72047" y="2490788"/>
              <a:ext cx="46600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[0.32, 0.34] 上 |f″(x)| = |sin x| ≤ sin 0.34 = 0.3335，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于是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formula119"/>
                <p:cNvSpPr txBox="1">
                  <a:spLocks noGrp="1"/>
                </p:cNvSpPr>
                <p:nvPr/>
              </p:nvSpPr>
              <p:spPr>
                <a:xfrm>
                  <a:off x="6478905" y="3027998"/>
                  <a:ext cx="4987290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0.3367</m:t>
                                </m:r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0.3335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0.0167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0.0033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0.92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s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5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51" name="TextBox 51"/>
            <p:cNvSpPr txBox="1"/>
            <p:nvPr/>
          </p:nvSpPr>
          <p:spPr>
            <a:xfrm>
              <a:off x="6473190" y="3596164"/>
              <a:ext cx="45497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真值 sin 0.3367 = 0.330374，实际误差 0.90×10⁻⁵，与估计相符。</a:t>
              </a:r>
            </a:p>
          </p:txBody>
        </p:sp>
      </p:grpSp>
      <p:grpSp>
        <p:nvGrpSpPr>
          <p:cNvPr id="58" name="c2-card-2"/>
          <p:cNvGrpSpPr/>
          <p:nvPr/>
        </p:nvGrpSpPr>
        <p:grpSpPr>
          <a:xfrm>
            <a:off x="6248400" y="4139565"/>
            <a:ext cx="5410200" cy="2144078"/>
            <a:chOff x="6248400" y="4139565"/>
            <a:chExt cx="5410200" cy="2144078"/>
          </a:xfrm>
        </p:grpSpPr>
        <p:sp>
          <p:nvSpPr>
            <p:cNvPr id="53" name="Rectangle 53"/>
            <p:cNvSpPr/>
            <p:nvPr/>
          </p:nvSpPr>
          <p:spPr>
            <a:xfrm>
              <a:off x="6248400" y="4139565"/>
              <a:ext cx="5410200" cy="2144078"/>
            </a:xfrm>
            <a:prstGeom prst="roundRect">
              <a:avLst>
                <a:gd name="adj" fmla="val 62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257925" y="4272915"/>
              <a:ext cx="47625" cy="187737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78905" y="433197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70345" y="436626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72047" y="4688205"/>
              <a:ext cx="466858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原课件误差式的第二个因子写作 0.033。x − x₁ = 0.3367 −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0.34 = −0.0033，绝对值应为 0.0033；按 0.033 计算会得到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0.92×10⁻⁴，与课件自己给出的 0.92×10⁻⁵ 也对不上。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3642" cy="909257"/>
            <a:chOff x="520446" y="342900"/>
            <a:chExt cx="86036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第5章 函数插值 · 拉格朗日插值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36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5.2（抛物线插值）：三个节点把误差降到 10⁻⁷ 量级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5780" y="1548765"/>
            <a:ext cx="5315902" cy="293370"/>
            <a:chOff x="525780" y="1548765"/>
            <a:chExt cx="5315902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53159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x₀ = 0.32，x₁ = 0.34，x₂ = 0.36，在 x = 0.3367 处：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25"/>
              <p:cNvSpPr txBox="1">
                <a:spLocks noGrp="1"/>
              </p:cNvSpPr>
              <p:nvPr/>
            </p:nvSpPr>
            <p:spPr>
              <a:xfrm>
                <a:off x="533400" y="1973580"/>
                <a:ext cx="5842635" cy="540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0.3367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0.34</m:t>
                              </m:r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0.3367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0.36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0.32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0.34</m:t>
                              </m:r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0.32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0.36</m:t>
                              </m:r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0.0961125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126"/>
              <p:cNvSpPr txBox="1">
                <a:spLocks noGrp="1"/>
              </p:cNvSpPr>
              <p:nvPr/>
            </p:nvSpPr>
            <p:spPr>
              <a:xfrm>
                <a:off x="533400" y="2704148"/>
                <a:ext cx="5842635" cy="540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0.3367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0.32</m:t>
                              </m:r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0.3367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0.36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0.34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0.32</m:t>
                              </m:r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0.34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0.36</m:t>
                              </m:r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0.972775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formula127"/>
              <p:cNvSpPr txBox="1">
                <a:spLocks noGrp="1"/>
              </p:cNvSpPr>
              <p:nvPr/>
            </p:nvSpPr>
            <p:spPr>
              <a:xfrm>
                <a:off x="533400" y="3434715"/>
                <a:ext cx="5842635" cy="540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0.3367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0.32</m:t>
                              </m:r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0.3367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0.34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0.36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0.32</m:t>
                              </m:r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0.36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0.34</m:t>
                              </m:r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0.0688875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formula128"/>
              <p:cNvSpPr txBox="1">
                <a:spLocks noGrp="1"/>
              </p:cNvSpPr>
              <p:nvPr/>
            </p:nvSpPr>
            <p:spPr>
              <a:xfrm>
                <a:off x="533400" y="4165282"/>
                <a:ext cx="5842635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0.3367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0.314567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0.333487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0.352274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0.330374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34" name="c1-table-6"/>
          <p:cNvGrpSpPr/>
          <p:nvPr/>
        </p:nvGrpSpPr>
        <p:grpSpPr>
          <a:xfrm>
            <a:off x="527685" y="4698682"/>
            <a:ext cx="5848350" cy="1642587"/>
            <a:chOff x="527685" y="4698682"/>
            <a:chExt cx="5848350" cy="1642587"/>
          </a:xfrm>
        </p:grpSpPr>
        <p:sp>
          <p:nvSpPr>
            <p:cNvPr id="13" name="Rectangle 13"/>
            <p:cNvSpPr/>
            <p:nvPr/>
          </p:nvSpPr>
          <p:spPr>
            <a:xfrm>
              <a:off x="533400" y="4698682"/>
              <a:ext cx="5842635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82319" y="48344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420150" y="483441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近似值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02748" y="48344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实际误差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00078" y="48344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余项上界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1223" y="52830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线性插值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99531" y="5283041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0.330365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768286" y="5283041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9.0×10⁻⁶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65616" y="5283041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9.2×10⁻⁶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559117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5595938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1223" y="573166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抛物线插值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299531" y="5731669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0.330374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391852" y="5605462"/>
              <a:ext cx="152495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720899" y="5731669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−1.7×10⁻⁷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65616" y="5731669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2.0×10⁻⁷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4698682"/>
              <a:ext cx="5842635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984058" y="4698682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377565" y="4698682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21568" y="4698682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7685" y="6121241"/>
              <a:ext cx="20318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真值 sin 0.3367 = 0.3303742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6680835" y="1524000"/>
            <a:ext cx="4977765" cy="2119312"/>
            <a:chOff x="6680835" y="1524000"/>
            <a:chExt cx="4977765" cy="2119312"/>
          </a:xfrm>
        </p:grpSpPr>
        <p:sp>
          <p:nvSpPr>
            <p:cNvPr id="35" name="Rectangle 35"/>
            <p:cNvSpPr/>
            <p:nvPr/>
          </p:nvSpPr>
          <p:spPr>
            <a:xfrm>
              <a:off x="6680835" y="1524000"/>
              <a:ext cx="4977765" cy="2119312"/>
            </a:xfrm>
            <a:prstGeom prst="roundRect">
              <a:avLst>
                <a:gd name="adj" fmla="val 62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690360" y="1657350"/>
              <a:ext cx="47625" cy="18526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928485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010794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误差估计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20865" y="2110740"/>
              <a:ext cx="3758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[0.32, 0.36] 上 |f‴(x)| = |cos x| ≤ cos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0.32 = 0.9493，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formula129"/>
                <p:cNvSpPr txBox="1">
                  <a:spLocks noGrp="1"/>
                </p:cNvSpPr>
                <p:nvPr/>
              </p:nvSpPr>
              <p:spPr>
                <a:xfrm>
                  <a:off x="6928485" y="2707005"/>
                  <a:ext cx="4520565" cy="411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0.9493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0.0167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0.0033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0.0233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2.03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sSup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7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1" name="TextBox 41"/>
            <p:cNvSpPr txBox="1"/>
            <p:nvPr/>
          </p:nvSpPr>
          <p:spPr>
            <a:xfrm>
              <a:off x="6922008" y="3235166"/>
              <a:ext cx="38813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实际误差 0.3303742 − 0.3303744 = −1.7×10⁻⁷。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6680835" y="3833812"/>
            <a:ext cx="4977765" cy="2462212"/>
            <a:chOff x="6680835" y="3833812"/>
            <a:chExt cx="4977765" cy="2462212"/>
          </a:xfrm>
        </p:grpSpPr>
        <p:sp>
          <p:nvSpPr>
            <p:cNvPr id="43" name="Rectangle 43"/>
            <p:cNvSpPr/>
            <p:nvPr/>
          </p:nvSpPr>
          <p:spPr>
            <a:xfrm>
              <a:off x="6680835" y="3833812"/>
              <a:ext cx="4977765" cy="2462212"/>
            </a:xfrm>
            <a:prstGeom prst="roundRect">
              <a:avLst>
                <a:gd name="adj" fmla="val 54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690360" y="3967162"/>
              <a:ext cx="47625" cy="219551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928485" y="404336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019646" y="407908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20865" y="4420552"/>
              <a:ext cx="42729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原课件结果写作 L₂(0.3367) = 0.330387。按上面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三个基函数值核算应为 0.330374，它与真值只差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1.7×10⁻⁷；0.330387 的误差（1.3×10⁻⁵）反而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比线性插值的 9.0×10⁻⁶ 还大。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357622" cy="2997517"/>
            <a:chOff x="667512" y="1835468"/>
            <a:chExt cx="535762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牛顿插值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用差商逐项搭出插值多项式，每加一个节点只需补一项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244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5.3 差商的定义与性质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664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差商表与 Newton 插值公式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263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余项、节点选择与例 5.3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97606" cy="909257"/>
            <a:chOff x="520446" y="342900"/>
            <a:chExt cx="859760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第5章 函数插值 · 牛顿插值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9760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Lagrange 公式的不便：每加一个节点，基函数都要重算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193982" cy="2272665"/>
            <a:chOff x="533400" y="1524000"/>
            <a:chExt cx="5193982" cy="22726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272665"/>
            </a:xfrm>
            <a:prstGeom prst="roundRect">
              <a:avLst>
                <a:gd name="adj" fmla="val 58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0596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444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5.1 从两点改用三点时，l₀、l₁ 的表达式全变了，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前面算过的数用不上。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731770"/>
              <a:ext cx="46057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Lagrange 形式便于理论分析，不便于逐步增加节点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12991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06705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希望有一种写法：加一个节点，只在原多项式后面补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一项</a:t>
              </a:r>
            </a:p>
          </p:txBody>
        </p:sp>
      </p:grpSp>
      <p:grpSp>
        <p:nvGrpSpPr>
          <p:cNvPr id="18" name="c1-text-2"/>
          <p:cNvGrpSpPr/>
          <p:nvPr/>
        </p:nvGrpSpPr>
        <p:grpSpPr>
          <a:xfrm>
            <a:off x="525780" y="4011930"/>
            <a:ext cx="2034540" cy="293370"/>
            <a:chOff x="525780" y="4011930"/>
            <a:chExt cx="2034540" cy="293370"/>
          </a:xfrm>
        </p:grpSpPr>
        <p:sp>
          <p:nvSpPr>
            <p:cNvPr id="17" name="TextBox 17"/>
            <p:cNvSpPr txBox="1"/>
            <p:nvPr/>
          </p:nvSpPr>
          <p:spPr>
            <a:xfrm>
              <a:off x="525780" y="401193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为此把插值多项式写成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formula133"/>
              <p:cNvSpPr txBox="1">
                <a:spLocks noGrp="1"/>
              </p:cNvSpPr>
              <p:nvPr/>
            </p:nvSpPr>
            <p:spPr>
              <a:xfrm>
                <a:off x="533400" y="4436745"/>
                <a:ext cx="5193982" cy="5200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baseJc m:val="center"/>
                        </m:eqArrPr>
                        <m:e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 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+⋯+</m:t>
                          </m:r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⋯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eqArr>
                    </m:oMath>
                  </m:oMathPara>
                </a14:m>
              </a:p>
            </p:txBody>
          </p:sp>
        </mc:Choice>
      </mc:AlternateContent>
      <p:grpSp>
        <p:nvGrpSpPr>
          <p:cNvPr id="21" name="c1-text-4"/>
          <p:cNvGrpSpPr/>
          <p:nvPr/>
        </p:nvGrpSpPr>
        <p:grpSpPr>
          <a:xfrm>
            <a:off x="525780" y="5172075"/>
            <a:ext cx="4958715" cy="588645"/>
            <a:chOff x="525780" y="5172075"/>
            <a:chExt cx="4958715" cy="588645"/>
          </a:xfrm>
        </p:grpSpPr>
        <p:sp>
          <p:nvSpPr>
            <p:cNvPr id="20" name="TextBox 20"/>
            <p:cNvSpPr txBox="1"/>
            <p:nvPr/>
          </p:nvSpPr>
          <p:spPr>
            <a:xfrm>
              <a:off x="525780" y="5172075"/>
              <a:ext cx="4958715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系数 cₖ 只依赖前 k+1 个节点，加节点时前面的系数不变。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后面会看到，cₖ 正是 k 阶差商 f[x₀, …, xₖ]。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032182" y="1524000"/>
            <a:ext cx="5626418" cy="4177665"/>
            <a:chOff x="6032182" y="1524000"/>
            <a:chExt cx="5626418" cy="4177665"/>
          </a:xfrm>
        </p:grpSpPr>
        <p:sp>
          <p:nvSpPr>
            <p:cNvPr id="22" name="Rectangle 22"/>
            <p:cNvSpPr/>
            <p:nvPr/>
          </p:nvSpPr>
          <p:spPr>
            <a:xfrm>
              <a:off x="6032182" y="1524000"/>
              <a:ext cx="5626418" cy="4177665"/>
            </a:xfrm>
            <a:prstGeom prst="roundRect">
              <a:avLst>
                <a:gd name="adj" fmla="val 31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41708" y="1657350"/>
              <a:ext cx="47625" cy="391096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79832" y="1733550"/>
              <a:ext cx="78486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61418" y="1769269"/>
              <a:ext cx="621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 5.1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71373" y="176879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一阶差商与二阶差商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72212" y="2129790"/>
              <a:ext cx="4806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 在 xᵢ、xⱼ（xᵢ ≠ xⱼ）上的平均变化率称为 f(x) 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这两点的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一阶差商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134"/>
                <p:cNvSpPr txBox="1">
                  <a:spLocks noGrp="1"/>
                </p:cNvSpPr>
                <p:nvPr/>
              </p:nvSpPr>
              <p:spPr>
                <a:xfrm>
                  <a:off x="6279832" y="2726055"/>
                  <a:ext cx="5169218" cy="617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den>
                        </m:f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5.3.1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9" name="TextBox 29"/>
            <p:cNvSpPr txBox="1"/>
            <p:nvPr/>
          </p:nvSpPr>
          <p:spPr>
            <a:xfrm>
              <a:off x="6272212" y="3463290"/>
              <a:ext cx="52048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一阶差商的差商称为 f(x) 在 xᵢ、xⱼ、xₖ 处的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二阶差商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formula135"/>
                <p:cNvSpPr txBox="1">
                  <a:spLocks noGrp="1"/>
                </p:cNvSpPr>
                <p:nvPr/>
              </p:nvSpPr>
              <p:spPr>
                <a:xfrm>
                  <a:off x="6279832" y="3773805"/>
                  <a:ext cx="5169218" cy="59150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sSub>
                                  <m:e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sSub>
                                  <m:e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den>
                        </m:f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5.3.2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1" name="TextBox 31"/>
            <p:cNvSpPr txBox="1"/>
            <p:nvPr/>
          </p:nvSpPr>
          <p:spPr>
            <a:xfrm>
              <a:off x="6273356" y="4481989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一阶差商就是割线斜率，二阶差商描述斜率的变化。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3" name="TextBox 3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96367" cy="909257"/>
            <a:chOff x="520446" y="342900"/>
            <a:chExt cx="849636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第5章 函数插值 · 牛顿插值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9636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阶差商：两个 m−1 阶差商相减，再除以两端节点之差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5780" y="1548765"/>
            <a:ext cx="5480209" cy="588645"/>
            <a:chOff x="525780" y="1548765"/>
            <a:chExt cx="5480209" cy="58864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5480209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求出 m−1 阶差商后，f(x) 在互异节点 xᵢ₀, xᵢ₁, …, xᵢₘ 处的 </a:t>
              </a:r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阶差商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定义为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38"/>
              <p:cNvSpPr txBox="1">
                <a:spLocks noGrp="1"/>
              </p:cNvSpPr>
              <p:nvPr/>
            </p:nvSpPr>
            <p:spPr>
              <a:xfrm>
                <a:off x="533400" y="2268855"/>
                <a:ext cx="5842635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,…,</m:t>
                          </m:r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m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sSub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e>
                                    <m:sub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,…,</m:t>
                              </m:r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sSub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e>
                                    <m:sub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m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sSub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e>
                                    <m:sub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,…,</m:t>
                              </m:r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sSub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e>
                                    <m:sub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m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m</m:t>
                                  </m:r>
                                </m:sub>
                              </m:sSub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5.3.3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1" name="c1-kv-3"/>
          <p:cNvGrpSpPr/>
          <p:nvPr/>
        </p:nvGrpSpPr>
        <p:grpSpPr>
          <a:xfrm>
            <a:off x="525780" y="2998470"/>
            <a:ext cx="5850255" cy="1613535"/>
            <a:chOff x="525780" y="2998470"/>
            <a:chExt cx="5850255" cy="1613535"/>
          </a:xfrm>
        </p:grpSpPr>
        <p:sp>
          <p:nvSpPr>
            <p:cNvPr id="10" name="TextBox 10"/>
            <p:cNvSpPr txBox="1"/>
            <p:nvPr/>
          </p:nvSpPr>
          <p:spPr>
            <a:xfrm>
              <a:off x="525780" y="299847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被减数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66862" y="2998470"/>
              <a:ext cx="29331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去掉第一个节点后的 m−1 阶差商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331851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34385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减数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66862" y="3438525"/>
              <a:ext cx="31350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去掉最后一个节点后的 m−1 阶差商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75856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5780" y="387858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分母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66862" y="387858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最后一个节点减第一个节点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419862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5780" y="431863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零阶差商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66862" y="4318635"/>
              <a:ext cx="18225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规定 f[xᵢ] = f(xᵢ)</a:t>
              </a:r>
            </a:p>
          </p:txBody>
        </p:sp>
      </p:grpSp>
      <p:grpSp>
        <p:nvGrpSpPr>
          <p:cNvPr id="23" name="c1-text-4"/>
          <p:cNvGrpSpPr/>
          <p:nvPr/>
        </p:nvGrpSpPr>
        <p:grpSpPr>
          <a:xfrm>
            <a:off x="525780" y="4768215"/>
            <a:ext cx="3023997" cy="293370"/>
            <a:chOff x="525780" y="4768215"/>
            <a:chExt cx="3023997" cy="293370"/>
          </a:xfrm>
        </p:grpSpPr>
        <p:sp>
          <p:nvSpPr>
            <p:cNvPr id="22" name="TextBox 22"/>
            <p:cNvSpPr txBox="1"/>
            <p:nvPr/>
          </p:nvSpPr>
          <p:spPr>
            <a:xfrm>
              <a:off x="525780" y="4768215"/>
              <a:ext cx="30239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节点取 x₀, …, xₖ 时，k 阶差商为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formula139"/>
              <p:cNvSpPr txBox="1">
                <a:spLocks noGrp="1"/>
              </p:cNvSpPr>
              <p:nvPr/>
            </p:nvSpPr>
            <p:spPr>
              <a:xfrm>
                <a:off x="533400" y="5193030"/>
                <a:ext cx="5842635" cy="565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,…,</m:t>
                          </m:r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,…,</m:t>
                              </m:r>
                              <m:sSub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,…,</m:t>
                              </m:r>
                              <m:sSub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39" name="c2-card-1"/>
          <p:cNvGrpSpPr/>
          <p:nvPr/>
        </p:nvGrpSpPr>
        <p:grpSpPr>
          <a:xfrm>
            <a:off x="6680835" y="1524000"/>
            <a:ext cx="4977765" cy="2872740"/>
            <a:chOff x="6680835" y="1524000"/>
            <a:chExt cx="4977765" cy="2872740"/>
          </a:xfrm>
        </p:grpSpPr>
        <p:sp>
          <p:nvSpPr>
            <p:cNvPr id="25" name="Rectangle 25"/>
            <p:cNvSpPr/>
            <p:nvPr/>
          </p:nvSpPr>
          <p:spPr>
            <a:xfrm>
              <a:off x="6680835" y="1524000"/>
              <a:ext cx="4977765" cy="2872740"/>
            </a:xfrm>
            <a:prstGeom prst="roundRect">
              <a:avLst>
                <a:gd name="adj" fmla="val 46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690360" y="1657350"/>
              <a:ext cx="47625" cy="260604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928485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014743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71435" y="1768792"/>
              <a:ext cx="26352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 = x³，节点 0, 1, 2, 3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934200" y="219265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092315" y="212979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零阶：f = 0, 1, 8, 27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934200" y="252793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092315" y="2465070"/>
              <a:ext cx="41649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一阶：f[0,1] = 1，f[1,2] = 7，f[2,3] = 19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934200" y="286321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092315" y="2800350"/>
              <a:ext cx="35394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二阶：f[0,1,2] = (7 − 1)/(2 − 0) = 3，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f[1,2,3] = (19 − 7)/(3 − 1) = 6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934200" y="348424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92315" y="3421380"/>
              <a:ext cx="37711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三阶：f[0,1,2,3] = (6 − 3)/(3 − 0) = 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22008" y="3753326"/>
              <a:ext cx="393877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三阶差商 1 恰好是 x³ 的首项系数，也等于 f‴(ξ)/3! =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6/6。</a:t>
              </a:r>
            </a:p>
          </p:txBody>
        </p:sp>
      </p:grpSp>
      <p:grpSp>
        <p:nvGrpSpPr>
          <p:cNvPr id="46" name="c2-callout-2"/>
          <p:cNvGrpSpPr/>
          <p:nvPr/>
        </p:nvGrpSpPr>
        <p:grpSpPr>
          <a:xfrm>
            <a:off x="6680835" y="4587240"/>
            <a:ext cx="4977765" cy="1171575"/>
            <a:chOff x="6680835" y="4587240"/>
            <a:chExt cx="4977765" cy="1171575"/>
          </a:xfrm>
        </p:grpSpPr>
        <p:sp>
          <p:nvSpPr>
            <p:cNvPr id="40" name="Rectangle 40"/>
            <p:cNvSpPr/>
            <p:nvPr/>
          </p:nvSpPr>
          <p:spPr>
            <a:xfrm>
              <a:off x="6680835" y="4587240"/>
              <a:ext cx="4977765" cy="1171575"/>
            </a:xfrm>
            <a:prstGeom prst="roundRect">
              <a:avLst>
                <a:gd name="adj" fmla="val 975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873564" y="5069323"/>
              <a:ext cx="224134" cy="192560"/>
              <a:chOff x="6873564" y="5069323"/>
              <a:chExt cx="224134" cy="19256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6985635" y="513969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873564" y="506932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985635" y="52174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7187565" y="4930140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易错：分母是两端节点之差。算 f[1,2,3] 时除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以 3 − 1 = 2，不是相邻节点之差 1。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第5章 函数插值 · 牛顿插值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差商的三条性质：线性组合、对称性、与导数的关系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842635" cy="1520190"/>
            <a:chOff x="533400" y="1524000"/>
            <a:chExt cx="5842635" cy="15201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520190"/>
            </a:xfrm>
            <a:prstGeom prst="roundRect">
              <a:avLst>
                <a:gd name="adj" fmla="val 87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5349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595312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1322" y="1750695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 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66660" y="1756410"/>
              <a:ext cx="39501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阶差商是函数值 f(x₀), …, f(xₖ) 的线性组合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52"/>
                <p:cNvSpPr txBox="1">
                  <a:spLocks noGrp="1"/>
                </p:cNvSpPr>
                <p:nvPr/>
              </p:nvSpPr>
              <p:spPr>
                <a:xfrm>
                  <a:off x="763905" y="2067878"/>
                  <a:ext cx="5419725" cy="5029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,…,</m:t>
                            </m:r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⋯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⋯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sub>
                                    </m:sSub>
                                  </m:e>
                                </m:d>
                              </m:den>
                            </m:f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 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5.3.4</m:t>
                                </m:r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58190" y="2676049"/>
              <a:ext cx="38561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例：f[x₀, x₁] = f(x₀)/(x₀ − x₁) + f(x₁)/(x₁ − x₀)。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219450"/>
            <a:ext cx="5842635" cy="2989898"/>
            <a:chOff x="533400" y="3219450"/>
            <a:chExt cx="5842635" cy="2989898"/>
          </a:xfrm>
        </p:grpSpPr>
        <p:sp>
          <p:nvSpPr>
            <p:cNvPr id="15" name="Rectangle 15"/>
            <p:cNvSpPr/>
            <p:nvPr/>
          </p:nvSpPr>
          <p:spPr>
            <a:xfrm>
              <a:off x="533400" y="3219450"/>
              <a:ext cx="5842635" cy="2989898"/>
            </a:xfrm>
            <a:prstGeom prst="roundRect">
              <a:avLst>
                <a:gd name="adj" fmla="val 44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352800"/>
              <a:ext cx="47625" cy="272319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3905" y="3411855"/>
              <a:ext cx="595312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1322" y="3446145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 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66660" y="3451860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对称性：任意交换节点的次序，差商值不变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153"/>
                <p:cNvSpPr txBox="1">
                  <a:spLocks noGrp="1"/>
                </p:cNvSpPr>
                <p:nvPr/>
              </p:nvSpPr>
              <p:spPr>
                <a:xfrm>
                  <a:off x="763905" y="3763328"/>
                  <a:ext cx="5419725" cy="3238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,…,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,…,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,…,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5.3.5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1" name="TextBox 21"/>
            <p:cNvSpPr txBox="1"/>
            <p:nvPr/>
          </p:nvSpPr>
          <p:spPr>
            <a:xfrm>
              <a:off x="758190" y="4192429"/>
              <a:ext cx="3351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由性质 1 直接可得：交换节点只改变求和的顺序。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6680835" y="1524000"/>
            <a:ext cx="4977765" cy="3301365"/>
            <a:chOff x="6680835" y="1524000"/>
            <a:chExt cx="4977765" cy="3301365"/>
          </a:xfrm>
        </p:grpSpPr>
        <p:sp>
          <p:nvSpPr>
            <p:cNvPr id="23" name="Rectangle 23"/>
            <p:cNvSpPr/>
            <p:nvPr/>
          </p:nvSpPr>
          <p:spPr>
            <a:xfrm>
              <a:off x="6680835" y="1524000"/>
              <a:ext cx="4977765" cy="3301365"/>
            </a:xfrm>
            <a:prstGeom prst="roundRect">
              <a:avLst>
                <a:gd name="adj" fmla="val 40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690360" y="1657350"/>
              <a:ext cx="47625" cy="303466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911340" y="1716405"/>
              <a:ext cx="595312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999710" y="1750695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 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14094" y="175641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差商与导数的关系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154"/>
                <p:cNvSpPr txBox="1">
                  <a:spLocks noGrp="1"/>
                </p:cNvSpPr>
                <p:nvPr/>
              </p:nvSpPr>
              <p:spPr>
                <a:xfrm>
                  <a:off x="6911340" y="2067878"/>
                  <a:ext cx="4554855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,…,</m:t>
                            </m:r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</m:d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ξ</m:t>
                                </m:r>
                              </m:e>
                            </m:d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den>
                        </m:f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5.3.6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9" name="TextBox 29"/>
            <p:cNvSpPr txBox="1"/>
            <p:nvPr/>
          </p:nvSpPr>
          <p:spPr>
            <a:xfrm>
              <a:off x="6904482" y="2743200"/>
              <a:ext cx="42485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ξ 介于 x₀, …, xₙ 的最小值与最大值之间（要求 f⁽ⁿ⁾ 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在）。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919912" y="335851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075932" y="3302318"/>
              <a:ext cx="41027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是 n 次多项式时，n 阶差商等于首项系数，更高阶差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商为 0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919912" y="391858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075932" y="3862388"/>
              <a:ext cx="41542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是 n 次多项式时，一阶差商 f[x₀, x] 是 x 的 n−1 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多项式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919912" y="447770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075932" y="442150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各阶差商可以按差商表逐列计算</a:t>
              </a:r>
            </a:p>
          </p:txBody>
        </p:sp>
      </p:grpSp>
      <p:grpSp>
        <p:nvGrpSpPr>
          <p:cNvPr id="42" name="c2-card-2"/>
          <p:cNvGrpSpPr/>
          <p:nvPr/>
        </p:nvGrpSpPr>
        <p:grpSpPr>
          <a:xfrm>
            <a:off x="6680835" y="5000625"/>
            <a:ext cx="4977765" cy="1209675"/>
            <a:chOff x="6680835" y="5000625"/>
            <a:chExt cx="4977765" cy="1209675"/>
          </a:xfrm>
        </p:grpSpPr>
        <p:sp>
          <p:nvSpPr>
            <p:cNvPr id="37" name="Rectangle 37"/>
            <p:cNvSpPr/>
            <p:nvPr/>
          </p:nvSpPr>
          <p:spPr>
            <a:xfrm>
              <a:off x="6680835" y="5000625"/>
              <a:ext cx="4977765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690360" y="5133975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911340" y="519303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002780" y="522732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04482" y="5549265"/>
              <a:ext cx="425710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 (5.3.4) 分母的最后一个因子写作 (xⱼ − xₙ)。k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阶差商只涉及 x₀, …, xₖ，应为 (xⱼ − xₖ)。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756418" cy="909257"/>
            <a:chOff x="520446" y="342900"/>
            <a:chExt cx="97564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第5章 函数插值 · 牛顿插值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7564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差商表：按列逐阶计算，对角线上的值就是 Newton 公式的系数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2" name="c1-table-1"/>
          <p:cNvGrpSpPr/>
          <p:nvPr/>
        </p:nvGrpSpPr>
        <p:grpSpPr>
          <a:xfrm>
            <a:off x="527685" y="1524000"/>
            <a:ext cx="6497955" cy="2988469"/>
            <a:chOff x="527685" y="1524000"/>
            <a:chExt cx="6497955" cy="298846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703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节点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2331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零阶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20064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一阶差商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3222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二阶差商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5715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三阶差商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35408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四阶差商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9834" y="210835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x₀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207770" y="1982152"/>
              <a:ext cx="78962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358697" y="210835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f(x₀)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41649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2421255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59834" y="255698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58697" y="2556986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f(x₁)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016442" y="2430780"/>
              <a:ext cx="107156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166181" y="2556986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f[x₀,x₁]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286607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59834" y="300561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58697" y="3005614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f(x₂)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166181" y="300561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f[x₁,x₂]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107055" y="2880360"/>
              <a:ext cx="1352550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255604" y="3005614"/>
              <a:ext cx="10554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f[x₀,x₁,x₂]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31470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3319462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59834" y="345424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x₃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58697" y="345424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f(x₃)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166181" y="3454241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f[x₂,x₃]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255604" y="3454241"/>
              <a:ext cx="10554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f[x₁,x₂,x₃]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478655" y="3328988"/>
              <a:ext cx="125920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627918" y="3454241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f[x₀,…,x₃]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376332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9834" y="390382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x₄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358697" y="390382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f(x₄)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166181" y="3903821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f[x₃,x₄]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255604" y="3903821"/>
              <a:ext cx="10554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f[x₂,x₃,x₄]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627918" y="3903821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f[x₁,…,x₄]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756910" y="3777615"/>
              <a:ext cx="125920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906173" y="3903821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f[x₀,…,x₄]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1524000"/>
              <a:ext cx="6492240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1193482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2002155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3092768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4464368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742622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27685" y="4292441"/>
              <a:ext cx="48571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按给定顺序 x₀, x₁, …, xₙ 计算；橙色对角线是 Newton 公式用到的差商</a:t>
              </a:r>
            </a:p>
          </p:txBody>
        </p:sp>
      </p:grpSp>
      <p:grpSp>
        <p:nvGrpSpPr>
          <p:cNvPr id="58" name="c1-card-2"/>
          <p:cNvGrpSpPr/>
          <p:nvPr/>
        </p:nvGrpSpPr>
        <p:grpSpPr>
          <a:xfrm>
            <a:off x="533400" y="4658678"/>
            <a:ext cx="6492240" cy="1316355"/>
            <a:chOff x="533400" y="4658678"/>
            <a:chExt cx="6492240" cy="1316355"/>
          </a:xfrm>
        </p:grpSpPr>
        <p:sp>
          <p:nvSpPr>
            <p:cNvPr id="53" name="Rectangle 53"/>
            <p:cNvSpPr/>
            <p:nvPr/>
          </p:nvSpPr>
          <p:spPr>
            <a:xfrm>
              <a:off x="533400" y="4658678"/>
              <a:ext cx="649224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542925" y="4792028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781050" y="4868228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50557" y="490394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对照前页小例子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73430" y="5245418"/>
              <a:ext cx="5634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 = x³ 在 0, 1, 2, 3 上：对角线为 0、1、3、1，所以 N₃(x)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+ 1·x + 3·x(x − 1) + 1·x(x − 1)(x − 2)，展开正是 x³。</a:t>
              </a:r>
            </a:p>
          </p:txBody>
        </p:sp>
      </p:grpSp>
      <p:grpSp>
        <p:nvGrpSpPr>
          <p:cNvPr id="72" name="c2-steps-1"/>
          <p:cNvGrpSpPr/>
          <p:nvPr/>
        </p:nvGrpSpPr>
        <p:grpSpPr>
          <a:xfrm>
            <a:off x="7330440" y="1533525"/>
            <a:ext cx="4140073" cy="2347246"/>
            <a:chOff x="7330440" y="1533525"/>
            <a:chExt cx="4140073" cy="2347246"/>
          </a:xfrm>
        </p:grpSpPr>
        <p:sp>
          <p:nvSpPr>
            <p:cNvPr id="59" name="Rectangle 59"/>
            <p:cNvSpPr/>
            <p:nvPr/>
          </p:nvSpPr>
          <p:spPr>
            <a:xfrm>
              <a:off x="7463790" y="1676400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733044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42406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7330440" y="218408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42406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7330440" y="306990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424064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741920" y="15678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前两列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743063" y="1861661"/>
              <a:ext cx="35109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列写节点，第 2 列写函数值（零阶差商）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741920" y="221837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逐列向右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743063" y="2512219"/>
              <a:ext cx="37274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阶列第 i 行 = (同行左边的 k−1 阶差商 − 上一行左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边的 k−1 阶差商) / (xᵢ − xᵢ₋ₖ)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741920" y="310419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读对角线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743063" y="3397091"/>
              <a:ext cx="319913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f(x₀), f[x₀,x₁], f[x₀,x₁,x₂], … 依次是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Newton 公式的 c₀, c₁, c₂, …</a:t>
              </a:r>
            </a:p>
          </p:txBody>
        </p:sp>
      </p:grpSp>
      <p:grpSp>
        <p:nvGrpSpPr>
          <p:cNvPr id="79" name="c2-callout-2"/>
          <p:cNvGrpSpPr/>
          <p:nvPr/>
        </p:nvGrpSpPr>
        <p:grpSpPr>
          <a:xfrm>
            <a:off x="7330440" y="4060508"/>
            <a:ext cx="4328160" cy="1915478"/>
            <a:chOff x="7330440" y="4060508"/>
            <a:chExt cx="4328160" cy="1915478"/>
          </a:xfrm>
        </p:grpSpPr>
        <p:sp>
          <p:nvSpPr>
            <p:cNvPr id="73" name="Rectangle 73"/>
            <p:cNvSpPr/>
            <p:nvPr/>
          </p:nvSpPr>
          <p:spPr>
            <a:xfrm>
              <a:off x="7330440" y="4060508"/>
              <a:ext cx="4328160" cy="1915478"/>
            </a:xfrm>
            <a:prstGeom prst="roundRect">
              <a:avLst>
                <a:gd name="adj" fmla="val 596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7535228" y="4917758"/>
              <a:ext cx="200026" cy="200025"/>
              <a:chOff x="7535228" y="4917758"/>
              <a:chExt cx="200026" cy="200025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7535228" y="49177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7574966" y="49622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7609682" y="50733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7837170" y="4774882"/>
              <a:ext cx="33870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增加节点 x₅ 时，只需在表的下方再算一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行，已有的数据全部保留。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67963" cy="909257"/>
            <a:chOff x="520446" y="342900"/>
            <a:chExt cx="776796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第5章 函数插值 · 牛顿插值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6796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推导 Newton 公式：把 x 当作节点，逐层展开差商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5780" y="1548765"/>
            <a:ext cx="4834890" cy="588645"/>
            <a:chOff x="525780" y="1548765"/>
            <a:chExt cx="4834890" cy="58864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4834890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由差商定义移项。例如 f[x, x₀] = (f(x) − f(x₀))/(x 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x₀) 移项得第一式：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59"/>
              <p:cNvSpPr txBox="1">
                <a:spLocks noGrp="1"/>
              </p:cNvSpPr>
              <p:nvPr/>
            </p:nvSpPr>
            <p:spPr>
              <a:xfrm>
                <a:off x="533400" y="2268855"/>
                <a:ext cx="54102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160"/>
              <p:cNvSpPr txBox="1">
                <a:spLocks noGrp="1"/>
              </p:cNvSpPr>
              <p:nvPr/>
            </p:nvSpPr>
            <p:spPr>
              <a:xfrm>
                <a:off x="533400" y="2878455"/>
                <a:ext cx="54102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2" name="c1-text-4"/>
          <p:cNvGrpSpPr/>
          <p:nvPr/>
        </p:nvGrpSpPr>
        <p:grpSpPr>
          <a:xfrm>
            <a:off x="3119818" y="3512820"/>
            <a:ext cx="237363" cy="293370"/>
            <a:chOff x="3119818" y="3512820"/>
            <a:chExt cx="237363" cy="293370"/>
          </a:xfrm>
        </p:grpSpPr>
        <p:sp>
          <p:nvSpPr>
            <p:cNvPr id="11" name="TextBox 11"/>
            <p:cNvSpPr txBox="1"/>
            <p:nvPr/>
          </p:nvSpPr>
          <p:spPr>
            <a:xfrm>
              <a:off x="3119818" y="3512820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⋯⋯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formula161"/>
              <p:cNvSpPr txBox="1">
                <a:spLocks noGrp="1"/>
              </p:cNvSpPr>
              <p:nvPr/>
            </p:nvSpPr>
            <p:spPr>
              <a:xfrm>
                <a:off x="533400" y="3937635"/>
                <a:ext cx="54102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,…,</m:t>
                          </m:r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,…,</m:t>
                          </m:r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b>
                          </m:sSub>
                        </m:e>
                      </m:d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,…,</m:t>
                          </m:r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0" name="c1-callout-6"/>
          <p:cNvGrpSpPr/>
          <p:nvPr/>
        </p:nvGrpSpPr>
        <p:grpSpPr>
          <a:xfrm>
            <a:off x="533400" y="4509135"/>
            <a:ext cx="5410200" cy="1059180"/>
            <a:chOff x="533400" y="4509135"/>
            <a:chExt cx="5410200" cy="1059180"/>
          </a:xfrm>
        </p:grpSpPr>
        <p:sp>
          <p:nvSpPr>
            <p:cNvPr id="14" name="Rectangle 14"/>
            <p:cNvSpPr/>
            <p:nvPr/>
          </p:nvSpPr>
          <p:spPr>
            <a:xfrm>
              <a:off x="533400" y="4509135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38188" y="4938713"/>
              <a:ext cx="200026" cy="200025"/>
              <a:chOff x="738188" y="4938713"/>
              <a:chExt cx="200026" cy="20002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38188" y="493871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77926" y="498316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12642" y="509428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040130" y="4657725"/>
              <a:ext cx="44157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验证：f(x) = x³，节点 0, 1, 2。N₂(x) = x + 3x(x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− 1)，余项 f[x, 0, 1, 2]·x(x − 1)(x − 2) = x(x −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1)(x − 2)（三阶差商恒为 1），相加正是 x³。</a:t>
              </a:r>
            </a:p>
          </p:txBody>
        </p:sp>
      </p:grpSp>
      <p:grpSp>
        <p:nvGrpSpPr>
          <p:cNvPr id="22" name="c2-text-1"/>
          <p:cNvGrpSpPr/>
          <p:nvPr/>
        </p:nvGrpSpPr>
        <p:grpSpPr>
          <a:xfrm>
            <a:off x="6240780" y="1548765"/>
            <a:ext cx="5158740" cy="588645"/>
            <a:chOff x="6240780" y="1548765"/>
            <a:chExt cx="5158740" cy="588645"/>
          </a:xfrm>
        </p:grpSpPr>
        <p:sp>
          <p:nvSpPr>
            <p:cNvPr id="21" name="TextBox 21"/>
            <p:cNvSpPr txBox="1"/>
            <p:nvPr/>
          </p:nvSpPr>
          <p:spPr>
            <a:xfrm>
              <a:off x="6240780" y="1548765"/>
              <a:ext cx="5158740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每一式最后的差商正好是下一式的左边，把后一式依次代入前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一式，得到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formula162"/>
              <p:cNvSpPr txBox="1">
                <a:spLocks noGrp="1"/>
              </p:cNvSpPr>
              <p:nvPr/>
            </p:nvSpPr>
            <p:spPr>
              <a:xfrm>
                <a:off x="6248400" y="2268855"/>
                <a:ext cx="5410200" cy="5915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baseJc m:val="center"/>
                        </m:eqArr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 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+⋯+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,…,</m:t>
                              </m:r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⋯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,…,</m:t>
                              </m:r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b>
                              </m:sSub>
                            </m:e>
                          </m:d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</m:e>
                      </m:eqArr>
                    </m:oMath>
                  </m:oMathPara>
                </a14:m>
              </a:p>
            </p:txBody>
          </p:sp>
        </mc:Choice>
      </mc:AlternateContent>
      <p:grpSp>
        <p:nvGrpSpPr>
          <p:cNvPr id="28" name="c2-card-3"/>
          <p:cNvGrpSpPr/>
          <p:nvPr/>
        </p:nvGrpSpPr>
        <p:grpSpPr>
          <a:xfrm>
            <a:off x="6248400" y="3049905"/>
            <a:ext cx="5410200" cy="2518410"/>
            <a:chOff x="6248400" y="3049905"/>
            <a:chExt cx="5410200" cy="2518410"/>
          </a:xfrm>
        </p:grpSpPr>
        <p:sp>
          <p:nvSpPr>
            <p:cNvPr id="24" name="Rectangle 24"/>
            <p:cNvSpPr/>
            <p:nvPr/>
          </p:nvSpPr>
          <p:spPr>
            <a:xfrm>
              <a:off x="6248400" y="3049905"/>
              <a:ext cx="5410200" cy="2518410"/>
            </a:xfrm>
            <a:prstGeom prst="roundRect">
              <a:avLst>
                <a:gd name="adj" fmla="val 5295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57950" y="325945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48158" y="329612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50330" y="3637598"/>
              <a:ext cx="469011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f(x) = Nₙ(x) + Rₙ(x)：前 n+1 项是 </a:t>
              </a:r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Newton 插值多项</a:t>
              </a:r>
              <a:br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式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Nₙ(x)，最后一项是余项 Rₙ(x)。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9" name="TextBox 2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402556" cy="909257"/>
            <a:chOff x="520446" y="342900"/>
            <a:chExt cx="94025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第5章 函数插值 · 牛顿插值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4025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Newton 插值公式：系数取差商，余项与 Lagrange 公式相同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ard-1"/>
          <p:cNvGrpSpPr/>
          <p:nvPr/>
        </p:nvGrpSpPr>
        <p:grpSpPr>
          <a:xfrm>
            <a:off x="533400" y="1524000"/>
            <a:ext cx="6059805" cy="1162050"/>
            <a:chOff x="533400" y="1524000"/>
            <a:chExt cx="6059805" cy="11620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162050"/>
            </a:xfrm>
            <a:prstGeom prst="roundRect">
              <a:avLst>
                <a:gd name="adj" fmla="val 11475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1802130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91090" y="1769269"/>
              <a:ext cx="17058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次 Newton 插值多项式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formula166"/>
                <p:cNvSpPr txBox="1">
                  <a:spLocks noGrp="1"/>
                </p:cNvSpPr>
                <p:nvPr/>
              </p:nvSpPr>
              <p:spPr>
                <a:xfrm>
                  <a:off x="742950" y="2085975"/>
                  <a:ext cx="5640705" cy="3714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sSub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 </m:t>
                            </m:r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+⋯+</m:t>
                            </m:r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,…,</m:t>
                                </m:r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⋯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</m:eqArr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5.3.8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13" name="c1-text-2"/>
          <p:cNvGrpSpPr/>
          <p:nvPr/>
        </p:nvGrpSpPr>
        <p:grpSpPr>
          <a:xfrm>
            <a:off x="525780" y="2901315"/>
            <a:ext cx="5749290" cy="588645"/>
            <a:chOff x="525780" y="2901315"/>
            <a:chExt cx="5749290" cy="588645"/>
          </a:xfrm>
        </p:grpSpPr>
        <p:sp>
          <p:nvSpPr>
            <p:cNvPr id="12" name="TextBox 12"/>
            <p:cNvSpPr txBox="1"/>
            <p:nvPr/>
          </p:nvSpPr>
          <p:spPr>
            <a:xfrm>
              <a:off x="525780" y="2901315"/>
              <a:ext cx="5749290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满足同样插值条件的 n 次多项式唯一，所以 Nₙ(x) ≡ Lₙ(x)，余项也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相同：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formula167"/>
              <p:cNvSpPr txBox="1">
                <a:spLocks noGrp="1"/>
              </p:cNvSpPr>
              <p:nvPr/>
            </p:nvSpPr>
            <p:spPr>
              <a:xfrm>
                <a:off x="533400" y="3621405"/>
                <a:ext cx="6059805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  <m:sup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ξ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!</m:t>
                          </m:r>
                        </m:den>
                      </m:f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,…,</m:t>
                          </m:r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5.3.10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6" name="c1-text-4"/>
          <p:cNvGrpSpPr/>
          <p:nvPr/>
        </p:nvGrpSpPr>
        <p:grpSpPr>
          <a:xfrm>
            <a:off x="526923" y="4244816"/>
            <a:ext cx="5401818" cy="752284"/>
            <a:chOff x="526923" y="4244816"/>
            <a:chExt cx="5401818" cy="752284"/>
          </a:xfrm>
        </p:grpSpPr>
        <p:sp>
          <p:nvSpPr>
            <p:cNvPr id="15" name="TextBox 15"/>
            <p:cNvSpPr txBox="1"/>
            <p:nvPr/>
          </p:nvSpPr>
          <p:spPr>
            <a:xfrm>
              <a:off x="526923" y="4244816"/>
              <a:ext cx="5401818" cy="7522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ξ 介于 x, x₀, …, xₙ 之间。f 的高阶导数复杂或表达式未知时用差商形式；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f[x₀, …, xₙ, x] 本身要用到 f(x)，实际计算中常用多一个节点的差商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f[x₀, …, xₙ₊₁] 近似代替。</a:t>
              </a:r>
            </a:p>
          </p:txBody>
        </p:sp>
      </p:grpSp>
      <p:grpSp>
        <p:nvGrpSpPr>
          <p:cNvPr id="23" name="c1-callout-5"/>
          <p:cNvGrpSpPr/>
          <p:nvPr/>
        </p:nvGrpSpPr>
        <p:grpSpPr>
          <a:xfrm>
            <a:off x="533400" y="5135880"/>
            <a:ext cx="6059805" cy="1059180"/>
            <a:chOff x="533400" y="5135880"/>
            <a:chExt cx="6059805" cy="1059180"/>
          </a:xfrm>
        </p:grpSpPr>
        <p:sp>
          <p:nvSpPr>
            <p:cNvPr id="17" name="Rectangle 17"/>
            <p:cNvSpPr/>
            <p:nvPr/>
          </p:nvSpPr>
          <p:spPr>
            <a:xfrm>
              <a:off x="533400" y="5135880"/>
              <a:ext cx="6059805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5565458"/>
              <a:ext cx="200026" cy="200025"/>
              <a:chOff x="738188" y="5565458"/>
              <a:chExt cx="200026" cy="20002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55654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77926" y="56099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12642" y="57210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130" y="5284470"/>
              <a:ext cx="49396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由此得到事后估计：Rₙ(x) ≈ f[x₀, …, xₙ₊₁]ωₙ₊₁(x) =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Nₙ₊₁(x) − Nₙ(x)，即相邻两次 Newton 结果之差可以粗估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Nₙ(x) 的误差。</a:t>
              </a:r>
            </a:p>
          </p:txBody>
        </p:sp>
      </p:grpSp>
      <p:grpSp>
        <p:nvGrpSpPr>
          <p:cNvPr id="38" name="c2-card-1"/>
          <p:cNvGrpSpPr/>
          <p:nvPr/>
        </p:nvGrpSpPr>
        <p:grpSpPr>
          <a:xfrm>
            <a:off x="6898005" y="1524000"/>
            <a:ext cx="4760595" cy="2425065"/>
            <a:chOff x="6898005" y="1524000"/>
            <a:chExt cx="4760595" cy="2425065"/>
          </a:xfrm>
        </p:grpSpPr>
        <p:sp>
          <p:nvSpPr>
            <p:cNvPr id="24" name="Rectangle 24"/>
            <p:cNvSpPr/>
            <p:nvPr/>
          </p:nvSpPr>
          <p:spPr>
            <a:xfrm>
              <a:off x="6898005" y="1524000"/>
              <a:ext cx="4760595" cy="2425065"/>
            </a:xfrm>
            <a:prstGeom prst="roundRect">
              <a:avLst>
                <a:gd name="adj" fmla="val 549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907530" y="1657350"/>
              <a:ext cx="47625" cy="215836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145655" y="1733550"/>
              <a:ext cx="163068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199324" y="1769269"/>
              <a:ext cx="15233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Newton 插值法的特点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145655" y="209740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207504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46645" y="2110740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各阶差商由差商表给出，公式用的是表中对角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线上的差商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145655" y="271843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207504" y="27607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46645" y="273177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每增加一个节点只需增加一项：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formula168"/>
                <p:cNvSpPr txBox="1">
                  <a:spLocks noGrp="1"/>
                </p:cNvSpPr>
                <p:nvPr/>
              </p:nvSpPr>
              <p:spPr>
                <a:xfrm>
                  <a:off x="7145655" y="3042285"/>
                  <a:ext cx="4303395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,…,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⋯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5" name="Ellipse 35"/>
            <p:cNvSpPr/>
            <p:nvPr/>
          </p:nvSpPr>
          <p:spPr>
            <a:xfrm>
              <a:off x="7145655" y="349186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207504" y="35341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46645" y="3505200"/>
              <a:ext cx="24455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余项与 Lagrange 插值相同</a:t>
              </a:r>
            </a:p>
          </p:txBody>
        </p:sp>
      </p:grpSp>
      <p:grpSp>
        <p:nvGrpSpPr>
          <p:cNvPr id="52" name="c2-steps-2"/>
          <p:cNvGrpSpPr/>
          <p:nvPr/>
        </p:nvGrpSpPr>
        <p:grpSpPr>
          <a:xfrm>
            <a:off x="6898005" y="4149090"/>
            <a:ext cx="4716186" cy="1878615"/>
            <a:chOff x="6898005" y="4149090"/>
            <a:chExt cx="4716186" cy="1878615"/>
          </a:xfrm>
        </p:grpSpPr>
        <p:sp>
          <p:nvSpPr>
            <p:cNvPr id="39" name="Rectangle 39"/>
            <p:cNvSpPr/>
            <p:nvPr/>
          </p:nvSpPr>
          <p:spPr>
            <a:xfrm>
              <a:off x="7031355" y="4291965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6898005" y="414909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991629" y="42229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898005" y="479964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991629" y="48734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898005" y="545020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991629" y="55240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09485" y="418338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构造差商表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10628" y="447722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按给定节点逐列计算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09485" y="4833938"/>
              <a:ext cx="10840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 Nₙ(x)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10628" y="512778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系数取表中对角线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09485" y="5484495"/>
              <a:ext cx="1066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 x 求值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10628" y="5778341"/>
              <a:ext cx="43035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可按 c₀ + (x − x₀)(c₁ + (x − x₁)(c₂ + ⋯)) 由内向外算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68495" cy="909257"/>
            <a:chOff x="520446" y="342900"/>
            <a:chExt cx="83684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第5章 函数插值 · 牛顿插值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684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插值节点的选择：让 |ωₙ₊₁(x)| 尽量小，避免高次插值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71"/>
              <p:cNvSpPr txBox="1">
                <a:spLocks noGrp="1"/>
              </p:cNvSpPr>
              <p:nvPr/>
            </p:nvSpPr>
            <p:spPr>
              <a:xfrm>
                <a:off x="533400" y="1524000"/>
                <a:ext cx="5410200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/>
                        <m:fName>
                          <m:limLow>
                            <m:limLowPr/>
                            <m:e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≤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≤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|"/>
                              <m:sepChr m:val=""/>
                              <m:endChr m:val="|"/>
                              <m:grow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p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f</m:t>
                                  </m:r>
                                </m:e>
                                <m: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n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d>
                        <m:dPr>
                          <m:begChr m:val="|"/>
                          <m:sepChr m:val=""/>
                          <m:endChr m:val="|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!</m:t>
                          </m:r>
                        </m:den>
                      </m:f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func>
                        <m:funcPr/>
                        <m:fName>
                          <m:limLow>
                            <m:limLowPr/>
                            <m:e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≤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≤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|"/>
                              <m:sepChr m:val=""/>
                              <m:endChr m:val="|"/>
                              <m:grow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13" name="c1-card-2"/>
          <p:cNvGrpSpPr/>
          <p:nvPr/>
        </p:nvGrpSpPr>
        <p:grpSpPr>
          <a:xfrm>
            <a:off x="533400" y="2105978"/>
            <a:ext cx="5410200" cy="1777365"/>
            <a:chOff x="533400" y="2105978"/>
            <a:chExt cx="5410200" cy="1777365"/>
          </a:xfrm>
        </p:grpSpPr>
        <p:sp>
          <p:nvSpPr>
            <p:cNvPr id="8" name="Rectangle 8"/>
            <p:cNvSpPr/>
            <p:nvPr/>
          </p:nvSpPr>
          <p:spPr>
            <a:xfrm>
              <a:off x="533400" y="2105978"/>
              <a:ext cx="5410200" cy="1777365"/>
            </a:xfrm>
            <a:prstGeom prst="roundRect">
              <a:avLst>
                <a:gd name="adj" fmla="val 7503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37235" y="2309812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4642" y="234553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极小值原则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9996" y="2682716"/>
              <a:ext cx="419971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节点个数确定后，从函数表中挑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离 x 最近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的节点，使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|ωₙ₊₁(x)| 尽可能小，余项的上界也就最小。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1139" y="3269932"/>
              <a:ext cx="46832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例：x = 0.596 时，离它由近到远的节点依次是 0.55、0.65、0.40、</a:t>
              </a:r>
              <a:br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0.80、0.90、1.05。</a:t>
              </a:r>
            </a:p>
          </p:txBody>
        </p:sp>
      </p:grpSp>
      <p:grpSp>
        <p:nvGrpSpPr>
          <p:cNvPr id="19" name="c1-card-3"/>
          <p:cNvGrpSpPr/>
          <p:nvPr/>
        </p:nvGrpSpPr>
        <p:grpSpPr>
          <a:xfrm>
            <a:off x="533400" y="4068128"/>
            <a:ext cx="5410200" cy="2277428"/>
            <a:chOff x="533400" y="4068128"/>
            <a:chExt cx="5410200" cy="2277428"/>
          </a:xfrm>
        </p:grpSpPr>
        <p:sp>
          <p:nvSpPr>
            <p:cNvPr id="14" name="Rectangle 14"/>
            <p:cNvSpPr/>
            <p:nvPr/>
          </p:nvSpPr>
          <p:spPr>
            <a:xfrm>
              <a:off x="533400" y="4068128"/>
              <a:ext cx="5410200" cy="2277428"/>
            </a:xfrm>
            <a:prstGeom prst="roundRect">
              <a:avLst>
                <a:gd name="adj" fmla="val 58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4201478"/>
              <a:ext cx="47625" cy="201072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75335" y="4271962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8792" y="43076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避免高次插值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8096" y="4644866"/>
              <a:ext cx="476643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次数高时容易出现 Runge 现象，误差反而变大，计算也不稳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定。节点很多时改用分段低次插值。</a:t>
              </a:r>
            </a:p>
          </p:txBody>
        </p:sp>
      </p:grpSp>
      <p:grpSp>
        <p:nvGrpSpPr>
          <p:cNvPr id="21" name="c2-text-1"/>
          <p:cNvGrpSpPr/>
          <p:nvPr/>
        </p:nvGrpSpPr>
        <p:grpSpPr>
          <a:xfrm>
            <a:off x="6241161" y="1547336"/>
            <a:ext cx="4267797" cy="278702"/>
            <a:chOff x="6241161" y="1547336"/>
            <a:chExt cx="4267797" cy="278702"/>
          </a:xfrm>
        </p:grpSpPr>
        <p:sp>
          <p:nvSpPr>
            <p:cNvPr id="20" name="TextBox 20"/>
            <p:cNvSpPr txBox="1"/>
            <p:nvPr/>
          </p:nvSpPr>
          <p:spPr>
            <a:xfrm>
              <a:off x="6241161" y="1547336"/>
              <a:ext cx="426779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5.3 中要算 f(0.596)，从 6 个节点中选 5 个：</a:t>
              </a:r>
            </a:p>
          </p:txBody>
        </p:sp>
      </p:grpSp>
      <p:grpSp>
        <p:nvGrpSpPr>
          <p:cNvPr id="38" name="c2-table-2"/>
          <p:cNvGrpSpPr/>
          <p:nvPr/>
        </p:nvGrpSpPr>
        <p:grpSpPr>
          <a:xfrm>
            <a:off x="6248400" y="1955482"/>
            <a:ext cx="5410200" cy="1717358"/>
            <a:chOff x="6248400" y="1955482"/>
            <a:chExt cx="5410200" cy="1717358"/>
          </a:xfrm>
        </p:grpSpPr>
        <p:sp>
          <p:nvSpPr>
            <p:cNvPr id="22" name="Rectangle 22"/>
            <p:cNvSpPr/>
            <p:nvPr/>
          </p:nvSpPr>
          <p:spPr>
            <a:xfrm>
              <a:off x="6248400" y="1955482"/>
              <a:ext cx="5410200" cy="43053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68821" y="208692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候选节点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31615" y="2086928"/>
              <a:ext cx="12265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到 0.596 的距离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424568" y="2086928"/>
              <a:ext cx="9535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|ω₅(0.596)|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53747" y="2623185"/>
              <a:ext cx="9535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0.40 ~ 0.90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52004" y="2516505"/>
              <a:ext cx="21610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0.196, 0.046, 0.054, 0.204,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0.304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0153650" y="2395538"/>
              <a:ext cx="1495425" cy="6248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495445" y="2623185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3.02×10⁻⁵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48400" y="30241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48400" y="3028950"/>
              <a:ext cx="541020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53747" y="3267075"/>
              <a:ext cx="9535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0.55 ~ 1.05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52004" y="3160395"/>
              <a:ext cx="21610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0.046, 0.054, 0.204, 0.304,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0.454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495445" y="3267075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6.99×10⁻⁵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248400" y="1955482"/>
              <a:ext cx="5410200" cy="17173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541895" y="1955482"/>
              <a:ext cx="9525" cy="17173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0139362" y="1955482"/>
              <a:ext cx="9525" cy="17173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5" name="c2-callout-3"/>
          <p:cNvGrpSpPr/>
          <p:nvPr/>
        </p:nvGrpSpPr>
        <p:grpSpPr>
          <a:xfrm>
            <a:off x="6248400" y="3857625"/>
            <a:ext cx="5410200" cy="756285"/>
            <a:chOff x="6248400" y="3857625"/>
            <a:chExt cx="5410200" cy="756285"/>
          </a:xfrm>
        </p:grpSpPr>
        <p:sp>
          <p:nvSpPr>
            <p:cNvPr id="39" name="Rectangle 39"/>
            <p:cNvSpPr/>
            <p:nvPr/>
          </p:nvSpPr>
          <p:spPr>
            <a:xfrm>
              <a:off x="6248400" y="3857625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6453188" y="4135755"/>
              <a:ext cx="200026" cy="200025"/>
              <a:chOff x="6453188" y="4135755"/>
              <a:chExt cx="200026" cy="20002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453188" y="413575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492926" y="418020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527642" y="429133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6755511" y="4005739"/>
              <a:ext cx="4153281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1.05 离 0.596 最远（0.454），舍去它，选 0.40 ~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0.90 的 5 个节点，|ω₅| 不到另一组的一半。</a:t>
              </a:r>
            </a:p>
          </p:txBody>
        </p:sp>
      </p:grpSp>
      <p:grpSp>
        <p:nvGrpSpPr>
          <p:cNvPr id="51" name="c2-card-4"/>
          <p:cNvGrpSpPr/>
          <p:nvPr/>
        </p:nvGrpSpPr>
        <p:grpSpPr>
          <a:xfrm>
            <a:off x="6248400" y="4799648"/>
            <a:ext cx="5410200" cy="1545908"/>
            <a:chOff x="6248400" y="4799648"/>
            <a:chExt cx="5410200" cy="1545908"/>
          </a:xfrm>
        </p:grpSpPr>
        <p:sp>
          <p:nvSpPr>
            <p:cNvPr id="46" name="Rectangle 46"/>
            <p:cNvSpPr/>
            <p:nvPr/>
          </p:nvSpPr>
          <p:spPr>
            <a:xfrm>
              <a:off x="6248400" y="4799648"/>
              <a:ext cx="5410200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257925" y="4932998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90335" y="5003482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54940" y="503920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尽量内插，少外推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83096" y="5376386"/>
              <a:ext cx="475742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落在所选节点范围之外叫外推。此时 ωₙ₊₁(x) 的每个因子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同号且随距离增大，误差一般明显变大，所以应让 x 位于所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选节点的中间。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67283" cy="909257"/>
            <a:chOff x="520446" y="342900"/>
            <a:chExt cx="576728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第5章 函数插值 · 牛顿插值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672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5.3：由 sh x 的函数表构造差商表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747321" cy="308039"/>
            <a:chOff x="525399" y="1550194"/>
            <a:chExt cx="8747321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74732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已知 f(x) = sh x 在 6 个节点上的值（前两列），作插值多项式计算 f(0.596) = sh 0.596。</a:t>
              </a:r>
            </a:p>
          </p:txBody>
        </p:sp>
      </p:grpSp>
      <p:grpSp>
        <p:nvGrpSpPr>
          <p:cNvPr id="65" name="c1-table-1"/>
          <p:cNvGrpSpPr/>
          <p:nvPr/>
        </p:nvGrpSpPr>
        <p:grpSpPr>
          <a:xfrm>
            <a:off x="527685" y="1967865"/>
            <a:ext cx="6930390" cy="3637121"/>
            <a:chOff x="527685" y="1967865"/>
            <a:chExt cx="6930390" cy="3637121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6924675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01744" y="210264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41160" y="2102644"/>
              <a:ext cx="510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f(xₖ)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74011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一阶差商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503663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二阶差商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33316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三阶差商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62968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四阶差商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92621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五阶差商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2233" y="2551271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290638" y="2426018"/>
              <a:ext cx="101060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458234" y="255127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0.41075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860358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865120"/>
              <a:ext cx="692467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2233" y="3000851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58234" y="300085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0.57815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320290" y="2874645"/>
              <a:ext cx="101060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486934" y="300085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1.11600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308985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02233" y="3449479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458234" y="3449479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0.69675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486934" y="3449479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1.18600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349942" y="3323272"/>
              <a:ext cx="101060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516587" y="3449479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0.28000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75761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762375"/>
              <a:ext cx="692467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02233" y="3898106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458234" y="3898106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0.88811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486934" y="3898106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1.27573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516587" y="3898106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0.35893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379595" y="3771900"/>
              <a:ext cx="101060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546239" y="3898106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0.19733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420719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02233" y="4346734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458234" y="4346734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1.02652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486934" y="4346734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1.38410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516587" y="4346734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0.43347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546239" y="4346734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0.21295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409248" y="4221480"/>
              <a:ext cx="101060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575892" y="4346734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0.03124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4655820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33400" y="4660582"/>
              <a:ext cx="692467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02233" y="4795361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458234" y="479536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1.25386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486934" y="479536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1.51560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516587" y="479536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0.52600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546239" y="479536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0.23133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575892" y="479536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0.03676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05544" y="479536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0.00850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" y="1967865"/>
              <a:ext cx="6924675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1276350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2306002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3335655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4365308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5394960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424612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27685" y="5184934"/>
              <a:ext cx="63055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例：0.28000 = (1.18600 − 1.11600)/(0.65 − 0.40)；0.19733 = (0.35893 − 0.28000)/(0.80 −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0.40)</a:t>
              </a:r>
            </a:p>
          </p:txBody>
        </p:sp>
      </p:grpSp>
      <p:grpSp>
        <p:nvGrpSpPr>
          <p:cNvPr id="75" name="c2-card-1"/>
          <p:cNvGrpSpPr/>
          <p:nvPr/>
        </p:nvGrpSpPr>
        <p:grpSpPr>
          <a:xfrm>
            <a:off x="7762875" y="1967865"/>
            <a:ext cx="3895725" cy="3040380"/>
            <a:chOff x="7762875" y="1967865"/>
            <a:chExt cx="3895725" cy="3040380"/>
          </a:xfrm>
        </p:grpSpPr>
        <p:sp>
          <p:nvSpPr>
            <p:cNvPr id="66" name="Rectangle 66"/>
            <p:cNvSpPr/>
            <p:nvPr/>
          </p:nvSpPr>
          <p:spPr>
            <a:xfrm>
              <a:off x="7762875" y="1967865"/>
              <a:ext cx="3895725" cy="3040380"/>
            </a:xfrm>
            <a:prstGeom prst="roundRect">
              <a:avLst>
                <a:gd name="adj" fmla="val 43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7772400" y="2101215"/>
              <a:ext cx="47625" cy="277368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8010525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101686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8016240" y="261747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174355" y="2554605"/>
              <a:ext cx="30251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原课件表中 1.05 行的一阶差商写作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1.6156，应为 (1.25386 −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1.02652)/0.15 = 1.5156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8016240" y="352425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174355" y="3461385"/>
              <a:ext cx="3063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三阶、四阶差商随之改变：两个四阶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差商是 0.03124 和 0.03676，并不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相同，五阶差商约 0.0085，不为 0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004048" y="4363879"/>
              <a:ext cx="313410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原表二阶差商 0.3588、0.4336 也有舍入偏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差，以左表为准。</a:t>
              </a:r>
            </a:p>
          </p:txBody>
        </p:sp>
      </p:grpSp>
      <p:grpSp>
        <p:nvGrpSpPr>
          <p:cNvPr id="82" name="c2-callout-2"/>
          <p:cNvGrpSpPr/>
          <p:nvPr/>
        </p:nvGrpSpPr>
        <p:grpSpPr>
          <a:xfrm>
            <a:off x="7762875" y="5197792"/>
            <a:ext cx="3895725" cy="782955"/>
            <a:chOff x="7762875" y="5197792"/>
            <a:chExt cx="3895725" cy="782955"/>
          </a:xfrm>
        </p:grpSpPr>
        <p:sp>
          <p:nvSpPr>
            <p:cNvPr id="76" name="Rectangle 76"/>
            <p:cNvSpPr/>
            <p:nvPr/>
          </p:nvSpPr>
          <p:spPr>
            <a:xfrm>
              <a:off x="7762875" y="5197792"/>
              <a:ext cx="389572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7967663" y="5489258"/>
              <a:ext cx="200026" cy="200025"/>
              <a:chOff x="7967663" y="5489258"/>
              <a:chExt cx="200026" cy="200025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7967663" y="54892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007401" y="55337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8042117" y="56448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8269605" y="5346382"/>
              <a:ext cx="29013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橙色格是取 0.40 ~ 0.90 五个节点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时 Newton 公式的系数。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303547" cy="909257"/>
            <a:chOff x="520446" y="342900"/>
            <a:chExt cx="93035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第5章 函数插值 · 牛顿插值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3035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5.3（续）：N₄(0.596) = 0.63192，误差约 10⁻⁷ 量级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75"/>
              <p:cNvSpPr txBox="1">
                <a:spLocks noGrp="1"/>
              </p:cNvSpPr>
              <p:nvPr/>
            </p:nvSpPr>
            <p:spPr>
              <a:xfrm>
                <a:off x="533400" y="1524000"/>
                <a:ext cx="5842635" cy="5915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baseJc m:val="center"/>
                        </m:eqArrPr>
                        <m:e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 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0.41075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1.11600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0.40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0.28000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0.40</m:t>
                              </m:r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0.55</m:t>
                              </m:r>
                            </m:e>
                          </m:d>
                        </m:e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0.19733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0.40</m:t>
                              </m:r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0.55</m:t>
                              </m:r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0.65</m:t>
                              </m:r>
                            </m:e>
                          </m:d>
                        </m:e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0.03124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0.40</m:t>
                              </m:r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0.55</m:t>
                              </m:r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0.65</m:t>
                              </m:r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0.80</m:t>
                              </m:r>
                            </m:e>
                          </m:d>
                        </m:e>
                      </m:eqArr>
                    </m:oMath>
                  </m:oMathPara>
                </a14:m>
              </a:p>
            </p:txBody>
          </p:sp>
        </mc:Choice>
      </mc:AlternateContent>
      <p:grpSp>
        <p:nvGrpSpPr>
          <p:cNvPr id="38" name="c1-table-2"/>
          <p:cNvGrpSpPr/>
          <p:nvPr/>
        </p:nvGrpSpPr>
        <p:grpSpPr>
          <a:xfrm>
            <a:off x="527685" y="2306002"/>
            <a:ext cx="5848350" cy="2988470"/>
            <a:chOff x="527685" y="2306002"/>
            <a:chExt cx="5848350" cy="2988470"/>
          </a:xfrm>
        </p:grpSpPr>
        <p:sp>
          <p:nvSpPr>
            <p:cNvPr id="8" name="Rectangle 8"/>
            <p:cNvSpPr/>
            <p:nvPr/>
          </p:nvSpPr>
          <p:spPr>
            <a:xfrm>
              <a:off x="533400" y="2306002"/>
              <a:ext cx="5842635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43569" y="2440781"/>
              <a:ext cx="10446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 = 0.596 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128899" y="244078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这一项的值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103863" y="244078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累加结果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1223" y="288940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零阶项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180593" y="2889409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0.410750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069401" y="2889409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0.410750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19849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3203258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33898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一阶项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180593" y="3338989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0.218736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069401" y="3338989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0.629486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64712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378761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二阶项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180593" y="3787616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0.002524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69401" y="3787616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0.632010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09575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4100512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42362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三阶项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133207" y="4236244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−0.000096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069401" y="423624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0.631914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454533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1223" y="468487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四阶项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80593" y="4684871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0.000003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543425" y="4559618"/>
              <a:ext cx="182308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069401" y="4684871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0.631918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2306002"/>
              <a:ext cx="5842635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2593658" y="2306002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529138" y="2306002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7685" y="5074444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逐项的贡献迅速变小，再加节点意义不大</a:t>
              </a:r>
            </a:p>
          </p:txBody>
        </p:sp>
      </p:grpSp>
      <p:grpSp>
        <p:nvGrpSpPr>
          <p:cNvPr id="47" name="c2-card-1"/>
          <p:cNvGrpSpPr/>
          <p:nvPr/>
        </p:nvGrpSpPr>
        <p:grpSpPr>
          <a:xfrm>
            <a:off x="6680835" y="1524000"/>
            <a:ext cx="4977765" cy="2552700"/>
            <a:chOff x="6680835" y="1524000"/>
            <a:chExt cx="4977765" cy="2552700"/>
          </a:xfrm>
        </p:grpSpPr>
        <p:sp>
          <p:nvSpPr>
            <p:cNvPr id="39" name="Rectangle 39"/>
            <p:cNvSpPr/>
            <p:nvPr/>
          </p:nvSpPr>
          <p:spPr>
            <a:xfrm>
              <a:off x="6680835" y="1524000"/>
              <a:ext cx="4977765" cy="2552700"/>
            </a:xfrm>
            <a:prstGeom prst="roundRect">
              <a:avLst>
                <a:gd name="adj" fmla="val 52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690360" y="1657350"/>
              <a:ext cx="47625" cy="22860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928485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019646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误差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20865" y="2110740"/>
              <a:ext cx="44173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用五阶差商近似代替余项中的 f[x₀, …, x₄, x]：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formula176"/>
                <p:cNvSpPr txBox="1">
                  <a:spLocks noGrp="1"/>
                </p:cNvSpPr>
                <p:nvPr/>
              </p:nvSpPr>
              <p:spPr>
                <a:xfrm>
                  <a:off x="6928485" y="2421255"/>
                  <a:ext cx="4520565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0.596</m:t>
                                </m:r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,…,</m:t>
                                </m:r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5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ω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0.596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formula177"/>
                <p:cNvSpPr txBox="1">
                  <a:spLocks noGrp="1"/>
                </p:cNvSpPr>
                <p:nvPr/>
              </p:nvSpPr>
              <p:spPr>
                <a:xfrm>
                  <a:off x="6928485" y="2916555"/>
                  <a:ext cx="4520565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0.0085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3.02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s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2.6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s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7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6" name="TextBox 46"/>
            <p:cNvSpPr txBox="1"/>
            <p:nvPr/>
          </p:nvSpPr>
          <p:spPr>
            <a:xfrm>
              <a:off x="6922008" y="3433286"/>
              <a:ext cx="42638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真值 sh 0.596 = 0.631917，实际误差约 −7×10⁻⁷，已小于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函数表本身的舍入误差 5×10⁻⁶。</a:t>
              </a:r>
            </a:p>
          </p:txBody>
        </p:sp>
      </p:grpSp>
      <p:grpSp>
        <p:nvGrpSpPr>
          <p:cNvPr id="53" name="c2-card-2"/>
          <p:cNvGrpSpPr/>
          <p:nvPr/>
        </p:nvGrpSpPr>
        <p:grpSpPr>
          <a:xfrm>
            <a:off x="6680835" y="4267200"/>
            <a:ext cx="4977765" cy="1887855"/>
            <a:chOff x="6680835" y="4267200"/>
            <a:chExt cx="4977765" cy="1887855"/>
          </a:xfrm>
        </p:grpSpPr>
        <p:sp>
          <p:nvSpPr>
            <p:cNvPr id="48" name="Rectangle 48"/>
            <p:cNvSpPr/>
            <p:nvPr/>
          </p:nvSpPr>
          <p:spPr>
            <a:xfrm>
              <a:off x="6680835" y="4267200"/>
              <a:ext cx="4977765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690360" y="4400550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928485" y="44767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019646" y="45124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920865" y="4853940"/>
              <a:ext cx="430149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原课件说“四阶差商相同，五阶差商为 0，因此余项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0”。sh x 不是多项式，余项不会为 0。正确的说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法是：五阶差商很小，余项可以忽略，取四次插值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已经足够。结果 0.63192 本身无误。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024884" cy="2997517"/>
            <a:chOff x="667512" y="1835468"/>
            <a:chExt cx="4024884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三次埃尔米特插值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节点上不仅函数值相等，导数值也要相等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525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5.4 整齐与非整齐的 Hermite 插值条件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基函数法与重节点差商法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插值余项与完整例题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52534" cy="909257"/>
            <a:chOff x="520446" y="342900"/>
            <a:chExt cx="845253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第5章 函数插值 · 三次埃尔米特插值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5253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Hermite 插值：节点上的函数值和导数值都要与 f 相等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842635" cy="1545908"/>
            <a:chOff x="533400" y="1524000"/>
            <a:chExt cx="5842635" cy="154590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506399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许多应用问题不但要求插值函数在节点上的值等于被插函数值，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还要求导数值（一阶导数、高阶导数）也相等，这种插值称为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Hermite（埃尔米特）插值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9" name="c1-compare-2"/>
          <p:cNvGrpSpPr/>
          <p:nvPr/>
        </p:nvGrpSpPr>
        <p:grpSpPr>
          <a:xfrm>
            <a:off x="533400" y="3255645"/>
            <a:ext cx="5842636" cy="2126932"/>
            <a:chOff x="533400" y="3255645"/>
            <a:chExt cx="5842636" cy="2126932"/>
          </a:xfrm>
        </p:grpSpPr>
        <p:sp>
          <p:nvSpPr>
            <p:cNvPr id="13" name="Rectangle 13"/>
            <p:cNvSpPr/>
            <p:nvPr/>
          </p:nvSpPr>
          <p:spPr>
            <a:xfrm>
              <a:off x="533400" y="3255645"/>
              <a:ext cx="2711768" cy="2126932"/>
            </a:xfrm>
            <a:prstGeom prst="roundRect">
              <a:avLst>
                <a:gd name="adj" fmla="val 62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388995"/>
              <a:ext cx="47625" cy="186023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8096" y="3482816"/>
              <a:ext cx="186058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整齐的 Hermite 插值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2955" y="3881438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9546" y="3821906"/>
              <a:ext cx="19982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节点处函数值与导数值成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对出现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2955" y="447294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9546" y="4413409"/>
              <a:ext cx="193509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例：x₀、x₁ 都给出 y 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y′，共 4 个条件，构造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H₃(x)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664268" y="3255645"/>
              <a:ext cx="2711768" cy="2126932"/>
            </a:xfrm>
            <a:prstGeom prst="roundRect">
              <a:avLst>
                <a:gd name="adj" fmla="val 62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673792" y="3388995"/>
              <a:ext cx="47625" cy="186023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898964" y="3482816"/>
              <a:ext cx="205174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非整齐的 Hermite 插值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913823" y="3881438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070414" y="3821906"/>
              <a:ext cx="19982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节点处函数值与导数值不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成对出现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913823" y="447294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070414" y="4413409"/>
              <a:ext cx="188099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例：x₀、x₁ 给出 y，只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x₁ 给出 y′，共 3 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条件，构造 H₂(x)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3292792" y="415671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363133" y="425386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36" name="c1-callout-3"/>
          <p:cNvGrpSpPr/>
          <p:nvPr/>
        </p:nvGrpSpPr>
        <p:grpSpPr>
          <a:xfrm>
            <a:off x="533400" y="5567362"/>
            <a:ext cx="5842635" cy="756285"/>
            <a:chOff x="533400" y="5567362"/>
            <a:chExt cx="5842635" cy="756285"/>
          </a:xfrm>
        </p:grpSpPr>
        <p:sp>
          <p:nvSpPr>
            <p:cNvPr id="30" name="Rectangle 30"/>
            <p:cNvSpPr/>
            <p:nvPr/>
          </p:nvSpPr>
          <p:spPr>
            <a:xfrm>
              <a:off x="533400" y="5567362"/>
              <a:ext cx="5842635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5845493"/>
              <a:ext cx="200026" cy="200026"/>
              <a:chOff x="738188" y="5845493"/>
              <a:chExt cx="200026" cy="200026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8188" y="584549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38200" y="59121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27088" y="594550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511" y="5715476"/>
              <a:ext cx="491070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条件个数决定次数：共有 N 个插值条件时，插值多项式的次数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不超过 N − 1。</a:t>
              </a:r>
            </a:p>
          </p:txBody>
        </p:sp>
      </p:grpSp>
      <p:grpSp>
        <p:nvGrpSpPr>
          <p:cNvPr id="39" name="c2-image-1"/>
          <p:cNvGrpSpPr/>
          <p:nvPr/>
        </p:nvGrpSpPr>
        <p:grpSpPr>
          <a:xfrm>
            <a:off x="6676225" y="1524000"/>
            <a:ext cx="4986985" cy="4863942"/>
            <a:chOff x="6676225" y="1524000"/>
            <a:chExt cx="4986985" cy="4863942"/>
          </a:xfrm>
        </p:grpSpPr>
        <p:pic>
          <p:nvPicPr>
            <p:cNvPr id="37" name="Image 37"/>
            <p:cNvPicPr>
              <a:picLocks noChangeAspect="1"/>
            </p:cNvPicPr>
            <p:nvPr/>
          </p:nvPicPr>
          <p:blipFill>
            <a:blip r:embed="rId2"/>
            <a:srcRect l="8966" t="0" r="8967" b="0"/>
            <a:stretch>
              <a:fillRect/>
            </a:stretch>
          </p:blipFill>
          <p:spPr>
            <a:xfrm>
              <a:off x="6680835" y="1524000"/>
              <a:ext cx="4977765" cy="4549140"/>
            </a:xfrm>
            <a:prstGeom prst="roundRect">
              <a:avLst>
                <a:gd name="adj" fmla="val 2931"/>
              </a:avLst>
            </a:prstGeom>
          </p:spPr>
        </p:pic>
        <p:sp>
          <p:nvSpPr>
            <p:cNvPr id="38" name="TextBox 38"/>
            <p:cNvSpPr txBox="1"/>
            <p:nvPr/>
          </p:nvSpPr>
          <p:spPr>
            <a:xfrm>
              <a:off x="6676225" y="6167914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新接的弯轨既要接上两端的位置，又要和两端的方向一致，接口处才不会折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99608" cy="909257"/>
            <a:chOff x="520446" y="342900"/>
            <a:chExt cx="839960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第5章 函数插值 · 三次埃尔米特插值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996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问题一（整齐）解 1：用 4 个插值基函数组合出 H₃(x)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table-1"/>
          <p:cNvGrpSpPr/>
          <p:nvPr/>
        </p:nvGrpSpPr>
        <p:grpSpPr>
          <a:xfrm>
            <a:off x="533400" y="1524000"/>
            <a:ext cx="4977765" cy="1463040"/>
            <a:chOff x="533400" y="1524000"/>
            <a:chExt cx="4977765" cy="14630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48768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83765" y="166306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78045" y="166306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50635" y="166306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83765" y="215074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883598" y="215074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56188" y="215074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y₁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9459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99360"/>
              <a:ext cx="4977765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25458" y="26384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y′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63405" y="2638425"/>
              <a:ext cx="2777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m₀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35996" y="2638425"/>
              <a:ext cx="2777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m₁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1524000"/>
              <a:ext cx="4977765" cy="146304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161222" y="1524000"/>
              <a:ext cx="9525" cy="1463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833812" y="1524000"/>
              <a:ext cx="9525" cy="1463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24" name="c1-text-2"/>
          <p:cNvGrpSpPr/>
          <p:nvPr/>
        </p:nvGrpSpPr>
        <p:grpSpPr>
          <a:xfrm>
            <a:off x="525780" y="3202305"/>
            <a:ext cx="4730115" cy="588645"/>
            <a:chOff x="525780" y="3202305"/>
            <a:chExt cx="4730115" cy="588645"/>
          </a:xfrm>
        </p:grpSpPr>
        <p:sp>
          <p:nvSpPr>
            <p:cNvPr id="23" name="TextBox 23"/>
            <p:cNvSpPr txBox="1"/>
            <p:nvPr/>
          </p:nvSpPr>
          <p:spPr>
            <a:xfrm>
              <a:off x="525780" y="3202305"/>
              <a:ext cx="4730115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求次数不超过 3 的 H₃(x)，使 H₃(xₖ) = yₖ，H₃′(xₖ)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mₖ（k = 0, 1）。令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formula181"/>
              <p:cNvSpPr txBox="1">
                <a:spLocks noGrp="1"/>
              </p:cNvSpPr>
              <p:nvPr/>
            </p:nvSpPr>
            <p:spPr>
              <a:xfrm>
                <a:off x="533400" y="3922395"/>
                <a:ext cx="4977765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α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α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β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β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5.4.2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formula182"/>
              <p:cNvSpPr txBox="1">
                <a:spLocks noGrp="1"/>
              </p:cNvSpPr>
              <p:nvPr/>
            </p:nvSpPr>
            <p:spPr>
              <a:xfrm>
                <a:off x="533400" y="4455795"/>
                <a:ext cx="4977765" cy="733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α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d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 </m:t>
                              </m:r>
                              <m:sSub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β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d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 </m:t>
                              </m:r>
                              <m:sSub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m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28" name="c1-text-5"/>
          <p:cNvGrpSpPr/>
          <p:nvPr/>
        </p:nvGrpSpPr>
        <p:grpSpPr>
          <a:xfrm>
            <a:off x="526923" y="5401151"/>
            <a:ext cx="4346641" cy="249364"/>
            <a:chOff x="526923" y="5401151"/>
            <a:chExt cx="4346641" cy="249364"/>
          </a:xfrm>
        </p:grpSpPr>
        <p:sp>
          <p:nvSpPr>
            <p:cNvPr id="27" name="TextBox 27"/>
            <p:cNvSpPr txBox="1"/>
            <p:nvPr/>
          </p:nvSpPr>
          <p:spPr>
            <a:xfrm>
              <a:off x="526923" y="5401151"/>
              <a:ext cx="43466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其中 α₀、α₁、β₀、β₁ 是 3 次多项式，称为插值基函数。</a:t>
              </a:r>
            </a:p>
          </p:txBody>
        </p:sp>
      </p:grpSp>
      <p:grpSp>
        <p:nvGrpSpPr>
          <p:cNvPr id="70" name="c2-table-1"/>
          <p:cNvGrpSpPr/>
          <p:nvPr/>
        </p:nvGrpSpPr>
        <p:grpSpPr>
          <a:xfrm>
            <a:off x="5810250" y="1524000"/>
            <a:ext cx="5848350" cy="2734152"/>
            <a:chOff x="5810250" y="1524000"/>
            <a:chExt cx="5848350" cy="2734152"/>
          </a:xfrm>
        </p:grpSpPr>
        <p:sp>
          <p:nvSpPr>
            <p:cNvPr id="29" name="Rectangle 29"/>
            <p:cNvSpPr/>
            <p:nvPr/>
          </p:nvSpPr>
          <p:spPr>
            <a:xfrm>
              <a:off x="5815965" y="1524000"/>
              <a:ext cx="5842635" cy="48768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938838" y="166306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基函数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99116" y="1663065"/>
              <a:ext cx="9178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x₀ 处的值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47831" y="1663065"/>
              <a:ext cx="9178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x₁ 处的值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089879" y="1663065"/>
              <a:ext cx="11197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x₀ 处的导数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429094" y="1663065"/>
              <a:ext cx="11197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x₁ 处的导数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922645" y="2150745"/>
              <a:ext cx="5983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α₀(x)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693218" y="2021205"/>
              <a:ext cx="1129665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194899" y="21507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43614" y="21507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586627" y="21507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925842" y="21507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815965" y="249459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815965" y="2499360"/>
              <a:ext cx="5842635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922645" y="2638425"/>
              <a:ext cx="5983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α₁(x)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194899" y="2638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841932" y="2508885"/>
              <a:ext cx="1129665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343614" y="2638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586627" y="2638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925842" y="2638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815965" y="298227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922645" y="3126105"/>
              <a:ext cx="5983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β₀(x)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194899" y="312610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343614" y="312610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990648" y="2996565"/>
              <a:ext cx="1320165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586627" y="312610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925842" y="312610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815965" y="346995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815965" y="3474720"/>
              <a:ext cx="5842635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922645" y="3613785"/>
              <a:ext cx="5983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β₁(x)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194899" y="361378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343614" y="361378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586627" y="361378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0328910" y="3484245"/>
              <a:ext cx="1320165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0925842" y="361378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815965" y="1524000"/>
              <a:ext cx="5842635" cy="24384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678930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7827645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8976360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10314622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810250" y="4038124"/>
              <a:ext cx="5160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即 αᵢ(xⱼ) = δᵢⱼ，αᵢ′(xⱼ) = 0；βᵢ(xⱼ) = 0，βᵢ′(xⱼ) = δᵢⱼ（i, j = 0, 1）</a:t>
              </a:r>
            </a:p>
          </p:txBody>
        </p:sp>
      </p:grpSp>
      <p:grpSp>
        <p:nvGrpSpPr>
          <p:cNvPr id="76" name="c2-callout-2"/>
          <p:cNvGrpSpPr/>
          <p:nvPr/>
        </p:nvGrpSpPr>
        <p:grpSpPr>
          <a:xfrm>
            <a:off x="5815965" y="4404360"/>
            <a:ext cx="5842635" cy="1195388"/>
            <a:chOff x="5815965" y="4404360"/>
            <a:chExt cx="5842635" cy="1195388"/>
          </a:xfrm>
        </p:grpSpPr>
        <p:sp>
          <p:nvSpPr>
            <p:cNvPr id="71" name="Rectangle 71"/>
            <p:cNvSpPr/>
            <p:nvPr/>
          </p:nvSpPr>
          <p:spPr>
            <a:xfrm>
              <a:off x="5815965" y="4404360"/>
              <a:ext cx="5842635" cy="1195388"/>
            </a:xfrm>
            <a:prstGeom prst="roundRect">
              <a:avLst>
                <a:gd name="adj" fmla="val 9562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6020753" y="4902520"/>
              <a:ext cx="200023" cy="200023"/>
              <a:chOff x="6020753" y="4902520"/>
              <a:chExt cx="200023" cy="200023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6020753" y="490252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6154103" y="49691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6322695" y="4621530"/>
              <a:ext cx="49206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每个基函数只对一个条件取 1，其余三个条件取 0。代入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(5.4.2) 容易验证 H₃(x₀) = y₀、H₃′(x₀) = m₀ 等 4 个条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件都成立。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第5章 函数插值 · 三次埃尔米特插值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求基函数：由重根定形式，由剩下的条件定系数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5780" y="1548765"/>
            <a:ext cx="5244465" cy="883920"/>
            <a:chOff x="525780" y="1548765"/>
            <a:chExt cx="5244465" cy="88392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5244465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α₀ 在 x₁ 处函数值和导数值都为 0，x₁ 是二重根；β₀ 在 x₀ 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还有一个根。按零点设出形式（a, b, c, d, e, g 为待定系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数）：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88"/>
              <p:cNvSpPr txBox="1">
                <a:spLocks noGrp="1"/>
              </p:cNvSpPr>
              <p:nvPr/>
            </p:nvSpPr>
            <p:spPr>
              <a:xfrm>
                <a:off x="533400" y="2564130"/>
                <a:ext cx="5626418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baseJc m:val="center"/>
                        </m:eqArrPr>
                        <m:e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ax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cx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</m:e>
                          </m:d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  <m:e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β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β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eqArr>
                    </m:oMath>
                  </m:oMathPara>
                </a14:m>
              </a:p>
            </p:txBody>
          </p:sp>
        </mc:Choice>
      </mc:AlternateContent>
      <p:grpSp>
        <p:nvGrpSpPr>
          <p:cNvPr id="23" name="c1-steps-3"/>
          <p:cNvGrpSpPr/>
          <p:nvPr/>
        </p:nvGrpSpPr>
        <p:grpSpPr>
          <a:xfrm>
            <a:off x="533400" y="3259455"/>
            <a:ext cx="5416169" cy="2347246"/>
            <a:chOff x="533400" y="3259455"/>
            <a:chExt cx="5416169" cy="2347246"/>
          </a:xfrm>
        </p:grpSpPr>
        <p:sp>
          <p:nvSpPr>
            <p:cNvPr id="10" name="Rectangle 10"/>
            <p:cNvSpPr/>
            <p:nvPr/>
          </p:nvSpPr>
          <p:spPr>
            <a:xfrm>
              <a:off x="666750" y="3402330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533400" y="325945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27024" y="33332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391001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7024" y="3983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33400" y="479583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48696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4880" y="3293745"/>
              <a:ext cx="15872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 α₀ 为例列条件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023" y="3587591"/>
              <a:ext cx="20031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α₀(x₀) = 1，α₀′(x₀) = 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4880" y="394430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解出系数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023" y="4238149"/>
              <a:ext cx="488162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(x₀ − x₁)²(ax₀ + b) = 1；α₀′(x₀) = 2(x₀ − x₁)(ax₀ + b) + a(x₀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 x₁)² = 0，得 ax₀ + b = 1/(x₀ − x₁)²，a = −2/(x₀ − x₁)³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4880" y="483012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5123021"/>
              <a:ext cx="500354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ax + b = a(x − x₀) + (ax₀ + b)，代回即得右边 α₀ 的形式；其余三个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同理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formula189"/>
              <p:cNvSpPr txBox="1">
                <a:spLocks noGrp="1"/>
              </p:cNvSpPr>
              <p:nvPr/>
            </p:nvSpPr>
            <p:spPr>
              <a:xfrm>
                <a:off x="6464618" y="1524000"/>
                <a:ext cx="5193982" cy="5915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α</m:t>
                          </m:r>
                        </m:e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f>
                            <m:fPr>
                              <m:type m:val="bar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sSub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bar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formula190"/>
              <p:cNvSpPr txBox="1">
                <a:spLocks noGrp="1"/>
              </p:cNvSpPr>
              <p:nvPr/>
            </p:nvSpPr>
            <p:spPr>
              <a:xfrm>
                <a:off x="6464618" y="2306002"/>
                <a:ext cx="5193982" cy="5915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α</m:t>
                          </m:r>
                        </m:e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f>
                            <m:fPr>
                              <m:type m:val="bar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bar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formula191"/>
              <p:cNvSpPr txBox="1">
                <a:spLocks noGrp="1"/>
              </p:cNvSpPr>
              <p:nvPr/>
            </p:nvSpPr>
            <p:spPr>
              <a:xfrm>
                <a:off x="6464618" y="3088005"/>
                <a:ext cx="5193982" cy="5915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β</m:t>
                          </m:r>
                        </m:e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bar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formula192"/>
              <p:cNvSpPr txBox="1">
                <a:spLocks noGrp="1"/>
              </p:cNvSpPr>
              <p:nvPr/>
            </p:nvSpPr>
            <p:spPr>
              <a:xfrm>
                <a:off x="6464618" y="3870008"/>
                <a:ext cx="5193982" cy="5915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β</m:t>
                          </m:r>
                        </m:e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bar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p:grpSp>
        <p:nvGrpSpPr>
          <p:cNvPr id="34" name="c2-callout-5"/>
          <p:cNvGrpSpPr/>
          <p:nvPr/>
        </p:nvGrpSpPr>
        <p:grpSpPr>
          <a:xfrm>
            <a:off x="6464618" y="4652010"/>
            <a:ext cx="5193982" cy="1335405"/>
            <a:chOff x="6464618" y="4652010"/>
            <a:chExt cx="5193982" cy="1335405"/>
          </a:xfrm>
        </p:grpSpPr>
        <p:sp>
          <p:nvSpPr>
            <p:cNvPr id="28" name="Rectangle 28"/>
            <p:cNvSpPr/>
            <p:nvPr/>
          </p:nvSpPr>
          <p:spPr>
            <a:xfrm>
              <a:off x="6464618" y="4652010"/>
              <a:ext cx="5193982" cy="1335405"/>
            </a:xfrm>
            <a:prstGeom prst="roundRect">
              <a:avLst>
                <a:gd name="adj" fmla="val 85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669405" y="5219700"/>
              <a:ext cx="200026" cy="200025"/>
              <a:chOff x="6669405" y="5219700"/>
              <a:chExt cx="200026" cy="20002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6669405" y="521970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709144" y="526415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743859" y="537527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6971348" y="4800600"/>
              <a:ext cx="4263390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检验 α₀：x = x₀ 时两个因子都为 1；α₀′(x₀) =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2/(x₁ − x₀) + 2/(x₀ − x₁) = 0；x = x₁ 时第二个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因子及其导数都为 0。四个基函数代回 (5.4.2) 即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得 H₃(x)。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14311" cy="909257"/>
            <a:chOff x="520446" y="342900"/>
            <a:chExt cx="891431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第5章 函数插值 · 三次埃尔米特插值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1431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问题一解 2（差商法）：知道导数的节点在差商表里写两次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193982" cy="4583430"/>
            <a:chOff x="533400" y="1524000"/>
            <a:chExt cx="5193982" cy="45834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4583430"/>
            </a:xfrm>
            <a:prstGeom prst="roundRect">
              <a:avLst>
                <a:gd name="adj" fmla="val 29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31673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8457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重节点差商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225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构造差商表时引入重节点 z₀ = z₁ = x₀，z₂ = z₃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x₁。由导数定义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96"/>
                <p:cNvSpPr txBox="1">
                  <a:spLocks noGrp="1"/>
                </p:cNvSpPr>
                <p:nvPr/>
              </p:nvSpPr>
              <p:spPr>
                <a:xfrm>
                  <a:off x="781050" y="2707005"/>
                  <a:ext cx="4736782" cy="64960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lim</m:t>
                                </m:r>
                              </m:e>
                              <m:lim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z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→</m:t>
                                </m:r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z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</m:lim>
                            </m:limLow>
                          </m:fName>
                          <m:e>
                            <m:f>
                              <m:fPr>
                                <m:type m:val="bar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z</m:t>
                                        </m:r>
                                      </m:e>
                                      <m:sub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z</m:t>
                                        </m:r>
                                      </m:e>
                                      <m:sub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z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z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73430" y="3476625"/>
              <a:ext cx="36802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一般地，由差商与导数的关系 (5.3.6)：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197"/>
                <p:cNvSpPr txBox="1">
                  <a:spLocks noGrp="1"/>
                </p:cNvSpPr>
                <p:nvPr/>
              </p:nvSpPr>
              <p:spPr>
                <a:xfrm>
                  <a:off x="781050" y="3787140"/>
                  <a:ext cx="4736782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′′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TextBox 15"/>
            <p:cNvSpPr txBox="1"/>
            <p:nvPr/>
          </p:nvSpPr>
          <p:spPr>
            <a:xfrm>
              <a:off x="774573" y="4469606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知道哪个节点的导数值，就把哪个节点写成重节点。</a:t>
              </a:r>
            </a:p>
          </p:txBody>
        </p:sp>
      </p:grpSp>
      <p:grpSp>
        <p:nvGrpSpPr>
          <p:cNvPr id="51" name="c2-table-1"/>
          <p:cNvGrpSpPr/>
          <p:nvPr/>
        </p:nvGrpSpPr>
        <p:grpSpPr>
          <a:xfrm>
            <a:off x="6032182" y="1524000"/>
            <a:ext cx="5626418" cy="2924175"/>
            <a:chOff x="6032182" y="1524000"/>
            <a:chExt cx="5626418" cy="2924175"/>
          </a:xfrm>
        </p:grpSpPr>
        <p:sp>
          <p:nvSpPr>
            <p:cNvPr id="17" name="Rectangle 17"/>
            <p:cNvSpPr/>
            <p:nvPr/>
          </p:nvSpPr>
          <p:spPr>
            <a:xfrm>
              <a:off x="6032182" y="1524000"/>
              <a:ext cx="5626418" cy="675322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31972" y="177307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zₖ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88594" y="1659731"/>
              <a:ext cx="38846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f(zₖ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44231" y="177307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一阶差商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37726" y="177307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二阶差商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632173" y="177307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三阶差商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28426" y="2335054"/>
              <a:ext cx="619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z₀ = x₀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054215" y="2208848"/>
              <a:ext cx="65627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81578" y="233505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y₀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032182" y="264318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032182" y="2647950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228426" y="2783681"/>
              <a:ext cx="619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z₁ = x₀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81578" y="278368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y₀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729538" y="2657475"/>
              <a:ext cx="133159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893456" y="2783681"/>
              <a:ext cx="10037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f′(x₀) = m₀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032182" y="309276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28426" y="3345656"/>
              <a:ext cx="619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z₂ = x₁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81578" y="334565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83921" y="3345656"/>
              <a:ext cx="8228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f[z₁, z₂]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080182" y="3107055"/>
              <a:ext cx="1219200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300337" y="3232309"/>
              <a:ext cx="77698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f[z₀, z₁,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z₂]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032182" y="37680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032182" y="3772852"/>
              <a:ext cx="562641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228426" y="4020979"/>
              <a:ext cx="619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z₃ = x₁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281578" y="402097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893456" y="4020979"/>
              <a:ext cx="10037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f′(x₁) = m₁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300337" y="3907631"/>
              <a:ext cx="77698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f[z₁, z₂,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z₃]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0317480" y="3782378"/>
              <a:ext cx="1331595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594784" y="3907631"/>
              <a:ext cx="77698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f[z₀, z₁,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z₂, z₃]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032182" y="1524000"/>
              <a:ext cx="5626418" cy="29241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039928" y="1524000"/>
              <a:ext cx="9525" cy="2924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715250" y="1524000"/>
              <a:ext cx="9525" cy="2924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9065895" y="1524000"/>
              <a:ext cx="9525" cy="2924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10303192" y="1524000"/>
              <a:ext cx="9525" cy="2924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formula198"/>
              <p:cNvSpPr txBox="1">
                <a:spLocks noGrp="1"/>
              </p:cNvSpPr>
              <p:nvPr/>
            </p:nvSpPr>
            <p:spPr>
              <a:xfrm>
                <a:off x="6032182" y="4638675"/>
                <a:ext cx="5626418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baseJc m:val="center"/>
                        </m:eqArrPr>
                        <m:e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 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eqArr>
                    </m:oMath>
                  </m:oMathPara>
                </a14:m>
              </a:p>
            </p:txBody>
          </p:sp>
        </mc:Choice>
      </mc:AlternateContent>
      <p:grpSp>
        <p:nvGrpSpPr>
          <p:cNvPr id="59" name="c2-callout-3"/>
          <p:cNvGrpSpPr/>
          <p:nvPr/>
        </p:nvGrpSpPr>
        <p:grpSpPr>
          <a:xfrm>
            <a:off x="6032182" y="5324475"/>
            <a:ext cx="5626418" cy="782955"/>
            <a:chOff x="6032182" y="5324475"/>
            <a:chExt cx="5626418" cy="782955"/>
          </a:xfrm>
        </p:grpSpPr>
        <p:sp>
          <p:nvSpPr>
            <p:cNvPr id="53" name="Rectangle 53"/>
            <p:cNvSpPr/>
            <p:nvPr/>
          </p:nvSpPr>
          <p:spPr>
            <a:xfrm>
              <a:off x="6032182" y="5324475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236970" y="5615940"/>
              <a:ext cx="200026" cy="200025"/>
              <a:chOff x="6236970" y="5615940"/>
              <a:chExt cx="200026" cy="20002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236970" y="561594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276709" y="566039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311424" y="577151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538912" y="5473065"/>
              <a:ext cx="46158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满足 4 个条件的三次多项式唯一，两种解法得到同一个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H₃(x)，差商法的计算量小得多。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827" y="342900"/>
            <a:ext cx="11252730" cy="902684"/>
            <a:chOff x="520827" y="342900"/>
            <a:chExt cx="11252730" cy="902684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第5章 函数插值 · 三次埃尔米特插值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827" y="761524"/>
              <a:ext cx="11252730" cy="4840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例（补充）：对 f(x) = ln x 在 1、2 两点做三次 Hermite 插值，求 ln 1.5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table-1"/>
          <p:cNvGrpSpPr/>
          <p:nvPr/>
        </p:nvGrpSpPr>
        <p:grpSpPr>
          <a:xfrm>
            <a:off x="533400" y="1524000"/>
            <a:ext cx="5193982" cy="1346835"/>
            <a:chOff x="533400" y="1524000"/>
            <a:chExt cx="5193982" cy="13468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23952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031772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81502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6281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ln x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34142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52168" y="2108359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0.693147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556986"/>
              <a:ext cx="7185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y′ = 1/x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34142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89099" y="255698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1524000"/>
              <a:ext cx="5193982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422208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743325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0" name="c1-card-2"/>
          <p:cNvGrpSpPr/>
          <p:nvPr/>
        </p:nvGrpSpPr>
        <p:grpSpPr>
          <a:xfrm>
            <a:off x="533400" y="3061335"/>
            <a:ext cx="5193982" cy="2893695"/>
            <a:chOff x="533400" y="3061335"/>
            <a:chExt cx="5193982" cy="2893695"/>
          </a:xfrm>
        </p:grpSpPr>
        <p:sp>
          <p:nvSpPr>
            <p:cNvPr id="23" name="Rectangle 23"/>
            <p:cNvSpPr/>
            <p:nvPr/>
          </p:nvSpPr>
          <p:spPr>
            <a:xfrm>
              <a:off x="533400" y="3061335"/>
              <a:ext cx="5193982" cy="2893695"/>
            </a:xfrm>
            <a:prstGeom prst="roundRect">
              <a:avLst>
                <a:gd name="adj" fmla="val 46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3194685"/>
              <a:ext cx="47625" cy="26269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81050" y="3270885"/>
              <a:ext cx="109251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53151" y="3306604"/>
              <a:ext cx="9473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解 1 基函数法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3430" y="3648075"/>
              <a:ext cx="39681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1.5 时：α₀ = α₁ = 0.5，β₀ = 0.125，β₁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−0.125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201"/>
                <p:cNvSpPr txBox="1">
                  <a:spLocks noGrp="1"/>
                </p:cNvSpPr>
                <p:nvPr/>
              </p:nvSpPr>
              <p:spPr>
                <a:xfrm>
                  <a:off x="781050" y="4244340"/>
                  <a:ext cx="4736782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1.5</m:t>
                                </m:r>
                              </m:e>
                            </m:d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0.5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0.5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0.693147</m:t>
                            </m:r>
                          </m:e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 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0.125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0.125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0.5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0.409074</m:t>
                            </m:r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9" name="TextBox 29"/>
            <p:cNvSpPr txBox="1"/>
            <p:nvPr/>
          </p:nvSpPr>
          <p:spPr>
            <a:xfrm>
              <a:off x="774573" y="4855369"/>
              <a:ext cx="40525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例如 α₀(1.5) = (1 + 2 × 0.5)(−0.5/−1)² = 2 × 0.25 =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0.5。</a:t>
              </a:r>
            </a:p>
          </p:txBody>
        </p:sp>
      </p:grpSp>
      <p:grpSp>
        <p:nvGrpSpPr>
          <p:cNvPr id="66" name="c2-table-1"/>
          <p:cNvGrpSpPr/>
          <p:nvPr/>
        </p:nvGrpSpPr>
        <p:grpSpPr>
          <a:xfrm>
            <a:off x="6026467" y="1524000"/>
            <a:ext cx="5632133" cy="2539842"/>
            <a:chOff x="6026467" y="1524000"/>
            <a:chExt cx="5632133" cy="2539842"/>
          </a:xfrm>
        </p:grpSpPr>
        <p:sp>
          <p:nvSpPr>
            <p:cNvPr id="31" name="Rectangle 31"/>
            <p:cNvSpPr/>
            <p:nvPr/>
          </p:nvSpPr>
          <p:spPr>
            <a:xfrm>
              <a:off x="6032182" y="1524000"/>
              <a:ext cx="5626418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53854" y="16597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zₖ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41848" y="1659731"/>
              <a:ext cx="510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f(zₖ)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3751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一阶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60433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二阶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87020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三阶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03610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697028" y="1982152"/>
              <a:ext cx="1200150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243239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032182" y="24164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032182" y="2421255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03610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243239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916228" y="2430780"/>
              <a:ext cx="1200150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62439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032182" y="286607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03610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11536" y="300561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0.693147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130736" y="300561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0.693147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135428" y="2880360"/>
              <a:ext cx="1294448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350174" y="3005614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−0.306853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032182" y="331470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032182" y="3319462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03610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911536" y="3454241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0.693147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67667" y="345424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350174" y="3454241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−0.193147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0448925" y="3328988"/>
              <a:ext cx="1200150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663433" y="3454241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0.113706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032182" y="1524000"/>
              <a:ext cx="5626418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682740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7901940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9121140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10434638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026467" y="3843814"/>
              <a:ext cx="35320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解 2 差商表：−0.306853 = (0.693147 − 1)/(2 − 1)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7" name="formula202"/>
              <p:cNvSpPr txBox="1">
                <a:spLocks noGrp="1"/>
              </p:cNvSpPr>
              <p:nvPr/>
            </p:nvSpPr>
            <p:spPr>
              <a:xfrm>
                <a:off x="6032182" y="4210050"/>
                <a:ext cx="5626418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baseJc m:val="center"/>
                        </m:eqArrPr>
                        <m:e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1.5</m:t>
                              </m:r>
                            </m:e>
                          </m:d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0.5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0.306853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</m:t>
                          </m:r>
                          <m:s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5</m:t>
                              </m:r>
                            </m:e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 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0.113706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</m:t>
                          </m:r>
                          <m:s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5</m:t>
                              </m:r>
                            </m:e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×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0.5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0.409074</m:t>
                          </m:r>
                        </m:e>
                      </m:eqArr>
                    </m:oMath>
                  </m:oMathPara>
                </a14:m>
              </a:p>
            </p:txBody>
          </p:sp>
        </mc:Choice>
      </mc:AlternateContent>
      <p:grpSp>
        <p:nvGrpSpPr>
          <p:cNvPr id="74" name="c2-callout-3"/>
          <p:cNvGrpSpPr/>
          <p:nvPr/>
        </p:nvGrpSpPr>
        <p:grpSpPr>
          <a:xfrm>
            <a:off x="6032182" y="4895850"/>
            <a:ext cx="5626418" cy="1059180"/>
            <a:chOff x="6032182" y="4895850"/>
            <a:chExt cx="5626418" cy="1059180"/>
          </a:xfrm>
        </p:grpSpPr>
        <p:sp>
          <p:nvSpPr>
            <p:cNvPr id="68" name="Rectangle 68"/>
            <p:cNvSpPr/>
            <p:nvPr/>
          </p:nvSpPr>
          <p:spPr>
            <a:xfrm>
              <a:off x="6032182" y="4895850"/>
              <a:ext cx="5626418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6236970" y="5325428"/>
              <a:ext cx="200026" cy="200026"/>
              <a:chOff x="6236970" y="5325428"/>
              <a:chExt cx="200026" cy="200026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6236970" y="53254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336983" y="53921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325870" y="54254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6538912" y="5044440"/>
              <a:ext cx="46158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ln 1.5 = 0.405465，实际误差 −3.61×10⁻³。余项上界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max|f⁽⁴⁾|/4! × 0.5² × 0.5² = 6/24 × 0.0625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0.0156（f⁽⁴⁾(x) = −6/x⁴）。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539561" cy="909257"/>
            <a:chOff x="520446" y="342900"/>
            <a:chExt cx="10539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第5章 函数插值 · 三次埃尔米特插值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39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Hermite 插值余项：把节点按重数展开，与 Lagrange 余项同一形式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848802"/>
            <a:chOff x="533400" y="1524000"/>
            <a:chExt cx="5410200" cy="184880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848802"/>
            </a:xfrm>
            <a:prstGeom prst="roundRect">
              <a:avLst>
                <a:gd name="adj" fmla="val 72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8210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2146935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9212" y="1769269"/>
              <a:ext cx="20706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整齐的三次 Hermite 插值余项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207"/>
                <p:cNvSpPr txBox="1">
                  <a:spLocks noGrp="1"/>
                </p:cNvSpPr>
                <p:nvPr/>
              </p:nvSpPr>
              <p:spPr>
                <a:xfrm>
                  <a:off x="781050" y="2085975"/>
                  <a:ext cx="4953000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4</m:t>
                                    </m:r>
                                  </m:e>
                                </m:d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ξ</m:t>
                                </m:r>
                              </m:e>
                            </m:d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den>
                        </m:f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5.4.7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TextBox 12"/>
            <p:cNvSpPr txBox="1"/>
            <p:nvPr/>
          </p:nvSpPr>
          <p:spPr>
            <a:xfrm>
              <a:off x="773430" y="2643188"/>
              <a:ext cx="47015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ξ 介于 min(x, x₀, x₁) 与 max(x, x₀, x₁) 之间。证明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见习题 2。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563302"/>
            <a:ext cx="5410200" cy="2533650"/>
            <a:chOff x="533400" y="3563302"/>
            <a:chExt cx="5410200" cy="2533650"/>
          </a:xfrm>
        </p:grpSpPr>
        <p:sp>
          <p:nvSpPr>
            <p:cNvPr id="14" name="Rectangle 14"/>
            <p:cNvSpPr/>
            <p:nvPr/>
          </p:nvSpPr>
          <p:spPr>
            <a:xfrm>
              <a:off x="533400" y="3563302"/>
              <a:ext cx="5410200" cy="2533650"/>
            </a:xfrm>
            <a:prstGeom prst="roundRect">
              <a:avLst>
                <a:gd name="adj" fmla="val 5263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42950" y="377285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25259" y="380857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统一记法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4150042"/>
              <a:ext cx="4777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每个节点上给出从函数值开始连续的各阶导数值时，把节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点按重数依次写成 z₀, z₁, …（共 N 个，N 为条件总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数），则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formula208"/>
                <p:cNvSpPr txBox="1">
                  <a:spLocks noGrp="1"/>
                </p:cNvSpPr>
                <p:nvPr/>
              </p:nvSpPr>
              <p:spPr>
                <a:xfrm>
                  <a:off x="742950" y="5032058"/>
                  <a:ext cx="4991100" cy="5400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R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</m:d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ξ</m:t>
                                </m:r>
                              </m:e>
                            </m:d>
                          </m:num>
                          <m:den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den>
                        </m:f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⋯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9" name="TextBox 19"/>
            <p:cNvSpPr txBox="1"/>
            <p:nvPr/>
          </p:nvSpPr>
          <p:spPr>
            <a:xfrm>
              <a:off x="736473" y="5688806"/>
              <a:ext cx="26037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无重节点时就是 Lagrange 余项。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248400" y="1524000"/>
            <a:ext cx="5410200" cy="4572952"/>
            <a:chOff x="6248400" y="1524000"/>
            <a:chExt cx="5410200" cy="4572952"/>
          </a:xfrm>
        </p:grpSpPr>
        <p:sp>
          <p:nvSpPr>
            <p:cNvPr id="21" name="Rectangle 21"/>
            <p:cNvSpPr/>
            <p:nvPr/>
          </p:nvSpPr>
          <p:spPr>
            <a:xfrm>
              <a:off x="6248400" y="1524000"/>
              <a:ext cx="5410200" cy="4572952"/>
            </a:xfrm>
            <a:prstGeom prst="roundRect">
              <a:avLst>
                <a:gd name="adj" fmla="val 29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57925" y="1657350"/>
              <a:ext cx="47625" cy="43062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496050" y="173355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60655" y="176926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非整齐的插值余项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501765" y="217360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59880" y="2110740"/>
              <a:ext cx="4453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三个节点 x₀、x₁、x₂ 给出函数值，另在其中一个 xᵢ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给出导数值，共 4 个条件，构造 H₃(x)：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209"/>
                <p:cNvSpPr txBox="1">
                  <a:spLocks noGrp="1"/>
                </p:cNvSpPr>
                <p:nvPr/>
              </p:nvSpPr>
              <p:spPr>
                <a:xfrm>
                  <a:off x="6496050" y="2707005"/>
                  <a:ext cx="4953000" cy="5400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4</m:t>
                                    </m:r>
                                  </m:e>
                                </m:d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ξ</m:t>
                                </m:r>
                              </m:e>
                            </m:d>
                          </m:num>
                          <m:den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8" name="Ellipse 28"/>
            <p:cNvSpPr/>
            <p:nvPr/>
          </p:nvSpPr>
          <p:spPr>
            <a:xfrm>
              <a:off x="6501765" y="3429952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59880" y="3367088"/>
              <a:ext cx="4558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两个节点给出函数值，只在 x₁ 给出导数值，共 3 个条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件，构造 H₂(x)：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formula210"/>
                <p:cNvSpPr txBox="1">
                  <a:spLocks noGrp="1"/>
                </p:cNvSpPr>
                <p:nvPr/>
              </p:nvSpPr>
              <p:spPr>
                <a:xfrm>
                  <a:off x="6496050" y="3963352"/>
                  <a:ext cx="4953000" cy="5400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′′′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ξ</m:t>
                                </m:r>
                              </m:e>
                            </m:d>
                          </m:num>
                          <m:den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1" name="TextBox 31"/>
            <p:cNvSpPr txBox="1"/>
            <p:nvPr/>
          </p:nvSpPr>
          <p:spPr>
            <a:xfrm>
              <a:off x="6489573" y="4620101"/>
              <a:ext cx="46621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 的取值取决于给定的插值条件：哪个节点给了导数，哪个因子就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出现两次。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3" name="TextBox 3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928925" cy="909257"/>
            <a:chOff x="520446" y="342900"/>
            <a:chExt cx="992892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第5章 函数插值 · 三次埃尔米特插值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92892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问题二（非整齐）：已知 f(x₀)、f(x₁)、f′(x₁)，构造 H₂(x)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table-1"/>
          <p:cNvGrpSpPr/>
          <p:nvPr/>
        </p:nvGrpSpPr>
        <p:grpSpPr>
          <a:xfrm>
            <a:off x="533400" y="1524000"/>
            <a:ext cx="5410200" cy="1290638"/>
            <a:chOff x="533400" y="1524000"/>
            <a:chExt cx="5410200" cy="12906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3053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76961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22920" y="165544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931717" y="165544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961" y="20850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127362" y="208502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936160" y="208502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y₁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793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84108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330315" y="251555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y′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20005" y="2515552"/>
              <a:ext cx="2221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1524000"/>
              <a:ext cx="5410200" cy="12906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2321242" y="1524000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113848" y="1524000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1-table-2"/>
          <p:cNvGrpSpPr/>
          <p:nvPr/>
        </p:nvGrpSpPr>
        <p:grpSpPr>
          <a:xfrm>
            <a:off x="533400" y="2999422"/>
            <a:ext cx="5410200" cy="1720215"/>
            <a:chOff x="533400" y="2999422"/>
            <a:chExt cx="5410200" cy="1720215"/>
          </a:xfrm>
        </p:grpSpPr>
        <p:sp>
          <p:nvSpPr>
            <p:cNvPr id="22" name="Rectangle 22"/>
            <p:cNvSpPr/>
            <p:nvPr/>
          </p:nvSpPr>
          <p:spPr>
            <a:xfrm>
              <a:off x="533400" y="2999422"/>
              <a:ext cx="5410200" cy="43053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08370" y="313086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zₖ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68570" y="3130868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f(zₖ)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171254" y="313086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一阶差商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76216" y="313086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二阶差商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7546" y="3561398"/>
              <a:ext cx="5804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z₀ = x₀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691640" y="3439478"/>
              <a:ext cx="1033462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112950" y="356139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y₀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85572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3860482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17546" y="3990975"/>
              <a:ext cx="5804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z₁ = x₁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112950" y="399097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y₁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744152" y="3870008"/>
              <a:ext cx="1513522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114713" y="3990975"/>
              <a:ext cx="7714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f[x₀, x₁]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42852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17546" y="4421505"/>
              <a:ext cx="5804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z₂ = x₁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112950" y="442150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029902" y="4421505"/>
              <a:ext cx="941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f′(x₁) = m₁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276725" y="4299585"/>
              <a:ext cx="165735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562170" y="4421505"/>
              <a:ext cx="10864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f[x₀, x₁, x₁]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2999422"/>
              <a:ext cx="5410200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1677352" y="2999422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2729865" y="2999422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262438" y="2999422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formula215"/>
              <p:cNvSpPr txBox="1">
                <a:spLocks noGrp="1"/>
              </p:cNvSpPr>
              <p:nvPr/>
            </p:nvSpPr>
            <p:spPr>
              <a:xfrm>
                <a:off x="533400" y="4905375"/>
                <a:ext cx="54102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formula216"/>
              <p:cNvSpPr txBox="1">
                <a:spLocks noGrp="1"/>
              </p:cNvSpPr>
              <p:nvPr/>
            </p:nvSpPr>
            <p:spPr>
              <a:xfrm>
                <a:off x="533400" y="5453062"/>
                <a:ext cx="5410200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′′′</m:t>
                              </m:r>
                            </m:sup>
                          </m:s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ξ</m:t>
                              </m:r>
                            </m:e>
                          </m:d>
                        </m:num>
                        <m:den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!</m:t>
                          </m:r>
                        </m:den>
                      </m:f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p:grpSp>
        <p:nvGrpSpPr>
          <p:cNvPr id="59" name="c2-card-1"/>
          <p:cNvGrpSpPr/>
          <p:nvPr/>
        </p:nvGrpSpPr>
        <p:grpSpPr>
          <a:xfrm>
            <a:off x="6248400" y="1524000"/>
            <a:ext cx="5410200" cy="2386965"/>
            <a:chOff x="6248400" y="1524000"/>
            <a:chExt cx="5410200" cy="2386965"/>
          </a:xfrm>
        </p:grpSpPr>
        <p:sp>
          <p:nvSpPr>
            <p:cNvPr id="49" name="Rectangle 49"/>
            <p:cNvSpPr/>
            <p:nvPr/>
          </p:nvSpPr>
          <p:spPr>
            <a:xfrm>
              <a:off x="6248400" y="1524000"/>
              <a:ext cx="5410200" cy="2386965"/>
            </a:xfrm>
            <a:prstGeom prst="roundRect">
              <a:avLst>
                <a:gd name="adj" fmla="val 55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57925" y="1657350"/>
              <a:ext cx="47625" cy="21202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90335" y="172783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85445" y="176355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948868" y="1767364"/>
              <a:ext cx="43815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ln x：f(1) = 0，f(2) = 0.693147，f′(2) = 0.5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497955" y="217932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654546" y="2119789"/>
              <a:ext cx="350405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f[1, 2] = 0.693147，f[1, 2, 2] = (0.5 −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0.693147)/(2 − 1) = −0.193147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497955" y="2770823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654546" y="2711291"/>
              <a:ext cx="387375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H₂(1.5) = 0.693147 × 0.5 − 0.193147 × 0.5 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(−0.5) = 0.394860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84239" y="3298507"/>
              <a:ext cx="47823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误差 0.0106，比同样两点上的三次 Hermite 插值（0.0036）大，因为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少了 x₀ 处的导数条件。</a:t>
              </a:r>
            </a:p>
          </p:txBody>
        </p:sp>
      </p:grpSp>
      <p:grpSp>
        <p:nvGrpSpPr>
          <p:cNvPr id="65" name="c2-card-2"/>
          <p:cNvGrpSpPr/>
          <p:nvPr/>
        </p:nvGrpSpPr>
        <p:grpSpPr>
          <a:xfrm>
            <a:off x="6248400" y="4096702"/>
            <a:ext cx="5410200" cy="1817370"/>
            <a:chOff x="6248400" y="4096702"/>
            <a:chExt cx="5410200" cy="1817370"/>
          </a:xfrm>
        </p:grpSpPr>
        <p:sp>
          <p:nvSpPr>
            <p:cNvPr id="60" name="Rectangle 60"/>
            <p:cNvSpPr/>
            <p:nvPr/>
          </p:nvSpPr>
          <p:spPr>
            <a:xfrm>
              <a:off x="6248400" y="4096702"/>
              <a:ext cx="5410200" cy="1817370"/>
            </a:xfrm>
            <a:prstGeom prst="roundRect">
              <a:avLst>
                <a:gd name="adj" fmla="val 73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257925" y="4230052"/>
              <a:ext cx="47625" cy="15506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490335" y="430053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80543" y="4336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83096" y="4673441"/>
              <a:ext cx="4775454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原课件问题二的文字条件写作 H′(x₀) = y₀′，表格却把导数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值给在 x₁ 处；它的“解 2”一页只是重复了问题一的差商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表。本页按表格（导数在 x₁）给出完整解法。若导数给在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x₀，就把 x₀ 写两次，做法相同。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469130" cy="2997517"/>
            <a:chOff x="667512" y="1835468"/>
            <a:chExt cx="446913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补充与练习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等距节点的差分公式、实验题和课后习题讲解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7412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5.5* 差分与等距节点插值公式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实验题：比较几种插值方法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830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习题 1–8 讲解与自测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97845" cy="909257"/>
            <a:chOff x="520446" y="342900"/>
            <a:chExt cx="859784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第5章 函数插值 · 补充与练习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9784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5.5* 等距节点：差商化为差分，得到 Newton 前插公式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1151680" cy="293370"/>
            <a:chOff x="525780" y="1548765"/>
            <a:chExt cx="1115168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1151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原课件目录列出 5.5 节（带 *，选学）但没有展开，这里补充要点。设节点等距 xₖ = x₀ + kh（h 为步长），记 fₖ = f(xₖ)。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1954530"/>
            <a:ext cx="5193982" cy="1456372"/>
            <a:chOff x="533400" y="1954530"/>
            <a:chExt cx="5193982" cy="1456372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193982" cy="1456372"/>
            </a:xfrm>
            <a:prstGeom prst="roundRect">
              <a:avLst>
                <a:gd name="adj" fmla="val 915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118967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75335" y="21583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5543" y="21940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76744" y="219789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向前差分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225"/>
                <p:cNvSpPr txBox="1">
                  <a:spLocks noGrp="1"/>
                </p:cNvSpPr>
                <p:nvPr/>
              </p:nvSpPr>
              <p:spPr>
                <a:xfrm>
                  <a:off x="775335" y="2526030"/>
                  <a:ext cx="4748212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Δ</m:t>
                        </m:r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Δ</m:t>
                            </m:r>
                          </m:e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sup>
                        </m:sSup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Δ</m:t>
                            </m:r>
                          </m:e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Δ</m:t>
                            </m:r>
                          </m:e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TextBox 15"/>
            <p:cNvSpPr txBox="1"/>
            <p:nvPr/>
          </p:nvSpPr>
          <p:spPr>
            <a:xfrm>
              <a:off x="769239" y="3019425"/>
              <a:ext cx="4777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一阶差分是相邻函数值之差，m 阶差分是对 m−1 阶差分再做差分。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3596640"/>
            <a:ext cx="5193982" cy="2508885"/>
            <a:chOff x="533400" y="3596640"/>
            <a:chExt cx="5193982" cy="2508885"/>
          </a:xfrm>
        </p:grpSpPr>
        <p:sp>
          <p:nvSpPr>
            <p:cNvPr id="17" name="Rectangle 17"/>
            <p:cNvSpPr/>
            <p:nvPr/>
          </p:nvSpPr>
          <p:spPr>
            <a:xfrm>
              <a:off x="533400" y="3596640"/>
              <a:ext cx="5193982" cy="2508885"/>
            </a:xfrm>
            <a:prstGeom prst="roundRect">
              <a:avLst>
                <a:gd name="adj" fmla="val 53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3729990"/>
              <a:ext cx="47625" cy="224218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75335" y="3800475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9940" y="383619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差商与差分的关系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formula226"/>
                <p:cNvSpPr txBox="1">
                  <a:spLocks noGrp="1"/>
                </p:cNvSpPr>
                <p:nvPr/>
              </p:nvSpPr>
              <p:spPr>
                <a:xfrm>
                  <a:off x="775335" y="4150042"/>
                  <a:ext cx="4748212" cy="5400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,…,</m:t>
                            </m:r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Δ</m:t>
                                </m:r>
                              </m:e>
                              <m:sup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sup>
                            </m:sSup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</m:num>
                          <m:den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p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</m:e>
                              <m:sup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2" name="Ellipse 22"/>
            <p:cNvSpPr/>
            <p:nvPr/>
          </p:nvSpPr>
          <p:spPr>
            <a:xfrm>
              <a:off x="782955" y="486537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39546" y="4805839"/>
              <a:ext cx="40403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= 1：f[xₖ, xₖ₊₁] = (fₖ₊₁ − fₖ)/h = Δfₖ/h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82955" y="518541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39546" y="5125879"/>
              <a:ext cx="338683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= 2：f[xₖ, xₖ₊₁, xₖ₊₂] = (Δfₖ₊₁/h −</a:t>
              </a:r>
              <a:br/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Δfₖ/h)/(2h) = Δ²fₖ/(2h²)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9239" y="5713095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一般情形用归纳法证明。</a:t>
              </a:r>
            </a:p>
          </p:txBody>
        </p:sp>
      </p:grpSp>
      <p:grpSp>
        <p:nvGrpSpPr>
          <p:cNvPr id="37" name="c2-steps-1"/>
          <p:cNvGrpSpPr/>
          <p:nvPr/>
        </p:nvGrpSpPr>
        <p:grpSpPr>
          <a:xfrm>
            <a:off x="6032182" y="1964055"/>
            <a:ext cx="5279136" cy="1390078"/>
            <a:chOff x="6032182" y="1964055"/>
            <a:chExt cx="5279136" cy="1390078"/>
          </a:xfrm>
        </p:grpSpPr>
        <p:sp>
          <p:nvSpPr>
            <p:cNvPr id="28" name="Rectangle 28"/>
            <p:cNvSpPr/>
            <p:nvPr/>
          </p:nvSpPr>
          <p:spPr>
            <a:xfrm>
              <a:off x="6165532" y="2106930"/>
              <a:ext cx="19050" cy="6210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6032182" y="196405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125806" y="2037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032182" y="258508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125806" y="26589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44044" y="199691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45186" y="2277428"/>
              <a:ext cx="26372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x = x₀ + th，则 x − xⱼ = (t − j)h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44044" y="2617946"/>
              <a:ext cx="16098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 Newton 公式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45186" y="2898457"/>
              <a:ext cx="48661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k 项 f[x₀, …, xₖ](x − x₀)⋯(x − xₖ₋₁) = Δᵏf₀/(k! hᵏ) · t(t − 1)⋯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(t − k + 1)hᵏ，hᵏ 约掉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6032182" y="3529965"/>
            <a:ext cx="5626418" cy="2574608"/>
            <a:chOff x="6032182" y="3529965"/>
            <a:chExt cx="5626418" cy="2574608"/>
          </a:xfrm>
        </p:grpSpPr>
        <p:sp>
          <p:nvSpPr>
            <p:cNvPr id="38" name="Rectangle 38"/>
            <p:cNvSpPr/>
            <p:nvPr/>
          </p:nvSpPr>
          <p:spPr>
            <a:xfrm>
              <a:off x="6032182" y="3529965"/>
              <a:ext cx="5626418" cy="2574608"/>
            </a:xfrm>
            <a:prstGeom prst="roundRect">
              <a:avLst>
                <a:gd name="adj" fmla="val 5179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36018" y="3733800"/>
              <a:ext cx="1345882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297586" y="3769519"/>
              <a:ext cx="12217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Newton 前插公式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formula227"/>
                <p:cNvSpPr txBox="1">
                  <a:spLocks noGrp="1"/>
                </p:cNvSpPr>
                <p:nvPr/>
              </p:nvSpPr>
              <p:spPr>
                <a:xfrm>
                  <a:off x="6236018" y="4083368"/>
                  <a:ext cx="5218748" cy="411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th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t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Δ</m:t>
                        </m:r>
                        <m:sSub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num>
                          <m:den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Δ</m:t>
                            </m:r>
                          </m:e>
                          <m:sup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sSub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+⋯+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⋯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num>
                          <m:den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Δ</m:t>
                            </m:r>
                          </m:e>
                          <m:sup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</m:sSup>
                        <m:sSub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formula228"/>
                <p:cNvSpPr txBox="1">
                  <a:spLocks noGrp="1"/>
                </p:cNvSpPr>
                <p:nvPr/>
              </p:nvSpPr>
              <p:spPr>
                <a:xfrm>
                  <a:off x="6236018" y="4587240"/>
                  <a:ext cx="5218748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th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⋯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</m:d>
                          </m:num>
                          <m:den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den>
                        </m:f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p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  <m:sup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sSup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ξ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3" name="TextBox 43"/>
            <p:cNvSpPr txBox="1"/>
            <p:nvPr/>
          </p:nvSpPr>
          <p:spPr>
            <a:xfrm>
              <a:off x="6229922" y="5188267"/>
              <a:ext cx="48813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系数只用到表头一行的各阶差分，适合计算表头附近（0 &lt; t &lt; 1）的函数</a:t>
              </a:r>
              <a:br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值。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28120" cy="909257"/>
            <a:chOff x="520446" y="342900"/>
            <a:chExt cx="852812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第5章 函数插值 · 补充与练习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2812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5.5* 例：由 eˣ 的等距函数表，用前插公式求 f(0.05)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5" name="c1-table-1"/>
          <p:cNvGrpSpPr/>
          <p:nvPr/>
        </p:nvGrpSpPr>
        <p:grpSpPr>
          <a:xfrm>
            <a:off x="527685" y="1524000"/>
            <a:ext cx="5415915" cy="3506628"/>
            <a:chOff x="527685" y="1524000"/>
            <a:chExt cx="5415915" cy="350662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3053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15951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78996" y="1655445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f(x)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004075" y="1655445"/>
              <a:ext cx="204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Δf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091489" y="1655445"/>
              <a:ext cx="2999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Δ²f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25916" y="1655445"/>
              <a:ext cx="2999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Δ³f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2659" y="2085022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413510" y="1964055"/>
              <a:ext cx="1115378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699031" y="208502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1.0000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548890" y="1964055"/>
              <a:ext cx="1115378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833459" y="208502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0.1052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683318" y="1964055"/>
              <a:ext cx="1115378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968839" y="208502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0.0110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818698" y="1964055"/>
              <a:ext cx="1115378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103266" y="208502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0.0013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3793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2384108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2659" y="2515552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99031" y="251555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1.1052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833459" y="251555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0.1162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68839" y="251555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0.0123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103266" y="251555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0.0011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28098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22659" y="2946082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699031" y="294608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1.2214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833459" y="294608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0.1285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968839" y="294608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0.0134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103266" y="294608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0.0016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2394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3244215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22659" y="337566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699031" y="337566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1.3499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833459" y="337566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0.1419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968839" y="337566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0.0150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36699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22659" y="380619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699031" y="380619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1.4918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833459" y="380619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0.1569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41005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33400" y="4105275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22659" y="4235768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699031" y="4235768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1.6487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1524000"/>
              <a:ext cx="5410200" cy="3010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1399222" y="152400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2534602" y="152400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3669030" y="152400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4804410" y="152400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27685" y="4610576"/>
              <a:ext cx="501827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数据取自习题 3（即 eˣ 的四位小数值），h = 0.1；每格 = 下一行左格 − 本行左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格，橙色为表头一行的各阶差分</a:t>
              </a:r>
            </a:p>
          </p:txBody>
        </p:sp>
      </p:grpSp>
      <p:grpSp>
        <p:nvGrpSpPr>
          <p:cNvPr id="62" name="c1-callout-2"/>
          <p:cNvGrpSpPr/>
          <p:nvPr/>
        </p:nvGrpSpPr>
        <p:grpSpPr>
          <a:xfrm>
            <a:off x="533400" y="5172075"/>
            <a:ext cx="5410200" cy="1018222"/>
            <a:chOff x="533400" y="5172075"/>
            <a:chExt cx="5410200" cy="1018222"/>
          </a:xfrm>
        </p:grpSpPr>
        <p:sp>
          <p:nvSpPr>
            <p:cNvPr id="56" name="Rectangle 56"/>
            <p:cNvSpPr/>
            <p:nvPr/>
          </p:nvSpPr>
          <p:spPr>
            <a:xfrm>
              <a:off x="533400" y="5172075"/>
              <a:ext cx="5410200" cy="1018222"/>
            </a:xfrm>
            <a:prstGeom prst="roundRect">
              <a:avLst>
                <a:gd name="adj" fmla="val 1122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26129" y="5577958"/>
              <a:ext cx="224134" cy="192560"/>
              <a:chOff x="726129" y="5577958"/>
              <a:chExt cx="224134" cy="19256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838200" y="564832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26129" y="557795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38200" y="57261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0511" y="5319236"/>
              <a:ext cx="443280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三阶差分 0.0013、0.0011、0.0016 忽大忽小：函数值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只有 4 位小数，舍入误差可达 5×10⁻⁵，三阶差分最多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放大 8 倍，已和差分本身同量级。</a:t>
              </a:r>
            </a:p>
          </p:txBody>
        </p:sp>
      </p:grpSp>
      <p:grpSp>
        <p:nvGrpSpPr>
          <p:cNvPr id="64" name="c2-text-1"/>
          <p:cNvGrpSpPr/>
          <p:nvPr/>
        </p:nvGrpSpPr>
        <p:grpSpPr>
          <a:xfrm>
            <a:off x="6241161" y="1547336"/>
            <a:ext cx="5100066" cy="558736"/>
            <a:chOff x="6241161" y="1547336"/>
            <a:chExt cx="5100066" cy="558736"/>
          </a:xfrm>
        </p:grpSpPr>
        <p:sp>
          <p:nvSpPr>
            <p:cNvPr id="63" name="TextBox 63"/>
            <p:cNvSpPr txBox="1"/>
            <p:nvPr/>
          </p:nvSpPr>
          <p:spPr>
            <a:xfrm>
              <a:off x="6241161" y="1547336"/>
              <a:ext cx="5100066" cy="558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0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 在表头附近，用前插公式。t = (0.05 − 0)/0.1 = 0.5，逐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项加入：</a:t>
              </a:r>
            </a:p>
          </p:txBody>
        </p:sp>
      </p:grpSp>
      <p:grpSp>
        <p:nvGrpSpPr>
          <p:cNvPr id="91" name="c2-table-2"/>
          <p:cNvGrpSpPr/>
          <p:nvPr/>
        </p:nvGrpSpPr>
        <p:grpSpPr>
          <a:xfrm>
            <a:off x="6242685" y="2236470"/>
            <a:ext cx="5415915" cy="2429351"/>
            <a:chOff x="6242685" y="2236470"/>
            <a:chExt cx="5415915" cy="2429351"/>
          </a:xfrm>
        </p:grpSpPr>
        <p:sp>
          <p:nvSpPr>
            <p:cNvPr id="65" name="Rectangle 65"/>
            <p:cNvSpPr/>
            <p:nvPr/>
          </p:nvSpPr>
          <p:spPr>
            <a:xfrm>
              <a:off x="6248400" y="2236470"/>
              <a:ext cx="5410200" cy="43053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405562" y="2366963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次数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812786" y="2366963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新增的项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759315" y="2366963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734103" y="2366963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实际误差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468534" y="279749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N₁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003352" y="2797492"/>
              <a:ext cx="12722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+ 0.5 × 0.1052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565462" y="2797492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1.052600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612945" y="2797492"/>
              <a:ext cx="900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−1.33×10⁻³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248400" y="30918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6248400" y="3096578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468534" y="322707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N₂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003352" y="3227070"/>
              <a:ext cx="18941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 × (−0.5)/2 × 0.0110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9395460" y="3106102"/>
              <a:ext cx="1062990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565462" y="3227070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1.051225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701795" y="3227070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4.6×10⁻⁵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248400" y="35213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468534" y="376428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N₃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003352" y="3657600"/>
              <a:ext cx="1917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 × (−0.5) × (−1.5)/6 ×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0.0013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565462" y="3764280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1.051306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657370" y="3764280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−3.5×10⁻⁵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6248400" y="2236470"/>
              <a:ext cx="5410200" cy="19335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6893242" y="2236470"/>
              <a:ext cx="9525" cy="1933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9381172" y="2236470"/>
              <a:ext cx="9525" cy="1933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10463212" y="2236470"/>
              <a:ext cx="9525" cy="1933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242685" y="4245769"/>
              <a:ext cx="496138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真值 exp(0.05) = 1.051271。加三次项改进很有限，再往高阶走舍入误差占主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导。</a:t>
              </a:r>
            </a:p>
          </p:txBody>
        </p:sp>
      </p:grpSp>
      <p:grpSp>
        <p:nvGrpSpPr>
          <p:cNvPr id="98" name="c2-callout-3"/>
          <p:cNvGrpSpPr/>
          <p:nvPr/>
        </p:nvGrpSpPr>
        <p:grpSpPr>
          <a:xfrm>
            <a:off x="6248400" y="4806315"/>
            <a:ext cx="5410200" cy="1383982"/>
            <a:chOff x="6248400" y="4806315"/>
            <a:chExt cx="5410200" cy="1383982"/>
          </a:xfrm>
        </p:grpSpPr>
        <p:sp>
          <p:nvSpPr>
            <p:cNvPr id="92" name="Rectangle 92"/>
            <p:cNvSpPr/>
            <p:nvPr/>
          </p:nvSpPr>
          <p:spPr>
            <a:xfrm>
              <a:off x="6248400" y="4806315"/>
              <a:ext cx="5410200" cy="1383982"/>
            </a:xfrm>
            <a:prstGeom prst="roundRect">
              <a:avLst>
                <a:gd name="adj" fmla="val 82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96" name="Group 96"/>
            <p:cNvGrpSpPr/>
            <p:nvPr/>
          </p:nvGrpSpPr>
          <p:grpSpPr>
            <a:xfrm>
              <a:off x="6453188" y="5398770"/>
              <a:ext cx="200026" cy="200026"/>
              <a:chOff x="6453188" y="5398770"/>
              <a:chExt cx="200026" cy="200026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6453188" y="539877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6553200" y="546544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6542088" y="549878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97" name="TextBox 97"/>
            <p:cNvSpPr txBox="1"/>
            <p:nvPr/>
          </p:nvSpPr>
          <p:spPr>
            <a:xfrm>
              <a:off x="6755511" y="5136356"/>
              <a:ext cx="4414774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若函数值精确，N₂ 的误差应落在余项 0.0625h³exp(ξ)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的范围 6.3×10⁻⁵ ~ 7.6×10⁻⁵ 内（实测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6.8×10⁻⁵）；表中数据的舍入使它变成 4.6×10⁻⁵。</a:t>
              </a:r>
            </a:p>
          </p:txBody>
        </p:sp>
      </p:grpSp>
      <p:grpSp>
        <p:nvGrpSpPr>
          <p:cNvPr id="10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9" name="TextBox 9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80759" cy="909257"/>
            <a:chOff x="520446" y="342900"/>
            <a:chExt cx="818075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第5章 函数插值 · 补充与练习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807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实验题：在 Octave 中用 interp1 比较几种插值方法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842635" cy="2966085"/>
            <a:chOff x="533400" y="1524000"/>
            <a:chExt cx="5842635" cy="29660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2966085"/>
            </a:xfrm>
            <a:prstGeom prst="roundRect">
              <a:avLst>
                <a:gd name="adj" fmla="val 321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42952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原题代码（Octave）：用 help interp1 查看用法，读懂程序并分析结果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4044506" cy="24799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 = -1;  b = 1;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h = (b-a)/100;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xf = [a:h:b];                  % 画图用的密集点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yf = 1./(1+25*xf.*xf);         % Runge 函数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xp = a+(b-a)*rand(1,11);       % 11 个随机节点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yp = 1./(1+25*xp.*xp);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lin  = interp1(xp, yp, xf);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near = interp1(xp, yp, xf,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"nearest"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pch  = interp1(xp, yp, xf,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"pchip"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spl  = interp1(xp, yp, xf,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"spline"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plot(xf,yf,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"r"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xf,near,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"g"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xf,lin,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"b"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...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xf,pch,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"c"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xf,spl,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"m"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xp,yp,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"r*"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legend(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"original"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"nearest"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"linear"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"pchip"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"spline"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4670108"/>
            <a:ext cx="5842635" cy="1568768"/>
            <a:chOff x="533400" y="4670108"/>
            <a:chExt cx="5842635" cy="1568768"/>
          </a:xfrm>
        </p:grpSpPr>
        <p:sp>
          <p:nvSpPr>
            <p:cNvPr id="11" name="Rectangle 11"/>
            <p:cNvSpPr/>
            <p:nvPr/>
          </p:nvSpPr>
          <p:spPr>
            <a:xfrm>
              <a:off x="533400" y="4670108"/>
              <a:ext cx="5842635" cy="1568768"/>
            </a:xfrm>
            <a:prstGeom prst="roundRect">
              <a:avLst>
                <a:gd name="adj" fmla="val 85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803458"/>
              <a:ext cx="47625" cy="130206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9620" y="4868228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5058" y="490251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与本章的联系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7240" y="5289232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3831" y="5228749"/>
              <a:ext cx="51539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pchip：分段三次 Hermite 插值（5.4 节），导数由数据估计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77240" y="560641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3831" y="5546884"/>
              <a:ext cx="502793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spline：节点参数要解线性方程组，给定端点导数时是三对角方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程组，可用第 2 章的追赶法</a:t>
              </a:r>
            </a:p>
          </p:txBody>
        </p:sp>
      </p:grpSp>
      <p:grpSp>
        <p:nvGrpSpPr>
          <p:cNvPr id="38" name="c2-table-1"/>
          <p:cNvGrpSpPr/>
          <p:nvPr/>
        </p:nvGrpSpPr>
        <p:grpSpPr>
          <a:xfrm>
            <a:off x="6680835" y="1524000"/>
            <a:ext cx="4977765" cy="2335530"/>
            <a:chOff x="6680835" y="1524000"/>
            <a:chExt cx="4977765" cy="2335530"/>
          </a:xfrm>
        </p:grpSpPr>
        <p:sp>
          <p:nvSpPr>
            <p:cNvPr id="20" name="Rectangle 20"/>
            <p:cNvSpPr/>
            <p:nvPr/>
          </p:nvSpPr>
          <p:spPr>
            <a:xfrm>
              <a:off x="6680835" y="1524000"/>
              <a:ext cx="4977765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025602" y="1652588"/>
              <a:ext cx="605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method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649778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83324" y="2076450"/>
              <a:ext cx="665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nearest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77772" y="207645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最近邻：取最近节点的值，分段常数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680835" y="236791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680835" y="2372678"/>
              <a:ext cx="497776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83324" y="2501265"/>
              <a:ext cx="4871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linear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077772" y="250126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分段线性插值（默认方法）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680835" y="279273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83324" y="3032760"/>
              <a:ext cx="4362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pchip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77772" y="2926080"/>
              <a:ext cx="32735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分段三次 Hermite 插值，节点导数由数据估计，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保持数据的单调性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680835" y="342995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680835" y="3434715"/>
              <a:ext cx="497776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83324" y="3563302"/>
              <a:ext cx="4871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spline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77772" y="3563302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三次样条插值，整条曲线二阶导数连续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680835" y="1524000"/>
              <a:ext cx="4977765" cy="233553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970520" y="1524000"/>
              <a:ext cx="9525" cy="2335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2-card-2"/>
          <p:cNvGrpSpPr/>
          <p:nvPr/>
        </p:nvGrpSpPr>
        <p:grpSpPr>
          <a:xfrm>
            <a:off x="6680835" y="4039552"/>
            <a:ext cx="4977765" cy="2199322"/>
            <a:chOff x="6680835" y="4039552"/>
            <a:chExt cx="4977765" cy="2199322"/>
          </a:xfrm>
        </p:grpSpPr>
        <p:sp>
          <p:nvSpPr>
            <p:cNvPr id="39" name="Rectangle 39"/>
            <p:cNvSpPr/>
            <p:nvPr/>
          </p:nvSpPr>
          <p:spPr>
            <a:xfrm>
              <a:off x="6680835" y="4039552"/>
              <a:ext cx="4977765" cy="2199322"/>
            </a:xfrm>
            <a:prstGeom prst="roundRect">
              <a:avLst>
                <a:gd name="adj" fmla="val 60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690360" y="4172902"/>
              <a:ext cx="47625" cy="193262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917055" y="4237672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000494" y="42719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观察要点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924675" y="4658678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081266" y="4598194"/>
              <a:ext cx="37994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节点由 rand 随机产生，每次运行的图都不同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924675" y="497586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081266" y="4916329"/>
              <a:ext cx="420738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四种方法都是分段低次插值，不会像 L₁₀ 那样在两端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剧烈振荡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924675" y="5565458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081266" y="5505926"/>
              <a:ext cx="419836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xp 改为 linspace(a, b, 11) 得到等距节点，再与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Runge 现象一页的 L₁₀ 对比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91429" cy="909257"/>
            <a:chOff x="520446" y="342900"/>
            <a:chExt cx="519142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第5章 函数插值 · 补充与练习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914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习题 1、2、7：三道证明题的思路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card-1"/>
          <p:cNvGrpSpPr/>
          <p:nvPr/>
        </p:nvGrpSpPr>
        <p:grpSpPr>
          <a:xfrm>
            <a:off x="533400" y="1524000"/>
            <a:ext cx="3505200" cy="4687252"/>
            <a:chOff x="533400" y="1524000"/>
            <a:chExt cx="3505200" cy="46872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4687252"/>
            </a:xfrm>
            <a:prstGeom prst="roundRect">
              <a:avLst>
                <a:gd name="adj" fmla="val 38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4205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793" y="176926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习题 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2646998" cy="5505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证明 Σ xᵢᵐ lᵢ(x) ≡ xᵐ（0 ≤ m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≤ n）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722245"/>
              <a:ext cx="2844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lᵢ(x) 是以互异节点 x₀, …, xₙ 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造的基函数。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1050" y="332994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2899" y="337223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82040" y="3343275"/>
              <a:ext cx="24441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f(x) = xᵐ，左边正是它的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次 Lagrange 插值多项式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1050" y="395097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2899" y="399326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82040" y="3964305"/>
              <a:ext cx="2491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余项含 f⁽ⁿ⁺¹⁾(ξ)，m ≤ n 时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f⁽ⁿ⁺¹⁾ ≡ 0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81050" y="457200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2899" y="461429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82040" y="4585335"/>
              <a:ext cx="26908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余项为 0，所以左边恒等于 xᵐ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4573" y="4917281"/>
              <a:ext cx="22876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 = 0 时就得到 Σ lᵢ(x) ≡ 1。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4343400" y="1524000"/>
            <a:ext cx="3505200" cy="4687252"/>
            <a:chOff x="4343400" y="1524000"/>
            <a:chExt cx="3505200" cy="4687252"/>
          </a:xfrm>
        </p:grpSpPr>
        <p:sp>
          <p:nvSpPr>
            <p:cNvPr id="24" name="Rectangle 24"/>
            <p:cNvSpPr/>
            <p:nvPr/>
          </p:nvSpPr>
          <p:spPr>
            <a:xfrm>
              <a:off x="4343400" y="1524000"/>
              <a:ext cx="3505200" cy="4687252"/>
            </a:xfrm>
            <a:prstGeom prst="roundRect">
              <a:avLst>
                <a:gd name="adj" fmla="val 38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352925" y="1657350"/>
              <a:ext cx="47625" cy="44205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91050" y="1733550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77793" y="176926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习题 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83430" y="2110740"/>
              <a:ext cx="25711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证明整齐三次 Hermite 余项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4591050" y="245173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652899" y="24940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892040" y="2465070"/>
              <a:ext cx="22726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 x ∈ (x₀, x₁)，令 K =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(f(x) − H₃(x)) / [(x −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x₀)²(x − x₁)²]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4591050" y="335851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652899" y="34008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892040" y="3371850"/>
              <a:ext cx="23583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φ(t) = f(t) − H₃(t) 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K(t − x₀)²(t − x₁)²，φ 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x₀、x、x₁ 为 0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4591050" y="426529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652899" y="43075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892040" y="4278630"/>
              <a:ext cx="25965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Rolle 定理 φ′ 在两个小区间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内各有一个零点，又 φ′(x₀)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φ′(x₁) = 0，共 4 个零点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4591050" y="517207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52899" y="521436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92040" y="5185410"/>
              <a:ext cx="2615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再用 3 次 Rolle 定理得</a:t>
              </a:r>
              <a:br/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φ⁽⁴⁾(ξ) = f⁽⁴⁾(ξ) − 4!·K = 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584573" y="5803106"/>
              <a:ext cx="29830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所以 K = f⁽⁴⁾(ξ)/4!，ξ ∈ (x₀, x₁)。</a:t>
              </a:r>
            </a:p>
          </p:txBody>
        </p:sp>
      </p:grpSp>
      <p:grpSp>
        <p:nvGrpSpPr>
          <p:cNvPr id="58" name="c3-card-1"/>
          <p:cNvGrpSpPr/>
          <p:nvPr/>
        </p:nvGrpSpPr>
        <p:grpSpPr>
          <a:xfrm>
            <a:off x="8153400" y="1524000"/>
            <a:ext cx="3505200" cy="4687252"/>
            <a:chOff x="8153400" y="1524000"/>
            <a:chExt cx="3505200" cy="4687252"/>
          </a:xfrm>
        </p:grpSpPr>
        <p:sp>
          <p:nvSpPr>
            <p:cNvPr id="43" name="Rectangle 43"/>
            <p:cNvSpPr/>
            <p:nvPr/>
          </p:nvSpPr>
          <p:spPr>
            <a:xfrm>
              <a:off x="8153400" y="1524000"/>
              <a:ext cx="3505200" cy="4687252"/>
            </a:xfrm>
            <a:prstGeom prst="roundRect">
              <a:avLst>
                <a:gd name="adj" fmla="val 38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162925" y="1657350"/>
              <a:ext cx="47625" cy="44205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8401050" y="1733550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487793" y="176926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习题 7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393430" y="2110740"/>
              <a:ext cx="2546033" cy="5505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f(a) = f(b) = 0 时 max|f| ≤</a:t>
              </a:r>
              <a:br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(b − a)² max|f″| / 8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8401050" y="270891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462899" y="275120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702040" y="2722245"/>
              <a:ext cx="26250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 a、b 为节点作线性插值，因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f(a) = f(b) = 0，得 L₁(x) 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8401050" y="361569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462899" y="365798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702040" y="3629025"/>
              <a:ext cx="2558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由余项公式 f(x) = f″(ξ)/2 ·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(x − a)(x − b)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8401050" y="423672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462899" y="427901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702040" y="4250055"/>
              <a:ext cx="2453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|(x − a)(x − b)| 在 x = (a +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b)/2 处最大，为 (b − a)²/4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394573" y="4867751"/>
              <a:ext cx="276834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于是 |f(x)| ≤ max|f″| · (b − a)²/8，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 x 取最大值即得结论。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66308" cy="909257"/>
            <a:chOff x="520446" y="342900"/>
            <a:chExt cx="636630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第5章 函数插值 · 补充与练习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663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习题 3、4：线性、二次与三次插值的计算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5410200" cy="4758690"/>
            <a:chOff x="533400" y="1524000"/>
            <a:chExt cx="5410200" cy="47586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758690"/>
            </a:xfrm>
            <a:prstGeom prst="roundRect">
              <a:avLst>
                <a:gd name="adj" fmla="val 280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4919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2078" y="1763554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习题 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3426" y="1767364"/>
              <a:ext cx="25564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f(x) 的函数表求 f(0.33)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07212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表：x = 0.0, 0.1, …, 0.5 时 f = 1.000, 1.1052,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1.2214, 1.3499, 1.4918, 1.6487（即 eˣ）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2955" y="2770823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9546" y="2711291"/>
              <a:ext cx="436968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线性：取 0.3、0.4，l₀ = 0.7，l₁ = 0.3，L₁(0.33)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1.3499 × 0.7 + 1.4918 × 0.3 = 1.39247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2955" y="336232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9546" y="3302794"/>
              <a:ext cx="447789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二次：比较 |ω₃(0.33)|，取 0.2、0.3、0.4 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2.73×10⁻⁴，取 0.3、0.4、0.5 为 3.57×10⁻⁴，选前者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2955" y="3953828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9546" y="3894296"/>
              <a:ext cx="40445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L₂(0.33) = 1.39106（取后一组为 1.39090）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9239" y="4210050"/>
              <a:ext cx="44788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真值 1.39097：线性误差 −1.5×10⁻³，二次误差 −9.5×10⁻⁵。</a:t>
              </a:r>
            </a:p>
          </p:txBody>
        </p:sp>
      </p:grpSp>
      <p:grpSp>
        <p:nvGrpSpPr>
          <p:cNvPr id="33" name="c2-card-1"/>
          <p:cNvGrpSpPr/>
          <p:nvPr/>
        </p:nvGrpSpPr>
        <p:grpSpPr>
          <a:xfrm>
            <a:off x="6248400" y="1524000"/>
            <a:ext cx="5410200" cy="3298508"/>
            <a:chOff x="6248400" y="1524000"/>
            <a:chExt cx="5410200" cy="3298508"/>
          </a:xfrm>
        </p:grpSpPr>
        <p:sp>
          <p:nvSpPr>
            <p:cNvPr id="21" name="Rectangle 21"/>
            <p:cNvSpPr/>
            <p:nvPr/>
          </p:nvSpPr>
          <p:spPr>
            <a:xfrm>
              <a:off x="6248400" y="1524000"/>
              <a:ext cx="5410200" cy="3298508"/>
            </a:xfrm>
            <a:prstGeom prst="roundRect">
              <a:avLst>
                <a:gd name="adj" fmla="val 40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57925" y="1657350"/>
              <a:ext cx="47625" cy="303180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490335" y="1727835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77078" y="1763554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习题 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83096" y="2100739"/>
              <a:ext cx="47227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 = (4x − 7)/(x − 2)，节点 1.7, 1.8, 1.9, 2.1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497955" y="249936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54546" y="2439829"/>
              <a:ext cx="437870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节点值：f(1.7) = 2/3，f(1.8) = −1，f(1.9) = −6，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f(2.1) = 14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497955" y="3090862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54546" y="3031331"/>
              <a:ext cx="456806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用 1.7、1.8、1.9 作二次插值：P₂(1.75) = 0.25，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真值 f(1.75) = 0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497955" y="368236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54546" y="3622834"/>
              <a:ext cx="399097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 加上 2.1，新增差商 100、500、1666.67，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P₃(1.75) = 0.875，P₃(2.00) = −13/3 ≈ −4.333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84239" y="4210050"/>
              <a:ext cx="46756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 = 2 是 f 的极点，f(2) 不存在，区间内 f 的导数无界，定理 5.1 的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条件不满足：P₃(2.00) 没有意义，1.75 处加节点后误差反而变大。</a:t>
              </a:r>
            </a:p>
          </p:txBody>
        </p:sp>
      </p:grpSp>
      <p:grpSp>
        <p:nvGrpSpPr>
          <p:cNvPr id="39" name="c2-card-2"/>
          <p:cNvGrpSpPr/>
          <p:nvPr/>
        </p:nvGrpSpPr>
        <p:grpSpPr>
          <a:xfrm>
            <a:off x="6248400" y="5008245"/>
            <a:ext cx="5410200" cy="1274445"/>
            <a:chOff x="6248400" y="5008245"/>
            <a:chExt cx="5410200" cy="1274445"/>
          </a:xfrm>
        </p:grpSpPr>
        <p:sp>
          <p:nvSpPr>
            <p:cNvPr id="34" name="Rectangle 34"/>
            <p:cNvSpPr/>
            <p:nvPr/>
          </p:nvSpPr>
          <p:spPr>
            <a:xfrm>
              <a:off x="6248400" y="5008245"/>
              <a:ext cx="5410200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57925" y="5141595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90335" y="521208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80543" y="524779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83096" y="5584984"/>
              <a:ext cx="453199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原题节点写作 x₄ = 2.1，第 (2) 问用的是 x₀、x₁、x₂、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x₃，应为 x₃ = 2.1。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318735" cy="909257"/>
            <a:chOff x="520446" y="342900"/>
            <a:chExt cx="931873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第5章 函数插值 · 补充与练习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31873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习题 5：差商表与两点、三点、四点 Newton 插值求 sin 1.0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8" name="c1-table-1"/>
          <p:cNvGrpSpPr/>
          <p:nvPr/>
        </p:nvGrpSpPr>
        <p:grpSpPr>
          <a:xfrm>
            <a:off x="527685" y="1524000"/>
            <a:ext cx="6065520" cy="3909536"/>
            <a:chOff x="527685" y="1524000"/>
            <a:chExt cx="6065520" cy="390953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8768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86573" y="166306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09333" y="1663065"/>
              <a:ext cx="492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sin x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767012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一阶差商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099560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二阶差商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487352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三阶差商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9958" y="2150745"/>
              <a:ext cx="365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381125" y="2021205"/>
              <a:ext cx="1148715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614678" y="2150745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0.6442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9459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99360"/>
              <a:ext cx="6059805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9958" y="2638425"/>
              <a:ext cx="365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381125" y="2508885"/>
              <a:ext cx="1148715" cy="468630"/>
            </a:xfrm>
            <a:prstGeom prst="rect">
              <a:avLst/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614678" y="2638425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0.7833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548890" y="2508885"/>
              <a:ext cx="1259205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837688" y="2638425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0.6955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298227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9958" y="3126105"/>
              <a:ext cx="365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14678" y="3126105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0.8912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548890" y="2996565"/>
              <a:ext cx="1259205" cy="468630"/>
            </a:xfrm>
            <a:prstGeom prst="rect">
              <a:avLst/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837688" y="3126105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0.5395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826192" y="2996565"/>
              <a:ext cx="1368742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059174" y="3126105"/>
              <a:ext cx="9037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−0.39000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46995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3474720"/>
              <a:ext cx="6059805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9958" y="3613785"/>
              <a:ext cx="365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614678" y="3613785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0.9636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837688" y="3613785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0.3620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826192" y="3484245"/>
              <a:ext cx="1368742" cy="468630"/>
            </a:xfrm>
            <a:prstGeom prst="rect">
              <a:avLst/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059174" y="3613785"/>
              <a:ext cx="9037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−0.44375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213985" y="3484245"/>
              <a:ext cx="1368742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446966" y="3613785"/>
              <a:ext cx="9037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−0.08958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39576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9958" y="4101465"/>
              <a:ext cx="365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614678" y="4101465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0.9975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837688" y="4101465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0.1695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059174" y="4101465"/>
              <a:ext cx="9037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−0.48125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446966" y="4101465"/>
              <a:ext cx="9037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−0.06250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444531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33400" y="4450080"/>
              <a:ext cx="6059805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69958" y="4589145"/>
              <a:ext cx="365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1.7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614678" y="4589145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0.9917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782157" y="4589145"/>
              <a:ext cx="7926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−0.0290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059174" y="4589145"/>
              <a:ext cx="9037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−0.49625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446966" y="4589145"/>
              <a:ext cx="9037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−0.02500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1524000"/>
              <a:ext cx="6059805" cy="34137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1366838" y="1524000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2534602" y="1524000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3811905" y="1524000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199698" y="1524000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27685" y="5013484"/>
              <a:ext cx="57721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橙色：从 0.7 开始的对角线（四点公式系数）；蓝色：从 0.9 开始的对角线（两点、三点公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式系数）</a:t>
              </a:r>
            </a:p>
          </p:txBody>
        </p:sp>
      </p:grpSp>
      <p:grpSp>
        <p:nvGrpSpPr>
          <p:cNvPr id="76" name="c2-steps-1"/>
          <p:cNvGrpSpPr/>
          <p:nvPr/>
        </p:nvGrpSpPr>
        <p:grpSpPr>
          <a:xfrm>
            <a:off x="6898005" y="1533525"/>
            <a:ext cx="4167058" cy="3233071"/>
            <a:chOff x="6898005" y="1533525"/>
            <a:chExt cx="4167058" cy="3233071"/>
          </a:xfrm>
        </p:grpSpPr>
        <p:sp>
          <p:nvSpPr>
            <p:cNvPr id="59" name="Rectangle 59"/>
            <p:cNvSpPr/>
            <p:nvPr/>
          </p:nvSpPr>
          <p:spPr>
            <a:xfrm>
              <a:off x="7031355" y="1676400"/>
              <a:ext cx="19050" cy="24222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6898005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99162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898005" y="218408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991629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898005" y="306990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991629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898005" y="395573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991629" y="40295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309485" y="1567815"/>
              <a:ext cx="17245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两点（0.9、1.1）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310628" y="1861661"/>
              <a:ext cx="37544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N₁(1.0) = 0.7833 + 0.5395 × 0.1 = 0.83725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309485" y="2218372"/>
              <a:ext cx="22763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三点（0.9、1.1、1.3）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310628" y="2512219"/>
              <a:ext cx="36542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N₂(1.0) = 0.83725 + (−0.44375)(0.1)(−0.1)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0.84169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309485" y="3104198"/>
              <a:ext cx="17664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四点（0.7 ~ 1.3）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310628" y="3397091"/>
              <a:ext cx="367868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N₃(1.0) = 0.6442 + 0.6955 × 0.3 − 0.39 × 0.3 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0.1 − 0.08958 × 0.3 × 0.1 × (−0.1) = 0.84142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309485" y="399002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310628" y="4282916"/>
              <a:ext cx="359740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sin 1.0 = 0.84147，三者误差依次为 4.2×10⁻³、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−2.2×10⁻⁴、5.2×10⁻⁵</a:t>
              </a:r>
            </a:p>
          </p:txBody>
        </p:sp>
      </p:grpSp>
      <p:grpSp>
        <p:nvGrpSpPr>
          <p:cNvPr id="83" name="c2-callout-2"/>
          <p:cNvGrpSpPr/>
          <p:nvPr/>
        </p:nvGrpSpPr>
        <p:grpSpPr>
          <a:xfrm>
            <a:off x="6898005" y="4945380"/>
            <a:ext cx="4760595" cy="1059180"/>
            <a:chOff x="6898005" y="4945380"/>
            <a:chExt cx="4760595" cy="1059180"/>
          </a:xfrm>
        </p:grpSpPr>
        <p:sp>
          <p:nvSpPr>
            <p:cNvPr id="77" name="Rectangle 77"/>
            <p:cNvSpPr/>
            <p:nvPr/>
          </p:nvSpPr>
          <p:spPr>
            <a:xfrm>
              <a:off x="6898005" y="4945380"/>
              <a:ext cx="4760595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7102793" y="5374958"/>
              <a:ext cx="200026" cy="200025"/>
              <a:chOff x="7102793" y="5374958"/>
              <a:chExt cx="200026" cy="200025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7102793" y="53749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7142531" y="54194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7177247" y="55305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7404735" y="5093970"/>
              <a:ext cx="37490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三点取 0.7、0.9、1.1 时 |ω₃(1.0)| 相同，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结果 0.84115；四点取 0.9 ~ 1.5 时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|ω₄(1.0)| 更大，结果 0.84150。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65091" cy="909257"/>
            <a:chOff x="520446" y="342900"/>
            <a:chExt cx="796509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第5章 函数插值 · 补充与练习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6509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习题 6、8：用重节点差商表求 Hermite 插值多项式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9" name="c1-card-1"/>
          <p:cNvGrpSpPr/>
          <p:nvPr/>
        </p:nvGrpSpPr>
        <p:grpSpPr>
          <a:xfrm>
            <a:off x="533400" y="1524000"/>
            <a:ext cx="5735002" cy="4743450"/>
            <a:chOff x="533400" y="1524000"/>
            <a:chExt cx="5735002" cy="47434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735002" cy="4743450"/>
            </a:xfrm>
            <a:prstGeom prst="roundRect">
              <a:avLst>
                <a:gd name="adj" fmla="val 28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4767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59531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1322" y="1750695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习题 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9864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f(0) = 1，f′(0) = −3，f″(0) = 0，f(1) = 4，f′(1) = 16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392680"/>
              <a:ext cx="484860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关系：f[x, x] = f′(x)，f[x, x, x] = f″(x)/2!。节点写成 0,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0, 0, 1, 1：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3905" y="2929890"/>
              <a:ext cx="5312092" cy="40576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89939" y="30541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z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40509" y="30541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84806" y="30541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37306" y="30541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二阶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89806" y="30541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443258" y="30541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89939" y="34599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524000" y="3345180"/>
              <a:ext cx="731520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842582" y="34599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3905" y="3736658"/>
              <a:ext cx="531209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63905" y="3741420"/>
              <a:ext cx="531209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89939" y="38657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42582" y="38657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274570" y="3750945"/>
              <a:ext cx="933450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652654" y="386572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63905" y="4142422"/>
              <a:ext cx="531209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89939" y="42714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42582" y="42714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652654" y="427148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227070" y="4156710"/>
              <a:ext cx="933450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646617" y="42714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63905" y="4548188"/>
              <a:ext cx="531209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63905" y="4552950"/>
              <a:ext cx="531209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89939" y="46772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842582" y="46772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694117" y="46772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646617" y="46772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179570" y="4562475"/>
              <a:ext cx="933450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599117" y="46772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63905" y="4953952"/>
              <a:ext cx="531209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89939" y="50830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842582" y="50830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652654" y="508301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605154" y="508301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599117" y="50830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133022" y="4968240"/>
              <a:ext cx="933450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552570" y="50830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63905" y="2929890"/>
              <a:ext cx="5312092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1509712" y="292989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2260282" y="292989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3212782" y="292989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4165282" y="292989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118735" y="292989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" name="formula237"/>
                <p:cNvSpPr txBox="1">
                  <a:spLocks noGrp="1"/>
                </p:cNvSpPr>
                <p:nvPr/>
              </p:nvSpPr>
              <p:spPr>
                <a:xfrm>
                  <a:off x="763905" y="5451158"/>
                  <a:ext cx="5312092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3x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s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6</m:t>
                        </m:r>
                        <m:s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5</m:t>
                        </m:r>
                        <m:s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3x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58" name="TextBox 58"/>
            <p:cNvSpPr txBox="1"/>
            <p:nvPr/>
          </p:nvSpPr>
          <p:spPr>
            <a:xfrm>
              <a:off x="758190" y="5899309"/>
              <a:ext cx="39429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验证：H(1) = 4，H′(1) = 4 + 15 − 3 = 16，H″(0) = 0。</a:t>
              </a:r>
            </a:p>
          </p:txBody>
        </p:sp>
      </p:grpSp>
      <p:grpSp>
        <p:nvGrpSpPr>
          <p:cNvPr id="102" name="c2-card-1"/>
          <p:cNvGrpSpPr/>
          <p:nvPr/>
        </p:nvGrpSpPr>
        <p:grpSpPr>
          <a:xfrm>
            <a:off x="6573202" y="1524000"/>
            <a:ext cx="5085398" cy="4743450"/>
            <a:chOff x="6573202" y="1524000"/>
            <a:chExt cx="5085398" cy="4743450"/>
          </a:xfrm>
        </p:grpSpPr>
        <p:sp>
          <p:nvSpPr>
            <p:cNvPr id="60" name="Rectangle 60"/>
            <p:cNvSpPr/>
            <p:nvPr/>
          </p:nvSpPr>
          <p:spPr>
            <a:xfrm>
              <a:off x="6573202" y="1524000"/>
              <a:ext cx="5085398" cy="4743450"/>
            </a:xfrm>
            <a:prstGeom prst="roundRect">
              <a:avLst>
                <a:gd name="adj" fmla="val 28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582728" y="1657350"/>
              <a:ext cx="47625" cy="44767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803708" y="1716405"/>
              <a:ext cx="59531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891125" y="1750695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习题 8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796849" y="2072640"/>
              <a:ext cx="41654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f(0) = 1，f′(0) = 0.5，f(1) = 2，f′(1) = 0.5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796849" y="2392680"/>
              <a:ext cx="18401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节点写成 0, 0, 1, 1：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803708" y="2672715"/>
              <a:ext cx="4662488" cy="40576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155459" y="27970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z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957464" y="27970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754148" y="27970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一阶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780943" y="27970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二阶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807738" y="27970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三阶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155459" y="32027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7615238" y="3088005"/>
              <a:ext cx="78295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959537" y="32027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803708" y="3479482"/>
              <a:ext cx="466248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6803708" y="3484245"/>
              <a:ext cx="466248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155459" y="36085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959537" y="360854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8417242" y="3493770"/>
              <a:ext cx="985838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780534" y="360854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803708" y="3885248"/>
              <a:ext cx="466248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155459" y="40143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959537" y="401431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863460" y="401431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9422130" y="3899535"/>
              <a:ext cx="1029652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9807329" y="401431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6803708" y="4291012"/>
              <a:ext cx="466248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6803708" y="4295775"/>
              <a:ext cx="466248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7155459" y="44200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959537" y="442007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8780534" y="442007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765866" y="442007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−0.5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10470832" y="4305300"/>
              <a:ext cx="985838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10875587" y="442007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6803708" y="2672715"/>
              <a:ext cx="4662488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6" name="Rectangle 96"/>
            <p:cNvSpPr/>
            <p:nvPr/>
          </p:nvSpPr>
          <p:spPr>
            <a:xfrm>
              <a:off x="7600950" y="267271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8402955" y="267271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8" name="Rectangle 98"/>
            <p:cNvSpPr/>
            <p:nvPr/>
          </p:nvSpPr>
          <p:spPr>
            <a:xfrm>
              <a:off x="9407842" y="267271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9" name="Rectangle 99"/>
            <p:cNvSpPr/>
            <p:nvPr/>
          </p:nvSpPr>
          <p:spPr>
            <a:xfrm>
              <a:off x="10456545" y="267271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0" name="formula238"/>
                <p:cNvSpPr txBox="1">
                  <a:spLocks noGrp="1"/>
                </p:cNvSpPr>
                <p:nvPr/>
              </p:nvSpPr>
              <p:spPr>
                <a:xfrm>
                  <a:off x="6803708" y="4788218"/>
                  <a:ext cx="4662488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0.5x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0.5</m:t>
                        </m:r>
                        <m:sSup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p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sSup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1.5</m:t>
                        </m:r>
                        <m:sSup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0.5x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01" name="TextBox 101"/>
            <p:cNvSpPr txBox="1"/>
            <p:nvPr/>
          </p:nvSpPr>
          <p:spPr>
            <a:xfrm>
              <a:off x="6797992" y="5198269"/>
              <a:ext cx="47477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验证：H′(x) = −3x² + 3x + 0.5，H′(0) = H′(1) = 0.5，H(1) = 2。</a:t>
              </a:r>
            </a:p>
          </p:txBody>
        </p:sp>
      </p:grpSp>
      <p:grpSp>
        <p:nvGrpSpPr>
          <p:cNvPr id="10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3" name="TextBox 10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142744" cy="909257"/>
            <a:chOff x="520446" y="342900"/>
            <a:chExt cx="21427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第5章 函数插值 · 补充与练习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680335"/>
            <a:chOff x="533400" y="1524000"/>
            <a:chExt cx="3505200" cy="26803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680335"/>
            </a:xfrm>
            <a:prstGeom prst="roundRect">
              <a:avLst>
                <a:gd name="adj" fmla="val 497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9996" y="2100739"/>
              <a:ext cx="28999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插值多项式的次数越高，结果越准确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吗？节点很多时怎么办？（原课件思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考题）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9996" y="2963704"/>
              <a:ext cx="2963037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不一定，等距节点上的高次插值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会出现 Runge 现象。节点多时用分段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低次插值，每段只用离 x 最近的几个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4390072"/>
            <a:ext cx="3505200" cy="1865948"/>
            <a:chOff x="533400" y="4390072"/>
            <a:chExt cx="3505200" cy="1865948"/>
          </a:xfrm>
        </p:grpSpPr>
        <p:sp>
          <p:nvSpPr>
            <p:cNvPr id="13" name="Rectangle 13"/>
            <p:cNvSpPr/>
            <p:nvPr/>
          </p:nvSpPr>
          <p:spPr>
            <a:xfrm>
              <a:off x="533400" y="4390072"/>
              <a:ext cx="3505200" cy="1865948"/>
            </a:xfrm>
            <a:prstGeom prst="roundRect">
              <a:avLst>
                <a:gd name="adj" fmla="val 714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37235" y="4593908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4722" y="4629626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9996" y="4966811"/>
              <a:ext cx="281290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x₀ = 0、x₁ = 1 对 eˣ 作线性插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值，[0, 1] 上的误差不超过多少？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9996" y="5558314"/>
              <a:ext cx="277368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|R₁| ≤ max|f″|/2 × max|x(x 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1)| = e/2 × 1/4 = e/8 ≈ 0.340。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2137410"/>
            <a:chOff x="4343400" y="1524000"/>
            <a:chExt cx="3505200" cy="2137410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2137410"/>
            </a:xfrm>
            <a:prstGeom prst="roundRect">
              <a:avLst>
                <a:gd name="adj" fmla="val 62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4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3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39996" y="2100739"/>
              <a:ext cx="276286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 Newton 插值和 Lagrange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插值的余项相同？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39996" y="2692241"/>
              <a:ext cx="297205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满足同样 n+1 个条件的 n 次多项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式唯一，Nₙ(x) 与 Lₙ(x) 是同一个多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项式，只是写法不同。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847148"/>
            <a:ext cx="3505200" cy="2408872"/>
            <a:chOff x="4343400" y="3847148"/>
            <a:chExt cx="3505200" cy="2408872"/>
          </a:xfrm>
        </p:grpSpPr>
        <p:sp>
          <p:nvSpPr>
            <p:cNvPr id="25" name="Rectangle 25"/>
            <p:cNvSpPr/>
            <p:nvPr/>
          </p:nvSpPr>
          <p:spPr>
            <a:xfrm>
              <a:off x="4343400" y="3847148"/>
              <a:ext cx="3505200" cy="2408872"/>
            </a:xfrm>
            <a:prstGeom prst="roundRect">
              <a:avLst>
                <a:gd name="adj" fmla="val 553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47235" y="4050982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34722" y="4086701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39996" y="4423886"/>
              <a:ext cx="287963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 f(0)、f(1)、f′(1)、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f″(1)，差商表中节点怎样写？多项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式最高几次？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39996" y="5286851"/>
              <a:ext cx="28999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写成 0, 1, 1, 1，f[1,1]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f′(1)，f[1,1,1] = f″(1)/2；4 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条件，次数不超过 3。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2137410"/>
            <a:chOff x="8153400" y="1524000"/>
            <a:chExt cx="3505200" cy="2137410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2137410"/>
            </a:xfrm>
            <a:prstGeom prst="roundRect">
              <a:avLst>
                <a:gd name="adj" fmla="val 62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5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4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49996" y="2100739"/>
              <a:ext cx="270424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 = 2x³ − x + 1，求 f[0, 1,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 3] 和 f[0, 1, 2, 3, 4]。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49996" y="2692241"/>
              <a:ext cx="286385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(5.3.6)，三阶差商 = f‴/3!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12/6 = 2（首项系数），四阶差商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0。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847148"/>
            <a:ext cx="3505200" cy="2408872"/>
            <a:chOff x="8153400" y="3847148"/>
            <a:chExt cx="3505200" cy="2408872"/>
          </a:xfrm>
        </p:grpSpPr>
        <p:sp>
          <p:nvSpPr>
            <p:cNvPr id="37" name="Rectangle 37"/>
            <p:cNvSpPr/>
            <p:nvPr/>
          </p:nvSpPr>
          <p:spPr>
            <a:xfrm>
              <a:off x="8153400" y="3847148"/>
              <a:ext cx="3505200" cy="2408872"/>
            </a:xfrm>
            <a:prstGeom prst="roundRect">
              <a:avLst>
                <a:gd name="adj" fmla="val 553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57235" y="4050982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44722" y="4086701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49996" y="4423886"/>
              <a:ext cx="283138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三次 Hermite 插值比两点线性插值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多用了什么信息？余项怎样变？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49996" y="5015389"/>
              <a:ext cx="2945003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多用了两个节点上的导数值。余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项由 f″(ξ)(x − x₀)(x − x₁)/2 变为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f⁽⁴⁾(ξ)(x − x₀)²(x − x₁)²/4!。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第5章 函数插值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table-1"/>
          <p:cNvGrpSpPr/>
          <p:nvPr/>
        </p:nvGrpSpPr>
        <p:grpSpPr>
          <a:xfrm>
            <a:off x="533400" y="1524000"/>
            <a:ext cx="6059805" cy="2653665"/>
            <a:chOff x="533400" y="1524000"/>
            <a:chExt cx="6059805" cy="26536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38100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2017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20799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插值条件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305746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公式要点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41591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余项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8078" y="2116455"/>
              <a:ext cx="6683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Lagrange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57731" y="2116455"/>
              <a:ext cx="8517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n+1 个函数值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749296" y="2023110"/>
              <a:ext cx="159086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Lₙ = Σ lᵢ(x)yᵢ，lᵢ 在本节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点取 1，他处取 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27626" y="2116455"/>
              <a:ext cx="1763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f⁽ⁿ⁺¹⁾(ξ)ωₙ₊₁(x)/(n+1)!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6888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73642"/>
              <a:ext cx="6059805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8078" y="2684145"/>
              <a:ext cx="5350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Newton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57731" y="2684145"/>
              <a:ext cx="8517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n+1 个函数值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49296" y="2590800"/>
              <a:ext cx="16108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系数取差商表对角线，加节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点只加一项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27626" y="2590800"/>
              <a:ext cx="167087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f[x₀,…,xₙ,x]ωₙ₊₁(x)，与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Lagrange 相同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03657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8078" y="3158490"/>
              <a:ext cx="542734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三次</a:t>
              </a:r>
              <a:br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Hermite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657731" y="3158490"/>
              <a:ext cx="8107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两个节点的函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数值和导数值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49296" y="3158490"/>
              <a:ext cx="154419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基函数 αᵢ、βᵢ，或重节点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差商表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27626" y="3158490"/>
              <a:ext cx="137750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f⁽⁴⁾(ξ)(x − x₀)²(x −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x₁)²/4!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60521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609975"/>
              <a:ext cx="6059805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8078" y="3727132"/>
              <a:ext cx="718757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Newton 前</a:t>
              </a:r>
              <a:br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插（5.5*）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57731" y="3727132"/>
              <a:ext cx="8107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等距节点的函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49296" y="3727132"/>
              <a:ext cx="143084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差分代替差商，x = x₀ +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27626" y="3727132"/>
              <a:ext cx="159086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t(t − 1)⋯(t −</a:t>
              </a:r>
              <a:br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n)hⁿ⁺¹f⁽ⁿ⁺¹⁾(ξ)/(n+1)!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524000"/>
              <a:ext cx="6059805" cy="26536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558290" y="1524000"/>
              <a:ext cx="9525" cy="26536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2649855" y="1524000"/>
              <a:ext cx="9525" cy="26536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528185" y="1524000"/>
              <a:ext cx="9525" cy="26536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1-card-2"/>
          <p:cNvGrpSpPr/>
          <p:nvPr/>
        </p:nvGrpSpPr>
        <p:grpSpPr>
          <a:xfrm>
            <a:off x="533400" y="4342448"/>
            <a:ext cx="6059805" cy="1185862"/>
            <a:chOff x="533400" y="4342448"/>
            <a:chExt cx="6059805" cy="1185862"/>
          </a:xfrm>
        </p:grpSpPr>
        <p:sp>
          <p:nvSpPr>
            <p:cNvPr id="38" name="Rectangle 38"/>
            <p:cNvSpPr/>
            <p:nvPr/>
          </p:nvSpPr>
          <p:spPr>
            <a:xfrm>
              <a:off x="533400" y="4342448"/>
              <a:ext cx="6059805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42925" y="4475798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52475" y="4523422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14642" y="455628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拿到题目先看给了什么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62000" y="4915852"/>
              <a:ext cx="57150" cy="571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17448" y="4863941"/>
              <a:ext cx="49075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只给函数值：Lagrange 或 Newton，要逐次加节点时用 Newton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62000" y="5200650"/>
              <a:ext cx="57150" cy="571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17448" y="5148739"/>
              <a:ext cx="51823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给了导数值：节点按重数写进差商表；节点等距：差分表加前插公式</a:t>
              </a:r>
            </a:p>
          </p:txBody>
        </p:sp>
      </p:grpSp>
      <p:grpSp>
        <p:nvGrpSpPr>
          <p:cNvPr id="56" name="c2-bullets-1"/>
          <p:cNvGrpSpPr/>
          <p:nvPr/>
        </p:nvGrpSpPr>
        <p:grpSpPr>
          <a:xfrm>
            <a:off x="6898005" y="1533525"/>
            <a:ext cx="4533646" cy="1575721"/>
            <a:chOff x="6898005" y="1533525"/>
            <a:chExt cx="4533646" cy="1575721"/>
          </a:xfrm>
        </p:grpSpPr>
        <p:sp>
          <p:nvSpPr>
            <p:cNvPr id="47" name="Ellipse 47"/>
            <p:cNvSpPr/>
            <p:nvPr/>
          </p:nvSpPr>
          <p:spPr>
            <a:xfrm>
              <a:off x="6898005" y="1533525"/>
              <a:ext cx="180975" cy="18097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949912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67753" y="1545431"/>
              <a:ext cx="42070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插值多项式由插值条件唯一确定，Lagrange 与 Newton 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是写法不同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898005" y="2069782"/>
              <a:ext cx="180975" cy="18097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949912" y="21054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67753" y="2080736"/>
              <a:ext cx="426389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节点离 x 越近误差越小；等距高次插值可能发散，节点多时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分段插值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898005" y="2606040"/>
              <a:ext cx="180975" cy="18097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949912" y="264166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167753" y="2616994"/>
              <a:ext cx="425577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重节点处的差商用导数值代替，Hermite 插值由此并入差商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</a:t>
              </a:r>
            </a:p>
          </p:txBody>
        </p:sp>
      </p:grpSp>
      <p:grpSp>
        <p:nvGrpSpPr>
          <p:cNvPr id="67" name="c2-card-2"/>
          <p:cNvGrpSpPr/>
          <p:nvPr/>
        </p:nvGrpSpPr>
        <p:grpSpPr>
          <a:xfrm>
            <a:off x="6898005" y="3224212"/>
            <a:ext cx="4760595" cy="2305050"/>
            <a:chOff x="6898005" y="3224212"/>
            <a:chExt cx="4760595" cy="2305050"/>
          </a:xfrm>
        </p:grpSpPr>
        <p:sp>
          <p:nvSpPr>
            <p:cNvPr id="57" name="Rectangle 57"/>
            <p:cNvSpPr/>
            <p:nvPr/>
          </p:nvSpPr>
          <p:spPr>
            <a:xfrm>
              <a:off x="6898005" y="3224212"/>
              <a:ext cx="4760595" cy="2305050"/>
            </a:xfrm>
            <a:prstGeom prst="roundRect">
              <a:avLst>
                <a:gd name="adj" fmla="val 57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907530" y="3357562"/>
              <a:ext cx="47625" cy="20383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7117080" y="3405188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179246" y="343804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7126605" y="3797618"/>
              <a:ext cx="57150" cy="571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282053" y="3744754"/>
              <a:ext cx="389813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5.2：误差式因子 0.033 应为 0.0033；抛物线插值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结果应为 0.330374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7126605" y="4325302"/>
              <a:ext cx="57150" cy="571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282053" y="4272439"/>
              <a:ext cx="39225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5.3：1.05 行一阶差商应为 1.5156；四阶差商不相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同，余项约 10⁻⁷ 而非 0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7126605" y="4852988"/>
              <a:ext cx="57150" cy="571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282053" y="4801076"/>
              <a:ext cx="389813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(5.3.4) 分母末因子应为 (xⱼ − xₖ)；问题二的导数条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件以表格为准；习题 4 的 x₄ 应为 x₃</a:t>
              </a:r>
            </a:p>
          </p:txBody>
        </p:sp>
      </p:grpSp>
      <p:grpSp>
        <p:nvGrpSpPr>
          <p:cNvPr id="73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8" name="Rectangle 68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041273" y="6039326"/>
              <a:ext cx="80657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复习时重点练手算：Lagrange 基函数值、差商表（含重节点）、用余项估计误差，每一步写出代入的数。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第5章 函数插值与曲线拟合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numa_ch5">
  <a:themeElements>
    <a:clrScheme name="numa_ch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uma_ch5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numa_ch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2026-09-23T06:14:53Z</dcterms:created>
  <dcterms:modified xsi:type="dcterms:W3CDTF">2026-09-23T06:14:53Z</dcterms:modified>
  <cp:category/>
  <cp:contentStatus/>
</cp:coreProperties>
</file>