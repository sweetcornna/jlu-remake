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s_ch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s_ch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a289d61ef9cb6d5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a86e1d2514c8c51.png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f410cb542079858.png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874514" cy="3437763"/>
            <a:chOff x="666750" y="1619250"/>
            <a:chExt cx="487451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操作系统原理 · 第一章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操作系统概述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操作系统是什么、怎样演变、靠什么硬件运行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概念、历史与四个特性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十一种操作系统类型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运行环境与处理机状态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界面形式、运行机理与观点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13752" cy="205359"/>
            <a:chOff x="680466" y="6192202"/>
            <a:chExt cx="44137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13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自学复习版｜据吉林大学《操作系统原理》第一章课件整理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操作系统的概念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在计算机系统中的地位、两大作用、定义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操作系统的历史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手工操作、批处理、执行系统，再到多道、分时、实时、通用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特性与类型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6137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并发、共享、异步、虚拟；批处理、分时、实时等 11 类系统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运行环境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定时装置、系统栈、特权指令、管态与目态、中断、通道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界面与运行机理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7596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命令语言、JCL、系统调用；中断驱动的程序切换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研究观点与实例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41771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进程、资源管理、虚拟机三种观点；Linux 与 Windows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说出操作系统的定义，画出它在软件层次中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的位置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按顺序说出操作系统产生与完善的各阶段，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以及每一阶段解决了什么问题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区分并发与并行，说出操作系统的四个特性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68808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比较批处理、分时、实时系统的目标与特点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0862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0233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说明特权指令、管态与目态的转换条件，以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及中断在程序切换中的作用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参考教材：主教材配合源码分析阅读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27685" y="1524000"/>
            <a:ext cx="11130915" cy="4788694"/>
            <a:chOff x="527685" y="1524000"/>
            <a:chExt cx="11130915" cy="478869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8025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教材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59817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版本与出版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339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41356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Silberschatz 等《Operating System Concepts》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36120" y="2108359"/>
              <a:ext cx="25679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 版，Wiley，2002（高教社）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73680" y="210835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系统、完善，国外大学多选用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3538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Silberschatz 等《Applied Operating System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Concepts》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36120" y="2670334"/>
              <a:ext cx="18528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Wiley，2001（高教社）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73680" y="2556986"/>
              <a:ext cx="24188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较浅显，算法不完整，用 Java 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36745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Tanenbaum《Modern Operating Systems》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36120" y="3232309"/>
              <a:ext cx="21410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版，2009（机械工业）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3680" y="323230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国内用得比较多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680936"/>
              <a:ext cx="428056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Stallings《Operating Systems: Internals and Design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Principles》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36120" y="3794284"/>
              <a:ext cx="21410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7 版，2011（清华影印）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73680" y="37942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比较权威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167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357211"/>
              <a:ext cx="27815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Deitel 等《Operating Systems》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36120" y="4357211"/>
              <a:ext cx="2830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版，2007（清华，施平安等译）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73680" y="4357211"/>
              <a:ext cx="2166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很完整，篇幅长（1331 页）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665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67010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80583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费翔林等《操作系统教程》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36120" y="4805839"/>
              <a:ext cx="19687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版，2015（高教社）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73680" y="480583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国内代表性教材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1139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5254466"/>
              <a:ext cx="22235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《莱昂氏 UNIX 源代码分析》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36120" y="5254466"/>
              <a:ext cx="1425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2001（机械工业）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73680" y="5254466"/>
              <a:ext cx="25420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第 6 版源码约 1 万行及注释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5635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56831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1223" y="5703094"/>
              <a:ext cx="28650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陈向群等《Windows 操作系统原理》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36120" y="5703094"/>
              <a:ext cx="1425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2004（机械工业）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73680" y="5703094"/>
              <a:ext cx="16214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的实现原理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11125200" cy="44929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3535" y="1524000"/>
              <a:ext cx="9525" cy="44929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761095" y="1524000"/>
              <a:ext cx="9525" cy="44929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7685" y="6092666"/>
              <a:ext cx="10185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莱昂氏一书分析的源码中 C 语言约 9000 行、汇编语言约 1000 行。更正：原课件作者名写作 William Stalling、费祥林，应为 William Stallings、费翔林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579745" cy="2997517"/>
            <a:chOff x="667512" y="1835468"/>
            <a:chExt cx="557974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操作系统是什么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先看它在计算机系统中的位置，再看它做什么、怎样定义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1.1.1 操作系统的地位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1.1.2 操作系统的作用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1.1.3 操作系统的定义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地位：操作系统在硬件之上、其他所有软件之下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flow-1"/>
          <p:cNvGrpSpPr/>
          <p:nvPr/>
        </p:nvGrpSpPr>
        <p:grpSpPr>
          <a:xfrm>
            <a:off x="996315" y="1821180"/>
            <a:ext cx="3619500" cy="3539490"/>
            <a:chOff x="996315" y="1821180"/>
            <a:chExt cx="3619500" cy="3539490"/>
          </a:xfrm>
        </p:grpSpPr>
        <p:sp>
          <p:nvSpPr>
            <p:cNvPr id="7" name="Freeform 7"/>
            <p:cNvSpPr/>
            <p:nvPr/>
          </p:nvSpPr>
          <p:spPr>
            <a:xfrm>
              <a:off x="2806065" y="2259330"/>
              <a:ext cx="9525" cy="491490"/>
            </a:xfrm>
            <a:custGeom>
              <a:avLst/>
              <a:gdLst/>
              <a:ahLst/>
              <a:cxnLst/>
              <a:rect l="l" t="t" r="r" b="b"/>
              <a:pathLst>
                <a:path w="9525" h="491490">
                  <a:moveTo>
                    <a:pt x="0" y="0"/>
                  </a:moveTo>
                  <a:lnTo>
                    <a:pt x="0" y="4914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753678" y="27508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06065" y="3293745"/>
              <a:ext cx="9525" cy="489585"/>
            </a:xfrm>
            <a:custGeom>
              <a:avLst/>
              <a:gdLst/>
              <a:ahLst/>
              <a:cxnLst/>
              <a:rect l="l" t="t" r="r" b="b"/>
              <a:pathLst>
                <a:path w="9525" h="489585">
                  <a:moveTo>
                    <a:pt x="0" y="0"/>
                  </a:moveTo>
                  <a:lnTo>
                    <a:pt x="0" y="4895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53678" y="37833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06065" y="4326255"/>
              <a:ext cx="9525" cy="491490"/>
            </a:xfrm>
            <a:custGeom>
              <a:avLst/>
              <a:gdLst/>
              <a:ahLst/>
              <a:cxnLst/>
              <a:rect l="l" t="t" r="r" b="b"/>
              <a:pathLst>
                <a:path w="9525" h="491490">
                  <a:moveTo>
                    <a:pt x="0" y="0"/>
                  </a:moveTo>
                  <a:lnTo>
                    <a:pt x="0" y="4914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53678" y="48177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96315" y="1821180"/>
              <a:ext cx="361950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996315" y="2855595"/>
              <a:ext cx="361950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96315" y="3888105"/>
              <a:ext cx="3619500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96315" y="4922520"/>
              <a:ext cx="3619500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68804" y="195119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应用软件层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96490" y="298561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其他系统软件层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64304" y="4019074"/>
              <a:ext cx="12835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操作系统（OS）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04755" y="5052536"/>
              <a:ext cx="10026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硬件（HAL）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834640" y="246507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57881" y="24917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使用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834640" y="349853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857881" y="35252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使用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834640" y="4531995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7881" y="455866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直接管理</a:t>
              </a:r>
            </a:p>
          </p:txBody>
        </p:sp>
      </p:grpSp>
      <p:grpSp>
        <p:nvGrpSpPr>
          <p:cNvPr id="39" name="c2-kv-1"/>
          <p:cNvGrpSpPr/>
          <p:nvPr/>
        </p:nvGrpSpPr>
        <p:grpSpPr>
          <a:xfrm>
            <a:off x="5374958" y="1548765"/>
            <a:ext cx="6283642" cy="1895475"/>
            <a:chOff x="5374958" y="1548765"/>
            <a:chExt cx="6283642" cy="1895475"/>
          </a:xfrm>
        </p:grpSpPr>
        <p:sp>
          <p:nvSpPr>
            <p:cNvPr id="28" name="TextBox 28"/>
            <p:cNvSpPr txBox="1"/>
            <p:nvPr/>
          </p:nvSpPr>
          <p:spPr>
            <a:xfrm>
              <a:off x="5374958" y="15487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应用软件层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12305" y="154876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面向具体用途的程序，如浏览器、办公软件、游戏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82578" y="18688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74958" y="198882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其他系统软件层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12305" y="1988820"/>
              <a:ext cx="4396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编译程序、数据库管理系统、系统库、命令解释程序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82578" y="25908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74958" y="2710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操作系统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12305" y="271081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唯一直接管理硬件的软件层，向上提供服务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82578" y="30308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74958" y="3150870"/>
              <a:ext cx="11926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硬件（HAL）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12305" y="31508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课件把硬件抽象层与硬件画在同一层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5382578" y="3575685"/>
            <a:ext cx="6276022" cy="1631632"/>
            <a:chOff x="5382578" y="3575685"/>
            <a:chExt cx="6276022" cy="1631632"/>
          </a:xfrm>
        </p:grpSpPr>
        <p:sp>
          <p:nvSpPr>
            <p:cNvPr id="40" name="Rectangle 40"/>
            <p:cNvSpPr/>
            <p:nvPr/>
          </p:nvSpPr>
          <p:spPr>
            <a:xfrm>
              <a:off x="5382578" y="3575685"/>
              <a:ext cx="6276022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92102" y="3709035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630228" y="37852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21388" y="38209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31255" y="3820478"/>
              <a:ext cx="48015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硬件抽象层 HAL（Hardware Abstraction Layer）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22608" y="4181475"/>
              <a:ext cx="553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把不同硬件平台之间的差异封装在一层很薄的软件里，操作系统的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主体代码因此不必随硬件改动。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23751" y="4799171"/>
              <a:ext cx="3716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例如 Windows NT 系列内核就有一个 HAL 模块。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10111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判断一个软件属于哪一层：看它是否直接控制硬件。编译程序也是系统软件，但它要通过操作系统才能读写文件。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运行视图：程序经库调用、系统调用和机器指令使用硬件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graph-1"/>
          <p:cNvGrpSpPr/>
          <p:nvPr/>
        </p:nvGrpSpPr>
        <p:grpSpPr>
          <a:xfrm>
            <a:off x="570548" y="1699260"/>
            <a:ext cx="5066347" cy="3840861"/>
            <a:chOff x="570548" y="1699260"/>
            <a:chExt cx="5066347" cy="3840861"/>
          </a:xfrm>
        </p:grpSpPr>
        <p:sp>
          <p:nvSpPr>
            <p:cNvPr id="7" name="Freeform 7"/>
            <p:cNvSpPr/>
            <p:nvPr/>
          </p:nvSpPr>
          <p:spPr>
            <a:xfrm>
              <a:off x="2602230" y="2019300"/>
              <a:ext cx="665798" cy="1354455"/>
            </a:xfrm>
            <a:custGeom>
              <a:avLst/>
              <a:gdLst/>
              <a:ahLst/>
              <a:cxnLst/>
              <a:rect l="l" t="t" r="r" b="b"/>
              <a:pathLst>
                <a:path w="665798" h="1354455">
                  <a:moveTo>
                    <a:pt x="665798" y="0"/>
                  </a:moveTo>
                  <a:lnTo>
                    <a:pt x="0" y="13544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59368" y="3352800"/>
              <a:ext cx="84773" cy="106680"/>
            </a:xfrm>
            <a:custGeom>
              <a:avLst/>
              <a:gdLst/>
              <a:ahLst/>
              <a:cxnLst/>
              <a:rect l="l" t="t" r="r" b="b"/>
              <a:pathLst>
                <a:path w="84773" h="106680">
                  <a:moveTo>
                    <a:pt x="0" y="106680"/>
                  </a:moveTo>
                  <a:lnTo>
                    <a:pt x="0" y="0"/>
                  </a:lnTo>
                  <a:lnTo>
                    <a:pt x="84773" y="419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494722" y="2019300"/>
              <a:ext cx="1263015" cy="1369695"/>
            </a:xfrm>
            <a:custGeom>
              <a:avLst/>
              <a:gdLst/>
              <a:ahLst/>
              <a:cxnLst/>
              <a:rect l="l" t="t" r="r" b="b"/>
              <a:pathLst>
                <a:path w="1263015" h="1369695">
                  <a:moveTo>
                    <a:pt x="0" y="0"/>
                  </a:moveTo>
                  <a:lnTo>
                    <a:pt x="1263015" y="13696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722495" y="3357562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100012" y="101917"/>
                  </a:moveTo>
                  <a:lnTo>
                    <a:pt x="0" y="63817"/>
                  </a:lnTo>
                  <a:lnTo>
                    <a:pt x="704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43262" y="3619500"/>
              <a:ext cx="964883" cy="9525"/>
            </a:xfrm>
            <a:custGeom>
              <a:avLst/>
              <a:gdLst/>
              <a:ahLst/>
              <a:cxnLst/>
              <a:rect l="l" t="t" r="r" b="b"/>
              <a:pathLst>
                <a:path w="964883" h="9525">
                  <a:moveTo>
                    <a:pt x="0" y="0"/>
                  </a:moveTo>
                  <a:lnTo>
                    <a:pt x="9648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08145" y="3571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559368" y="3779520"/>
              <a:ext cx="666750" cy="1354455"/>
            </a:xfrm>
            <a:custGeom>
              <a:avLst/>
              <a:gdLst/>
              <a:ahLst/>
              <a:cxnLst/>
              <a:rect l="l" t="t" r="r" b="b"/>
              <a:pathLst>
                <a:path w="666750" h="1354455">
                  <a:moveTo>
                    <a:pt x="0" y="0"/>
                  </a:moveTo>
                  <a:lnTo>
                    <a:pt x="666750" y="135445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183255" y="5113020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4773" y="106680"/>
                  </a:moveTo>
                  <a:lnTo>
                    <a:pt x="0" y="41910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558540" y="3779520"/>
              <a:ext cx="1263968" cy="1369695"/>
            </a:xfrm>
            <a:custGeom>
              <a:avLst/>
              <a:gdLst/>
              <a:ahLst/>
              <a:cxnLst/>
              <a:rect l="l" t="t" r="r" b="b"/>
              <a:pathLst>
                <a:path w="1263968" h="1369695">
                  <a:moveTo>
                    <a:pt x="1263968" y="0"/>
                  </a:moveTo>
                  <a:lnTo>
                    <a:pt x="0" y="136969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3494722" y="5117782"/>
              <a:ext cx="99060" cy="101918"/>
            </a:xfrm>
            <a:custGeom>
              <a:avLst/>
              <a:gdLst/>
              <a:ahLst/>
              <a:cxnLst/>
              <a:rect l="l" t="t" r="r" b="b"/>
              <a:pathLst>
                <a:path w="99060" h="101918">
                  <a:moveTo>
                    <a:pt x="0" y="101918"/>
                  </a:moveTo>
                  <a:lnTo>
                    <a:pt x="29528" y="0"/>
                  </a:lnTo>
                  <a:lnTo>
                    <a:pt x="99060" y="6381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96302" y="1859280"/>
              <a:ext cx="1069658" cy="9525"/>
            </a:xfrm>
            <a:custGeom>
              <a:avLst/>
              <a:gdLst/>
              <a:ahLst/>
              <a:cxnLst/>
              <a:rect l="l" t="t" r="r" b="b"/>
              <a:pathLst>
                <a:path w="1069658" h="9525">
                  <a:moveTo>
                    <a:pt x="106965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858202" y="1981200"/>
              <a:ext cx="9525" cy="3276600"/>
            </a:xfrm>
            <a:custGeom>
              <a:avLst/>
              <a:gdLst/>
              <a:ahLst/>
              <a:cxnLst/>
              <a:rect l="l" t="t" r="r" b="b"/>
              <a:pathLst>
                <a:path w="9525" h="3276600">
                  <a:moveTo>
                    <a:pt x="0" y="0"/>
                  </a:moveTo>
                  <a:lnTo>
                    <a:pt x="0" y="327660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896302" y="5379720"/>
              <a:ext cx="974408" cy="9525"/>
            </a:xfrm>
            <a:custGeom>
              <a:avLst/>
              <a:gdLst/>
              <a:ahLst/>
              <a:cxnLst/>
              <a:rect l="l" t="t" r="r" b="b"/>
              <a:pathLst>
                <a:path w="974408" h="9525">
                  <a:moveTo>
                    <a:pt x="0" y="0"/>
                  </a:moveTo>
                  <a:lnTo>
                    <a:pt x="97440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1870710" y="53320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965960" y="1699260"/>
              <a:ext cx="2762250" cy="320040"/>
            </a:xfrm>
            <a:prstGeom prst="roundRect">
              <a:avLst>
                <a:gd name="adj" fmla="val 2976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719262" y="3459480"/>
              <a:ext cx="15240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03395" y="3459480"/>
              <a:ext cx="1333500" cy="320040"/>
            </a:xfrm>
            <a:prstGeom prst="roundRect">
              <a:avLst>
                <a:gd name="adj" fmla="val 2976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65960" y="5219700"/>
              <a:ext cx="27622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017901" y="1784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73774" y="3545205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系统库（lib）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0961" y="35452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操作系统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70043" y="5305425"/>
              <a:ext cx="9540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硬件（HAL）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88908" y="2646998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710853" y="268081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库调用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70960" y="2646998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89807" y="268081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系统调用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486150" y="3526155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504044" y="356092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系统调用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626995" y="4406265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644889" y="444103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机器指令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870960" y="4406265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889807" y="444103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机器指令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70548" y="3526155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9394" y="356092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机器指令</a:t>
              </a:r>
            </a:p>
          </p:txBody>
        </p:sp>
      </p:grpSp>
      <p:grpSp>
        <p:nvGrpSpPr>
          <p:cNvPr id="50" name="c2-kv-1"/>
          <p:cNvGrpSpPr/>
          <p:nvPr/>
        </p:nvGrpSpPr>
        <p:grpSpPr>
          <a:xfrm>
            <a:off x="6240780" y="1548765"/>
            <a:ext cx="5417820" cy="1737360"/>
            <a:chOff x="6240780" y="1548765"/>
            <a:chExt cx="5417820" cy="1737360"/>
          </a:xfrm>
        </p:grpSpPr>
        <p:sp>
          <p:nvSpPr>
            <p:cNvPr id="42" name="TextBox 42"/>
            <p:cNvSpPr txBox="1"/>
            <p:nvPr/>
          </p:nvSpPr>
          <p:spPr>
            <a:xfrm>
              <a:off x="6240780" y="15487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库调用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81862" y="1548765"/>
              <a:ext cx="4369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应用程序调用系统库中的函数，如 C 库的 printf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40780" y="19888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系统调用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81862" y="1988820"/>
              <a:ext cx="41109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应用程序或系统库请求操作系统服务，如 open、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read、write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2590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0780" y="2710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机器指令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81862" y="2710815"/>
              <a:ext cx="40633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三者都直接在 CPU 上执行指令；影响系统状态的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指令只有操作系统能执行（1.5.3）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248400" y="3417570"/>
            <a:ext cx="5410200" cy="2302192"/>
            <a:chOff x="6248400" y="3417570"/>
            <a:chExt cx="5410200" cy="2302192"/>
          </a:xfrm>
        </p:grpSpPr>
        <p:sp>
          <p:nvSpPr>
            <p:cNvPr id="51" name="Rectangle 51"/>
            <p:cNvSpPr/>
            <p:nvPr/>
          </p:nvSpPr>
          <p:spPr>
            <a:xfrm>
              <a:off x="6248400" y="3417570"/>
              <a:ext cx="5410200" cy="2302192"/>
            </a:xfrm>
            <a:prstGeom prst="roundRect">
              <a:avLst>
                <a:gd name="adj" fmla="val 57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3550920"/>
              <a:ext cx="47625" cy="20354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96050" y="362712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91160" y="36628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54202" y="3662362"/>
              <a:ext cx="19371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printf 走的是哪条路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01765" y="40862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59880" y="4023360"/>
              <a:ext cx="2711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应用程序调用 printf：库调用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501765" y="44215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59880" y="4358640"/>
              <a:ext cx="4730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printf 在用户空间把参数格式化成字符串：机器指令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501765" y="47567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59880" y="469392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printf 再用系统调用 write，请操作系统把字符串送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到终端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89573" y="531161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所以系统库既能被应用程序调用，自己也调用操作系统。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作用：管理软硬件资源，并为用户提供服务界面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7685" y="1524000"/>
            <a:ext cx="6281737" cy="3267552"/>
            <a:chOff x="527685" y="1524000"/>
            <a:chExt cx="6281737" cy="32675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95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53590" y="16630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要面对的情况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51058" y="16630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操作系统做什么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8285" y="2150745"/>
              <a:ext cx="21012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CPU，多个可运行的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9075" y="228409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决定谁先运行、运行多久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627602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0384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8285" y="2905125"/>
              <a:ext cx="211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各进程空间相对独立，又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要支持共享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29075" y="2905125"/>
              <a:ext cx="2491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分配内存，隔离各进程，支持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56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6595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8285" y="36595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设备种类多、数量有限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29075" y="36595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分配设备，驱动设备工作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033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008120"/>
              <a:ext cx="627602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1471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8285" y="41471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信息要长期保存在外存上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29075" y="41471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实现文件系统，支持文件操作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276022" cy="29718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406842" y="1524000"/>
              <a:ext cx="9525" cy="2971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917632" y="1524000"/>
              <a:ext cx="9525" cy="2971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4571524"/>
              <a:ext cx="2883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1.1.2 作用一：管理系统中的软件硬件资源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2587942"/>
            <a:chOff x="7114222" y="1524000"/>
            <a:chExt cx="4544378" cy="2587942"/>
          </a:xfrm>
        </p:grpSpPr>
        <p:sp>
          <p:nvSpPr>
            <p:cNvPr id="33" name="Rectangle 33"/>
            <p:cNvSpPr/>
            <p:nvPr/>
          </p:nvSpPr>
          <p:spPr>
            <a:xfrm>
              <a:off x="7114222" y="1524000"/>
              <a:ext cx="4544378" cy="2587942"/>
            </a:xfrm>
            <a:prstGeom prst="roundRect">
              <a:avLst>
                <a:gd name="adj" fmla="val 51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23748" y="1657350"/>
              <a:ext cx="47625" cy="232124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61872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48131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作用二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04823" y="176879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为用户（应用程序）提供良好的服务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367588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25702" y="2129790"/>
              <a:ext cx="29539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API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：供程序调用的系统调用接口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367588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25702" y="2465070"/>
              <a:ext cx="354330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GUI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和行式命令：ls、cd、cat、vi、rm、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mount……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367588" y="3148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25702" y="3086100"/>
              <a:ext cx="363140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JCL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（Job Control Language）：批处理用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户描述作业的语言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55396" y="3703796"/>
              <a:ext cx="24684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这几种界面在 1.6 节逐一展开。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7114222" y="4302442"/>
            <a:ext cx="4544378" cy="782955"/>
            <a:chOff x="7114222" y="4302442"/>
            <a:chExt cx="4544378" cy="782955"/>
          </a:xfrm>
        </p:grpSpPr>
        <p:sp>
          <p:nvSpPr>
            <p:cNvPr id="46" name="Rectangle 46"/>
            <p:cNvSpPr/>
            <p:nvPr/>
          </p:nvSpPr>
          <p:spPr>
            <a:xfrm>
              <a:off x="7114222" y="4302442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19010" y="4593908"/>
              <a:ext cx="200026" cy="200026"/>
              <a:chOff x="7319010" y="4593908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19010" y="45939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419023" y="46605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407910" y="46939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620952" y="4451032"/>
              <a:ext cx="3682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两种作用分别对应 1.8 节的资源管理观点和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虚拟机观点。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管理资源有两个目的：让多个程序方便地使用资源，并防止它们在使用时发生冲突。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定义：管理资源、方便用户使用计算机的程序集合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1927860"/>
            <a:chOff x="533400" y="1524000"/>
            <a:chExt cx="5842635" cy="19278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927860"/>
            </a:xfrm>
            <a:prstGeom prst="roundRect">
              <a:avLst>
                <a:gd name="adj" fmla="val 6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11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5725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685" y="1743551"/>
              <a:ext cx="6962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1.1.3 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22882" y="1745932"/>
              <a:ext cx="3220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操作系统（Operating System，OS）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5157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操作系统是位于硬件层（HAL）之上、所有其他软件层之下的一个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系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统软件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，是管理系统中各种软硬件资源、方便用户使用计算机系统的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程序集合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475" y="2882741"/>
              <a:ext cx="51320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早期名称：Operating supervisor（操作监督程序）、monitoring program（监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控程序）。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3622358"/>
            <a:ext cx="5842635" cy="729615"/>
            <a:chOff x="533400" y="3622358"/>
            <a:chExt cx="5842635" cy="729615"/>
          </a:xfrm>
        </p:grpSpPr>
        <p:sp>
          <p:nvSpPr>
            <p:cNvPr id="15" name="Rectangle 15"/>
            <p:cNvSpPr/>
            <p:nvPr/>
          </p:nvSpPr>
          <p:spPr>
            <a:xfrm>
              <a:off x="533400" y="3622358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26129" y="3883461"/>
              <a:ext cx="224134" cy="192560"/>
              <a:chOff x="726129" y="3883461"/>
              <a:chExt cx="224134" cy="19256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38200" y="39538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26129" y="38834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0316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3768090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易错：操作系统是一组程序，并非某一个程序；编译程序、数据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库管理系统也是系统软件，但它们在操作系统之上。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521518"/>
            <a:ext cx="5842635" cy="1652588"/>
            <a:chOff x="533400" y="4521518"/>
            <a:chExt cx="5842635" cy="1652588"/>
          </a:xfrm>
        </p:grpSpPr>
        <p:sp>
          <p:nvSpPr>
            <p:cNvPr id="22" name="Rectangle 22"/>
            <p:cNvSpPr/>
            <p:nvPr/>
          </p:nvSpPr>
          <p:spPr>
            <a:xfrm>
              <a:off x="533400" y="4521518"/>
              <a:ext cx="5842635" cy="1652588"/>
            </a:xfrm>
            <a:prstGeom prst="roundRect">
              <a:avLst>
                <a:gd name="adj" fmla="val 80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654868"/>
              <a:ext cx="47625" cy="13858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8190" y="4708208"/>
              <a:ext cx="15982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6558" y="4741069"/>
              <a:ext cx="14815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这个“程序集合”里都有谁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6762" y="510825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2782" y="505206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内核：进程、内存、设备、文件四大管理模块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66762" y="540924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2782" y="535209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设备驱动程序：直接操作具体型号的硬件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6762" y="570928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2782" y="5653088"/>
              <a:ext cx="4420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界面程序与实用程序：shell、图形桌面、格式化、备份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675882" y="1524000"/>
            <a:ext cx="4982718" cy="2458116"/>
            <a:chOff x="6675882" y="1524000"/>
            <a:chExt cx="4982718" cy="2458116"/>
          </a:xfrm>
        </p:grpSpPr>
        <p:sp>
          <p:nvSpPr>
            <p:cNvPr id="33" name="Rectangle 33"/>
            <p:cNvSpPr/>
            <p:nvPr/>
          </p:nvSpPr>
          <p:spPr>
            <a:xfrm>
              <a:off x="6680835" y="1524000"/>
              <a:ext cx="4977765" cy="43910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75538" y="164877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定义中的要素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27895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76847" y="208788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69440" y="2087880"/>
              <a:ext cx="2876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硬件之上、其他软件之下（1.1.1）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80835" y="23974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80835" y="2402205"/>
              <a:ext cx="4977765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76847" y="25269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69440" y="252698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系统软件，是许多程序的集合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80835" y="28355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76847" y="296608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69440" y="2966085"/>
              <a:ext cx="2932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 CPU、内存、设备、文件等资源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680835" y="32746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0835" y="3279458"/>
              <a:ext cx="4977765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76847" y="340518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69440" y="340518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方便用户使用计算机系统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80835" y="1524000"/>
              <a:ext cx="4977765" cy="21945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68665" y="1524000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75882" y="379142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答题时这四个要素缺一不可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680835" y="4113848"/>
            <a:ext cx="4977765" cy="2060258"/>
            <a:chOff x="6680835" y="4113848"/>
            <a:chExt cx="4977765" cy="2060258"/>
          </a:xfrm>
        </p:grpSpPr>
        <p:sp>
          <p:nvSpPr>
            <p:cNvPr id="53" name="Rectangle 53"/>
            <p:cNvSpPr/>
            <p:nvPr/>
          </p:nvSpPr>
          <p:spPr>
            <a:xfrm>
              <a:off x="6680835" y="4113848"/>
              <a:ext cx="4977765" cy="2060258"/>
            </a:xfrm>
            <a:prstGeom prst="roundRect">
              <a:avLst>
                <a:gd name="adj" fmla="val 64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90360" y="4247198"/>
              <a:ext cx="47625" cy="17935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05625" y="430053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4246" y="43333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判一判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95997" y="43357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下面这些算不算操作系统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914198" y="471773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70217" y="466153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：进程调度、内存分配、设备驱动、文件系统，以及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这类界面程序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914198" y="52749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70217" y="5218748"/>
              <a:ext cx="41199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不算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：编译程序 gcc、数据库管理系统。它们同属系统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软件，却建立在操作系统之上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914198" y="583311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070217" y="577691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不算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：浏览器、记事本，属于应用软件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97196" cy="2997517"/>
            <a:chOff x="667512" y="1835468"/>
            <a:chExt cx="49971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操作系统的历史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8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每一次演变，都是为了减少人工干预和 CPU 的空等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862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1.2.1 产生：手工操作、批处理、执行系统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063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1.2.2 完善：多道批处理、分时、实时、通用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4467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1.2.3 发展：网络、分布式、多处理机、嵌入式等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操作系统的历史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历史总览：产生、完善、发展三个阶段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0" name="c1-tree-1"/>
          <p:cNvGrpSpPr/>
          <p:nvPr/>
        </p:nvGrpSpPr>
        <p:grpSpPr>
          <a:xfrm>
            <a:off x="533400" y="1510665"/>
            <a:ext cx="6276022" cy="4865371"/>
            <a:chOff x="533400" y="1510665"/>
            <a:chExt cx="6276022" cy="4865371"/>
          </a:xfrm>
        </p:grpSpPr>
        <p:sp>
          <p:nvSpPr>
            <p:cNvPr id="7" name="Freeform 7"/>
            <p:cNvSpPr/>
            <p:nvPr/>
          </p:nvSpPr>
          <p:spPr>
            <a:xfrm>
              <a:off x="4198620" y="1696402"/>
              <a:ext cx="419100" cy="345758"/>
            </a:xfrm>
            <a:custGeom>
              <a:avLst/>
              <a:gdLst/>
              <a:ahLst/>
              <a:cxnLst/>
              <a:rect l="l" t="t" r="r" b="b"/>
              <a:pathLst>
                <a:path w="419100" h="345758">
                  <a:moveTo>
                    <a:pt x="0" y="345758"/>
                  </a:moveTo>
                  <a:lnTo>
                    <a:pt x="209550" y="34575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198620" y="204216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198620" y="2042160"/>
              <a:ext cx="419100" cy="345757"/>
            </a:xfrm>
            <a:custGeom>
              <a:avLst/>
              <a:gdLst/>
              <a:ahLst/>
              <a:cxnLst/>
              <a:rect l="l" t="t" r="r" b="b"/>
              <a:pathLst>
                <a:path w="419100" h="345757">
                  <a:moveTo>
                    <a:pt x="0" y="0"/>
                  </a:moveTo>
                  <a:lnTo>
                    <a:pt x="209550" y="0"/>
                  </a:lnTo>
                  <a:lnTo>
                    <a:pt x="209550" y="345757"/>
                  </a:lnTo>
                  <a:lnTo>
                    <a:pt x="419100" y="34575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98620" y="2733675"/>
              <a:ext cx="419100" cy="518160"/>
            </a:xfrm>
            <a:custGeom>
              <a:avLst/>
              <a:gdLst/>
              <a:ahLst/>
              <a:cxnLst/>
              <a:rect l="l" t="t" r="r" b="b"/>
              <a:pathLst>
                <a:path w="419100" h="518160">
                  <a:moveTo>
                    <a:pt x="0" y="518160"/>
                  </a:moveTo>
                  <a:lnTo>
                    <a:pt x="209550" y="51816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198620" y="3079432"/>
              <a:ext cx="419100" cy="172402"/>
            </a:xfrm>
            <a:custGeom>
              <a:avLst/>
              <a:gdLst/>
              <a:ahLst/>
              <a:cxnLst/>
              <a:rect l="l" t="t" r="r" b="b"/>
              <a:pathLst>
                <a:path w="419100" h="172402">
                  <a:moveTo>
                    <a:pt x="0" y="172402"/>
                  </a:moveTo>
                  <a:lnTo>
                    <a:pt x="209550" y="17240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98620" y="3251835"/>
              <a:ext cx="419100" cy="173355"/>
            </a:xfrm>
            <a:custGeom>
              <a:avLst/>
              <a:gdLst/>
              <a:ahLst/>
              <a:cxnLst/>
              <a:rect l="l" t="t" r="r" b="b"/>
              <a:pathLst>
                <a:path w="419100" h="173355">
                  <a:moveTo>
                    <a:pt x="0" y="0"/>
                  </a:moveTo>
                  <a:lnTo>
                    <a:pt x="209550" y="0"/>
                  </a:lnTo>
                  <a:lnTo>
                    <a:pt x="209550" y="173355"/>
                  </a:lnTo>
                  <a:lnTo>
                    <a:pt x="419100" y="1733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198620" y="3251835"/>
              <a:ext cx="419100" cy="519112"/>
            </a:xfrm>
            <a:custGeom>
              <a:avLst/>
              <a:gdLst/>
              <a:ahLst/>
              <a:cxnLst/>
              <a:rect l="l" t="t" r="r" b="b"/>
              <a:pathLst>
                <a:path w="419100" h="519112">
                  <a:moveTo>
                    <a:pt x="0" y="0"/>
                  </a:moveTo>
                  <a:lnTo>
                    <a:pt x="209550" y="0"/>
                  </a:lnTo>
                  <a:lnTo>
                    <a:pt x="209550" y="519112"/>
                  </a:lnTo>
                  <a:lnTo>
                    <a:pt x="419100" y="51911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98620" y="4115752"/>
              <a:ext cx="419100" cy="1037272"/>
            </a:xfrm>
            <a:custGeom>
              <a:avLst/>
              <a:gdLst/>
              <a:ahLst/>
              <a:cxnLst/>
              <a:rect l="l" t="t" r="r" b="b"/>
              <a:pathLst>
                <a:path w="419100" h="1037272">
                  <a:moveTo>
                    <a:pt x="0" y="1037272"/>
                  </a:moveTo>
                  <a:lnTo>
                    <a:pt x="209550" y="103727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198620" y="4461510"/>
              <a:ext cx="419100" cy="691515"/>
            </a:xfrm>
            <a:custGeom>
              <a:avLst/>
              <a:gdLst/>
              <a:ahLst/>
              <a:cxnLst/>
              <a:rect l="l" t="t" r="r" b="b"/>
              <a:pathLst>
                <a:path w="419100" h="691515">
                  <a:moveTo>
                    <a:pt x="0" y="691515"/>
                  </a:moveTo>
                  <a:lnTo>
                    <a:pt x="209550" y="69151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98620" y="4807268"/>
              <a:ext cx="419100" cy="345758"/>
            </a:xfrm>
            <a:custGeom>
              <a:avLst/>
              <a:gdLst/>
              <a:ahLst/>
              <a:cxnLst/>
              <a:rect l="l" t="t" r="r" b="b"/>
              <a:pathLst>
                <a:path w="419100" h="345758">
                  <a:moveTo>
                    <a:pt x="0" y="345758"/>
                  </a:moveTo>
                  <a:lnTo>
                    <a:pt x="209550" y="34575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198620" y="51530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198620" y="5153025"/>
              <a:ext cx="419100" cy="345757"/>
            </a:xfrm>
            <a:custGeom>
              <a:avLst/>
              <a:gdLst/>
              <a:ahLst/>
              <a:cxnLst/>
              <a:rect l="l" t="t" r="r" b="b"/>
              <a:pathLst>
                <a:path w="419100" h="345757">
                  <a:moveTo>
                    <a:pt x="0" y="0"/>
                  </a:moveTo>
                  <a:lnTo>
                    <a:pt x="209550" y="0"/>
                  </a:lnTo>
                  <a:lnTo>
                    <a:pt x="209550" y="345757"/>
                  </a:lnTo>
                  <a:lnTo>
                    <a:pt x="419100" y="34575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198620" y="5153025"/>
              <a:ext cx="419100" cy="691515"/>
            </a:xfrm>
            <a:custGeom>
              <a:avLst/>
              <a:gdLst/>
              <a:ahLst/>
              <a:cxnLst/>
              <a:rect l="l" t="t" r="r" b="b"/>
              <a:pathLst>
                <a:path w="419100" h="691515">
                  <a:moveTo>
                    <a:pt x="0" y="0"/>
                  </a:moveTo>
                  <a:lnTo>
                    <a:pt x="209550" y="0"/>
                  </a:lnTo>
                  <a:lnTo>
                    <a:pt x="209550" y="691515"/>
                  </a:lnTo>
                  <a:lnTo>
                    <a:pt x="419100" y="6915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198620" y="5153025"/>
              <a:ext cx="419100" cy="1037272"/>
            </a:xfrm>
            <a:custGeom>
              <a:avLst/>
              <a:gdLst/>
              <a:ahLst/>
              <a:cxnLst/>
              <a:rect l="l" t="t" r="r" b="b"/>
              <a:pathLst>
                <a:path w="419100" h="1037272">
                  <a:moveTo>
                    <a:pt x="0" y="0"/>
                  </a:moveTo>
                  <a:lnTo>
                    <a:pt x="209550" y="0"/>
                  </a:lnTo>
                  <a:lnTo>
                    <a:pt x="209550" y="1037272"/>
                  </a:lnTo>
                  <a:lnTo>
                    <a:pt x="419100" y="103727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562225" y="2042160"/>
              <a:ext cx="419100" cy="1555432"/>
            </a:xfrm>
            <a:custGeom>
              <a:avLst/>
              <a:gdLst/>
              <a:ahLst/>
              <a:cxnLst/>
              <a:rect l="l" t="t" r="r" b="b"/>
              <a:pathLst>
                <a:path w="419100" h="1555432">
                  <a:moveTo>
                    <a:pt x="0" y="1555432"/>
                  </a:moveTo>
                  <a:lnTo>
                    <a:pt x="209550" y="155543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562225" y="3251835"/>
              <a:ext cx="419100" cy="345758"/>
            </a:xfrm>
            <a:custGeom>
              <a:avLst/>
              <a:gdLst/>
              <a:ahLst/>
              <a:cxnLst/>
              <a:rect l="l" t="t" r="r" b="b"/>
              <a:pathLst>
                <a:path w="419100" h="345758">
                  <a:moveTo>
                    <a:pt x="0" y="345758"/>
                  </a:moveTo>
                  <a:lnTo>
                    <a:pt x="209550" y="34575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562225" y="3597592"/>
              <a:ext cx="419100" cy="1555432"/>
            </a:xfrm>
            <a:custGeom>
              <a:avLst/>
              <a:gdLst/>
              <a:ahLst/>
              <a:cxnLst/>
              <a:rect l="l" t="t" r="r" b="b"/>
              <a:pathLst>
                <a:path w="419100" h="1555432">
                  <a:moveTo>
                    <a:pt x="0" y="0"/>
                  </a:moveTo>
                  <a:lnTo>
                    <a:pt x="209550" y="0"/>
                  </a:lnTo>
                  <a:lnTo>
                    <a:pt x="209550" y="1555432"/>
                  </a:lnTo>
                  <a:lnTo>
                    <a:pt x="419100" y="155543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617720" y="1510665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617720" y="1856422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17720" y="2202180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981325" y="1856422"/>
              <a:ext cx="1216342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617720" y="2546985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617720" y="2892742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617720" y="3238500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17720" y="3584258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981325" y="3066098"/>
              <a:ext cx="1216342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617720" y="3930015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617720" y="4275772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617720" y="4621530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617720" y="4966335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617720" y="5312092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617720" y="5657850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4617720" y="6003608"/>
              <a:ext cx="21917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981325" y="4966335"/>
              <a:ext cx="1216342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341185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06493" y="16073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手工操作阶段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06493" y="195310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成批处理阶段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06493" y="22988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执行系统阶段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70098" y="19531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产生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06493" y="264461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多道批处理系统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06493" y="29903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分时系统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706493" y="33361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实时处理系统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06493" y="36818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通用操作系统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70098" y="31627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完善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06493" y="402669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网络操作系统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06493" y="437245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分布式操作系统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706493" y="471820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多处理机操作系统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06493" y="506396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单用户操作系统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06493" y="540972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面向对象操作系统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706493" y="575548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嵌入式操作系统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706493" y="610123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智能卡操作系统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070098" y="50639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发展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173" y="35085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操作系统的历史</a:t>
              </a:r>
            </a:p>
          </p:txBody>
        </p:sp>
      </p:grpSp>
      <p:grpSp>
        <p:nvGrpSpPr>
          <p:cNvPr id="99" name="c2-table-1"/>
          <p:cNvGrpSpPr/>
          <p:nvPr/>
        </p:nvGrpSpPr>
        <p:grpSpPr>
          <a:xfrm>
            <a:off x="7108508" y="1524000"/>
            <a:ext cx="4550092" cy="4113372"/>
            <a:chOff x="7108508" y="1524000"/>
            <a:chExt cx="4550092" cy="4113372"/>
          </a:xfrm>
        </p:grpSpPr>
        <p:sp>
          <p:nvSpPr>
            <p:cNvPr id="61" name="Rectangle 61"/>
            <p:cNvSpPr/>
            <p:nvPr/>
          </p:nvSpPr>
          <p:spPr>
            <a:xfrm>
              <a:off x="7114222" y="1524000"/>
              <a:ext cx="454437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61646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812466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阶段或系统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6616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22046" y="2108359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年代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58507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手工操作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30028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无操作系统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114222" y="24164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114222" y="242125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22046" y="2556986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年代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85073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130028" y="255698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监督程序（雏形）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114222" y="286607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222046" y="3005614"/>
              <a:ext cx="783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年代初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58507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执行系统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130028" y="3005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通道和中断技术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114222" y="33147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114222" y="3319462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222046" y="3454241"/>
              <a:ext cx="783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年代初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585073" y="34542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多道批处理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130028" y="3454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走向成熟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7114222" y="376332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222046" y="3903821"/>
              <a:ext cx="106471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年代初、中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85073" y="40171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分时系统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130028" y="401716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交互式终端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114222" y="443865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114222" y="4443412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222046" y="4579144"/>
              <a:ext cx="95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年代中期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585073" y="45791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实时系统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130028" y="45791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满足时间约束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114222" y="488727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222046" y="5027771"/>
              <a:ext cx="95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年代后期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585073" y="50277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通用操作系统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130028" y="50277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三类系统结合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7114222" y="1524000"/>
              <a:ext cx="4544378" cy="38176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8472488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10017442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108508" y="5417344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年代均指 20 世纪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操作系统的历史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手工操作阶段：人直接操作机器，没有操作系统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666750" y="1733550"/>
            <a:ext cx="5792152" cy="629602"/>
            <a:chOff x="666750" y="1733550"/>
            <a:chExt cx="5792152" cy="629602"/>
          </a:xfrm>
        </p:grpSpPr>
        <p:sp>
          <p:nvSpPr>
            <p:cNvPr id="7" name="Freeform 7"/>
            <p:cNvSpPr/>
            <p:nvPr/>
          </p:nvSpPr>
          <p:spPr>
            <a:xfrm>
              <a:off x="1611630" y="20478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73555" y="1995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24162" y="20478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86088" y="1995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035742" y="20478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97668" y="1995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247322" y="20478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409248" y="1995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66750" y="1828800"/>
              <a:ext cx="94488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878330" y="1733550"/>
              <a:ext cx="945833" cy="628650"/>
            </a:xfrm>
            <a:custGeom>
              <a:avLst/>
              <a:gdLst/>
              <a:ahLst/>
              <a:cxnLst/>
              <a:rect l="l" t="t" r="r" b="b"/>
              <a:pathLst>
                <a:path w="945833" h="628650">
                  <a:moveTo>
                    <a:pt x="133350" y="0"/>
                  </a:moveTo>
                  <a:lnTo>
                    <a:pt x="945833" y="0"/>
                  </a:lnTo>
                  <a:lnTo>
                    <a:pt x="812483" y="628650"/>
                  </a:lnTo>
                  <a:lnTo>
                    <a:pt x="0" y="6286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090862" y="1733550"/>
              <a:ext cx="94488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02442" y="1733550"/>
              <a:ext cx="944880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514022" y="1733550"/>
              <a:ext cx="94488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4243" y="19588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穿孔机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00453" y="1849279"/>
              <a:ext cx="500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穿孔纸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12986" y="1849279"/>
              <a:ext cx="500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光电输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4566" y="1849279"/>
              <a:ext cx="500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36146" y="1849279"/>
              <a:ext cx="500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电传打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字机</a:t>
              </a:r>
            </a:p>
          </p:txBody>
        </p:sp>
      </p:grpSp>
      <p:grpSp>
        <p:nvGrpSpPr>
          <p:cNvPr id="43" name="c1-steps-2"/>
          <p:cNvGrpSpPr/>
          <p:nvPr/>
        </p:nvGrpSpPr>
        <p:grpSpPr>
          <a:xfrm>
            <a:off x="533400" y="2771775"/>
            <a:ext cx="5790057" cy="2764440"/>
            <a:chOff x="533400" y="2771775"/>
            <a:chExt cx="5790057" cy="2764440"/>
          </a:xfrm>
        </p:grpSpPr>
        <p:sp>
          <p:nvSpPr>
            <p:cNvPr id="26" name="Rectangle 26"/>
            <p:cNvSpPr/>
            <p:nvPr/>
          </p:nvSpPr>
          <p:spPr>
            <a:xfrm>
              <a:off x="666750" y="291465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33400" y="277177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7024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33400" y="34223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7024" y="34961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33400" y="40728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7024" y="41467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33400" y="49587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7024" y="50325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4880" y="2806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6023" y="309991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程序和数据经穿孔机穿成纸带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4880" y="345662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6023" y="375046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光电输入机读穿孔纸带，把程序送入机器内存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4880" y="41071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6023" y="4401026"/>
              <a:ext cx="5377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在控制台用开关启动第一条指令；调试时要修改纸带或动态修改，程序有输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入时还要装纸带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4880" y="49930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6023" y="528685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运行结果在电传打字机上输出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898005" y="1524000"/>
            <a:ext cx="4760595" cy="1937385"/>
            <a:chOff x="6898005" y="1524000"/>
            <a:chExt cx="4760595" cy="1937385"/>
          </a:xfrm>
        </p:grpSpPr>
        <p:sp>
          <p:nvSpPr>
            <p:cNvPr id="44" name="Rectangle 44"/>
            <p:cNvSpPr/>
            <p:nvPr/>
          </p:nvSpPr>
          <p:spPr>
            <a:xfrm>
              <a:off x="6898005" y="1524000"/>
              <a:ext cx="476059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456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358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145655" y="20974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07504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46645" y="211074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资源独占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：一个用户独占整台机器，其他人只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能排队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145655" y="27184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07504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46645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手工费时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：装带、拨开关、取结果都要人来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做，CPU 大部分时间在等人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898005" y="3651885"/>
            <a:ext cx="4760595" cy="1316355"/>
            <a:chOff x="6898005" y="3651885"/>
            <a:chExt cx="4760595" cy="1316355"/>
          </a:xfrm>
        </p:grpSpPr>
        <p:sp>
          <p:nvSpPr>
            <p:cNvPr id="55" name="Rectangle 55"/>
            <p:cNvSpPr/>
            <p:nvPr/>
          </p:nvSpPr>
          <p:spPr>
            <a:xfrm>
              <a:off x="6898005" y="3651885"/>
              <a:ext cx="476059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07530" y="378523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45655" y="38614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27011" y="38971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同期进展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38035" y="423862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这一阶段出现了汇编语言及汇编系统，程序员可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以用助记符编程，不必直接写机器代码。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6898005" y="5158740"/>
            <a:ext cx="4760595" cy="782955"/>
            <a:chOff x="6898005" y="5158740"/>
            <a:chExt cx="4760595" cy="782955"/>
          </a:xfrm>
        </p:grpSpPr>
        <p:sp>
          <p:nvSpPr>
            <p:cNvPr id="61" name="Rectangle 61"/>
            <p:cNvSpPr/>
            <p:nvPr/>
          </p:nvSpPr>
          <p:spPr>
            <a:xfrm>
              <a:off x="6898005" y="5158740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102793" y="5450205"/>
              <a:ext cx="200026" cy="200025"/>
              <a:chOff x="7102793" y="5450205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102793" y="54502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142531" y="54946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177247" y="56057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404735" y="530733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机器越快，手工操作占的比例越大，见下一页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例题。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61057" cy="909257"/>
            <a:chOff x="520446" y="342900"/>
            <a:chExt cx="626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操作系统的历史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6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例题：CPU 变快以后，手工操作成了瓶颈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549890" cy="569595"/>
            <a:chOff x="525780" y="1548765"/>
            <a:chExt cx="10549890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549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一个作业在每秒 1000 次运算的机器上运行需要 1 小时，手工操作需要 4 分钟。机器提速到每秒 600 000 次后，手工操作与运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行时间之比变为多少？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28066" y="2230755"/>
            <a:ext cx="6281356" cy="3060002"/>
            <a:chOff x="528066" y="2230755"/>
            <a:chExt cx="6281356" cy="3060002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6276022" cy="4629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88428" y="23626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50872" y="2362676"/>
              <a:ext cx="15619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1000 次/s 的机器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95429" y="2362676"/>
              <a:ext cx="18429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600 000 次/s 的机器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4746" y="282654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作业运算量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32355" y="2826544"/>
              <a:ext cx="9989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3.6×10⁶ 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18493" y="282654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1527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157538"/>
              <a:ext cx="6276022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4746" y="328945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69510" y="3289459"/>
              <a:ext cx="15246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3600 s（1 小时）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25177" y="3289459"/>
              <a:ext cx="1983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3.6×10⁶ ÷ 6×10⁵ = 6 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6156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4746" y="375237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手工操作时间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22079" y="3752374"/>
              <a:ext cx="1419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240 s（4 分钟）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88382" y="3752374"/>
              <a:ext cx="12570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240 s（不变）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0795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084320"/>
              <a:ext cx="6276022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746" y="421624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 : 运行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55769" y="4216241"/>
              <a:ext cx="17521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240 : 3600 =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 : 15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98537" y="4216241"/>
              <a:ext cx="1436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240 : 6 =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40 : 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5424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746" y="467915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运行时间占比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02245" y="4679156"/>
              <a:ext cx="18591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3600 ÷ 3840 ≈ 93.8%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50150" y="4679156"/>
              <a:ext cx="13334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÷ 246 ≈ 2.4%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2230755"/>
              <a:ext cx="6276022" cy="27793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034540" y="2230755"/>
              <a:ext cx="9525" cy="27793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419600" y="2230755"/>
              <a:ext cx="9525" cy="27793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066" y="5085398"/>
              <a:ext cx="5657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运算量 = 1000 次/s × 3600 s。最后一行为补充计算：运行时间 ÷（运行时间 + 手工时间）</a:t>
              </a:r>
            </a:p>
          </p:txBody>
        </p:sp>
      </p:grpSp>
      <p:grpSp>
        <p:nvGrpSpPr>
          <p:cNvPr id="56" name="c2-steps-1"/>
          <p:cNvGrpSpPr/>
          <p:nvPr/>
        </p:nvGrpSpPr>
        <p:grpSpPr>
          <a:xfrm>
            <a:off x="7114222" y="2240280"/>
            <a:ext cx="4512259" cy="2398776"/>
            <a:chOff x="7114222" y="2240280"/>
            <a:chExt cx="4512259" cy="2398776"/>
          </a:xfrm>
        </p:grpSpPr>
        <p:sp>
          <p:nvSpPr>
            <p:cNvPr id="39" name="Rectangle 39"/>
            <p:cNvSpPr/>
            <p:nvPr/>
          </p:nvSpPr>
          <p:spPr>
            <a:xfrm>
              <a:off x="7247572" y="2383155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114222" y="224028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07846" y="23140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114222" y="285750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07846" y="29313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114222" y="347376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07846" y="35475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114222" y="409098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07846" y="41648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26084" y="227314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求运算量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27226" y="2553652"/>
              <a:ext cx="409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运算次数 = 速度 × 时间，只由作业决定，与机器快慢无关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26084" y="289036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求新运行时间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27226" y="3170872"/>
              <a:ext cx="222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同一运算量除以新速度，得 6 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26084" y="350662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求比值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27226" y="3787140"/>
              <a:ext cx="3986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 240 s 不变，与运行时间之比由 1 : 15 变为 40 : 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26084" y="412384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看占比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27226" y="4404360"/>
              <a:ext cx="3218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手工时间占总时间的比例从 1/16 升到 40/41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7" name="Rectangle 5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6011704"/>
              <a:ext cx="71925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提速后机器约 97.6% 的时间在等人，必须让作业之间自动过渡，于是出现了批处理。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操作系统的历史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联机批处理：监督程序让作业一个接一个自动运行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699570" cy="293370"/>
            <a:chOff x="525780" y="1548765"/>
            <a:chExt cx="56995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699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1.2.1 之二：批处理阶段（20 世纪 50 年代，操作系统雏形）。</a:t>
              </a:r>
            </a:p>
          </p:txBody>
        </p:sp>
      </p:grpSp>
      <p:grpSp>
        <p:nvGrpSpPr>
          <p:cNvPr id="29" name="c1-flow-1"/>
          <p:cNvGrpSpPr/>
          <p:nvPr/>
        </p:nvGrpSpPr>
        <p:grpSpPr>
          <a:xfrm>
            <a:off x="727710" y="2123122"/>
            <a:ext cx="10735628" cy="1446848"/>
            <a:chOff x="727710" y="2123122"/>
            <a:chExt cx="10735628" cy="1446848"/>
          </a:xfrm>
        </p:grpSpPr>
        <p:sp>
          <p:nvSpPr>
            <p:cNvPr id="9" name="Freeform 9"/>
            <p:cNvSpPr/>
            <p:nvPr/>
          </p:nvSpPr>
          <p:spPr>
            <a:xfrm>
              <a:off x="3120390" y="242411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04235" y="23717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901690" y="242411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185535" y="23717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682990" y="242411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966835" y="23717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705350" y="2735580"/>
              <a:ext cx="2781300" cy="422910"/>
            </a:xfrm>
            <a:custGeom>
              <a:avLst/>
              <a:gdLst/>
              <a:ahLst/>
              <a:cxnLst/>
              <a:rect l="l" t="t" r="r" b="b"/>
              <a:pathLst>
                <a:path w="2781300" h="422910">
                  <a:moveTo>
                    <a:pt x="2781300" y="422910"/>
                  </a:moveTo>
                  <a:lnTo>
                    <a:pt x="2781300" y="159067"/>
                  </a:lnTo>
                  <a:lnTo>
                    <a:pt x="0" y="15906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4652962" y="2630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7486650" y="2735580"/>
              <a:ext cx="9525" cy="422910"/>
            </a:xfrm>
            <a:custGeom>
              <a:avLst/>
              <a:gdLst/>
              <a:ahLst/>
              <a:cxnLst/>
              <a:rect l="l" t="t" r="r" b="b"/>
              <a:pathLst>
                <a:path w="9525" h="422910">
                  <a:moveTo>
                    <a:pt x="0" y="4229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7434262" y="2630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27710" y="2123122"/>
              <a:ext cx="2392680" cy="602932"/>
            </a:xfrm>
            <a:custGeom>
              <a:avLst/>
              <a:gdLst/>
              <a:ahLst/>
              <a:cxnLst/>
              <a:rect l="l" t="t" r="r" b="b"/>
              <a:pathLst>
                <a:path w="2392680" h="602932">
                  <a:moveTo>
                    <a:pt x="133350" y="0"/>
                  </a:moveTo>
                  <a:lnTo>
                    <a:pt x="2392680" y="0"/>
                  </a:lnTo>
                  <a:lnTo>
                    <a:pt x="2259330" y="602932"/>
                  </a:lnTo>
                  <a:lnTo>
                    <a:pt x="0" y="602932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09010" y="2218372"/>
              <a:ext cx="239172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90310" y="2218372"/>
              <a:ext cx="239172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71610" y="2123122"/>
              <a:ext cx="2391728" cy="603885"/>
            </a:xfrm>
            <a:prstGeom prst="roundRect">
              <a:avLst>
                <a:gd name="adj" fmla="val 15773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94922" y="3158490"/>
              <a:ext cx="4783455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14044" y="2237422"/>
              <a:ext cx="162001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作业卡片 Job1、Job2 …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Jobn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56938" y="234029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读卡机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38238" y="234029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磁带机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47454" y="2237422"/>
              <a:ext cx="18409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计算机：汇编程序、编译程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序、链接程序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68974" y="3281362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监督程序：控制作业的读入与运行</a:t>
              </a:r>
            </a:p>
          </p:txBody>
        </p:sp>
      </p:grpSp>
      <p:grpSp>
        <p:nvGrpSpPr>
          <p:cNvPr id="46" name="c1-compare-2"/>
          <p:cNvGrpSpPr/>
          <p:nvPr/>
        </p:nvGrpSpPr>
        <p:grpSpPr>
          <a:xfrm>
            <a:off x="533400" y="4014788"/>
            <a:ext cx="11125200" cy="1566862"/>
            <a:chOff x="533400" y="4014788"/>
            <a:chExt cx="11125200" cy="1566862"/>
          </a:xfrm>
        </p:grpSpPr>
        <p:sp>
          <p:nvSpPr>
            <p:cNvPr id="30" name="Rectangle 30"/>
            <p:cNvSpPr/>
            <p:nvPr/>
          </p:nvSpPr>
          <p:spPr>
            <a:xfrm>
              <a:off x="533400" y="4014788"/>
              <a:ext cx="5391150" cy="1566862"/>
            </a:xfrm>
            <a:prstGeom prst="roundRect">
              <a:avLst>
                <a:gd name="adj" fmla="val 8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148138"/>
              <a:ext cx="47625" cy="1300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381" y="423624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优点：摆脱了人工干预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7240" y="463200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3831" y="457247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作业之间的过渡没有人的干预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7240" y="495014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3831" y="488965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一个作业的处理过程（汇编、编译、链接、运行）也没有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人的干预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67450" y="4014788"/>
              <a:ext cx="5391150" cy="1566862"/>
            </a:xfrm>
            <a:prstGeom prst="roundRect">
              <a:avLst>
                <a:gd name="adj" fmla="val 8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76975" y="4148138"/>
              <a:ext cx="47625" cy="1300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96431" y="423624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511290" y="463200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67881" y="457247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输入输出都由主机直接控制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11290" y="495014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67881" y="4889659"/>
              <a:ext cx="25010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操作慢，主机等待时间长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934075" y="463677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04415" y="473297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7" name="Rectangle 4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511" y="6011704"/>
              <a:ext cx="9954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监督程序常驻内存：从磁带读入一个作业，依次调用汇编、编译、链接程序并运行它，结束后自动转去读下一个作业。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操作系统的历史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脱机批处理：慢速输入输出交给卫星机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flow-1"/>
          <p:cNvGrpSpPr/>
          <p:nvPr/>
        </p:nvGrpSpPr>
        <p:grpSpPr>
          <a:xfrm>
            <a:off x="710565" y="1900238"/>
            <a:ext cx="10770871" cy="1628774"/>
            <a:chOff x="710565" y="1900238"/>
            <a:chExt cx="10770871" cy="1628774"/>
          </a:xfrm>
        </p:grpSpPr>
        <p:sp>
          <p:nvSpPr>
            <p:cNvPr id="7" name="Freeform 7"/>
            <p:cNvSpPr/>
            <p:nvPr/>
          </p:nvSpPr>
          <p:spPr>
            <a:xfrm>
              <a:off x="2885122" y="2119312"/>
              <a:ext cx="1441132" cy="176212"/>
            </a:xfrm>
            <a:custGeom>
              <a:avLst/>
              <a:gdLst/>
              <a:ahLst/>
              <a:cxnLst/>
              <a:rect l="l" t="t" r="r" b="b"/>
              <a:pathLst>
                <a:path w="1441132" h="176212">
                  <a:moveTo>
                    <a:pt x="0" y="0"/>
                  </a:moveTo>
                  <a:lnTo>
                    <a:pt x="209550" y="0"/>
                  </a:lnTo>
                  <a:lnTo>
                    <a:pt x="1441132" y="0"/>
                  </a:lnTo>
                  <a:lnTo>
                    <a:pt x="1441132" y="71438"/>
                  </a:lnTo>
                  <a:lnTo>
                    <a:pt x="1441132" y="1762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273868" y="2295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413058" y="2119312"/>
              <a:ext cx="249555" cy="595312"/>
            </a:xfrm>
            <a:custGeom>
              <a:avLst/>
              <a:gdLst/>
              <a:ahLst/>
              <a:cxnLst/>
              <a:rect l="l" t="t" r="r" b="b"/>
              <a:pathLst>
                <a:path w="249555" h="595312">
                  <a:moveTo>
                    <a:pt x="0" y="595312"/>
                  </a:moveTo>
                  <a:lnTo>
                    <a:pt x="209550" y="595312"/>
                  </a:lnTo>
                  <a:lnTo>
                    <a:pt x="144780" y="595312"/>
                  </a:lnTo>
                  <a:lnTo>
                    <a:pt x="144780" y="0"/>
                  </a:lnTo>
                  <a:lnTo>
                    <a:pt x="24955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662612" y="2066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941945" y="2119312"/>
              <a:ext cx="2452688" cy="176212"/>
            </a:xfrm>
            <a:custGeom>
              <a:avLst/>
              <a:gdLst/>
              <a:ahLst/>
              <a:cxnLst/>
              <a:rect l="l" t="t" r="r" b="b"/>
              <a:pathLst>
                <a:path w="2452688" h="176212">
                  <a:moveTo>
                    <a:pt x="0" y="0"/>
                  </a:moveTo>
                  <a:lnTo>
                    <a:pt x="209550" y="0"/>
                  </a:lnTo>
                  <a:lnTo>
                    <a:pt x="2452688" y="0"/>
                  </a:lnTo>
                  <a:lnTo>
                    <a:pt x="2452688" y="71438"/>
                  </a:lnTo>
                  <a:lnTo>
                    <a:pt x="2452688" y="176212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10342245" y="2295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046720" y="3028950"/>
              <a:ext cx="2347912" cy="280988"/>
            </a:xfrm>
            <a:custGeom>
              <a:avLst/>
              <a:gdLst/>
              <a:ahLst/>
              <a:cxnLst/>
              <a:rect l="l" t="t" r="r" b="b"/>
              <a:pathLst>
                <a:path w="2347912" h="280988">
                  <a:moveTo>
                    <a:pt x="2347912" y="0"/>
                  </a:moveTo>
                  <a:lnTo>
                    <a:pt x="2347912" y="209550"/>
                  </a:lnTo>
                  <a:lnTo>
                    <a:pt x="2347912" y="280988"/>
                  </a:lnTo>
                  <a:lnTo>
                    <a:pt x="104775" y="280988"/>
                  </a:lnTo>
                  <a:lnTo>
                    <a:pt x="0" y="280988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7941945" y="32575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326255" y="3133725"/>
              <a:ext cx="1441132" cy="176212"/>
            </a:xfrm>
            <a:custGeom>
              <a:avLst/>
              <a:gdLst/>
              <a:ahLst/>
              <a:cxnLst/>
              <a:rect l="l" t="t" r="r" b="b"/>
              <a:pathLst>
                <a:path w="1441132" h="176212">
                  <a:moveTo>
                    <a:pt x="1441132" y="176212"/>
                  </a:moveTo>
                  <a:lnTo>
                    <a:pt x="1231582" y="176212"/>
                  </a:lnTo>
                  <a:lnTo>
                    <a:pt x="0" y="176212"/>
                  </a:lnTo>
                  <a:lnTo>
                    <a:pt x="0" y="10477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273868" y="30289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989898" y="2714625"/>
              <a:ext cx="248603" cy="595312"/>
            </a:xfrm>
            <a:custGeom>
              <a:avLst/>
              <a:gdLst/>
              <a:ahLst/>
              <a:cxnLst/>
              <a:rect l="l" t="t" r="r" b="b"/>
              <a:pathLst>
                <a:path w="248603" h="595312">
                  <a:moveTo>
                    <a:pt x="248603" y="0"/>
                  </a:moveTo>
                  <a:lnTo>
                    <a:pt x="39053" y="0"/>
                  </a:lnTo>
                  <a:lnTo>
                    <a:pt x="104775" y="0"/>
                  </a:lnTo>
                  <a:lnTo>
                    <a:pt x="104775" y="595312"/>
                  </a:lnTo>
                  <a:lnTo>
                    <a:pt x="0" y="5953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85122" y="32575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0565" y="1900238"/>
              <a:ext cx="217455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0565" y="3090862"/>
              <a:ext cx="217455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238500" y="2400300"/>
              <a:ext cx="2174558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767388" y="1900238"/>
              <a:ext cx="2174557" cy="438150"/>
            </a:xfrm>
            <a:custGeom>
              <a:avLst/>
              <a:gdLst/>
              <a:ahLst/>
              <a:cxnLst/>
              <a:rect l="l" t="t" r="r" b="b"/>
              <a:pathLst>
                <a:path w="2174557" h="438150">
                  <a:moveTo>
                    <a:pt x="133350" y="0"/>
                  </a:moveTo>
                  <a:lnTo>
                    <a:pt x="2174557" y="0"/>
                  </a:lnTo>
                  <a:lnTo>
                    <a:pt x="2041207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767388" y="3090862"/>
              <a:ext cx="2174557" cy="438150"/>
            </a:xfrm>
            <a:custGeom>
              <a:avLst/>
              <a:gdLst/>
              <a:ahLst/>
              <a:cxnLst/>
              <a:rect l="l" t="t" r="r" b="b"/>
              <a:pathLst>
                <a:path w="2174557" h="438150">
                  <a:moveTo>
                    <a:pt x="133350" y="0"/>
                  </a:moveTo>
                  <a:lnTo>
                    <a:pt x="2174557" y="0"/>
                  </a:lnTo>
                  <a:lnTo>
                    <a:pt x="2041207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9306878" y="2400300"/>
              <a:ext cx="2174558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32420" y="20302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读卡机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32420" y="32208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88258" y="2516029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卫星机（不与主机相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3086" y="20302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输入磁带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03086" y="32208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输出磁带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56636" y="2516029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主计算机：汇编、编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译、链接程序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58262" y="1903095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84552" y="192976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人工搬运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958262" y="3093720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984552" y="31203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人工搬运</a:t>
              </a:r>
            </a:p>
          </p:txBody>
        </p:sp>
      </p:grpSp>
      <p:grpSp>
        <p:nvGrpSpPr>
          <p:cNvPr id="52" name="c1-compare-2"/>
          <p:cNvGrpSpPr/>
          <p:nvPr/>
        </p:nvGrpSpPr>
        <p:grpSpPr>
          <a:xfrm>
            <a:off x="533400" y="4095750"/>
            <a:ext cx="11125200" cy="1367790"/>
            <a:chOff x="533400" y="4095750"/>
            <a:chExt cx="11125200" cy="1367790"/>
          </a:xfrm>
        </p:grpSpPr>
        <p:sp>
          <p:nvSpPr>
            <p:cNvPr id="36" name="Rectangle 36"/>
            <p:cNvSpPr/>
            <p:nvPr/>
          </p:nvSpPr>
          <p:spPr>
            <a:xfrm>
              <a:off x="533400" y="4095750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229100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3430" y="4330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86765" y="47472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4880" y="468439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主机只和高速磁带打交道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86765" y="50825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4880" y="5019675"/>
              <a:ext cx="29077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减少了主机等待 I/O 操作的时间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67450" y="4095750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76975" y="4229100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07480" y="4330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20815" y="47472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78930" y="468439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需要人工搬动磁带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20815" y="50825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78930" y="50196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需要额外的卫星机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934075" y="461772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04415" y="471392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991225"/>
              <a:ext cx="93897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“脱机”指卫星机和读卡机、打印机之间的慢速 I/O 不在主机控制下进行，两台机器之间靠磁带传递数据。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01700" cy="909257"/>
            <a:chOff x="520446" y="342900"/>
            <a:chExt cx="83017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操作系统的历史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017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执行系统阶段：通道接管 I/O，完成后用中断通知主机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152697" cy="308039"/>
            <a:chOff x="525399" y="1550194"/>
            <a:chExt cx="515269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1526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1.2.1 之三：执行系统阶段（20 世纪 60 年代初期）。</a:t>
              </a:r>
            </a:p>
          </p:txBody>
        </p:sp>
      </p:grpSp>
      <p:grpSp>
        <p:nvGrpSpPr>
          <p:cNvPr id="24" name="c1-card-1"/>
          <p:cNvGrpSpPr/>
          <p:nvPr/>
        </p:nvGrpSpPr>
        <p:grpSpPr>
          <a:xfrm>
            <a:off x="533400" y="1967865"/>
            <a:ext cx="5193982" cy="2390775"/>
            <a:chOff x="533400" y="1967865"/>
            <a:chExt cx="5193982" cy="239077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193982" cy="2390775"/>
            </a:xfrm>
            <a:prstGeom prst="roundRect">
              <a:avLst>
                <a:gd name="adj" fmla="val 5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12407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39627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专门控制 I/O 设备的处理机（I/O 处理机）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6365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5736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有自己的指令系统和运控部件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9718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90893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与主机共享内存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30708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244215"/>
              <a:ext cx="39296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接受主 CPU 委托，执行通道程序，完成 I/O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36423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579495"/>
              <a:ext cx="25801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通道 I/O 操作与主 CPU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并行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39776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3914775"/>
              <a:ext cx="33116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通道完成 I/O 时，向主机发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中断请求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549140"/>
            <a:ext cx="5193982" cy="782955"/>
            <a:chOff x="533400" y="4549140"/>
            <a:chExt cx="5193982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454914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840607"/>
              <a:ext cx="200023" cy="200023"/>
              <a:chOff x="738188" y="4840607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8406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49072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469773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通道和中断技术的出现，标志操作系统进入初级阶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段。</a:t>
              </a:r>
            </a:p>
          </p:txBody>
        </p:sp>
      </p:grpSp>
      <p:grpSp>
        <p:nvGrpSpPr>
          <p:cNvPr id="53" name="c2-flow-1"/>
          <p:cNvGrpSpPr/>
          <p:nvPr/>
        </p:nvGrpSpPr>
        <p:grpSpPr>
          <a:xfrm>
            <a:off x="6229350" y="2297430"/>
            <a:ext cx="5232082" cy="3734752"/>
            <a:chOff x="6229350" y="2297430"/>
            <a:chExt cx="5232082" cy="3734752"/>
          </a:xfrm>
        </p:grpSpPr>
        <p:sp>
          <p:nvSpPr>
            <p:cNvPr id="31" name="Freeform 31"/>
            <p:cNvSpPr/>
            <p:nvPr/>
          </p:nvSpPr>
          <p:spPr>
            <a:xfrm>
              <a:off x="7439025" y="2735580"/>
              <a:ext cx="1405890" cy="556260"/>
            </a:xfrm>
            <a:custGeom>
              <a:avLst/>
              <a:gdLst/>
              <a:ahLst/>
              <a:cxnLst/>
              <a:rect l="l" t="t" r="r" b="b"/>
              <a:pathLst>
                <a:path w="1405890" h="556260">
                  <a:moveTo>
                    <a:pt x="1405890" y="0"/>
                  </a:moveTo>
                  <a:lnTo>
                    <a:pt x="1405890" y="330517"/>
                  </a:lnTo>
                  <a:lnTo>
                    <a:pt x="0" y="330517"/>
                  </a:lnTo>
                  <a:lnTo>
                    <a:pt x="0" y="5562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386638" y="32918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844915" y="2735580"/>
              <a:ext cx="1406842" cy="556260"/>
            </a:xfrm>
            <a:custGeom>
              <a:avLst/>
              <a:gdLst/>
              <a:ahLst/>
              <a:cxnLst/>
              <a:rect l="l" t="t" r="r" b="b"/>
              <a:pathLst>
                <a:path w="1406842" h="556260">
                  <a:moveTo>
                    <a:pt x="0" y="0"/>
                  </a:moveTo>
                  <a:lnTo>
                    <a:pt x="0" y="330517"/>
                  </a:lnTo>
                  <a:lnTo>
                    <a:pt x="1406842" y="330517"/>
                  </a:lnTo>
                  <a:lnTo>
                    <a:pt x="1406842" y="5562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199370" y="32918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439025" y="3834765"/>
              <a:ext cx="9525" cy="460057"/>
            </a:xfrm>
            <a:custGeom>
              <a:avLst/>
              <a:gdLst/>
              <a:ahLst/>
              <a:cxnLst/>
              <a:rect l="l" t="t" r="r" b="b"/>
              <a:pathLst>
                <a:path w="9525" h="460057">
                  <a:moveTo>
                    <a:pt x="0" y="0"/>
                  </a:moveTo>
                  <a:lnTo>
                    <a:pt x="0" y="46005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386638" y="42948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439025" y="5029200"/>
              <a:ext cx="1405890" cy="460057"/>
            </a:xfrm>
            <a:custGeom>
              <a:avLst/>
              <a:gdLst/>
              <a:ahLst/>
              <a:cxnLst/>
              <a:rect l="l" t="t" r="r" b="b"/>
              <a:pathLst>
                <a:path w="1405890" h="460057">
                  <a:moveTo>
                    <a:pt x="0" y="0"/>
                  </a:moveTo>
                  <a:lnTo>
                    <a:pt x="0" y="282893"/>
                  </a:lnTo>
                  <a:lnTo>
                    <a:pt x="1405890" y="282893"/>
                  </a:lnTo>
                  <a:lnTo>
                    <a:pt x="1405890" y="46005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792528" y="54892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844915" y="3834765"/>
              <a:ext cx="1406842" cy="1654492"/>
            </a:xfrm>
            <a:custGeom>
              <a:avLst/>
              <a:gdLst/>
              <a:ahLst/>
              <a:cxnLst/>
              <a:rect l="l" t="t" r="r" b="b"/>
              <a:pathLst>
                <a:path w="1406842" h="1654492">
                  <a:moveTo>
                    <a:pt x="1406842" y="0"/>
                  </a:moveTo>
                  <a:lnTo>
                    <a:pt x="1406842" y="880110"/>
                  </a:lnTo>
                  <a:lnTo>
                    <a:pt x="0" y="880110"/>
                  </a:lnTo>
                  <a:lnTo>
                    <a:pt x="0" y="16544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792528" y="54892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25565" y="2297430"/>
              <a:ext cx="483870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29350" y="3396615"/>
              <a:ext cx="24193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042082" y="3396615"/>
              <a:ext cx="2419350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29350" y="4399598"/>
              <a:ext cx="241935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25565" y="5594032"/>
              <a:ext cx="483870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75646" y="2427446"/>
              <a:ext cx="23385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 CPU 委托通道执行通道程序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28800" y="3526631"/>
              <a:ext cx="12204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通道：执行 I/O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50824" y="3526631"/>
              <a:ext cx="14018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 CPU：继续计算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5316" y="4516279"/>
              <a:ext cx="194741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通道：I/O 完成，发中断请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51516" y="5724049"/>
              <a:ext cx="2586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 CPU 响应中断，处理 I/O 结果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301162" y="4498658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31452" y="45253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被中断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49867" cy="909257"/>
            <a:chOff x="520446" y="342900"/>
            <a:chExt cx="64498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操作系统的历史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498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执行系统的 I/O 方式：假脱机 SPOOLing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flow-1"/>
          <p:cNvGrpSpPr/>
          <p:nvPr/>
        </p:nvGrpSpPr>
        <p:grpSpPr>
          <a:xfrm>
            <a:off x="714375" y="1828800"/>
            <a:ext cx="10763250" cy="1485900"/>
            <a:chOff x="714375" y="1828800"/>
            <a:chExt cx="10763250" cy="1485900"/>
          </a:xfrm>
        </p:grpSpPr>
        <p:sp>
          <p:nvSpPr>
            <p:cNvPr id="7" name="Freeform 7"/>
            <p:cNvSpPr/>
            <p:nvPr/>
          </p:nvSpPr>
          <p:spPr>
            <a:xfrm>
              <a:off x="2939415" y="2047875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96590" y="1995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526405" y="2047875"/>
              <a:ext cx="258127" cy="9525"/>
            </a:xfrm>
            <a:custGeom>
              <a:avLst/>
              <a:gdLst/>
              <a:ahLst/>
              <a:cxnLst/>
              <a:rect l="l" t="t" r="r" b="b"/>
              <a:pathLst>
                <a:path w="258127" h="9525">
                  <a:moveTo>
                    <a:pt x="0" y="0"/>
                  </a:moveTo>
                  <a:lnTo>
                    <a:pt x="25812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784532" y="1995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001828" y="2262188"/>
              <a:ext cx="3363278" cy="100012"/>
            </a:xfrm>
            <a:custGeom>
              <a:avLst/>
              <a:gdLst/>
              <a:ahLst/>
              <a:cxnLst/>
              <a:rect l="l" t="t" r="r" b="b"/>
              <a:pathLst>
                <a:path w="3363278" h="100012">
                  <a:moveTo>
                    <a:pt x="0" y="4762"/>
                  </a:moveTo>
                  <a:lnTo>
                    <a:pt x="0" y="0"/>
                  </a:lnTo>
                  <a:lnTo>
                    <a:pt x="3363278" y="0"/>
                  </a:lnTo>
                  <a:lnTo>
                    <a:pt x="3363278" y="100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312718" y="22574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001828" y="2881312"/>
              <a:ext cx="3363278" cy="100012"/>
            </a:xfrm>
            <a:custGeom>
              <a:avLst/>
              <a:gdLst/>
              <a:ahLst/>
              <a:cxnLst/>
              <a:rect l="l" t="t" r="r" b="b"/>
              <a:pathLst>
                <a:path w="3363278" h="100012">
                  <a:moveTo>
                    <a:pt x="3363278" y="4762"/>
                  </a:moveTo>
                  <a:lnTo>
                    <a:pt x="3363278" y="0"/>
                  </a:lnTo>
                  <a:lnTo>
                    <a:pt x="0" y="0"/>
                  </a:lnTo>
                  <a:lnTo>
                    <a:pt x="0" y="100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949440" y="28765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631180" y="3095625"/>
              <a:ext cx="258127" cy="9525"/>
            </a:xfrm>
            <a:custGeom>
              <a:avLst/>
              <a:gdLst/>
              <a:ahLst/>
              <a:cxnLst/>
              <a:rect l="l" t="t" r="r" b="b"/>
              <a:pathLst>
                <a:path w="258127" h="9525">
                  <a:moveTo>
                    <a:pt x="258127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526405" y="3043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044190" y="3095625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25717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939415" y="3043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4375" y="1828800"/>
              <a:ext cx="222504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301365" y="1828800"/>
              <a:ext cx="2225040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889308" y="1828800"/>
              <a:ext cx="2225040" cy="438150"/>
            </a:xfrm>
            <a:custGeom>
              <a:avLst/>
              <a:gdLst/>
              <a:ahLst/>
              <a:cxnLst/>
              <a:rect l="l" t="t" r="r" b="b"/>
              <a:pathLst>
                <a:path w="2225040" h="438150">
                  <a:moveTo>
                    <a:pt x="133350" y="0"/>
                  </a:moveTo>
                  <a:lnTo>
                    <a:pt x="2225040" y="0"/>
                  </a:lnTo>
                  <a:lnTo>
                    <a:pt x="209169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4375" y="2876550"/>
              <a:ext cx="222504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301365" y="2876550"/>
              <a:ext cx="2225040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889308" y="2876550"/>
              <a:ext cx="2225040" cy="438150"/>
            </a:xfrm>
            <a:custGeom>
              <a:avLst/>
              <a:gdLst/>
              <a:ahLst/>
              <a:cxnLst/>
              <a:rect l="l" t="t" r="r" b="b"/>
              <a:pathLst>
                <a:path w="2225040" h="438150">
                  <a:moveTo>
                    <a:pt x="133350" y="0"/>
                  </a:moveTo>
                  <a:lnTo>
                    <a:pt x="2225040" y="0"/>
                  </a:lnTo>
                  <a:lnTo>
                    <a:pt x="2091690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9252585" y="2257425"/>
              <a:ext cx="2225040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61948" y="19588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读卡机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35094" y="19588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0723" y="19588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输入磁带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61948" y="30065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35094" y="30065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0723" y="30065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输出磁带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4548" y="2373154"/>
              <a:ext cx="18011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主计算机：汇编、编译、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链接程序</a:t>
              </a:r>
            </a:p>
          </p:txBody>
        </p:sp>
      </p:grpSp>
      <p:grpSp>
        <p:nvGrpSpPr>
          <p:cNvPr id="59" name="c1-table-2"/>
          <p:cNvGrpSpPr/>
          <p:nvPr/>
        </p:nvGrpSpPr>
        <p:grpSpPr>
          <a:xfrm>
            <a:off x="527685" y="3810000"/>
            <a:ext cx="11130915" cy="2091214"/>
            <a:chOff x="527685" y="3810000"/>
            <a:chExt cx="11130915" cy="2091214"/>
          </a:xfrm>
        </p:grpSpPr>
        <p:sp>
          <p:nvSpPr>
            <p:cNvPr id="34" name="Rectangle 34"/>
            <p:cNvSpPr/>
            <p:nvPr/>
          </p:nvSpPr>
          <p:spPr>
            <a:xfrm>
              <a:off x="533400" y="38100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578572" y="3945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50764" y="3945731"/>
              <a:ext cx="106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I/O 由谁完成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27709" y="3945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主机是否等慢速设备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94976" y="3945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人工干预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1223" y="4394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联机批处理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89148" y="4394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主机直接控制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93458" y="4394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是，等待时间长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41383" y="4394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702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707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1223" y="4842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脱机批处理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089148" y="48429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不与主机相连的卫星机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93458" y="4842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41383" y="4842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要搬磁带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152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1223" y="5291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执行系统（假脱机）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089148" y="5291614"/>
              <a:ext cx="16288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通道，与主 CPU 并行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93458" y="5291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41383" y="5291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3810000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2976562" y="3810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80872" y="3810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428798" y="3810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7685" y="5681186"/>
              <a:ext cx="87868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SPOOLing = Simultaneous Peripheral Operation On-Line。设备仍与主机相连，所以“非脱机”；I/O 不占主 CPU，所以“非联机”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60322" cy="909257"/>
            <a:chOff x="520446" y="342900"/>
            <a:chExt cx="84603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操作系统的历史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603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操作系统的完善：四类系统在 20 世纪 60 年代相继出现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11125200" cy="2697480"/>
            <a:chOff x="533400" y="1524000"/>
            <a:chExt cx="11125200" cy="2697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004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0835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出现时间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873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为什么出现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2727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主要特点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2217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多道批处理系统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32888" y="2221706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年代初期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01668" y="222170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执行系统中只有单道作业，资源利用不充分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05978" y="2108359"/>
              <a:ext cx="31015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主机中同时放多个作业，最大限度提高资源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795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分时系统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32888" y="2783681"/>
              <a:ext cx="12880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年代初、中期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01668" y="278368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程序员提出联机操作的要求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05978" y="278368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一台主机，多个终端，交互式工作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3456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实时系统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32888" y="3345656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年代中期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01668" y="3232309"/>
              <a:ext cx="35892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计算机应用领域扩大：工业控制、医疗控制、航班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订票等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05978" y="334565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满足时间约束条件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680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77285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9076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通用操作系统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32888" y="3907631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年代后期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01668" y="390763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希望一个系统兼顾多种用途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05978" y="39076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上述三类系统的结合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1112520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42030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08908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09339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rd-2"/>
          <p:cNvGrpSpPr/>
          <p:nvPr/>
        </p:nvGrpSpPr>
        <p:grpSpPr>
          <a:xfrm>
            <a:off x="533400" y="4411980"/>
            <a:ext cx="11125200" cy="1612582"/>
            <a:chOff x="533400" y="4411980"/>
            <a:chExt cx="11125200" cy="1612582"/>
          </a:xfrm>
        </p:grpSpPr>
        <p:sp>
          <p:nvSpPr>
            <p:cNvPr id="38" name="Rectangle 38"/>
            <p:cNvSpPr/>
            <p:nvPr/>
          </p:nvSpPr>
          <p:spPr>
            <a:xfrm>
              <a:off x="533400" y="4411980"/>
              <a:ext cx="11125200" cy="1612582"/>
            </a:xfrm>
            <a:prstGeom prst="roundRect">
              <a:avLst>
                <a:gd name="adj" fmla="val 826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42950" y="462153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7555" y="465724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多道批处理的意义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5330" y="4998720"/>
              <a:ext cx="1030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从单道到多道是质的飞跃：内存中同时有多个作业，随之出现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互斥、同步、通讯、死锁、饥饿、饿死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等新问题，后面几章都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围绕它们展开。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6473" y="561641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多道批处理系统的出现，标志操作系统走向成熟。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操作系统的历史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操作系统的发展：硬件和应用的变化催生新的系统类型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6708458" cy="3992880"/>
            <a:chOff x="533400" y="1524000"/>
            <a:chExt cx="6708458" cy="39928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67877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17758" y="16630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产生的操作系统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体系结构由集中走向分散，出现计算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机网络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28135" y="228409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网络操作系统、分布式操作系统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76129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766060"/>
              <a:ext cx="670845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080" y="29051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家用和商用微型计算机普及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28135" y="29051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单用户多任务的操作系统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4897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339280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大型计算任务要求极强的计算和处理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28135" y="35261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支持多处理器的并行操作系统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00335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008120"/>
              <a:ext cx="6708458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080" y="414718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各种处理器芯片和存储介质广泛用于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控制领域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28135" y="4147185"/>
              <a:ext cx="26917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微内核（micro kernel）体系结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构；嵌入式和智能卡操作系统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7577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0080" y="490156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后摩尔时代单处理器提速已近极限，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出现多核技术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28135" y="4901565"/>
              <a:ext cx="2872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新一代操作系统要解决多核的并发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控制、多核下的进程调度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6708458" cy="39928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016692" y="1524000"/>
              <a:ext cx="9525" cy="39928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2-card-1"/>
          <p:cNvGrpSpPr/>
          <p:nvPr/>
        </p:nvGrpSpPr>
        <p:grpSpPr>
          <a:xfrm>
            <a:off x="7546658" y="1524000"/>
            <a:ext cx="4111942" cy="3992880"/>
            <a:chOff x="7546658" y="1524000"/>
            <a:chExt cx="4111942" cy="3992880"/>
          </a:xfrm>
        </p:grpSpPr>
        <p:sp>
          <p:nvSpPr>
            <p:cNvPr id="29" name="Rectangle 29"/>
            <p:cNvSpPr/>
            <p:nvPr/>
          </p:nvSpPr>
          <p:spPr>
            <a:xfrm>
              <a:off x="7546658" y="1524000"/>
              <a:ext cx="4111942" cy="3992880"/>
            </a:xfrm>
            <a:prstGeom prst="roundRect">
              <a:avLst>
                <a:gd name="adj" fmla="val 33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56182" y="1657350"/>
              <a:ext cx="47625" cy="37261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79430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8546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95335" y="1768792"/>
              <a:ext cx="1863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什么是“后摩尔时代”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86688" y="212979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摩尔定律：集成电路上可容纳的晶体管数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目大约每 18～24 个月翻一番。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86688" y="2750820"/>
              <a:ext cx="3444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后来单个处理器的主频受功耗和散热限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制，难以继续提高，厂商转而在一块芯片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上放多个核。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87830" y="3654266"/>
              <a:ext cx="3426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多个核同时运行多个进程，调度和互斥都比单核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复杂。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957354" cy="2997517"/>
            <a:chOff x="667512" y="1835468"/>
            <a:chExt cx="595735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操作系统的特性与类型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9474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先看各类操作系统共有的四个特性，再按用途分出 11 种类型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 并发、共享、异步、虚拟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93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1.4.1 至 1.4.4 批处理、分时、实时、通用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8418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1.4.5 至 1.4.11 单用户、网络、分布式等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并发性：宏观上同时推进，微观上可以轮流执行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cells-1"/>
          <p:cNvGrpSpPr/>
          <p:nvPr/>
        </p:nvGrpSpPr>
        <p:grpSpPr>
          <a:xfrm>
            <a:off x="527304" y="1524000"/>
            <a:ext cx="4701921" cy="1600200"/>
            <a:chOff x="527304" y="1524000"/>
            <a:chExt cx="4701921" cy="1600200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659255"/>
              <a:ext cx="13135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并发（1 个 CPU）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876425" y="1524000"/>
              <a:ext cx="419100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030593" y="16592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95525" y="15240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49693" y="16592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14625" y="152400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68793" y="16592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33725" y="1524000"/>
              <a:ext cx="419100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87893" y="16592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552825" y="15240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06993" y="16592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971925" y="152400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126093" y="16592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391025" y="1524000"/>
              <a:ext cx="419100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45193" y="16592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810125" y="15240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64293" y="16592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7304" y="2249805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并行 CPU1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876425" y="2114550"/>
              <a:ext cx="419100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030593" y="22498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295525" y="2114550"/>
              <a:ext cx="419100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449693" y="22498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714625" y="2114550"/>
              <a:ext cx="419100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868793" y="22498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133725" y="2114550"/>
              <a:ext cx="419100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87893" y="22498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552825" y="2114550"/>
              <a:ext cx="419100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706993" y="22498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971925" y="2114550"/>
              <a:ext cx="419100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126093" y="22498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91025" y="2114550"/>
              <a:ext cx="419100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45193" y="22498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810125" y="2114550"/>
              <a:ext cx="419100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964293" y="22498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7304" y="2840355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并行 CPU2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876425" y="27051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030593" y="28403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295525" y="27051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449693" y="28403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714625" y="27051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868793" y="28403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133725" y="27051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287893" y="28403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552825" y="27051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06993" y="28403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971925" y="27051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126093" y="28403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391025" y="27051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545193" y="28403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810125" y="27051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964293" y="28403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60" name="c1-text-2"/>
          <p:cNvGrpSpPr/>
          <p:nvPr/>
        </p:nvGrpSpPr>
        <p:grpSpPr>
          <a:xfrm>
            <a:off x="526923" y="3336131"/>
            <a:ext cx="5572506" cy="500824"/>
            <a:chOff x="526923" y="3336131"/>
            <a:chExt cx="5572506" cy="500824"/>
          </a:xfrm>
        </p:grpSpPr>
        <p:sp>
          <p:nvSpPr>
            <p:cNvPr id="59" name="TextBox 59"/>
            <p:cNvSpPr txBox="1"/>
            <p:nvPr/>
          </p:nvSpPr>
          <p:spPr>
            <a:xfrm>
              <a:off x="526923" y="3336131"/>
              <a:ext cx="557250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横向为时间，每格一小段时间。上行 A、B、C 轮流占用唯一的 CPU；下面两行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A、B 在两个 CPU 上同一时刻都在执行。</a:t>
              </a:r>
            </a:p>
          </p:txBody>
        </p:sp>
      </p:grpSp>
      <p:grpSp>
        <p:nvGrpSpPr>
          <p:cNvPr id="67" name="c1-callout-3"/>
          <p:cNvGrpSpPr/>
          <p:nvPr/>
        </p:nvGrpSpPr>
        <p:grpSpPr>
          <a:xfrm>
            <a:off x="533400" y="3976688"/>
            <a:ext cx="5842635" cy="782955"/>
            <a:chOff x="533400" y="3976688"/>
            <a:chExt cx="5842635" cy="782955"/>
          </a:xfrm>
        </p:grpSpPr>
        <p:sp>
          <p:nvSpPr>
            <p:cNvPr id="61" name="Rectangle 61"/>
            <p:cNvSpPr/>
            <p:nvPr/>
          </p:nvSpPr>
          <p:spPr>
            <a:xfrm>
              <a:off x="533400" y="3976688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26129" y="4264461"/>
              <a:ext cx="224134" cy="192560"/>
              <a:chOff x="726129" y="4264461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8200" y="43348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6129" y="42644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44126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4125278"/>
              <a:ext cx="4825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易错：单 CPU 系统只能并发，不能并行。并行的程序一定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是并发的，反过来不一定。</a:t>
              </a:r>
            </a:p>
          </p:txBody>
        </p:sp>
      </p:grpSp>
      <p:grpSp>
        <p:nvGrpSpPr>
          <p:cNvPr id="73" name="c1-card-4"/>
          <p:cNvGrpSpPr/>
          <p:nvPr/>
        </p:nvGrpSpPr>
        <p:grpSpPr>
          <a:xfrm>
            <a:off x="533400" y="4950142"/>
            <a:ext cx="5842635" cy="1316355"/>
            <a:chOff x="533400" y="4950142"/>
            <a:chExt cx="5842635" cy="1316355"/>
          </a:xfrm>
        </p:grpSpPr>
        <p:sp>
          <p:nvSpPr>
            <p:cNvPr id="68" name="Rectangle 68"/>
            <p:cNvSpPr/>
            <p:nvPr/>
          </p:nvSpPr>
          <p:spPr>
            <a:xfrm>
              <a:off x="533400" y="4950142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42925" y="5083492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81050" y="515969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71258" y="51954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类比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73430" y="5536882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一位老师在一节课里轮流辅导三个学生，三人的作业都有进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展，这是并发；三位老师同时各辅导一个学生，这是并行。</a:t>
              </a:r>
            </a:p>
          </p:txBody>
        </p:sp>
      </p:grpSp>
      <p:grpSp>
        <p:nvGrpSpPr>
          <p:cNvPr id="82" name="c2-card-1"/>
          <p:cNvGrpSpPr/>
          <p:nvPr/>
        </p:nvGrpSpPr>
        <p:grpSpPr>
          <a:xfrm>
            <a:off x="6680835" y="1524000"/>
            <a:ext cx="4977765" cy="2223135"/>
            <a:chOff x="6680835" y="1524000"/>
            <a:chExt cx="4977765" cy="2223135"/>
          </a:xfrm>
        </p:grpSpPr>
        <p:sp>
          <p:nvSpPr>
            <p:cNvPr id="74" name="Rectangle 74"/>
            <p:cNvSpPr/>
            <p:nvPr/>
          </p:nvSpPr>
          <p:spPr>
            <a:xfrm>
              <a:off x="6680835" y="1524000"/>
              <a:ext cx="4977765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690360" y="1657350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9284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0196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934200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092315" y="2110740"/>
              <a:ext cx="4163378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并发（concurrent）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：多个程序在同一段时间内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都在向前推进，宏观上同时，微观上可以轮流使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CPU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934200" y="30803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092315" y="3017520"/>
              <a:ext cx="417433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并行（parallel）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：多个程序在同一时刻真正同时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执行，需要多个 CPU 或多个核</a:t>
              </a:r>
            </a:p>
          </p:txBody>
        </p:sp>
      </p:grpSp>
      <p:grpSp>
        <p:nvGrpSpPr>
          <p:cNvPr id="96" name="c2-card-2"/>
          <p:cNvGrpSpPr/>
          <p:nvPr/>
        </p:nvGrpSpPr>
        <p:grpSpPr>
          <a:xfrm>
            <a:off x="6680835" y="3937635"/>
            <a:ext cx="4977765" cy="2328862"/>
            <a:chOff x="6680835" y="3937635"/>
            <a:chExt cx="4977765" cy="2328862"/>
          </a:xfrm>
        </p:grpSpPr>
        <p:sp>
          <p:nvSpPr>
            <p:cNvPr id="83" name="Rectangle 83"/>
            <p:cNvSpPr/>
            <p:nvPr/>
          </p:nvSpPr>
          <p:spPr>
            <a:xfrm>
              <a:off x="6680835" y="3937635"/>
              <a:ext cx="4977765" cy="2328862"/>
            </a:xfrm>
            <a:prstGeom prst="roundRect">
              <a:avLst>
                <a:gd name="adj" fmla="val 5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6690360" y="4070985"/>
              <a:ext cx="47625" cy="2062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928485" y="414718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985190" y="418290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操作系统中的三种并发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6928485" y="451104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990334" y="45533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229475" y="45243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用户程序与用户程序并发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6928485" y="484632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990334" y="4888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229475" y="48596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用户程序与操作系统并发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6928485" y="518160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990334" y="52238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229475" y="519493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操作系统内部的程序之间并发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共享性、异步性、虚拟性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11125200" cy="3017520"/>
            <a:chOff x="533400" y="1524000"/>
            <a:chExt cx="11125200" cy="30175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348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2911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8230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例子或说明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20302" y="2150745"/>
              <a:ext cx="4015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多个程序共用系统中的各种软硬件资源，在操作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系统的协调和控制下进行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70383" y="2150745"/>
              <a:ext cx="43872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多个进程轮流使用 CPU、同时驻留内存、互斥地使用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同一台打印机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905125"/>
              <a:ext cx="1158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异步性（随机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20302" y="30384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多个程序以不可预知的速度向前推进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70383" y="2905125"/>
              <a:ext cx="44348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程序何时被中断、何时等待 I/O 事先无法知道；操作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系统要保证在相同条件下多次运行结果相同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56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9262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0302" y="3792855"/>
              <a:ext cx="4015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把一个物理实体变成逻辑上的多个，或把几种资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源组合成更好用的资源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70383" y="3659505"/>
              <a:ext cx="426339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一个实的 CPU 改造成多个虚的 CPU；内存 + 外存 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虚存；独占设备 + 共享设备 → 虚拟设备（数量多、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速度快）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11125200" cy="30175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308860" y="1524000"/>
              <a:ext cx="9525" cy="3017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58940" y="1524000"/>
              <a:ext cx="9525" cy="3017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llout-2"/>
          <p:cNvGrpSpPr/>
          <p:nvPr/>
        </p:nvGrpSpPr>
        <p:grpSpPr>
          <a:xfrm>
            <a:off x="533400" y="4732020"/>
            <a:ext cx="11125200" cy="533400"/>
            <a:chOff x="533400" y="4732020"/>
            <a:chExt cx="11125200" cy="533400"/>
          </a:xfrm>
        </p:grpSpPr>
        <p:sp>
          <p:nvSpPr>
            <p:cNvPr id="27" name="Rectangle 27"/>
            <p:cNvSpPr/>
            <p:nvPr/>
          </p:nvSpPr>
          <p:spPr>
            <a:xfrm>
              <a:off x="533400" y="473202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4898710"/>
              <a:ext cx="200023" cy="200023"/>
              <a:chOff x="738188" y="4898710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8987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49653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489394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四个特性的关系：并发与共享互为存在条件，是最基本的两个特性；异步性由并发和共享引起。</a:t>
              </a:r>
            </a:p>
          </p:txBody>
        </p:sp>
      </p:grpSp>
      <p:grpSp>
        <p:nvGrpSpPr>
          <p:cNvPr id="38" name="c1-kv-3"/>
          <p:cNvGrpSpPr/>
          <p:nvPr/>
        </p:nvGrpSpPr>
        <p:grpSpPr>
          <a:xfrm>
            <a:off x="525780" y="5480685"/>
            <a:ext cx="11132820" cy="733425"/>
            <a:chOff x="525780" y="5480685"/>
            <a:chExt cx="11132820" cy="733425"/>
          </a:xfrm>
        </p:grpSpPr>
        <p:sp>
          <p:nvSpPr>
            <p:cNvPr id="33" name="TextBox 33"/>
            <p:cNvSpPr txBox="1"/>
            <p:nvPr/>
          </p:nvSpPr>
          <p:spPr>
            <a:xfrm>
              <a:off x="525780" y="54806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时分复用实现虚拟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61248" y="5480685"/>
              <a:ext cx="7171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CPU 按时间轮流给多个程序用，每个程序都像独占一个 CPU（虚拟处理机）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80072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5780" y="59207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空分复用实现虚拟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61248" y="5920740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用外存空间补充内存，程序看到的地址空间可以比实际内存大（虚拟存储器）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74342" cy="909257"/>
            <a:chOff x="520446" y="342900"/>
            <a:chExt cx="47743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743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 操作系统的 11 种类型一览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2" name="c1-table-1"/>
          <p:cNvGrpSpPr/>
          <p:nvPr/>
        </p:nvGrpSpPr>
        <p:grpSpPr>
          <a:xfrm>
            <a:off x="533400" y="1524000"/>
            <a:ext cx="11125200" cy="4800600"/>
            <a:chOff x="533400" y="1524000"/>
            <a:chExt cx="11125200" cy="4800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7798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1995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英文名称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147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主要特征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多道批处理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32710" y="20454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batch processing system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6040" y="204549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作业成批进入，多道同时运行，用户不能交互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32710" y="244554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time-sharing system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6040" y="244554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多个终端轮流使用主机，交互式工作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32710" y="2845594"/>
              <a:ext cx="1247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real time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6040" y="284559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在规定时间内响应，可靠性高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32710" y="3245644"/>
              <a:ext cx="1617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multi-purpose system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16040" y="324564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同时具有批处理、分时、实时功能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94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645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单用户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32710" y="36456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single user system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16040" y="364569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同一时刻只有一个用户使用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195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243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40457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32710" y="4045744"/>
              <a:ext cx="1948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network operating system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16040" y="4045744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建在宿主操作系统之上，提供通信、共享与网络服务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195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555" y="44457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32710" y="4445794"/>
              <a:ext cx="2175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distributed operating system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16040" y="444579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统一的操作系统管理多台主机，对用户透明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719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7244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0555" y="4845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32710" y="4845844"/>
              <a:ext cx="178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multi-processor system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16040" y="4845844"/>
              <a:ext cx="19806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管理具有公共内存的多个 CPU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1196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0555" y="52458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632710" y="5245894"/>
              <a:ext cx="2031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embedded operating system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16040" y="524589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运行在非计算机类设备上，多为微内核结构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5197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55245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0555" y="56459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多媒体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32710" y="5645944"/>
              <a:ext cx="2197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multi-media operating system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16040" y="564594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支持多媒体信息的采集、编辑、播放和传输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59197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0555" y="60459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智能卡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632710" y="6045994"/>
              <a:ext cx="2197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smart-card operating system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16040" y="6045994"/>
              <a:ext cx="3275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运行在智能卡芯片上，支持多个 applet 并发执行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1524000"/>
              <a:ext cx="11125200" cy="4800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2530792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314122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多道批处理系统：作业经输入井进入主机，结果经输出井送出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993190" cy="293370"/>
            <a:chOff x="525780" y="1548765"/>
            <a:chExt cx="79931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993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作业（Job）= 程序 + 数据 + 说明书（用 JCL 编写）；结果 = 程序运行结果 + 记账信息。</a:t>
              </a:r>
            </a:p>
          </p:txBody>
        </p:sp>
      </p:grpSp>
      <p:grpSp>
        <p:nvGrpSpPr>
          <p:cNvPr id="43" name="c1-flow-1"/>
          <p:cNvGrpSpPr/>
          <p:nvPr/>
        </p:nvGrpSpPr>
        <p:grpSpPr>
          <a:xfrm>
            <a:off x="666750" y="2078355"/>
            <a:ext cx="10858501" cy="1454468"/>
            <a:chOff x="666750" y="2078355"/>
            <a:chExt cx="10858501" cy="1454468"/>
          </a:xfrm>
        </p:grpSpPr>
        <p:sp>
          <p:nvSpPr>
            <p:cNvPr id="9" name="Freeform 9"/>
            <p:cNvSpPr/>
            <p:nvPr/>
          </p:nvSpPr>
          <p:spPr>
            <a:xfrm>
              <a:off x="1989772" y="23793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51698" y="2326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578542" y="23793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40468" y="2326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168265" y="23793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30190" y="2326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757035" y="23793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18960" y="2326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346758" y="23793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508682" y="2326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935528" y="23793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097452" y="2326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66750" y="2078355"/>
              <a:ext cx="1323022" cy="602933"/>
            </a:xfrm>
            <a:custGeom>
              <a:avLst/>
              <a:gdLst/>
              <a:ahLst/>
              <a:cxnLst/>
              <a:rect l="l" t="t" r="r" b="b"/>
              <a:pathLst>
                <a:path w="1323022" h="602933">
                  <a:moveTo>
                    <a:pt x="133350" y="0"/>
                  </a:moveTo>
                  <a:lnTo>
                    <a:pt x="1323022" y="0"/>
                  </a:lnTo>
                  <a:lnTo>
                    <a:pt x="1189672" y="602933"/>
                  </a:lnTo>
                  <a:lnTo>
                    <a:pt x="0" y="602933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256472" y="2173605"/>
              <a:ext cx="132302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45242" y="2173605"/>
              <a:ext cx="1323022" cy="411480"/>
            </a:xfrm>
            <a:prstGeom prst="roundRect">
              <a:avLst>
                <a:gd name="adj" fmla="val 23148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34965" y="2078355"/>
              <a:ext cx="1323022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23735" y="2173605"/>
              <a:ext cx="1323022" cy="411480"/>
            </a:xfrm>
            <a:prstGeom prst="roundRect">
              <a:avLst>
                <a:gd name="adj" fmla="val 23148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613458" y="2173605"/>
              <a:ext cx="132302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202228" y="2173605"/>
              <a:ext cx="1323023" cy="412433"/>
            </a:xfrm>
            <a:custGeom>
              <a:avLst/>
              <a:gdLst/>
              <a:ahLst/>
              <a:cxnLst/>
              <a:rect l="l" t="t" r="r" b="b"/>
              <a:pathLst>
                <a:path w="1323023" h="412433">
                  <a:moveTo>
                    <a:pt x="133350" y="0"/>
                  </a:moveTo>
                  <a:lnTo>
                    <a:pt x="1323023" y="0"/>
                  </a:lnTo>
                  <a:lnTo>
                    <a:pt x="1189673" y="412433"/>
                  </a:lnTo>
                  <a:lnTo>
                    <a:pt x="0" y="412433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050858" y="2928938"/>
              <a:ext cx="1323022" cy="603885"/>
            </a:xfrm>
            <a:prstGeom prst="roundRect">
              <a:avLst>
                <a:gd name="adj" fmla="val 12618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639628" y="3024188"/>
              <a:ext cx="1323022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29350" y="3024188"/>
              <a:ext cx="1323022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19072" y="2928938"/>
              <a:ext cx="1323022" cy="603885"/>
            </a:xfrm>
            <a:prstGeom prst="roundRect">
              <a:avLst>
                <a:gd name="adj" fmla="val 12618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7349" y="2192655"/>
              <a:ext cx="88087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作业1 … 作业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69096" y="229647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57866" y="229647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08904" y="2192655"/>
              <a:ext cx="774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主机：进程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… 进程k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37310" y="229647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26080" y="229647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53294" y="2296478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结果1 … 结果n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60026" y="3044190"/>
              <a:ext cx="9037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39157" y="3146107"/>
              <a:ext cx="924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作业调度(1)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7927" y="3146107"/>
              <a:ext cx="924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作业调度(2)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28242" y="3044190"/>
              <a:ext cx="9037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</a:t>
              </a:r>
            </a:p>
          </p:txBody>
        </p:sp>
      </p:grpSp>
      <p:grpSp>
        <p:nvGrpSpPr>
          <p:cNvPr id="63" name="c1-table-2"/>
          <p:cNvGrpSpPr/>
          <p:nvPr/>
        </p:nvGrpSpPr>
        <p:grpSpPr>
          <a:xfrm>
            <a:off x="528066" y="3835718"/>
            <a:ext cx="11130534" cy="2401824"/>
            <a:chOff x="528066" y="3835718"/>
            <a:chExt cx="11130534" cy="2401824"/>
          </a:xfrm>
        </p:grpSpPr>
        <p:sp>
          <p:nvSpPr>
            <p:cNvPr id="44" name="Rectangle 44"/>
            <p:cNvSpPr/>
            <p:nvPr/>
          </p:nvSpPr>
          <p:spPr>
            <a:xfrm>
              <a:off x="533400" y="3835718"/>
              <a:ext cx="11125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589722" y="39643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71550" y="39643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5889" y="4389120"/>
              <a:ext cx="1187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83814" y="438912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把输入机上的作业预先读入磁盘上的输入井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6796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68439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889" y="4812982"/>
              <a:ext cx="938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作业调度(1)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083814" y="4812982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从输入井中挑选作业装入主机，为它建立进程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51044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5889" y="5237798"/>
              <a:ext cx="938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作业调度(2)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083814" y="5237798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作业运行结束，结果送入输出井，作业撤离主机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55292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3400" y="553402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5889" y="5661660"/>
              <a:ext cx="1187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083814" y="56616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把输出井中的结果送到输出机上输出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3835718"/>
              <a:ext cx="1112520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2976562" y="3835718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8066" y="6032183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图中黄色标签依次对应上方四个箭头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输入井、输出井负责缓冲；主机中的作业要合理搭配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183130"/>
            <a:chOff x="533400" y="1524000"/>
            <a:chExt cx="5410200" cy="21831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83130"/>
            </a:xfrm>
            <a:prstGeom prst="roundRect">
              <a:avLst>
                <a:gd name="adj" fmla="val 61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1643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井的作用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：缓冲（速度匹配作用）；实现作业调度（job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scheduling）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：缓冲（速度匹配作用）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063716"/>
              <a:ext cx="46784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Buffering：处理数据到达与离开速度不一致的问题。井设在磁盘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上，读写速度远高于输入机和输出机。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897630"/>
            <a:ext cx="5410200" cy="1897380"/>
            <a:chOff x="533400" y="3897630"/>
            <a:chExt cx="5410200" cy="1897380"/>
          </a:xfrm>
        </p:grpSpPr>
        <p:sp>
          <p:nvSpPr>
            <p:cNvPr id="17" name="Rectangle 17"/>
            <p:cNvSpPr/>
            <p:nvPr/>
          </p:nvSpPr>
          <p:spPr>
            <a:xfrm>
              <a:off x="533400" y="3897630"/>
              <a:ext cx="5410200" cy="1897380"/>
            </a:xfrm>
            <a:prstGeom prst="roundRect">
              <a:avLst>
                <a:gd name="adj" fmla="val 70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030980"/>
              <a:ext cx="47625" cy="16306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41071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1258" y="41428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45472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448437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多道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：系统中同时容纳多个作业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48825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48196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：作业分批进入系统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4573" y="5150644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补充：用户提交作业后不能干预运行过程，缺少交互性，这正是分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时系统要解决的问题。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57950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605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主机中作业合理搭配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57950" y="20974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197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8940" y="2110740"/>
              <a:ext cx="4406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 1：提高资源利用率，例如计算型作业与 I/O 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作业搭配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57950" y="27184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197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58940" y="273177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 2：提高吞吐量（throughput），即单位时间内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完成的作业数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248400" y="3651885"/>
            <a:ext cx="5410200" cy="2142172"/>
            <a:chOff x="6248400" y="3651885"/>
            <a:chExt cx="5410200" cy="2142172"/>
          </a:xfrm>
        </p:grpSpPr>
        <p:sp>
          <p:nvSpPr>
            <p:cNvPr id="37" name="Rectangle 37"/>
            <p:cNvSpPr/>
            <p:nvPr/>
          </p:nvSpPr>
          <p:spPr>
            <a:xfrm>
              <a:off x="6248400" y="3651885"/>
              <a:ext cx="5410200" cy="2142172"/>
            </a:xfrm>
            <a:prstGeom prst="roundRect">
              <a:avLst>
                <a:gd name="adj" fmla="val 62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3785235"/>
              <a:ext cx="47625" cy="18754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6050" y="386143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5557" y="38971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为什么这样搭配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01765" y="43014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9880" y="4238625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型作业大部分时间在等外设，这时 CPU 可以转去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运行计算型作业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01765" y="49225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9880" y="4859655"/>
              <a:ext cx="4671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若全是计算型作业，外设闲置，作业都在排队等 CPU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01765" y="52578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59880" y="5194935"/>
              <a:ext cx="35257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若全是 I/O 型作业，CPU 又会经常空闲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34997" cy="909257"/>
            <a:chOff x="520446" y="342900"/>
            <a:chExt cx="84349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349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分时系统：把 CPU 时间分成时间片，轮流服务各个终端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3172111" cy="293370"/>
            <a:chOff x="525780" y="1548765"/>
            <a:chExt cx="3172111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31721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1.4.2 分时操作系统（On-line）。</a:t>
              </a:r>
            </a:p>
          </p:txBody>
        </p:sp>
      </p:grpSp>
      <p:grpSp>
        <p:nvGrpSpPr>
          <p:cNvPr id="32" name="c1-graph-1"/>
          <p:cNvGrpSpPr/>
          <p:nvPr/>
        </p:nvGrpSpPr>
        <p:grpSpPr>
          <a:xfrm>
            <a:off x="970598" y="2126932"/>
            <a:ext cx="4535804" cy="3393377"/>
            <a:chOff x="970598" y="2126932"/>
            <a:chExt cx="4535804" cy="3393377"/>
          </a:xfrm>
        </p:grpSpPr>
        <p:sp>
          <p:nvSpPr>
            <p:cNvPr id="9" name="Freeform 9"/>
            <p:cNvSpPr/>
            <p:nvPr/>
          </p:nvSpPr>
          <p:spPr>
            <a:xfrm>
              <a:off x="3238500" y="2426970"/>
              <a:ext cx="9525" cy="595312"/>
            </a:xfrm>
            <a:custGeom>
              <a:avLst/>
              <a:gdLst/>
              <a:ahLst/>
              <a:cxnLst/>
              <a:rect l="l" t="t" r="r" b="b"/>
              <a:pathLst>
                <a:path w="9525" h="595312">
                  <a:moveTo>
                    <a:pt x="0" y="59531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84008" y="3376612"/>
              <a:ext cx="1362075" cy="951547"/>
            </a:xfrm>
            <a:custGeom>
              <a:avLst/>
              <a:gdLst/>
              <a:ahLst/>
              <a:cxnLst/>
              <a:rect l="l" t="t" r="r" b="b"/>
              <a:pathLst>
                <a:path w="1362075" h="951547">
                  <a:moveTo>
                    <a:pt x="0" y="951547"/>
                  </a:moveTo>
                  <a:lnTo>
                    <a:pt x="13620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918460" y="3322320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105728" y="0"/>
                  </a:moveTo>
                  <a:lnTo>
                    <a:pt x="54293" y="93345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505902" y="4289108"/>
              <a:ext cx="104775" cy="94297"/>
            </a:xfrm>
            <a:custGeom>
              <a:avLst/>
              <a:gdLst/>
              <a:ahLst/>
              <a:cxnLst/>
              <a:rect l="l" t="t" r="r" b="b"/>
              <a:pathLst>
                <a:path w="104775" h="94297">
                  <a:moveTo>
                    <a:pt x="0" y="94297"/>
                  </a:moveTo>
                  <a:lnTo>
                    <a:pt x="50483" y="0"/>
                  </a:lnTo>
                  <a:lnTo>
                    <a:pt x="104775" y="7810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702242" y="3408045"/>
              <a:ext cx="423862" cy="888683"/>
            </a:xfrm>
            <a:custGeom>
              <a:avLst/>
              <a:gdLst/>
              <a:ahLst/>
              <a:cxnLst/>
              <a:rect l="l" t="t" r="r" b="b"/>
              <a:pathLst>
                <a:path w="423862" h="888683">
                  <a:moveTo>
                    <a:pt x="0" y="888683"/>
                  </a:moveTo>
                  <a:lnTo>
                    <a:pt x="4238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83242" y="3322320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3820" y="0"/>
                  </a:moveTo>
                  <a:lnTo>
                    <a:pt x="85725" y="106680"/>
                  </a:lnTo>
                  <a:lnTo>
                    <a:pt x="0" y="6572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658428" y="4276725"/>
              <a:ext cx="86677" cy="106680"/>
            </a:xfrm>
            <a:custGeom>
              <a:avLst/>
              <a:gdLst/>
              <a:ahLst/>
              <a:cxnLst/>
              <a:rect l="l" t="t" r="r" b="b"/>
              <a:pathLst>
                <a:path w="86677" h="106680">
                  <a:moveTo>
                    <a:pt x="2857" y="106680"/>
                  </a:moveTo>
                  <a:lnTo>
                    <a:pt x="0" y="0"/>
                  </a:lnTo>
                  <a:lnTo>
                    <a:pt x="86677" y="409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530918" y="3376612"/>
              <a:ext cx="1362075" cy="951547"/>
            </a:xfrm>
            <a:custGeom>
              <a:avLst/>
              <a:gdLst/>
              <a:ahLst/>
              <a:cxnLst/>
              <a:rect l="l" t="t" r="r" b="b"/>
              <a:pathLst>
                <a:path w="1362075" h="951547">
                  <a:moveTo>
                    <a:pt x="1362075" y="95154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452812" y="3322320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0" y="0"/>
                  </a:moveTo>
                  <a:lnTo>
                    <a:pt x="105728" y="15240"/>
                  </a:lnTo>
                  <a:lnTo>
                    <a:pt x="51435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866322" y="4289108"/>
              <a:ext cx="104775" cy="94297"/>
            </a:xfrm>
            <a:custGeom>
              <a:avLst/>
              <a:gdLst/>
              <a:ahLst/>
              <a:cxnLst/>
              <a:rect l="l" t="t" r="r" b="b"/>
              <a:pathLst>
                <a:path w="104775" h="94297">
                  <a:moveTo>
                    <a:pt x="104775" y="94297"/>
                  </a:moveTo>
                  <a:lnTo>
                    <a:pt x="0" y="78105"/>
                  </a:lnTo>
                  <a:lnTo>
                    <a:pt x="542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164080" y="2126932"/>
              <a:ext cx="214884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358265" y="3022282"/>
              <a:ext cx="3760470" cy="300038"/>
            </a:xfrm>
            <a:prstGeom prst="roundRect">
              <a:avLst>
                <a:gd name="adj" fmla="val 31746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70598" y="4383405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268855" y="4383405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866322" y="4383405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93235" y="2206466"/>
              <a:ext cx="890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硬件（HAL）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40207" y="3101816"/>
              <a:ext cx="21965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分时操作系统 Time Sharing OS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6865" y="446293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终端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65123" y="446293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终端 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95318" y="44629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62590" y="446293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终端 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03041" y="4993005"/>
              <a:ext cx="3070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界面 1：交互式命令语言（如 shell、command）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91115" y="5314950"/>
              <a:ext cx="1894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界面 2：图形用户界面（GUI）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248400" y="1954530"/>
            <a:ext cx="5410200" cy="1886902"/>
            <a:chOff x="6248400" y="1954530"/>
            <a:chExt cx="5410200" cy="1886902"/>
          </a:xfrm>
        </p:grpSpPr>
        <p:sp>
          <p:nvSpPr>
            <p:cNvPr id="33" name="Rectangle 33"/>
            <p:cNvSpPr/>
            <p:nvPr/>
          </p:nvSpPr>
          <p:spPr>
            <a:xfrm>
              <a:off x="6248400" y="1954530"/>
              <a:ext cx="5410200" cy="1886902"/>
            </a:xfrm>
            <a:prstGeom prst="roundRect">
              <a:avLst>
                <a:gd name="adj" fmla="val 7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2087880"/>
              <a:ext cx="47625" cy="162020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84620" y="215265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8059" y="21869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分时处理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92240" y="257365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8831" y="2513171"/>
              <a:ext cx="2762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CPU 时间划分成很短的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时间片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92240" y="289083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48831" y="2831306"/>
              <a:ext cx="30845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各终端的请求按时间片轮流得到 CPU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92240" y="320897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48831" y="31484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一个时间片用完而程序还没结束，就暂停它，转去服务下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一个终端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248400" y="4021455"/>
            <a:ext cx="5410200" cy="1911668"/>
            <a:chOff x="6248400" y="4021455"/>
            <a:chExt cx="5410200" cy="1911668"/>
          </a:xfrm>
        </p:grpSpPr>
        <p:sp>
          <p:nvSpPr>
            <p:cNvPr id="44" name="Rectangle 44"/>
            <p:cNvSpPr/>
            <p:nvPr/>
          </p:nvSpPr>
          <p:spPr>
            <a:xfrm>
              <a:off x="6248400" y="4021455"/>
              <a:ext cx="5410200" cy="1911668"/>
            </a:xfrm>
            <a:prstGeom prst="roundRect">
              <a:avLst>
                <a:gd name="adj" fmla="val 69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4154805"/>
              <a:ext cx="47625" cy="16449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84620" y="421957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8059" y="425386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补充估算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34631" y="425434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用户要等多久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7381" y="4598194"/>
              <a:ext cx="44876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个终端同时工作，时间片 50 ms，忽略切换开销：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92240" y="497586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48831" y="4915376"/>
              <a:ext cx="26524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轮完一圈需要 40 × 50 ms = 2 s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92240" y="529399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48831" y="5233511"/>
              <a:ext cx="34669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每个用户最多隔约 2 s 就会再次得到 CPU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78524" y="5547360"/>
              <a:ext cx="48100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人敲一条命令就要好几秒，2 s 以内得到响应，感觉就像独占主机。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分时系统的特点：多路、交互、独占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5626418" cy="1950720"/>
            <a:chOff x="533400" y="1524000"/>
            <a:chExt cx="5626418" cy="19507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537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6905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多路性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03120" y="21507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一个主机与多个终端相连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945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99360"/>
              <a:ext cx="562641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080" y="26384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03120" y="26384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以对话的方式为用户服务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822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31261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独占性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03120" y="312610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每个终端用户仿佛拥有一台虚拟机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626418" cy="19507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991678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rd-2"/>
          <p:cNvGrpSpPr/>
          <p:nvPr/>
        </p:nvGrpSpPr>
        <p:grpSpPr>
          <a:xfrm>
            <a:off x="533400" y="3665220"/>
            <a:ext cx="5626418" cy="2232660"/>
            <a:chOff x="533400" y="3665220"/>
            <a:chExt cx="5626418" cy="2232660"/>
          </a:xfrm>
        </p:grpSpPr>
        <p:sp>
          <p:nvSpPr>
            <p:cNvPr id="22" name="Rectangle 22"/>
            <p:cNvSpPr/>
            <p:nvPr/>
          </p:nvSpPr>
          <p:spPr>
            <a:xfrm>
              <a:off x="533400" y="3665220"/>
              <a:ext cx="5626418" cy="2232660"/>
            </a:xfrm>
            <a:prstGeom prst="roundRect">
              <a:avLst>
                <a:gd name="adj" fmla="val 59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3798570"/>
              <a:ext cx="47625" cy="19659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387477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3359" y="39104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典型系统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43148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4251960"/>
              <a:ext cx="2932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CTSS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：MIT 研制的早期分时系统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6765" y="46501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80" y="4587240"/>
              <a:ext cx="21890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Multics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：MIT 牵头研制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6765" y="49853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4880" y="4922520"/>
              <a:ext cx="2067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：贝尔实验室研制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4573" y="5254466"/>
              <a:ext cx="43533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UNIX 的两位作者 Ken Thompson 和 Dennis Ritchie 都参加过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Multics 项目。</a:t>
              </a:r>
            </a:p>
          </p:txBody>
        </p:sp>
      </p:grpSp>
      <p:grpSp>
        <p:nvGrpSpPr>
          <p:cNvPr id="36" name="c2-image-1"/>
          <p:cNvGrpSpPr/>
          <p:nvPr/>
        </p:nvGrpSpPr>
        <p:grpSpPr>
          <a:xfrm>
            <a:off x="6464618" y="1524000"/>
            <a:ext cx="5193982" cy="4863942"/>
            <a:chOff x="6464618" y="1524000"/>
            <a:chExt cx="5193982" cy="4863942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rcRect l="7184" t="0" r="7185" b="0"/>
            <a:stretch>
              <a:fillRect/>
            </a:stretch>
          </p:blipFill>
          <p:spPr>
            <a:xfrm>
              <a:off x="6464618" y="1524000"/>
              <a:ext cx="5193982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020916" y="6167914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大师轮流走到每块棋盘前，每位棋手都觉得有人专门陪自己下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实时系统：在规定时间内对外部事件做出响应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556827" cy="308039"/>
            <a:chOff x="525399" y="1550194"/>
            <a:chExt cx="555682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55682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1.4.3 实时操作系统，分为实时控制和实时信息处理两类。</a:t>
              </a:r>
            </a:p>
          </p:txBody>
        </p:sp>
      </p:grpSp>
      <p:grpSp>
        <p:nvGrpSpPr>
          <p:cNvPr id="25" name="c1-flow-1"/>
          <p:cNvGrpSpPr/>
          <p:nvPr/>
        </p:nvGrpSpPr>
        <p:grpSpPr>
          <a:xfrm>
            <a:off x="672465" y="2247900"/>
            <a:ext cx="5673091" cy="1820227"/>
            <a:chOff x="672465" y="2247900"/>
            <a:chExt cx="5673091" cy="1820227"/>
          </a:xfrm>
        </p:grpSpPr>
        <p:sp>
          <p:nvSpPr>
            <p:cNvPr id="9" name="Freeform 9"/>
            <p:cNvSpPr/>
            <p:nvPr/>
          </p:nvSpPr>
          <p:spPr>
            <a:xfrm>
              <a:off x="4467225" y="2563178"/>
              <a:ext cx="1025843" cy="376238"/>
            </a:xfrm>
            <a:custGeom>
              <a:avLst/>
              <a:gdLst/>
              <a:ahLst/>
              <a:cxnLst/>
              <a:rect l="l" t="t" r="r" b="b"/>
              <a:pathLst>
                <a:path w="1025843" h="376238">
                  <a:moveTo>
                    <a:pt x="1025843" y="376238"/>
                  </a:moveTo>
                  <a:lnTo>
                    <a:pt x="1025843" y="166688"/>
                  </a:lnTo>
                  <a:lnTo>
                    <a:pt x="1025843" y="0"/>
                  </a:lnTo>
                  <a:lnTo>
                    <a:pt x="104775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362450" y="25107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524952" y="2563178"/>
              <a:ext cx="1130618" cy="175260"/>
            </a:xfrm>
            <a:custGeom>
              <a:avLst/>
              <a:gdLst/>
              <a:ahLst/>
              <a:cxnLst/>
              <a:rect l="l" t="t" r="r" b="b"/>
              <a:pathLst>
                <a:path w="1130618" h="175260">
                  <a:moveTo>
                    <a:pt x="1130618" y="0"/>
                  </a:moveTo>
                  <a:lnTo>
                    <a:pt x="921068" y="0"/>
                  </a:lnTo>
                  <a:lnTo>
                    <a:pt x="0" y="0"/>
                  </a:lnTo>
                  <a:lnTo>
                    <a:pt x="0" y="70485"/>
                  </a:lnTo>
                  <a:lnTo>
                    <a:pt x="0" y="1752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472565" y="27384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524952" y="3472815"/>
              <a:ext cx="1025843" cy="280988"/>
            </a:xfrm>
            <a:custGeom>
              <a:avLst/>
              <a:gdLst/>
              <a:ahLst/>
              <a:cxnLst/>
              <a:rect l="l" t="t" r="r" b="b"/>
              <a:pathLst>
                <a:path w="1025843" h="280988">
                  <a:moveTo>
                    <a:pt x="0" y="0"/>
                  </a:moveTo>
                  <a:lnTo>
                    <a:pt x="0" y="209550"/>
                  </a:lnTo>
                  <a:lnTo>
                    <a:pt x="0" y="280988"/>
                  </a:lnTo>
                  <a:lnTo>
                    <a:pt x="921068" y="280988"/>
                  </a:lnTo>
                  <a:lnTo>
                    <a:pt x="1025843" y="2809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550795" y="37014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362450" y="3482340"/>
              <a:ext cx="1130618" cy="271462"/>
            </a:xfrm>
            <a:custGeom>
              <a:avLst/>
              <a:gdLst/>
              <a:ahLst/>
              <a:cxnLst/>
              <a:rect l="l" t="t" r="r" b="b"/>
              <a:pathLst>
                <a:path w="1130618" h="271462">
                  <a:moveTo>
                    <a:pt x="0" y="271462"/>
                  </a:moveTo>
                  <a:lnTo>
                    <a:pt x="209550" y="271462"/>
                  </a:lnTo>
                  <a:lnTo>
                    <a:pt x="1130618" y="271462"/>
                  </a:lnTo>
                  <a:lnTo>
                    <a:pt x="1130618" y="104775"/>
                  </a:lnTo>
                  <a:lnTo>
                    <a:pt x="113061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440680" y="33775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72465" y="2843212"/>
              <a:ext cx="1705928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55570" y="2247900"/>
              <a:ext cx="17059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655570" y="3438525"/>
              <a:ext cx="17059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39628" y="2939415"/>
              <a:ext cx="1705928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8235" y="2959894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实时操作系统（运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行在 HAL 上）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05125" y="2364581"/>
              <a:ext cx="120777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A/D 转换：t1 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到数据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05125" y="3555206"/>
              <a:ext cx="120777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D/A 转换：t2 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出控制量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41963" y="30694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被控对象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3"/>
              <p:cNvSpPr txBox="1">
                <a:spLocks noGrp="1"/>
              </p:cNvSpPr>
              <p:nvPr/>
            </p:nvSpPr>
            <p:spPr>
              <a:xfrm>
                <a:off x="533400" y="4539615"/>
                <a:ext cx="595122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response time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33" name="c1-callout-3"/>
          <p:cNvGrpSpPr/>
          <p:nvPr/>
        </p:nvGrpSpPr>
        <p:grpSpPr>
          <a:xfrm>
            <a:off x="533400" y="5149215"/>
            <a:ext cx="5951220" cy="782955"/>
            <a:chOff x="533400" y="5149215"/>
            <a:chExt cx="5951220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5149215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440680"/>
              <a:ext cx="200026" cy="200025"/>
              <a:chOff x="738188" y="5440680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4406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4851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5962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297805"/>
              <a:ext cx="4968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实时控制：从采到被控对象的数据，到送出控制量，整个回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路必须在限定时间内完成。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789420" y="1967865"/>
            <a:ext cx="4869180" cy="1800225"/>
            <a:chOff x="6789420" y="1967865"/>
            <a:chExt cx="4869180" cy="1800225"/>
          </a:xfrm>
        </p:grpSpPr>
        <p:sp>
          <p:nvSpPr>
            <p:cNvPr id="34" name="Rectangle 34"/>
            <p:cNvSpPr/>
            <p:nvPr/>
          </p:nvSpPr>
          <p:spPr>
            <a:xfrm>
              <a:off x="6789420" y="1967865"/>
              <a:ext cx="486918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9261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9664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4924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97243" y="26646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实时控制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60270" y="255127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工业控制、军事控制、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医疗控制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05288" y="2551271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传感器与执行机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789420" y="308705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89420" y="3091815"/>
              <a:ext cx="486918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97243" y="334089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实时信息处理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60270" y="3227546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航班订票、联机情报检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05288" y="334089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通常为远程终端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89420" y="1967865"/>
              <a:ext cx="486918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47685" y="196786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192702" y="196786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rd-2"/>
          <p:cNvGrpSpPr/>
          <p:nvPr/>
        </p:nvGrpSpPr>
        <p:grpSpPr>
          <a:xfrm>
            <a:off x="6789420" y="3957638"/>
            <a:ext cx="4869180" cy="1973580"/>
            <a:chOff x="6789420" y="3957638"/>
            <a:chExt cx="4869180" cy="1973580"/>
          </a:xfrm>
        </p:grpSpPr>
        <p:sp>
          <p:nvSpPr>
            <p:cNvPr id="50" name="Rectangle 50"/>
            <p:cNvSpPr/>
            <p:nvPr/>
          </p:nvSpPr>
          <p:spPr>
            <a:xfrm>
              <a:off x="6789420" y="3957638"/>
              <a:ext cx="4869180" cy="1973580"/>
            </a:xfrm>
            <a:prstGeom prst="roundRect">
              <a:avLst>
                <a:gd name="adj" fmla="val 675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998970" y="41671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89178" y="42029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998970" y="4531042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60819" y="457333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99960" y="4544378"/>
              <a:ext cx="2882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响应及时（prompt response）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998970" y="4866322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60819" y="490861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99960" y="4879658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可靠性高（high reliability）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92493" y="5211604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订票系统同时连着许多远程终端，每笔请求都要及时处理，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出错就会卖重票。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批处理、分时、实时三类系统怎么区分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11125200" cy="2122170"/>
            <a:chOff x="533400" y="1524000"/>
            <a:chExt cx="11125200" cy="21221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4623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99460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多道批处理系统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5645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分时系统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72078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实时系统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设计目标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16112" y="207645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提高资源利用率和吞吐量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30786" y="20764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让多个用户交互地共用一台主机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46414" y="20764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在限定时间内完成响应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67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7267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16112" y="250126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无，作业提交后不能干预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30786" y="250126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强，以对话方式工作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46414" y="250126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有限，只能使用专门的服务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927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29260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响应时间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16112" y="292608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较长，作业从提交到完成可能要几小时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30786" y="292608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以用户能够接受为准，一般为秒级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6414" y="292608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由被控对象决定，可能是毫秒级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16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2135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334994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可靠性要求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16112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30786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46414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1112520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30886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353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53916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1-table-2"/>
          <p:cNvGrpSpPr/>
          <p:nvPr/>
        </p:nvGrpSpPr>
        <p:grpSpPr>
          <a:xfrm>
            <a:off x="533400" y="3826192"/>
            <a:ext cx="11125200" cy="1697355"/>
            <a:chOff x="533400" y="3826192"/>
            <a:chExt cx="11125200" cy="1697355"/>
          </a:xfrm>
        </p:grpSpPr>
        <p:sp>
          <p:nvSpPr>
            <p:cNvPr id="38" name="Rectangle 38"/>
            <p:cNvSpPr/>
            <p:nvPr/>
          </p:nvSpPr>
          <p:spPr>
            <a:xfrm>
              <a:off x="533400" y="3826192"/>
              <a:ext cx="11125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06168" y="395478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场景（补充练习）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74602" y="395478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应选的类型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54478" y="39547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5889" y="437959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银行夜间集中计算全部账户的利息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85969" y="437959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88124" y="437959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数据量大、无需交互，追求吞吐量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6701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674870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889" y="4803458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几十名学生同时登录服务器编辑、调试程序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85969" y="480345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88124" y="4803458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多用户、交互式，响应要让人满意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0949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889" y="522827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汽车安全气囊在碰撞后立即起爆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85969" y="52282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88124" y="522827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超过时限就失去意义，可靠性要求很高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3826192"/>
              <a:ext cx="1112520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4978718" y="382619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80872" y="382619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8" name="Rectangle 5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6011704"/>
              <a:ext cx="90181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易错：实时不等于“越快越好”。实时系统的关键是保证在截止时间之前完成，时限由被控对象的要求决定。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通用操作系统与单用户操作系统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384935"/>
            <a:chOff x="533400" y="1524000"/>
            <a:chExt cx="5410200" cy="1384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84935"/>
            </a:xfrm>
            <a:prstGeom prst="roundRect">
              <a:avLst>
                <a:gd name="adj" fmla="val 9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1823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51828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0727" y="1769269"/>
              <a:ext cx="139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1.4.4 通用操作系统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06015" y="1768792"/>
              <a:ext cx="18213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multi-purpose OS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同时具有分时、实时、批处理功能。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650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目标：提高处理能力；扩展应用领域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27685" y="3099435"/>
            <a:ext cx="5415915" cy="1642587"/>
            <a:chOff x="527685" y="3099435"/>
            <a:chExt cx="5415915" cy="1642587"/>
          </a:xfrm>
        </p:grpSpPr>
        <p:sp>
          <p:nvSpPr>
            <p:cNvPr id="16" name="Rectangle 16"/>
            <p:cNvSpPr/>
            <p:nvPr/>
          </p:nvSpPr>
          <p:spPr>
            <a:xfrm>
              <a:off x="533400" y="3099435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02411" y="32351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86379" y="32351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72317" y="32351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223" y="3683794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80500" y="36837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66438" y="368379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19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669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13242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80500" y="41324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66438" y="41324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099435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367915" y="309943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153852" y="309943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4521994"/>
              <a:ext cx="24822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模式 1 的例子：DPS/8 上的 GCOS-8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4888230"/>
            <a:ext cx="5410200" cy="1059180"/>
            <a:chOff x="533400" y="4888230"/>
            <a:chExt cx="5410200" cy="1059180"/>
          </a:xfrm>
        </p:grpSpPr>
        <p:sp>
          <p:nvSpPr>
            <p:cNvPr id="33" name="Rectangle 33"/>
            <p:cNvSpPr/>
            <p:nvPr/>
          </p:nvSpPr>
          <p:spPr>
            <a:xfrm>
              <a:off x="533400" y="488823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317808"/>
              <a:ext cx="200026" cy="200026"/>
              <a:chOff x="738188" y="5317808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3178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3844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54178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036820"/>
              <a:ext cx="44919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前台/后台系统（Foreground/Background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System）：前台处理需要及时响应的任务，前台空闲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时才运行后台的批处理作业。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248400" y="1524000"/>
            <a:ext cx="5410200" cy="1701165"/>
            <a:chOff x="6248400" y="1524000"/>
            <a:chExt cx="5410200" cy="1701165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96050" y="1733550"/>
              <a:ext cx="16611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1777" y="1769269"/>
              <a:ext cx="1549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1.4.5 单用户操作系统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8430" y="211074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同一时刻仅有一个用户使用的系统。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01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59880" y="2446020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应用领域：台式机、笔记本……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501765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59880" y="27813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特点：单用户，多进程，多线程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3415665"/>
            <a:ext cx="5410200" cy="2531745"/>
            <a:chOff x="6248400" y="3415665"/>
            <a:chExt cx="5410200" cy="2531745"/>
          </a:xfrm>
        </p:grpSpPr>
        <p:sp>
          <p:nvSpPr>
            <p:cNvPr id="50" name="Rectangle 50"/>
            <p:cNvSpPr/>
            <p:nvPr/>
          </p:nvSpPr>
          <p:spPr>
            <a:xfrm>
              <a:off x="6248400" y="3415665"/>
              <a:ext cx="5410200" cy="2531745"/>
            </a:xfrm>
            <a:prstGeom prst="roundRect">
              <a:avLst>
                <a:gd name="adj" fmla="val 52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3549015"/>
              <a:ext cx="47625" cy="22650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96050" y="362521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73456" y="36609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进程与线程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501765" y="40652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59880" y="400240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运行不同的程序，得到不同的进程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01765" y="44005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59880" y="433768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同一个程序内部可以再分出多个线程并发执行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89573" y="4669631"/>
              <a:ext cx="47434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原课件写作“相同的程序，不同的线程”，是简化说法：同一个程序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运行两次，得到的是两个进程。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网络操作系统：在各主机原有系统之上加一层网络软件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3610928" cy="293370"/>
            <a:chOff x="525780" y="1548765"/>
            <a:chExt cx="361092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3610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1.4.6 网络操作系统（Network OS）。</a:t>
              </a:r>
            </a:p>
          </p:txBody>
        </p:sp>
      </p:grpSp>
      <p:grpSp>
        <p:nvGrpSpPr>
          <p:cNvPr id="21" name="c1-graph-1"/>
          <p:cNvGrpSpPr/>
          <p:nvPr/>
        </p:nvGrpSpPr>
        <p:grpSpPr>
          <a:xfrm>
            <a:off x="1143000" y="2513648"/>
            <a:ext cx="3758565" cy="2523838"/>
            <a:chOff x="1143000" y="2513648"/>
            <a:chExt cx="3758565" cy="2523838"/>
          </a:xfrm>
        </p:grpSpPr>
        <p:sp>
          <p:nvSpPr>
            <p:cNvPr id="9" name="Freeform 9"/>
            <p:cNvSpPr/>
            <p:nvPr/>
          </p:nvSpPr>
          <p:spPr>
            <a:xfrm>
              <a:off x="2312670" y="2663190"/>
              <a:ext cx="1419225" cy="9525"/>
            </a:xfrm>
            <a:custGeom>
              <a:avLst/>
              <a:gdLst/>
              <a:ahLst/>
              <a:cxnLst/>
              <a:rect l="l" t="t" r="r" b="b"/>
              <a:pathLst>
                <a:path w="1419225" h="9525">
                  <a:moveTo>
                    <a:pt x="0" y="0"/>
                  </a:moveTo>
                  <a:lnTo>
                    <a:pt x="14192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74508" y="2813685"/>
              <a:ext cx="404812" cy="1311593"/>
            </a:xfrm>
            <a:custGeom>
              <a:avLst/>
              <a:gdLst/>
              <a:ahLst/>
              <a:cxnLst/>
              <a:rect l="l" t="t" r="r" b="b"/>
              <a:pathLst>
                <a:path w="404812" h="1311593">
                  <a:moveTo>
                    <a:pt x="0" y="0"/>
                  </a:moveTo>
                  <a:lnTo>
                    <a:pt x="404812" y="13115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810828" y="4274820"/>
              <a:ext cx="1321118" cy="9525"/>
            </a:xfrm>
            <a:custGeom>
              <a:avLst/>
              <a:gdLst/>
              <a:ahLst/>
              <a:cxnLst/>
              <a:rect l="l" t="t" r="r" b="b"/>
              <a:pathLst>
                <a:path w="1321118" h="9525">
                  <a:moveTo>
                    <a:pt x="0" y="0"/>
                  </a:moveTo>
                  <a:lnTo>
                    <a:pt x="132111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143000" y="2513648"/>
              <a:ext cx="1169670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731895" y="2513648"/>
              <a:ext cx="1169670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641158" y="4125278"/>
              <a:ext cx="1169670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31945" y="4125278"/>
              <a:ext cx="76581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11336" y="2593181"/>
              <a:ext cx="10329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host1 + NOS1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9279" y="2593181"/>
              <a:ext cx="10329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host2 + NOS2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9494" y="4204811"/>
              <a:ext cx="10329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host3 + NOS3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21867" y="4204811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Printer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18385" y="4846796"/>
              <a:ext cx="36077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每台主机运行各自的操作系统，NOS 是装在上面的网络软件包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5815965" y="1954530"/>
            <a:ext cx="5842635" cy="1250632"/>
            <a:chOff x="5815965" y="1954530"/>
            <a:chExt cx="5842635" cy="1250632"/>
          </a:xfrm>
        </p:grpSpPr>
        <p:sp>
          <p:nvSpPr>
            <p:cNvPr id="22" name="Rectangle 22"/>
            <p:cNvSpPr/>
            <p:nvPr/>
          </p:nvSpPr>
          <p:spPr>
            <a:xfrm>
              <a:off x="5815965" y="1954530"/>
              <a:ext cx="584263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825490" y="208788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52185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43625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44946" y="2513171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建立在宿主操作系统之上，提供网络通讯、网络资源共享、网络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服务的软件包。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5815965" y="3386138"/>
            <a:ext cx="5842635" cy="1886902"/>
            <a:chOff x="5815965" y="3386138"/>
            <a:chExt cx="5842635" cy="1886902"/>
          </a:xfrm>
        </p:grpSpPr>
        <p:sp>
          <p:nvSpPr>
            <p:cNvPr id="28" name="Rectangle 28"/>
            <p:cNvSpPr/>
            <p:nvPr/>
          </p:nvSpPr>
          <p:spPr>
            <a:xfrm>
              <a:off x="5815965" y="3386138"/>
              <a:ext cx="5842635" cy="1886902"/>
            </a:xfrm>
            <a:prstGeom prst="roundRect">
              <a:avLst>
                <a:gd name="adj" fmla="val 706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14085" y="358425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05525" y="36185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14085" y="393192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72430" y="397225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04026" y="3944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相互通讯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014085" y="425005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72430" y="429039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04026" y="426196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资源共享（信息、设备）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014085" y="456819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72430" y="460757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04026" y="4580096"/>
              <a:ext cx="45680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提供网络服务：database server、ftp server、e-mail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server、telnet server 等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5815965" y="5452110"/>
            <a:ext cx="5842635" cy="756285"/>
            <a:chOff x="5815965" y="5452110"/>
            <a:chExt cx="5842635" cy="756285"/>
          </a:xfrm>
        </p:grpSpPr>
        <p:sp>
          <p:nvSpPr>
            <p:cNvPr id="41" name="Rectangle 41"/>
            <p:cNvSpPr/>
            <p:nvPr/>
          </p:nvSpPr>
          <p:spPr>
            <a:xfrm>
              <a:off x="5815965" y="5452110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008694" y="5726548"/>
              <a:ext cx="224134" cy="192560"/>
              <a:chOff x="6008694" y="5726548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120765" y="57969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008694" y="57265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120765" y="58747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323076" y="5600224"/>
              <a:ext cx="486562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No transparent view：用户必须知道资源在哪台主机上，例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如用 ftp 取文件要指明主机地址。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分布式操作系统：紧耦合与松散耦合两种结构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4332399" cy="308039"/>
            <a:chOff x="525399" y="1550194"/>
            <a:chExt cx="433239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43323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1.4.7 分布式操作系统（Distributed OS）。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67865"/>
            <a:ext cx="5410200" cy="1701165"/>
            <a:chOff x="533400" y="1967865"/>
            <a:chExt cx="5410200" cy="170116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200310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6544" y="2213134"/>
              <a:ext cx="19130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紧耦合（tightly coupled）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6174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554605"/>
              <a:ext cx="2854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由多机系统发展而来（多 CPU）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9527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8898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有公共内存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2880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2251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即多处理机操作系统</a:t>
              </a:r>
            </a:p>
          </p:txBody>
        </p:sp>
      </p:grpSp>
      <p:grpSp>
        <p:nvGrpSpPr>
          <p:cNvPr id="34" name="c1-graph-2"/>
          <p:cNvGrpSpPr/>
          <p:nvPr/>
        </p:nvGrpSpPr>
        <p:grpSpPr>
          <a:xfrm>
            <a:off x="1261110" y="3962400"/>
            <a:ext cx="3954780" cy="1809750"/>
            <a:chOff x="1261110" y="3962400"/>
            <a:chExt cx="3954780" cy="1809750"/>
          </a:xfrm>
        </p:grpSpPr>
        <p:sp>
          <p:nvSpPr>
            <p:cNvPr id="20" name="Freeform 20"/>
            <p:cNvSpPr/>
            <p:nvPr/>
          </p:nvSpPr>
          <p:spPr>
            <a:xfrm>
              <a:off x="1753552" y="4953952"/>
              <a:ext cx="1123950" cy="498157"/>
            </a:xfrm>
            <a:custGeom>
              <a:avLst/>
              <a:gdLst/>
              <a:ahLst/>
              <a:cxnLst/>
              <a:rect l="l" t="t" r="r" b="b"/>
              <a:pathLst>
                <a:path w="1123950" h="498157">
                  <a:moveTo>
                    <a:pt x="0" y="0"/>
                  </a:moveTo>
                  <a:lnTo>
                    <a:pt x="1123950" y="4981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810828" y="5005388"/>
              <a:ext cx="314325" cy="446722"/>
            </a:xfrm>
            <a:custGeom>
              <a:avLst/>
              <a:gdLst/>
              <a:ahLst/>
              <a:cxnLst/>
              <a:rect l="l" t="t" r="r" b="b"/>
              <a:pathLst>
                <a:path w="314325" h="446722">
                  <a:moveTo>
                    <a:pt x="0" y="0"/>
                  </a:moveTo>
                  <a:lnTo>
                    <a:pt x="314325" y="4467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599498" y="4953952"/>
              <a:ext cx="1123950" cy="498157"/>
            </a:xfrm>
            <a:custGeom>
              <a:avLst/>
              <a:gdLst/>
              <a:ahLst/>
              <a:cxnLst/>
              <a:rect l="l" t="t" r="r" b="b"/>
              <a:pathLst>
                <a:path w="1123950" h="498157">
                  <a:moveTo>
                    <a:pt x="1123950" y="0"/>
                  </a:moveTo>
                  <a:lnTo>
                    <a:pt x="0" y="4981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333500" y="3962400"/>
              <a:ext cx="3810000" cy="320040"/>
            </a:xfrm>
            <a:prstGeom prst="roundRect">
              <a:avLst>
                <a:gd name="adj" fmla="val 29762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261110" y="4685348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450782" y="4685348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723448" y="4685348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333500" y="5452110"/>
              <a:ext cx="38100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86228" y="404717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多处理机操作系统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52901" y="477012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43526" y="477012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34425" y="47701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16191" y="477012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47772" y="55368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内存（公共）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967865"/>
            <a:ext cx="5410200" cy="1701165"/>
            <a:chOff x="6248400" y="1967865"/>
            <a:chExt cx="5410200" cy="1701165"/>
          </a:xfrm>
        </p:grpSpPr>
        <p:sp>
          <p:nvSpPr>
            <p:cNvPr id="35" name="Rectangle 35"/>
            <p:cNvSpPr/>
            <p:nvPr/>
          </p:nvSpPr>
          <p:spPr>
            <a:xfrm>
              <a:off x="6248400" y="1967865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210121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6050" y="2177415"/>
              <a:ext cx="214598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36642" y="2213134"/>
              <a:ext cx="2063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松散耦合（loosely coupled）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26174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2554605"/>
              <a:ext cx="3152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由计算机网络发展而来（多 Host）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01765" y="29527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9880" y="28898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无公共内存，无公共时钟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01765" y="32880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9880" y="3225165"/>
              <a:ext cx="38427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各主机运行同一个分布式操作系统（DOS）</a:t>
              </a:r>
            </a:p>
          </p:txBody>
        </p:sp>
      </p:grpSp>
      <p:grpSp>
        <p:nvGrpSpPr>
          <p:cNvPr id="57" name="c2-graph-2"/>
          <p:cNvGrpSpPr/>
          <p:nvPr/>
        </p:nvGrpSpPr>
        <p:grpSpPr>
          <a:xfrm>
            <a:off x="6864668" y="4093845"/>
            <a:ext cx="4177665" cy="1503045"/>
            <a:chOff x="6864668" y="4093845"/>
            <a:chExt cx="4177665" cy="1503045"/>
          </a:xfrm>
        </p:grpSpPr>
        <p:sp>
          <p:nvSpPr>
            <p:cNvPr id="46" name="Freeform 46"/>
            <p:cNvSpPr/>
            <p:nvPr/>
          </p:nvSpPr>
          <p:spPr>
            <a:xfrm>
              <a:off x="8013382" y="4253865"/>
              <a:ext cx="1880235" cy="9525"/>
            </a:xfrm>
            <a:custGeom>
              <a:avLst/>
              <a:gdLst/>
              <a:ahLst/>
              <a:cxnLst/>
              <a:rect l="l" t="t" r="r" b="b"/>
              <a:pathLst>
                <a:path w="1880235" h="9525">
                  <a:moveTo>
                    <a:pt x="0" y="0"/>
                  </a:moveTo>
                  <a:lnTo>
                    <a:pt x="18802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526655" y="4413885"/>
              <a:ext cx="473392" cy="862965"/>
            </a:xfrm>
            <a:custGeom>
              <a:avLst/>
              <a:gdLst/>
              <a:ahLst/>
              <a:cxnLst/>
              <a:rect l="l" t="t" r="r" b="b"/>
              <a:pathLst>
                <a:path w="473392" h="862965">
                  <a:moveTo>
                    <a:pt x="0" y="0"/>
                  </a:moveTo>
                  <a:lnTo>
                    <a:pt x="473392" y="8629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662035" y="5436870"/>
              <a:ext cx="1512570" cy="9525"/>
            </a:xfrm>
            <a:custGeom>
              <a:avLst/>
              <a:gdLst/>
              <a:ahLst/>
              <a:cxnLst/>
              <a:rect l="l" t="t" r="r" b="b"/>
              <a:pathLst>
                <a:path w="1512570" h="9525">
                  <a:moveTo>
                    <a:pt x="0" y="0"/>
                  </a:moveTo>
                  <a:lnTo>
                    <a:pt x="15125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64668" y="4093845"/>
              <a:ext cx="1148715" cy="320040"/>
            </a:xfrm>
            <a:prstGeom prst="roundRect">
              <a:avLst>
                <a:gd name="adj" fmla="val 2976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893618" y="4093845"/>
              <a:ext cx="1148715" cy="320040"/>
            </a:xfrm>
            <a:prstGeom prst="roundRect">
              <a:avLst>
                <a:gd name="adj" fmla="val 2976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513320" y="5276850"/>
              <a:ext cx="1148715" cy="320040"/>
            </a:xfrm>
            <a:prstGeom prst="roundRect">
              <a:avLst>
                <a:gd name="adj" fmla="val 29762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174605" y="5276850"/>
              <a:ext cx="804862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33438" y="4178618"/>
              <a:ext cx="1011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host1 + DOS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62388" y="4178618"/>
              <a:ext cx="1011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host2 + DOS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82090" y="5361622"/>
              <a:ext cx="1011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host3 + DOS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62677" y="5361622"/>
              <a:ext cx="627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Printer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分布式操作系统的特征、目标，及其与网络操作系统的区别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4544378" cy="1828800"/>
            <a:chOff x="533400" y="1524000"/>
            <a:chExt cx="4544378" cy="18288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828800"/>
            </a:xfrm>
            <a:prstGeom prst="roundRect">
              <a:avLst>
                <a:gd name="adj" fmla="val 729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27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0090" y="204311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5768" y="20814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0887" y="20545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统一的操作系统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20090" y="2343150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5768" y="23815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0887" y="2355532"/>
              <a:ext cx="25114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资源的进一步共享：内存、CPU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0090" y="264318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5768" y="26815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0887" y="265557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可靠性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20090" y="294322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5768" y="29816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0887" y="295560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透明性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3523298"/>
            <a:ext cx="4544378" cy="2626042"/>
            <a:chOff x="533400" y="3523298"/>
            <a:chExt cx="4544378" cy="2626042"/>
          </a:xfrm>
        </p:grpSpPr>
        <p:sp>
          <p:nvSpPr>
            <p:cNvPr id="23" name="Rectangle 23"/>
            <p:cNvSpPr/>
            <p:nvPr/>
          </p:nvSpPr>
          <p:spPr>
            <a:xfrm>
              <a:off x="533400" y="3523298"/>
              <a:ext cx="4544378" cy="2626042"/>
            </a:xfrm>
            <a:prstGeom prst="roundRect">
              <a:avLst>
                <a:gd name="adj" fmla="val 50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656648"/>
              <a:ext cx="47625" cy="235934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8190" y="370998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9660" y="37428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目标与途径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66762" y="41100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2782" y="4053840"/>
              <a:ext cx="36055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目标：进一步共享 CPU、内存等资源，使负载均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衡，计算加速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6762" y="466725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2782" y="4611052"/>
              <a:ext cx="37256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途径：迁移（migration），包括作业迁移、进程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迁移（线程一般随同进程迁移）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475" y="5164931"/>
              <a:ext cx="1374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例子：Solaris MC。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5377624" y="1524000"/>
            <a:ext cx="6280976" cy="2663856"/>
            <a:chOff x="5377624" y="1524000"/>
            <a:chExt cx="6280976" cy="2663856"/>
          </a:xfrm>
        </p:grpSpPr>
        <p:sp>
          <p:nvSpPr>
            <p:cNvPr id="33" name="Rectangle 33"/>
            <p:cNvSpPr/>
            <p:nvPr/>
          </p:nvSpPr>
          <p:spPr>
            <a:xfrm>
              <a:off x="5382578" y="1524000"/>
              <a:ext cx="6276022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7839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35329" y="16454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网络操作系统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69780" y="16454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分布式操作系统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79732" y="21455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系统组成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35128" y="2045494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各主机有自己的操作系统，上面加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网络软件包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44965" y="21455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全部主机运行统一的操作系统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82578" y="25193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82578" y="2524125"/>
              <a:ext cx="627602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79732" y="27455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35128" y="27455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不透明，用户要指明资源位置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44965" y="2645569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透明，用户感觉不到资源在哪台主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机上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82578" y="31194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79732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共享的资源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35128" y="324564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信息和设备（文件、打印机等）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44965" y="3245644"/>
              <a:ext cx="2028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还可以进一步共享 CPU 和内存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82578" y="35194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82578" y="352425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479732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负载均衡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35128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一般不做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44965" y="364569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可以靠作业迁移、进程迁移实现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82578" y="1524000"/>
              <a:ext cx="627602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33210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14304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377624" y="3997166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两者在硬件上都可以是一组通过网络相连的主机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5382578" y="4319588"/>
            <a:ext cx="6276022" cy="1828800"/>
            <a:chOff x="5382578" y="4319588"/>
            <a:chExt cx="6276022" cy="1828800"/>
          </a:xfrm>
        </p:grpSpPr>
        <p:sp>
          <p:nvSpPr>
            <p:cNvPr id="59" name="Rectangle 59"/>
            <p:cNvSpPr/>
            <p:nvPr/>
          </p:nvSpPr>
          <p:spPr>
            <a:xfrm>
              <a:off x="5382578" y="4319588"/>
              <a:ext cx="6276022" cy="1828800"/>
            </a:xfrm>
            <a:prstGeom prst="roundRect">
              <a:avLst>
                <a:gd name="adj" fmla="val 7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92102" y="4452938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607368" y="4506278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673585" y="453913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透明性具体指哪几条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615940" y="490728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771960" y="485108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位置透明：按名字访问资源，不必知道它在哪台主机上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5615940" y="520731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771960" y="515112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迁移透明：资源或进程换了主机，访问的写法不用改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5615940" y="550735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771960" y="545115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并发透明：多个用户同时使用同一份资源，彼此察觉不到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5615940" y="580739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771960" y="5751195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故障透明：个别主机出故障，其余主机接着把工作做完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多处理机操作系统与嵌入式操作系统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305050"/>
            <a:chOff x="533400" y="1524000"/>
            <a:chExt cx="5410200" cy="23050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05050"/>
            </a:xfrm>
            <a:prstGeom prst="roundRect">
              <a:avLst>
                <a:gd name="adj" fmla="val 57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383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60401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6283" y="1743551"/>
              <a:ext cx="1487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1.4.8 多处理机操作系统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3535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多处理机系统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：具有公共内存的多 CPU 系统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55532"/>
              <a:ext cx="39484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对称多处理机系统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（SMP，symmetric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multi-processor）：没有主从关系的多处理机系统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12745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多处理机操作系统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：有效管理和使用多个 CPU；难在有多个主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475" y="3466624"/>
              <a:ext cx="22159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例子：UNIX、Linux、Windows。</a:t>
              </a:r>
            </a:p>
          </p:txBody>
        </p:sp>
      </p:grpSp>
      <p:grpSp>
        <p:nvGrpSpPr>
          <p:cNvPr id="27" name="c1-kv-2"/>
          <p:cNvGrpSpPr/>
          <p:nvPr/>
        </p:nvGrpSpPr>
        <p:grpSpPr>
          <a:xfrm>
            <a:off x="526542" y="4020502"/>
            <a:ext cx="5417058" cy="1048893"/>
            <a:chOff x="526542" y="4020502"/>
            <a:chExt cx="5417058" cy="1048893"/>
          </a:xfrm>
        </p:grpSpPr>
        <p:sp>
          <p:nvSpPr>
            <p:cNvPr id="19" name="TextBox 19"/>
            <p:cNvSpPr txBox="1"/>
            <p:nvPr/>
          </p:nvSpPr>
          <p:spPr>
            <a:xfrm>
              <a:off x="526542" y="402050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主从式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67637" y="4020502"/>
              <a:ext cx="3353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固定的主 CPU 执行核心，它一忙就成瓶颈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3072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542" y="441293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独立监督式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67637" y="4412932"/>
              <a:ext cx="2990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 CPU 各存一份核心，负载不易均衡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6996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6542" y="480536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浮动监督式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67637" y="4805362"/>
              <a:ext cx="2808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核心在各 CPU 间浮动，负载最均衡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186362"/>
            <a:ext cx="5410200" cy="1135380"/>
            <a:chOff x="533400" y="5186362"/>
            <a:chExt cx="5410200" cy="1135380"/>
          </a:xfrm>
        </p:grpSpPr>
        <p:sp>
          <p:nvSpPr>
            <p:cNvPr id="28" name="Rectangle 28"/>
            <p:cNvSpPr/>
            <p:nvPr/>
          </p:nvSpPr>
          <p:spPr>
            <a:xfrm>
              <a:off x="533400" y="5186362"/>
              <a:ext cx="5410200" cy="1135380"/>
            </a:xfrm>
            <a:prstGeom prst="roundRect">
              <a:avLst>
                <a:gd name="adj" fmla="val 1006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654040"/>
              <a:ext cx="200026" cy="200026"/>
              <a:chOff x="738188" y="5654040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6540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7207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57540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5534978"/>
              <a:ext cx="45142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上面三行是按“谁执行核心代码”分的三种组织方式；SMP 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于浮动监督式。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524000"/>
            <a:ext cx="5410200" cy="1185862"/>
            <a:chOff x="6248400" y="1524000"/>
            <a:chExt cx="5410200" cy="1185862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3190" y="1710690"/>
              <a:ext cx="147923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35334" y="1743551"/>
              <a:ext cx="13558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1.4.9 嵌入式操作系统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6332" y="205454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嵌入在掌上电脑、通讯设备、车载系统、信息家电等非计算机类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设施上的操作系统。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248400" y="2879408"/>
            <a:ext cx="5410200" cy="2043112"/>
            <a:chOff x="6248400" y="2879408"/>
            <a:chExt cx="5410200" cy="2043112"/>
          </a:xfrm>
        </p:grpSpPr>
        <p:sp>
          <p:nvSpPr>
            <p:cNvPr id="41" name="Rectangle 41"/>
            <p:cNvSpPr/>
            <p:nvPr/>
          </p:nvSpPr>
          <p:spPr>
            <a:xfrm>
              <a:off x="6248400" y="2879408"/>
              <a:ext cx="5410200" cy="2043112"/>
            </a:xfrm>
            <a:prstGeom prst="roundRect">
              <a:avLst>
                <a:gd name="adj" fmla="val 652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35090" y="3066098"/>
              <a:ext cx="2277428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73338" y="3098959"/>
              <a:ext cx="2201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特点：微内核结构（micro-kernel）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28232" y="341090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许多操作系统功能（文件系统、设备驱动）以应用程序模式运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43662" y="402431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99682" y="3968115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优点：核心小（只含基本内存管理、CPU 管理、通讯程序），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适应范围广，可靠性高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43662" y="458152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99682" y="452532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缺点：效率低，各服务之间要经核心传递消息</a:t>
              </a:r>
            </a:p>
          </p:txBody>
        </p:sp>
      </p:grpSp>
      <p:grpSp>
        <p:nvGrpSpPr>
          <p:cNvPr id="58" name="c2-card-3"/>
          <p:cNvGrpSpPr/>
          <p:nvPr/>
        </p:nvGrpSpPr>
        <p:grpSpPr>
          <a:xfrm>
            <a:off x="6248400" y="5093018"/>
            <a:ext cx="5410200" cy="1228725"/>
            <a:chOff x="6248400" y="5093018"/>
            <a:chExt cx="5410200" cy="1228725"/>
          </a:xfrm>
        </p:grpSpPr>
        <p:sp>
          <p:nvSpPr>
            <p:cNvPr id="50" name="Rectangle 50"/>
            <p:cNvSpPr/>
            <p:nvPr/>
          </p:nvSpPr>
          <p:spPr>
            <a:xfrm>
              <a:off x="6248400" y="5093018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5226368"/>
              <a:ext cx="47625" cy="9620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3190" y="52797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65862" y="53125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81762" y="567975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37782" y="5623560"/>
              <a:ext cx="47795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CE .NET（美国微软，国内推广称“维纳斯计划”）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81762" y="597979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37782" y="5923598"/>
              <a:ext cx="4332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PalmOS；HOPEN（中科院钟锡昌，对应“女娲计划”）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操作系统的特性与类型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多媒体操作系统与智能卡操作系统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545908"/>
            <a:chOff x="533400" y="1524000"/>
            <a:chExt cx="5410200" cy="1545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55162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7482" y="1743551"/>
              <a:ext cx="1432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1.4.10 多媒体操作系统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17254" y="174593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定义（百度百科）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12788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07168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具有一般操作系统的功能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42792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37172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还具有多媒体底层扩充模块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272796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267176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支持多媒体信息的采集、编辑、播放和传输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239452"/>
            <a:ext cx="5410200" cy="1528762"/>
            <a:chOff x="533400" y="3239452"/>
            <a:chExt cx="5410200" cy="1528762"/>
          </a:xfrm>
        </p:grpSpPr>
        <p:sp>
          <p:nvSpPr>
            <p:cNvPr id="19" name="Rectangle 19"/>
            <p:cNvSpPr/>
            <p:nvPr/>
          </p:nvSpPr>
          <p:spPr>
            <a:xfrm>
              <a:off x="533400" y="3239452"/>
              <a:ext cx="5410200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372802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8190" y="3426142"/>
              <a:ext cx="1236345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4775" y="3459004"/>
              <a:ext cx="1103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说明（Remarks）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6762" y="38271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2782" y="377094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不是一种独立的操作系统类型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6762" y="412718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2782" y="407098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是现代操作系统的一种特性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66762" y="442722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2782" y="437102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目前许多操作系统开始支持多媒体</a:t>
              </a:r>
            </a:p>
          </p:txBody>
        </p:sp>
      </p:grpSp>
      <p:grpSp>
        <p:nvGrpSpPr>
          <p:cNvPr id="37" name="c1-card-3"/>
          <p:cNvGrpSpPr/>
          <p:nvPr/>
        </p:nvGrpSpPr>
        <p:grpSpPr>
          <a:xfrm>
            <a:off x="533400" y="4938712"/>
            <a:ext cx="5410200" cy="1230630"/>
            <a:chOff x="533400" y="4938712"/>
            <a:chExt cx="5410200" cy="1230630"/>
          </a:xfrm>
        </p:grpSpPr>
        <p:sp>
          <p:nvSpPr>
            <p:cNvPr id="30" name="Rectangle 30"/>
            <p:cNvSpPr/>
            <p:nvPr/>
          </p:nvSpPr>
          <p:spPr>
            <a:xfrm>
              <a:off x="533400" y="4938712"/>
              <a:ext cx="5410200" cy="1230630"/>
            </a:xfrm>
            <a:prstGeom prst="roundRect">
              <a:avLst>
                <a:gd name="adj" fmla="val 1083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0090" y="5125402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9158" y="515826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多媒体给操作系统添的活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28662" y="552545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84682" y="546925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播放有期限：一帧晚到等于丢帧，按截止时间调度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28662" y="582549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84682" y="576929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大文件要连续存放和预读，音画两路流靠时间戳对齐</a:t>
              </a:r>
            </a:p>
          </p:txBody>
        </p:sp>
      </p:grpSp>
      <p:grpSp>
        <p:nvGrpSpPr>
          <p:cNvPr id="48" name="c2-flow-1"/>
          <p:cNvGrpSpPr/>
          <p:nvPr/>
        </p:nvGrpSpPr>
        <p:grpSpPr>
          <a:xfrm>
            <a:off x="6437948" y="1624965"/>
            <a:ext cx="5031105" cy="2145982"/>
            <a:chOff x="6437948" y="1624965"/>
            <a:chExt cx="5031105" cy="2145982"/>
          </a:xfrm>
        </p:grpSpPr>
        <p:sp>
          <p:nvSpPr>
            <p:cNvPr id="38" name="Rectangle 38"/>
            <p:cNvSpPr/>
            <p:nvPr/>
          </p:nvSpPr>
          <p:spPr>
            <a:xfrm>
              <a:off x="6437948" y="1624965"/>
              <a:ext cx="232600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143048" y="1624965"/>
              <a:ext cx="232600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67500" y="2211705"/>
              <a:ext cx="4572000" cy="385762"/>
            </a:xfrm>
            <a:prstGeom prst="roundRect">
              <a:avLst>
                <a:gd name="adj" fmla="val 2469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67500" y="2798445"/>
              <a:ext cx="4572000" cy="385762"/>
            </a:xfrm>
            <a:prstGeom prst="roundRect">
              <a:avLst>
                <a:gd name="adj" fmla="val 4987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67500" y="3385185"/>
              <a:ext cx="4572000" cy="385762"/>
            </a:xfrm>
            <a:prstGeom prst="roundRect">
              <a:avLst>
                <a:gd name="adj" fmla="val 24691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10026" y="1738789"/>
              <a:ext cx="9818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applet 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15126" y="1738789"/>
              <a:ext cx="9818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applet 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74979" y="2325529"/>
              <a:ext cx="957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 解释程序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30552" y="2912269"/>
              <a:ext cx="36458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SC-OS：支持多个 applet 并发执行，必要的资源管理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50683" y="3499009"/>
              <a:ext cx="2005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智能卡硬件：CPU 芯片、ROM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248400" y="4040505"/>
            <a:ext cx="5410200" cy="1228725"/>
            <a:chOff x="6248400" y="4040505"/>
            <a:chExt cx="5410200" cy="1228725"/>
          </a:xfrm>
        </p:grpSpPr>
        <p:sp>
          <p:nvSpPr>
            <p:cNvPr id="49" name="Rectangle 49"/>
            <p:cNvSpPr/>
            <p:nvPr/>
          </p:nvSpPr>
          <p:spPr>
            <a:xfrm>
              <a:off x="6248400" y="4040505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4173855"/>
              <a:ext cx="47625" cy="9620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3190" y="422719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39408" y="426005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卡上的资源有多紧张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81762" y="462819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37782" y="4572000"/>
              <a:ext cx="3950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一块芯片：CPU 多为 8 或 16 位，RAM 只有几 KB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81762" y="492823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7782" y="4872037"/>
              <a:ext cx="46996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SC-OS 只管装载、执行、隔离 applet；卡被动应答读卡器</a:t>
              </a:r>
            </a:p>
          </p:txBody>
        </p:sp>
      </p:grpSp>
      <p:grpSp>
        <p:nvGrpSpPr>
          <p:cNvPr id="64" name="c2-callout-3"/>
          <p:cNvGrpSpPr/>
          <p:nvPr/>
        </p:nvGrpSpPr>
        <p:grpSpPr>
          <a:xfrm>
            <a:off x="6248400" y="5439728"/>
            <a:ext cx="5410200" cy="729615"/>
            <a:chOff x="6248400" y="5439728"/>
            <a:chExt cx="5410200" cy="729615"/>
          </a:xfrm>
        </p:grpSpPr>
        <p:sp>
          <p:nvSpPr>
            <p:cNvPr id="58" name="Rectangle 58"/>
            <p:cNvSpPr/>
            <p:nvPr/>
          </p:nvSpPr>
          <p:spPr>
            <a:xfrm>
              <a:off x="6248400" y="543972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53188" y="5704523"/>
              <a:ext cx="200026" cy="200026"/>
              <a:chOff x="6453188" y="5704523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53188" y="57045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53200" y="57711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542088" y="58045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755892" y="5585460"/>
              <a:ext cx="44456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1.4.11 智能卡操作系统：面向 Java 的智能卡带 JVM 解释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程序，可以下载 Java applet 并执行。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操作系统的运行环境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操作系统要靠一组硬件设施才能控制程序、保护自己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62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1.5.1 定时装置、1.5.2 系统栈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66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1.5.3 特权指令、1.5.4 处理机状态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643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1.5.5 地址映射、1.5.6 存储保护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4461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1.5.7 中断、1.5.8 通道与 DMA、1.5.9 IO 保护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操作系统的运行环境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九种硬件设施各自解决什么问题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c1-table-1"/>
          <p:cNvGrpSpPr/>
          <p:nvPr/>
        </p:nvGrpSpPr>
        <p:grpSpPr>
          <a:xfrm>
            <a:off x="533400" y="1524000"/>
            <a:ext cx="11125200" cy="4000500"/>
            <a:chOff x="533400" y="1524000"/>
            <a:chExt cx="11125200" cy="4000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7798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6036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95726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主要服务于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定时装置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32710" y="204549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记录实际时间；按固定间隔发出时钟中断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95310" y="204549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让操作系统定期获得控制权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32710" y="244554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保存中断现场和函数调用信息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95310" y="24455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中断处理、函数调用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特权指令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32710" y="284559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影响系统状态的指令只许在管态执行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95310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系统保护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133725"/>
              <a:ext cx="198310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555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处理机状态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32710" y="324564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区分管态与目态，决定能否执行特权指令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95310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系统保护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194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533775"/>
              <a:ext cx="198310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36456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地址映射机构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32710" y="364569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把逻辑地址变换为物理地址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95310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存储管理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9195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9243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40457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存储保护设施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32710" y="40457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越界检查、越权检查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95310" y="40457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存储管理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3195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0555" y="44457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中断装置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632710" y="4445794"/>
              <a:ext cx="26314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发现并响应中断，使 CPU 转入操作系统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95310" y="44457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处理机管理、设备管理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719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7244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4733925"/>
              <a:ext cx="198310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0555" y="4845844"/>
              <a:ext cx="823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通道与 DMA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632710" y="4845844"/>
              <a:ext cx="1926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代替 CPU 完成 I/O 数据传送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95310" y="4845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设备管理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1196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0555" y="5245894"/>
              <a:ext cx="5387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 保护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632710" y="5245894"/>
              <a:ext cx="21712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I/O 指令都定义为特权指令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95310" y="524589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设备管理、系统保护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1524000"/>
              <a:ext cx="11125200" cy="4000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2530792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093392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7" name="Rectangle 5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8373"/>
              <a:ext cx="8918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深色标出的三项（特权指令、处理机状态、中断装置）是理解操作系统如何保护自己、如何获得控制权的关键。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操作系统的运行环境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定时装置：间隔时钟保证操作系统能定期拿回控制权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626418" cy="2750820"/>
            <a:chOff x="533400" y="1524000"/>
            <a:chExt cx="5626418" cy="2750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2010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5649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绝对时钟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5105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间隔时钟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78330" y="22840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实际时间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71938" y="215074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固定的时间间隔，一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般以毫秒为单位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562641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9051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发不发中断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78330" y="2905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不发中断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71938" y="29051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定时发生中断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489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6595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谁使用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78330" y="3392805"/>
              <a:ext cx="1729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系统操作员可以修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改，一般用户读取使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71938" y="352615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操作系统用来实现多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道程序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2750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766888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960495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4465320"/>
            <a:ext cx="5626418" cy="1059180"/>
            <a:chOff x="533400" y="4465320"/>
            <a:chExt cx="5626418" cy="1059180"/>
          </a:xfrm>
        </p:grpSpPr>
        <p:sp>
          <p:nvSpPr>
            <p:cNvPr id="27" name="Rectangle 27"/>
            <p:cNvSpPr/>
            <p:nvPr/>
          </p:nvSpPr>
          <p:spPr>
            <a:xfrm>
              <a:off x="533400" y="4465320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6129" y="4891206"/>
              <a:ext cx="224134" cy="192560"/>
              <a:chOff x="726129" y="4891206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8200" y="49615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6129" y="48912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0393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613910"/>
              <a:ext cx="4587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其他中断（I/O 完成、系统调用等）也会进入操作系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统，但是否发生、何时发生没有保障。只靠它们，一个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死循环程序就能一直占住 CPU。</a:t>
              </a:r>
            </a:p>
          </p:txBody>
        </p:sp>
      </p:grpSp>
      <p:grpSp>
        <p:nvGrpSpPr>
          <p:cNvPr id="52" name="c2-flow-1"/>
          <p:cNvGrpSpPr/>
          <p:nvPr/>
        </p:nvGrpSpPr>
        <p:grpSpPr>
          <a:xfrm>
            <a:off x="7442835" y="1787842"/>
            <a:ext cx="4197667" cy="3418524"/>
            <a:chOff x="7442835" y="1787842"/>
            <a:chExt cx="4197667" cy="3418524"/>
          </a:xfrm>
        </p:grpSpPr>
        <p:sp>
          <p:nvSpPr>
            <p:cNvPr id="34" name="Freeform 34"/>
            <p:cNvSpPr/>
            <p:nvPr/>
          </p:nvSpPr>
          <p:spPr>
            <a:xfrm>
              <a:off x="9062085" y="2225992"/>
              <a:ext cx="9525" cy="423862"/>
            </a:xfrm>
            <a:custGeom>
              <a:avLst/>
              <a:gdLst/>
              <a:ahLst/>
              <a:cxnLst/>
              <a:rect l="l" t="t" r="r" b="b"/>
              <a:pathLst>
                <a:path w="9525" h="423862">
                  <a:moveTo>
                    <a:pt x="0" y="0"/>
                  </a:moveTo>
                  <a:lnTo>
                    <a:pt x="0" y="4238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09698" y="26498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062085" y="3192780"/>
              <a:ext cx="9525" cy="422910"/>
            </a:xfrm>
            <a:custGeom>
              <a:avLst/>
              <a:gdLst/>
              <a:ahLst/>
              <a:cxnLst/>
              <a:rect l="l" t="t" r="r" b="b"/>
              <a:pathLst>
                <a:path w="9525" h="422910">
                  <a:moveTo>
                    <a:pt x="0" y="0"/>
                  </a:moveTo>
                  <a:lnTo>
                    <a:pt x="0" y="4229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009698" y="36156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062085" y="4158615"/>
              <a:ext cx="9525" cy="341947"/>
            </a:xfrm>
            <a:custGeom>
              <a:avLst/>
              <a:gdLst/>
              <a:ahLst/>
              <a:cxnLst/>
              <a:rect l="l" t="t" r="r" b="b"/>
              <a:pathLst>
                <a:path w="9525" h="341947">
                  <a:moveTo>
                    <a:pt x="0" y="0"/>
                  </a:moveTo>
                  <a:lnTo>
                    <a:pt x="0" y="3419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009698" y="45005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681335" y="2006918"/>
              <a:ext cx="301942" cy="2899410"/>
            </a:xfrm>
            <a:custGeom>
              <a:avLst/>
              <a:gdLst/>
              <a:ahLst/>
              <a:cxnLst/>
              <a:rect l="l" t="t" r="r" b="b"/>
              <a:pathLst>
                <a:path w="301942" h="2899410">
                  <a:moveTo>
                    <a:pt x="0" y="2899410"/>
                  </a:moveTo>
                  <a:lnTo>
                    <a:pt x="209550" y="2899410"/>
                  </a:lnTo>
                  <a:lnTo>
                    <a:pt x="301942" y="2899410"/>
                  </a:lnTo>
                  <a:lnTo>
                    <a:pt x="301942" y="1449705"/>
                  </a:lnTo>
                  <a:lnTo>
                    <a:pt x="301942" y="0"/>
                  </a:lnTo>
                  <a:lnTo>
                    <a:pt x="20955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681335" y="19545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442835" y="1787842"/>
              <a:ext cx="323850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442835" y="2754630"/>
              <a:ext cx="3238500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442835" y="3720465"/>
              <a:ext cx="323850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442835" y="4605338"/>
              <a:ext cx="3238500" cy="601028"/>
            </a:xfrm>
            <a:custGeom>
              <a:avLst/>
              <a:gdLst/>
              <a:ahLst/>
              <a:cxnLst/>
              <a:rect l="l" t="t" r="r" b="b"/>
              <a:pathLst>
                <a:path w="3238500" h="601028">
                  <a:moveTo>
                    <a:pt x="1619250" y="0"/>
                  </a:moveTo>
                  <a:lnTo>
                    <a:pt x="3238500" y="300990"/>
                  </a:lnTo>
                  <a:lnTo>
                    <a:pt x="1619250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51287" y="1917859"/>
              <a:ext cx="18215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用户程序在 CPU 上运行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35570" y="288464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间隔时钟到时，发出时钟中断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61152" y="3850481"/>
              <a:ext cx="14018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转入操作系统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21726" y="481726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继续原程序，还是换一个？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1011852" y="408908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35094" y="4115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返回目态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464618" y="5579745"/>
            <a:ext cx="5193982" cy="782955"/>
            <a:chOff x="6464618" y="5579745"/>
            <a:chExt cx="5193982" cy="782955"/>
          </a:xfrm>
        </p:grpSpPr>
        <p:sp>
          <p:nvSpPr>
            <p:cNvPr id="53" name="Rectangle 53"/>
            <p:cNvSpPr/>
            <p:nvPr/>
          </p:nvSpPr>
          <p:spPr>
            <a:xfrm>
              <a:off x="6464618" y="557974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69405" y="5871212"/>
              <a:ext cx="200023" cy="200023"/>
              <a:chOff x="6669405" y="5871212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669405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802755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71348" y="572833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间隔时钟是实现多道程序的基础，它保证操作系统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一定能获得控制权。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操作系统的运行环境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系统栈：保存中断现场和函数调用信息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4977765" cy="3278505"/>
            <a:chOff x="533400" y="1524000"/>
            <a:chExt cx="4977765" cy="32785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278505"/>
            </a:xfrm>
            <a:prstGeom prst="roundRect">
              <a:avLst>
                <a:gd name="adj" fmla="val 4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0118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35458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5786" y="1769269"/>
              <a:ext cx="22851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1.5.2 系统栈（system stack）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602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保存中断现场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8130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保存函数调用的返回点、参数、局部变量、返回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34023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8004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73761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在操作系统区域内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1357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072890"/>
              <a:ext cx="3968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UNIX：在每个进程的 ppda（per process data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area）中，与 user 结构放在一起</a:t>
              </a:r>
            </a:p>
          </p:txBody>
        </p:sp>
      </p:grpSp>
      <p:grpSp>
        <p:nvGrpSpPr>
          <p:cNvPr id="33" name="c1-cells-2"/>
          <p:cNvGrpSpPr/>
          <p:nvPr/>
        </p:nvGrpSpPr>
        <p:grpSpPr>
          <a:xfrm>
            <a:off x="527685" y="5038725"/>
            <a:ext cx="3831907" cy="668655"/>
            <a:chOff x="527685" y="5038725"/>
            <a:chExt cx="3831907" cy="668655"/>
          </a:xfrm>
        </p:grpSpPr>
        <p:sp>
          <p:nvSpPr>
            <p:cNvPr id="22" name="TextBox 22"/>
            <p:cNvSpPr txBox="1"/>
            <p:nvPr/>
          </p:nvSpPr>
          <p:spPr>
            <a:xfrm>
              <a:off x="527685" y="54278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系统栈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93470" y="5288280"/>
              <a:ext cx="816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94829" y="54278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程序现场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909762" y="5288280"/>
              <a:ext cx="816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086508" y="54278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727008" y="5288280"/>
              <a:ext cx="816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78188" y="54278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543300" y="5288280"/>
              <a:ext cx="8162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44659" y="54278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局部变量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26002" y="503872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栈顶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3913822" y="51930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59" name="c2-table-1"/>
          <p:cNvGrpSpPr/>
          <p:nvPr/>
        </p:nvGrpSpPr>
        <p:grpSpPr>
          <a:xfrm>
            <a:off x="5810250" y="1524000"/>
            <a:ext cx="5848350" cy="3534252"/>
            <a:chOff x="5810250" y="1524000"/>
            <a:chExt cx="5848350" cy="3534252"/>
          </a:xfrm>
        </p:grpSpPr>
        <p:sp>
          <p:nvSpPr>
            <p:cNvPr id="34" name="Rectangle 34"/>
            <p:cNvSpPr/>
            <p:nvPr/>
          </p:nvSpPr>
          <p:spPr>
            <a:xfrm>
              <a:off x="5815965" y="1524000"/>
              <a:ext cx="5842635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47435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38026" y="1663065"/>
              <a:ext cx="1204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栈（stack）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75666" y="1663065"/>
              <a:ext cx="10874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堆（heap）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22645" y="22840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分配与释放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7568" y="228409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调用、返回时自动进行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86900" y="2150745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程序显式申请和释放，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 malloc／free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2761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15965" y="2766060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22645" y="29051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7568" y="2905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后进先出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86900" y="2905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任意顺序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32489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22645" y="35261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存放内容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07568" y="3392805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返回点、参数、局部变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86900" y="35261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运行时动态创建的数据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40033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15965" y="4008120"/>
              <a:ext cx="584263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22645" y="428053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07568" y="428053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速度快，空间较小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86900" y="4147185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空间较大，可能产生碎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1524000"/>
              <a:ext cx="5842635" cy="3238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096125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375458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10250" y="4838224"/>
              <a:ext cx="2655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补充回答原课件的问题 Stack vs. heap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5815965" y="5204460"/>
            <a:ext cx="5842635" cy="1059180"/>
            <a:chOff x="5815965" y="5204460"/>
            <a:chExt cx="5842635" cy="1059180"/>
          </a:xfrm>
        </p:grpSpPr>
        <p:sp>
          <p:nvSpPr>
            <p:cNvPr id="60" name="Rectangle 60"/>
            <p:cNvSpPr/>
            <p:nvPr/>
          </p:nvSpPr>
          <p:spPr>
            <a:xfrm>
              <a:off x="5815965" y="5204460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020753" y="5634038"/>
              <a:ext cx="200026" cy="200026"/>
              <a:chOff x="6020753" y="5634038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020753" y="56340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120765" y="57007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109653" y="57340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322695" y="5353050"/>
              <a:ext cx="4777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补充：程序在目态运行时使用自己的用户栈；发生中断或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系统调用进入管态后，改用操作系统区域内的系统栈，用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户程序因此改不到保存在里面的现场。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操作系统的运行环境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特权指令：影响系统状态的指令只能在管态执行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627370" cy="2245995"/>
            <a:chOff x="533400" y="1524000"/>
            <a:chExt cx="5627370" cy="2245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642235" cy="2245995"/>
            </a:xfrm>
            <a:prstGeom prst="roundRect">
              <a:avLst>
                <a:gd name="adj" fmla="val 5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79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787366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特权指令 privileged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instruction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4326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36982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只有在管态才能执行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67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051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影响系统状态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032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40380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例：关中断、置程序状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态字、停机、I/O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518535" y="1524000"/>
              <a:ext cx="2642235" cy="2245995"/>
            </a:xfrm>
            <a:prstGeom prst="roundRect">
              <a:avLst>
                <a:gd name="adj" fmla="val 5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528060" y="1657350"/>
              <a:ext cx="47625" cy="19792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58565" y="1758315"/>
              <a:ext cx="1405414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非特权指令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non-privileged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instruction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771900" y="26898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30015" y="262699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所有程序都可以使用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771900" y="30251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30015" y="29622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不影响系统状态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771900" y="33604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30015" y="32975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例：取数、四则运算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185160" y="248507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255500" y="25812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3960495"/>
            <a:ext cx="5626418" cy="782955"/>
            <a:chOff x="533400" y="3960495"/>
            <a:chExt cx="5626418" cy="782955"/>
          </a:xfrm>
        </p:grpSpPr>
        <p:sp>
          <p:nvSpPr>
            <p:cNvPr id="28" name="Rectangle 28"/>
            <p:cNvSpPr/>
            <p:nvPr/>
          </p:nvSpPr>
          <p:spPr>
            <a:xfrm>
              <a:off x="533400" y="396049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6129" y="4248268"/>
              <a:ext cx="224134" cy="192560"/>
              <a:chOff x="726129" y="4248268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38200" y="43186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6129" y="42482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43964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410908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用户程序在目态执行特权指令时，硬件不执行它，而是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产生中断交给操作系统处理，通常会终止该程序。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464618" y="1524000"/>
            <a:ext cx="5193982" cy="3219450"/>
            <a:chOff x="6464618" y="1524000"/>
            <a:chExt cx="5193982" cy="3219450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3219450"/>
            </a:xfrm>
            <a:prstGeom prst="roundRect">
              <a:avLst>
                <a:gd name="adj" fmla="val 41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1657350"/>
              <a:ext cx="47625" cy="29527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12268" y="1733550"/>
              <a:ext cx="205835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56171" y="176926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为什么这几条必须是特权指令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17983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76098" y="21107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关中断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：用户程序关中断后时钟中断失效，操作系统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拿不回 CPU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17983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76098" y="273177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置程序状态字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：用户程序可以把自己改成管态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17983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76098" y="30670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停机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：整个系统随之停止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17983" y="34651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76098" y="3402330"/>
              <a:ext cx="46243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：直接操作设备会和其他程序冲突（见 1.5.9）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05791" y="3734276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取数、加减乘除只改变程序自己的数据，不影响别人，所以不必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限制。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8900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判断方法：一条指令如果被用户程序随意使用，会影响其他程序或整个系统，它就应当是特权指令。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38231" cy="909257"/>
            <a:chOff x="520446" y="342900"/>
            <a:chExt cx="83382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操作系统的运行环境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382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管态与目态：中断使 CPU 进入管态，置 PSW 回到目态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flow-1"/>
          <p:cNvGrpSpPr/>
          <p:nvPr/>
        </p:nvGrpSpPr>
        <p:grpSpPr>
          <a:xfrm>
            <a:off x="672465" y="1570672"/>
            <a:ext cx="5673091" cy="1896999"/>
            <a:chOff x="672465" y="1570672"/>
            <a:chExt cx="5673091" cy="1896999"/>
          </a:xfrm>
        </p:grpSpPr>
        <p:sp>
          <p:nvSpPr>
            <p:cNvPr id="7" name="Freeform 7"/>
            <p:cNvSpPr/>
            <p:nvPr/>
          </p:nvSpPr>
          <p:spPr>
            <a:xfrm>
              <a:off x="1524952" y="1786890"/>
              <a:ext cx="3968115" cy="518160"/>
            </a:xfrm>
            <a:custGeom>
              <a:avLst/>
              <a:gdLst/>
              <a:ahLst/>
              <a:cxnLst/>
              <a:rect l="l" t="t" r="r" b="b"/>
              <a:pathLst>
                <a:path w="3968115" h="518160">
                  <a:moveTo>
                    <a:pt x="0" y="518160"/>
                  </a:moveTo>
                  <a:lnTo>
                    <a:pt x="0" y="308610"/>
                  </a:lnTo>
                  <a:lnTo>
                    <a:pt x="0" y="0"/>
                  </a:lnTo>
                  <a:lnTo>
                    <a:pt x="1984057" y="0"/>
                  </a:lnTo>
                  <a:lnTo>
                    <a:pt x="3968115" y="0"/>
                  </a:lnTo>
                  <a:lnTo>
                    <a:pt x="3968115" y="308610"/>
                  </a:lnTo>
                  <a:lnTo>
                    <a:pt x="3968115" y="4133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440680" y="2200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24952" y="2933700"/>
              <a:ext cx="3968115" cy="518160"/>
            </a:xfrm>
            <a:custGeom>
              <a:avLst/>
              <a:gdLst/>
              <a:ahLst/>
              <a:cxnLst/>
              <a:rect l="l" t="t" r="r" b="b"/>
              <a:pathLst>
                <a:path w="3968115" h="518160">
                  <a:moveTo>
                    <a:pt x="3968115" y="0"/>
                  </a:moveTo>
                  <a:lnTo>
                    <a:pt x="3968115" y="209550"/>
                  </a:lnTo>
                  <a:lnTo>
                    <a:pt x="3968115" y="518160"/>
                  </a:lnTo>
                  <a:lnTo>
                    <a:pt x="1984057" y="518160"/>
                  </a:lnTo>
                  <a:lnTo>
                    <a:pt x="0" y="518160"/>
                  </a:lnTo>
                  <a:lnTo>
                    <a:pt x="0" y="20955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72565" y="29337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72465" y="2305050"/>
              <a:ext cx="1705928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639628" y="2305050"/>
              <a:ext cx="1705928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8235" y="2420779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管态（系统态、核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态）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36351" y="2420779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目态（用户态、常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669732" y="1570672"/>
              <a:ext cx="16954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64018" y="159734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置程序状态字（特权指令）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106228" y="3235642"/>
              <a:ext cx="78867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127716" y="3262312"/>
              <a:ext cx="7456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中断、trap</a:t>
              </a:r>
            </a:p>
          </p:txBody>
        </p:sp>
      </p:grpSp>
      <p:grpSp>
        <p:nvGrpSpPr>
          <p:cNvPr id="25" name="c1-kv-2"/>
          <p:cNvGrpSpPr/>
          <p:nvPr/>
        </p:nvGrpSpPr>
        <p:grpSpPr>
          <a:xfrm>
            <a:off x="525780" y="3930015"/>
            <a:ext cx="5958840" cy="1297305"/>
            <a:chOff x="525780" y="3930015"/>
            <a:chExt cx="5958840" cy="1297305"/>
          </a:xfrm>
        </p:grpSpPr>
        <p:sp>
          <p:nvSpPr>
            <p:cNvPr id="20" name="TextBox 20"/>
            <p:cNvSpPr txBox="1"/>
            <p:nvPr/>
          </p:nvSpPr>
          <p:spPr>
            <a:xfrm>
              <a:off x="525780" y="3930015"/>
              <a:ext cx="134683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系统态 system</a:t>
              </a:r>
              <a:br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mode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10765" y="39300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又称管态、核态，可以执行全部指令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53199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5780" y="4652010"/>
              <a:ext cx="1086802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用户态 user</a:t>
              </a:r>
              <a:br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mode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10765" y="465201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又称目态、常态，只能执行非特权指令</a:t>
              </a:r>
            </a:p>
          </p:txBody>
        </p:sp>
      </p:grpSp>
      <p:grpSp>
        <p:nvGrpSpPr>
          <p:cNvPr id="31" name="c1-callout-3"/>
          <p:cNvGrpSpPr/>
          <p:nvPr/>
        </p:nvGrpSpPr>
        <p:grpSpPr>
          <a:xfrm>
            <a:off x="533400" y="5358765"/>
            <a:ext cx="5951220" cy="782955"/>
            <a:chOff x="533400" y="5358765"/>
            <a:chExt cx="5951220" cy="782955"/>
          </a:xfrm>
        </p:grpSpPr>
        <p:sp>
          <p:nvSpPr>
            <p:cNvPr id="26" name="Rectangle 26"/>
            <p:cNvSpPr/>
            <p:nvPr/>
          </p:nvSpPr>
          <p:spPr>
            <a:xfrm>
              <a:off x="533400" y="5358765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650232"/>
              <a:ext cx="200023" cy="200023"/>
              <a:chOff x="738188" y="5650232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65023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57169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507355"/>
              <a:ext cx="4987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Dual mode operation：目态程序不能靠改 PSW 进入管态，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因为置 PSW 本身就是特权指令，只能通过中断进入。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6789420" y="1524000"/>
            <a:ext cx="4869180" cy="4863942"/>
            <a:chOff x="6789420" y="1524000"/>
            <a:chExt cx="4869180" cy="4863942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9862" t="0" r="9862" b="0"/>
            <a:stretch>
              <a:fillRect/>
            </a:stretch>
          </p:blipFill>
          <p:spPr>
            <a:xfrm>
              <a:off x="6789420" y="1524000"/>
              <a:ext cx="4869180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635164" y="6167914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顾客只能在窗口递申请，进金库办事的只有柜员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69973" cy="909257"/>
            <a:chOff x="520446" y="342900"/>
            <a:chExt cx="84699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操作系统的运行环境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699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实例：IBM 360/370 的状态位与现代 PC 的四个特权级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384935"/>
            <a:chOff x="533400" y="1524000"/>
            <a:chExt cx="5410200" cy="1384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84935"/>
            </a:xfrm>
            <a:prstGeom prst="roundRect">
              <a:avLst>
                <a:gd name="adj" fmla="val 9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182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870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8774" y="1769269"/>
              <a:ext cx="973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IBM 360/370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56435" y="1768792"/>
              <a:ext cx="3347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程序状态字 PSW 的第 15 位是状态位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934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0：系统态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934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1：用户态</a:t>
              </a:r>
            </a:p>
          </p:txBody>
        </p:sp>
      </p:grpSp>
      <p:grpSp>
        <p:nvGrpSpPr>
          <p:cNvPr id="32" name="c1-cells-2"/>
          <p:cNvGrpSpPr/>
          <p:nvPr/>
        </p:nvGrpSpPr>
        <p:grpSpPr>
          <a:xfrm>
            <a:off x="527304" y="3146584"/>
            <a:ext cx="3487094" cy="908208"/>
            <a:chOff x="527304" y="3146584"/>
            <a:chExt cx="3487094" cy="908208"/>
          </a:xfrm>
        </p:grpSpPr>
        <p:sp>
          <p:nvSpPr>
            <p:cNvPr id="17" name="TextBox 17"/>
            <p:cNvSpPr txBox="1"/>
            <p:nvPr/>
          </p:nvSpPr>
          <p:spPr>
            <a:xfrm>
              <a:off x="527304" y="3539490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PSW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62978" y="340423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62661" y="35394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667828" y="340423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67511" y="35394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372678" y="3404235"/>
              <a:ext cx="7048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72361" y="35394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077528" y="3404235"/>
              <a:ext cx="704850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181541" y="35394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44003" y="387858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48853" y="387858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53703" y="387858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58553" y="387858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45508" y="3146584"/>
              <a:ext cx="11688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 系统态／1 用户态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3391852" y="330898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0" name="c1-card-3"/>
          <p:cNvGrpSpPr/>
          <p:nvPr/>
        </p:nvGrpSpPr>
        <p:grpSpPr>
          <a:xfrm>
            <a:off x="533400" y="4204335"/>
            <a:ext cx="5410200" cy="1666875"/>
            <a:chOff x="533400" y="4204335"/>
            <a:chExt cx="5410200" cy="1666875"/>
          </a:xfrm>
        </p:grpSpPr>
        <p:sp>
          <p:nvSpPr>
            <p:cNvPr id="33" name="Rectangle 33"/>
            <p:cNvSpPr/>
            <p:nvPr/>
          </p:nvSpPr>
          <p:spPr>
            <a:xfrm>
              <a:off x="533400" y="4204335"/>
              <a:ext cx="5410200" cy="166687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337685"/>
              <a:ext cx="47625" cy="14001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1050" y="44138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1258" y="44496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82078" y="4449128"/>
              <a:ext cx="26381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IBM 360 的 PSW 里还有什么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3430" y="481012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中断屏蔽位、存储保护键、状态位、条件码、下一条指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令地址等。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4573" y="5427821"/>
              <a:ext cx="4741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改写 PSW 的指令是特权指令，目态程序无法把状态位改成 0。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248400" y="1524000"/>
            <a:ext cx="5410200" cy="1670685"/>
            <a:chOff x="6248400" y="1524000"/>
            <a:chExt cx="5410200" cy="1670685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165735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96050" y="1733550"/>
              <a:ext cx="12344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8306" y="1769269"/>
              <a:ext cx="1109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现代 PC（x86）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37170" y="1768792"/>
              <a:ext cx="2030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 4 种模式 R0～R3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59880" y="2129790"/>
              <a:ext cx="2430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R0 权限最强，R3 权限最弱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01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59880" y="2465070"/>
              <a:ext cx="4549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目前一般只用 R0（运行操作系统内核）和 R3（运行用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户程序）</a:t>
              </a:r>
            </a:p>
          </p:txBody>
        </p:sp>
      </p:grpSp>
      <p:grpSp>
        <p:nvGrpSpPr>
          <p:cNvPr id="64" name="c2-cells-2"/>
          <p:cNvGrpSpPr/>
          <p:nvPr/>
        </p:nvGrpSpPr>
        <p:grpSpPr>
          <a:xfrm>
            <a:off x="6241923" y="3433762"/>
            <a:ext cx="2439543" cy="684848"/>
            <a:chOff x="6241923" y="3433762"/>
            <a:chExt cx="2439543" cy="684848"/>
          </a:xfrm>
        </p:grpSpPr>
        <p:sp>
          <p:nvSpPr>
            <p:cNvPr id="51" name="TextBox 51"/>
            <p:cNvSpPr txBox="1"/>
            <p:nvPr/>
          </p:nvSpPr>
          <p:spPr>
            <a:xfrm>
              <a:off x="6241923" y="382952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特权级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869430" y="3699510"/>
              <a:ext cx="435292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75932" y="382952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304722" y="3699510"/>
              <a:ext cx="43529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11224" y="382952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740015" y="3699510"/>
              <a:ext cx="43529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846517" y="382952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175308" y="3699510"/>
              <a:ext cx="43529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81809" y="382952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40868" y="34337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内核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7049452" y="360426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105394" y="34337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用户程序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8355330" y="360426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71" name="c2-card-3"/>
          <p:cNvGrpSpPr/>
          <p:nvPr/>
        </p:nvGrpSpPr>
        <p:grpSpPr>
          <a:xfrm>
            <a:off x="6248400" y="4309110"/>
            <a:ext cx="5410200" cy="1562100"/>
            <a:chOff x="6248400" y="4309110"/>
            <a:chExt cx="5410200" cy="1562100"/>
          </a:xfrm>
        </p:grpSpPr>
        <p:sp>
          <p:nvSpPr>
            <p:cNvPr id="65" name="Rectangle 65"/>
            <p:cNvSpPr/>
            <p:nvPr/>
          </p:nvSpPr>
          <p:spPr>
            <a:xfrm>
              <a:off x="6248400" y="4309110"/>
              <a:ext cx="5410200" cy="1562100"/>
            </a:xfrm>
            <a:prstGeom prst="roundRect">
              <a:avLst>
                <a:gd name="adj" fmla="val 85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57925" y="4442460"/>
              <a:ext cx="47625" cy="12954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96050" y="451866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65557" y="455437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为什么只用两级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88430" y="4895850"/>
              <a:ext cx="4376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R0 对应管态，R3 对应目态，R1、R2 基本闲置。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89573" y="5227796"/>
              <a:ext cx="46946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Windows、Linux 还要移植到只有两种模式的其他处理器上，只依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赖两级更便于移植。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操作系统的运行环境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地址映射与存储保护：先查地址是否越界，再换算成物理地址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193982" cy="2232660"/>
            <a:chOff x="533400" y="1524000"/>
            <a:chExt cx="5193982" cy="22326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232660"/>
            </a:xfrm>
            <a:prstGeom prst="roundRect">
              <a:avLst>
                <a:gd name="adj" fmla="val 59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659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51828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0727" y="1769269"/>
              <a:ext cx="139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1.5.5 地址映射机构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逻辑地址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（虚地址）：程序中产生的地址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（实地址）：存储器地址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地址映射：逻辑地址 ⇒ 物理地址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3113246"/>
              <a:ext cx="40119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Address mapping by software is possible, but very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inefficient：软件也能做，但太慢，所以由硬件完成。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947160"/>
            <a:ext cx="5193982" cy="1746885"/>
            <a:chOff x="533400" y="3947160"/>
            <a:chExt cx="5193982" cy="1746885"/>
          </a:xfrm>
        </p:grpSpPr>
        <p:sp>
          <p:nvSpPr>
            <p:cNvPr id="19" name="Rectangle 19"/>
            <p:cNvSpPr/>
            <p:nvPr/>
          </p:nvSpPr>
          <p:spPr>
            <a:xfrm>
              <a:off x="533400" y="3947160"/>
              <a:ext cx="5193982" cy="1746885"/>
            </a:xfrm>
            <a:prstGeom prst="roundRect">
              <a:avLst>
                <a:gd name="adj" fmla="val 76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080510"/>
              <a:ext cx="47625" cy="14801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4156710"/>
              <a:ext cx="151828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0727" y="4192429"/>
              <a:ext cx="139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1.5.6 存储保护设施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45967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453390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防止应用程序侵犯操作系统空间、侵犯其他用户空间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49320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486918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地址检查：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越界检查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越权检查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（对共享区域，如只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读区不许写）</a:t>
              </a:r>
            </a:p>
          </p:txBody>
        </p:sp>
      </p:grpSp>
      <p:grpSp>
        <p:nvGrpSpPr>
          <p:cNvPr id="46" name="c2-flow-1"/>
          <p:cNvGrpSpPr/>
          <p:nvPr/>
        </p:nvGrpSpPr>
        <p:grpSpPr>
          <a:xfrm>
            <a:off x="6229350" y="1702118"/>
            <a:ext cx="5232082" cy="2025014"/>
            <a:chOff x="6229350" y="1702118"/>
            <a:chExt cx="5232082" cy="2025014"/>
          </a:xfrm>
        </p:grpSpPr>
        <p:sp>
          <p:nvSpPr>
            <p:cNvPr id="28" name="Freeform 28"/>
            <p:cNvSpPr/>
            <p:nvPr/>
          </p:nvSpPr>
          <p:spPr>
            <a:xfrm>
              <a:off x="7439025" y="2140268"/>
              <a:ext cx="9525" cy="168593"/>
            </a:xfrm>
            <a:custGeom>
              <a:avLst/>
              <a:gdLst/>
              <a:ahLst/>
              <a:cxnLst/>
              <a:rect l="l" t="t" r="r" b="b"/>
              <a:pathLst>
                <a:path w="9525" h="168593">
                  <a:moveTo>
                    <a:pt x="0" y="0"/>
                  </a:moveTo>
                  <a:lnTo>
                    <a:pt x="0" y="1685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386638" y="23088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439025" y="3015615"/>
              <a:ext cx="9525" cy="168592"/>
            </a:xfrm>
            <a:custGeom>
              <a:avLst/>
              <a:gdLst/>
              <a:ahLst/>
              <a:cxnLst/>
              <a:rect l="l" t="t" r="r" b="b"/>
              <a:pathLst>
                <a:path w="9525" h="168592">
                  <a:moveTo>
                    <a:pt x="0" y="0"/>
                  </a:moveTo>
                  <a:lnTo>
                    <a:pt x="0" y="1685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386638" y="31842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648700" y="2714625"/>
              <a:ext cx="288607" cy="9525"/>
            </a:xfrm>
            <a:custGeom>
              <a:avLst/>
              <a:gdLst/>
              <a:ahLst/>
              <a:cxnLst/>
              <a:rect l="l" t="t" r="r" b="b"/>
              <a:pathLst>
                <a:path w="288607" h="9525">
                  <a:moveTo>
                    <a:pt x="0" y="0"/>
                  </a:moveTo>
                  <a:lnTo>
                    <a:pt x="28860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937308" y="2662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29350" y="1702118"/>
              <a:ext cx="241935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229350" y="2413635"/>
              <a:ext cx="2419350" cy="601980"/>
            </a:xfrm>
            <a:custGeom>
              <a:avLst/>
              <a:gdLst/>
              <a:ahLst/>
              <a:cxnLst/>
              <a:rect l="l" t="t" r="r" b="b"/>
              <a:pathLst>
                <a:path w="2419350" h="601980">
                  <a:moveTo>
                    <a:pt x="1209675" y="0"/>
                  </a:moveTo>
                  <a:lnTo>
                    <a:pt x="2419350" y="300990"/>
                  </a:lnTo>
                  <a:lnTo>
                    <a:pt x="1209675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29350" y="3288982"/>
              <a:ext cx="241935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42082" y="2400300"/>
              <a:ext cx="2419350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62046" y="1832134"/>
              <a:ext cx="15539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程序给出逻辑地址 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19320" y="2625566"/>
              <a:ext cx="8394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&lt; 限长？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49078" y="3418999"/>
              <a:ext cx="15798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物理地址 = 基址 + 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69920" y="2516029"/>
              <a:ext cx="19636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越界：产生中断，交操作系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统处理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467600" y="306038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90841" y="30870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730615" y="249840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768906" y="25250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63" name="c2-table-2"/>
          <p:cNvGrpSpPr/>
          <p:nvPr/>
        </p:nvGrpSpPr>
        <p:grpSpPr>
          <a:xfrm>
            <a:off x="6026467" y="4095750"/>
            <a:ext cx="5632133" cy="1642587"/>
            <a:chOff x="6026467" y="4095750"/>
            <a:chExt cx="5632133" cy="1642587"/>
          </a:xfrm>
        </p:grpSpPr>
        <p:sp>
          <p:nvSpPr>
            <p:cNvPr id="47" name="Rectangle 47"/>
            <p:cNvSpPr/>
            <p:nvPr/>
          </p:nvSpPr>
          <p:spPr>
            <a:xfrm>
              <a:off x="6032182" y="409575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72606" y="4231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逻辑地址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06092" y="4231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27297" y="4231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18211" y="468010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00235" y="4680109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3000 &lt; 5000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79066" y="4680109"/>
              <a:ext cx="1254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物理地址 23000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32182" y="49882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32182" y="499300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18211" y="512873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5200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00235" y="5128736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5200 ≥ 5000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96513" y="512873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越界，产生中断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32182" y="4095750"/>
              <a:ext cx="5626418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611428" y="409575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548812" y="409575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026467" y="5518309"/>
              <a:ext cx="3516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补充例子：基址寄存器 = 20000，限长寄存器 = 5000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27948" cy="909257"/>
            <a:chOff x="520446" y="342900"/>
            <a:chExt cx="73279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操作系统的运行环境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279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中断装置：保存当前 PSW 和 PC，装入中断向量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4965685" cy="2851309"/>
            <a:chOff x="533400" y="1533525"/>
            <a:chExt cx="4965685" cy="285130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331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93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823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6524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39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发现中断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183308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每条指令执行完后，硬件检查有没有中断请求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1478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保存现场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416016"/>
              <a:ext cx="22906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把当前的（PSW，PC）压入系统栈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装入中断向量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2998946"/>
              <a:ext cx="3195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把该类中断的中断向量（PSW，PC）送入寄存器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31374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执行处理程序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581876"/>
              <a:ext cx="43002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 PSW 为管态，CPU 从新 PC 开始执行操作系统的中断处理程序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89667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164806"/>
              <a:ext cx="4552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处理完后从系统栈恢复原来的（PSW，PC），被中断的程序接着执行</a:t>
              </a:r>
            </a:p>
          </p:txBody>
        </p:sp>
      </p:grpSp>
      <p:grpSp>
        <p:nvGrpSpPr>
          <p:cNvPr id="48" name="c1-cells-2"/>
          <p:cNvGrpSpPr/>
          <p:nvPr/>
        </p:nvGrpSpPr>
        <p:grpSpPr>
          <a:xfrm>
            <a:off x="528447" y="4548188"/>
            <a:ext cx="3513011" cy="1684020"/>
            <a:chOff x="528447" y="4548188"/>
            <a:chExt cx="3513011" cy="168402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467248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中断前寄存器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413510" y="4548188"/>
              <a:ext cx="8763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13428" y="4672489"/>
              <a:ext cx="676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PSW：目态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289810" y="4548188"/>
              <a:ext cx="8763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84790" y="4672489"/>
              <a:ext cx="6844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PC：断点 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447" y="546782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系统栈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413510" y="5344478"/>
              <a:ext cx="8763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770519" y="54678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289810" y="5344478"/>
              <a:ext cx="8763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388776" y="5467826"/>
              <a:ext cx="676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PSW：目态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165158" y="5344478"/>
              <a:ext cx="8763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61090" y="5467826"/>
              <a:ext cx="6844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PC：断点 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88157" y="510301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栈顶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3565208" y="524922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447" y="598789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中断后寄存器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413510" y="5863590"/>
              <a:ext cx="1263015" cy="368618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706786" y="5987891"/>
              <a:ext cx="676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PSW：管态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676525" y="5863590"/>
              <a:ext cx="1263015" cy="368618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759880" y="5987891"/>
              <a:ext cx="10944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PC：处理程序入口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789420" y="1524000"/>
            <a:ext cx="4869180" cy="1528762"/>
            <a:chOff x="6789420" y="1524000"/>
            <a:chExt cx="4869180" cy="1528762"/>
          </a:xfrm>
        </p:grpSpPr>
        <p:sp>
          <p:nvSpPr>
            <p:cNvPr id="49" name="Rectangle 49"/>
            <p:cNvSpPr/>
            <p:nvPr/>
          </p:nvSpPr>
          <p:spPr>
            <a:xfrm>
              <a:off x="6789420" y="1524000"/>
              <a:ext cx="4869180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98945" y="1657350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14210" y="1710690"/>
              <a:ext cx="11058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87555" y="1743551"/>
              <a:ext cx="9601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1.5.7 中断装置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07352" y="205454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发现并响应中断的硬件机构。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022782" y="24117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78802" y="2355532"/>
              <a:ext cx="2188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当前（PSW，PC）⇒ 系统栈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022782" y="271176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78802" y="2655570"/>
              <a:ext cx="25520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中断向量（PSW，PC）⇒ 寄存器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789420" y="3223260"/>
            <a:ext cx="4869180" cy="3009900"/>
            <a:chOff x="6789420" y="3223260"/>
            <a:chExt cx="4869180" cy="3009900"/>
          </a:xfrm>
        </p:grpSpPr>
        <p:sp>
          <p:nvSpPr>
            <p:cNvPr id="59" name="Rectangle 59"/>
            <p:cNvSpPr/>
            <p:nvPr/>
          </p:nvSpPr>
          <p:spPr>
            <a:xfrm>
              <a:off x="6789420" y="3223260"/>
              <a:ext cx="4869180" cy="3009900"/>
            </a:xfrm>
            <a:prstGeom prst="roundRect">
              <a:avLst>
                <a:gd name="adj" fmla="val 44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798945" y="3356610"/>
              <a:ext cx="47625" cy="27432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014210" y="340995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98779" y="344281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中断向量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07352" y="375380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每类中断对应一个中断向量，存放该类中断处理程序运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行时的 PSW 和入口地址 PC。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08495" y="4307681"/>
              <a:ext cx="42075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2、3 步由硬件一次完成；PSW 与 PC 同时更换，CPU 就在管态下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进入操作系统。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07352" y="477964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常见的中断类型（补充）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022782" y="513588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178802" y="5079683"/>
              <a:ext cx="1650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时钟中断、I/O 中断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022782" y="543687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178802" y="5379720"/>
              <a:ext cx="3621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程序性中断：如除数为 0、目态执行特权指令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022782" y="573690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78802" y="5680710"/>
              <a:ext cx="3248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访管中断：程序执行 trap 请求系统调用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18560" cy="909257"/>
            <a:chOff x="520446" y="342900"/>
            <a:chExt cx="87185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操作系统的运行环境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185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通道与 DMA 代替 CPU 传送数据；I/O 指令都是特权指令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8447" y="1524000"/>
            <a:ext cx="6280975" cy="3037237"/>
            <a:chOff x="528447" y="1524000"/>
            <a:chExt cx="6280975" cy="303723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9221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4961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05196" y="1645444"/>
              <a:ext cx="823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DMA 控制器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1455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指令系统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85950" y="2045494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有独立的通道指令系统：读写、控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制、转移操作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21518" y="21455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没有独立指令系统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193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24125"/>
              <a:ext cx="6276022" cy="8001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工作方式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85950" y="2745581"/>
              <a:ext cx="2322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CPU 委托的通道程序，可完成一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连串 I/O 操作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21518" y="2645569"/>
              <a:ext cx="200279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设好内存地址、字节数和方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向，控制器简单地传送一个数据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445669"/>
              <a:ext cx="940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何时中断 CPU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85950" y="34456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通道程序执行完毕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1518" y="34456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每传送完一个数据块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195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24275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8457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85950" y="38457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21518" y="38457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微型机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276022" cy="26003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784032" y="1524000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19600" y="1524000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8447" y="4197191"/>
              <a:ext cx="5927979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1.5.8 通道：负责 I/O 操作的处理机。后三行补充回答原课件的问题 Any other difference? 下方补充 I/O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控制方式的演进，CPU 参与得越来越少</a:t>
              </a:r>
            </a:p>
          </p:txBody>
        </p:sp>
      </p:grpSp>
      <p:grpSp>
        <p:nvGrpSpPr>
          <p:cNvPr id="56" name="c1-steps-2"/>
          <p:cNvGrpSpPr/>
          <p:nvPr/>
        </p:nvGrpSpPr>
        <p:grpSpPr>
          <a:xfrm>
            <a:off x="533400" y="4692968"/>
            <a:ext cx="6276023" cy="1358265"/>
            <a:chOff x="533400" y="4692968"/>
            <a:chExt cx="6276023" cy="1358265"/>
          </a:xfrm>
        </p:grpSpPr>
        <p:sp>
          <p:nvSpPr>
            <p:cNvPr id="33" name="Rectangle 33"/>
            <p:cNvSpPr/>
            <p:nvPr/>
          </p:nvSpPr>
          <p:spPr>
            <a:xfrm>
              <a:off x="533400" y="4692968"/>
              <a:ext cx="1354455" cy="1358265"/>
            </a:xfrm>
            <a:prstGeom prst="roundRect">
              <a:avLst>
                <a:gd name="adj" fmla="val 84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66750" y="482631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6883" y="48968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9892" y="523017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程序直接控制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1035" y="5516404"/>
              <a:ext cx="9999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反复查询设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备状态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1964055" y="528637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173605" y="4692968"/>
              <a:ext cx="1354455" cy="1358265"/>
            </a:xfrm>
            <a:prstGeom prst="roundRect">
              <a:avLst>
                <a:gd name="adj" fmla="val 84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306955" y="482631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397088" y="48968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00097" y="52301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中断方式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301240" y="5516404"/>
              <a:ext cx="1007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每传一个字节中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断一次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3604260" y="528637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813810" y="4692968"/>
              <a:ext cx="1354455" cy="1358265"/>
            </a:xfrm>
            <a:prstGeom prst="roundRect">
              <a:avLst>
                <a:gd name="adj" fmla="val 84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3947160" y="482631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037293" y="48968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40302" y="5230178"/>
              <a:ext cx="386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941445" y="5516404"/>
              <a:ext cx="1007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每传一个数据块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中断一次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5245418" y="528637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454968" y="4692968"/>
              <a:ext cx="1354455" cy="1358265"/>
            </a:xfrm>
            <a:prstGeom prst="roundRect">
              <a:avLst>
                <a:gd name="adj" fmla="val 84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5588318" y="482631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78451" y="48968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81460" y="52301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82602" y="5516404"/>
              <a:ext cx="10355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一批 I/O 完成后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才中断</a:t>
              </a:r>
            </a:p>
          </p:txBody>
        </p:sp>
      </p:grpSp>
      <p:grpSp>
        <p:nvGrpSpPr>
          <p:cNvPr id="70" name="c2-card-1"/>
          <p:cNvGrpSpPr/>
          <p:nvPr/>
        </p:nvGrpSpPr>
        <p:grpSpPr>
          <a:xfrm>
            <a:off x="7114222" y="1524000"/>
            <a:ext cx="4544378" cy="2297430"/>
            <a:chOff x="7114222" y="1524000"/>
            <a:chExt cx="4544378" cy="2297430"/>
          </a:xfrm>
        </p:grpSpPr>
        <p:sp>
          <p:nvSpPr>
            <p:cNvPr id="57" name="Rectangle 57"/>
            <p:cNvSpPr/>
            <p:nvPr/>
          </p:nvSpPr>
          <p:spPr>
            <a:xfrm>
              <a:off x="7114222" y="1524000"/>
              <a:ext cx="4544378" cy="2297430"/>
            </a:xfrm>
            <a:prstGeom prst="roundRect">
              <a:avLst>
                <a:gd name="adj" fmla="val 5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123748" y="1657350"/>
              <a:ext cx="47625" cy="203073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39012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16432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通道运控部件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347585" y="211074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03604" y="2054542"/>
              <a:ext cx="1335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通道地址字 CAW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347585" y="24117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503604" y="2355532"/>
              <a:ext cx="1335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通道命令字 CCW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347585" y="271176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503604" y="2655570"/>
              <a:ext cx="1335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通道状态字 CSW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347585" y="301180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503604" y="2955608"/>
              <a:ext cx="1335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通道数据字 CDW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33298" y="3252311"/>
              <a:ext cx="37950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CAW 给出通道程序的起始地址；每条 CCW 是一条通道指令；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CSW 记录通道和设备的执行情况。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7114222" y="3991928"/>
            <a:ext cx="4544378" cy="2060258"/>
            <a:chOff x="7114222" y="3991928"/>
            <a:chExt cx="4544378" cy="2060258"/>
          </a:xfrm>
        </p:grpSpPr>
        <p:sp>
          <p:nvSpPr>
            <p:cNvPr id="71" name="Rectangle 71"/>
            <p:cNvSpPr/>
            <p:nvPr/>
          </p:nvSpPr>
          <p:spPr>
            <a:xfrm>
              <a:off x="7114222" y="3991928"/>
              <a:ext cx="4544378" cy="2060258"/>
            </a:xfrm>
            <a:prstGeom prst="roundRect">
              <a:avLst>
                <a:gd name="adj" fmla="val 647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300912" y="4178618"/>
              <a:ext cx="103346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358284" y="4211479"/>
              <a:ext cx="917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1.5.9 IO 保护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294054" y="4522470"/>
              <a:ext cx="38970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定义所有 IO 指令为特权指令，用户程序只能请操作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系统代做 I/O。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309485" y="513588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465504" y="5079683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方便使用：用户不必了解设备细节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309485" y="543687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65504" y="5379720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防止发生冲突：多个程序不会同时直接操作同一台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设备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13170" cy="3321367"/>
            <a:chOff x="667512" y="1835468"/>
            <a:chExt cx="6313170" cy="33213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界面形式与运行机理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用户和程序通过哪些界面使用操作系统，操作系统又怎样在程序之间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切换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 交互命令与图形界面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 作业控制语言与系统调用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 操作系统的运行机理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界面形式与运行机理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四种界面形式：三种给人用，一种给程序用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11125200" cy="3238500"/>
            <a:chOff x="533400" y="1524000"/>
            <a:chExt cx="11125200" cy="3238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2594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界面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50018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2223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使用方式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9171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150745"/>
              <a:ext cx="2198846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交互终端命令（Command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Language）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44265" y="22840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终端用户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90160" y="228409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逐条输入命令，立即得到结果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50605" y="2284095"/>
              <a:ext cx="29055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shell：$命令名 -选项 参数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660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2905125"/>
              <a:ext cx="21583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图形界面（GUI，Graphic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 Interface）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44265" y="3038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终端用户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90160" y="30384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用鼠标操作窗口、图标、菜单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50605" y="3038475"/>
              <a:ext cx="1294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桌面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5156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80" y="3792855"/>
              <a:ext cx="20003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作业控制语言（JCL）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44265" y="37928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批处理用户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90160" y="365950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事先写好作业说明书，随作业一起提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50605" y="37928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作业标识语句、作业步语句等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2700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2748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4413885"/>
              <a:ext cx="23027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系统调用命令（OS API）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44265" y="44138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90160" y="44138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在程序中调用，陷入操作系统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50605" y="4413885"/>
              <a:ext cx="2731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fd = open(file_name, mode)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11125200" cy="3238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532822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978718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539162" y="1524000"/>
              <a:ext cx="9525" cy="3238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ode-2"/>
          <p:cNvGrpSpPr/>
          <p:nvPr/>
        </p:nvGrpSpPr>
        <p:grpSpPr>
          <a:xfrm>
            <a:off x="533400" y="4953000"/>
            <a:ext cx="11125200" cy="1110615"/>
            <a:chOff x="533400" y="4953000"/>
            <a:chExt cx="11125200" cy="1110615"/>
          </a:xfrm>
        </p:grpSpPr>
        <p:sp>
          <p:nvSpPr>
            <p:cNvPr id="38" name="Rectangle 38"/>
            <p:cNvSpPr/>
            <p:nvPr/>
          </p:nvSpPr>
          <p:spPr>
            <a:xfrm>
              <a:off x="533400" y="4953000"/>
              <a:ext cx="11125200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1797" y="5104924"/>
              <a:ext cx="23552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 命令的格式：$ 命令名 -选项 参数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1035" y="5366861"/>
              <a:ext cx="4029710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ls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-l /usr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命令名 ls，选项 -l，参数 /usr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$ cc f.c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调用 C 编译器编译 f.c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$ mount /dev/sdb1 /mnt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70896" cy="909257"/>
            <a:chOff x="520446" y="342900"/>
            <a:chExt cx="94708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界面形式与运行机理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708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shell：每个终端一个 shell，命令由 shell 的子进程执行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graph-1"/>
          <p:cNvGrpSpPr/>
          <p:nvPr/>
        </p:nvGrpSpPr>
        <p:grpSpPr>
          <a:xfrm>
            <a:off x="1057275" y="1667828"/>
            <a:ext cx="4747260" cy="3694748"/>
            <a:chOff x="1057275" y="1667828"/>
            <a:chExt cx="4747260" cy="3694748"/>
          </a:xfrm>
        </p:grpSpPr>
        <p:sp>
          <p:nvSpPr>
            <p:cNvPr id="7" name="Freeform 7"/>
            <p:cNvSpPr/>
            <p:nvPr/>
          </p:nvSpPr>
          <p:spPr>
            <a:xfrm>
              <a:off x="3347085" y="1967865"/>
              <a:ext cx="9525" cy="453390"/>
            </a:xfrm>
            <a:custGeom>
              <a:avLst/>
              <a:gdLst/>
              <a:ahLst/>
              <a:cxnLst/>
              <a:rect l="l" t="t" r="r" b="b"/>
              <a:pathLst>
                <a:path w="9525" h="453390">
                  <a:moveTo>
                    <a:pt x="0" y="0"/>
                  </a:moveTo>
                  <a:lnTo>
                    <a:pt x="0" y="4533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59255" y="2722245"/>
              <a:ext cx="1381125" cy="675322"/>
            </a:xfrm>
            <a:custGeom>
              <a:avLst/>
              <a:gdLst/>
              <a:ahLst/>
              <a:cxnLst/>
              <a:rect l="l" t="t" r="r" b="b"/>
              <a:pathLst>
                <a:path w="1381125" h="675322">
                  <a:moveTo>
                    <a:pt x="0" y="675322"/>
                  </a:moveTo>
                  <a:lnTo>
                    <a:pt x="13811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16618" y="2722245"/>
              <a:ext cx="310515" cy="662940"/>
            </a:xfrm>
            <a:custGeom>
              <a:avLst/>
              <a:gdLst/>
              <a:ahLst/>
              <a:cxnLst/>
              <a:rect l="l" t="t" r="r" b="b"/>
              <a:pathLst>
                <a:path w="310515" h="662940">
                  <a:moveTo>
                    <a:pt x="310515" y="66294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79508" y="2722245"/>
              <a:ext cx="1523048" cy="685800"/>
            </a:xfrm>
            <a:custGeom>
              <a:avLst/>
              <a:gdLst/>
              <a:ahLst/>
              <a:cxnLst/>
              <a:rect l="l" t="t" r="r" b="b"/>
              <a:pathLst>
                <a:path w="1523048" h="685800">
                  <a:moveTo>
                    <a:pt x="1523048" y="68580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624138" y="2722245"/>
              <a:ext cx="657225" cy="1501140"/>
            </a:xfrm>
            <a:custGeom>
              <a:avLst/>
              <a:gdLst/>
              <a:ahLst/>
              <a:cxnLst/>
              <a:rect l="l" t="t" r="r" b="b"/>
              <a:pathLst>
                <a:path w="657225" h="1501140">
                  <a:moveTo>
                    <a:pt x="0" y="1501140"/>
                  </a:moveTo>
                  <a:lnTo>
                    <a:pt x="6572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88770" y="3685222"/>
              <a:ext cx="681038" cy="483870"/>
            </a:xfrm>
            <a:custGeom>
              <a:avLst/>
              <a:gdLst/>
              <a:ahLst/>
              <a:cxnLst/>
              <a:rect l="l" t="t" r="r" b="b"/>
              <a:pathLst>
                <a:path w="681038" h="483870">
                  <a:moveTo>
                    <a:pt x="0" y="0"/>
                  </a:moveTo>
                  <a:lnTo>
                    <a:pt x="681038" y="48387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2242185" y="4130040"/>
              <a:ext cx="105727" cy="93345"/>
            </a:xfrm>
            <a:custGeom>
              <a:avLst/>
              <a:gdLst/>
              <a:ahLst/>
              <a:cxnLst/>
              <a:rect l="l" t="t" r="r" b="b"/>
              <a:pathLst>
                <a:path w="105727" h="93345">
                  <a:moveTo>
                    <a:pt x="105727" y="93345"/>
                  </a:moveTo>
                  <a:lnTo>
                    <a:pt x="0" y="77152"/>
                  </a:lnTo>
                  <a:lnTo>
                    <a:pt x="552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377315" y="3685222"/>
              <a:ext cx="9525" cy="1377315"/>
            </a:xfrm>
            <a:custGeom>
              <a:avLst/>
              <a:gdLst/>
              <a:ahLst/>
              <a:cxnLst/>
              <a:rect l="l" t="t" r="r" b="b"/>
              <a:pathLst>
                <a:path w="9525" h="1377315">
                  <a:moveTo>
                    <a:pt x="0" y="13773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796665" y="3685222"/>
              <a:ext cx="9525" cy="1377315"/>
            </a:xfrm>
            <a:custGeom>
              <a:avLst/>
              <a:gdLst/>
              <a:ahLst/>
              <a:cxnLst/>
              <a:rect l="l" t="t" r="r" b="b"/>
              <a:pathLst>
                <a:path w="9525" h="1377315">
                  <a:moveTo>
                    <a:pt x="0" y="13773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484495" y="3685222"/>
              <a:ext cx="9525" cy="1377315"/>
            </a:xfrm>
            <a:custGeom>
              <a:avLst/>
              <a:gdLst/>
              <a:ahLst/>
              <a:cxnLst/>
              <a:rect l="l" t="t" r="r" b="b"/>
              <a:pathLst>
                <a:path w="9525" h="1377315">
                  <a:moveTo>
                    <a:pt x="0" y="13773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394585" y="1667828"/>
              <a:ext cx="190500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61085" y="2421255"/>
              <a:ext cx="4572000" cy="300038"/>
            </a:xfrm>
            <a:prstGeom prst="roundRect">
              <a:avLst>
                <a:gd name="adj" fmla="val 31746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95375" y="3385185"/>
              <a:ext cx="564832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14725" y="3385185"/>
              <a:ext cx="564832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202555" y="3385185"/>
              <a:ext cx="564832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006918" y="4223385"/>
              <a:ext cx="110394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57275" y="5062538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476625" y="5062538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64455" y="5062538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90596" y="1747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02412" y="2501741"/>
              <a:ext cx="68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UNIX 核心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93498" y="3465671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12848" y="3465671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47793" y="346567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00678" y="3465671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89644" y="4303871"/>
              <a:ext cx="939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cc（子进程）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3543" y="514207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49742" y="5155882"/>
              <a:ext cx="4820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$ cc f.c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72893" y="514207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47793" y="514207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60723" y="514207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 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815465" y="3869055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841944" y="390144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464618" y="1524000"/>
            <a:ext cx="5193982" cy="1365885"/>
            <a:chOff x="6464618" y="1524000"/>
            <a:chExt cx="5193982" cy="1365885"/>
          </a:xfrm>
        </p:grpSpPr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1365885"/>
            </a:xfrm>
            <a:prstGeom prst="roundRect">
              <a:avLst>
                <a:gd name="adj" fmla="val 976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741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653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74167" y="20974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6017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75158" y="211074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缩小核心：命令解释程序放在核心之外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74167" y="24326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6017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75158" y="2446020"/>
              <a:ext cx="4063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不同用户可以选择不同的界面（如 sh、csh）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464618" y="3080385"/>
            <a:ext cx="5193982" cy="2634615"/>
            <a:chOff x="6464618" y="3080385"/>
            <a:chExt cx="5193982" cy="2634615"/>
          </a:xfrm>
        </p:grpSpPr>
        <p:sp>
          <p:nvSpPr>
            <p:cNvPr id="51" name="Rectangle 51"/>
            <p:cNvSpPr/>
            <p:nvPr/>
          </p:nvSpPr>
          <p:spPr>
            <a:xfrm>
              <a:off x="6464618" y="3080385"/>
              <a:ext cx="5193982" cy="2634615"/>
            </a:xfrm>
            <a:prstGeom prst="roundRect">
              <a:avLst>
                <a:gd name="adj" fmla="val 5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4142" y="3213735"/>
              <a:ext cx="47625" cy="23679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712268" y="3289935"/>
              <a:ext cx="172021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66236" y="3325654"/>
              <a:ext cx="1612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在终端 1 输入 $ cc f.c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712267" y="365379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74117" y="36960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13258" y="36671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 1 的 shell 读入并分析命令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712267" y="398907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4117" y="40313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13258" y="4002405"/>
              <a:ext cx="343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创建子进程 cc，自己等待它结束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712267" y="432435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74117" y="43666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13258" y="4337685"/>
              <a:ext cx="4063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 编译 f.c，结束后 shell 重新给出提示符 $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05791" y="4669631"/>
              <a:ext cx="36746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cc 与 shell 都属于目态进程，二者是父子关系。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77462" cy="909257"/>
            <a:chOff x="520446" y="342900"/>
            <a:chExt cx="79774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界面形式与运行机理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774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作业控制语言 JCL：批处理用户事先写好作业说明书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276022" cy="3505200"/>
            <a:chOff x="533400" y="1524000"/>
            <a:chExt cx="6276022" cy="35052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248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3464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8161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作业标识语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21205" y="2150745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用户标识、作业标识、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账号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80535" y="215074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说明作业是谁的、费用记在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哪个账上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627602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0384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作业步语句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21205" y="30384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编译、连接装配、执行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80535" y="290512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一般每个作业步对应一个子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56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65950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资源描述语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21205" y="3659505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内存需求、计算时间、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其他资源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80535" y="37928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作业调度据此判断能否装入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700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274820"/>
              <a:ext cx="627602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547235"/>
              <a:ext cx="9566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Goto 语句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21205" y="454723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正向转移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80535" y="441388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只能向后面的作业步跳，作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业控制中没有循环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276022" cy="3505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09762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169092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2"/>
          <p:cNvGrpSpPr/>
          <p:nvPr/>
        </p:nvGrpSpPr>
        <p:grpSpPr>
          <a:xfrm>
            <a:off x="533400" y="5219700"/>
            <a:ext cx="6276022" cy="782955"/>
            <a:chOff x="533400" y="5219700"/>
            <a:chExt cx="6276022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219700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511165"/>
              <a:ext cx="200026" cy="200025"/>
              <a:chOff x="738188" y="5511165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5111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5556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56667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368290"/>
              <a:ext cx="5349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批处理用户交上作业后就不能再干预，出错时怎么办也要事先用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Goto 语句写好。</a:t>
              </a:r>
            </a:p>
          </p:txBody>
        </p:sp>
      </p:grpSp>
      <p:grpSp>
        <p:nvGrpSpPr>
          <p:cNvPr id="67" name="c2-flow-1"/>
          <p:cNvGrpSpPr/>
          <p:nvPr/>
        </p:nvGrpSpPr>
        <p:grpSpPr>
          <a:xfrm>
            <a:off x="8290560" y="1707832"/>
            <a:ext cx="3325178" cy="4471036"/>
            <a:chOff x="8290560" y="1707832"/>
            <a:chExt cx="3325178" cy="4471036"/>
          </a:xfrm>
        </p:grpSpPr>
        <p:sp>
          <p:nvSpPr>
            <p:cNvPr id="39" name="Freeform 39"/>
            <p:cNvSpPr/>
            <p:nvPr/>
          </p:nvSpPr>
          <p:spPr>
            <a:xfrm>
              <a:off x="9385935" y="2145982"/>
              <a:ext cx="9525" cy="263842"/>
            </a:xfrm>
            <a:custGeom>
              <a:avLst/>
              <a:gdLst/>
              <a:ahLst/>
              <a:cxnLst/>
              <a:rect l="l" t="t" r="r" b="b"/>
              <a:pathLst>
                <a:path w="9525" h="263842">
                  <a:moveTo>
                    <a:pt x="0" y="0"/>
                  </a:moveTo>
                  <a:lnTo>
                    <a:pt x="0" y="2638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333548" y="24098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385935" y="2952750"/>
              <a:ext cx="9525" cy="181928"/>
            </a:xfrm>
            <a:custGeom>
              <a:avLst/>
              <a:gdLst/>
              <a:ahLst/>
              <a:cxnLst/>
              <a:rect l="l" t="t" r="r" b="b"/>
              <a:pathLst>
                <a:path w="9525" h="181928">
                  <a:moveTo>
                    <a:pt x="0" y="0"/>
                  </a:moveTo>
                  <a:lnTo>
                    <a:pt x="0" y="181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333548" y="31346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385935" y="3840480"/>
              <a:ext cx="9525" cy="181928"/>
            </a:xfrm>
            <a:custGeom>
              <a:avLst/>
              <a:gdLst/>
              <a:ahLst/>
              <a:cxnLst/>
              <a:rect l="l" t="t" r="r" b="b"/>
              <a:pathLst>
                <a:path w="9525" h="181928">
                  <a:moveTo>
                    <a:pt x="0" y="0"/>
                  </a:moveTo>
                  <a:lnTo>
                    <a:pt x="0" y="181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333548" y="40224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385935" y="4565332"/>
              <a:ext cx="9525" cy="263842"/>
            </a:xfrm>
            <a:custGeom>
              <a:avLst/>
              <a:gdLst/>
              <a:ahLst/>
              <a:cxnLst/>
              <a:rect l="l" t="t" r="r" b="b"/>
              <a:pathLst>
                <a:path w="9525" h="263842">
                  <a:moveTo>
                    <a:pt x="0" y="0"/>
                  </a:moveTo>
                  <a:lnTo>
                    <a:pt x="0" y="2638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333548" y="48291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385935" y="5372100"/>
              <a:ext cx="9525" cy="263843"/>
            </a:xfrm>
            <a:custGeom>
              <a:avLst/>
              <a:gdLst/>
              <a:ahLst/>
              <a:cxnLst/>
              <a:rect l="l" t="t" r="r" b="b"/>
              <a:pathLst>
                <a:path w="9525" h="263843">
                  <a:moveTo>
                    <a:pt x="0" y="0"/>
                  </a:moveTo>
                  <a:lnTo>
                    <a:pt x="0" y="26384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333548" y="56359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481310" y="3540442"/>
              <a:ext cx="450532" cy="2419350"/>
            </a:xfrm>
            <a:custGeom>
              <a:avLst/>
              <a:gdLst/>
              <a:ahLst/>
              <a:cxnLst/>
              <a:rect l="l" t="t" r="r" b="b"/>
              <a:pathLst>
                <a:path w="450532" h="2419350">
                  <a:moveTo>
                    <a:pt x="0" y="0"/>
                  </a:moveTo>
                  <a:lnTo>
                    <a:pt x="209550" y="0"/>
                  </a:lnTo>
                  <a:lnTo>
                    <a:pt x="450532" y="0"/>
                  </a:lnTo>
                  <a:lnTo>
                    <a:pt x="450532" y="1370648"/>
                  </a:lnTo>
                  <a:lnTo>
                    <a:pt x="450532" y="2419350"/>
                  </a:lnTo>
                  <a:lnTo>
                    <a:pt x="209550" y="2419350"/>
                  </a:lnTo>
                  <a:lnTo>
                    <a:pt x="104775" y="24193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481310" y="59074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290560" y="1707832"/>
              <a:ext cx="219075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290560" y="2514600"/>
              <a:ext cx="2190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290560" y="3239452"/>
              <a:ext cx="2190750" cy="601027"/>
            </a:xfrm>
            <a:custGeom>
              <a:avLst/>
              <a:gdLst/>
              <a:ahLst/>
              <a:cxnLst/>
              <a:rect l="l" t="t" r="r" b="b"/>
              <a:pathLst>
                <a:path w="2190750" h="601027">
                  <a:moveTo>
                    <a:pt x="1095375" y="0"/>
                  </a:moveTo>
                  <a:lnTo>
                    <a:pt x="2190750" y="300990"/>
                  </a:lnTo>
                  <a:lnTo>
                    <a:pt x="1095375" y="601027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290560" y="4127182"/>
              <a:ext cx="2190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290560" y="4933950"/>
              <a:ext cx="2190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290560" y="5740718"/>
              <a:ext cx="219075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034831" y="18378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作业开始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89284" y="2644616"/>
              <a:ext cx="1193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作业步 1：编译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48674" y="345138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编译出错？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16970" y="4257199"/>
              <a:ext cx="1537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作业步 2：连接装配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89284" y="5063966"/>
              <a:ext cx="1193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作业步 3：执行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34831" y="58707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作业结束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414510" y="389191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437751" y="391858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960418" y="4133850"/>
              <a:ext cx="65532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983659" y="4160520"/>
              <a:ext cx="608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是：Goto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57493" cy="909257"/>
            <a:chOff x="520446" y="342900"/>
            <a:chExt cx="75574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界面形式与运行机理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574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系统调用：高级语言形式经库函数变成 trap 指令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1313498"/>
            <a:chOff x="533400" y="1524000"/>
            <a:chExt cx="5193982" cy="13134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高级语言形式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123694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fd = open(file_name, mode);</a:t>
              </a:r>
              <a:br/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(fd &lt; 0)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打开失败的处理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027998"/>
            <a:ext cx="5193982" cy="1922145"/>
            <a:chOff x="533400" y="3027998"/>
            <a:chExt cx="5193982" cy="1922145"/>
          </a:xfrm>
        </p:grpSpPr>
        <p:sp>
          <p:nvSpPr>
            <p:cNvPr id="11" name="Rectangle 11"/>
            <p:cNvSpPr/>
            <p:nvPr/>
          </p:nvSpPr>
          <p:spPr>
            <a:xfrm>
              <a:off x="533400" y="3027998"/>
              <a:ext cx="5193982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17992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汇编语言形式（示意）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3441859"/>
              <a:ext cx="2728214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; 1. 准备参数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把 file_name 的地址送入参数寄存器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把 mode 送入另一个参数寄存器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; 2. 陷入操作系统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trap n      ; n 为 open 的系统调用号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; 3. 取返回值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从返回值寄存器取出 fd</a:t>
              </a:r>
            </a:p>
          </p:txBody>
        </p:sp>
      </p:grpSp>
      <p:grpSp>
        <p:nvGrpSpPr>
          <p:cNvPr id="36" name="c2-steps-1"/>
          <p:cNvGrpSpPr/>
          <p:nvPr/>
        </p:nvGrpSpPr>
        <p:grpSpPr>
          <a:xfrm>
            <a:off x="6032182" y="1533525"/>
            <a:ext cx="4733418" cy="3179730"/>
            <a:chOff x="6032182" y="1533525"/>
            <a:chExt cx="4733418" cy="3179730"/>
          </a:xfrm>
        </p:grpSpPr>
        <p:sp>
          <p:nvSpPr>
            <p:cNvPr id="15" name="Rectangle 15"/>
            <p:cNvSpPr/>
            <p:nvPr/>
          </p:nvSpPr>
          <p:spPr>
            <a:xfrm>
              <a:off x="6165532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032182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25806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032182" y="28346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25806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032182" y="34861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25806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032182" y="41367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25806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43662" y="1567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调用库函数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44806" y="1861661"/>
              <a:ext cx="3898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程序里的 open(...) 调用的是系统库中同名的函数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43662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准备参数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44806" y="251221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库函数把参数和系统调用号放到约定的寄存器或栈中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43662" y="2868930"/>
              <a:ext cx="9491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trap 陷入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44806" y="3162776"/>
              <a:ext cx="4219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trap n，CPU 由目态进入管态，转到操作系统入口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43662" y="35204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内核处理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44806" y="3813334"/>
              <a:ext cx="3485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操作系统按编号 n 找到对应的内核函数并执行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3662" y="41709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4806" y="446389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结果放入寄存器，回到目态；库函数取出返回值交给程序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7" name="Rectangle 37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728335"/>
              <a:ext cx="9940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补充回答原课件的问题“如何转换？”：转换由系统库完成，程序员写高级语言形式，库函数替他执行汇编语言形式的三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11167" cy="909257"/>
            <a:chOff x="520446" y="342900"/>
            <a:chExt cx="85111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界面形式与运行机理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111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运行机理：中断进入操作系统，切换程序后置 PSW 返回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680085" y="1940242"/>
            <a:ext cx="5982652" cy="2977516"/>
            <a:chOff x="680085" y="1940242"/>
            <a:chExt cx="5982652" cy="2977516"/>
          </a:xfrm>
        </p:grpSpPr>
        <p:sp>
          <p:nvSpPr>
            <p:cNvPr id="7" name="Freeform 7"/>
            <p:cNvSpPr/>
            <p:nvPr/>
          </p:nvSpPr>
          <p:spPr>
            <a:xfrm>
              <a:off x="1579245" y="2378392"/>
              <a:ext cx="9525" cy="726758"/>
            </a:xfrm>
            <a:custGeom>
              <a:avLst/>
              <a:gdLst/>
              <a:ahLst/>
              <a:cxnLst/>
              <a:rect l="l" t="t" r="r" b="b"/>
              <a:pathLst>
                <a:path w="9525" h="726758">
                  <a:moveTo>
                    <a:pt x="0" y="0"/>
                  </a:moveTo>
                  <a:lnTo>
                    <a:pt x="0" y="7267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26858" y="31051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79245" y="3648075"/>
              <a:ext cx="9525" cy="726758"/>
            </a:xfrm>
            <a:custGeom>
              <a:avLst/>
              <a:gdLst/>
              <a:ahLst/>
              <a:cxnLst/>
              <a:rect l="l" t="t" r="r" b="b"/>
              <a:pathLst>
                <a:path w="9525" h="726758">
                  <a:moveTo>
                    <a:pt x="0" y="0"/>
                  </a:moveTo>
                  <a:lnTo>
                    <a:pt x="0" y="7267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26858" y="43748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479358" y="4698682"/>
              <a:ext cx="187642" cy="9525"/>
            </a:xfrm>
            <a:custGeom>
              <a:avLst/>
              <a:gdLst/>
              <a:ahLst/>
              <a:cxnLst/>
              <a:rect l="l" t="t" r="r" b="b"/>
              <a:pathLst>
                <a:path w="187642" h="9525">
                  <a:moveTo>
                    <a:pt x="0" y="0"/>
                  </a:moveTo>
                  <a:lnTo>
                    <a:pt x="18764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67000" y="46462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571048" y="4698682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0" y="0"/>
                  </a:moveTo>
                  <a:lnTo>
                    <a:pt x="18764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58690" y="46462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763578" y="3752850"/>
              <a:ext cx="9525" cy="726758"/>
            </a:xfrm>
            <a:custGeom>
              <a:avLst/>
              <a:gdLst/>
              <a:ahLst/>
              <a:cxnLst/>
              <a:rect l="l" t="t" r="r" b="b"/>
              <a:pathLst>
                <a:path w="9525" h="726758">
                  <a:moveTo>
                    <a:pt x="0" y="72675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711190" y="36480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763578" y="2483168"/>
              <a:ext cx="9525" cy="726758"/>
            </a:xfrm>
            <a:custGeom>
              <a:avLst/>
              <a:gdLst/>
              <a:ahLst/>
              <a:cxnLst/>
              <a:rect l="l" t="t" r="r" b="b"/>
              <a:pathLst>
                <a:path w="9525" h="726758">
                  <a:moveTo>
                    <a:pt x="0" y="72675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711190" y="23783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0085" y="1940242"/>
              <a:ext cx="179927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863465" y="1940242"/>
              <a:ext cx="1799272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0085" y="3209925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80085" y="4479608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71775" y="4479608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863465" y="4479608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863465" y="3209925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5636" y="2070259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 1 在目态运行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49969" y="2070259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 2 在目态运行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28141" y="33399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6747" y="460962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保存程序 1 现场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46598" y="4609624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选择程序 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41079" y="460962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恢复程序 2 现场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75221" y="3339941"/>
              <a:ext cx="576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 PSW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607820" y="270224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631061" y="27289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792152" y="270224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15394" y="272891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回到目态</a:t>
              </a:r>
            </a:p>
          </p:txBody>
        </p:sp>
      </p:grpSp>
      <p:grpSp>
        <p:nvGrpSpPr>
          <p:cNvPr id="39" name="c1-text-2"/>
          <p:cNvGrpSpPr/>
          <p:nvPr/>
        </p:nvGrpSpPr>
        <p:grpSpPr>
          <a:xfrm>
            <a:off x="526923" y="5545931"/>
            <a:ext cx="5918434" cy="249364"/>
            <a:chOff x="526923" y="5545931"/>
            <a:chExt cx="5918434" cy="249364"/>
          </a:xfrm>
        </p:grpSpPr>
        <p:sp>
          <p:nvSpPr>
            <p:cNvPr id="38" name="TextBox 38"/>
            <p:cNvSpPr txBox="1"/>
            <p:nvPr/>
          </p:nvSpPr>
          <p:spPr>
            <a:xfrm>
              <a:off x="526923" y="5545931"/>
              <a:ext cx="59184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下面两行（中断处理到置 PSW）都在管态由操作系统完成，硬件层在最底部。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1887855"/>
            <a:chOff x="7114222" y="1524000"/>
            <a:chExt cx="4544378" cy="1887855"/>
          </a:xfrm>
        </p:grpSpPr>
        <p:sp>
          <p:nvSpPr>
            <p:cNvPr id="40" name="Rectangle 40"/>
            <p:cNvSpPr/>
            <p:nvPr/>
          </p:nvSpPr>
          <p:spPr>
            <a:xfrm>
              <a:off x="7114222" y="1524000"/>
              <a:ext cx="4544378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23748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361872" y="1733550"/>
              <a:ext cx="178117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13905" y="1769269"/>
              <a:ext cx="1677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1.7 操作系统的运行机理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54252" y="2110740"/>
              <a:ext cx="39395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平时 CPU 运行用户程序；发生中断（时钟、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I/O、系统调用等）时才进入操作系统。操作系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统处理完，可能换一个程序运行，再置 PSW 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到目态。</a:t>
              </a:r>
            </a:p>
          </p:txBody>
        </p:sp>
      </p:grpSp>
      <p:grpSp>
        <p:nvGrpSpPr>
          <p:cNvPr id="54" name="c2-kv-2"/>
          <p:cNvGrpSpPr/>
          <p:nvPr/>
        </p:nvGrpSpPr>
        <p:grpSpPr>
          <a:xfrm>
            <a:off x="7106602" y="3627120"/>
            <a:ext cx="4551998" cy="1737360"/>
            <a:chOff x="7106602" y="3627120"/>
            <a:chExt cx="4551998" cy="1737360"/>
          </a:xfrm>
        </p:grpSpPr>
        <p:sp>
          <p:nvSpPr>
            <p:cNvPr id="46" name="TextBox 46"/>
            <p:cNvSpPr txBox="1"/>
            <p:nvPr/>
          </p:nvSpPr>
          <p:spPr>
            <a:xfrm>
              <a:off x="7106602" y="36271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中断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47685" y="3627120"/>
              <a:ext cx="3397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目态进入管态，由硬件完成（1.5.7）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114222" y="394716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06602" y="4067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程序切换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47685" y="406717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保存现场、选择程序、恢复现场，由操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作系统完成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114222" y="466915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06602" y="4789170"/>
              <a:ext cx="698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置 PSW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47685" y="4789170"/>
              <a:ext cx="2682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管态回到目态，用特权指令完成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（1.5.4）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417658" cy="2997517"/>
            <a:chOff x="667512" y="1835468"/>
            <a:chExt cx="641765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研究观点与系统实例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07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从三个角度看同一个操作系统，再看 Linux 和 Windows 两个实例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3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 进程、资源管理、虚拟机三种观点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214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1.9.1 Linux 的历史与特点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022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1.9.2 Windows 10 的特点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研究观点与系统实例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研究操作系统的三种观点：进程、资源管理者、虚拟机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6492240" cy="3017520"/>
            <a:chOff x="533400" y="1524000"/>
            <a:chExt cx="6492240" cy="30175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345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61197" y="16630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把操作系统看作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60595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关注的内容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进程观点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38338" y="215074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支持进程运行的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26168" y="215074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支持进程；支持进程之间的协同（互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斥、同步、通讯）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649224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90512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资源管理观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38338" y="30384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资源管理者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26168" y="2905125"/>
              <a:ext cx="3063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让资源方便使用；防止使用时发生冲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56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92620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虚拟机观点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38338" y="379285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对硬件的第一次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26168" y="3659505"/>
              <a:ext cx="308229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提供虚拟资源：单个实的 CPU → 多个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 CPU；内存 + 外存 → 虚拟存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储；独占设备 + 共享 → 虚拟设备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492240" cy="30175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26895" y="1524000"/>
              <a:ext cx="9525" cy="3017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514725" y="1524000"/>
              <a:ext cx="9525" cy="3017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flow-2"/>
          <p:cNvGrpSpPr/>
          <p:nvPr/>
        </p:nvGrpSpPr>
        <p:grpSpPr>
          <a:xfrm>
            <a:off x="684848" y="5132070"/>
            <a:ext cx="6189345" cy="629602"/>
            <a:chOff x="684848" y="5132070"/>
            <a:chExt cx="6189345" cy="629602"/>
          </a:xfrm>
        </p:grpSpPr>
        <p:sp>
          <p:nvSpPr>
            <p:cNvPr id="27" name="Freeform 27"/>
            <p:cNvSpPr/>
            <p:nvPr/>
          </p:nvSpPr>
          <p:spPr>
            <a:xfrm>
              <a:off x="2546032" y="5446395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744152" y="53940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4710112" y="5446395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908232" y="53940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84848" y="5132070"/>
              <a:ext cx="1861185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848928" y="5227320"/>
              <a:ext cx="1861185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013008" y="5132070"/>
              <a:ext cx="1861185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8723" y="5247799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裸机：只有指令系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56102" y="535733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加上操作系统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86883" y="5247799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虚拟机：能直接创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建进程、打开文件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7330440" y="1524000"/>
            <a:ext cx="4328160" cy="2558415"/>
            <a:chOff x="7330440" y="1524000"/>
            <a:chExt cx="4328160" cy="2558415"/>
          </a:xfrm>
        </p:grpSpPr>
        <p:sp>
          <p:nvSpPr>
            <p:cNvPr id="38" name="Rectangle 38"/>
            <p:cNvSpPr/>
            <p:nvPr/>
          </p:nvSpPr>
          <p:spPr>
            <a:xfrm>
              <a:off x="7330440" y="1524000"/>
              <a:ext cx="432816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33996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578090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34796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和本章前面内容的对应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58380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741920" y="2110740"/>
              <a:ext cx="3434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进程观点：1.3 的并发性，多道批处理带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来的互斥、同步、通讯问题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58380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41920" y="2731770"/>
              <a:ext cx="3263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资源管理观点：1.1.2 的作用一，管理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CPU、内存、设备、文件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583805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41920" y="3352800"/>
              <a:ext cx="3434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虚拟机观点：1.3 的虚拟性；用户看到的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是比裸机更好用的机器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7330440" y="4272915"/>
            <a:ext cx="4328160" cy="1887855"/>
            <a:chOff x="7330440" y="4272915"/>
            <a:chExt cx="4328160" cy="1887855"/>
          </a:xfrm>
        </p:grpSpPr>
        <p:sp>
          <p:nvSpPr>
            <p:cNvPr id="49" name="Rectangle 49"/>
            <p:cNvSpPr/>
            <p:nvPr/>
          </p:nvSpPr>
          <p:spPr>
            <a:xfrm>
              <a:off x="7330440" y="4272915"/>
              <a:ext cx="4328160" cy="1887855"/>
            </a:xfrm>
            <a:prstGeom prst="roundRect">
              <a:avLst>
                <a:gd name="adj" fmla="val 605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535228" y="5116830"/>
              <a:ext cx="200026" cy="200025"/>
              <a:chOff x="7535228" y="5116830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535228" y="51168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574966" y="51612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609682" y="52724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837170" y="4973955"/>
              <a:ext cx="3444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三种观点描述的是同一个系统，只是出发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点不同，答题时按题目要求选一种展开。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76409" cy="909257"/>
            <a:chOff x="520446" y="342900"/>
            <a:chExt cx="87764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研究观点与系统实例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764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的早期版本：从只支持 80386 到多平台、多处理机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898495" cy="308039"/>
            <a:chOff x="525399" y="1550194"/>
            <a:chExt cx="1089849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8984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1.9.1 Linux 系统。Linux 由芬兰学生 Linus Torvalds 于 1991 年发布，源代码公开，此后由全球开发者共同维护。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33400" y="1967865"/>
            <a:ext cx="11125200" cy="2697480"/>
            <a:chOff x="533400" y="1967865"/>
            <a:chExt cx="11125200" cy="269748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611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9007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68858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主要内容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65186" y="255127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89148" y="2551271"/>
              <a:ext cx="65174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运行于 Intel 80386；仅支持 Minix 文件系统；支持有限的设备驱动程序；无网络支持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65120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114199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65186" y="311419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89148" y="3000851"/>
              <a:ext cx="80271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 UNIX 标准 TCP/IP 协议、BSD 兼容的 socket 网络通讯接口、增强的文件系统、SCSI 控制器对文件的高效访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问，以及其他设备驱动程序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356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67617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65186" y="367617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89148" y="3676174"/>
              <a:ext cx="28781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最后一个仅在 PC 平台上运行的 Linux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9843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989070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998595"/>
              <a:ext cx="1204912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238149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65186" y="423814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9148" y="4124801"/>
              <a:ext cx="79946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运行于多种平台（可运行于 Sun SPARC、PowerMac 等硬件平台）；支持对称多处理；增强了存储管理功能；支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持核心级线程、模块动态连接等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967865"/>
              <a:ext cx="1112520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752600" y="196786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976562" y="196786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steps-2"/>
          <p:cNvGrpSpPr/>
          <p:nvPr/>
        </p:nvGrpSpPr>
        <p:grpSpPr>
          <a:xfrm>
            <a:off x="533400" y="4855845"/>
            <a:ext cx="11125200" cy="1203008"/>
            <a:chOff x="533400" y="4855845"/>
            <a:chExt cx="11125200" cy="1203008"/>
          </a:xfrm>
        </p:grpSpPr>
        <p:sp>
          <p:nvSpPr>
            <p:cNvPr id="35" name="Rectangle 35"/>
            <p:cNvSpPr/>
            <p:nvPr/>
          </p:nvSpPr>
          <p:spPr>
            <a:xfrm>
              <a:off x="533400" y="4855845"/>
              <a:ext cx="2566988" cy="1203008"/>
            </a:xfrm>
            <a:prstGeom prst="roundRect">
              <a:avLst>
                <a:gd name="adj" fmla="val 950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66750" y="498919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6883" y="50596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9130" y="5394960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273" y="57069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单平台起步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3176588" y="537114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386138" y="4855845"/>
              <a:ext cx="2566988" cy="1203008"/>
            </a:xfrm>
            <a:prstGeom prst="roundRect">
              <a:avLst>
                <a:gd name="adj" fmla="val 950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3519488" y="498919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609621" y="50596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11868" y="5394960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13010" y="57069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加入网络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029325" y="537114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38875" y="4855845"/>
              <a:ext cx="2566988" cy="1203008"/>
            </a:xfrm>
            <a:prstGeom prst="roundRect">
              <a:avLst>
                <a:gd name="adj" fmla="val 950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372225" y="498919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62358" y="50596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64605" y="5394960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65748" y="5706904"/>
              <a:ext cx="1474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平台的最后一版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8882062" y="537114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091612" y="4855845"/>
              <a:ext cx="2566988" cy="1203008"/>
            </a:xfrm>
            <a:prstGeom prst="roundRect">
              <a:avLst>
                <a:gd name="adj" fmla="val 950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9224962" y="498919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315096" y="50596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17342" y="5394960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18486" y="5706904"/>
              <a:ext cx="1039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多平台、SMP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99862" cy="909257"/>
            <a:chOff x="520446" y="342900"/>
            <a:chExt cx="45998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研究观点与系统实例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998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与 Windows 10 的特点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410200" cy="4488180"/>
            <a:chOff x="533400" y="1524000"/>
            <a:chExt cx="5410200" cy="44881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8180"/>
            </a:xfrm>
            <a:prstGeom prst="roundRect">
              <a:avLst>
                <a:gd name="adj" fmla="val 297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105441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611" y="1769269"/>
              <a:ext cx="9120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Linux 的特点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48665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1107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源代码开放，免费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48665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244602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系统稳定可靠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48665" y="2844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27813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速度快，效率高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8665" y="31794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311658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内核模块化好，允许第三方配置文件系统及设备管理程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8665" y="380047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37376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功能完善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48665" y="41357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407289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具有网络支持优势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48665" y="44710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440817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标准化好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248400" y="1524000"/>
            <a:ext cx="5410200" cy="3514725"/>
            <a:chOff x="6248400" y="1524000"/>
            <a:chExt cx="5410200" cy="351472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3514725"/>
            </a:xfrm>
            <a:prstGeom prst="roundRect">
              <a:avLst>
                <a:gd name="adj" fmla="val 37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32480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96050" y="1733550"/>
              <a:ext cx="180117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1452" y="1769269"/>
              <a:ext cx="17094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1.9.2 Windows 10 系统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88430" y="2110740"/>
              <a:ext cx="4720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 NT 技术构建、面向个人计算机平台的操作系统，本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质上属于单用户系统，但可以组网并提供网络服务。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0176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9880" y="27317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具有多任务（包括多进程、多线程）管理功能，支持对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称多处理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01765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9880" y="3352800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支持客户/服务器计算模式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501765" y="37509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9880" y="368808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设计上大量采用面向对象思想，提供友好的图形操作界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501765" y="43719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9880" y="4309110"/>
              <a:ext cx="4606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不是“纯”的微内核结构，许多系统服务功能已被放入核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6248400" y="5229225"/>
            <a:ext cx="5410200" cy="782955"/>
            <a:chOff x="6248400" y="5229225"/>
            <a:chExt cx="5410200" cy="782955"/>
          </a:xfrm>
        </p:grpSpPr>
        <p:sp>
          <p:nvSpPr>
            <p:cNvPr id="39" name="Rectangle 39"/>
            <p:cNvSpPr/>
            <p:nvPr/>
          </p:nvSpPr>
          <p:spPr>
            <a:xfrm>
              <a:off x="6248400" y="522922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53188" y="5520690"/>
              <a:ext cx="200026" cy="200026"/>
              <a:chOff x="6453188" y="5520690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453188" y="55206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53200" y="55873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42088" y="56207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5130" y="5377815"/>
              <a:ext cx="4520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更正：原课件写作“面向个人计算几平台”，应为“个人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计算机平台”。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96184" cy="909257"/>
            <a:chOff x="520446" y="342900"/>
            <a:chExt cx="29961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研究观点与系统实例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508885"/>
            <a:chOff x="533400" y="1524000"/>
            <a:chExt cx="5410200" cy="2508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776311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一台机器每秒 2000 次运算，作业运行 30 分钟，手工操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 3 分钟。提速到每秒 36 万次后，手工操作与运行时间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之比是多少？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3017520"/>
              <a:ext cx="4501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运算量 2000 × 1800 = 3.6×10⁶ 次；新运行时间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3.6×10⁶ ÷ 3.6×10⁵ = 10 s；手工 180 s，比为 180 :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= 18 : 1。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223385"/>
            <a:ext cx="5410200" cy="1651635"/>
            <a:chOff x="533400" y="4223385"/>
            <a:chExt cx="5410200" cy="1651635"/>
          </a:xfrm>
        </p:grpSpPr>
        <p:sp>
          <p:nvSpPr>
            <p:cNvPr id="13" name="Rectangle 13"/>
            <p:cNvSpPr/>
            <p:nvPr/>
          </p:nvSpPr>
          <p:spPr>
            <a:xfrm>
              <a:off x="533400" y="4223385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4329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4686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810125"/>
              <a:ext cx="3750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 CPU 系统中，多个程序能并行执行吗？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不能，只能并发：宏观上同时推进，微观上轮流使用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223135"/>
            <a:chOff x="6248400" y="1524000"/>
            <a:chExt cx="5410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联机批处理的主要缺点是什么？脱机批处理怎样解决，又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带来什么问题？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7586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慢，主机等待时间长。脱机方式让卫星机负责慢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 I/O，主机只读写磁带；但要人工搬磁带，还要额外的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卫星机。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937635"/>
            <a:ext cx="5410200" cy="1937385"/>
            <a:chOff x="6248400" y="393763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9376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524375"/>
              <a:ext cx="476535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分时系统有 50 个终端，时间片 40 ms，忽略切换开销，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一个用户最长隔多久能再次得到 CPU？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5145405"/>
              <a:ext cx="4549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轮完一圈 50 × 40 ms = 2 s；准确地说，要等其余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 个用户各用完一个时间片，即 1.96 s。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96184" cy="909257"/>
            <a:chOff x="520446" y="342900"/>
            <a:chExt cx="29961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 · 研究观点与系统实例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80726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用户程序在目态执行“关中断”指令会怎样？为什么这样设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硬件不执行，而是产生中断交给操作系统。若允许用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户关中断，时钟中断失效，操作系统就无法收回 CPU。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2223135"/>
            <a:chOff x="533400" y="365188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480488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基址寄存器为 20000、限长寄存器为 5000 时，逻辑地址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4999 和 5000 分别怎样处理？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4606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4999 &lt; 5000，物理地址为 24999；5000 不小于限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长，越界，产生中断交操作系统处理。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223135"/>
            <a:chOff x="6248400" y="1524000"/>
            <a:chExt cx="5410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5962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从目态进入管态有哪些途径？从管态回到目态靠什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739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目态进入管态只能靠中断（包括 trap 形式的系统调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用）；管态回到目态由操作系统用特权指令置程序状态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937635"/>
            <a:ext cx="5410200" cy="1937385"/>
            <a:chOff x="6248400" y="393763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9376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5243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网络操作系统和分布式操作系统的主要区别是什么？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前者建在各主机自己的操作系统之上，资源位置对用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户不透明；后者是统一的操作系统，对用户透明，还能通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过迁移共享 CPU 和内存。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544574" cy="909257"/>
            <a:chOff x="520446" y="342900"/>
            <a:chExt cx="15445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3162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3114" y="407194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操作系统概述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5430"/>
            <a:ext cx="6033691" cy="2467071"/>
            <a:chOff x="533400" y="1535430"/>
            <a:chExt cx="6033691" cy="2467071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1745" y="1574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4293" y="1547336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操作系统位于硬件之上、其他软件之下，管理软硬件资源并为用户提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供服务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3360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745" y="217298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293" y="2145506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演变顺序：手工操作、批处理、执行系统（通道与中断），再到多道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批处理、分时、实时和通用系统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73177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45" y="277115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293" y="2743676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四个特性：并发、共享、异步、虚拟；并发与共享最基本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058477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1745" y="309786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293" y="307038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批处理重吞吐量，分时重交互，实时重时限和可靠性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38518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1745" y="34245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293" y="3397091"/>
              <a:ext cx="57427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目态只能执行非特权指令；中断使 CPU 进入管态，置 PSW 回到目态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71189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1745" y="37512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4293" y="372379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操作系统由中断驱动：保存现场、选择程序、恢复现场</a:t>
              </a:r>
            </a:p>
          </p:txBody>
        </p:sp>
      </p:grpSp>
      <p:grpSp>
        <p:nvGrpSpPr>
          <p:cNvPr id="41" name="c1-table-2"/>
          <p:cNvGrpSpPr/>
          <p:nvPr/>
        </p:nvGrpSpPr>
        <p:grpSpPr>
          <a:xfrm>
            <a:off x="533400" y="4127182"/>
            <a:ext cx="6059805" cy="1273493"/>
            <a:chOff x="533400" y="4127182"/>
            <a:chExt cx="6059805" cy="1273493"/>
          </a:xfrm>
        </p:grpSpPr>
        <p:sp>
          <p:nvSpPr>
            <p:cNvPr id="26" name="Rectangle 26"/>
            <p:cNvSpPr/>
            <p:nvPr/>
          </p:nvSpPr>
          <p:spPr>
            <a:xfrm>
              <a:off x="533400" y="4127182"/>
              <a:ext cx="605980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1161" y="425481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处理机状态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47760" y="425481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能执行的指令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51488" y="42548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怎样进入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889" y="467963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管态（核态）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11324" y="467963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全部指令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71582" y="4679632"/>
              <a:ext cx="8522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中断、trap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710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975860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889" y="510444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目态（用户态）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11324" y="510444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非特权指令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71582" y="5104448"/>
              <a:ext cx="1994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操作系统用特权指令置 PSW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127182"/>
              <a:ext cx="6059805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104072" y="4127182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164330" y="4127182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table-1"/>
          <p:cNvGrpSpPr/>
          <p:nvPr/>
        </p:nvGrpSpPr>
        <p:grpSpPr>
          <a:xfrm>
            <a:off x="6898005" y="1524000"/>
            <a:ext cx="4760595" cy="1697355"/>
            <a:chOff x="6898005" y="1524000"/>
            <a:chExt cx="4760595" cy="1697355"/>
          </a:xfrm>
        </p:grpSpPr>
        <p:sp>
          <p:nvSpPr>
            <p:cNvPr id="42" name="Rectangle 42"/>
            <p:cNvSpPr/>
            <p:nvPr/>
          </p:nvSpPr>
          <p:spPr>
            <a:xfrm>
              <a:off x="6898005" y="1524000"/>
              <a:ext cx="476059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15816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界面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57688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00494" y="2076450"/>
              <a:ext cx="10708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交互命令、GUI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57041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终端用户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236791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98005" y="2372678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00494" y="2501265"/>
              <a:ext cx="1330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作业控制语言 JCL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57041" y="250126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批处理用户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98005" y="279273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00494" y="2926080"/>
              <a:ext cx="1354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系统调用（trap）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57041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898005" y="1524000"/>
              <a:ext cx="4760595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749790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6898005" y="3402330"/>
            <a:ext cx="4760595" cy="1998345"/>
            <a:chOff x="6898005" y="3402330"/>
            <a:chExt cx="4760595" cy="1998345"/>
          </a:xfrm>
        </p:grpSpPr>
        <p:sp>
          <p:nvSpPr>
            <p:cNvPr id="57" name="Rectangle 57"/>
            <p:cNvSpPr/>
            <p:nvPr/>
          </p:nvSpPr>
          <p:spPr>
            <a:xfrm>
              <a:off x="6898005" y="3402330"/>
              <a:ext cx="4760595" cy="1998345"/>
            </a:xfrm>
            <a:prstGeom prst="roundRect">
              <a:avLst>
                <a:gd name="adj" fmla="val 6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07530" y="3535680"/>
              <a:ext cx="47625" cy="17316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34225" y="360045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93661" y="363474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141845" y="402050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98436" y="3960971"/>
              <a:ext cx="38827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参考书作者：Stalling 应为 Stallings，费祥林应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为费翔林（第 3 页）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141845" y="461010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98436" y="4549616"/>
              <a:ext cx="37384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错别字：“个人计算几平台”应为“个人计算机平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台”（第 54 页），“航班定票”应为“订票”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6" name="Rectangle 66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511" y="6011704"/>
              <a:ext cx="93813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复习时重点：各阶段解决了什么问题、三类系统的区别、特权指令与处理机状态转换、中断与程序切换的过程。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第1章 操作系统概述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s_ch1">
  <a:themeElements>
    <a:clrScheme name="os_ch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_ch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s_ch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2026-09-19T04:19:50Z</dcterms:created>
  <dcterms:modified xsi:type="dcterms:W3CDTF">2026-09-19T04:19:50Z</dcterms:modified>
  <cp:category/>
  <cp:contentStatus/>
</cp:coreProperties>
</file>